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33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rit Raj K" userId="e4c3bcef-5252-4fb0-89b9-2d79c5779c3d" providerId="ADAL" clId="{F33D235A-E94E-40D7-9E6C-4A1BCF14868E}"/>
    <pc:docChg chg="undo custSel modSld modMainMaster">
      <pc:chgData name="Amrit Raj K" userId="e4c3bcef-5252-4fb0-89b9-2d79c5779c3d" providerId="ADAL" clId="{F33D235A-E94E-40D7-9E6C-4A1BCF14868E}" dt="2026-09-08T09:44:42.340" v="58" actId="21"/>
      <pc:docMkLst>
        <pc:docMk/>
      </pc:docMkLst>
      <pc:sldChg chg="modSp mod">
        <pc:chgData name="Amrit Raj K" userId="e4c3bcef-5252-4fb0-89b9-2d79c5779c3d" providerId="ADAL" clId="{F33D235A-E94E-40D7-9E6C-4A1BCF14868E}" dt="2026-08-24T09:58:08.865" v="2" actId="1076"/>
        <pc:sldMkLst>
          <pc:docMk/>
          <pc:sldMk cId="0" sldId="259"/>
        </pc:sldMkLst>
        <pc:spChg chg="mod">
          <ac:chgData name="Amrit Raj K" userId="e4c3bcef-5252-4fb0-89b9-2d79c5779c3d" providerId="ADAL" clId="{F33D235A-E94E-40D7-9E6C-4A1BCF14868E}" dt="2026-08-24T09:58:05.085" v="1" actId="14100"/>
          <ac:spMkLst>
            <pc:docMk/>
            <pc:sldMk cId="0" sldId="259"/>
            <ac:spMk id="7" creationId="{00000000-0000-0000-0000-000000000000}"/>
          </ac:spMkLst>
        </pc:spChg>
        <pc:spChg chg="mod">
          <ac:chgData name="Amrit Raj K" userId="e4c3bcef-5252-4fb0-89b9-2d79c5779c3d" providerId="ADAL" clId="{F33D235A-E94E-40D7-9E6C-4A1BCF14868E}" dt="2026-08-24T09:58:08.865" v="2" actId="1076"/>
          <ac:spMkLst>
            <pc:docMk/>
            <pc:sldMk cId="0" sldId="259"/>
            <ac:spMk id="21" creationId="{00000000-0000-0000-0000-000000000000}"/>
          </ac:spMkLst>
        </pc:spChg>
      </pc:sldChg>
      <pc:sldChg chg="modSp mod">
        <pc:chgData name="Amrit Raj K" userId="e4c3bcef-5252-4fb0-89b9-2d79c5779c3d" providerId="ADAL" clId="{F33D235A-E94E-40D7-9E6C-4A1BCF14868E}" dt="2026-08-28T06:00:31.207" v="11" actId="20577"/>
        <pc:sldMkLst>
          <pc:docMk/>
          <pc:sldMk cId="0" sldId="260"/>
        </pc:sldMkLst>
        <pc:spChg chg="mod">
          <ac:chgData name="Amrit Raj K" userId="e4c3bcef-5252-4fb0-89b9-2d79c5779c3d" providerId="ADAL" clId="{F33D235A-E94E-40D7-9E6C-4A1BCF14868E}" dt="2026-08-28T06:00:31.207" v="11" actId="20577"/>
          <ac:spMkLst>
            <pc:docMk/>
            <pc:sldMk cId="0" sldId="260"/>
            <ac:spMk id="2" creationId="{00000000-0000-0000-0000-000000000000}"/>
          </ac:spMkLst>
        </pc:spChg>
      </pc:sldChg>
      <pc:sldChg chg="modSp mod">
        <pc:chgData name="Amrit Raj K" userId="e4c3bcef-5252-4fb0-89b9-2d79c5779c3d" providerId="ADAL" clId="{F33D235A-E94E-40D7-9E6C-4A1BCF14868E}" dt="2026-08-24T10:01:54.664" v="5" actId="20577"/>
        <pc:sldMkLst>
          <pc:docMk/>
          <pc:sldMk cId="0" sldId="277"/>
        </pc:sldMkLst>
        <pc:spChg chg="mod">
          <ac:chgData name="Amrit Raj K" userId="e4c3bcef-5252-4fb0-89b9-2d79c5779c3d" providerId="ADAL" clId="{F33D235A-E94E-40D7-9E6C-4A1BCF14868E}" dt="2026-08-24T10:01:54.664" v="5" actId="20577"/>
          <ac:spMkLst>
            <pc:docMk/>
            <pc:sldMk cId="0" sldId="277"/>
            <ac:spMk id="22" creationId="{00000000-0000-0000-0000-000000000000}"/>
          </ac:spMkLst>
        </pc:spChg>
      </pc:sldChg>
      <pc:sldChg chg="modSp mod">
        <pc:chgData name="Amrit Raj K" userId="e4c3bcef-5252-4fb0-89b9-2d79c5779c3d" providerId="ADAL" clId="{F33D235A-E94E-40D7-9E6C-4A1BCF14868E}" dt="2026-08-28T06:01:42.271" v="44" actId="20577"/>
        <pc:sldMkLst>
          <pc:docMk/>
          <pc:sldMk cId="0" sldId="282"/>
        </pc:sldMkLst>
        <pc:spChg chg="mod">
          <ac:chgData name="Amrit Raj K" userId="e4c3bcef-5252-4fb0-89b9-2d79c5779c3d" providerId="ADAL" clId="{F33D235A-E94E-40D7-9E6C-4A1BCF14868E}" dt="2026-08-28T06:01:42.271" v="44" actId="20577"/>
          <ac:spMkLst>
            <pc:docMk/>
            <pc:sldMk cId="0" sldId="282"/>
            <ac:spMk id="2" creationId="{00000000-0000-0000-0000-000000000000}"/>
          </ac:spMkLst>
        </pc:spChg>
      </pc:sldChg>
      <pc:sldChg chg="modSp mod">
        <pc:chgData name="Amrit Raj K" userId="e4c3bcef-5252-4fb0-89b9-2d79c5779c3d" providerId="ADAL" clId="{F33D235A-E94E-40D7-9E6C-4A1BCF14868E}" dt="2026-08-28T06:01:49.928" v="47" actId="20577"/>
        <pc:sldMkLst>
          <pc:docMk/>
          <pc:sldMk cId="0" sldId="283"/>
        </pc:sldMkLst>
        <pc:spChg chg="mod">
          <ac:chgData name="Amrit Raj K" userId="e4c3bcef-5252-4fb0-89b9-2d79c5779c3d" providerId="ADAL" clId="{F33D235A-E94E-40D7-9E6C-4A1BCF14868E}" dt="2026-08-28T06:01:49.928" v="47" actId="20577"/>
          <ac:spMkLst>
            <pc:docMk/>
            <pc:sldMk cId="0" sldId="283"/>
            <ac:spMk id="2" creationId="{00000000-0000-0000-0000-000000000000}"/>
          </ac:spMkLst>
        </pc:spChg>
        <pc:spChg chg="mod">
          <ac:chgData name="Amrit Raj K" userId="e4c3bcef-5252-4fb0-89b9-2d79c5779c3d" providerId="ADAL" clId="{F33D235A-E94E-40D7-9E6C-4A1BCF14868E}" dt="2026-08-24T10:05:08.139" v="6" actId="14100"/>
          <ac:spMkLst>
            <pc:docMk/>
            <pc:sldMk cId="0" sldId="283"/>
            <ac:spMk id="21" creationId="{00000000-0000-0000-0000-000000000000}"/>
          </ac:spMkLst>
        </pc:spChg>
        <pc:spChg chg="mod">
          <ac:chgData name="Amrit Raj K" userId="e4c3bcef-5252-4fb0-89b9-2d79c5779c3d" providerId="ADAL" clId="{F33D235A-E94E-40D7-9E6C-4A1BCF14868E}" dt="2026-08-24T10:05:14.201" v="7" actId="1076"/>
          <ac:spMkLst>
            <pc:docMk/>
            <pc:sldMk cId="0" sldId="283"/>
            <ac:spMk id="23" creationId="{00000000-0000-0000-0000-000000000000}"/>
          </ac:spMkLst>
        </pc:spChg>
      </pc:sldChg>
      <pc:sldChg chg="modSp mod">
        <pc:chgData name="Amrit Raj K" userId="e4c3bcef-5252-4fb0-89b9-2d79c5779c3d" providerId="ADAL" clId="{F33D235A-E94E-40D7-9E6C-4A1BCF14868E}" dt="2026-08-28T06:02:47.090" v="51" actId="6549"/>
        <pc:sldMkLst>
          <pc:docMk/>
          <pc:sldMk cId="0" sldId="306"/>
        </pc:sldMkLst>
        <pc:spChg chg="mod">
          <ac:chgData name="Amrit Raj K" userId="e4c3bcef-5252-4fb0-89b9-2d79c5779c3d" providerId="ADAL" clId="{F33D235A-E94E-40D7-9E6C-4A1BCF14868E}" dt="2026-08-28T06:02:47.090" v="51" actId="6549"/>
          <ac:spMkLst>
            <pc:docMk/>
            <pc:sldMk cId="0" sldId="306"/>
            <ac:spMk id="2" creationId="{00000000-0000-0000-0000-000000000000}"/>
          </ac:spMkLst>
        </pc:spChg>
      </pc:sldChg>
      <pc:sldChg chg="modSp mod">
        <pc:chgData name="Amrit Raj K" userId="e4c3bcef-5252-4fb0-89b9-2d79c5779c3d" providerId="ADAL" clId="{F33D235A-E94E-40D7-9E6C-4A1BCF14868E}" dt="2026-08-28T06:03:07.125" v="54" actId="1076"/>
        <pc:sldMkLst>
          <pc:docMk/>
          <pc:sldMk cId="0" sldId="326"/>
        </pc:sldMkLst>
        <pc:spChg chg="mod">
          <ac:chgData name="Amrit Raj K" userId="e4c3bcef-5252-4fb0-89b9-2d79c5779c3d" providerId="ADAL" clId="{F33D235A-E94E-40D7-9E6C-4A1BCF14868E}" dt="2026-08-28T06:03:07.125" v="54" actId="1076"/>
          <ac:spMkLst>
            <pc:docMk/>
            <pc:sldMk cId="0" sldId="326"/>
            <ac:spMk id="3" creationId="{00000000-0000-0000-0000-000000000000}"/>
          </ac:spMkLst>
        </pc:spChg>
        <pc:spChg chg="mod">
          <ac:chgData name="Amrit Raj K" userId="e4c3bcef-5252-4fb0-89b9-2d79c5779c3d" providerId="ADAL" clId="{F33D235A-E94E-40D7-9E6C-4A1BCF14868E}" dt="2026-08-28T06:03:03.936" v="53" actId="1076"/>
          <ac:spMkLst>
            <pc:docMk/>
            <pc:sldMk cId="0" sldId="326"/>
            <ac:spMk id="4" creationId="{00000000-0000-0000-0000-000000000000}"/>
          </ac:spMkLst>
        </pc:spChg>
      </pc:sldChg>
      <pc:sldChg chg="mod modClrScheme chgLayout">
        <pc:chgData name="Amrit Raj K" userId="e4c3bcef-5252-4fb0-89b9-2d79c5779c3d" providerId="ADAL" clId="{F33D235A-E94E-40D7-9E6C-4A1BCF14868E}" dt="2026-08-28T06:03:37.850" v="55" actId="700"/>
        <pc:sldMkLst>
          <pc:docMk/>
          <pc:sldMk cId="0" sldId="330"/>
        </pc:sldMkLst>
      </pc:sldChg>
      <pc:sldMasterChg chg="modSldLayout">
        <pc:chgData name="Amrit Raj K" userId="e4c3bcef-5252-4fb0-89b9-2d79c5779c3d" providerId="ADAL" clId="{F33D235A-E94E-40D7-9E6C-4A1BCF14868E}" dt="2026-09-08T09:44:42.340" v="58" actId="21"/>
        <pc:sldMasterMkLst>
          <pc:docMk/>
          <pc:sldMasterMk cId="2235166065" sldId="2147483648"/>
        </pc:sldMasterMkLst>
        <pc:sldLayoutChg chg="addSp delSp modSp mod">
          <pc:chgData name="Amrit Raj K" userId="e4c3bcef-5252-4fb0-89b9-2d79c5779c3d" providerId="ADAL" clId="{F33D235A-E94E-40D7-9E6C-4A1BCF14868E}" dt="2026-09-08T09:44:42.340" v="58" actId="21"/>
          <pc:sldLayoutMkLst>
            <pc:docMk/>
            <pc:sldMasterMk cId="2235166065" sldId="2147483648"/>
            <pc:sldLayoutMk cId="0" sldId="2147483651"/>
          </pc:sldLayoutMkLst>
          <pc:picChg chg="add del mod">
            <ac:chgData name="Amrit Raj K" userId="e4c3bcef-5252-4fb0-89b9-2d79c5779c3d" providerId="ADAL" clId="{F33D235A-E94E-40D7-9E6C-4A1BCF14868E}" dt="2026-09-08T09:44:42.340" v="58" actId="21"/>
            <ac:picMkLst>
              <pc:docMk/>
              <pc:sldMasterMk cId="2235166065" sldId="2147483648"/>
              <pc:sldLayoutMk cId="0" sldId="2147483651"/>
              <ac:picMk id="6" creationId="{6D899483-A189-AE86-86F6-9F232B6C1BAC}"/>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Connect this session to the previous single-qubit unit.
The central question is: “What changes when one qubit becomes many?”
The answer eventually leads to entanglement, quantum measurement and Bell's theorem.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selectively.
Tell students: “You don't need to memorize every formula today. You need to understand the structure and know how to derive and use the formulas.”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predict the next number.
Emphasize that the exponential state-space dimension is the central mathematical reason multiple-qubit systems are fundamentally different.
Activity: ask how many complex amplitudes describe 20 qubits — do not immediately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source contrasts classical linear growth with quantum multiplicative growth.
Teaching emphasis: do not say “quantum computers store all possible answers simultaneously.” Instead say: “The quantum state requires amplitudes associated with a basis whose dimension grows as 2ⁿ.”</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at 10, 20 and 30.
Ask: “What happened to the physical number of qubits versus the mathematical dimension?”
Link this to the difficulty of classical simulation.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source's classical direct-sum construction and its linear dimensional growth. Each space keeps its own independent coordinates.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tensor product as the mathematical operation that combines subsystem Hilbert spaces. The source gives the multiplicative dimension rule: dimensions multiply rather than add.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 checkpoint, not a formula-memorization slide.
Ask: “If each qubit has dimension 2, what is the dimension of 5 qubits?”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expansion slowly.
Connect it to ordinary algebraic distributivity.
The source explicitly identifies bilinearity and distributivity as key tensor-product properties.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each line in turn.
Stress basis ordering: |00⟩, |01⟩, |10⟩, |11⟩.
The source uses dictionary (lexicographic) ordering.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count the leaves.
Then generalize: “Each additional qubit doubles the number of basis states.”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retrieval practice before moving to state representation.
Activity: three-minute pair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these are not different physical states; they are three different representations of the same state.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amplitude and its corresponding basis state in turn: α with |00⟩, β with |01⟩, γ with |10⟩, δ with |11⟩.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amplitudes may be complex numbers, while probabilities are real and non-negative. The magnitude-squared step is what discards the phase.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 this derivation live on the board. Expand the product term by term using distributivity, then collect the four basis states. This matches Exercise E1 and its solution.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verify the normalization themselves before you show the bars: four equal outcomes, each of probability one quarter.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vector is only meaningful once the basis ordering is fixed. Row one is the amplitude of |00⟩, row four the amplitude of |11⟩.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identifies these four as the maximally entangled two-qubit states, with applications in teleportation, superdense coding and quantum key distribution.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teach teleportation in detail here.
The objective is to establish Bell states as an important basis for the later measurement and Bell-theorem discussions.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explicitly distinguishes the physically irrelevant global phase from the physically significant relative phase. Only relative phases change measurement statistics in some basis.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Amplitude magnitude is the length of the vector; phase is its angle. This is a conceptual bridge to the Q-sphere later in the session.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four states from Exercise E2 and ask them to classify each as separable or entangled. Ask for a justification, not just an answer. Reveal the classifications from the source solutions after the pair discussion.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separability precisely: a two-qubit state is separable (a product state) exactly when it can be written as a tensor product of two single-qubit states. Each subsystem then has a well-defined state of its own.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“correlated” is not automatically synonymous with “entangled.” Classical systems can be correlated too; entanglement is the stronger statement that no product decomposition exists at all.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factorization argument given in the source: assume a product form, expand, compare coefficients against the four basis states, and derive the contradiction.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advanced conceptual point — spend seven to ten minutes here. The source gives this four-qubit example to emphasize that entanglement is a statement about a chosen decomposition into subsystems, not about the state alone.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distinction the source makes: whether a state looks like a superposition depends on the basis you write it in, but whether it is entangled does not. What does matter is the choice of subsystem decomposition.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perfect same-basis correlations: if Alice and Bob both measure in the computational basis they always agree, and the same holds in any shared basis. Neither outcome is determined before measurement.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takeaways, then bridge to measurement: the question for the next section is what happens to a joint state when only one subsystem is measured.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formulates general measurement using a decomposition of the Hilbert space into mutually orthogonal subspaces, each with its own projector and its own outcome.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as a reusable three-step pattern that applies to every measurement in the rest of the session: project with Pᵢ, take the squared norm for the probability, renormalize to get the post-measurement state.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derives this partial-measurement structure: measuring one qubit groups the four basis states into two subspaces according to the value of that qubit.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key idea: “We add probabilities over the unmeasured degree of freedom.” The second qubit is not observed, so its two possibilities are summed.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Renormalize the surviving terms. Point out that the first qubit is now definite, while the unmeasured second qubit keeps its relative amplitudes and can still be in superposition.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“Can we find whether the bits are equal without finding their individual values?” The answer is yes — this equality measurement uses two subspaces rather than four one-dimensional ones.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projector is a sum of the outer products of the basis states spanning its subspace. Because the subspace is two-dimensional, a superposition inside it survives the measurement intact.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five minutes before revealing the solution. The source solution gives P(first qubit = 0) = 1/2, the post-measurement state |0⟩|+⟩, and P(11) = 1/4.</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defines the outer product in exactly this operator-mapping sense: it takes an input vector, extracts its overlap with |v⟩, and returns that amount in the direction |u⟩.</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four outer products of the basis kets and bras give the four matrix units — the building blocks of every single-qubit operator.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demonstrate that Dirac notation and matrix notation are equivalent descriptions of the same operator — build X term by term and read off the matrix entries.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gives both forms: the rank-one projector onto a single state, and the general sum over an orthonormal basis of the subspace.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“project twice” chain to make idempotence intuitive: the first projection lands you in the subspace, and any further projection does nothing at all.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relationship is explicitly stated in the source: the trace of a projector equals the dimension of the subspace it projects onto, so a rank-one projector has trace one.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observable is represented by a Hermitian operator. The source states three consequences: the eigenvalues are real, eigenvectors belonging to distinct eigenvalues are orthogonal, and the eigenvectors form a complete basis for the space. Real eigenvalues matter because they are the numbers a measurement can return; orthogonality and completeness matter because they let us decompose any state along the measurement outcomes.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between linear algebra and quantum measurement. Reading the sum left to right: each eigenvalue is a possible outcome, and the projector attached to it selects the part of the state responsible for that outcome. Once students see this, the measurement postulate on the next slide is just this decomposition read as a physical procedure.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presents these three principles explicitly. Walk them in order and tie each back to earlier material: step one is the Hermitian operator we just defined, step two reuses the project-then-probability pattern from Section D, and step three is the collapse into the eigenspace picked out by the projector. Emphasise that nothing new is being introduced here — this is the earlier machinery stated as a postulate.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examination and interview misconception. Applying the observable to the state is not the same as measuring it — the operator encodes what is measured, not what the state becomes. The post-measurement state is the projection of the state onto the relevant eigenspace, renormalised. Ask students to state the difference in their own words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 through the source's example: with one operator contributing eigenvalues ±1 and the other contributing eigenvalues ±2, the tensor product operator has eigenvalues ±1 and ±2 — every pairwise product of the subsystem eigenvalues. Have students form the products themselves before showing the list.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back to the equality measurement from earlier. The source identifies Z⊗Z with asking whether the two qubits are equal: the +1 eigenspace is spanned by |00⟩ and |11⟩, the −1 eigenspace by |01⟩ and |10⟩. Measuring Z⊗Z therefore reveals only agreement or disagreement, not the individual bit values.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steps of the measurement postulate on this state. Expand |ψ⟩ = (|00⟩ + |01⟩)/√2 in the </a:t>
            </a:r>
            <a:r>
              <a:rPr lang="en-US" dirty="0" err="1"/>
              <a:t>eigenbasis</a:t>
            </a:r>
            <a:r>
              <a:rPr lang="en-US" dirty="0"/>
              <a:t> of Z⊗Z: the |00⟩ term lies in the +1 eigenspace and the |01⟩ term in the −1 eigenspace, so each outcome has probability one half. After the measurement the state collapses onto the corresponding projection, </a:t>
            </a:r>
            <a:r>
              <a:rPr lang="en-US" dirty="0" err="1"/>
              <a:t>renormalised</a:t>
            </a:r>
            <a:r>
              <a:rPr lang="en-US" dirty="0"/>
              <a:t>. Stress that the outcome reveals only agreement or disagreement of the two qubits, not the value of either qubit individually.</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visual interpretation exercise rather than another algebra exercise. Have students answer from the picture alone: the biggest dot marks the most probable basis state, the missing dots on each latitude mark the zero amplitudes, dots sharing a </a:t>
            </a:r>
            <a:r>
              <a:rPr lang="en-US" dirty="0" err="1"/>
              <a:t>colour</a:t>
            </a:r>
            <a:r>
              <a:rPr lang="en-US" dirty="0"/>
              <a:t> share a phase, and the latitude itself gives the Hamming weight. Only afterwards write the state algebraically and check that the picture and the amplitudes agree.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physical intuition before giving any inequality. A source emits an entangled pair; Alice and Bob each choose a polarizer angle freely and independently, and each records a single outcome. Nothing about the setup forces the two choices to be related — that independence is exactly what the hidden-variable argument will exploit later.</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visual aha moment. Let the number line do the work: the classical bound sits at one, the quantum prediction sits at three quarters, and no local hidden-variable theory can reach that point. Keep the discussion on that gap and resist the temptation to add historical detail here.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valuable teaching moment: not every quantum configuration violates the inequality. At forty-five degrees the two correlated terms each give one half and the ninety-degree term gives zero, so the sum sits exactly on the classical bound. Violation depends on choosing the angles well — have students compare this with the sixty-degree case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the security argument in the source rests on the effect of any intervention on the entanglement and hence on the observed correlations. An eavesdropper who interacts with a member of the pair disturbs the shared state, the measured correlations weaken, and the Bell test no longer shows the full violation. Security therefore comes from a physical check the participants perform on their own data, not from an assumption about the eavesdropper's computing power.</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this conceptually rather than claiming that every practical attack is literally a simple local hidden-variable attack. The point for this session, and the framing used in the source, is that any intervention on one member of the pair degrades the entanglement, so the measured correlations fall short of the full quantum violation. Real attack models and finite-key security analyses are far more involved and are outside the scope here.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as the one-slide memory map of the entire subunit. Walk the chain aloud once, column by column, and ask students which link they would struggle to justify — that answer tells you what to revisit. Every formula on the next slide attaches to one of these boxes.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as an individual five-minute assessment. Collect the answers before the final synthesis slide so you can see which ideas landed. Look especially at answers to the second and fifth questions: those two reveal whether students understand entanglement as a structural fact rather than as a slogan.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 by returning to the question from the opening of the unit. Ask: so, why are multiple qubits fundamentally different from simply having more classical bits? Let students answer in their own words and only then reveal the summary line — the chain along the bottom is the compressed version of everything they have just built.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58368"/>
            <a:ext cx="7863840" cy="777240"/>
          </a:xfrm>
          <a:prstGeom prst="rect">
            <a:avLst/>
          </a:prstGeom>
          <a:noFill/>
          <a:ln/>
        </p:spPr>
        <p:txBody>
          <a:bodyPr wrap="square" rtlCol="0"/>
          <a:lstStyle>
            <a:lvl1pPr marL="0" indent="0" algn="l">
              <a:buNone/>
              <a:defRPr lang="en-US" sz="4000" b="1" dirty="0">
                <a:solidFill>
                  <a:srgbClr val="1A1A2E"/>
                </a:solidFill>
                <a:latin typeface="Georgia" pitchFamily="34" charset="0"/>
                <a:ea typeface="Georgia" pitchFamily="34" charset="-122"/>
                <a:cs typeface="Georgia"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84048"/>
            <a:ext cx="1005840" cy="36576"/>
          </a:xfrm>
          <a:prstGeom prst="rect">
            <a:avLst/>
          </a:prstGeom>
          <a:solidFill>
            <a:srgbClr val="3730A3"/>
          </a:solidFill>
          <a:ln/>
        </p:spPr>
        <p:txBody>
          <a:bodyPr/>
          <a:lstStyle/>
          <a:p>
            <a:endParaRPr lang="en-US"/>
          </a:p>
        </p:txBody>
      </p:sp>
      <p:sp>
        <p:nvSpPr>
          <p:cNvPr id="3" name="Shape 1"/>
          <p:cNvSpPr/>
          <p:nvPr/>
        </p:nvSpPr>
        <p:spPr>
          <a:xfrm>
            <a:off x="640080" y="1097280"/>
            <a:ext cx="7863840" cy="0"/>
          </a:xfrm>
          <a:prstGeom prst="line">
            <a:avLst/>
          </a:prstGeom>
          <a:noFill/>
          <a:ln w="12700">
            <a:solidFill>
              <a:srgbClr val="D4D7DD"/>
            </a:solidFill>
            <a:prstDash val="solid"/>
          </a:ln>
        </p:spPr>
        <p:txBody>
          <a:bodyPr/>
          <a:lstStyle/>
          <a:p>
            <a:endParaRPr lang="en-US"/>
          </a:p>
        </p:txBody>
      </p:sp>
      <p:sp>
        <p:nvSpPr>
          <p:cNvPr id="4" name="Text 2"/>
          <p:cNvSpPr>
            <a:spLocks noGrp="1"/>
          </p:cNvSpPr>
          <p:nvPr>
            <p:ph type="title" idx="102" hasCustomPrompt="1"/>
          </p:nvPr>
        </p:nvSpPr>
        <p:spPr>
          <a:xfrm>
            <a:off x="640080" y="548640"/>
            <a:ext cx="7863840" cy="457200"/>
          </a:xfrm>
          <a:prstGeom prst="rect">
            <a:avLst/>
          </a:prstGeom>
          <a:noFill/>
          <a:ln/>
        </p:spPr>
        <p:txBody>
          <a:bodyPr wrap="square" rtlCol="0"/>
          <a:lstStyle>
            <a:lvl1pPr marL="0" indent="0" algn="l">
              <a:buNone/>
              <a:defRPr lang="en-US" sz="2500" b="1" dirty="0">
                <a:solidFill>
                  <a:srgbClr val="1A1A2E"/>
                </a:solidFill>
                <a:latin typeface="Georgia" pitchFamily="34" charset="0"/>
                <a:ea typeface="Georgia" pitchFamily="34" charset="-122"/>
                <a:cs typeface="Georgia" pitchFamily="34" charset="-120"/>
              </a:defRPr>
            </a:lvl1pPr>
          </a:lstStyle>
          <a:p>
            <a:pPr marL="0" indent="0" algn="l">
              <a:buNone/>
            </a:pPr>
            <a:endParaRPr lang="en-US" sz="25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166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Cover">
    <p:spTree>
      <p:nvGrpSpPr>
        <p:cNvPr id="1" name=""/>
        <p:cNvGrpSpPr/>
        <p:nvPr/>
      </p:nvGrpSpPr>
      <p:grpSpPr>
        <a:xfrm>
          <a:off x="0" y="0"/>
          <a:ext cx="0" cy="0"/>
          <a:chOff x="0" y="0"/>
          <a:chExt cx="0" cy="0"/>
        </a:xfrm>
      </p:grpSpPr>
      <p:sp>
        <p:nvSpPr>
          <p:cNvPr id="2" name="Accent bar">
            <a:extLst>
              <a:ext uri="{C183D7F6-B498-43B3-948B-1728B52AA6E4}">
                <adec:decorative xmlns:adec="http://schemas.microsoft.com/office/drawing/2017/decorative" val="1"/>
              </a:ext>
            </a:extLst>
          </p:cNvPr>
          <p:cNvSpPr/>
          <p:nvPr/>
        </p:nvSpPr>
        <p:spPr>
          <a:xfrm>
            <a:off x="640080" y="914400"/>
            <a:ext cx="137160" cy="1188720"/>
          </a:xfrm>
          <a:prstGeom prst="rect">
            <a:avLst/>
          </a:prstGeom>
          <a:solidFill>
            <a:srgbClr val="3730A3"/>
          </a:solidFill>
          <a:ln>
            <a:noFill/>
          </a:ln>
        </p:spPr>
        <p:txBody>
          <a:bodyPr/>
          <a:lstStyle/>
          <a:p>
            <a:endParaRPr lang="en-US"/>
          </a:p>
        </p:txBody>
      </p:sp>
      <p:sp>
        <p:nvSpPr>
          <p:cNvPr id="3" name="Dot">
            <a:extLst>
              <a:ext uri="{C183D7F6-B498-43B3-948B-1728B52AA6E4}">
                <adec:decorative xmlns:adec="http://schemas.microsoft.com/office/drawing/2017/decorative" val="1"/>
              </a:ext>
            </a:extLst>
          </p:cNvPr>
          <p:cNvSpPr/>
          <p:nvPr/>
        </p:nvSpPr>
        <p:spPr>
          <a:xfrm>
            <a:off x="7429500" y="2171700"/>
            <a:ext cx="228600" cy="228600"/>
          </a:xfrm>
          <a:prstGeom prst="ellipse">
            <a:avLst/>
          </a:prstGeom>
          <a:solidFill>
            <a:srgbClr val="3730A3"/>
          </a:solidFill>
          <a:ln>
            <a:noFill/>
          </a:ln>
        </p:spPr>
        <p:txBody>
          <a:bodyPr/>
          <a:lstStyle/>
          <a:p>
            <a:endParaRPr lang="en-US"/>
          </a:p>
        </p:txBody>
      </p:sp>
      <p:sp>
        <p:nvSpPr>
          <p:cNvPr id="4" name="Dot">
            <a:extLst>
              <a:ext uri="{C183D7F6-B498-43B3-948B-1728B52AA6E4}">
                <adec:decorative xmlns:adec="http://schemas.microsoft.com/office/drawing/2017/decorative" val="1"/>
              </a:ext>
            </a:extLst>
          </p:cNvPr>
          <p:cNvSpPr/>
          <p:nvPr/>
        </p:nvSpPr>
        <p:spPr>
          <a:xfrm>
            <a:off x="7840980" y="2217420"/>
            <a:ext cx="137160" cy="137160"/>
          </a:xfrm>
          <a:prstGeom prst="ellipse">
            <a:avLst/>
          </a:prstGeom>
          <a:solidFill>
            <a:srgbClr val="0F766E"/>
          </a:solidFill>
          <a:ln>
            <a:noFill/>
          </a:ln>
        </p:spPr>
        <p:txBody>
          <a:bodyPr/>
          <a:lstStyle/>
          <a:p>
            <a:endParaRPr lang="en-US"/>
          </a:p>
        </p:txBody>
      </p:sp>
      <p:sp>
        <p:nvSpPr>
          <p:cNvPr id="5" name="Dot">
            <a:extLst>
              <a:ext uri="{C183D7F6-B498-43B3-948B-1728B52AA6E4}">
                <adec:decorative xmlns:adec="http://schemas.microsoft.com/office/drawing/2017/decorative" val="1"/>
              </a:ext>
            </a:extLst>
          </p:cNvPr>
          <p:cNvSpPr/>
          <p:nvPr/>
        </p:nvSpPr>
        <p:spPr>
          <a:xfrm>
            <a:off x="8149590" y="2205990"/>
            <a:ext cx="160020" cy="160020"/>
          </a:xfrm>
          <a:prstGeom prst="ellipse">
            <a:avLst/>
          </a:prstGeom>
          <a:solidFill>
            <a:srgbClr val="C0392B"/>
          </a:solidFill>
          <a:ln>
            <a:noFill/>
          </a:ln>
        </p:spPr>
        <p:txBody>
          <a:bodyPr/>
          <a:lstStyle/>
          <a:p>
            <a:endParaRPr lang="en-US"/>
          </a:p>
        </p:txBody>
      </p:sp>
      <p:sp>
        <p:nvSpPr>
          <p:cNvPr id="6" name="Text"/>
          <p:cNvSpPr/>
          <p:nvPr/>
        </p:nvSpPr>
        <p:spPr>
          <a:xfrm>
            <a:off x="914400" y="914400"/>
            <a:ext cx="4572000" cy="251460"/>
          </a:xfrm>
          <a:prstGeom prst="rect">
            <a:avLst/>
          </a:prstGeom>
          <a:noFill/>
          <a:ln/>
        </p:spPr>
        <p:txBody>
          <a:bodyPr wrap="square" lIns="0" tIns="0" rIns="0" bIns="0" rtlCol="0" anchor="ctr">
            <a:normAutofit/>
          </a:bodyPr>
          <a:lstStyle/>
          <a:p>
            <a:pPr marL="0" indent="0" algn="l">
              <a:buNone/>
            </a:pPr>
            <a:r>
              <a:rPr lang="en-US" sz="1000" b="1" i="0" kern="0" spc="140" dirty="0">
                <a:solidFill>
                  <a:srgbClr val="3730A3"/>
                </a:solidFill>
                <a:latin typeface="Georgia" pitchFamily="34" charset="0"/>
                <a:ea typeface="Georgia" pitchFamily="34" charset="-122"/>
                <a:cs typeface="Georgia" pitchFamily="34" charset="-120"/>
              </a:rPr>
              <a:t>QUANTUM COMPUTING  ·  UNIT 2.2</a:t>
            </a:r>
            <a:endParaRPr lang="en-US" sz="1000" dirty="0"/>
          </a:p>
        </p:txBody>
      </p:sp>
      <p:sp>
        <p:nvSpPr>
          <p:cNvPr id="7" name="Text"/>
          <p:cNvSpPr/>
          <p:nvPr/>
        </p:nvSpPr>
        <p:spPr>
          <a:xfrm>
            <a:off x="914400" y="1234440"/>
            <a:ext cx="6400800" cy="822960"/>
          </a:xfrm>
          <a:prstGeom prst="rect">
            <a:avLst/>
          </a:prstGeom>
          <a:noFill/>
          <a:ln/>
        </p:spPr>
        <p:txBody>
          <a:bodyPr wrap="square" lIns="0" tIns="0" rIns="0" bIns="0" rtlCol="0" anchor="ctr">
            <a:normAutofit/>
          </a:bodyPr>
          <a:lstStyle/>
          <a:p>
            <a:pPr marL="0" indent="0" algn="l">
              <a:buNone/>
            </a:pPr>
            <a:r>
              <a:rPr lang="en-US" sz="3400" b="1" i="0">
                <a:solidFill>
                  <a:srgbClr val="1A1A2E"/>
                </a:solidFill>
                <a:latin typeface="Georgia" pitchFamily="34" charset="0"/>
                <a:ea typeface="Georgia" pitchFamily="34" charset="-122"/>
                <a:cs typeface="Georgia" pitchFamily="34" charset="-120"/>
              </a:rPr>
              <a:t>Multiple Qubit Systems</a:t>
            </a:r>
            <a:endParaRPr lang="en-US" sz="3400"/>
          </a:p>
        </p:txBody>
      </p:sp>
      <p:sp>
        <p:nvSpPr>
          <p:cNvPr id="8" name="Text"/>
          <p:cNvSpPr/>
          <p:nvPr/>
        </p:nvSpPr>
        <p:spPr>
          <a:xfrm>
            <a:off x="914400" y="2148840"/>
            <a:ext cx="6858000" cy="594360"/>
          </a:xfrm>
          <a:prstGeom prst="rect">
            <a:avLst/>
          </a:prstGeom>
          <a:noFill/>
          <a:ln/>
        </p:spPr>
        <p:txBody>
          <a:bodyPr wrap="square" lIns="0" tIns="0" rIns="0" bIns="0" rtlCol="0" anchor="t">
            <a:normAutofit/>
          </a:bodyPr>
          <a:lstStyle/>
          <a:p>
            <a:pPr marL="0" indent="0" algn="l">
              <a:buNone/>
            </a:pPr>
            <a:r>
              <a:rPr lang="en-US" sz="1400" b="0" i="0">
                <a:solidFill>
                  <a:srgbClr val="6B7280"/>
                </a:solidFill>
                <a:latin typeface="Georgia" pitchFamily="34" charset="0"/>
                <a:ea typeface="Georgia" pitchFamily="34" charset="-122"/>
                <a:cs typeface="Georgia" pitchFamily="34" charset="-120"/>
              </a:rPr>
              <a:t>From tensor products to entanglement, measurement and Bell nonlocality</a:t>
            </a:r>
            <a:endParaRPr lang="en-US" sz="1400"/>
          </a:p>
        </p:txBody>
      </p:sp>
      <p:sp>
        <p:nvSpPr>
          <p:cNvPr id="9" name="Meta panel">
            <a:extLst>
              <a:ext uri="{C183D7F6-B498-43B3-948B-1728B52AA6E4}">
                <adec:decorative xmlns:adec="http://schemas.microsoft.com/office/drawing/2017/decorative" val="1"/>
              </a:ext>
            </a:extLst>
          </p:cNvPr>
          <p:cNvSpPr/>
          <p:nvPr/>
        </p:nvSpPr>
        <p:spPr>
          <a:xfrm>
            <a:off x="914400" y="2926080"/>
            <a:ext cx="7223760" cy="1005840"/>
          </a:xfrm>
          <a:prstGeom prst="roundRect">
            <a:avLst>
              <a:gd name="adj" fmla="val 4000"/>
            </a:avLst>
          </a:prstGeom>
          <a:solidFill>
            <a:srgbClr val="F4F5FB"/>
          </a:solidFill>
          <a:ln>
            <a:noFill/>
          </a:ln>
        </p:spPr>
        <p:txBody>
          <a:bodyPr/>
          <a:lstStyle/>
          <a:p>
            <a:endParaRPr lang="en-US"/>
          </a:p>
        </p:txBody>
      </p:sp>
      <p:sp>
        <p:nvSpPr>
          <p:cNvPr id="10" name="Text"/>
          <p:cNvSpPr/>
          <p:nvPr/>
        </p:nvSpPr>
        <p:spPr>
          <a:xfrm>
            <a:off x="1097280" y="3063240"/>
            <a:ext cx="1645920" cy="205740"/>
          </a:xfrm>
          <a:prstGeom prst="rect">
            <a:avLst/>
          </a:prstGeom>
          <a:noFill/>
          <a:ln/>
        </p:spPr>
        <p:txBody>
          <a:bodyPr wrap="square" lIns="0" tIns="0" rIns="0" bIns="0" rtlCol="0" anchor="ctr">
            <a:normAutofit/>
          </a:bodyPr>
          <a:lstStyle/>
          <a:p>
            <a:pPr marL="0" indent="0" algn="l">
              <a:buNone/>
            </a:pPr>
            <a:r>
              <a:rPr lang="en-US" sz="800" b="1" i="0" kern="0" spc="120">
                <a:solidFill>
                  <a:srgbClr val="3730A3"/>
                </a:solidFill>
                <a:latin typeface="Georgia" pitchFamily="34" charset="0"/>
                <a:ea typeface="Georgia" pitchFamily="34" charset="-122"/>
                <a:cs typeface="Georgia" pitchFamily="34" charset="-120"/>
              </a:rPr>
              <a:t>INSTRUCTOR</a:t>
            </a:r>
            <a:endParaRPr lang="en-US" sz="800"/>
          </a:p>
        </p:txBody>
      </p:sp>
      <p:sp>
        <p:nvSpPr>
          <p:cNvPr id="11" name="Text"/>
          <p:cNvSpPr/>
          <p:nvPr/>
        </p:nvSpPr>
        <p:spPr>
          <a:xfrm>
            <a:off x="1097280" y="3337560"/>
            <a:ext cx="1645920" cy="320040"/>
          </a:xfrm>
          <a:prstGeom prst="rect">
            <a:avLst/>
          </a:prstGeom>
          <a:noFill/>
          <a:ln/>
        </p:spPr>
        <p:txBody>
          <a:bodyPr wrap="square" lIns="0" tIns="0" rIns="0" bIns="0" rtlCol="0" anchor="ctr">
            <a:normAutofit/>
          </a:bodyPr>
          <a:lstStyle/>
          <a:p>
            <a:pPr marL="0" indent="0" algn="l">
              <a:buNone/>
            </a:pPr>
            <a:r>
              <a:rPr lang="en-US" sz="1100" b="1" i="0">
                <a:solidFill>
                  <a:srgbClr val="1A1A2E"/>
                </a:solidFill>
                <a:latin typeface="Georgia" pitchFamily="34" charset="0"/>
                <a:ea typeface="Georgia" pitchFamily="34" charset="-122"/>
                <a:cs typeface="Georgia" pitchFamily="34" charset="-120"/>
              </a:rPr>
              <a:t>[ Instructor name ]</a:t>
            </a:r>
            <a:endParaRPr lang="en-US" sz="1100"/>
          </a:p>
        </p:txBody>
      </p:sp>
      <p:sp>
        <p:nvSpPr>
          <p:cNvPr id="12" name="Text"/>
          <p:cNvSpPr/>
          <p:nvPr/>
        </p:nvSpPr>
        <p:spPr>
          <a:xfrm>
            <a:off x="2834640" y="3063240"/>
            <a:ext cx="1645920" cy="205740"/>
          </a:xfrm>
          <a:prstGeom prst="rect">
            <a:avLst/>
          </a:prstGeom>
          <a:noFill/>
          <a:ln/>
        </p:spPr>
        <p:txBody>
          <a:bodyPr wrap="square" lIns="0" tIns="0" rIns="0" bIns="0" rtlCol="0" anchor="ctr">
            <a:normAutofit/>
          </a:bodyPr>
          <a:lstStyle/>
          <a:p>
            <a:pPr marL="0" indent="0" algn="l">
              <a:buNone/>
            </a:pPr>
            <a:r>
              <a:rPr lang="en-US" sz="800" b="1" i="0" kern="0" spc="120">
                <a:solidFill>
                  <a:srgbClr val="3730A3"/>
                </a:solidFill>
                <a:latin typeface="Georgia" pitchFamily="34" charset="0"/>
                <a:ea typeface="Georgia" pitchFamily="34" charset="-122"/>
                <a:cs typeface="Georgia" pitchFamily="34" charset="-120"/>
              </a:rPr>
              <a:t>INSTITUTION</a:t>
            </a:r>
            <a:endParaRPr lang="en-US" sz="800"/>
          </a:p>
        </p:txBody>
      </p:sp>
      <p:sp>
        <p:nvSpPr>
          <p:cNvPr id="13" name="Text"/>
          <p:cNvSpPr/>
          <p:nvPr/>
        </p:nvSpPr>
        <p:spPr>
          <a:xfrm>
            <a:off x="2834640" y="3337560"/>
            <a:ext cx="1645920" cy="320040"/>
          </a:xfrm>
          <a:prstGeom prst="rect">
            <a:avLst/>
          </a:prstGeom>
          <a:noFill/>
          <a:ln/>
        </p:spPr>
        <p:txBody>
          <a:bodyPr wrap="square" lIns="0" tIns="0" rIns="0" bIns="0" rtlCol="0" anchor="ctr">
            <a:normAutofit/>
          </a:bodyPr>
          <a:lstStyle/>
          <a:p>
            <a:pPr marL="0" indent="0" algn="l">
              <a:buNone/>
            </a:pPr>
            <a:r>
              <a:rPr lang="en-US" sz="1100" b="1" i="0">
                <a:solidFill>
                  <a:srgbClr val="1A1A2E"/>
                </a:solidFill>
                <a:latin typeface="Georgia" pitchFamily="34" charset="0"/>
                <a:ea typeface="Georgia" pitchFamily="34" charset="-122"/>
                <a:cs typeface="Georgia" pitchFamily="34" charset="-120"/>
              </a:rPr>
              <a:t>[ Institution ]</a:t>
            </a:r>
            <a:endParaRPr lang="en-US" sz="1100"/>
          </a:p>
        </p:txBody>
      </p:sp>
      <p:sp>
        <p:nvSpPr>
          <p:cNvPr id="14" name="Text"/>
          <p:cNvSpPr/>
          <p:nvPr/>
        </p:nvSpPr>
        <p:spPr>
          <a:xfrm>
            <a:off x="4572000" y="3063240"/>
            <a:ext cx="1645920" cy="205740"/>
          </a:xfrm>
          <a:prstGeom prst="rect">
            <a:avLst/>
          </a:prstGeom>
          <a:noFill/>
          <a:ln/>
        </p:spPr>
        <p:txBody>
          <a:bodyPr wrap="square" lIns="0" tIns="0" rIns="0" bIns="0" rtlCol="0" anchor="ctr">
            <a:normAutofit/>
          </a:bodyPr>
          <a:lstStyle/>
          <a:p>
            <a:pPr marL="0" indent="0" algn="l">
              <a:buNone/>
            </a:pPr>
            <a:r>
              <a:rPr lang="en-US" sz="800" b="1" i="0" kern="0" spc="120">
                <a:solidFill>
                  <a:srgbClr val="3730A3"/>
                </a:solidFill>
                <a:latin typeface="Georgia" pitchFamily="34" charset="0"/>
                <a:ea typeface="Georgia" pitchFamily="34" charset="-122"/>
                <a:cs typeface="Georgia" pitchFamily="34" charset="-120"/>
              </a:rPr>
              <a:t>SESSION</a:t>
            </a:r>
            <a:endParaRPr lang="en-US" sz="800"/>
          </a:p>
        </p:txBody>
      </p:sp>
      <p:sp>
        <p:nvSpPr>
          <p:cNvPr id="15" name="Text"/>
          <p:cNvSpPr/>
          <p:nvPr/>
        </p:nvSpPr>
        <p:spPr>
          <a:xfrm>
            <a:off x="4572000" y="3337560"/>
            <a:ext cx="1645920" cy="320040"/>
          </a:xfrm>
          <a:prstGeom prst="rect">
            <a:avLst/>
          </a:prstGeom>
          <a:noFill/>
          <a:ln/>
        </p:spPr>
        <p:txBody>
          <a:bodyPr wrap="square" lIns="0" tIns="0" rIns="0" bIns="0" rtlCol="0" anchor="ctr">
            <a:normAutofit/>
          </a:bodyPr>
          <a:lstStyle/>
          <a:p>
            <a:pPr marL="0" indent="0" algn="l">
              <a:buNone/>
            </a:pPr>
            <a:r>
              <a:rPr lang="en-US" sz="1100" b="1" i="0">
                <a:solidFill>
                  <a:srgbClr val="1A1A2E"/>
                </a:solidFill>
                <a:latin typeface="Georgia" pitchFamily="34" charset="0"/>
                <a:ea typeface="Georgia" pitchFamily="34" charset="-122"/>
                <a:cs typeface="Georgia" pitchFamily="34" charset="-120"/>
              </a:rPr>
              <a:t>90 minutes</a:t>
            </a:r>
            <a:endParaRPr lang="en-US" sz="1100"/>
          </a:p>
        </p:txBody>
      </p:sp>
      <p:sp>
        <p:nvSpPr>
          <p:cNvPr id="16" name="Text"/>
          <p:cNvSpPr/>
          <p:nvPr/>
        </p:nvSpPr>
        <p:spPr>
          <a:xfrm>
            <a:off x="6309360" y="3063240"/>
            <a:ext cx="1645920" cy="205740"/>
          </a:xfrm>
          <a:prstGeom prst="rect">
            <a:avLst/>
          </a:prstGeom>
          <a:noFill/>
          <a:ln/>
        </p:spPr>
        <p:txBody>
          <a:bodyPr wrap="square" lIns="0" tIns="0" rIns="0" bIns="0" rtlCol="0" anchor="ctr">
            <a:normAutofit/>
          </a:bodyPr>
          <a:lstStyle/>
          <a:p>
            <a:pPr marL="0" indent="0" algn="l">
              <a:buNone/>
            </a:pPr>
            <a:r>
              <a:rPr lang="en-US" sz="800" b="1" i="0" kern="0" spc="120">
                <a:solidFill>
                  <a:srgbClr val="3730A3"/>
                </a:solidFill>
                <a:latin typeface="Georgia" pitchFamily="34" charset="0"/>
                <a:ea typeface="Georgia" pitchFamily="34" charset="-122"/>
                <a:cs typeface="Georgia" pitchFamily="34" charset="-120"/>
              </a:rPr>
              <a:t>DATE</a:t>
            </a:r>
            <a:endParaRPr lang="en-US" sz="800"/>
          </a:p>
        </p:txBody>
      </p:sp>
      <p:sp>
        <p:nvSpPr>
          <p:cNvPr id="17" name="Text"/>
          <p:cNvSpPr/>
          <p:nvPr/>
        </p:nvSpPr>
        <p:spPr>
          <a:xfrm>
            <a:off x="6309360" y="3337560"/>
            <a:ext cx="1645920" cy="320040"/>
          </a:xfrm>
          <a:prstGeom prst="rect">
            <a:avLst/>
          </a:prstGeom>
          <a:noFill/>
          <a:ln/>
        </p:spPr>
        <p:txBody>
          <a:bodyPr wrap="square" lIns="0" tIns="0" rIns="0" bIns="0" rtlCol="0" anchor="ctr">
            <a:normAutofit/>
          </a:bodyPr>
          <a:lstStyle/>
          <a:p>
            <a:pPr marL="0" indent="0" algn="l">
              <a:buNone/>
            </a:pPr>
            <a:r>
              <a:rPr lang="en-US" sz="1100" b="1" i="0">
                <a:solidFill>
                  <a:srgbClr val="1A1A2E"/>
                </a:solidFill>
                <a:latin typeface="Georgia" pitchFamily="34" charset="0"/>
                <a:ea typeface="Georgia" pitchFamily="34" charset="-122"/>
                <a:cs typeface="Georgia" pitchFamily="34" charset="-120"/>
              </a:rPr>
              <a:t>[ Date ]</a:t>
            </a:r>
            <a:endParaRPr lang="en-US" sz="1100"/>
          </a:p>
        </p:txBody>
      </p:sp>
      <p:sp>
        <p:nvSpPr>
          <p:cNvPr id="18" name="Text"/>
          <p:cNvSpPr/>
          <p:nvPr/>
        </p:nvSpPr>
        <p:spPr>
          <a:xfrm>
            <a:off x="914400" y="4297680"/>
            <a:ext cx="7223760" cy="274320"/>
          </a:xfrm>
          <a:prstGeom prst="rect">
            <a:avLst/>
          </a:prstGeom>
          <a:noFill/>
          <a:ln/>
        </p:spPr>
        <p:txBody>
          <a:bodyPr wrap="square" lIns="0" tIns="0" rIns="0" bIns="0" rtlCol="0" anchor="ctr">
            <a:normAutofit/>
          </a:bodyPr>
          <a:lstStyle/>
          <a:p>
            <a:pPr marL="0" indent="0" algn="l">
              <a:buNone/>
            </a:pPr>
            <a:r>
              <a:rPr lang="en-US" sz="1000" b="0" i="1">
                <a:solidFill>
                  <a:srgbClr val="6B7280"/>
                </a:solidFill>
                <a:latin typeface="Georgia" pitchFamily="34" charset="0"/>
                <a:ea typeface="Georgia" pitchFamily="34" charset="-122"/>
                <a:cs typeface="Georgia" pitchFamily="34" charset="-120"/>
              </a:rPr>
              <a:t>Prerequisite: single-qubit states, the Bloch sphere, and Dirac notation</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op accent rule">
            <a:extLst>
              <a:ext uri="{C183D7F6-B498-43B3-948B-1728B52AA6E4}">
                <adec:decorative xmlns:adec="http://schemas.microsoft.com/office/drawing/2017/decorative" val="1"/>
              </a:ext>
            </a:extLst>
          </p:cNvPr>
          <p:cNvSpPr/>
          <p:nvPr/>
        </p:nvSpPr>
        <p:spPr>
          <a:xfrm>
            <a:off x="640080" y="411480"/>
            <a:ext cx="1005840" cy="41148"/>
          </a:xfrm>
          <a:prstGeom prst="rect">
            <a:avLst/>
          </a:prstGeom>
          <a:solidFill>
            <a:srgbClr val="3730A3"/>
          </a:solidFill>
          <a:ln w="12700">
            <a:solidFill>
              <a:srgbClr val="3730A3"/>
            </a:solidFill>
            <a:prstDash val="solid"/>
          </a:ln>
        </p:spPr>
        <p:txBody>
          <a:bodyPr/>
          <a:lstStyle/>
          <a:p>
            <a:endParaRPr lang="en-US"/>
          </a:p>
        </p:txBody>
      </p:sp>
      <p:sp>
        <p:nvSpPr>
          <p:cNvPr id="3" name="Text 0"/>
          <p:cNvSpPr>
            <a:spLocks noGrp="1"/>
          </p:cNvSpPr>
          <p:nvPr>
            <p:ph type="title" idx="100" hasCustomPrompt="1"/>
          </p:nvPr>
        </p:nvSpPr>
        <p:spPr>
          <a:xfrm>
            <a:off x="640080" y="658368"/>
            <a:ext cx="7863840" cy="777240"/>
          </a:xfrm>
          <a:prstGeom prst="rect">
            <a:avLst/>
          </a:prstGeom>
          <a:noFill/>
          <a:ln/>
        </p:spPr>
        <p:txBody>
          <a:bodyPr wrap="square" lIns="0" tIns="0" rIns="0" bIns="0" rtlCol="0"/>
          <a:lstStyle/>
          <a:p>
            <a:pPr marL="0" indent="0" algn="l">
              <a:buNone/>
            </a:pPr>
            <a:r>
              <a:rPr lang="en-US" sz="4000" b="1" dirty="0">
                <a:solidFill>
                  <a:srgbClr val="1A1A2E"/>
                </a:solidFill>
                <a:latin typeface="Georgia" pitchFamily="34" charset="0"/>
                <a:ea typeface="Georgia" pitchFamily="34" charset="-122"/>
                <a:cs typeface="Georgia" pitchFamily="34" charset="-120"/>
              </a:rPr>
              <a:t>Multiple Qubit Systems</a:t>
            </a:r>
            <a:endParaRPr lang="en-US" sz="4000" dirty="0"/>
          </a:p>
        </p:txBody>
      </p:sp>
      <p:sp>
        <p:nvSpPr>
          <p:cNvPr id="4" name="Text 2"/>
          <p:cNvSpPr/>
          <p:nvPr/>
        </p:nvSpPr>
        <p:spPr>
          <a:xfrm>
            <a:off x="640080" y="1481328"/>
            <a:ext cx="6949440" cy="457200"/>
          </a:xfrm>
          <a:prstGeom prst="rect">
            <a:avLst/>
          </a:prstGeom>
          <a:noFill/>
          <a:ln/>
        </p:spPr>
        <p:txBody>
          <a:bodyPr wrap="square" lIns="0" tIns="0" rIns="0" bIns="0" rtlCol="0" anchor="ctr"/>
          <a:lstStyle/>
          <a:p>
            <a:pPr marL="0" indent="0" algn="l">
              <a:buNone/>
            </a:pPr>
            <a:r>
              <a:rPr lang="en-US" sz="1500" i="1" dirty="0">
                <a:solidFill>
                  <a:srgbClr val="6B7280"/>
                </a:solidFill>
                <a:latin typeface="Georgia" pitchFamily="34" charset="0"/>
                <a:ea typeface="Georgia" pitchFamily="34" charset="-122"/>
                <a:cs typeface="Georgia" pitchFamily="34" charset="-120"/>
              </a:rPr>
              <a:t>From Tensor Products to Entanglement, Measurement and Bell Nonlocality</a:t>
            </a:r>
            <a:endParaRPr lang="en-US" sz="1500" dirty="0"/>
          </a:p>
        </p:txBody>
      </p:sp>
      <p:sp>
        <p:nvSpPr>
          <p:cNvPr id="5" name="Divider rule">
            <a:extLst>
              <a:ext uri="{C183D7F6-B498-43B3-948B-1728B52AA6E4}">
                <adec:decorative xmlns:adec="http://schemas.microsoft.com/office/drawing/2017/decorative" val="1"/>
              </a:ext>
            </a:extLst>
          </p:cNvPr>
          <p:cNvSpPr/>
          <p:nvPr/>
        </p:nvSpPr>
        <p:spPr>
          <a:xfrm>
            <a:off x="640080" y="2084832"/>
            <a:ext cx="7863840" cy="0"/>
          </a:xfrm>
          <a:prstGeom prst="line">
            <a:avLst/>
          </a:prstGeom>
          <a:noFill/>
          <a:ln w="12700">
            <a:solidFill>
              <a:srgbClr val="D4D7DD"/>
            </a:solidFill>
            <a:prstDash val="solid"/>
          </a:ln>
        </p:spPr>
        <p:txBody>
          <a:bodyPr/>
          <a:lstStyle/>
          <a:p>
            <a:endParaRPr lang="en-US"/>
          </a:p>
        </p:txBody>
      </p:sp>
      <p:sp>
        <p:nvSpPr>
          <p:cNvPr id="6" name="Text 4"/>
          <p:cNvSpPr/>
          <p:nvPr/>
        </p:nvSpPr>
        <p:spPr>
          <a:xfrm>
            <a:off x="640080" y="2331720"/>
            <a:ext cx="7863840" cy="548640"/>
          </a:xfrm>
          <a:prstGeom prst="rect">
            <a:avLst/>
          </a:prstGeom>
          <a:noFill/>
          <a:ln/>
        </p:spPr>
        <p:txBody>
          <a:bodyPr wrap="square" lIns="0" tIns="0" rIns="0" bIns="0" rtlCol="0" anchor="ctr"/>
          <a:lstStyle/>
          <a:p>
            <a:pPr marL="0" indent="0" algn="ctr">
              <a:buNone/>
            </a:pPr>
            <a:r>
              <a:rPr lang="en-US" sz="2800" dirty="0">
                <a:solidFill>
                  <a:srgbClr val="1A1A2E"/>
                </a:solidFill>
                <a:latin typeface="Georgia" pitchFamily="34" charset="0"/>
                <a:ea typeface="Georgia" pitchFamily="34" charset="-122"/>
                <a:cs typeface="Georgia" pitchFamily="34" charset="-120"/>
              </a:rPr>
              <a:t>2 qubits  </a:t>
            </a:r>
            <a:r>
              <a:rPr lang="en-US" sz="2800" dirty="0">
                <a:solidFill>
                  <a:srgbClr val="3730A3"/>
                </a:solidFill>
                <a:latin typeface="Georgia" pitchFamily="34" charset="0"/>
                <a:ea typeface="Georgia" pitchFamily="34" charset="-122"/>
                <a:cs typeface="Georgia" pitchFamily="34" charset="-120"/>
              </a:rPr>
              <a:t>→</a:t>
            </a:r>
            <a:r>
              <a:rPr lang="en-US" sz="2800" b="1" dirty="0">
                <a:solidFill>
                  <a:srgbClr val="1A1A2E"/>
                </a:solidFill>
                <a:latin typeface="Georgia" pitchFamily="34" charset="0"/>
                <a:ea typeface="Georgia" pitchFamily="34" charset="-122"/>
                <a:cs typeface="Georgia" pitchFamily="34" charset="-120"/>
              </a:rPr>
              <a:t>  2² = 4-dimensional state space</a:t>
            </a:r>
            <a:endParaRPr lang="en-US" sz="2800" dirty="0"/>
          </a:p>
        </p:txBody>
      </p:sp>
      <p:sp>
        <p:nvSpPr>
          <p:cNvPr id="7" name="Diagram node frame">
            <a:extLst>
              <a:ext uri="{C183D7F6-B498-43B3-948B-1728B52AA6E4}">
                <adec:decorative xmlns:adec="http://schemas.microsoft.com/office/drawing/2017/decorative" val="1"/>
              </a:ext>
            </a:extLst>
          </p:cNvPr>
          <p:cNvSpPr/>
          <p:nvPr/>
        </p:nvSpPr>
        <p:spPr>
          <a:xfrm>
            <a:off x="1143000" y="3154680"/>
            <a:ext cx="1600200" cy="566928"/>
          </a:xfrm>
          <a:prstGeom prst="roundRect">
            <a:avLst>
              <a:gd name="adj" fmla="val 12903"/>
            </a:avLst>
          </a:prstGeom>
          <a:solidFill>
            <a:srgbClr val="FFFFFF"/>
          </a:solidFill>
          <a:ln w="12700">
            <a:solidFill>
              <a:srgbClr val="D4D7DD"/>
            </a:solidFill>
            <a:prstDash val="solid"/>
          </a:ln>
        </p:spPr>
        <p:txBody>
          <a:bodyPr/>
          <a:lstStyle/>
          <a:p>
            <a:endParaRPr lang="en-US"/>
          </a:p>
        </p:txBody>
      </p:sp>
      <p:sp>
        <p:nvSpPr>
          <p:cNvPr id="8" name="Text 6"/>
          <p:cNvSpPr/>
          <p:nvPr/>
        </p:nvSpPr>
        <p:spPr>
          <a:xfrm>
            <a:off x="1143000" y="3154680"/>
            <a:ext cx="1600200" cy="566928"/>
          </a:xfrm>
          <a:prstGeom prst="rect">
            <a:avLst/>
          </a:prstGeom>
          <a:noFill/>
          <a:ln/>
        </p:spPr>
        <p:txBody>
          <a:bodyPr wrap="square" lIns="0" tIns="0" rIns="0" bIns="0" rtlCol="0" anchor="ctr"/>
          <a:lstStyle/>
          <a:p>
            <a:pPr marL="0" indent="0" algn="ctr">
              <a:buNone/>
            </a:pPr>
            <a:r>
              <a:rPr lang="en-US" sz="1300" dirty="0">
                <a:solidFill>
                  <a:srgbClr val="1A1A2E"/>
                </a:solidFill>
                <a:latin typeface="Georgia" pitchFamily="34" charset="0"/>
                <a:ea typeface="Georgia" pitchFamily="34" charset="-122"/>
                <a:cs typeface="Georgia" pitchFamily="34" charset="-120"/>
              </a:rPr>
              <a:t>Qubit 1</a:t>
            </a:r>
            <a:endParaRPr lang="en-US" sz="1300" dirty="0"/>
          </a:p>
        </p:txBody>
      </p:sp>
      <p:sp>
        <p:nvSpPr>
          <p:cNvPr id="9" name="Text 7"/>
          <p:cNvSpPr/>
          <p:nvPr/>
        </p:nvSpPr>
        <p:spPr>
          <a:xfrm>
            <a:off x="2743200" y="3154680"/>
            <a:ext cx="457200" cy="566928"/>
          </a:xfrm>
          <a:prstGeom prst="rect">
            <a:avLst/>
          </a:prstGeom>
          <a:noFill/>
          <a:ln/>
        </p:spPr>
        <p:txBody>
          <a:bodyPr wrap="square" lIns="0" tIns="0" rIns="0" bIns="0" rtlCol="0" anchor="ctr"/>
          <a:lstStyle/>
          <a:p>
            <a:pPr marL="0" indent="0" algn="ctr">
              <a:buNone/>
            </a:pPr>
            <a:r>
              <a:rPr lang="en-US" sz="2000" dirty="0">
                <a:solidFill>
                  <a:srgbClr val="6B7280"/>
                </a:solidFill>
                <a:latin typeface="Georgia" pitchFamily="34" charset="0"/>
                <a:ea typeface="Georgia" pitchFamily="34" charset="-122"/>
                <a:cs typeface="Georgia" pitchFamily="34" charset="-120"/>
              </a:rPr>
              <a:t>+</a:t>
            </a:r>
            <a:endParaRPr lang="en-US" sz="2000" dirty="0"/>
          </a:p>
        </p:txBody>
      </p:sp>
      <p:sp>
        <p:nvSpPr>
          <p:cNvPr id="10" name="Diagram node frame">
            <a:extLst>
              <a:ext uri="{C183D7F6-B498-43B3-948B-1728B52AA6E4}">
                <adec:decorative xmlns:adec="http://schemas.microsoft.com/office/drawing/2017/decorative" val="1"/>
              </a:ext>
            </a:extLst>
          </p:cNvPr>
          <p:cNvSpPr/>
          <p:nvPr/>
        </p:nvSpPr>
        <p:spPr>
          <a:xfrm>
            <a:off x="3200400" y="3154680"/>
            <a:ext cx="1600200" cy="566928"/>
          </a:xfrm>
          <a:prstGeom prst="roundRect">
            <a:avLst>
              <a:gd name="adj" fmla="val 12903"/>
            </a:avLst>
          </a:prstGeom>
          <a:solidFill>
            <a:srgbClr val="FFFFFF"/>
          </a:solidFill>
          <a:ln w="12700">
            <a:solidFill>
              <a:srgbClr val="D4D7DD"/>
            </a:solidFill>
            <a:prstDash val="solid"/>
          </a:ln>
        </p:spPr>
        <p:txBody>
          <a:bodyPr/>
          <a:lstStyle/>
          <a:p>
            <a:endParaRPr lang="en-US"/>
          </a:p>
        </p:txBody>
      </p:sp>
      <p:sp>
        <p:nvSpPr>
          <p:cNvPr id="11" name="Text 9"/>
          <p:cNvSpPr/>
          <p:nvPr/>
        </p:nvSpPr>
        <p:spPr>
          <a:xfrm>
            <a:off x="3200400" y="3154680"/>
            <a:ext cx="1600200" cy="566928"/>
          </a:xfrm>
          <a:prstGeom prst="rect">
            <a:avLst/>
          </a:prstGeom>
          <a:noFill/>
          <a:ln/>
        </p:spPr>
        <p:txBody>
          <a:bodyPr wrap="square" lIns="0" tIns="0" rIns="0" bIns="0" rtlCol="0" anchor="ctr"/>
          <a:lstStyle/>
          <a:p>
            <a:pPr marL="0" indent="0" algn="ctr">
              <a:buNone/>
            </a:pPr>
            <a:r>
              <a:rPr lang="en-US" sz="1300" dirty="0">
                <a:solidFill>
                  <a:srgbClr val="1A1A2E"/>
                </a:solidFill>
                <a:latin typeface="Georgia" pitchFamily="34" charset="0"/>
                <a:ea typeface="Georgia" pitchFamily="34" charset="-122"/>
                <a:cs typeface="Georgia" pitchFamily="34" charset="-120"/>
              </a:rPr>
              <a:t>Qubit 2</a:t>
            </a:r>
            <a:endParaRPr lang="en-US" sz="1300" dirty="0"/>
          </a:p>
        </p:txBody>
      </p:sp>
      <p:sp>
        <p:nvSpPr>
          <p:cNvPr id="12" name="Text 10"/>
          <p:cNvSpPr/>
          <p:nvPr/>
        </p:nvSpPr>
        <p:spPr>
          <a:xfrm>
            <a:off x="4800600" y="3154680"/>
            <a:ext cx="502920" cy="566928"/>
          </a:xfrm>
          <a:prstGeom prst="rect">
            <a:avLst/>
          </a:prstGeom>
          <a:noFill/>
          <a:ln/>
        </p:spPr>
        <p:txBody>
          <a:bodyPr wrap="square" lIns="0" tIns="0" rIns="0" bIns="0" rtlCol="0" anchor="ctr"/>
          <a:lstStyle/>
          <a:p>
            <a:pPr marL="0" indent="0" algn="ctr">
              <a:buNone/>
            </a:pPr>
            <a:r>
              <a:rPr lang="en-US" sz="2000" dirty="0">
                <a:solidFill>
                  <a:srgbClr val="3730A3"/>
                </a:solidFill>
                <a:latin typeface="Georgia" pitchFamily="34" charset="0"/>
                <a:ea typeface="Georgia" pitchFamily="34" charset="-122"/>
                <a:cs typeface="Georgia" pitchFamily="34" charset="-120"/>
              </a:rPr>
              <a:t>→</a:t>
            </a:r>
            <a:endParaRPr lang="en-US" sz="2000" dirty="0"/>
          </a:p>
        </p:txBody>
      </p:sp>
      <p:sp>
        <p:nvSpPr>
          <p:cNvPr id="13" name="Diagram node frame">
            <a:extLst>
              <a:ext uri="{C183D7F6-B498-43B3-948B-1728B52AA6E4}">
                <adec:decorative xmlns:adec="http://schemas.microsoft.com/office/drawing/2017/decorative" val="1"/>
              </a:ext>
            </a:extLst>
          </p:cNvPr>
          <p:cNvSpPr/>
          <p:nvPr/>
        </p:nvSpPr>
        <p:spPr>
          <a:xfrm>
            <a:off x="5303520" y="3154680"/>
            <a:ext cx="2697480" cy="566928"/>
          </a:xfrm>
          <a:prstGeom prst="roundRect">
            <a:avLst>
              <a:gd name="adj" fmla="val 12903"/>
            </a:avLst>
          </a:prstGeom>
          <a:solidFill>
            <a:srgbClr val="EEF0FB"/>
          </a:solidFill>
          <a:ln w="15875">
            <a:solidFill>
              <a:srgbClr val="3730A3"/>
            </a:solidFill>
            <a:prstDash val="solid"/>
          </a:ln>
        </p:spPr>
        <p:txBody>
          <a:bodyPr/>
          <a:lstStyle/>
          <a:p>
            <a:endParaRPr lang="en-US"/>
          </a:p>
        </p:txBody>
      </p:sp>
      <p:sp>
        <p:nvSpPr>
          <p:cNvPr id="14" name="Text 12"/>
          <p:cNvSpPr/>
          <p:nvPr/>
        </p:nvSpPr>
        <p:spPr>
          <a:xfrm>
            <a:off x="5303520" y="3154680"/>
            <a:ext cx="2697480" cy="566928"/>
          </a:xfrm>
          <a:prstGeom prst="rect">
            <a:avLst/>
          </a:prstGeom>
          <a:noFill/>
          <a:ln/>
        </p:spPr>
        <p:txBody>
          <a:bodyPr wrap="square" lIns="0" tIns="0" rIns="0" bIns="0" rtlCol="0" anchor="ctr"/>
          <a:lstStyle/>
          <a:p>
            <a:pPr marL="0" indent="0" algn="ctr">
              <a:buNone/>
            </a:pPr>
            <a:r>
              <a:rPr lang="en-US" sz="1300" dirty="0">
                <a:solidFill>
                  <a:srgbClr val="3730A3"/>
                </a:solidFill>
                <a:latin typeface="Georgia" pitchFamily="34" charset="0"/>
                <a:ea typeface="Georgia" pitchFamily="34" charset="-122"/>
                <a:cs typeface="Georgia" pitchFamily="34" charset="-120"/>
              </a:rPr>
              <a:t>Composite quantum system</a:t>
            </a:r>
            <a:endParaRPr lang="en-US" sz="1300" dirty="0"/>
          </a:p>
        </p:txBody>
      </p:sp>
      <p:sp>
        <p:nvSpPr>
          <p:cNvPr id="15" name="Basis state frame">
            <a:extLst>
              <a:ext uri="{C183D7F6-B498-43B3-948B-1728B52AA6E4}">
                <adec:decorative xmlns:adec="http://schemas.microsoft.com/office/drawing/2017/decorative" val="1"/>
              </a:ext>
            </a:extLst>
          </p:cNvPr>
          <p:cNvSpPr/>
          <p:nvPr/>
        </p:nvSpPr>
        <p:spPr>
          <a:xfrm>
            <a:off x="2084832" y="3877056"/>
            <a:ext cx="1051560" cy="502920"/>
          </a:xfrm>
          <a:prstGeom prst="rect">
            <a:avLst/>
          </a:prstGeom>
          <a:solidFill>
            <a:srgbClr val="FFFFFF"/>
          </a:solidFill>
          <a:ln w="12700">
            <a:solidFill>
              <a:srgbClr val="D4D7DD"/>
            </a:solidFill>
            <a:prstDash val="solid"/>
          </a:ln>
        </p:spPr>
        <p:txBody>
          <a:bodyPr/>
          <a:lstStyle/>
          <a:p>
            <a:endParaRPr lang="en-US"/>
          </a:p>
        </p:txBody>
      </p:sp>
      <p:sp>
        <p:nvSpPr>
          <p:cNvPr id="16" name="Text 14"/>
          <p:cNvSpPr/>
          <p:nvPr/>
        </p:nvSpPr>
        <p:spPr>
          <a:xfrm>
            <a:off x="2084832" y="3877056"/>
            <a:ext cx="1051560" cy="502920"/>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|00⟩</a:t>
            </a:r>
            <a:endParaRPr lang="en-US" sz="1800" dirty="0"/>
          </a:p>
        </p:txBody>
      </p:sp>
      <p:sp>
        <p:nvSpPr>
          <p:cNvPr id="17" name="Basis state frame">
            <a:extLst>
              <a:ext uri="{C183D7F6-B498-43B3-948B-1728B52AA6E4}">
                <adec:decorative xmlns:adec="http://schemas.microsoft.com/office/drawing/2017/decorative" val="1"/>
              </a:ext>
            </a:extLst>
          </p:cNvPr>
          <p:cNvSpPr/>
          <p:nvPr/>
        </p:nvSpPr>
        <p:spPr>
          <a:xfrm>
            <a:off x="3392424" y="3877056"/>
            <a:ext cx="1051560" cy="502920"/>
          </a:xfrm>
          <a:prstGeom prst="rect">
            <a:avLst/>
          </a:prstGeom>
          <a:solidFill>
            <a:srgbClr val="FFFFFF"/>
          </a:solidFill>
          <a:ln w="12700">
            <a:solidFill>
              <a:srgbClr val="D4D7DD"/>
            </a:solidFill>
            <a:prstDash val="solid"/>
          </a:ln>
        </p:spPr>
        <p:txBody>
          <a:bodyPr/>
          <a:lstStyle/>
          <a:p>
            <a:endParaRPr lang="en-US"/>
          </a:p>
        </p:txBody>
      </p:sp>
      <p:sp>
        <p:nvSpPr>
          <p:cNvPr id="18" name="Text 16"/>
          <p:cNvSpPr/>
          <p:nvPr/>
        </p:nvSpPr>
        <p:spPr>
          <a:xfrm>
            <a:off x="3392424" y="3877056"/>
            <a:ext cx="1051560" cy="502920"/>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|01⟩</a:t>
            </a:r>
            <a:endParaRPr lang="en-US" sz="1800" dirty="0"/>
          </a:p>
        </p:txBody>
      </p:sp>
      <p:sp>
        <p:nvSpPr>
          <p:cNvPr id="19" name="Basis state frame">
            <a:extLst>
              <a:ext uri="{C183D7F6-B498-43B3-948B-1728B52AA6E4}">
                <adec:decorative xmlns:adec="http://schemas.microsoft.com/office/drawing/2017/decorative" val="1"/>
              </a:ext>
            </a:extLst>
          </p:cNvPr>
          <p:cNvSpPr/>
          <p:nvPr/>
        </p:nvSpPr>
        <p:spPr>
          <a:xfrm>
            <a:off x="4700016" y="3877056"/>
            <a:ext cx="1051560" cy="502920"/>
          </a:xfrm>
          <a:prstGeom prst="rect">
            <a:avLst/>
          </a:prstGeom>
          <a:solidFill>
            <a:srgbClr val="FFFFFF"/>
          </a:solidFill>
          <a:ln w="12700">
            <a:solidFill>
              <a:srgbClr val="D4D7DD"/>
            </a:solidFill>
            <a:prstDash val="solid"/>
          </a:ln>
        </p:spPr>
        <p:txBody>
          <a:bodyPr/>
          <a:lstStyle/>
          <a:p>
            <a:endParaRPr lang="en-US"/>
          </a:p>
        </p:txBody>
      </p:sp>
      <p:sp>
        <p:nvSpPr>
          <p:cNvPr id="20" name="Text 18"/>
          <p:cNvSpPr/>
          <p:nvPr/>
        </p:nvSpPr>
        <p:spPr>
          <a:xfrm>
            <a:off x="4700016" y="3877056"/>
            <a:ext cx="1051560" cy="502920"/>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|10⟩</a:t>
            </a:r>
            <a:endParaRPr lang="en-US" sz="1800" dirty="0"/>
          </a:p>
        </p:txBody>
      </p:sp>
      <p:sp>
        <p:nvSpPr>
          <p:cNvPr id="21" name="Basis state frame">
            <a:extLst>
              <a:ext uri="{C183D7F6-B498-43B3-948B-1728B52AA6E4}">
                <adec:decorative xmlns:adec="http://schemas.microsoft.com/office/drawing/2017/decorative" val="1"/>
              </a:ext>
            </a:extLst>
          </p:cNvPr>
          <p:cNvSpPr/>
          <p:nvPr/>
        </p:nvSpPr>
        <p:spPr>
          <a:xfrm>
            <a:off x="6007608" y="3877056"/>
            <a:ext cx="1051560" cy="502920"/>
          </a:xfrm>
          <a:prstGeom prst="rect">
            <a:avLst/>
          </a:prstGeom>
          <a:solidFill>
            <a:srgbClr val="FFFFFF"/>
          </a:solidFill>
          <a:ln w="12700">
            <a:solidFill>
              <a:srgbClr val="D4D7DD"/>
            </a:solidFill>
            <a:prstDash val="solid"/>
          </a:ln>
        </p:spPr>
        <p:txBody>
          <a:bodyPr/>
          <a:lstStyle/>
          <a:p>
            <a:endParaRPr lang="en-US"/>
          </a:p>
        </p:txBody>
      </p:sp>
      <p:sp>
        <p:nvSpPr>
          <p:cNvPr id="22" name="Text 20"/>
          <p:cNvSpPr/>
          <p:nvPr/>
        </p:nvSpPr>
        <p:spPr>
          <a:xfrm>
            <a:off x="6007608" y="3877056"/>
            <a:ext cx="1051560" cy="502920"/>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|11⟩</a:t>
            </a:r>
            <a:endParaRPr lang="en-US" sz="1800" dirty="0"/>
          </a:p>
        </p:txBody>
      </p:sp>
      <p:sp>
        <p:nvSpPr>
          <p:cNvPr id="23" name="Text 21"/>
          <p:cNvSpPr/>
          <p:nvPr/>
        </p:nvSpPr>
        <p:spPr>
          <a:xfrm>
            <a:off x="640080" y="4507992"/>
            <a:ext cx="7863840" cy="292608"/>
          </a:xfrm>
          <a:prstGeom prst="rect">
            <a:avLst/>
          </a:prstGeom>
          <a:noFill/>
          <a:ln/>
        </p:spPr>
        <p:txBody>
          <a:bodyPr wrap="square" lIns="0" tIns="0" rIns="0" bIns="0" rtlCol="0" anchor="ctr"/>
          <a:lstStyle/>
          <a:p>
            <a:pPr marL="0" indent="0" algn="ctr">
              <a:buNone/>
            </a:pPr>
            <a:r>
              <a:rPr lang="en-US" sz="1100" kern="0" spc="100" dirty="0">
                <a:solidFill>
                  <a:srgbClr val="6B7280"/>
                </a:solidFill>
                <a:latin typeface="Georgia" pitchFamily="34" charset="0"/>
                <a:ea typeface="Georgia" pitchFamily="34" charset="-122"/>
                <a:cs typeface="Georgia" pitchFamily="34" charset="-120"/>
              </a:rPr>
              <a:t>Four computational basis states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Learning objectives</a:t>
            </a:r>
            <a:endParaRPr lang="en-US" sz="2500" dirty="0"/>
          </a:p>
        </p:txBody>
      </p:sp>
      <p:sp>
        <p:nvSpPr>
          <p:cNvPr id="3" name="Text 1"/>
          <p:cNvSpPr/>
          <p:nvPr/>
        </p:nvSpPr>
        <p:spPr>
          <a:xfrm>
            <a:off x="640080" y="1207008"/>
            <a:ext cx="7863840" cy="274320"/>
          </a:xfrm>
          <a:prstGeom prst="rect">
            <a:avLst/>
          </a:prstGeom>
          <a:noFill/>
          <a:ln/>
        </p:spPr>
        <p:txBody>
          <a:bodyPr wrap="square" lIns="0" tIns="0" rIns="0" bIns="0" rtlCol="0" anchor="ctr"/>
          <a:lstStyle/>
          <a:p>
            <a:pPr marL="0" indent="0">
              <a:buNone/>
            </a:pPr>
            <a:r>
              <a:rPr lang="en-US" sz="1250" i="1" dirty="0">
                <a:solidFill>
                  <a:srgbClr val="6B7280"/>
                </a:solidFill>
                <a:latin typeface="Georgia" pitchFamily="34" charset="0"/>
                <a:ea typeface="Georgia" pitchFamily="34" charset="-122"/>
                <a:cs typeface="Georgia" pitchFamily="34" charset="-120"/>
              </a:rPr>
              <a:t>Ten source outcomes, grouped into five capability clusters</a:t>
            </a:r>
            <a:endParaRPr lang="en-US" sz="1250" dirty="0"/>
          </a:p>
        </p:txBody>
      </p:sp>
      <p:sp>
        <p:nvSpPr>
          <p:cNvPr id="4" name="Card frame">
            <a:extLst>
              <a:ext uri="{C183D7F6-B498-43B3-948B-1728B52AA6E4}">
                <adec:decorative xmlns:adec="http://schemas.microsoft.com/office/drawing/2017/decorative" val="1"/>
              </a:ext>
            </a:extLst>
          </p:cNvPr>
          <p:cNvSpPr/>
          <p:nvPr/>
        </p:nvSpPr>
        <p:spPr>
          <a:xfrm>
            <a:off x="2034540" y="1627632"/>
            <a:ext cx="2377440" cy="1371600"/>
          </a:xfrm>
          <a:prstGeom prst="roundRect">
            <a:avLst>
              <a:gd name="adj" fmla="val 4000"/>
            </a:avLst>
          </a:prstGeom>
          <a:solidFill>
            <a:srgbClr val="F4F5FB"/>
          </a:solidFill>
          <a:ln w="15240">
            <a:solidFill>
              <a:srgbClr val="3730A3"/>
            </a:solidFill>
            <a:prstDash val="solid"/>
          </a:ln>
        </p:spPr>
        <p:txBody>
          <a:bodyPr/>
          <a:lstStyle/>
          <a:p>
            <a:endParaRPr lang="en-US"/>
          </a:p>
        </p:txBody>
      </p:sp>
      <p:sp>
        <p:nvSpPr>
          <p:cNvPr id="5" name="Text 3"/>
          <p:cNvSpPr/>
          <p:nvPr/>
        </p:nvSpPr>
        <p:spPr>
          <a:xfrm>
            <a:off x="2199132" y="1755648"/>
            <a:ext cx="365760" cy="274320"/>
          </a:xfrm>
          <a:prstGeom prst="rect">
            <a:avLst/>
          </a:prstGeom>
          <a:noFill/>
          <a:ln/>
        </p:spPr>
        <p:txBody>
          <a:bodyPr wrap="square" lIns="0" tIns="0" rIns="0" bIns="0" rtlCol="0" anchor="ctr"/>
          <a:lstStyle/>
          <a:p>
            <a:pPr marL="0" indent="0">
              <a:buNone/>
            </a:pPr>
            <a:r>
              <a:rPr lang="en-US" sz="1200" b="1" dirty="0">
                <a:solidFill>
                  <a:srgbClr val="3730A3"/>
                </a:solidFill>
                <a:latin typeface="Georgia" pitchFamily="34" charset="0"/>
                <a:ea typeface="Georgia" pitchFamily="34" charset="-122"/>
                <a:cs typeface="Georgia" pitchFamily="34" charset="-120"/>
              </a:rPr>
              <a:t>1</a:t>
            </a:r>
            <a:endParaRPr lang="en-US" sz="1200" dirty="0"/>
          </a:p>
        </p:txBody>
      </p:sp>
      <p:sp>
        <p:nvSpPr>
          <p:cNvPr id="6" name="Text 4"/>
          <p:cNvSpPr/>
          <p:nvPr/>
        </p:nvSpPr>
        <p:spPr>
          <a:xfrm>
            <a:off x="2199132" y="2048256"/>
            <a:ext cx="2048256" cy="457200"/>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State-space scaling</a:t>
            </a:r>
            <a:endParaRPr lang="en-US" sz="1400" dirty="0"/>
          </a:p>
        </p:txBody>
      </p:sp>
      <p:sp>
        <p:nvSpPr>
          <p:cNvPr id="7" name="Text 5"/>
          <p:cNvSpPr/>
          <p:nvPr/>
        </p:nvSpPr>
        <p:spPr>
          <a:xfrm>
            <a:off x="2199132" y="2496312"/>
            <a:ext cx="2048256" cy="411480"/>
          </a:xfrm>
          <a:prstGeom prst="rect">
            <a:avLst/>
          </a:prstGeom>
          <a:noFill/>
          <a:ln/>
        </p:spPr>
        <p:txBody>
          <a:bodyPr wrap="square" lIns="0" tIns="0" rIns="0" bIns="0" rtlCol="0" anchor="ctr"/>
          <a:lstStyle/>
          <a:p>
            <a:pPr marL="0" indent="0">
              <a:buNone/>
            </a:pPr>
            <a:r>
              <a:rPr lang="en-US" sz="1050" dirty="0">
                <a:solidFill>
                  <a:srgbClr val="6B7280"/>
                </a:solidFill>
                <a:latin typeface="Georgia" pitchFamily="34" charset="0"/>
                <a:ea typeface="Georgia" pitchFamily="34" charset="-122"/>
                <a:cs typeface="Georgia" pitchFamily="34" charset="-120"/>
              </a:rPr>
              <a:t>Direct sum vs tensor product; why dimension grows as 2ⁿ</a:t>
            </a:r>
            <a:endParaRPr lang="en-US" sz="1050" dirty="0"/>
          </a:p>
        </p:txBody>
      </p:sp>
      <p:sp>
        <p:nvSpPr>
          <p:cNvPr id="8" name="Card frame">
            <a:extLst>
              <a:ext uri="{C183D7F6-B498-43B3-948B-1728B52AA6E4}">
                <adec:decorative xmlns:adec="http://schemas.microsoft.com/office/drawing/2017/decorative" val="1"/>
              </a:ext>
            </a:extLst>
          </p:cNvPr>
          <p:cNvSpPr/>
          <p:nvPr/>
        </p:nvSpPr>
        <p:spPr>
          <a:xfrm>
            <a:off x="4732020" y="1627632"/>
            <a:ext cx="2377440" cy="1371600"/>
          </a:xfrm>
          <a:prstGeom prst="roundRect">
            <a:avLst>
              <a:gd name="adj" fmla="val 4000"/>
            </a:avLst>
          </a:prstGeom>
          <a:solidFill>
            <a:srgbClr val="F4F5FB"/>
          </a:solidFill>
          <a:ln w="15240">
            <a:solidFill>
              <a:srgbClr val="3730A3"/>
            </a:solidFill>
            <a:prstDash val="solid"/>
          </a:ln>
        </p:spPr>
        <p:txBody>
          <a:bodyPr/>
          <a:lstStyle/>
          <a:p>
            <a:endParaRPr lang="en-US"/>
          </a:p>
        </p:txBody>
      </p:sp>
      <p:sp>
        <p:nvSpPr>
          <p:cNvPr id="9" name="Text 7"/>
          <p:cNvSpPr/>
          <p:nvPr/>
        </p:nvSpPr>
        <p:spPr>
          <a:xfrm>
            <a:off x="4896612" y="1755648"/>
            <a:ext cx="365760" cy="274320"/>
          </a:xfrm>
          <a:prstGeom prst="rect">
            <a:avLst/>
          </a:prstGeom>
          <a:noFill/>
          <a:ln/>
        </p:spPr>
        <p:txBody>
          <a:bodyPr wrap="square" lIns="0" tIns="0" rIns="0" bIns="0" rtlCol="0" anchor="ctr"/>
          <a:lstStyle/>
          <a:p>
            <a:pPr marL="0" indent="0">
              <a:buNone/>
            </a:pPr>
            <a:r>
              <a:rPr lang="en-US" sz="1200" b="1" dirty="0">
                <a:solidFill>
                  <a:srgbClr val="3730A3"/>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4896612" y="2048256"/>
            <a:ext cx="2048256" cy="457200"/>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Multi-qubit state representation</a:t>
            </a:r>
            <a:endParaRPr lang="en-US" sz="1400" dirty="0"/>
          </a:p>
        </p:txBody>
      </p:sp>
      <p:sp>
        <p:nvSpPr>
          <p:cNvPr id="11" name="Text 9"/>
          <p:cNvSpPr/>
          <p:nvPr/>
        </p:nvSpPr>
        <p:spPr>
          <a:xfrm>
            <a:off x="4896612" y="2496312"/>
            <a:ext cx="2048256" cy="411480"/>
          </a:xfrm>
          <a:prstGeom prst="rect">
            <a:avLst/>
          </a:prstGeom>
          <a:noFill/>
          <a:ln/>
        </p:spPr>
        <p:txBody>
          <a:bodyPr wrap="square" lIns="0" tIns="0" rIns="0" bIns="0" rtlCol="0" anchor="ctr"/>
          <a:lstStyle/>
          <a:p>
            <a:pPr marL="0" indent="0">
              <a:buNone/>
            </a:pPr>
            <a:r>
              <a:rPr lang="en-US" sz="1050" dirty="0">
                <a:solidFill>
                  <a:srgbClr val="6B7280"/>
                </a:solidFill>
                <a:latin typeface="Georgia" pitchFamily="34" charset="0"/>
                <a:ea typeface="Georgia" pitchFamily="34" charset="-122"/>
                <a:cs typeface="Georgia" pitchFamily="34" charset="-120"/>
              </a:rPr>
              <a:t>Tensor products, basis ordering, joint amplitudes</a:t>
            </a:r>
            <a:endParaRPr lang="en-US" sz="1050" dirty="0"/>
          </a:p>
        </p:txBody>
      </p:sp>
      <p:sp>
        <p:nvSpPr>
          <p:cNvPr id="12" name="Card frame">
            <a:extLst>
              <a:ext uri="{C183D7F6-B498-43B3-948B-1728B52AA6E4}">
                <adec:decorative xmlns:adec="http://schemas.microsoft.com/office/drawing/2017/decorative" val="1"/>
              </a:ext>
            </a:extLst>
          </p:cNvPr>
          <p:cNvSpPr/>
          <p:nvPr/>
        </p:nvSpPr>
        <p:spPr>
          <a:xfrm>
            <a:off x="685800" y="3154680"/>
            <a:ext cx="237744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13" name="Text 11"/>
          <p:cNvSpPr/>
          <p:nvPr/>
        </p:nvSpPr>
        <p:spPr>
          <a:xfrm>
            <a:off x="850392" y="3282696"/>
            <a:ext cx="365760" cy="274320"/>
          </a:xfrm>
          <a:prstGeom prst="rect">
            <a:avLst/>
          </a:prstGeom>
          <a:noFill/>
          <a:ln/>
        </p:spPr>
        <p:txBody>
          <a:bodyPr wrap="square" lIns="0" tIns="0" rIns="0" bIns="0" rtlCol="0" anchor="ctr"/>
          <a:lstStyle/>
          <a:p>
            <a:pPr marL="0" indent="0">
              <a:buNone/>
            </a:pPr>
            <a:r>
              <a:rPr lang="en-US" sz="1200" b="1" dirty="0">
                <a:solidFill>
                  <a:srgbClr val="3730A3"/>
                </a:solidFill>
                <a:latin typeface="Georgia" pitchFamily="34" charset="0"/>
                <a:ea typeface="Georgia" pitchFamily="34" charset="-122"/>
                <a:cs typeface="Georgia" pitchFamily="34" charset="-120"/>
              </a:rPr>
              <a:t>3</a:t>
            </a:r>
            <a:endParaRPr lang="en-US" sz="1200" dirty="0"/>
          </a:p>
        </p:txBody>
      </p:sp>
      <p:sp>
        <p:nvSpPr>
          <p:cNvPr id="14" name="Text 12"/>
          <p:cNvSpPr/>
          <p:nvPr/>
        </p:nvSpPr>
        <p:spPr>
          <a:xfrm>
            <a:off x="850392" y="3575304"/>
            <a:ext cx="2048256" cy="457200"/>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Entanglement</a:t>
            </a:r>
            <a:endParaRPr lang="en-US" sz="1400" dirty="0"/>
          </a:p>
        </p:txBody>
      </p:sp>
      <p:sp>
        <p:nvSpPr>
          <p:cNvPr id="15" name="Text 13"/>
          <p:cNvSpPr/>
          <p:nvPr/>
        </p:nvSpPr>
        <p:spPr>
          <a:xfrm>
            <a:off x="850392" y="4023360"/>
            <a:ext cx="2048256" cy="411480"/>
          </a:xfrm>
          <a:prstGeom prst="rect">
            <a:avLst/>
          </a:prstGeom>
          <a:noFill/>
          <a:ln/>
        </p:spPr>
        <p:txBody>
          <a:bodyPr wrap="square" lIns="0" tIns="0" rIns="0" bIns="0" rtlCol="0" anchor="ctr"/>
          <a:lstStyle/>
          <a:p>
            <a:pPr marL="0" indent="0">
              <a:buNone/>
            </a:pPr>
            <a:r>
              <a:rPr lang="en-US" sz="1050" dirty="0">
                <a:solidFill>
                  <a:srgbClr val="6B7280"/>
                </a:solidFill>
                <a:latin typeface="Georgia" pitchFamily="34" charset="0"/>
                <a:ea typeface="Georgia" pitchFamily="34" charset="-122"/>
                <a:cs typeface="Georgia" pitchFamily="34" charset="-120"/>
              </a:rPr>
              <a:t>Separable vs entangled states and Bell states</a:t>
            </a:r>
            <a:endParaRPr lang="en-US" sz="1050" dirty="0"/>
          </a:p>
        </p:txBody>
      </p:sp>
      <p:sp>
        <p:nvSpPr>
          <p:cNvPr id="16" name="Card frame">
            <a:extLst>
              <a:ext uri="{C183D7F6-B498-43B3-948B-1728B52AA6E4}">
                <adec:decorative xmlns:adec="http://schemas.microsoft.com/office/drawing/2017/decorative" val="1"/>
              </a:ext>
            </a:extLst>
          </p:cNvPr>
          <p:cNvSpPr/>
          <p:nvPr/>
        </p:nvSpPr>
        <p:spPr>
          <a:xfrm>
            <a:off x="3383280" y="3154680"/>
            <a:ext cx="237744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17" name="Text 15"/>
          <p:cNvSpPr/>
          <p:nvPr/>
        </p:nvSpPr>
        <p:spPr>
          <a:xfrm>
            <a:off x="3547872" y="3282696"/>
            <a:ext cx="365760" cy="274320"/>
          </a:xfrm>
          <a:prstGeom prst="rect">
            <a:avLst/>
          </a:prstGeom>
          <a:noFill/>
          <a:ln/>
        </p:spPr>
        <p:txBody>
          <a:bodyPr wrap="square" lIns="0" tIns="0" rIns="0" bIns="0" rtlCol="0" anchor="ctr"/>
          <a:lstStyle/>
          <a:p>
            <a:pPr marL="0" indent="0">
              <a:buNone/>
            </a:pPr>
            <a:r>
              <a:rPr lang="en-US" sz="1200" b="1" dirty="0">
                <a:solidFill>
                  <a:srgbClr val="3730A3"/>
                </a:solidFill>
                <a:latin typeface="Georgia" pitchFamily="34" charset="0"/>
                <a:ea typeface="Georgia" pitchFamily="34" charset="-122"/>
                <a:cs typeface="Georgia" pitchFamily="34" charset="-120"/>
              </a:rPr>
              <a:t>4</a:t>
            </a:r>
            <a:endParaRPr lang="en-US" sz="1200" dirty="0"/>
          </a:p>
        </p:txBody>
      </p:sp>
      <p:sp>
        <p:nvSpPr>
          <p:cNvPr id="18" name="Text 16"/>
          <p:cNvSpPr/>
          <p:nvPr/>
        </p:nvSpPr>
        <p:spPr>
          <a:xfrm>
            <a:off x="3547872" y="3575304"/>
            <a:ext cx="2048256" cy="457200"/>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Measurement &amp; operators</a:t>
            </a:r>
            <a:endParaRPr lang="en-US" sz="1400" dirty="0"/>
          </a:p>
        </p:txBody>
      </p:sp>
      <p:sp>
        <p:nvSpPr>
          <p:cNvPr id="19" name="Text 17"/>
          <p:cNvSpPr/>
          <p:nvPr/>
        </p:nvSpPr>
        <p:spPr>
          <a:xfrm>
            <a:off x="3547872" y="4023360"/>
            <a:ext cx="2048256" cy="411480"/>
          </a:xfrm>
          <a:prstGeom prst="rect">
            <a:avLst/>
          </a:prstGeom>
          <a:noFill/>
          <a:ln/>
        </p:spPr>
        <p:txBody>
          <a:bodyPr wrap="square" lIns="0" tIns="0" rIns="0" bIns="0" rtlCol="0" anchor="ctr"/>
          <a:lstStyle/>
          <a:p>
            <a:pPr marL="0" indent="0">
              <a:buNone/>
            </a:pPr>
            <a:r>
              <a:rPr lang="en-US" sz="1050" dirty="0">
                <a:solidFill>
                  <a:srgbClr val="6B7280"/>
                </a:solidFill>
                <a:latin typeface="Georgia" pitchFamily="34" charset="0"/>
                <a:ea typeface="Georgia" pitchFamily="34" charset="-122"/>
                <a:cs typeface="Georgia" pitchFamily="34" charset="-120"/>
              </a:rPr>
              <a:t>Partial measurement, projectors, Hermitian operators</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6080760" y="3154680"/>
            <a:ext cx="237744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21" name="Text 19"/>
          <p:cNvSpPr/>
          <p:nvPr/>
        </p:nvSpPr>
        <p:spPr>
          <a:xfrm>
            <a:off x="6245352" y="3282696"/>
            <a:ext cx="365760" cy="274320"/>
          </a:xfrm>
          <a:prstGeom prst="rect">
            <a:avLst/>
          </a:prstGeom>
          <a:noFill/>
          <a:ln/>
        </p:spPr>
        <p:txBody>
          <a:bodyPr wrap="square" lIns="0" tIns="0" rIns="0" bIns="0" rtlCol="0" anchor="ctr"/>
          <a:lstStyle/>
          <a:p>
            <a:pPr marL="0" indent="0">
              <a:buNone/>
            </a:pPr>
            <a:r>
              <a:rPr lang="en-US" sz="1200" b="1" dirty="0">
                <a:solidFill>
                  <a:srgbClr val="3730A3"/>
                </a:solidFill>
                <a:latin typeface="Georgia" pitchFamily="34" charset="0"/>
                <a:ea typeface="Georgia" pitchFamily="34" charset="-122"/>
                <a:cs typeface="Georgia" pitchFamily="34" charset="-120"/>
              </a:rPr>
              <a:t>5</a:t>
            </a:r>
            <a:endParaRPr lang="en-US" sz="1200" dirty="0"/>
          </a:p>
        </p:txBody>
      </p:sp>
      <p:sp>
        <p:nvSpPr>
          <p:cNvPr id="22" name="Text 20"/>
          <p:cNvSpPr/>
          <p:nvPr/>
        </p:nvSpPr>
        <p:spPr>
          <a:xfrm>
            <a:off x="6245352" y="3575304"/>
            <a:ext cx="2048256" cy="457200"/>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Q-sphere, Bell theorem &amp; QKD</a:t>
            </a:r>
            <a:endParaRPr lang="en-US" sz="1400" dirty="0"/>
          </a:p>
        </p:txBody>
      </p:sp>
      <p:sp>
        <p:nvSpPr>
          <p:cNvPr id="23" name="Text 21"/>
          <p:cNvSpPr/>
          <p:nvPr/>
        </p:nvSpPr>
        <p:spPr>
          <a:xfrm>
            <a:off x="6245352" y="4023360"/>
            <a:ext cx="2048256" cy="411480"/>
          </a:xfrm>
          <a:prstGeom prst="rect">
            <a:avLst/>
          </a:prstGeom>
          <a:noFill/>
          <a:ln/>
        </p:spPr>
        <p:txBody>
          <a:bodyPr wrap="square" lIns="0" tIns="0" rIns="0" bIns="0" rtlCol="0" anchor="ctr"/>
          <a:lstStyle/>
          <a:p>
            <a:pPr marL="0" indent="0">
              <a:buNone/>
            </a:pPr>
            <a:r>
              <a:rPr lang="en-US" sz="1050" dirty="0">
                <a:solidFill>
                  <a:srgbClr val="6B7280"/>
                </a:solidFill>
                <a:latin typeface="Georgia" pitchFamily="34" charset="0"/>
                <a:ea typeface="Georgia" pitchFamily="34" charset="-122"/>
                <a:cs typeface="Georgia" pitchFamily="34" charset="-120"/>
              </a:rPr>
              <a:t>Visualization, nonlocality and key distribution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big question: why multiple qubits?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40080" y="1280160"/>
            <a:ext cx="7863840" cy="685800"/>
          </a:xfrm>
          <a:prstGeom prst="roundRect">
            <a:avLst>
              <a:gd name="adj" fmla="val 8000"/>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822960" y="1280160"/>
            <a:ext cx="7498080" cy="68580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One qubit is interesting. Why are many qubits powerful?</a:t>
            </a:r>
            <a:endParaRPr lang="en-US" sz="1900" dirty="0"/>
          </a:p>
        </p:txBody>
      </p:sp>
      <p:sp>
        <p:nvSpPr>
          <p:cNvPr id="5" name="Card frame">
            <a:extLst>
              <a:ext uri="{C183D7F6-B498-43B3-948B-1728B52AA6E4}">
                <adec:decorative xmlns:adec="http://schemas.microsoft.com/office/drawing/2017/decorative" val="1"/>
              </a:ext>
            </a:extLst>
          </p:cNvPr>
          <p:cNvSpPr/>
          <p:nvPr/>
        </p:nvSpPr>
        <p:spPr>
          <a:xfrm>
            <a:off x="640080" y="2286000"/>
            <a:ext cx="182880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640080" y="2450592"/>
            <a:ext cx="1828800" cy="365760"/>
          </a:xfrm>
          <a:prstGeom prst="rect">
            <a:avLst/>
          </a:prstGeom>
          <a:noFill/>
          <a:ln/>
        </p:spPr>
        <p:txBody>
          <a:bodyPr wrap="square" lIns="0" tIns="0" rIns="0" bIns="0" rtlCol="0" anchor="ctr"/>
          <a:lstStyle/>
          <a:p>
            <a:pPr marL="0" indent="0" algn="ctr">
              <a:buNone/>
            </a:pPr>
            <a:r>
              <a:rPr lang="en-US" sz="1400" dirty="0">
                <a:solidFill>
                  <a:srgbClr val="6B7280"/>
                </a:solidFill>
                <a:latin typeface="Georgia" pitchFamily="34" charset="0"/>
                <a:ea typeface="Georgia" pitchFamily="34" charset="-122"/>
                <a:cs typeface="Georgia" pitchFamily="34" charset="-120"/>
              </a:rPr>
              <a:t>1 qubit</a:t>
            </a:r>
            <a:endParaRPr lang="en-US" sz="1400" dirty="0"/>
          </a:p>
        </p:txBody>
      </p:sp>
      <p:sp>
        <p:nvSpPr>
          <p:cNvPr id="7" name="Text 5"/>
          <p:cNvSpPr/>
          <p:nvPr/>
        </p:nvSpPr>
        <p:spPr>
          <a:xfrm>
            <a:off x="640080" y="2761488"/>
            <a:ext cx="1828800" cy="274320"/>
          </a:xfrm>
          <a:prstGeom prst="rect">
            <a:avLst/>
          </a:prstGeom>
          <a:noFill/>
          <a:ln/>
        </p:spPr>
        <p:txBody>
          <a:bodyPr wrap="square" lIns="0" tIns="0" rIns="0" bIns="0" rtlCol="0" anchor="ctr"/>
          <a:lstStyle/>
          <a:p>
            <a:pPr marL="0" indent="0" algn="ctr">
              <a:buNone/>
            </a:pPr>
            <a:r>
              <a:rPr lang="en-US" sz="1300" dirty="0">
                <a:solidFill>
                  <a:srgbClr val="3730A3"/>
                </a:solidFill>
                <a:latin typeface="Georgia" pitchFamily="34" charset="0"/>
                <a:ea typeface="Georgia" pitchFamily="34" charset="-122"/>
                <a:cs typeface="Georgia" pitchFamily="34" charset="-120"/>
              </a:rPr>
              <a:t>↓</a:t>
            </a:r>
            <a:endParaRPr lang="en-US" sz="1300" dirty="0"/>
          </a:p>
        </p:txBody>
      </p:sp>
      <p:sp>
        <p:nvSpPr>
          <p:cNvPr id="8" name="Text 6"/>
          <p:cNvSpPr/>
          <p:nvPr/>
        </p:nvSpPr>
        <p:spPr>
          <a:xfrm>
            <a:off x="640080" y="3017520"/>
            <a:ext cx="1828800" cy="384048"/>
          </a:xfrm>
          <a:prstGeom prst="rect">
            <a:avLst/>
          </a:prstGeom>
          <a:noFill/>
          <a:ln/>
        </p:spPr>
        <p:txBody>
          <a:bodyPr wrap="square" lIns="0" tIns="0" rIns="0" bIns="0" rtlCol="0" anchor="ctr"/>
          <a:lstStyle/>
          <a:p>
            <a:pPr marL="0" indent="0" algn="ctr">
              <a:buNone/>
            </a:pPr>
            <a:r>
              <a:rPr lang="en-US" sz="1600" b="1" dirty="0">
                <a:solidFill>
                  <a:srgbClr val="1A1A2E"/>
                </a:solidFill>
                <a:latin typeface="Georgia" pitchFamily="34" charset="0"/>
                <a:ea typeface="Georgia" pitchFamily="34" charset="-122"/>
                <a:cs typeface="Georgia" pitchFamily="34" charset="-120"/>
              </a:rPr>
              <a:t>2 amplitudes</a:t>
            </a:r>
            <a:endParaRPr lang="en-US" sz="1600" dirty="0"/>
          </a:p>
        </p:txBody>
      </p:sp>
      <p:sp>
        <p:nvSpPr>
          <p:cNvPr id="9" name="Card frame">
            <a:extLst>
              <a:ext uri="{C183D7F6-B498-43B3-948B-1728B52AA6E4}">
                <adec:decorative xmlns:adec="http://schemas.microsoft.com/office/drawing/2017/decorative" val="1"/>
              </a:ext>
            </a:extLst>
          </p:cNvPr>
          <p:cNvSpPr/>
          <p:nvPr/>
        </p:nvSpPr>
        <p:spPr>
          <a:xfrm>
            <a:off x="2651760" y="2286000"/>
            <a:ext cx="182880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0" name="Text 8"/>
          <p:cNvSpPr/>
          <p:nvPr/>
        </p:nvSpPr>
        <p:spPr>
          <a:xfrm>
            <a:off x="2651760" y="2450592"/>
            <a:ext cx="1828800" cy="365760"/>
          </a:xfrm>
          <a:prstGeom prst="rect">
            <a:avLst/>
          </a:prstGeom>
          <a:noFill/>
          <a:ln/>
        </p:spPr>
        <p:txBody>
          <a:bodyPr wrap="square" lIns="0" tIns="0" rIns="0" bIns="0" rtlCol="0" anchor="ctr"/>
          <a:lstStyle/>
          <a:p>
            <a:pPr marL="0" indent="0" algn="ctr">
              <a:buNone/>
            </a:pPr>
            <a:r>
              <a:rPr lang="en-US" sz="1400" dirty="0">
                <a:solidFill>
                  <a:srgbClr val="6B7280"/>
                </a:solidFill>
                <a:latin typeface="Georgia" pitchFamily="34" charset="0"/>
                <a:ea typeface="Georgia" pitchFamily="34" charset="-122"/>
                <a:cs typeface="Georgia" pitchFamily="34" charset="-120"/>
              </a:rPr>
              <a:t>2 qubits</a:t>
            </a:r>
            <a:endParaRPr lang="en-US" sz="1400" dirty="0"/>
          </a:p>
        </p:txBody>
      </p:sp>
      <p:sp>
        <p:nvSpPr>
          <p:cNvPr id="11" name="Text 9"/>
          <p:cNvSpPr/>
          <p:nvPr/>
        </p:nvSpPr>
        <p:spPr>
          <a:xfrm>
            <a:off x="2651760" y="2761488"/>
            <a:ext cx="1828800" cy="274320"/>
          </a:xfrm>
          <a:prstGeom prst="rect">
            <a:avLst/>
          </a:prstGeom>
          <a:noFill/>
          <a:ln/>
        </p:spPr>
        <p:txBody>
          <a:bodyPr wrap="square" lIns="0" tIns="0" rIns="0" bIns="0" rtlCol="0" anchor="ctr"/>
          <a:lstStyle/>
          <a:p>
            <a:pPr marL="0" indent="0" algn="ctr">
              <a:buNone/>
            </a:pPr>
            <a:r>
              <a:rPr lang="en-US" sz="1300" dirty="0">
                <a:solidFill>
                  <a:srgbClr val="3730A3"/>
                </a:solidFill>
                <a:latin typeface="Georgia" pitchFamily="34" charset="0"/>
                <a:ea typeface="Georgia" pitchFamily="34" charset="-122"/>
                <a:cs typeface="Georgia" pitchFamily="34" charset="-120"/>
              </a:rPr>
              <a:t>↓</a:t>
            </a:r>
            <a:endParaRPr lang="en-US" sz="1300" dirty="0"/>
          </a:p>
        </p:txBody>
      </p:sp>
      <p:sp>
        <p:nvSpPr>
          <p:cNvPr id="12" name="Text 10"/>
          <p:cNvSpPr/>
          <p:nvPr/>
        </p:nvSpPr>
        <p:spPr>
          <a:xfrm>
            <a:off x="2651760" y="3017520"/>
            <a:ext cx="1828800" cy="384048"/>
          </a:xfrm>
          <a:prstGeom prst="rect">
            <a:avLst/>
          </a:prstGeom>
          <a:noFill/>
          <a:ln/>
        </p:spPr>
        <p:txBody>
          <a:bodyPr wrap="square" lIns="0" tIns="0" rIns="0" bIns="0" rtlCol="0" anchor="ctr"/>
          <a:lstStyle/>
          <a:p>
            <a:pPr marL="0" indent="0" algn="ctr">
              <a:buNone/>
            </a:pPr>
            <a:r>
              <a:rPr lang="en-US" sz="1600" b="1" dirty="0">
                <a:solidFill>
                  <a:srgbClr val="1A1A2E"/>
                </a:solidFill>
                <a:latin typeface="Georgia" pitchFamily="34" charset="0"/>
                <a:ea typeface="Georgia" pitchFamily="34" charset="-122"/>
                <a:cs typeface="Georgia" pitchFamily="34" charset="-120"/>
              </a:rPr>
              <a:t>4 amplitudes</a:t>
            </a:r>
            <a:endParaRPr lang="en-US" sz="1600" dirty="0"/>
          </a:p>
        </p:txBody>
      </p:sp>
      <p:sp>
        <p:nvSpPr>
          <p:cNvPr id="13" name="Card frame">
            <a:extLst>
              <a:ext uri="{C183D7F6-B498-43B3-948B-1728B52AA6E4}">
                <adec:decorative xmlns:adec="http://schemas.microsoft.com/office/drawing/2017/decorative" val="1"/>
              </a:ext>
            </a:extLst>
          </p:cNvPr>
          <p:cNvSpPr/>
          <p:nvPr/>
        </p:nvSpPr>
        <p:spPr>
          <a:xfrm>
            <a:off x="4663440" y="2286000"/>
            <a:ext cx="182880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4" name="Text 12"/>
          <p:cNvSpPr/>
          <p:nvPr/>
        </p:nvSpPr>
        <p:spPr>
          <a:xfrm>
            <a:off x="4663440" y="2450592"/>
            <a:ext cx="1828800" cy="365760"/>
          </a:xfrm>
          <a:prstGeom prst="rect">
            <a:avLst/>
          </a:prstGeom>
          <a:noFill/>
          <a:ln/>
        </p:spPr>
        <p:txBody>
          <a:bodyPr wrap="square" lIns="0" tIns="0" rIns="0" bIns="0" rtlCol="0" anchor="ctr"/>
          <a:lstStyle/>
          <a:p>
            <a:pPr marL="0" indent="0" algn="ctr">
              <a:buNone/>
            </a:pPr>
            <a:r>
              <a:rPr lang="en-US" sz="1400" dirty="0">
                <a:solidFill>
                  <a:srgbClr val="6B7280"/>
                </a:solidFill>
                <a:latin typeface="Georgia" pitchFamily="34" charset="0"/>
                <a:ea typeface="Georgia" pitchFamily="34" charset="-122"/>
                <a:cs typeface="Georgia" pitchFamily="34" charset="-120"/>
              </a:rPr>
              <a:t>3 qubits</a:t>
            </a:r>
            <a:endParaRPr lang="en-US" sz="1400" dirty="0"/>
          </a:p>
        </p:txBody>
      </p:sp>
      <p:sp>
        <p:nvSpPr>
          <p:cNvPr id="15" name="Text 13"/>
          <p:cNvSpPr/>
          <p:nvPr/>
        </p:nvSpPr>
        <p:spPr>
          <a:xfrm>
            <a:off x="4663440" y="2761488"/>
            <a:ext cx="1828800" cy="274320"/>
          </a:xfrm>
          <a:prstGeom prst="rect">
            <a:avLst/>
          </a:prstGeom>
          <a:noFill/>
          <a:ln/>
        </p:spPr>
        <p:txBody>
          <a:bodyPr wrap="square" lIns="0" tIns="0" rIns="0" bIns="0" rtlCol="0" anchor="ctr"/>
          <a:lstStyle/>
          <a:p>
            <a:pPr marL="0" indent="0" algn="ctr">
              <a:buNone/>
            </a:pPr>
            <a:r>
              <a:rPr lang="en-US" sz="1300" dirty="0">
                <a:solidFill>
                  <a:srgbClr val="3730A3"/>
                </a:solidFill>
                <a:latin typeface="Georgia" pitchFamily="34" charset="0"/>
                <a:ea typeface="Georgia" pitchFamily="34" charset="-122"/>
                <a:cs typeface="Georgia" pitchFamily="34" charset="-120"/>
              </a:rPr>
              <a:t>↓</a:t>
            </a:r>
            <a:endParaRPr lang="en-US" sz="1300" dirty="0"/>
          </a:p>
        </p:txBody>
      </p:sp>
      <p:sp>
        <p:nvSpPr>
          <p:cNvPr id="16" name="Text 14"/>
          <p:cNvSpPr/>
          <p:nvPr/>
        </p:nvSpPr>
        <p:spPr>
          <a:xfrm>
            <a:off x="4663440" y="3017520"/>
            <a:ext cx="1828800" cy="384048"/>
          </a:xfrm>
          <a:prstGeom prst="rect">
            <a:avLst/>
          </a:prstGeom>
          <a:noFill/>
          <a:ln/>
        </p:spPr>
        <p:txBody>
          <a:bodyPr wrap="square" lIns="0" tIns="0" rIns="0" bIns="0" rtlCol="0" anchor="ctr"/>
          <a:lstStyle/>
          <a:p>
            <a:pPr marL="0" indent="0" algn="ctr">
              <a:buNone/>
            </a:pPr>
            <a:r>
              <a:rPr lang="en-US" sz="1600" b="1" dirty="0">
                <a:solidFill>
                  <a:srgbClr val="1A1A2E"/>
                </a:solidFill>
                <a:latin typeface="Georgia" pitchFamily="34" charset="0"/>
                <a:ea typeface="Georgia" pitchFamily="34" charset="-122"/>
                <a:cs typeface="Georgia" pitchFamily="34" charset="-120"/>
              </a:rPr>
              <a:t>8 amplitudes</a:t>
            </a:r>
            <a:endParaRPr lang="en-US" sz="1600" dirty="0"/>
          </a:p>
        </p:txBody>
      </p:sp>
      <p:sp>
        <p:nvSpPr>
          <p:cNvPr id="17" name="Card frame">
            <a:extLst>
              <a:ext uri="{C183D7F6-B498-43B3-948B-1728B52AA6E4}">
                <adec:decorative xmlns:adec="http://schemas.microsoft.com/office/drawing/2017/decorative" val="1"/>
              </a:ext>
            </a:extLst>
          </p:cNvPr>
          <p:cNvSpPr/>
          <p:nvPr/>
        </p:nvSpPr>
        <p:spPr>
          <a:xfrm>
            <a:off x="6675120" y="2286000"/>
            <a:ext cx="182880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18" name="Text 16"/>
          <p:cNvSpPr/>
          <p:nvPr/>
        </p:nvSpPr>
        <p:spPr>
          <a:xfrm>
            <a:off x="6675120" y="2450592"/>
            <a:ext cx="1828800" cy="365760"/>
          </a:xfrm>
          <a:prstGeom prst="rect">
            <a:avLst/>
          </a:prstGeom>
          <a:noFill/>
          <a:ln/>
        </p:spPr>
        <p:txBody>
          <a:bodyPr wrap="square" lIns="0" tIns="0" rIns="0" bIns="0" rtlCol="0" anchor="ctr"/>
          <a:lstStyle/>
          <a:p>
            <a:pPr marL="0" indent="0" algn="ctr">
              <a:buNone/>
            </a:pPr>
            <a:r>
              <a:rPr lang="en-US" sz="1400" dirty="0">
                <a:solidFill>
                  <a:srgbClr val="6B7280"/>
                </a:solidFill>
                <a:latin typeface="Georgia" pitchFamily="34" charset="0"/>
                <a:ea typeface="Georgia" pitchFamily="34" charset="-122"/>
                <a:cs typeface="Georgia" pitchFamily="34" charset="-120"/>
              </a:rPr>
              <a:t>n qubits</a:t>
            </a:r>
            <a:endParaRPr lang="en-US" sz="1400" dirty="0"/>
          </a:p>
        </p:txBody>
      </p:sp>
      <p:sp>
        <p:nvSpPr>
          <p:cNvPr id="19" name="Text 17"/>
          <p:cNvSpPr/>
          <p:nvPr/>
        </p:nvSpPr>
        <p:spPr>
          <a:xfrm>
            <a:off x="6675120" y="2761488"/>
            <a:ext cx="1828800" cy="274320"/>
          </a:xfrm>
          <a:prstGeom prst="rect">
            <a:avLst/>
          </a:prstGeom>
          <a:noFill/>
          <a:ln/>
        </p:spPr>
        <p:txBody>
          <a:bodyPr wrap="square" lIns="0" tIns="0" rIns="0" bIns="0" rtlCol="0" anchor="ctr"/>
          <a:lstStyle/>
          <a:p>
            <a:pPr marL="0" indent="0" algn="ctr">
              <a:buNone/>
            </a:pPr>
            <a:r>
              <a:rPr lang="en-US" sz="1300" dirty="0">
                <a:solidFill>
                  <a:srgbClr val="3730A3"/>
                </a:solidFill>
                <a:latin typeface="Georgia" pitchFamily="34" charset="0"/>
                <a:ea typeface="Georgia" pitchFamily="34" charset="-122"/>
                <a:cs typeface="Georgia" pitchFamily="34" charset="-120"/>
              </a:rPr>
              <a:t>↓</a:t>
            </a:r>
            <a:endParaRPr lang="en-US" sz="1300" dirty="0"/>
          </a:p>
        </p:txBody>
      </p:sp>
      <p:sp>
        <p:nvSpPr>
          <p:cNvPr id="20" name="Text 18"/>
          <p:cNvSpPr/>
          <p:nvPr/>
        </p:nvSpPr>
        <p:spPr>
          <a:xfrm>
            <a:off x="6675120" y="3017520"/>
            <a:ext cx="1828800" cy="384048"/>
          </a:xfrm>
          <a:prstGeom prst="rect">
            <a:avLst/>
          </a:prstGeom>
          <a:noFill/>
          <a:ln/>
        </p:spPr>
        <p:txBody>
          <a:bodyPr wrap="square" lIns="0" tIns="0" rIns="0" bIns="0" rtlCol="0" anchor="ctr"/>
          <a:lstStyle/>
          <a:p>
            <a:pPr marL="0" indent="0" algn="ctr">
              <a:buNone/>
            </a:pPr>
            <a:r>
              <a:rPr lang="en-US" sz="1600" b="1" dirty="0">
                <a:solidFill>
                  <a:srgbClr val="1A1A2E"/>
                </a:solidFill>
                <a:latin typeface="Georgia" pitchFamily="34" charset="0"/>
                <a:ea typeface="Georgia" pitchFamily="34" charset="-122"/>
                <a:cs typeface="Georgia" pitchFamily="34" charset="-120"/>
              </a:rPr>
              <a:t>2ⁿ amplitudes</a:t>
            </a:r>
            <a:endParaRPr lang="en-US" sz="1600" dirty="0"/>
          </a:p>
        </p:txBody>
      </p:sp>
      <p:sp>
        <p:nvSpPr>
          <p:cNvPr id="21" name="Activity marker">
            <a:extLst>
              <a:ext uri="{C183D7F6-B498-43B3-948B-1728B52AA6E4}">
                <adec:decorative xmlns:adec="http://schemas.microsoft.com/office/drawing/2017/decorative" val="1"/>
              </a:ext>
            </a:extLst>
          </p:cNvPr>
          <p:cNvSpPr/>
          <p:nvPr/>
        </p:nvSpPr>
        <p:spPr>
          <a:xfrm>
            <a:off x="640080" y="3794760"/>
            <a:ext cx="54864" cy="640080"/>
          </a:xfrm>
          <a:prstGeom prst="rect">
            <a:avLst/>
          </a:prstGeom>
          <a:solidFill>
            <a:srgbClr val="3730A3"/>
          </a:solidFill>
          <a:ln w="12700">
            <a:solidFill>
              <a:srgbClr val="3730A3"/>
            </a:solidFill>
            <a:prstDash val="solid"/>
          </a:ln>
        </p:spPr>
        <p:txBody>
          <a:bodyPr/>
          <a:lstStyle/>
          <a:p>
            <a:endParaRPr lang="en-US"/>
          </a:p>
        </p:txBody>
      </p:sp>
      <p:sp>
        <p:nvSpPr>
          <p:cNvPr id="22" name="Text 20"/>
          <p:cNvSpPr/>
          <p:nvPr/>
        </p:nvSpPr>
        <p:spPr>
          <a:xfrm>
            <a:off x="841248" y="3794760"/>
            <a:ext cx="7680960" cy="640080"/>
          </a:xfrm>
          <a:prstGeom prst="rect">
            <a:avLst/>
          </a:prstGeom>
          <a:noFill/>
          <a:ln/>
        </p:spPr>
        <p:txBody>
          <a:bodyPr wrap="square" lIns="0" tIns="0" rIns="0" bIns="0" rtlCol="0" anchor="ctr"/>
          <a:lstStyle/>
          <a:p>
            <a:pPr marL="0" indent="0">
              <a:buNone/>
            </a:pPr>
            <a:r>
              <a:rPr lang="en-US" sz="1100" b="1" kern="0" spc="100" dirty="0">
                <a:solidFill>
                  <a:srgbClr val="3730A3"/>
                </a:solidFill>
                <a:latin typeface="Georgia" pitchFamily="34" charset="0"/>
                <a:ea typeface="Georgia" pitchFamily="34" charset="-122"/>
                <a:cs typeface="Georgia" pitchFamily="34" charset="-120"/>
              </a:rPr>
              <a:t>Activity   </a:t>
            </a:r>
            <a:r>
              <a:rPr lang="en-US" sz="1400" i="1" dirty="0">
                <a:solidFill>
                  <a:srgbClr val="1A1A2E"/>
                </a:solidFill>
                <a:latin typeface="Georgia" pitchFamily="34" charset="0"/>
                <a:ea typeface="Georgia" pitchFamily="34" charset="-122"/>
                <a:cs typeface="Georgia" pitchFamily="34" charset="-120"/>
              </a:rPr>
              <a:t>How many complex amplitudes would you need to describe 20 qubits?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Classical versus quantum scaling</a:t>
            </a:r>
            <a:endParaRPr lang="en-US" sz="2500" dirty="0"/>
          </a:p>
        </p:txBody>
      </p:sp>
      <p:sp>
        <p:nvSpPr>
          <p:cNvPr id="3" name="Y axis">
            <a:extLst>
              <a:ext uri="{C183D7F6-B498-43B3-948B-1728B52AA6E4}">
                <adec:decorative xmlns:adec="http://schemas.microsoft.com/office/drawing/2017/decorative" val="1"/>
              </a:ext>
            </a:extLst>
          </p:cNvPr>
          <p:cNvSpPr/>
          <p:nvPr/>
        </p:nvSpPr>
        <p:spPr>
          <a:xfrm>
            <a:off x="1371600" y="1508760"/>
            <a:ext cx="0" cy="2468880"/>
          </a:xfrm>
          <a:prstGeom prst="line">
            <a:avLst/>
          </a:prstGeom>
          <a:noFill/>
          <a:ln w="15875">
            <a:solidFill>
              <a:srgbClr val="1A1A2E"/>
            </a:solidFill>
            <a:prstDash val="solid"/>
          </a:ln>
        </p:spPr>
        <p:txBody>
          <a:bodyPr/>
          <a:lstStyle/>
          <a:p>
            <a:endParaRPr lang="en-US"/>
          </a:p>
        </p:txBody>
      </p:sp>
      <p:sp>
        <p:nvSpPr>
          <p:cNvPr id="4" name="X axis">
            <a:extLst>
              <a:ext uri="{C183D7F6-B498-43B3-948B-1728B52AA6E4}">
                <adec:decorative xmlns:adec="http://schemas.microsoft.com/office/drawing/2017/decorative" val="1"/>
              </a:ext>
            </a:extLst>
          </p:cNvPr>
          <p:cNvSpPr/>
          <p:nvPr/>
        </p:nvSpPr>
        <p:spPr>
          <a:xfrm>
            <a:off x="1371600" y="3977640"/>
            <a:ext cx="5669280" cy="0"/>
          </a:xfrm>
          <a:prstGeom prst="line">
            <a:avLst/>
          </a:prstGeom>
          <a:noFill/>
          <a:ln w="15875">
            <a:solidFill>
              <a:srgbClr val="1A1A2E"/>
            </a:solidFill>
            <a:prstDash val="solid"/>
          </a:ln>
        </p:spPr>
        <p:txBody>
          <a:bodyPr/>
          <a:lstStyle/>
          <a:p>
            <a:endParaRPr lang="en-US"/>
          </a:p>
        </p:txBody>
      </p:sp>
      <p:sp>
        <p:nvSpPr>
          <p:cNvPr id="5" name="Text 3"/>
          <p:cNvSpPr/>
          <p:nvPr/>
        </p:nvSpPr>
        <p:spPr>
          <a:xfrm rot="16200000">
            <a:off x="-502920" y="2560320"/>
            <a:ext cx="2194560" cy="365760"/>
          </a:xfrm>
          <a:prstGeom prst="rect">
            <a:avLst/>
          </a:prstGeom>
          <a:noFill/>
          <a:ln/>
        </p:spPr>
        <p:txBody>
          <a:bodyPr wrap="square" lIns="0" tIns="0" rIns="0" bIns="0" rtlCol="0" anchor="ctr"/>
          <a:lstStyle/>
          <a:p>
            <a:pPr marL="0" indent="0" algn="ctr">
              <a:buNone/>
            </a:pPr>
            <a:r>
              <a:rPr lang="en-US" sz="1100" dirty="0">
                <a:solidFill>
                  <a:srgbClr val="1A1A2E"/>
                </a:solidFill>
                <a:latin typeface="Georgia" pitchFamily="34" charset="0"/>
                <a:ea typeface="Georgia" pitchFamily="34" charset="-122"/>
                <a:cs typeface="Georgia" pitchFamily="34" charset="-120"/>
              </a:rPr>
              <a:t>State-space dimension</a:t>
            </a:r>
            <a:endParaRPr lang="en-US" sz="1100" dirty="0"/>
          </a:p>
        </p:txBody>
      </p:sp>
      <p:sp>
        <p:nvSpPr>
          <p:cNvPr id="6" name="Text 4"/>
          <p:cNvSpPr/>
          <p:nvPr/>
        </p:nvSpPr>
        <p:spPr>
          <a:xfrm>
            <a:off x="1371600" y="4087368"/>
            <a:ext cx="5669280" cy="274320"/>
          </a:xfrm>
          <a:prstGeom prst="rect">
            <a:avLst/>
          </a:prstGeom>
          <a:noFill/>
          <a:ln/>
        </p:spPr>
        <p:txBody>
          <a:bodyPr wrap="square" lIns="0" tIns="0" rIns="0" bIns="0" rtlCol="0" anchor="ctr"/>
          <a:lstStyle/>
          <a:p>
            <a:pPr marL="0" indent="0" algn="ctr">
              <a:buNone/>
            </a:pPr>
            <a:r>
              <a:rPr lang="en-US" sz="1100" dirty="0">
                <a:solidFill>
                  <a:srgbClr val="1A1A2E"/>
                </a:solidFill>
                <a:latin typeface="Georgia" pitchFamily="34" charset="0"/>
                <a:ea typeface="Georgia" pitchFamily="34" charset="-122"/>
                <a:cs typeface="Georgia" pitchFamily="34" charset="-120"/>
              </a:rPr>
              <a:t>Number of bits / qubits</a:t>
            </a:r>
            <a:endParaRPr lang="en-US" sz="1100" dirty="0"/>
          </a:p>
        </p:txBody>
      </p:sp>
      <p:sp>
        <p:nvSpPr>
          <p:cNvPr id="7" name="Connector">
            <a:extLst>
              <a:ext uri="{C183D7F6-B498-43B3-948B-1728B52AA6E4}">
                <adec:decorative xmlns:adec="http://schemas.microsoft.com/office/drawing/2017/decorative" val="1"/>
              </a:ext>
            </a:extLst>
          </p:cNvPr>
          <p:cNvSpPr/>
          <p:nvPr/>
        </p:nvSpPr>
        <p:spPr>
          <a:xfrm flipV="1">
            <a:off x="1371601" y="3751728"/>
            <a:ext cx="5135336" cy="225912"/>
          </a:xfrm>
          <a:prstGeom prst="line">
            <a:avLst/>
          </a:prstGeom>
          <a:noFill/>
          <a:ln w="15875">
            <a:solidFill>
              <a:srgbClr val="6B7280"/>
            </a:solidFill>
            <a:prstDash val="solid"/>
          </a:ln>
        </p:spPr>
        <p:txBody>
          <a:bodyPr/>
          <a:lstStyle/>
          <a:p>
            <a:endParaRPr lang="en-US"/>
          </a:p>
        </p:txBody>
      </p:sp>
      <p:sp>
        <p:nvSpPr>
          <p:cNvPr id="8" name="Connector">
            <a:extLst>
              <a:ext uri="{C183D7F6-B498-43B3-948B-1728B52AA6E4}">
                <adec:decorative xmlns:adec="http://schemas.microsoft.com/office/drawing/2017/decorative" val="1"/>
              </a:ext>
            </a:extLst>
          </p:cNvPr>
          <p:cNvSpPr/>
          <p:nvPr/>
        </p:nvSpPr>
        <p:spPr>
          <a:xfrm flipV="1">
            <a:off x="1371600" y="3951773"/>
            <a:ext cx="448818" cy="25867"/>
          </a:xfrm>
          <a:prstGeom prst="line">
            <a:avLst/>
          </a:prstGeom>
          <a:noFill/>
          <a:ln w="15875">
            <a:solidFill>
              <a:srgbClr val="3730A3"/>
            </a:solidFill>
            <a:prstDash val="solid"/>
          </a:ln>
        </p:spPr>
        <p:txBody>
          <a:bodyPr/>
          <a:lstStyle/>
          <a:p>
            <a:endParaRPr lang="en-US"/>
          </a:p>
        </p:txBody>
      </p:sp>
      <p:sp>
        <p:nvSpPr>
          <p:cNvPr id="9" name="Connector">
            <a:extLst>
              <a:ext uri="{C183D7F6-B498-43B3-948B-1728B52AA6E4}">
                <adec:decorative xmlns:adec="http://schemas.microsoft.com/office/drawing/2017/decorative" val="1"/>
              </a:ext>
            </a:extLst>
          </p:cNvPr>
          <p:cNvSpPr/>
          <p:nvPr/>
        </p:nvSpPr>
        <p:spPr>
          <a:xfrm flipV="1">
            <a:off x="1820418" y="3917245"/>
            <a:ext cx="448818" cy="34528"/>
          </a:xfrm>
          <a:prstGeom prst="line">
            <a:avLst/>
          </a:prstGeom>
          <a:noFill/>
          <a:ln w="15875">
            <a:solidFill>
              <a:srgbClr val="3730A3"/>
            </a:solidFill>
            <a:prstDash val="solid"/>
          </a:ln>
        </p:spPr>
        <p:txBody>
          <a:bodyPr/>
          <a:lstStyle/>
          <a:p>
            <a:endParaRPr lang="en-US"/>
          </a:p>
        </p:txBody>
      </p:sp>
      <p:sp>
        <p:nvSpPr>
          <p:cNvPr id="10" name="Connector">
            <a:extLst>
              <a:ext uri="{C183D7F6-B498-43B3-948B-1728B52AA6E4}">
                <adec:decorative xmlns:adec="http://schemas.microsoft.com/office/drawing/2017/decorative" val="1"/>
              </a:ext>
            </a:extLst>
          </p:cNvPr>
          <p:cNvSpPr/>
          <p:nvPr/>
        </p:nvSpPr>
        <p:spPr>
          <a:xfrm flipV="1">
            <a:off x="2269236" y="3871155"/>
            <a:ext cx="448818" cy="46090"/>
          </a:xfrm>
          <a:prstGeom prst="line">
            <a:avLst/>
          </a:prstGeom>
          <a:noFill/>
          <a:ln w="15875">
            <a:solidFill>
              <a:srgbClr val="3730A3"/>
            </a:solidFill>
            <a:prstDash val="solid"/>
          </a:ln>
        </p:spPr>
        <p:txBody>
          <a:bodyPr/>
          <a:lstStyle/>
          <a:p>
            <a:endParaRPr lang="en-US"/>
          </a:p>
        </p:txBody>
      </p:sp>
      <p:sp>
        <p:nvSpPr>
          <p:cNvPr id="11" name="Connector">
            <a:extLst>
              <a:ext uri="{C183D7F6-B498-43B3-948B-1728B52AA6E4}">
                <adec:decorative xmlns:adec="http://schemas.microsoft.com/office/drawing/2017/decorative" val="1"/>
              </a:ext>
            </a:extLst>
          </p:cNvPr>
          <p:cNvSpPr/>
          <p:nvPr/>
        </p:nvSpPr>
        <p:spPr>
          <a:xfrm flipV="1">
            <a:off x="2718054" y="3809632"/>
            <a:ext cx="448818" cy="61523"/>
          </a:xfrm>
          <a:prstGeom prst="line">
            <a:avLst/>
          </a:prstGeom>
          <a:noFill/>
          <a:ln w="15875">
            <a:solidFill>
              <a:srgbClr val="3730A3"/>
            </a:solidFill>
            <a:prstDash val="solid"/>
          </a:ln>
        </p:spPr>
        <p:txBody>
          <a:bodyPr/>
          <a:lstStyle/>
          <a:p>
            <a:endParaRPr lang="en-US"/>
          </a:p>
        </p:txBody>
      </p:sp>
      <p:sp>
        <p:nvSpPr>
          <p:cNvPr id="12" name="Connector">
            <a:extLst>
              <a:ext uri="{C183D7F6-B498-43B3-948B-1728B52AA6E4}">
                <adec:decorative xmlns:adec="http://schemas.microsoft.com/office/drawing/2017/decorative" val="1"/>
              </a:ext>
            </a:extLst>
          </p:cNvPr>
          <p:cNvSpPr/>
          <p:nvPr/>
        </p:nvSpPr>
        <p:spPr>
          <a:xfrm flipV="1">
            <a:off x="3166872" y="3727509"/>
            <a:ext cx="448818" cy="82123"/>
          </a:xfrm>
          <a:prstGeom prst="line">
            <a:avLst/>
          </a:prstGeom>
          <a:noFill/>
          <a:ln w="15875">
            <a:solidFill>
              <a:srgbClr val="3730A3"/>
            </a:solidFill>
            <a:prstDash val="solid"/>
          </a:ln>
        </p:spPr>
        <p:txBody>
          <a:bodyPr/>
          <a:lstStyle/>
          <a:p>
            <a:endParaRPr lang="en-US"/>
          </a:p>
        </p:txBody>
      </p:sp>
      <p:sp>
        <p:nvSpPr>
          <p:cNvPr id="13" name="Connector">
            <a:extLst>
              <a:ext uri="{C183D7F6-B498-43B3-948B-1728B52AA6E4}">
                <adec:decorative xmlns:adec="http://schemas.microsoft.com/office/drawing/2017/decorative" val="1"/>
              </a:ext>
            </a:extLst>
          </p:cNvPr>
          <p:cNvSpPr/>
          <p:nvPr/>
        </p:nvSpPr>
        <p:spPr>
          <a:xfrm flipV="1">
            <a:off x="3615690" y="3617888"/>
            <a:ext cx="448818" cy="109621"/>
          </a:xfrm>
          <a:prstGeom prst="line">
            <a:avLst/>
          </a:prstGeom>
          <a:noFill/>
          <a:ln w="15875">
            <a:solidFill>
              <a:srgbClr val="3730A3"/>
            </a:solidFill>
            <a:prstDash val="solid"/>
          </a:ln>
        </p:spPr>
        <p:txBody>
          <a:bodyPr/>
          <a:lstStyle/>
          <a:p>
            <a:endParaRPr lang="en-US"/>
          </a:p>
        </p:txBody>
      </p:sp>
      <p:sp>
        <p:nvSpPr>
          <p:cNvPr id="14" name="Connector">
            <a:extLst>
              <a:ext uri="{C183D7F6-B498-43B3-948B-1728B52AA6E4}">
                <adec:decorative xmlns:adec="http://schemas.microsoft.com/office/drawing/2017/decorative" val="1"/>
              </a:ext>
            </a:extLst>
          </p:cNvPr>
          <p:cNvSpPr/>
          <p:nvPr/>
        </p:nvSpPr>
        <p:spPr>
          <a:xfrm flipV="1">
            <a:off x="4064508" y="3471562"/>
            <a:ext cx="448818" cy="146326"/>
          </a:xfrm>
          <a:prstGeom prst="line">
            <a:avLst/>
          </a:prstGeom>
          <a:noFill/>
          <a:ln w="15875">
            <a:solidFill>
              <a:srgbClr val="3730A3"/>
            </a:solidFill>
            <a:prstDash val="solid"/>
          </a:ln>
        </p:spPr>
        <p:txBody>
          <a:bodyPr/>
          <a:lstStyle/>
          <a:p>
            <a:endParaRPr lang="en-US"/>
          </a:p>
        </p:txBody>
      </p:sp>
      <p:sp>
        <p:nvSpPr>
          <p:cNvPr id="15" name="Connector">
            <a:extLst>
              <a:ext uri="{C183D7F6-B498-43B3-948B-1728B52AA6E4}">
                <adec:decorative xmlns:adec="http://schemas.microsoft.com/office/drawing/2017/decorative" val="1"/>
              </a:ext>
            </a:extLst>
          </p:cNvPr>
          <p:cNvSpPr/>
          <p:nvPr/>
        </p:nvSpPr>
        <p:spPr>
          <a:xfrm flipV="1">
            <a:off x="4513326" y="3276240"/>
            <a:ext cx="448818" cy="195322"/>
          </a:xfrm>
          <a:prstGeom prst="line">
            <a:avLst/>
          </a:prstGeom>
          <a:noFill/>
          <a:ln w="15875">
            <a:solidFill>
              <a:srgbClr val="3730A3"/>
            </a:solidFill>
            <a:prstDash val="solid"/>
          </a:ln>
        </p:spPr>
        <p:txBody>
          <a:bodyPr/>
          <a:lstStyle/>
          <a:p>
            <a:endParaRPr lang="en-US"/>
          </a:p>
        </p:txBody>
      </p:sp>
      <p:sp>
        <p:nvSpPr>
          <p:cNvPr id="16" name="Connector">
            <a:extLst>
              <a:ext uri="{C183D7F6-B498-43B3-948B-1728B52AA6E4}">
                <adec:decorative xmlns:adec="http://schemas.microsoft.com/office/drawing/2017/decorative" val="1"/>
              </a:ext>
            </a:extLst>
          </p:cNvPr>
          <p:cNvSpPr/>
          <p:nvPr/>
        </p:nvSpPr>
        <p:spPr>
          <a:xfrm flipV="1">
            <a:off x="4962144" y="3015516"/>
            <a:ext cx="448818" cy="260724"/>
          </a:xfrm>
          <a:prstGeom prst="line">
            <a:avLst/>
          </a:prstGeom>
          <a:noFill/>
          <a:ln w="15875">
            <a:solidFill>
              <a:srgbClr val="3730A3"/>
            </a:solidFill>
            <a:prstDash val="solid"/>
          </a:ln>
        </p:spPr>
        <p:txBody>
          <a:bodyPr/>
          <a:lstStyle/>
          <a:p>
            <a:endParaRPr lang="en-US"/>
          </a:p>
        </p:txBody>
      </p:sp>
      <p:sp>
        <p:nvSpPr>
          <p:cNvPr id="17" name="Connector">
            <a:extLst>
              <a:ext uri="{C183D7F6-B498-43B3-948B-1728B52AA6E4}">
                <adec:decorative xmlns:adec="http://schemas.microsoft.com/office/drawing/2017/decorative" val="1"/>
              </a:ext>
            </a:extLst>
          </p:cNvPr>
          <p:cNvSpPr/>
          <p:nvPr/>
        </p:nvSpPr>
        <p:spPr>
          <a:xfrm flipV="1">
            <a:off x="5410962" y="2667492"/>
            <a:ext cx="448818" cy="348024"/>
          </a:xfrm>
          <a:prstGeom prst="line">
            <a:avLst/>
          </a:prstGeom>
          <a:noFill/>
          <a:ln w="15875">
            <a:solidFill>
              <a:srgbClr val="3730A3"/>
            </a:solidFill>
            <a:prstDash val="solid"/>
          </a:ln>
        </p:spPr>
        <p:txBody>
          <a:bodyPr/>
          <a:lstStyle/>
          <a:p>
            <a:endParaRPr lang="en-US"/>
          </a:p>
        </p:txBody>
      </p:sp>
      <p:sp>
        <p:nvSpPr>
          <p:cNvPr id="18" name="Connector">
            <a:extLst>
              <a:ext uri="{C183D7F6-B498-43B3-948B-1728B52AA6E4}">
                <adec:decorative xmlns:adec="http://schemas.microsoft.com/office/drawing/2017/decorative" val="1"/>
              </a:ext>
            </a:extLst>
          </p:cNvPr>
          <p:cNvSpPr/>
          <p:nvPr/>
        </p:nvSpPr>
        <p:spPr>
          <a:xfrm flipV="1">
            <a:off x="5859780" y="2202935"/>
            <a:ext cx="448818" cy="464557"/>
          </a:xfrm>
          <a:prstGeom prst="line">
            <a:avLst/>
          </a:prstGeom>
          <a:noFill/>
          <a:ln w="15875">
            <a:solidFill>
              <a:srgbClr val="3730A3"/>
            </a:solidFill>
            <a:prstDash val="solid"/>
          </a:ln>
        </p:spPr>
        <p:txBody>
          <a:bodyPr/>
          <a:lstStyle/>
          <a:p>
            <a:endParaRPr lang="en-US"/>
          </a:p>
        </p:txBody>
      </p:sp>
      <p:sp>
        <p:nvSpPr>
          <p:cNvPr id="19" name="Connector">
            <a:extLst>
              <a:ext uri="{C183D7F6-B498-43B3-948B-1728B52AA6E4}">
                <adec:decorative xmlns:adec="http://schemas.microsoft.com/office/drawing/2017/decorative" val="1"/>
              </a:ext>
            </a:extLst>
          </p:cNvPr>
          <p:cNvSpPr/>
          <p:nvPr/>
        </p:nvSpPr>
        <p:spPr>
          <a:xfrm flipV="1">
            <a:off x="6308598" y="1582826"/>
            <a:ext cx="448818" cy="620109"/>
          </a:xfrm>
          <a:prstGeom prst="line">
            <a:avLst/>
          </a:prstGeom>
          <a:noFill/>
          <a:ln w="15875">
            <a:solidFill>
              <a:srgbClr val="3730A3"/>
            </a:solidFill>
            <a:prstDash val="solid"/>
          </a:ln>
        </p:spPr>
        <p:txBody>
          <a:bodyPr/>
          <a:lstStyle/>
          <a:p>
            <a:endParaRPr lang="en-US"/>
          </a:p>
        </p:txBody>
      </p:sp>
      <p:sp>
        <p:nvSpPr>
          <p:cNvPr id="20" name="Text 18"/>
          <p:cNvSpPr/>
          <p:nvPr/>
        </p:nvSpPr>
        <p:spPr>
          <a:xfrm>
            <a:off x="3977640" y="1234440"/>
            <a:ext cx="3291840" cy="274320"/>
          </a:xfrm>
          <a:prstGeom prst="rect">
            <a:avLst/>
          </a:prstGeom>
          <a:noFill/>
          <a:ln/>
        </p:spPr>
        <p:txBody>
          <a:bodyPr wrap="square" lIns="0" tIns="0" rIns="0" bIns="0" rtlCol="0" anchor="ctr"/>
          <a:lstStyle/>
          <a:p>
            <a:pPr marL="0" indent="0">
              <a:buNone/>
            </a:pPr>
            <a:r>
              <a:rPr lang="en-US" sz="1150" b="1" dirty="0">
                <a:solidFill>
                  <a:srgbClr val="3730A3"/>
                </a:solidFill>
                <a:latin typeface="Georgia" pitchFamily="34" charset="0"/>
                <a:ea typeface="Georgia" pitchFamily="34" charset="-122"/>
                <a:cs typeface="Georgia" pitchFamily="34" charset="-120"/>
              </a:rPr>
              <a:t>Quantum — tensor product (exponential)</a:t>
            </a:r>
            <a:endParaRPr lang="en-US" sz="1150" dirty="0"/>
          </a:p>
        </p:txBody>
      </p:sp>
      <p:sp>
        <p:nvSpPr>
          <p:cNvPr id="21" name="Text 19"/>
          <p:cNvSpPr/>
          <p:nvPr/>
        </p:nvSpPr>
        <p:spPr>
          <a:xfrm>
            <a:off x="6678386" y="3471562"/>
            <a:ext cx="2926080" cy="274320"/>
          </a:xfrm>
          <a:prstGeom prst="rect">
            <a:avLst/>
          </a:prstGeom>
          <a:noFill/>
          <a:ln/>
        </p:spPr>
        <p:txBody>
          <a:bodyPr wrap="square" lIns="0" tIns="0" rIns="0" bIns="0" rtlCol="0" anchor="ctr"/>
          <a:lstStyle/>
          <a:p>
            <a:pPr marL="0" indent="0">
              <a:buNone/>
            </a:pPr>
            <a:r>
              <a:rPr lang="en-US" sz="1150" dirty="0">
                <a:solidFill>
                  <a:srgbClr val="6B7280"/>
                </a:solidFill>
                <a:latin typeface="Georgia" pitchFamily="34" charset="0"/>
                <a:ea typeface="Georgia" pitchFamily="34" charset="-122"/>
                <a:cs typeface="Georgia" pitchFamily="34" charset="-120"/>
              </a:rPr>
              <a:t>Classical — direct sum (linear)</a:t>
            </a:r>
            <a:endParaRPr lang="en-US" sz="1150" dirty="0"/>
          </a:p>
        </p:txBody>
      </p:sp>
      <p:sp>
        <p:nvSpPr>
          <p:cNvPr id="22" name="Card frame">
            <a:extLst>
              <a:ext uri="{C183D7F6-B498-43B3-948B-1728B52AA6E4}">
                <adec:decorative xmlns:adec="http://schemas.microsoft.com/office/drawing/2017/decorative" val="1"/>
              </a:ext>
            </a:extLst>
          </p:cNvPr>
          <p:cNvSpPr/>
          <p:nvPr/>
        </p:nvSpPr>
        <p:spPr>
          <a:xfrm>
            <a:off x="640080" y="4315968"/>
            <a:ext cx="7863840" cy="566928"/>
          </a:xfrm>
          <a:prstGeom prst="roundRect">
            <a:avLst>
              <a:gd name="adj" fmla="val 9677"/>
            </a:avLst>
          </a:prstGeom>
          <a:solidFill>
            <a:srgbClr val="F4F5FB"/>
          </a:solidFill>
          <a:ln w="15240">
            <a:solidFill>
              <a:srgbClr val="3730A3"/>
            </a:solidFill>
            <a:prstDash val="solid"/>
          </a:ln>
        </p:spPr>
        <p:txBody>
          <a:bodyPr/>
          <a:lstStyle/>
          <a:p>
            <a:endParaRPr lang="en-US"/>
          </a:p>
        </p:txBody>
      </p:sp>
      <p:sp>
        <p:nvSpPr>
          <p:cNvPr id="23" name="Text 21"/>
          <p:cNvSpPr/>
          <p:nvPr/>
        </p:nvSpPr>
        <p:spPr>
          <a:xfrm>
            <a:off x="822960" y="4315968"/>
            <a:ext cx="7498080" cy="566928"/>
          </a:xfrm>
          <a:prstGeom prst="rect">
            <a:avLst/>
          </a:prstGeom>
          <a:noFill/>
          <a:ln/>
        </p:spPr>
        <p:txBody>
          <a:bodyPr wrap="square" lIns="0" tIns="0" rIns="0" bIns="0" rtlCol="0" anchor="ctr"/>
          <a:lstStyle/>
          <a:p>
            <a:pPr marL="0" indent="0">
              <a:buNone/>
            </a:pPr>
            <a:r>
              <a:rPr lang="en-US" sz="1250" i="1" dirty="0">
                <a:solidFill>
                  <a:srgbClr val="1A1A2E"/>
                </a:solidFill>
                <a:latin typeface="Georgia" pitchFamily="34" charset="0"/>
                <a:ea typeface="Georgia" pitchFamily="34" charset="-122"/>
                <a:cs typeface="Georgia" pitchFamily="34" charset="-120"/>
              </a:rPr>
              <a:t>Say: “The quantum state requires amplitudes associated with a basis whose dimension grows as 2ⁿ.”</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State-space scaling:</a:t>
            </a:r>
            <a:endParaRPr lang="en-US" sz="2500" dirty="0"/>
          </a:p>
        </p:txBody>
      </p:sp>
      <p:sp>
        <p:nvSpPr>
          <p:cNvPr id="3" name="Scaling block">
            <a:extLst>
              <a:ext uri="{C183D7F6-B498-43B3-948B-1728B52AA6E4}">
                <adec:decorative xmlns:adec="http://schemas.microsoft.com/office/drawing/2017/decorative" val="1"/>
              </a:ext>
            </a:extLst>
          </p:cNvPr>
          <p:cNvSpPr/>
          <p:nvPr/>
        </p:nvSpPr>
        <p:spPr>
          <a:xfrm>
            <a:off x="845820" y="3950208"/>
            <a:ext cx="868680" cy="164592"/>
          </a:xfrm>
          <a:prstGeom prst="rect">
            <a:avLst/>
          </a:prstGeom>
          <a:solidFill>
            <a:srgbClr val="C7CBEA"/>
          </a:solidFill>
          <a:ln w="12700">
            <a:solidFill>
              <a:srgbClr val="C7CBEA"/>
            </a:solidFill>
            <a:prstDash val="solid"/>
          </a:ln>
        </p:spPr>
        <p:txBody>
          <a:bodyPr/>
          <a:lstStyle/>
          <a:p>
            <a:endParaRPr lang="en-US"/>
          </a:p>
        </p:txBody>
      </p:sp>
      <p:sp>
        <p:nvSpPr>
          <p:cNvPr id="4" name="Text 2"/>
          <p:cNvSpPr/>
          <p:nvPr/>
        </p:nvSpPr>
        <p:spPr>
          <a:xfrm>
            <a:off x="589788" y="3566160"/>
            <a:ext cx="1380744" cy="320040"/>
          </a:xfrm>
          <a:prstGeom prst="rect">
            <a:avLst/>
          </a:prstGeom>
          <a:noFill/>
          <a:ln/>
        </p:spPr>
        <p:txBody>
          <a:bodyPr wrap="square" lIns="0" tIns="0" rIns="0" bIns="0" rtlCol="0" anchor="ctr"/>
          <a:lstStyle/>
          <a:p>
            <a:pPr marL="0" indent="0" algn="ctr">
              <a:buNone/>
            </a:pPr>
            <a:r>
              <a:rPr lang="en-US" sz="1050" b="1" dirty="0">
                <a:solidFill>
                  <a:srgbClr val="1A1A2E"/>
                </a:solidFill>
                <a:latin typeface="Georgia" pitchFamily="34" charset="0"/>
                <a:ea typeface="Georgia" pitchFamily="34" charset="-122"/>
                <a:cs typeface="Georgia" pitchFamily="34" charset="-120"/>
              </a:rPr>
              <a:t>2</a:t>
            </a:r>
            <a:endParaRPr lang="en-US" sz="1050" dirty="0"/>
          </a:p>
        </p:txBody>
      </p:sp>
      <p:sp>
        <p:nvSpPr>
          <p:cNvPr id="5" name="Text 3"/>
          <p:cNvSpPr/>
          <p:nvPr/>
        </p:nvSpPr>
        <p:spPr>
          <a:xfrm>
            <a:off x="845820" y="4187952"/>
            <a:ext cx="86868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1</a:t>
            </a:r>
            <a:endParaRPr lang="en-US" sz="1400" dirty="0"/>
          </a:p>
        </p:txBody>
      </p:sp>
      <p:sp>
        <p:nvSpPr>
          <p:cNvPr id="6" name="Scaling block">
            <a:extLst>
              <a:ext uri="{C183D7F6-B498-43B3-948B-1728B52AA6E4}">
                <adec:decorative xmlns:adec="http://schemas.microsoft.com/office/drawing/2017/decorative" val="1"/>
              </a:ext>
            </a:extLst>
          </p:cNvPr>
          <p:cNvSpPr/>
          <p:nvPr/>
        </p:nvSpPr>
        <p:spPr>
          <a:xfrm>
            <a:off x="1943100" y="3950208"/>
            <a:ext cx="868680" cy="164592"/>
          </a:xfrm>
          <a:prstGeom prst="rect">
            <a:avLst/>
          </a:prstGeom>
          <a:solidFill>
            <a:srgbClr val="C7CBEA"/>
          </a:solidFill>
          <a:ln w="12700">
            <a:solidFill>
              <a:srgbClr val="C7CBEA"/>
            </a:solidFill>
            <a:prstDash val="solid"/>
          </a:ln>
        </p:spPr>
        <p:txBody>
          <a:bodyPr/>
          <a:lstStyle/>
          <a:p>
            <a:endParaRPr lang="en-US"/>
          </a:p>
        </p:txBody>
      </p:sp>
      <p:sp>
        <p:nvSpPr>
          <p:cNvPr id="7" name="Text 5"/>
          <p:cNvSpPr/>
          <p:nvPr/>
        </p:nvSpPr>
        <p:spPr>
          <a:xfrm>
            <a:off x="1687068" y="3566160"/>
            <a:ext cx="1380744" cy="320040"/>
          </a:xfrm>
          <a:prstGeom prst="rect">
            <a:avLst/>
          </a:prstGeom>
          <a:noFill/>
          <a:ln/>
        </p:spPr>
        <p:txBody>
          <a:bodyPr wrap="square" lIns="0" tIns="0" rIns="0" bIns="0" rtlCol="0" anchor="ctr"/>
          <a:lstStyle/>
          <a:p>
            <a:pPr marL="0" indent="0" algn="ctr">
              <a:buNone/>
            </a:pPr>
            <a:r>
              <a:rPr lang="en-US" sz="1050" b="1" dirty="0">
                <a:solidFill>
                  <a:srgbClr val="1A1A2E"/>
                </a:solidFill>
                <a:latin typeface="Georgia" pitchFamily="34" charset="0"/>
                <a:ea typeface="Georgia" pitchFamily="34" charset="-122"/>
                <a:cs typeface="Georgia" pitchFamily="34" charset="-120"/>
              </a:rPr>
              <a:t>4</a:t>
            </a:r>
            <a:endParaRPr lang="en-US" sz="1050" dirty="0"/>
          </a:p>
        </p:txBody>
      </p:sp>
      <p:sp>
        <p:nvSpPr>
          <p:cNvPr id="8" name="Text 6"/>
          <p:cNvSpPr/>
          <p:nvPr/>
        </p:nvSpPr>
        <p:spPr>
          <a:xfrm>
            <a:off x="1943100" y="4187952"/>
            <a:ext cx="86868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2</a:t>
            </a:r>
            <a:endParaRPr lang="en-US" sz="1400" dirty="0"/>
          </a:p>
        </p:txBody>
      </p:sp>
      <p:sp>
        <p:nvSpPr>
          <p:cNvPr id="9" name="Scaling block">
            <a:extLst>
              <a:ext uri="{C183D7F6-B498-43B3-948B-1728B52AA6E4}">
                <adec:decorative xmlns:adec="http://schemas.microsoft.com/office/drawing/2017/decorative" val="1"/>
              </a:ext>
            </a:extLst>
          </p:cNvPr>
          <p:cNvSpPr/>
          <p:nvPr/>
        </p:nvSpPr>
        <p:spPr>
          <a:xfrm>
            <a:off x="3040380" y="3899916"/>
            <a:ext cx="868680" cy="214884"/>
          </a:xfrm>
          <a:prstGeom prst="rect">
            <a:avLst/>
          </a:prstGeom>
          <a:solidFill>
            <a:srgbClr val="C7CBEA"/>
          </a:solidFill>
          <a:ln w="12700">
            <a:solidFill>
              <a:srgbClr val="C7CBEA"/>
            </a:solidFill>
            <a:prstDash val="solid"/>
          </a:ln>
        </p:spPr>
        <p:txBody>
          <a:bodyPr/>
          <a:lstStyle/>
          <a:p>
            <a:endParaRPr lang="en-US"/>
          </a:p>
        </p:txBody>
      </p:sp>
      <p:sp>
        <p:nvSpPr>
          <p:cNvPr id="10" name="Text 8"/>
          <p:cNvSpPr/>
          <p:nvPr/>
        </p:nvSpPr>
        <p:spPr>
          <a:xfrm>
            <a:off x="2784348" y="3515868"/>
            <a:ext cx="1380744" cy="320040"/>
          </a:xfrm>
          <a:prstGeom prst="rect">
            <a:avLst/>
          </a:prstGeom>
          <a:noFill/>
          <a:ln/>
        </p:spPr>
        <p:txBody>
          <a:bodyPr wrap="square" lIns="0" tIns="0" rIns="0" bIns="0" rtlCol="0" anchor="ctr"/>
          <a:lstStyle/>
          <a:p>
            <a:pPr marL="0" indent="0" algn="ctr">
              <a:buNone/>
            </a:pPr>
            <a:r>
              <a:rPr lang="en-US" sz="1050" b="1" dirty="0">
                <a:solidFill>
                  <a:srgbClr val="1A1A2E"/>
                </a:solidFill>
                <a:latin typeface="Georgia" pitchFamily="34" charset="0"/>
                <a:ea typeface="Georgia" pitchFamily="34" charset="-122"/>
                <a:cs typeface="Georgia" pitchFamily="34" charset="-120"/>
              </a:rPr>
              <a:t>8</a:t>
            </a:r>
            <a:endParaRPr lang="en-US" sz="1050" dirty="0"/>
          </a:p>
        </p:txBody>
      </p:sp>
      <p:sp>
        <p:nvSpPr>
          <p:cNvPr id="11" name="Text 9"/>
          <p:cNvSpPr/>
          <p:nvPr/>
        </p:nvSpPr>
        <p:spPr>
          <a:xfrm>
            <a:off x="3040380" y="4187952"/>
            <a:ext cx="86868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3</a:t>
            </a:r>
            <a:endParaRPr lang="en-US" sz="1400" dirty="0"/>
          </a:p>
        </p:txBody>
      </p:sp>
      <p:sp>
        <p:nvSpPr>
          <p:cNvPr id="12" name="Scaling block">
            <a:extLst>
              <a:ext uri="{C183D7F6-B498-43B3-948B-1728B52AA6E4}">
                <adec:decorative xmlns:adec="http://schemas.microsoft.com/office/drawing/2017/decorative" val="1"/>
              </a:ext>
            </a:extLst>
          </p:cNvPr>
          <p:cNvSpPr/>
          <p:nvPr/>
        </p:nvSpPr>
        <p:spPr>
          <a:xfrm>
            <a:off x="4137660" y="3756660"/>
            <a:ext cx="868680" cy="358140"/>
          </a:xfrm>
          <a:prstGeom prst="rect">
            <a:avLst/>
          </a:prstGeom>
          <a:solidFill>
            <a:srgbClr val="C7CBEA"/>
          </a:solidFill>
          <a:ln w="12700">
            <a:solidFill>
              <a:srgbClr val="C7CBEA"/>
            </a:solidFill>
            <a:prstDash val="solid"/>
          </a:ln>
        </p:spPr>
        <p:txBody>
          <a:bodyPr/>
          <a:lstStyle/>
          <a:p>
            <a:endParaRPr lang="en-US"/>
          </a:p>
        </p:txBody>
      </p:sp>
      <p:sp>
        <p:nvSpPr>
          <p:cNvPr id="13" name="Text 11"/>
          <p:cNvSpPr/>
          <p:nvPr/>
        </p:nvSpPr>
        <p:spPr>
          <a:xfrm>
            <a:off x="3881628" y="3372612"/>
            <a:ext cx="1380744" cy="320040"/>
          </a:xfrm>
          <a:prstGeom prst="rect">
            <a:avLst/>
          </a:prstGeom>
          <a:noFill/>
          <a:ln/>
        </p:spPr>
        <p:txBody>
          <a:bodyPr wrap="square" lIns="0" tIns="0" rIns="0" bIns="0" rtlCol="0" anchor="ctr"/>
          <a:lstStyle/>
          <a:p>
            <a:pPr marL="0" indent="0" algn="ctr">
              <a:buNone/>
            </a:pPr>
            <a:r>
              <a:rPr lang="en-US" sz="1050" b="1" dirty="0">
                <a:solidFill>
                  <a:srgbClr val="1A1A2E"/>
                </a:solidFill>
                <a:latin typeface="Georgia" pitchFamily="34" charset="0"/>
                <a:ea typeface="Georgia" pitchFamily="34" charset="-122"/>
                <a:cs typeface="Georgia" pitchFamily="34" charset="-120"/>
              </a:rPr>
              <a:t>32</a:t>
            </a:r>
            <a:endParaRPr lang="en-US" sz="1050" dirty="0"/>
          </a:p>
        </p:txBody>
      </p:sp>
      <p:sp>
        <p:nvSpPr>
          <p:cNvPr id="14" name="Text 12"/>
          <p:cNvSpPr/>
          <p:nvPr/>
        </p:nvSpPr>
        <p:spPr>
          <a:xfrm>
            <a:off x="4137660" y="4187952"/>
            <a:ext cx="86868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5</a:t>
            </a:r>
            <a:endParaRPr lang="en-US" sz="1400" dirty="0"/>
          </a:p>
        </p:txBody>
      </p:sp>
      <p:sp>
        <p:nvSpPr>
          <p:cNvPr id="15" name="Scaling block">
            <a:extLst>
              <a:ext uri="{C183D7F6-B498-43B3-948B-1728B52AA6E4}">
                <adec:decorative xmlns:adec="http://schemas.microsoft.com/office/drawing/2017/decorative" val="1"/>
              </a:ext>
            </a:extLst>
          </p:cNvPr>
          <p:cNvSpPr/>
          <p:nvPr/>
        </p:nvSpPr>
        <p:spPr>
          <a:xfrm>
            <a:off x="5234940" y="3398520"/>
            <a:ext cx="868680" cy="716280"/>
          </a:xfrm>
          <a:prstGeom prst="rect">
            <a:avLst/>
          </a:prstGeom>
          <a:solidFill>
            <a:srgbClr val="3730A3"/>
          </a:solidFill>
          <a:ln w="12700">
            <a:solidFill>
              <a:srgbClr val="3730A3"/>
            </a:solidFill>
            <a:prstDash val="solid"/>
          </a:ln>
        </p:spPr>
        <p:txBody>
          <a:bodyPr/>
          <a:lstStyle/>
          <a:p>
            <a:endParaRPr lang="en-US"/>
          </a:p>
        </p:txBody>
      </p:sp>
      <p:sp>
        <p:nvSpPr>
          <p:cNvPr id="16" name="Text 14"/>
          <p:cNvSpPr/>
          <p:nvPr/>
        </p:nvSpPr>
        <p:spPr>
          <a:xfrm>
            <a:off x="4978908" y="3014472"/>
            <a:ext cx="1380744" cy="320040"/>
          </a:xfrm>
          <a:prstGeom prst="rect">
            <a:avLst/>
          </a:prstGeom>
          <a:noFill/>
          <a:ln/>
        </p:spPr>
        <p:txBody>
          <a:bodyPr wrap="square" lIns="0" tIns="0" rIns="0" bIns="0" rtlCol="0" anchor="ctr"/>
          <a:lstStyle/>
          <a:p>
            <a:pPr marL="0" indent="0" algn="ctr">
              <a:buNone/>
            </a:pPr>
            <a:r>
              <a:rPr lang="en-US" sz="1050" b="1" dirty="0">
                <a:solidFill>
                  <a:srgbClr val="1A1A2E"/>
                </a:solidFill>
                <a:latin typeface="Georgia" pitchFamily="34" charset="0"/>
                <a:ea typeface="Georgia" pitchFamily="34" charset="-122"/>
                <a:cs typeface="Georgia" pitchFamily="34" charset="-120"/>
              </a:rPr>
              <a:t>1,024</a:t>
            </a:r>
            <a:endParaRPr lang="en-US" sz="1050" dirty="0"/>
          </a:p>
        </p:txBody>
      </p:sp>
      <p:sp>
        <p:nvSpPr>
          <p:cNvPr id="17" name="Text 15"/>
          <p:cNvSpPr/>
          <p:nvPr/>
        </p:nvSpPr>
        <p:spPr>
          <a:xfrm>
            <a:off x="5234940" y="4187952"/>
            <a:ext cx="86868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10</a:t>
            </a:r>
            <a:endParaRPr lang="en-US" sz="1400" dirty="0"/>
          </a:p>
        </p:txBody>
      </p:sp>
      <p:sp>
        <p:nvSpPr>
          <p:cNvPr id="18" name="Scaling block">
            <a:extLst>
              <a:ext uri="{C183D7F6-B498-43B3-948B-1728B52AA6E4}">
                <adec:decorative xmlns:adec="http://schemas.microsoft.com/office/drawing/2017/decorative" val="1"/>
              </a:ext>
            </a:extLst>
          </p:cNvPr>
          <p:cNvSpPr/>
          <p:nvPr/>
        </p:nvSpPr>
        <p:spPr>
          <a:xfrm>
            <a:off x="6332220" y="2682240"/>
            <a:ext cx="868680" cy="1432560"/>
          </a:xfrm>
          <a:prstGeom prst="rect">
            <a:avLst/>
          </a:prstGeom>
          <a:solidFill>
            <a:srgbClr val="3730A3"/>
          </a:solidFill>
          <a:ln w="12700">
            <a:solidFill>
              <a:srgbClr val="3730A3"/>
            </a:solidFill>
            <a:prstDash val="solid"/>
          </a:ln>
        </p:spPr>
        <p:txBody>
          <a:bodyPr/>
          <a:lstStyle/>
          <a:p>
            <a:endParaRPr lang="en-US"/>
          </a:p>
        </p:txBody>
      </p:sp>
      <p:sp>
        <p:nvSpPr>
          <p:cNvPr id="19" name="Text 17"/>
          <p:cNvSpPr/>
          <p:nvPr/>
        </p:nvSpPr>
        <p:spPr>
          <a:xfrm>
            <a:off x="6076188" y="2298192"/>
            <a:ext cx="1380744" cy="320040"/>
          </a:xfrm>
          <a:prstGeom prst="rect">
            <a:avLst/>
          </a:prstGeom>
          <a:noFill/>
          <a:ln/>
        </p:spPr>
        <p:txBody>
          <a:bodyPr wrap="square" lIns="0" tIns="0" rIns="0" bIns="0" rtlCol="0" anchor="ctr"/>
          <a:lstStyle/>
          <a:p>
            <a:pPr marL="0" indent="0" algn="ctr">
              <a:buNone/>
            </a:pPr>
            <a:r>
              <a:rPr lang="en-US" sz="1050" b="1" dirty="0">
                <a:solidFill>
                  <a:srgbClr val="1A1A2E"/>
                </a:solidFill>
                <a:latin typeface="Georgia" pitchFamily="34" charset="0"/>
                <a:ea typeface="Georgia" pitchFamily="34" charset="-122"/>
                <a:cs typeface="Georgia" pitchFamily="34" charset="-120"/>
              </a:rPr>
              <a:t>1,048,576</a:t>
            </a:r>
            <a:endParaRPr lang="en-US" sz="1050" dirty="0"/>
          </a:p>
        </p:txBody>
      </p:sp>
      <p:sp>
        <p:nvSpPr>
          <p:cNvPr id="20" name="Text 18"/>
          <p:cNvSpPr/>
          <p:nvPr/>
        </p:nvSpPr>
        <p:spPr>
          <a:xfrm>
            <a:off x="6332220" y="4187952"/>
            <a:ext cx="86868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20</a:t>
            </a:r>
            <a:endParaRPr lang="en-US" sz="1400" dirty="0"/>
          </a:p>
        </p:txBody>
      </p:sp>
      <p:sp>
        <p:nvSpPr>
          <p:cNvPr id="21" name="Scaling block">
            <a:extLst>
              <a:ext uri="{C183D7F6-B498-43B3-948B-1728B52AA6E4}">
                <adec:decorative xmlns:adec="http://schemas.microsoft.com/office/drawing/2017/decorative" val="1"/>
              </a:ext>
            </a:extLst>
          </p:cNvPr>
          <p:cNvSpPr/>
          <p:nvPr/>
        </p:nvSpPr>
        <p:spPr>
          <a:xfrm>
            <a:off x="7429500" y="1965960"/>
            <a:ext cx="868680" cy="2148840"/>
          </a:xfrm>
          <a:prstGeom prst="rect">
            <a:avLst/>
          </a:prstGeom>
          <a:solidFill>
            <a:srgbClr val="3730A3"/>
          </a:solidFill>
          <a:ln w="12700">
            <a:solidFill>
              <a:srgbClr val="3730A3"/>
            </a:solidFill>
            <a:prstDash val="solid"/>
          </a:ln>
        </p:spPr>
        <p:txBody>
          <a:bodyPr/>
          <a:lstStyle/>
          <a:p>
            <a:endParaRPr lang="en-US"/>
          </a:p>
        </p:txBody>
      </p:sp>
      <p:sp>
        <p:nvSpPr>
          <p:cNvPr id="22" name="Text 20"/>
          <p:cNvSpPr/>
          <p:nvPr/>
        </p:nvSpPr>
        <p:spPr>
          <a:xfrm>
            <a:off x="7173468" y="1581912"/>
            <a:ext cx="1380744" cy="320040"/>
          </a:xfrm>
          <a:prstGeom prst="rect">
            <a:avLst/>
          </a:prstGeom>
          <a:noFill/>
          <a:ln/>
        </p:spPr>
        <p:txBody>
          <a:bodyPr wrap="square" lIns="0" tIns="0" rIns="0" bIns="0" rtlCol="0" anchor="ctr"/>
          <a:lstStyle/>
          <a:p>
            <a:pPr marL="0" indent="0" algn="ctr">
              <a:buNone/>
            </a:pPr>
            <a:r>
              <a:rPr lang="en-US" sz="1050" b="1" dirty="0">
                <a:solidFill>
                  <a:srgbClr val="1A1A2E"/>
                </a:solidFill>
                <a:latin typeface="Georgia" pitchFamily="34" charset="0"/>
                <a:ea typeface="Georgia" pitchFamily="34" charset="-122"/>
                <a:cs typeface="Georgia" pitchFamily="34" charset="-120"/>
              </a:rPr>
              <a:t>1,073,741,824</a:t>
            </a:r>
            <a:endParaRPr lang="en-US" sz="1050" dirty="0"/>
          </a:p>
        </p:txBody>
      </p:sp>
      <p:sp>
        <p:nvSpPr>
          <p:cNvPr id="23" name="Text 21"/>
          <p:cNvSpPr/>
          <p:nvPr/>
        </p:nvSpPr>
        <p:spPr>
          <a:xfrm>
            <a:off x="7429500" y="4187952"/>
            <a:ext cx="86868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30</a:t>
            </a:r>
            <a:endParaRPr lang="en-US" sz="1400" dirty="0"/>
          </a:p>
        </p:txBody>
      </p:sp>
      <p:sp>
        <p:nvSpPr>
          <p:cNvPr id="24" name="Baseline">
            <a:extLst>
              <a:ext uri="{C183D7F6-B498-43B3-948B-1728B52AA6E4}">
                <adec:decorative xmlns:adec="http://schemas.microsoft.com/office/drawing/2017/decorative" val="1"/>
              </a:ext>
            </a:extLst>
          </p:cNvPr>
          <p:cNvSpPr/>
          <p:nvPr/>
        </p:nvSpPr>
        <p:spPr>
          <a:xfrm>
            <a:off x="640080" y="4114800"/>
            <a:ext cx="7863840" cy="0"/>
          </a:xfrm>
          <a:prstGeom prst="line">
            <a:avLst/>
          </a:prstGeom>
          <a:noFill/>
          <a:ln w="12700">
            <a:solidFill>
              <a:srgbClr val="D4D7DD"/>
            </a:solidFill>
            <a:prstDash val="solid"/>
          </a:ln>
        </p:spPr>
        <p:txBody>
          <a:bodyPr/>
          <a:lstStyle/>
          <a:p>
            <a:endParaRPr lang="en-US"/>
          </a:p>
        </p:txBody>
      </p:sp>
      <p:sp>
        <p:nvSpPr>
          <p:cNvPr id="25" name="Text 23"/>
          <p:cNvSpPr/>
          <p:nvPr/>
        </p:nvSpPr>
        <p:spPr>
          <a:xfrm>
            <a:off x="640080" y="4526280"/>
            <a:ext cx="7863840" cy="274320"/>
          </a:xfrm>
          <a:prstGeom prst="rect">
            <a:avLst/>
          </a:prstGeom>
          <a:noFill/>
          <a:ln/>
        </p:spPr>
        <p:txBody>
          <a:bodyPr wrap="square" lIns="0" tIns="0" rIns="0" bIns="0" rtlCol="0" anchor="ctr"/>
          <a:lstStyle/>
          <a:p>
            <a:pPr marL="0" indent="0" algn="ctr">
              <a:buNone/>
            </a:pPr>
            <a:r>
              <a:rPr lang="en-US" sz="1100" i="1" dirty="0">
                <a:solidFill>
                  <a:srgbClr val="6B7280"/>
                </a:solidFill>
                <a:latin typeface="Georgia" pitchFamily="34" charset="0"/>
                <a:ea typeface="Georgia" pitchFamily="34" charset="-122"/>
                <a:cs typeface="Georgia" pitchFamily="34" charset="-120"/>
              </a:rPr>
              <a:t>Number of qubits below each block; dimension of the state space above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Direct sum: classical combination</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234440" y="1508760"/>
            <a:ext cx="228600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234440" y="1508760"/>
            <a:ext cx="2286000" cy="1371600"/>
          </a:xfrm>
          <a:prstGeom prst="rect">
            <a:avLst/>
          </a:prstGeom>
          <a:noFill/>
          <a:ln/>
        </p:spPr>
        <p:txBody>
          <a:bodyPr wrap="square" lIns="0" tIns="0" rIns="0" bIns="0" rtlCol="0" anchor="ctr"/>
          <a:lstStyle/>
          <a:p>
            <a:pPr marL="0" indent="0" algn="ctr">
              <a:buNone/>
            </a:pPr>
            <a:r>
              <a:rPr lang="en-US" sz="3000" b="1" dirty="0">
                <a:solidFill>
                  <a:srgbClr val="1A1A2E"/>
                </a:solidFill>
                <a:latin typeface="Georgia" pitchFamily="34" charset="0"/>
                <a:ea typeface="Georgia" pitchFamily="34" charset="-122"/>
                <a:cs typeface="Georgia" pitchFamily="34" charset="-120"/>
              </a:rPr>
              <a:t>V</a:t>
            </a:r>
            <a:endParaRPr lang="en-US" sz="3000" dirty="0"/>
          </a:p>
          <a:p>
            <a:pPr marL="0" indent="0" algn="ctr">
              <a:buNone/>
            </a:pPr>
            <a:r>
              <a:rPr lang="en-US" sz="1100" dirty="0">
                <a:solidFill>
                  <a:srgbClr val="6B7280"/>
                </a:solidFill>
                <a:latin typeface="Georgia" pitchFamily="34" charset="0"/>
                <a:ea typeface="Georgia" pitchFamily="34" charset="-122"/>
                <a:cs typeface="Georgia" pitchFamily="34" charset="-120"/>
              </a:rPr>
              <a:t>vector space</a:t>
            </a:r>
            <a:endParaRPr lang="en-US" sz="3000" dirty="0"/>
          </a:p>
        </p:txBody>
      </p:sp>
      <p:sp>
        <p:nvSpPr>
          <p:cNvPr id="5" name="Text 3"/>
          <p:cNvSpPr/>
          <p:nvPr/>
        </p:nvSpPr>
        <p:spPr>
          <a:xfrm>
            <a:off x="3657600" y="1508760"/>
            <a:ext cx="1828800" cy="1371600"/>
          </a:xfrm>
          <a:prstGeom prst="rect">
            <a:avLst/>
          </a:prstGeom>
          <a:noFill/>
          <a:ln/>
        </p:spPr>
        <p:txBody>
          <a:bodyPr wrap="square" lIns="0" tIns="0" rIns="0" bIns="0" rtlCol="0" anchor="ctr"/>
          <a:lstStyle/>
          <a:p>
            <a:pPr marL="0" indent="0" algn="ctr">
              <a:buNone/>
            </a:pPr>
            <a:r>
              <a:rPr lang="en-US" sz="3400" dirty="0">
                <a:solidFill>
                  <a:srgbClr val="3730A3"/>
                </a:solidFill>
                <a:latin typeface="Georgia" pitchFamily="34" charset="0"/>
                <a:ea typeface="Georgia" pitchFamily="34" charset="-122"/>
                <a:cs typeface="Georgia" pitchFamily="34" charset="-120"/>
              </a:rPr>
              <a:t>⊕</a:t>
            </a:r>
            <a:endParaRPr lang="en-US" sz="3400" dirty="0"/>
          </a:p>
        </p:txBody>
      </p:sp>
      <p:sp>
        <p:nvSpPr>
          <p:cNvPr id="6" name="Card frame">
            <a:extLst>
              <a:ext uri="{C183D7F6-B498-43B3-948B-1728B52AA6E4}">
                <adec:decorative xmlns:adec="http://schemas.microsoft.com/office/drawing/2017/decorative" val="1"/>
              </a:ext>
            </a:extLst>
          </p:cNvPr>
          <p:cNvSpPr/>
          <p:nvPr/>
        </p:nvSpPr>
        <p:spPr>
          <a:xfrm>
            <a:off x="5623560" y="1508760"/>
            <a:ext cx="228600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5623560" y="1508760"/>
            <a:ext cx="2286000" cy="1371600"/>
          </a:xfrm>
          <a:prstGeom prst="rect">
            <a:avLst/>
          </a:prstGeom>
          <a:noFill/>
          <a:ln/>
        </p:spPr>
        <p:txBody>
          <a:bodyPr wrap="square" lIns="0" tIns="0" rIns="0" bIns="0" rtlCol="0" anchor="ctr"/>
          <a:lstStyle/>
          <a:p>
            <a:pPr marL="0" indent="0" algn="ctr">
              <a:buNone/>
            </a:pPr>
            <a:r>
              <a:rPr lang="en-US" sz="3000" b="1" dirty="0">
                <a:solidFill>
                  <a:srgbClr val="1A1A2E"/>
                </a:solidFill>
                <a:latin typeface="Georgia" pitchFamily="34" charset="0"/>
                <a:ea typeface="Georgia" pitchFamily="34" charset="-122"/>
                <a:cs typeface="Georgia" pitchFamily="34" charset="-120"/>
              </a:rPr>
              <a:t>W</a:t>
            </a:r>
            <a:endParaRPr lang="en-US" sz="3000" dirty="0"/>
          </a:p>
          <a:p>
            <a:pPr marL="0" indent="0" algn="ctr">
              <a:buNone/>
            </a:pPr>
            <a:r>
              <a:rPr lang="en-US" sz="1100" dirty="0">
                <a:solidFill>
                  <a:srgbClr val="6B7280"/>
                </a:solidFill>
                <a:latin typeface="Georgia" pitchFamily="34" charset="0"/>
                <a:ea typeface="Georgia" pitchFamily="34" charset="-122"/>
                <a:cs typeface="Georgia" pitchFamily="34" charset="-120"/>
              </a:rPr>
              <a:t>vector space</a:t>
            </a:r>
            <a:endParaRPr lang="en-US" sz="3000" dirty="0"/>
          </a:p>
        </p:txBody>
      </p:sp>
      <p:sp>
        <p:nvSpPr>
          <p:cNvPr id="8" name="Card frame">
            <a:extLst>
              <a:ext uri="{C183D7F6-B498-43B3-948B-1728B52AA6E4}">
                <adec:decorative xmlns:adec="http://schemas.microsoft.com/office/drawing/2017/decorative" val="1"/>
              </a:ext>
            </a:extLst>
          </p:cNvPr>
          <p:cNvSpPr/>
          <p:nvPr/>
        </p:nvSpPr>
        <p:spPr>
          <a:xfrm>
            <a:off x="1737360" y="3154680"/>
            <a:ext cx="5669280" cy="731520"/>
          </a:xfrm>
          <a:prstGeom prst="roundRect">
            <a:avLst>
              <a:gd name="adj" fmla="val 7500"/>
            </a:avLst>
          </a:prstGeom>
          <a:solidFill>
            <a:srgbClr val="F4F5FB"/>
          </a:solidFill>
          <a:ln w="15240">
            <a:solidFill>
              <a:srgbClr val="3730A3"/>
            </a:solidFill>
            <a:prstDash val="solid"/>
          </a:ln>
        </p:spPr>
        <p:txBody>
          <a:bodyPr/>
          <a:lstStyle/>
          <a:p>
            <a:endParaRPr lang="en-US"/>
          </a:p>
        </p:txBody>
      </p:sp>
      <p:sp>
        <p:nvSpPr>
          <p:cNvPr id="9" name="Text 7"/>
          <p:cNvSpPr/>
          <p:nvPr/>
        </p:nvSpPr>
        <p:spPr>
          <a:xfrm>
            <a:off x="1737360" y="3154680"/>
            <a:ext cx="5669280" cy="731520"/>
          </a:xfrm>
          <a:prstGeom prst="rect">
            <a:avLst/>
          </a:prstGeom>
          <a:noFill/>
          <a:ln/>
        </p:spPr>
        <p:txBody>
          <a:bodyPr wrap="square" lIns="0" tIns="0" rIns="0" bIns="0" rtlCol="0" anchor="ctr"/>
          <a:lstStyle/>
          <a:p>
            <a:pPr marL="0" indent="0" algn="ctr">
              <a:buNone/>
            </a:pPr>
            <a:r>
              <a:rPr lang="en-US" sz="2100" b="1" dirty="0">
                <a:solidFill>
                  <a:srgbClr val="3730A3"/>
                </a:solidFill>
                <a:latin typeface="Georgia" pitchFamily="34" charset="0"/>
                <a:ea typeface="Georgia" pitchFamily="34" charset="-122"/>
                <a:cs typeface="Georgia" pitchFamily="34" charset="-120"/>
              </a:rPr>
              <a:t>dim(V ⊕ W) = dim(V) + dim(W)</a:t>
            </a:r>
            <a:endParaRPr lang="en-US" sz="2100" dirty="0"/>
          </a:p>
        </p:txBody>
      </p:sp>
      <p:sp>
        <p:nvSpPr>
          <p:cNvPr id="10" name="Text 8"/>
          <p:cNvSpPr/>
          <p:nvPr/>
        </p:nvSpPr>
        <p:spPr>
          <a:xfrm>
            <a:off x="1005840" y="4069080"/>
            <a:ext cx="7132320" cy="5943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Dimensions add — growth is linear. Engineering analogy: stacking two independent data structures side by side, each keeping its own coordinates.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Tensor product: quantum combination</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051560" y="1463040"/>
            <a:ext cx="1737360" cy="1143000"/>
          </a:xfrm>
          <a:prstGeom prst="roundRect">
            <a:avLst>
              <a:gd name="adj" fmla="val 4800"/>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051560" y="1463040"/>
            <a:ext cx="1737360" cy="1143000"/>
          </a:xfrm>
          <a:prstGeom prst="rect">
            <a:avLst/>
          </a:prstGeom>
          <a:noFill/>
          <a:ln/>
        </p:spPr>
        <p:txBody>
          <a:bodyPr wrap="square" lIns="0" tIns="0" rIns="0" bIns="0" rtlCol="0" anchor="ctr"/>
          <a:lstStyle/>
          <a:p>
            <a:pPr marL="0" indent="0" algn="ctr">
              <a:buNone/>
            </a:pPr>
            <a:r>
              <a:rPr lang="en-US" sz="2800" b="1" dirty="0">
                <a:solidFill>
                  <a:srgbClr val="1A1A2E"/>
                </a:solidFill>
                <a:latin typeface="Georgia" pitchFamily="34" charset="0"/>
                <a:ea typeface="Georgia" pitchFamily="34" charset="-122"/>
                <a:cs typeface="Georgia" pitchFamily="34" charset="-120"/>
              </a:rPr>
              <a:t>ℂ²</a:t>
            </a:r>
            <a:endParaRPr lang="en-US" sz="2800" dirty="0"/>
          </a:p>
        </p:txBody>
      </p:sp>
      <p:sp>
        <p:nvSpPr>
          <p:cNvPr id="5" name="Text 3"/>
          <p:cNvSpPr/>
          <p:nvPr/>
        </p:nvSpPr>
        <p:spPr>
          <a:xfrm>
            <a:off x="2880360" y="1463040"/>
            <a:ext cx="822960" cy="1143000"/>
          </a:xfrm>
          <a:prstGeom prst="rect">
            <a:avLst/>
          </a:prstGeom>
          <a:noFill/>
          <a:ln/>
        </p:spPr>
        <p:txBody>
          <a:bodyPr wrap="square" lIns="0" tIns="0" rIns="0" bIns="0" rtlCol="0" anchor="ctr"/>
          <a:lstStyle/>
          <a:p>
            <a:pPr marL="0" indent="0" algn="ctr">
              <a:buNone/>
            </a:pPr>
            <a:r>
              <a:rPr lang="en-US" sz="3000" dirty="0">
                <a:solidFill>
                  <a:srgbClr val="3730A3"/>
                </a:solidFill>
                <a:latin typeface="Georgia" pitchFamily="34" charset="0"/>
                <a:ea typeface="Georgia" pitchFamily="34" charset="-122"/>
                <a:cs typeface="Georgia" pitchFamily="34" charset="-120"/>
              </a:rPr>
              <a:t>⊗</a:t>
            </a:r>
            <a:endParaRPr lang="en-US" sz="3000" dirty="0"/>
          </a:p>
        </p:txBody>
      </p:sp>
      <p:sp>
        <p:nvSpPr>
          <p:cNvPr id="6" name="Card frame">
            <a:extLst>
              <a:ext uri="{C183D7F6-B498-43B3-948B-1728B52AA6E4}">
                <adec:decorative xmlns:adec="http://schemas.microsoft.com/office/drawing/2017/decorative" val="1"/>
              </a:ext>
            </a:extLst>
          </p:cNvPr>
          <p:cNvSpPr/>
          <p:nvPr/>
        </p:nvSpPr>
        <p:spPr>
          <a:xfrm>
            <a:off x="3794760" y="1463040"/>
            <a:ext cx="1737360" cy="1143000"/>
          </a:xfrm>
          <a:prstGeom prst="roundRect">
            <a:avLst>
              <a:gd name="adj" fmla="val 4800"/>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3794760" y="1463040"/>
            <a:ext cx="1737360" cy="1143000"/>
          </a:xfrm>
          <a:prstGeom prst="rect">
            <a:avLst/>
          </a:prstGeom>
          <a:noFill/>
          <a:ln/>
        </p:spPr>
        <p:txBody>
          <a:bodyPr wrap="square" lIns="0" tIns="0" rIns="0" bIns="0" rtlCol="0" anchor="ctr"/>
          <a:lstStyle/>
          <a:p>
            <a:pPr marL="0" indent="0" algn="ctr">
              <a:buNone/>
            </a:pPr>
            <a:r>
              <a:rPr lang="en-US" sz="2800" b="1" dirty="0">
                <a:solidFill>
                  <a:srgbClr val="1A1A2E"/>
                </a:solidFill>
                <a:latin typeface="Georgia" pitchFamily="34" charset="0"/>
                <a:ea typeface="Georgia" pitchFamily="34" charset="-122"/>
                <a:cs typeface="Georgia" pitchFamily="34" charset="-120"/>
              </a:rPr>
              <a:t>ℂ²</a:t>
            </a:r>
            <a:endParaRPr lang="en-US" sz="2800" dirty="0"/>
          </a:p>
        </p:txBody>
      </p:sp>
      <p:sp>
        <p:nvSpPr>
          <p:cNvPr id="8" name="Text 6"/>
          <p:cNvSpPr/>
          <p:nvPr/>
        </p:nvSpPr>
        <p:spPr>
          <a:xfrm>
            <a:off x="5623560" y="1463040"/>
            <a:ext cx="731520" cy="1143000"/>
          </a:xfrm>
          <a:prstGeom prst="rect">
            <a:avLst/>
          </a:prstGeom>
          <a:noFill/>
          <a:ln/>
        </p:spPr>
        <p:txBody>
          <a:bodyPr wrap="square" lIns="0" tIns="0" rIns="0" bIns="0" rtlCol="0" anchor="ctr"/>
          <a:lstStyle/>
          <a:p>
            <a:pPr marL="0" indent="0" algn="ctr">
              <a:buNone/>
            </a:pPr>
            <a:r>
              <a:rPr lang="en-US" sz="2600" dirty="0">
                <a:solidFill>
                  <a:srgbClr val="3730A3"/>
                </a:solidFill>
                <a:latin typeface="Georgia" pitchFamily="34" charset="0"/>
                <a:ea typeface="Georgia" pitchFamily="34" charset="-122"/>
                <a:cs typeface="Georgia" pitchFamily="34" charset="-120"/>
              </a:rPr>
              <a:t>→</a:t>
            </a:r>
            <a:endParaRPr lang="en-US" sz="2600" dirty="0"/>
          </a:p>
        </p:txBody>
      </p:sp>
      <p:sp>
        <p:nvSpPr>
          <p:cNvPr id="9" name="Card frame">
            <a:extLst>
              <a:ext uri="{C183D7F6-B498-43B3-948B-1728B52AA6E4}">
                <adec:decorative xmlns:adec="http://schemas.microsoft.com/office/drawing/2017/decorative" val="1"/>
              </a:ext>
            </a:extLst>
          </p:cNvPr>
          <p:cNvSpPr/>
          <p:nvPr/>
        </p:nvSpPr>
        <p:spPr>
          <a:xfrm>
            <a:off x="6400800" y="1463040"/>
            <a:ext cx="1737360" cy="1143000"/>
          </a:xfrm>
          <a:prstGeom prst="roundRect">
            <a:avLst>
              <a:gd name="adj" fmla="val 4800"/>
            </a:avLst>
          </a:prstGeom>
          <a:solidFill>
            <a:srgbClr val="F4F5FB"/>
          </a:solidFill>
          <a:ln w="15240">
            <a:solidFill>
              <a:srgbClr val="3730A3"/>
            </a:solidFill>
            <a:prstDash val="solid"/>
          </a:ln>
        </p:spPr>
        <p:txBody>
          <a:bodyPr/>
          <a:lstStyle/>
          <a:p>
            <a:endParaRPr lang="en-US"/>
          </a:p>
        </p:txBody>
      </p:sp>
      <p:sp>
        <p:nvSpPr>
          <p:cNvPr id="10" name="Text 8"/>
          <p:cNvSpPr/>
          <p:nvPr/>
        </p:nvSpPr>
        <p:spPr>
          <a:xfrm>
            <a:off x="6400800" y="1463040"/>
            <a:ext cx="1737360" cy="1143000"/>
          </a:xfrm>
          <a:prstGeom prst="rect">
            <a:avLst/>
          </a:prstGeom>
          <a:noFill/>
          <a:ln/>
        </p:spPr>
        <p:txBody>
          <a:bodyPr wrap="square" lIns="0" tIns="0" rIns="0" bIns="0" rtlCol="0" anchor="ctr"/>
          <a:lstStyle/>
          <a:p>
            <a:pPr marL="0" indent="0" algn="ctr">
              <a:buNone/>
            </a:pPr>
            <a:r>
              <a:rPr lang="en-US" sz="2800" b="1" dirty="0">
                <a:solidFill>
                  <a:srgbClr val="3730A3"/>
                </a:solidFill>
                <a:latin typeface="Georgia" pitchFamily="34" charset="0"/>
                <a:ea typeface="Georgia" pitchFamily="34" charset="-122"/>
                <a:cs typeface="Georgia" pitchFamily="34" charset="-120"/>
              </a:rPr>
              <a:t>ℂ⁴</a:t>
            </a:r>
            <a:endParaRPr lang="en-US" sz="2800" dirty="0"/>
          </a:p>
        </p:txBody>
      </p:sp>
      <p:sp>
        <p:nvSpPr>
          <p:cNvPr id="11" name="Card frame">
            <a:extLst>
              <a:ext uri="{C183D7F6-B498-43B3-948B-1728B52AA6E4}">
                <adec:decorative xmlns:adec="http://schemas.microsoft.com/office/drawing/2017/decorative" val="1"/>
              </a:ext>
            </a:extLst>
          </p:cNvPr>
          <p:cNvSpPr/>
          <p:nvPr/>
        </p:nvSpPr>
        <p:spPr>
          <a:xfrm>
            <a:off x="1463040" y="2971800"/>
            <a:ext cx="2926080" cy="914400"/>
          </a:xfrm>
          <a:prstGeom prst="roundRect">
            <a:avLst>
              <a:gd name="adj" fmla="val 6000"/>
            </a:avLst>
          </a:prstGeom>
          <a:solidFill>
            <a:srgbClr val="FFFFFF"/>
          </a:solidFill>
          <a:ln w="12700">
            <a:solidFill>
              <a:srgbClr val="D4D7DD"/>
            </a:solidFill>
            <a:prstDash val="solid"/>
          </a:ln>
        </p:spPr>
        <p:txBody>
          <a:bodyPr/>
          <a:lstStyle/>
          <a:p>
            <a:endParaRPr lang="en-US"/>
          </a:p>
        </p:txBody>
      </p:sp>
      <p:sp>
        <p:nvSpPr>
          <p:cNvPr id="12" name="Text 10"/>
          <p:cNvSpPr/>
          <p:nvPr/>
        </p:nvSpPr>
        <p:spPr>
          <a:xfrm>
            <a:off x="1463040" y="2971800"/>
            <a:ext cx="2926080" cy="914400"/>
          </a:xfrm>
          <a:prstGeom prst="rect">
            <a:avLst/>
          </a:prstGeom>
          <a:noFill/>
          <a:ln/>
        </p:spPr>
        <p:txBody>
          <a:bodyPr wrap="square" lIns="0" tIns="0" rIns="0" bIns="0" rtlCol="0" anchor="ctr"/>
          <a:lstStyle/>
          <a:p>
            <a:pPr marL="0" indent="0" algn="ctr">
              <a:buNone/>
            </a:pPr>
            <a:r>
              <a:rPr lang="en-US" sz="2400" b="1" dirty="0">
                <a:solidFill>
                  <a:srgbClr val="1A1A2E"/>
                </a:solidFill>
                <a:latin typeface="Georgia" pitchFamily="34" charset="0"/>
                <a:ea typeface="Georgia" pitchFamily="34" charset="-122"/>
                <a:cs typeface="Georgia" pitchFamily="34" charset="-120"/>
              </a:rPr>
              <a:t>2 × 2 = 4</a:t>
            </a:r>
            <a:endParaRPr lang="en-US" sz="2400" dirty="0"/>
          </a:p>
        </p:txBody>
      </p:sp>
      <p:sp>
        <p:nvSpPr>
          <p:cNvPr id="13" name="Card frame">
            <a:extLst>
              <a:ext uri="{C183D7F6-B498-43B3-948B-1728B52AA6E4}">
                <adec:decorative xmlns:adec="http://schemas.microsoft.com/office/drawing/2017/decorative" val="1"/>
              </a:ext>
            </a:extLst>
          </p:cNvPr>
          <p:cNvSpPr/>
          <p:nvPr/>
        </p:nvSpPr>
        <p:spPr>
          <a:xfrm>
            <a:off x="4754880" y="2971800"/>
            <a:ext cx="2926080" cy="914400"/>
          </a:xfrm>
          <a:prstGeom prst="roundRect">
            <a:avLst>
              <a:gd name="adj" fmla="val 6000"/>
            </a:avLst>
          </a:prstGeom>
          <a:solidFill>
            <a:srgbClr val="F4F5FB"/>
          </a:solidFill>
          <a:ln w="15240">
            <a:solidFill>
              <a:srgbClr val="3730A3"/>
            </a:solidFill>
            <a:prstDash val="solid"/>
          </a:ln>
        </p:spPr>
        <p:txBody>
          <a:bodyPr/>
          <a:lstStyle/>
          <a:p>
            <a:endParaRPr lang="en-US"/>
          </a:p>
        </p:txBody>
      </p:sp>
      <p:sp>
        <p:nvSpPr>
          <p:cNvPr id="14" name="Text 12"/>
          <p:cNvSpPr/>
          <p:nvPr/>
        </p:nvSpPr>
        <p:spPr>
          <a:xfrm>
            <a:off x="4754880" y="2971800"/>
            <a:ext cx="2926080" cy="914400"/>
          </a:xfrm>
          <a:prstGeom prst="rect">
            <a:avLst/>
          </a:prstGeom>
          <a:noFill/>
          <a:ln/>
        </p:spPr>
        <p:txBody>
          <a:bodyPr wrap="square" lIns="0" tIns="0" rIns="0" bIns="0" rtlCol="0" anchor="ctr"/>
          <a:lstStyle/>
          <a:p>
            <a:pPr marL="0" indent="0" algn="ctr">
              <a:buNone/>
            </a:pPr>
            <a:r>
              <a:rPr lang="en-US" sz="2400" b="1" dirty="0">
                <a:solidFill>
                  <a:srgbClr val="3730A3"/>
                </a:solidFill>
                <a:latin typeface="Georgia" pitchFamily="34" charset="0"/>
                <a:ea typeface="Georgia" pitchFamily="34" charset="-122"/>
                <a:cs typeface="Georgia" pitchFamily="34" charset="-120"/>
              </a:rPr>
              <a:t>n qubits → 2ⁿ</a:t>
            </a:r>
            <a:endParaRPr lang="en-US" sz="2400" dirty="0"/>
          </a:p>
        </p:txBody>
      </p:sp>
      <p:sp>
        <p:nvSpPr>
          <p:cNvPr id="15" name="Text 13"/>
          <p:cNvSpPr/>
          <p:nvPr/>
        </p:nvSpPr>
        <p:spPr>
          <a:xfrm>
            <a:off x="640080" y="416052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Dimensions multiply — the tensor product combines subsystem Hilbert spaces.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Direct sum versus tensor product</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3788315148"/>
              </p:ext>
            </p:extLst>
          </p:nvPr>
        </p:nvGraphicFramePr>
        <p:xfrm>
          <a:off x="1234440" y="1371600"/>
          <a:ext cx="6675120" cy="2377440"/>
        </p:xfrm>
        <a:graphic>
          <a:graphicData uri="http://schemas.openxmlformats.org/drawingml/2006/table">
            <a:tbl>
              <a:tblPr/>
              <a:tblGrid>
                <a:gridCol w="333756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475488">
                <a:tc>
                  <a:txBody>
                    <a:bodyPr/>
                    <a:lstStyle/>
                    <a:p>
                      <a:pPr marL="0" indent="0" algn="ctr">
                        <a:buNone/>
                      </a:pPr>
                      <a:r>
                        <a:rPr lang="en-US" sz="1400" b="1" dirty="0">
                          <a:solidFill>
                            <a:srgbClr val="FFFFFF"/>
                          </a:solidFill>
                          <a:latin typeface="Georgia" pitchFamily="34" charset="0"/>
                          <a:ea typeface="Georgia" pitchFamily="34" charset="-122"/>
                          <a:cs typeface="Georgia" pitchFamily="34" charset="-120"/>
                        </a:rPr>
                        <a:t>Classical</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6B7280"/>
                    </a:solidFill>
                  </a:tcPr>
                </a:tc>
                <a:tc>
                  <a:txBody>
                    <a:bodyPr/>
                    <a:lstStyle/>
                    <a:p>
                      <a:pPr marL="0" indent="0" algn="ctr">
                        <a:buNone/>
                      </a:pPr>
                      <a:r>
                        <a:rPr lang="en-US" sz="1400" b="1" dirty="0">
                          <a:solidFill>
                            <a:srgbClr val="FFFFFF"/>
                          </a:solidFill>
                          <a:latin typeface="Georgia" pitchFamily="34" charset="0"/>
                          <a:ea typeface="Georgia" pitchFamily="34" charset="-122"/>
                          <a:cs typeface="Georgia" pitchFamily="34" charset="-120"/>
                        </a:rPr>
                        <a:t>Quantum</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3730A3"/>
                    </a:solidFill>
                  </a:tcPr>
                </a:tc>
                <a:extLst>
                  <a:ext uri="{0D108BD9-81ED-4DB2-BD59-A6C34878D82A}">
                    <a16:rowId xmlns:a16="http://schemas.microsoft.com/office/drawing/2014/main" val="10000"/>
                  </a:ext>
                </a:extLst>
              </a:tr>
              <a:tr h="475488">
                <a:tc>
                  <a:txBody>
                    <a:bodyPr/>
                    <a:lstStyle/>
                    <a:p>
                      <a:pPr marL="0" indent="0" algn="ctr">
                        <a:buNone/>
                      </a:pPr>
                      <a:r>
                        <a:rPr lang="en-US" sz="1400" dirty="0">
                          <a:solidFill>
                            <a:srgbClr val="1A1A2E"/>
                          </a:solidFill>
                          <a:latin typeface="Georgia" pitchFamily="34" charset="0"/>
                          <a:ea typeface="Georgia" pitchFamily="34" charset="-122"/>
                          <a:cs typeface="Georgia" pitchFamily="34" charset="-120"/>
                        </a:rPr>
                        <a:t>V ⊕ W</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7F8FA"/>
                    </a:solidFill>
                  </a:tcPr>
                </a:tc>
                <a:tc>
                  <a:txBody>
                    <a:bodyPr/>
                    <a:lstStyle/>
                    <a:p>
                      <a:pPr marL="0" indent="0" algn="ctr">
                        <a:buNone/>
                      </a:pPr>
                      <a:r>
                        <a:rPr lang="en-US" sz="1400" b="1" dirty="0">
                          <a:solidFill>
                            <a:srgbClr val="3730A3"/>
                          </a:solidFill>
                          <a:latin typeface="Georgia" pitchFamily="34" charset="0"/>
                          <a:ea typeface="Georgia" pitchFamily="34" charset="-122"/>
                          <a:cs typeface="Georgia" pitchFamily="34" charset="-120"/>
                        </a:rPr>
                        <a:t>V ⊗ W</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4F5FB"/>
                    </a:solidFill>
                  </a:tcPr>
                </a:tc>
                <a:extLst>
                  <a:ext uri="{0D108BD9-81ED-4DB2-BD59-A6C34878D82A}">
                    <a16:rowId xmlns:a16="http://schemas.microsoft.com/office/drawing/2014/main" val="10001"/>
                  </a:ext>
                </a:extLst>
              </a:tr>
              <a:tr h="475488">
                <a:tc>
                  <a:txBody>
                    <a:bodyPr/>
                    <a:lstStyle/>
                    <a:p>
                      <a:pPr marL="0" indent="0" algn="ctr">
                        <a:buNone/>
                      </a:pPr>
                      <a:r>
                        <a:rPr lang="en-US" sz="1400" dirty="0">
                          <a:solidFill>
                            <a:srgbClr val="1A1A2E"/>
                          </a:solidFill>
                          <a:latin typeface="Georgia" pitchFamily="34" charset="0"/>
                          <a:ea typeface="Georgia" pitchFamily="34" charset="-122"/>
                          <a:cs typeface="Georgia" pitchFamily="34" charset="-120"/>
                        </a:rPr>
                        <a:t>Dimensions add</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3730A3"/>
                          </a:solidFill>
                          <a:latin typeface="Georgia" pitchFamily="34" charset="0"/>
                          <a:ea typeface="Georgia" pitchFamily="34" charset="-122"/>
                          <a:cs typeface="Georgia" pitchFamily="34" charset="-120"/>
                        </a:rPr>
                        <a:t>Dimensions multiply</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en-US" sz="1400" dirty="0">
                          <a:solidFill>
                            <a:srgbClr val="1A1A2E"/>
                          </a:solidFill>
                          <a:latin typeface="Georgia" pitchFamily="34" charset="0"/>
                          <a:ea typeface="Georgia" pitchFamily="34" charset="-122"/>
                          <a:cs typeface="Georgia" pitchFamily="34" charset="-120"/>
                        </a:rPr>
                        <a:t>Linear scaling</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7F8FA"/>
                    </a:solidFill>
                  </a:tcPr>
                </a:tc>
                <a:tc>
                  <a:txBody>
                    <a:bodyPr/>
                    <a:lstStyle/>
                    <a:p>
                      <a:pPr marL="0" indent="0" algn="ctr">
                        <a:buNone/>
                      </a:pPr>
                      <a:r>
                        <a:rPr lang="en-US" sz="1400" b="1" dirty="0">
                          <a:solidFill>
                            <a:srgbClr val="3730A3"/>
                          </a:solidFill>
                          <a:latin typeface="Georgia" pitchFamily="34" charset="0"/>
                          <a:ea typeface="Georgia" pitchFamily="34" charset="-122"/>
                          <a:cs typeface="Georgia" pitchFamily="34" charset="-120"/>
                        </a:rPr>
                        <a:t>Exponential scaling</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4F5FB"/>
                    </a:solidFill>
                  </a:tcPr>
                </a:tc>
                <a:extLst>
                  <a:ext uri="{0D108BD9-81ED-4DB2-BD59-A6C34878D82A}">
                    <a16:rowId xmlns:a16="http://schemas.microsoft.com/office/drawing/2014/main" val="10003"/>
                  </a:ext>
                </a:extLst>
              </a:tr>
              <a:tr h="475488">
                <a:tc>
                  <a:txBody>
                    <a:bodyPr/>
                    <a:lstStyle/>
                    <a:p>
                      <a:pPr marL="0" indent="0" algn="ctr">
                        <a:buNone/>
                      </a:pPr>
                      <a:r>
                        <a:rPr lang="en-US" sz="1400" dirty="0">
                          <a:solidFill>
                            <a:srgbClr val="1A1A2E"/>
                          </a:solidFill>
                          <a:latin typeface="Georgia" pitchFamily="34" charset="0"/>
                          <a:ea typeface="Georgia" pitchFamily="34" charset="-122"/>
                          <a:cs typeface="Georgia" pitchFamily="34" charset="-120"/>
                        </a:rPr>
                        <a:t>Separate coordinates</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3730A3"/>
                          </a:solidFill>
                          <a:latin typeface="Georgia" pitchFamily="34" charset="0"/>
                          <a:ea typeface="Georgia" pitchFamily="34" charset="-122"/>
                          <a:cs typeface="Georgia" pitchFamily="34" charset="-120"/>
                        </a:rPr>
                        <a:t>Joint amplitudes</a:t>
                      </a:r>
                      <a:endParaRPr lang="en-US" sz="1400" dirty="0">
                        <a:latin typeface="Georgia" charset="0"/>
                        <a:ea typeface="Georgia" charset="0"/>
                        <a:cs typeface="Georgia" charset="0"/>
                      </a:endParaRPr>
                    </a:p>
                  </a:txBody>
                  <a:tcPr anchor="ctr">
                    <a:lnL w="12700" cap="flat" cmpd="sng" algn="ctr">
                      <a:solidFill>
                        <a:srgbClr val="D4D7DD"/>
                      </a:solidFill>
                      <a:prstDash val="solid"/>
                      <a:round/>
                      <a:headEnd type="none" w="med" len="med"/>
                      <a:tailEnd type="none" w="med" len="med"/>
                    </a:lnL>
                    <a:lnR w="12700" cap="flat" cmpd="sng" algn="ctr">
                      <a:solidFill>
                        <a:srgbClr val="D4D7DD"/>
                      </a:solidFill>
                      <a:prstDash val="solid"/>
                      <a:round/>
                      <a:headEnd type="none" w="med" len="med"/>
                      <a:tailEnd type="none" w="med" len="med"/>
                    </a:lnR>
                    <a:lnT w="12700" cap="flat" cmpd="sng" algn="ctr">
                      <a:solidFill>
                        <a:srgbClr val="D4D7DD"/>
                      </a:solidFill>
                      <a:prstDash val="solid"/>
                      <a:round/>
                      <a:headEnd type="none" w="med" len="med"/>
                      <a:tailEnd type="none" w="med" len="med"/>
                    </a:lnT>
                    <a:lnB w="12700" cap="flat" cmpd="sng" algn="ctr">
                      <a:solidFill>
                        <a:srgbClr val="D4D7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Card frame">
            <a:extLst>
              <a:ext uri="{C183D7F6-B498-43B3-948B-1728B52AA6E4}">
                <adec:decorative xmlns:adec="http://schemas.microsoft.com/office/drawing/2017/decorative" val="1"/>
              </a:ext>
            </a:extLst>
          </p:cNvPr>
          <p:cNvSpPr/>
          <p:nvPr/>
        </p:nvSpPr>
        <p:spPr>
          <a:xfrm>
            <a:off x="640080" y="4023360"/>
            <a:ext cx="786384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5" name="Text 2"/>
          <p:cNvSpPr/>
          <p:nvPr/>
        </p:nvSpPr>
        <p:spPr>
          <a:xfrm>
            <a:off x="841248" y="4023360"/>
            <a:ext cx="7498080" cy="658368"/>
          </a:xfrm>
          <a:prstGeom prst="rect">
            <a:avLst/>
          </a:prstGeom>
          <a:noFill/>
          <a:ln/>
        </p:spPr>
        <p:txBody>
          <a:bodyPr wrap="square" lIns="0" tIns="0" rIns="0" bIns="0" rtlCol="0" anchor="ctr"/>
          <a:lstStyle/>
          <a:p>
            <a:pPr marL="0" indent="0">
              <a:buNone/>
            </a:pPr>
            <a:r>
              <a:rPr lang="en-US" sz="1100" b="1" kern="0" spc="100" dirty="0">
                <a:solidFill>
                  <a:srgbClr val="3730A3"/>
                </a:solidFill>
                <a:latin typeface="Georgia" pitchFamily="34" charset="0"/>
                <a:ea typeface="Georgia" pitchFamily="34" charset="-122"/>
                <a:cs typeface="Georgia" pitchFamily="34" charset="-120"/>
              </a:rPr>
              <a:t>Check   </a:t>
            </a:r>
            <a:r>
              <a:rPr lang="en-US" sz="1400" i="1" dirty="0">
                <a:solidFill>
                  <a:srgbClr val="1A1A2E"/>
                </a:solidFill>
                <a:latin typeface="Georgia" pitchFamily="34" charset="0"/>
                <a:ea typeface="Georgia" pitchFamily="34" charset="-122"/>
                <a:cs typeface="Georgia" pitchFamily="34" charset="-120"/>
              </a:rPr>
              <a:t>If each qubit has dimension 2, what is the dimension of 5 qubits?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Tensor-product distributivity</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371600" y="1417320"/>
            <a:ext cx="6400800" cy="914400"/>
          </a:xfrm>
          <a:prstGeom prst="roundRect">
            <a:avLst>
              <a:gd name="adj" fmla="val 6000"/>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371600" y="1417320"/>
            <a:ext cx="6400800" cy="914400"/>
          </a:xfrm>
          <a:prstGeom prst="rect">
            <a:avLst/>
          </a:prstGeom>
          <a:noFill/>
          <a:ln/>
        </p:spPr>
        <p:txBody>
          <a:bodyPr wrap="square" lIns="0" tIns="0" rIns="0" bIns="0" rtlCol="0" anchor="ctr"/>
          <a:lstStyle/>
          <a:p>
            <a:pPr marL="0" indent="0" algn="ctr">
              <a:buNone/>
            </a:pPr>
            <a:r>
              <a:rPr lang="en-US" sz="2400" dirty="0">
                <a:solidFill>
                  <a:srgbClr val="1A1A2E"/>
                </a:solidFill>
                <a:latin typeface="Georgia" pitchFamily="34" charset="0"/>
                <a:ea typeface="Georgia" pitchFamily="34" charset="-122"/>
                <a:cs typeface="Georgia" pitchFamily="34" charset="-120"/>
              </a:rPr>
              <a:t>( |v₁⟩ + |v₂⟩ ) ⊗ |w⟩</a:t>
            </a:r>
            <a:endParaRPr lang="en-US" sz="2400" dirty="0"/>
          </a:p>
        </p:txBody>
      </p:sp>
      <p:sp>
        <p:nvSpPr>
          <p:cNvPr id="5" name="Text 3"/>
          <p:cNvSpPr/>
          <p:nvPr/>
        </p:nvSpPr>
        <p:spPr>
          <a:xfrm>
            <a:off x="1371600" y="2395728"/>
            <a:ext cx="6400800" cy="457200"/>
          </a:xfrm>
          <a:prstGeom prst="rect">
            <a:avLst/>
          </a:prstGeom>
          <a:noFill/>
          <a:ln/>
        </p:spPr>
        <p:txBody>
          <a:bodyPr wrap="square" lIns="0" tIns="0" rIns="0" bIns="0" rtlCol="0" anchor="ctr"/>
          <a:lstStyle/>
          <a:p>
            <a:pPr marL="0" indent="0" algn="ctr">
              <a:buNone/>
            </a:pPr>
            <a:r>
              <a:rPr lang="en-US" sz="2200" dirty="0">
                <a:solidFill>
                  <a:srgbClr val="3730A3"/>
                </a:solidFill>
                <a:latin typeface="Georgia" pitchFamily="34" charset="0"/>
                <a:ea typeface="Georgia" pitchFamily="34" charset="-122"/>
                <a:cs typeface="Georgia" pitchFamily="34" charset="-120"/>
              </a:rPr>
              <a:t>↓</a:t>
            </a:r>
            <a:endParaRPr lang="en-US" sz="2200" dirty="0"/>
          </a:p>
        </p:txBody>
      </p:sp>
      <p:sp>
        <p:nvSpPr>
          <p:cNvPr id="6" name="Card frame">
            <a:extLst>
              <a:ext uri="{C183D7F6-B498-43B3-948B-1728B52AA6E4}">
                <adec:decorative xmlns:adec="http://schemas.microsoft.com/office/drawing/2017/decorative" val="1"/>
              </a:ext>
            </a:extLst>
          </p:cNvPr>
          <p:cNvSpPr/>
          <p:nvPr/>
        </p:nvSpPr>
        <p:spPr>
          <a:xfrm>
            <a:off x="1371600" y="2880360"/>
            <a:ext cx="6400800" cy="914400"/>
          </a:xfrm>
          <a:prstGeom prst="roundRect">
            <a:avLst>
              <a:gd name="adj" fmla="val 6000"/>
            </a:avLst>
          </a:prstGeom>
          <a:solidFill>
            <a:srgbClr val="F4F5FB"/>
          </a:solidFill>
          <a:ln w="15240">
            <a:solidFill>
              <a:srgbClr val="3730A3"/>
            </a:solidFill>
            <a:prstDash val="solid"/>
          </a:ln>
        </p:spPr>
        <p:txBody>
          <a:bodyPr/>
          <a:lstStyle/>
          <a:p>
            <a:endParaRPr lang="en-US"/>
          </a:p>
        </p:txBody>
      </p:sp>
      <p:sp>
        <p:nvSpPr>
          <p:cNvPr id="7" name="Text 5"/>
          <p:cNvSpPr/>
          <p:nvPr/>
        </p:nvSpPr>
        <p:spPr>
          <a:xfrm>
            <a:off x="1371600" y="2880360"/>
            <a:ext cx="6400800" cy="914400"/>
          </a:xfrm>
          <a:prstGeom prst="rect">
            <a:avLst/>
          </a:prstGeom>
          <a:noFill/>
          <a:ln/>
        </p:spPr>
        <p:txBody>
          <a:bodyPr wrap="square" lIns="0" tIns="0" rIns="0" bIns="0" rtlCol="0" anchor="ctr"/>
          <a:lstStyle/>
          <a:p>
            <a:pPr marL="0" indent="0" algn="ctr">
              <a:buNone/>
            </a:pPr>
            <a:r>
              <a:rPr lang="en-US" sz="2400" b="1" dirty="0">
                <a:solidFill>
                  <a:srgbClr val="3730A3"/>
                </a:solidFill>
                <a:latin typeface="Georgia" pitchFamily="34" charset="0"/>
                <a:ea typeface="Georgia" pitchFamily="34" charset="-122"/>
                <a:cs typeface="Georgia" pitchFamily="34" charset="-120"/>
              </a:rPr>
              <a:t>|v₁⟩ ⊗ |w⟩ + |v₂⟩ ⊗ |w⟩</a:t>
            </a:r>
            <a:endParaRPr lang="en-US" sz="2400" dirty="0"/>
          </a:p>
        </p:txBody>
      </p:sp>
      <p:sp>
        <p:nvSpPr>
          <p:cNvPr id="8" name="Text 6"/>
          <p:cNvSpPr/>
          <p:nvPr/>
        </p:nvSpPr>
        <p:spPr>
          <a:xfrm>
            <a:off x="640080" y="402336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Bilinearity: the tensor product distributes over addition, exactly like ordinary algebra.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Building the two-qubit basis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463040" y="1371600"/>
            <a:ext cx="3108960" cy="658368"/>
          </a:xfrm>
          <a:prstGeom prst="roundRect">
            <a:avLst>
              <a:gd name="adj" fmla="val 8333"/>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463040" y="1371600"/>
            <a:ext cx="3108960" cy="65836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|0⟩ ⊗ |0⟩</a:t>
            </a:r>
            <a:endParaRPr lang="en-US" sz="1800" dirty="0"/>
          </a:p>
        </p:txBody>
      </p:sp>
      <p:sp>
        <p:nvSpPr>
          <p:cNvPr id="5" name="Text 3"/>
          <p:cNvSpPr/>
          <p:nvPr/>
        </p:nvSpPr>
        <p:spPr>
          <a:xfrm>
            <a:off x="4617720" y="1371600"/>
            <a:ext cx="548640" cy="658368"/>
          </a:xfrm>
          <a:prstGeom prst="rect">
            <a:avLst/>
          </a:prstGeom>
          <a:noFill/>
          <a:ln/>
        </p:spPr>
        <p:txBody>
          <a:bodyPr wrap="square" lIns="0" tIns="0" rIns="0" bIns="0" rtlCol="0" anchor="ctr"/>
          <a:lstStyle/>
          <a:p>
            <a:pPr marL="0" indent="0" algn="ctr">
              <a:buNone/>
            </a:pPr>
            <a:r>
              <a:rPr lang="en-US" sz="1800" dirty="0">
                <a:solidFill>
                  <a:srgbClr val="3730A3"/>
                </a:solidFill>
                <a:latin typeface="Georgia" pitchFamily="34" charset="0"/>
                <a:ea typeface="Georgia" pitchFamily="34" charset="-122"/>
                <a:cs typeface="Georgia" pitchFamily="34" charset="-120"/>
              </a:rPr>
              <a:t>→</a:t>
            </a:r>
            <a:endParaRPr lang="en-US" sz="1800" dirty="0"/>
          </a:p>
        </p:txBody>
      </p:sp>
      <p:sp>
        <p:nvSpPr>
          <p:cNvPr id="6" name="Card frame">
            <a:extLst>
              <a:ext uri="{C183D7F6-B498-43B3-948B-1728B52AA6E4}">
                <adec:decorative xmlns:adec="http://schemas.microsoft.com/office/drawing/2017/decorative" val="1"/>
              </a:ext>
            </a:extLst>
          </p:cNvPr>
          <p:cNvSpPr/>
          <p:nvPr/>
        </p:nvSpPr>
        <p:spPr>
          <a:xfrm>
            <a:off x="5212080" y="1371600"/>
            <a:ext cx="246888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7" name="Text 5"/>
          <p:cNvSpPr/>
          <p:nvPr/>
        </p:nvSpPr>
        <p:spPr>
          <a:xfrm>
            <a:off x="5212080" y="1371600"/>
            <a:ext cx="2468880" cy="658368"/>
          </a:xfrm>
          <a:prstGeom prst="rect">
            <a:avLst/>
          </a:prstGeom>
          <a:noFill/>
          <a:ln/>
        </p:spPr>
        <p:txBody>
          <a:bodyPr wrap="square" lIns="0" tIns="0" rIns="0" bIns="0" rtlCol="0" anchor="ctr"/>
          <a:lstStyle/>
          <a:p>
            <a:pPr marL="0" indent="0" algn="ctr">
              <a:buNone/>
            </a:pPr>
            <a:r>
              <a:rPr lang="en-US" sz="1800" b="1" dirty="0">
                <a:solidFill>
                  <a:srgbClr val="3730A3"/>
                </a:solidFill>
                <a:latin typeface="Georgia" pitchFamily="34" charset="0"/>
                <a:ea typeface="Georgia" pitchFamily="34" charset="-122"/>
                <a:cs typeface="Georgia" pitchFamily="34" charset="-120"/>
              </a:rPr>
              <a:t>|00⟩</a:t>
            </a:r>
            <a:endParaRPr lang="en-US" sz="1800" dirty="0"/>
          </a:p>
        </p:txBody>
      </p:sp>
      <p:sp>
        <p:nvSpPr>
          <p:cNvPr id="8" name="Card frame">
            <a:extLst>
              <a:ext uri="{C183D7F6-B498-43B3-948B-1728B52AA6E4}">
                <adec:decorative xmlns:adec="http://schemas.microsoft.com/office/drawing/2017/decorative" val="1"/>
              </a:ext>
            </a:extLst>
          </p:cNvPr>
          <p:cNvSpPr/>
          <p:nvPr/>
        </p:nvSpPr>
        <p:spPr>
          <a:xfrm>
            <a:off x="1463040" y="2157984"/>
            <a:ext cx="3108960" cy="658368"/>
          </a:xfrm>
          <a:prstGeom prst="roundRect">
            <a:avLst>
              <a:gd name="adj" fmla="val 8333"/>
            </a:avLst>
          </a:prstGeom>
          <a:solidFill>
            <a:srgbClr val="FFFFFF"/>
          </a:solidFill>
          <a:ln w="12700">
            <a:solidFill>
              <a:srgbClr val="D4D7DD"/>
            </a:solidFill>
            <a:prstDash val="solid"/>
          </a:ln>
        </p:spPr>
        <p:txBody>
          <a:bodyPr/>
          <a:lstStyle/>
          <a:p>
            <a:endParaRPr lang="en-US"/>
          </a:p>
        </p:txBody>
      </p:sp>
      <p:sp>
        <p:nvSpPr>
          <p:cNvPr id="9" name="Text 7"/>
          <p:cNvSpPr/>
          <p:nvPr/>
        </p:nvSpPr>
        <p:spPr>
          <a:xfrm>
            <a:off x="1463040" y="2157984"/>
            <a:ext cx="3108960" cy="65836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|0⟩ ⊗ |1⟩</a:t>
            </a:r>
            <a:endParaRPr lang="en-US" sz="1800" dirty="0"/>
          </a:p>
        </p:txBody>
      </p:sp>
      <p:sp>
        <p:nvSpPr>
          <p:cNvPr id="10" name="Text 8"/>
          <p:cNvSpPr/>
          <p:nvPr/>
        </p:nvSpPr>
        <p:spPr>
          <a:xfrm>
            <a:off x="4617720" y="2157984"/>
            <a:ext cx="548640" cy="658368"/>
          </a:xfrm>
          <a:prstGeom prst="rect">
            <a:avLst/>
          </a:prstGeom>
          <a:noFill/>
          <a:ln/>
        </p:spPr>
        <p:txBody>
          <a:bodyPr wrap="square" lIns="0" tIns="0" rIns="0" bIns="0" rtlCol="0" anchor="ctr"/>
          <a:lstStyle/>
          <a:p>
            <a:pPr marL="0" indent="0" algn="ctr">
              <a:buNone/>
            </a:pPr>
            <a:r>
              <a:rPr lang="en-US" sz="1800" dirty="0">
                <a:solidFill>
                  <a:srgbClr val="3730A3"/>
                </a:solidFill>
                <a:latin typeface="Georgia" pitchFamily="34" charset="0"/>
                <a:ea typeface="Georgia" pitchFamily="34" charset="-122"/>
                <a:cs typeface="Georgia" pitchFamily="34" charset="-120"/>
              </a:rPr>
              <a:t>→</a:t>
            </a:r>
            <a:endParaRPr lang="en-US" sz="1800" dirty="0"/>
          </a:p>
        </p:txBody>
      </p:sp>
      <p:sp>
        <p:nvSpPr>
          <p:cNvPr id="11" name="Card frame">
            <a:extLst>
              <a:ext uri="{C183D7F6-B498-43B3-948B-1728B52AA6E4}">
                <adec:decorative xmlns:adec="http://schemas.microsoft.com/office/drawing/2017/decorative" val="1"/>
              </a:ext>
            </a:extLst>
          </p:cNvPr>
          <p:cNvSpPr/>
          <p:nvPr/>
        </p:nvSpPr>
        <p:spPr>
          <a:xfrm>
            <a:off x="5212080" y="2157984"/>
            <a:ext cx="246888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12" name="Text 10"/>
          <p:cNvSpPr/>
          <p:nvPr/>
        </p:nvSpPr>
        <p:spPr>
          <a:xfrm>
            <a:off x="5212080" y="2157984"/>
            <a:ext cx="2468880" cy="658368"/>
          </a:xfrm>
          <a:prstGeom prst="rect">
            <a:avLst/>
          </a:prstGeom>
          <a:noFill/>
          <a:ln/>
        </p:spPr>
        <p:txBody>
          <a:bodyPr wrap="square" lIns="0" tIns="0" rIns="0" bIns="0" rtlCol="0" anchor="ctr"/>
          <a:lstStyle/>
          <a:p>
            <a:pPr marL="0" indent="0" algn="ctr">
              <a:buNone/>
            </a:pPr>
            <a:r>
              <a:rPr lang="en-US" sz="1800" b="1" dirty="0">
                <a:solidFill>
                  <a:srgbClr val="3730A3"/>
                </a:solidFill>
                <a:latin typeface="Georgia" pitchFamily="34" charset="0"/>
                <a:ea typeface="Georgia" pitchFamily="34" charset="-122"/>
                <a:cs typeface="Georgia" pitchFamily="34" charset="-120"/>
              </a:rPr>
              <a:t>|01⟩</a:t>
            </a:r>
            <a:endParaRPr lang="en-US" sz="1800" dirty="0"/>
          </a:p>
        </p:txBody>
      </p:sp>
      <p:sp>
        <p:nvSpPr>
          <p:cNvPr id="13" name="Card frame">
            <a:extLst>
              <a:ext uri="{C183D7F6-B498-43B3-948B-1728B52AA6E4}">
                <adec:decorative xmlns:adec="http://schemas.microsoft.com/office/drawing/2017/decorative" val="1"/>
              </a:ext>
            </a:extLst>
          </p:cNvPr>
          <p:cNvSpPr/>
          <p:nvPr/>
        </p:nvSpPr>
        <p:spPr>
          <a:xfrm>
            <a:off x="1463040" y="2944368"/>
            <a:ext cx="3108960" cy="658368"/>
          </a:xfrm>
          <a:prstGeom prst="roundRect">
            <a:avLst>
              <a:gd name="adj" fmla="val 8333"/>
            </a:avLst>
          </a:prstGeom>
          <a:solidFill>
            <a:srgbClr val="FFFFFF"/>
          </a:solidFill>
          <a:ln w="12700">
            <a:solidFill>
              <a:srgbClr val="D4D7DD"/>
            </a:solidFill>
            <a:prstDash val="solid"/>
          </a:ln>
        </p:spPr>
        <p:txBody>
          <a:bodyPr/>
          <a:lstStyle/>
          <a:p>
            <a:endParaRPr lang="en-US"/>
          </a:p>
        </p:txBody>
      </p:sp>
      <p:sp>
        <p:nvSpPr>
          <p:cNvPr id="14" name="Text 12"/>
          <p:cNvSpPr/>
          <p:nvPr/>
        </p:nvSpPr>
        <p:spPr>
          <a:xfrm>
            <a:off x="1463040" y="2944368"/>
            <a:ext cx="3108960" cy="65836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|1⟩ ⊗ |0⟩</a:t>
            </a:r>
            <a:endParaRPr lang="en-US" sz="1800" dirty="0"/>
          </a:p>
        </p:txBody>
      </p:sp>
      <p:sp>
        <p:nvSpPr>
          <p:cNvPr id="15" name="Text 13"/>
          <p:cNvSpPr/>
          <p:nvPr/>
        </p:nvSpPr>
        <p:spPr>
          <a:xfrm>
            <a:off x="4617720" y="2944368"/>
            <a:ext cx="548640" cy="658368"/>
          </a:xfrm>
          <a:prstGeom prst="rect">
            <a:avLst/>
          </a:prstGeom>
          <a:noFill/>
          <a:ln/>
        </p:spPr>
        <p:txBody>
          <a:bodyPr wrap="square" lIns="0" tIns="0" rIns="0" bIns="0" rtlCol="0" anchor="ctr"/>
          <a:lstStyle/>
          <a:p>
            <a:pPr marL="0" indent="0" algn="ctr">
              <a:buNone/>
            </a:pPr>
            <a:r>
              <a:rPr lang="en-US" sz="1800" dirty="0">
                <a:solidFill>
                  <a:srgbClr val="3730A3"/>
                </a:solidFill>
                <a:latin typeface="Georgia" pitchFamily="34" charset="0"/>
                <a:ea typeface="Georgia" pitchFamily="34" charset="-122"/>
                <a:cs typeface="Georgia" pitchFamily="34" charset="-120"/>
              </a:rPr>
              <a:t>→</a:t>
            </a:r>
            <a:endParaRPr lang="en-US" sz="1800" dirty="0"/>
          </a:p>
        </p:txBody>
      </p:sp>
      <p:sp>
        <p:nvSpPr>
          <p:cNvPr id="16" name="Card frame">
            <a:extLst>
              <a:ext uri="{C183D7F6-B498-43B3-948B-1728B52AA6E4}">
                <adec:decorative xmlns:adec="http://schemas.microsoft.com/office/drawing/2017/decorative" val="1"/>
              </a:ext>
            </a:extLst>
          </p:cNvPr>
          <p:cNvSpPr/>
          <p:nvPr/>
        </p:nvSpPr>
        <p:spPr>
          <a:xfrm>
            <a:off x="5212080" y="2944368"/>
            <a:ext cx="246888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17" name="Text 15"/>
          <p:cNvSpPr/>
          <p:nvPr/>
        </p:nvSpPr>
        <p:spPr>
          <a:xfrm>
            <a:off x="5212080" y="2944368"/>
            <a:ext cx="2468880" cy="658368"/>
          </a:xfrm>
          <a:prstGeom prst="rect">
            <a:avLst/>
          </a:prstGeom>
          <a:noFill/>
          <a:ln/>
        </p:spPr>
        <p:txBody>
          <a:bodyPr wrap="square" lIns="0" tIns="0" rIns="0" bIns="0" rtlCol="0" anchor="ctr"/>
          <a:lstStyle/>
          <a:p>
            <a:pPr marL="0" indent="0" algn="ctr">
              <a:buNone/>
            </a:pPr>
            <a:r>
              <a:rPr lang="en-US" sz="1800" b="1" dirty="0">
                <a:solidFill>
                  <a:srgbClr val="3730A3"/>
                </a:solidFill>
                <a:latin typeface="Georgia" pitchFamily="34" charset="0"/>
                <a:ea typeface="Georgia" pitchFamily="34" charset="-122"/>
                <a:cs typeface="Georgia" pitchFamily="34" charset="-120"/>
              </a:rPr>
              <a:t>|10⟩</a:t>
            </a:r>
            <a:endParaRPr lang="en-US" sz="1800" dirty="0"/>
          </a:p>
        </p:txBody>
      </p:sp>
      <p:sp>
        <p:nvSpPr>
          <p:cNvPr id="18" name="Card frame">
            <a:extLst>
              <a:ext uri="{C183D7F6-B498-43B3-948B-1728B52AA6E4}">
                <adec:decorative xmlns:adec="http://schemas.microsoft.com/office/drawing/2017/decorative" val="1"/>
              </a:ext>
            </a:extLst>
          </p:cNvPr>
          <p:cNvSpPr/>
          <p:nvPr/>
        </p:nvSpPr>
        <p:spPr>
          <a:xfrm>
            <a:off x="1463040" y="3730752"/>
            <a:ext cx="3108960" cy="658368"/>
          </a:xfrm>
          <a:prstGeom prst="roundRect">
            <a:avLst>
              <a:gd name="adj" fmla="val 8333"/>
            </a:avLst>
          </a:prstGeom>
          <a:solidFill>
            <a:srgbClr val="FFFFFF"/>
          </a:solidFill>
          <a:ln w="12700">
            <a:solidFill>
              <a:srgbClr val="D4D7DD"/>
            </a:solidFill>
            <a:prstDash val="solid"/>
          </a:ln>
        </p:spPr>
        <p:txBody>
          <a:bodyPr/>
          <a:lstStyle/>
          <a:p>
            <a:endParaRPr lang="en-US"/>
          </a:p>
        </p:txBody>
      </p:sp>
      <p:sp>
        <p:nvSpPr>
          <p:cNvPr id="19" name="Text 17"/>
          <p:cNvSpPr/>
          <p:nvPr/>
        </p:nvSpPr>
        <p:spPr>
          <a:xfrm>
            <a:off x="1463040" y="3730752"/>
            <a:ext cx="3108960" cy="65836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|1⟩ ⊗ |1⟩</a:t>
            </a:r>
            <a:endParaRPr lang="en-US" sz="1800" dirty="0"/>
          </a:p>
        </p:txBody>
      </p:sp>
      <p:sp>
        <p:nvSpPr>
          <p:cNvPr id="20" name="Text 18"/>
          <p:cNvSpPr/>
          <p:nvPr/>
        </p:nvSpPr>
        <p:spPr>
          <a:xfrm>
            <a:off x="4617720" y="3730752"/>
            <a:ext cx="548640" cy="658368"/>
          </a:xfrm>
          <a:prstGeom prst="rect">
            <a:avLst/>
          </a:prstGeom>
          <a:noFill/>
          <a:ln/>
        </p:spPr>
        <p:txBody>
          <a:bodyPr wrap="square" lIns="0" tIns="0" rIns="0" bIns="0" rtlCol="0" anchor="ctr"/>
          <a:lstStyle/>
          <a:p>
            <a:pPr marL="0" indent="0" algn="ctr">
              <a:buNone/>
            </a:pPr>
            <a:r>
              <a:rPr lang="en-US" sz="1800" dirty="0">
                <a:solidFill>
                  <a:srgbClr val="3730A3"/>
                </a:solidFill>
                <a:latin typeface="Georgia" pitchFamily="34" charset="0"/>
                <a:ea typeface="Georgia" pitchFamily="34" charset="-122"/>
                <a:cs typeface="Georgia" pitchFamily="34" charset="-120"/>
              </a:rPr>
              <a:t>→</a:t>
            </a:r>
            <a:endParaRPr lang="en-US" sz="1800" dirty="0"/>
          </a:p>
        </p:txBody>
      </p:sp>
      <p:sp>
        <p:nvSpPr>
          <p:cNvPr id="21" name="Card frame">
            <a:extLst>
              <a:ext uri="{C183D7F6-B498-43B3-948B-1728B52AA6E4}">
                <adec:decorative xmlns:adec="http://schemas.microsoft.com/office/drawing/2017/decorative" val="1"/>
              </a:ext>
            </a:extLst>
          </p:cNvPr>
          <p:cNvSpPr/>
          <p:nvPr/>
        </p:nvSpPr>
        <p:spPr>
          <a:xfrm>
            <a:off x="5212080" y="3730752"/>
            <a:ext cx="246888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22" name="Text 20"/>
          <p:cNvSpPr/>
          <p:nvPr/>
        </p:nvSpPr>
        <p:spPr>
          <a:xfrm>
            <a:off x="5212080" y="3730752"/>
            <a:ext cx="2468880" cy="658368"/>
          </a:xfrm>
          <a:prstGeom prst="rect">
            <a:avLst/>
          </a:prstGeom>
          <a:noFill/>
          <a:ln/>
        </p:spPr>
        <p:txBody>
          <a:bodyPr wrap="square" lIns="0" tIns="0" rIns="0" bIns="0" rtlCol="0" anchor="ctr"/>
          <a:lstStyle/>
          <a:p>
            <a:pPr marL="0" indent="0" algn="ctr">
              <a:buNone/>
            </a:pPr>
            <a:r>
              <a:rPr lang="en-US" sz="1800" b="1" dirty="0">
                <a:solidFill>
                  <a:srgbClr val="3730A3"/>
                </a:solidFill>
                <a:latin typeface="Georgia" pitchFamily="34" charset="0"/>
                <a:ea typeface="Georgia" pitchFamily="34" charset="-122"/>
                <a:cs typeface="Georgia" pitchFamily="34" charset="-120"/>
              </a:rPr>
              <a:t>|11⟩</a:t>
            </a:r>
            <a:endParaRPr lang="en-US" sz="1800" dirty="0"/>
          </a:p>
        </p:txBody>
      </p:sp>
      <p:sp>
        <p:nvSpPr>
          <p:cNvPr id="23" name="Text 21"/>
          <p:cNvSpPr/>
          <p:nvPr/>
        </p:nvSpPr>
        <p:spPr>
          <a:xfrm>
            <a:off x="640080" y="4572000"/>
            <a:ext cx="7863840" cy="32004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Basis ordering is lexicographic:  |00⟩, |01⟩, |10⟩, |11⟩</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3-qubit basis tree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1228"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681228"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|000⟩</a:t>
            </a:r>
            <a:endParaRPr lang="en-US" sz="1100" dirty="0"/>
          </a:p>
        </p:txBody>
      </p:sp>
      <p:sp>
        <p:nvSpPr>
          <p:cNvPr id="5" name="Card frame">
            <a:extLst>
              <a:ext uri="{C183D7F6-B498-43B3-948B-1728B52AA6E4}">
                <adec:decorative xmlns:adec="http://schemas.microsoft.com/office/drawing/2017/decorative" val="1"/>
              </a:ext>
            </a:extLst>
          </p:cNvPr>
          <p:cNvSpPr/>
          <p:nvPr/>
        </p:nvSpPr>
        <p:spPr>
          <a:xfrm>
            <a:off x="1668780"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6" name="Text 4"/>
          <p:cNvSpPr/>
          <p:nvPr/>
        </p:nvSpPr>
        <p:spPr>
          <a:xfrm>
            <a:off x="1668780"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|001⟩</a:t>
            </a:r>
            <a:endParaRPr lang="en-US" sz="1100" dirty="0"/>
          </a:p>
        </p:txBody>
      </p:sp>
      <p:sp>
        <p:nvSpPr>
          <p:cNvPr id="7" name="Card frame">
            <a:extLst>
              <a:ext uri="{C183D7F6-B498-43B3-948B-1728B52AA6E4}">
                <adec:decorative xmlns:adec="http://schemas.microsoft.com/office/drawing/2017/decorative" val="1"/>
              </a:ext>
            </a:extLst>
          </p:cNvPr>
          <p:cNvSpPr/>
          <p:nvPr/>
        </p:nvSpPr>
        <p:spPr>
          <a:xfrm>
            <a:off x="2656332"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8" name="Text 6"/>
          <p:cNvSpPr/>
          <p:nvPr/>
        </p:nvSpPr>
        <p:spPr>
          <a:xfrm>
            <a:off x="2656332"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|010⟩</a:t>
            </a:r>
            <a:endParaRPr lang="en-US" sz="1100" dirty="0"/>
          </a:p>
        </p:txBody>
      </p:sp>
      <p:sp>
        <p:nvSpPr>
          <p:cNvPr id="9" name="Card frame">
            <a:extLst>
              <a:ext uri="{C183D7F6-B498-43B3-948B-1728B52AA6E4}">
                <adec:decorative xmlns:adec="http://schemas.microsoft.com/office/drawing/2017/decorative" val="1"/>
              </a:ext>
            </a:extLst>
          </p:cNvPr>
          <p:cNvSpPr/>
          <p:nvPr/>
        </p:nvSpPr>
        <p:spPr>
          <a:xfrm>
            <a:off x="3643884"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10" name="Text 8"/>
          <p:cNvSpPr/>
          <p:nvPr/>
        </p:nvSpPr>
        <p:spPr>
          <a:xfrm>
            <a:off x="3643884"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|011⟩</a:t>
            </a:r>
            <a:endParaRPr lang="en-US" sz="1100" dirty="0"/>
          </a:p>
        </p:txBody>
      </p:sp>
      <p:sp>
        <p:nvSpPr>
          <p:cNvPr id="11" name="Card frame">
            <a:extLst>
              <a:ext uri="{C183D7F6-B498-43B3-948B-1728B52AA6E4}">
                <adec:decorative xmlns:adec="http://schemas.microsoft.com/office/drawing/2017/decorative" val="1"/>
              </a:ext>
            </a:extLst>
          </p:cNvPr>
          <p:cNvSpPr/>
          <p:nvPr/>
        </p:nvSpPr>
        <p:spPr>
          <a:xfrm>
            <a:off x="4631436"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12" name="Text 10"/>
          <p:cNvSpPr/>
          <p:nvPr/>
        </p:nvSpPr>
        <p:spPr>
          <a:xfrm>
            <a:off x="4631436"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|100⟩</a:t>
            </a:r>
            <a:endParaRPr lang="en-US" sz="1100" dirty="0"/>
          </a:p>
        </p:txBody>
      </p:sp>
      <p:sp>
        <p:nvSpPr>
          <p:cNvPr id="13" name="Card frame">
            <a:extLst>
              <a:ext uri="{C183D7F6-B498-43B3-948B-1728B52AA6E4}">
                <adec:decorative xmlns:adec="http://schemas.microsoft.com/office/drawing/2017/decorative" val="1"/>
              </a:ext>
            </a:extLst>
          </p:cNvPr>
          <p:cNvSpPr/>
          <p:nvPr/>
        </p:nvSpPr>
        <p:spPr>
          <a:xfrm>
            <a:off x="5618988"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14" name="Text 12"/>
          <p:cNvSpPr/>
          <p:nvPr/>
        </p:nvSpPr>
        <p:spPr>
          <a:xfrm>
            <a:off x="5618988"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|101⟩</a:t>
            </a:r>
            <a:endParaRPr lang="en-US" sz="1100" dirty="0"/>
          </a:p>
        </p:txBody>
      </p:sp>
      <p:sp>
        <p:nvSpPr>
          <p:cNvPr id="15" name="Card frame">
            <a:extLst>
              <a:ext uri="{C183D7F6-B498-43B3-948B-1728B52AA6E4}">
                <adec:decorative xmlns:adec="http://schemas.microsoft.com/office/drawing/2017/decorative" val="1"/>
              </a:ext>
            </a:extLst>
          </p:cNvPr>
          <p:cNvSpPr/>
          <p:nvPr/>
        </p:nvSpPr>
        <p:spPr>
          <a:xfrm>
            <a:off x="6606540"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16" name="Text 14"/>
          <p:cNvSpPr/>
          <p:nvPr/>
        </p:nvSpPr>
        <p:spPr>
          <a:xfrm>
            <a:off x="6606540"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|110⟩</a:t>
            </a:r>
            <a:endParaRPr lang="en-US" sz="1100" dirty="0"/>
          </a:p>
        </p:txBody>
      </p:sp>
      <p:sp>
        <p:nvSpPr>
          <p:cNvPr id="17" name="Card frame">
            <a:extLst>
              <a:ext uri="{C183D7F6-B498-43B3-948B-1728B52AA6E4}">
                <adec:decorative xmlns:adec="http://schemas.microsoft.com/office/drawing/2017/decorative" val="1"/>
              </a:ext>
            </a:extLst>
          </p:cNvPr>
          <p:cNvSpPr/>
          <p:nvPr/>
        </p:nvSpPr>
        <p:spPr>
          <a:xfrm>
            <a:off x="7594092" y="3712464"/>
            <a:ext cx="868680" cy="384048"/>
          </a:xfrm>
          <a:prstGeom prst="roundRect">
            <a:avLst>
              <a:gd name="adj" fmla="val 14286"/>
            </a:avLst>
          </a:prstGeom>
          <a:solidFill>
            <a:srgbClr val="F4F5FB"/>
          </a:solidFill>
          <a:ln w="15240">
            <a:solidFill>
              <a:srgbClr val="3730A3"/>
            </a:solidFill>
            <a:prstDash val="solid"/>
          </a:ln>
        </p:spPr>
        <p:txBody>
          <a:bodyPr/>
          <a:lstStyle/>
          <a:p>
            <a:endParaRPr lang="en-US"/>
          </a:p>
        </p:txBody>
      </p:sp>
      <p:sp>
        <p:nvSpPr>
          <p:cNvPr id="18" name="Text 16"/>
          <p:cNvSpPr/>
          <p:nvPr/>
        </p:nvSpPr>
        <p:spPr>
          <a:xfrm>
            <a:off x="7594092" y="3712464"/>
            <a:ext cx="868680" cy="384048"/>
          </a:xfrm>
          <a:prstGeom prst="rect">
            <a:avLst/>
          </a:prstGeom>
          <a:noFill/>
          <a:ln/>
        </p:spPr>
        <p:txBody>
          <a:bodyPr wrap="square" lIns="0" tIns="0" rIns="0" bIns="0" rtlCol="0" anchor="ctr"/>
          <a:lstStyle/>
          <a:p>
            <a:pPr marL="0" indent="0" algn="ctr">
              <a:buNone/>
            </a:pPr>
            <a:r>
              <a:rPr lang="en-US" sz="1100" b="1" dirty="0">
                <a:solidFill>
                  <a:srgbClr val="3730A3"/>
                </a:solidFill>
                <a:latin typeface="Georgia" pitchFamily="34" charset="0"/>
                <a:ea typeface="Georgia" pitchFamily="34" charset="-122"/>
                <a:cs typeface="Georgia" pitchFamily="34" charset="-120"/>
              </a:rPr>
              <a:t>|111⟩</a:t>
            </a:r>
            <a:endParaRPr lang="en-US" sz="1100" dirty="0"/>
          </a:p>
        </p:txBody>
      </p:sp>
      <p:sp>
        <p:nvSpPr>
          <p:cNvPr id="19" name="Card frame">
            <a:extLst>
              <a:ext uri="{C183D7F6-B498-43B3-948B-1728B52AA6E4}">
                <adec:decorative xmlns:adec="http://schemas.microsoft.com/office/drawing/2017/decorative" val="1"/>
              </a:ext>
            </a:extLst>
          </p:cNvPr>
          <p:cNvSpPr/>
          <p:nvPr/>
        </p:nvSpPr>
        <p:spPr>
          <a:xfrm>
            <a:off x="1106424" y="2916936"/>
            <a:ext cx="1005840" cy="384048"/>
          </a:xfrm>
          <a:prstGeom prst="roundRect">
            <a:avLst>
              <a:gd name="adj" fmla="val 14286"/>
            </a:avLst>
          </a:prstGeom>
          <a:solidFill>
            <a:srgbClr val="FFFFFF"/>
          </a:solidFill>
          <a:ln w="12700">
            <a:solidFill>
              <a:srgbClr val="D4D7DD"/>
            </a:solidFill>
            <a:prstDash val="solid"/>
          </a:ln>
        </p:spPr>
        <p:txBody>
          <a:bodyPr/>
          <a:lstStyle/>
          <a:p>
            <a:endParaRPr lang="en-US"/>
          </a:p>
        </p:txBody>
      </p:sp>
      <p:sp>
        <p:nvSpPr>
          <p:cNvPr id="20" name="Text 18"/>
          <p:cNvSpPr/>
          <p:nvPr/>
        </p:nvSpPr>
        <p:spPr>
          <a:xfrm>
            <a:off x="1106424" y="2916936"/>
            <a:ext cx="1005840" cy="384048"/>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00</a:t>
            </a:r>
            <a:endParaRPr lang="en-US" sz="1150" dirty="0"/>
          </a:p>
        </p:txBody>
      </p:sp>
      <p:sp>
        <p:nvSpPr>
          <p:cNvPr id="21" name="Card frame">
            <a:extLst>
              <a:ext uri="{C183D7F6-B498-43B3-948B-1728B52AA6E4}">
                <adec:decorative xmlns:adec="http://schemas.microsoft.com/office/drawing/2017/decorative" val="1"/>
              </a:ext>
            </a:extLst>
          </p:cNvPr>
          <p:cNvSpPr/>
          <p:nvPr/>
        </p:nvSpPr>
        <p:spPr>
          <a:xfrm>
            <a:off x="3081528" y="2916936"/>
            <a:ext cx="1005840" cy="384048"/>
          </a:xfrm>
          <a:prstGeom prst="roundRect">
            <a:avLst>
              <a:gd name="adj" fmla="val 14286"/>
            </a:avLst>
          </a:prstGeom>
          <a:solidFill>
            <a:srgbClr val="FFFFFF"/>
          </a:solidFill>
          <a:ln w="12700">
            <a:solidFill>
              <a:srgbClr val="D4D7DD"/>
            </a:solidFill>
            <a:prstDash val="solid"/>
          </a:ln>
        </p:spPr>
        <p:txBody>
          <a:bodyPr/>
          <a:lstStyle/>
          <a:p>
            <a:endParaRPr lang="en-US"/>
          </a:p>
        </p:txBody>
      </p:sp>
      <p:sp>
        <p:nvSpPr>
          <p:cNvPr id="22" name="Text 20"/>
          <p:cNvSpPr/>
          <p:nvPr/>
        </p:nvSpPr>
        <p:spPr>
          <a:xfrm>
            <a:off x="3081528" y="2916936"/>
            <a:ext cx="1005840" cy="384048"/>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01</a:t>
            </a:r>
            <a:endParaRPr lang="en-US" sz="1150" dirty="0"/>
          </a:p>
        </p:txBody>
      </p:sp>
      <p:sp>
        <p:nvSpPr>
          <p:cNvPr id="23" name="Card frame">
            <a:extLst>
              <a:ext uri="{C183D7F6-B498-43B3-948B-1728B52AA6E4}">
                <adec:decorative xmlns:adec="http://schemas.microsoft.com/office/drawing/2017/decorative" val="1"/>
              </a:ext>
            </a:extLst>
          </p:cNvPr>
          <p:cNvSpPr/>
          <p:nvPr/>
        </p:nvSpPr>
        <p:spPr>
          <a:xfrm>
            <a:off x="5056632" y="2916936"/>
            <a:ext cx="1005840" cy="384048"/>
          </a:xfrm>
          <a:prstGeom prst="roundRect">
            <a:avLst>
              <a:gd name="adj" fmla="val 14286"/>
            </a:avLst>
          </a:prstGeom>
          <a:solidFill>
            <a:srgbClr val="FFFFFF"/>
          </a:solidFill>
          <a:ln w="12700">
            <a:solidFill>
              <a:srgbClr val="D4D7DD"/>
            </a:solidFill>
            <a:prstDash val="solid"/>
          </a:ln>
        </p:spPr>
        <p:txBody>
          <a:bodyPr/>
          <a:lstStyle/>
          <a:p>
            <a:endParaRPr lang="en-US"/>
          </a:p>
        </p:txBody>
      </p:sp>
      <p:sp>
        <p:nvSpPr>
          <p:cNvPr id="24" name="Text 22"/>
          <p:cNvSpPr/>
          <p:nvPr/>
        </p:nvSpPr>
        <p:spPr>
          <a:xfrm>
            <a:off x="5056632" y="2916936"/>
            <a:ext cx="1005840" cy="384048"/>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10</a:t>
            </a:r>
            <a:endParaRPr lang="en-US" sz="1150" dirty="0"/>
          </a:p>
        </p:txBody>
      </p:sp>
      <p:sp>
        <p:nvSpPr>
          <p:cNvPr id="25" name="Card frame">
            <a:extLst>
              <a:ext uri="{C183D7F6-B498-43B3-948B-1728B52AA6E4}">
                <adec:decorative xmlns:adec="http://schemas.microsoft.com/office/drawing/2017/decorative" val="1"/>
              </a:ext>
            </a:extLst>
          </p:cNvPr>
          <p:cNvSpPr/>
          <p:nvPr/>
        </p:nvSpPr>
        <p:spPr>
          <a:xfrm>
            <a:off x="7031736" y="2916936"/>
            <a:ext cx="1005840" cy="384048"/>
          </a:xfrm>
          <a:prstGeom prst="roundRect">
            <a:avLst>
              <a:gd name="adj" fmla="val 14286"/>
            </a:avLst>
          </a:prstGeom>
          <a:solidFill>
            <a:srgbClr val="FFFFFF"/>
          </a:solidFill>
          <a:ln w="12700">
            <a:solidFill>
              <a:srgbClr val="D4D7DD"/>
            </a:solidFill>
            <a:prstDash val="solid"/>
          </a:ln>
        </p:spPr>
        <p:txBody>
          <a:bodyPr/>
          <a:lstStyle/>
          <a:p>
            <a:endParaRPr lang="en-US"/>
          </a:p>
        </p:txBody>
      </p:sp>
      <p:sp>
        <p:nvSpPr>
          <p:cNvPr id="26" name="Text 24"/>
          <p:cNvSpPr/>
          <p:nvPr/>
        </p:nvSpPr>
        <p:spPr>
          <a:xfrm>
            <a:off x="7031736" y="2916936"/>
            <a:ext cx="1005840" cy="384048"/>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11</a:t>
            </a:r>
            <a:endParaRPr lang="en-US" sz="1150" dirty="0"/>
          </a:p>
        </p:txBody>
      </p:sp>
      <p:sp>
        <p:nvSpPr>
          <p:cNvPr id="27" name="Card frame">
            <a:extLst>
              <a:ext uri="{C183D7F6-B498-43B3-948B-1728B52AA6E4}">
                <adec:decorative xmlns:adec="http://schemas.microsoft.com/office/drawing/2017/decorative" val="1"/>
              </a:ext>
            </a:extLst>
          </p:cNvPr>
          <p:cNvSpPr/>
          <p:nvPr/>
        </p:nvSpPr>
        <p:spPr>
          <a:xfrm>
            <a:off x="2139696" y="2121408"/>
            <a:ext cx="914400" cy="384048"/>
          </a:xfrm>
          <a:prstGeom prst="roundRect">
            <a:avLst>
              <a:gd name="adj" fmla="val 14286"/>
            </a:avLst>
          </a:prstGeom>
          <a:solidFill>
            <a:srgbClr val="FFFFFF"/>
          </a:solidFill>
          <a:ln w="12700">
            <a:solidFill>
              <a:srgbClr val="D4D7DD"/>
            </a:solidFill>
            <a:prstDash val="solid"/>
          </a:ln>
        </p:spPr>
        <p:txBody>
          <a:bodyPr/>
          <a:lstStyle/>
          <a:p>
            <a:endParaRPr lang="en-US"/>
          </a:p>
        </p:txBody>
      </p:sp>
      <p:sp>
        <p:nvSpPr>
          <p:cNvPr id="28" name="Text 26"/>
          <p:cNvSpPr/>
          <p:nvPr/>
        </p:nvSpPr>
        <p:spPr>
          <a:xfrm>
            <a:off x="2139696" y="2121408"/>
            <a:ext cx="914400" cy="384048"/>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0</a:t>
            </a:r>
            <a:endParaRPr lang="en-US" sz="1150" dirty="0"/>
          </a:p>
        </p:txBody>
      </p:sp>
      <p:sp>
        <p:nvSpPr>
          <p:cNvPr id="29" name="Card frame">
            <a:extLst>
              <a:ext uri="{C183D7F6-B498-43B3-948B-1728B52AA6E4}">
                <adec:decorative xmlns:adec="http://schemas.microsoft.com/office/drawing/2017/decorative" val="1"/>
              </a:ext>
            </a:extLst>
          </p:cNvPr>
          <p:cNvSpPr/>
          <p:nvPr/>
        </p:nvSpPr>
        <p:spPr>
          <a:xfrm>
            <a:off x="6089904" y="2121408"/>
            <a:ext cx="914400" cy="384048"/>
          </a:xfrm>
          <a:prstGeom prst="roundRect">
            <a:avLst>
              <a:gd name="adj" fmla="val 14286"/>
            </a:avLst>
          </a:prstGeom>
          <a:solidFill>
            <a:srgbClr val="FFFFFF"/>
          </a:solidFill>
          <a:ln w="12700">
            <a:solidFill>
              <a:srgbClr val="D4D7DD"/>
            </a:solidFill>
            <a:prstDash val="solid"/>
          </a:ln>
        </p:spPr>
        <p:txBody>
          <a:bodyPr/>
          <a:lstStyle/>
          <a:p>
            <a:endParaRPr lang="en-US"/>
          </a:p>
        </p:txBody>
      </p:sp>
      <p:sp>
        <p:nvSpPr>
          <p:cNvPr id="30" name="Text 28"/>
          <p:cNvSpPr/>
          <p:nvPr/>
        </p:nvSpPr>
        <p:spPr>
          <a:xfrm>
            <a:off x="6089904" y="2121408"/>
            <a:ext cx="914400" cy="384048"/>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1</a:t>
            </a:r>
            <a:endParaRPr lang="en-US" sz="1150" dirty="0"/>
          </a:p>
        </p:txBody>
      </p:sp>
      <p:sp>
        <p:nvSpPr>
          <p:cNvPr id="31" name="Card frame">
            <a:extLst>
              <a:ext uri="{C183D7F6-B498-43B3-948B-1728B52AA6E4}">
                <adec:decorative xmlns:adec="http://schemas.microsoft.com/office/drawing/2017/decorative" val="1"/>
              </a:ext>
            </a:extLst>
          </p:cNvPr>
          <p:cNvSpPr/>
          <p:nvPr/>
        </p:nvSpPr>
        <p:spPr>
          <a:xfrm>
            <a:off x="3794760" y="1325880"/>
            <a:ext cx="1554480" cy="384048"/>
          </a:xfrm>
          <a:prstGeom prst="roundRect">
            <a:avLst>
              <a:gd name="adj" fmla="val 14286"/>
            </a:avLst>
          </a:prstGeom>
          <a:solidFill>
            <a:srgbClr val="FFFFFF"/>
          </a:solidFill>
          <a:ln w="12700">
            <a:solidFill>
              <a:srgbClr val="D4D7DD"/>
            </a:solidFill>
            <a:prstDash val="solid"/>
          </a:ln>
        </p:spPr>
        <p:txBody>
          <a:bodyPr/>
          <a:lstStyle/>
          <a:p>
            <a:endParaRPr lang="en-US"/>
          </a:p>
        </p:txBody>
      </p:sp>
      <p:sp>
        <p:nvSpPr>
          <p:cNvPr id="32" name="Text 30"/>
          <p:cNvSpPr/>
          <p:nvPr/>
        </p:nvSpPr>
        <p:spPr>
          <a:xfrm>
            <a:off x="3794760" y="1325880"/>
            <a:ext cx="1554480" cy="384048"/>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3 qubits</a:t>
            </a:r>
            <a:endParaRPr lang="en-US" sz="1150" dirty="0"/>
          </a:p>
        </p:txBody>
      </p:sp>
      <p:sp>
        <p:nvSpPr>
          <p:cNvPr id="33" name="Connector">
            <a:extLst>
              <a:ext uri="{C183D7F6-B498-43B3-948B-1728B52AA6E4}">
                <adec:decorative xmlns:adec="http://schemas.microsoft.com/office/drawing/2017/decorative" val="1"/>
              </a:ext>
            </a:extLst>
          </p:cNvPr>
          <p:cNvSpPr/>
          <p:nvPr/>
        </p:nvSpPr>
        <p:spPr>
          <a:xfrm flipH="1">
            <a:off x="2596896" y="1709928"/>
            <a:ext cx="1975104" cy="411480"/>
          </a:xfrm>
          <a:prstGeom prst="line">
            <a:avLst/>
          </a:prstGeom>
          <a:noFill/>
          <a:ln w="15875">
            <a:solidFill>
              <a:srgbClr val="3730A3"/>
            </a:solidFill>
            <a:prstDash val="solid"/>
          </a:ln>
        </p:spPr>
        <p:txBody>
          <a:bodyPr/>
          <a:lstStyle/>
          <a:p>
            <a:endParaRPr lang="en-US"/>
          </a:p>
        </p:txBody>
      </p:sp>
      <p:sp>
        <p:nvSpPr>
          <p:cNvPr id="34" name="Connector">
            <a:extLst>
              <a:ext uri="{C183D7F6-B498-43B3-948B-1728B52AA6E4}">
                <adec:decorative xmlns:adec="http://schemas.microsoft.com/office/drawing/2017/decorative" val="1"/>
              </a:ext>
            </a:extLst>
          </p:cNvPr>
          <p:cNvSpPr/>
          <p:nvPr/>
        </p:nvSpPr>
        <p:spPr>
          <a:xfrm>
            <a:off x="4572000" y="1709928"/>
            <a:ext cx="1975104" cy="411480"/>
          </a:xfrm>
          <a:prstGeom prst="line">
            <a:avLst/>
          </a:prstGeom>
          <a:noFill/>
          <a:ln w="15875">
            <a:solidFill>
              <a:srgbClr val="3730A3"/>
            </a:solidFill>
            <a:prstDash val="solid"/>
          </a:ln>
        </p:spPr>
        <p:txBody>
          <a:bodyPr/>
          <a:lstStyle/>
          <a:p>
            <a:endParaRPr lang="en-US"/>
          </a:p>
        </p:txBody>
      </p:sp>
      <p:sp>
        <p:nvSpPr>
          <p:cNvPr id="35" name="Connector">
            <a:extLst>
              <a:ext uri="{C183D7F6-B498-43B3-948B-1728B52AA6E4}">
                <adec:decorative xmlns:adec="http://schemas.microsoft.com/office/drawing/2017/decorative" val="1"/>
              </a:ext>
            </a:extLst>
          </p:cNvPr>
          <p:cNvSpPr/>
          <p:nvPr/>
        </p:nvSpPr>
        <p:spPr>
          <a:xfrm flipH="1">
            <a:off x="1609344" y="2505456"/>
            <a:ext cx="987552" cy="411480"/>
          </a:xfrm>
          <a:prstGeom prst="line">
            <a:avLst/>
          </a:prstGeom>
          <a:noFill/>
          <a:ln w="15875">
            <a:solidFill>
              <a:srgbClr val="5B6070"/>
            </a:solidFill>
            <a:prstDash val="solid"/>
          </a:ln>
        </p:spPr>
        <p:txBody>
          <a:bodyPr/>
          <a:lstStyle/>
          <a:p>
            <a:endParaRPr lang="en-US"/>
          </a:p>
        </p:txBody>
      </p:sp>
      <p:sp>
        <p:nvSpPr>
          <p:cNvPr id="36" name="Connector">
            <a:extLst>
              <a:ext uri="{C183D7F6-B498-43B3-948B-1728B52AA6E4}">
                <adec:decorative xmlns:adec="http://schemas.microsoft.com/office/drawing/2017/decorative" val="1"/>
              </a:ext>
            </a:extLst>
          </p:cNvPr>
          <p:cNvSpPr/>
          <p:nvPr/>
        </p:nvSpPr>
        <p:spPr>
          <a:xfrm>
            <a:off x="2596896" y="2505456"/>
            <a:ext cx="987552" cy="411480"/>
          </a:xfrm>
          <a:prstGeom prst="line">
            <a:avLst/>
          </a:prstGeom>
          <a:noFill/>
          <a:ln w="15875">
            <a:solidFill>
              <a:srgbClr val="5B6070"/>
            </a:solidFill>
            <a:prstDash val="solid"/>
          </a:ln>
        </p:spPr>
        <p:txBody>
          <a:bodyPr/>
          <a:lstStyle/>
          <a:p>
            <a:endParaRPr lang="en-US"/>
          </a:p>
        </p:txBody>
      </p:sp>
      <p:sp>
        <p:nvSpPr>
          <p:cNvPr id="37" name="Connector">
            <a:extLst>
              <a:ext uri="{C183D7F6-B498-43B3-948B-1728B52AA6E4}">
                <adec:decorative xmlns:adec="http://schemas.microsoft.com/office/drawing/2017/decorative" val="1"/>
              </a:ext>
            </a:extLst>
          </p:cNvPr>
          <p:cNvSpPr/>
          <p:nvPr/>
        </p:nvSpPr>
        <p:spPr>
          <a:xfrm flipH="1">
            <a:off x="5559552" y="2505456"/>
            <a:ext cx="987552" cy="411480"/>
          </a:xfrm>
          <a:prstGeom prst="line">
            <a:avLst/>
          </a:prstGeom>
          <a:noFill/>
          <a:ln w="15875">
            <a:solidFill>
              <a:srgbClr val="5B6070"/>
            </a:solidFill>
            <a:prstDash val="solid"/>
          </a:ln>
        </p:spPr>
        <p:txBody>
          <a:bodyPr/>
          <a:lstStyle/>
          <a:p>
            <a:endParaRPr lang="en-US"/>
          </a:p>
        </p:txBody>
      </p:sp>
      <p:sp>
        <p:nvSpPr>
          <p:cNvPr id="38" name="Connector">
            <a:extLst>
              <a:ext uri="{C183D7F6-B498-43B3-948B-1728B52AA6E4}">
                <adec:decorative xmlns:adec="http://schemas.microsoft.com/office/drawing/2017/decorative" val="1"/>
              </a:ext>
            </a:extLst>
          </p:cNvPr>
          <p:cNvSpPr/>
          <p:nvPr/>
        </p:nvSpPr>
        <p:spPr>
          <a:xfrm>
            <a:off x="6547104" y="2505456"/>
            <a:ext cx="987552" cy="411480"/>
          </a:xfrm>
          <a:prstGeom prst="line">
            <a:avLst/>
          </a:prstGeom>
          <a:noFill/>
          <a:ln w="15875">
            <a:solidFill>
              <a:srgbClr val="5B6070"/>
            </a:solidFill>
            <a:prstDash val="solid"/>
          </a:ln>
        </p:spPr>
        <p:txBody>
          <a:bodyPr/>
          <a:lstStyle/>
          <a:p>
            <a:endParaRPr lang="en-US"/>
          </a:p>
        </p:txBody>
      </p:sp>
      <p:sp>
        <p:nvSpPr>
          <p:cNvPr id="39" name="Connector">
            <a:extLst>
              <a:ext uri="{C183D7F6-B498-43B3-948B-1728B52AA6E4}">
                <adec:decorative xmlns:adec="http://schemas.microsoft.com/office/drawing/2017/decorative" val="1"/>
              </a:ext>
            </a:extLst>
          </p:cNvPr>
          <p:cNvSpPr/>
          <p:nvPr/>
        </p:nvSpPr>
        <p:spPr>
          <a:xfrm flipH="1">
            <a:off x="1115568" y="3300984"/>
            <a:ext cx="493776" cy="411480"/>
          </a:xfrm>
          <a:prstGeom prst="line">
            <a:avLst/>
          </a:prstGeom>
          <a:noFill/>
          <a:ln w="15875">
            <a:solidFill>
              <a:srgbClr val="5B6070"/>
            </a:solidFill>
            <a:prstDash val="solid"/>
          </a:ln>
        </p:spPr>
        <p:txBody>
          <a:bodyPr/>
          <a:lstStyle/>
          <a:p>
            <a:endParaRPr lang="en-US"/>
          </a:p>
        </p:txBody>
      </p:sp>
      <p:sp>
        <p:nvSpPr>
          <p:cNvPr id="40" name="Connector">
            <a:extLst>
              <a:ext uri="{C183D7F6-B498-43B3-948B-1728B52AA6E4}">
                <adec:decorative xmlns:adec="http://schemas.microsoft.com/office/drawing/2017/decorative" val="1"/>
              </a:ext>
            </a:extLst>
          </p:cNvPr>
          <p:cNvSpPr/>
          <p:nvPr/>
        </p:nvSpPr>
        <p:spPr>
          <a:xfrm>
            <a:off x="1609344" y="3300984"/>
            <a:ext cx="493776" cy="411480"/>
          </a:xfrm>
          <a:prstGeom prst="line">
            <a:avLst/>
          </a:prstGeom>
          <a:noFill/>
          <a:ln w="15875">
            <a:solidFill>
              <a:srgbClr val="5B6070"/>
            </a:solidFill>
            <a:prstDash val="solid"/>
          </a:ln>
        </p:spPr>
        <p:txBody>
          <a:bodyPr/>
          <a:lstStyle/>
          <a:p>
            <a:endParaRPr lang="en-US"/>
          </a:p>
        </p:txBody>
      </p:sp>
      <p:sp>
        <p:nvSpPr>
          <p:cNvPr id="41" name="Connector">
            <a:extLst>
              <a:ext uri="{C183D7F6-B498-43B3-948B-1728B52AA6E4}">
                <adec:decorative xmlns:adec="http://schemas.microsoft.com/office/drawing/2017/decorative" val="1"/>
              </a:ext>
            </a:extLst>
          </p:cNvPr>
          <p:cNvSpPr/>
          <p:nvPr/>
        </p:nvSpPr>
        <p:spPr>
          <a:xfrm flipH="1">
            <a:off x="3090672" y="3300984"/>
            <a:ext cx="493776" cy="411480"/>
          </a:xfrm>
          <a:prstGeom prst="line">
            <a:avLst/>
          </a:prstGeom>
          <a:noFill/>
          <a:ln w="15875">
            <a:solidFill>
              <a:srgbClr val="5B6070"/>
            </a:solidFill>
            <a:prstDash val="solid"/>
          </a:ln>
        </p:spPr>
        <p:txBody>
          <a:bodyPr/>
          <a:lstStyle/>
          <a:p>
            <a:endParaRPr lang="en-US"/>
          </a:p>
        </p:txBody>
      </p:sp>
      <p:sp>
        <p:nvSpPr>
          <p:cNvPr id="42" name="Connector">
            <a:extLst>
              <a:ext uri="{C183D7F6-B498-43B3-948B-1728B52AA6E4}">
                <adec:decorative xmlns:adec="http://schemas.microsoft.com/office/drawing/2017/decorative" val="1"/>
              </a:ext>
            </a:extLst>
          </p:cNvPr>
          <p:cNvSpPr/>
          <p:nvPr/>
        </p:nvSpPr>
        <p:spPr>
          <a:xfrm>
            <a:off x="3584448" y="3300984"/>
            <a:ext cx="493776" cy="411480"/>
          </a:xfrm>
          <a:prstGeom prst="line">
            <a:avLst/>
          </a:prstGeom>
          <a:noFill/>
          <a:ln w="15875">
            <a:solidFill>
              <a:srgbClr val="5B6070"/>
            </a:solidFill>
            <a:prstDash val="solid"/>
          </a:ln>
        </p:spPr>
        <p:txBody>
          <a:bodyPr/>
          <a:lstStyle/>
          <a:p>
            <a:endParaRPr lang="en-US"/>
          </a:p>
        </p:txBody>
      </p:sp>
      <p:sp>
        <p:nvSpPr>
          <p:cNvPr id="43" name="Connector">
            <a:extLst>
              <a:ext uri="{C183D7F6-B498-43B3-948B-1728B52AA6E4}">
                <adec:decorative xmlns:adec="http://schemas.microsoft.com/office/drawing/2017/decorative" val="1"/>
              </a:ext>
            </a:extLst>
          </p:cNvPr>
          <p:cNvSpPr/>
          <p:nvPr/>
        </p:nvSpPr>
        <p:spPr>
          <a:xfrm flipH="1">
            <a:off x="5065776" y="3300984"/>
            <a:ext cx="493776" cy="411480"/>
          </a:xfrm>
          <a:prstGeom prst="line">
            <a:avLst/>
          </a:prstGeom>
          <a:noFill/>
          <a:ln w="15875">
            <a:solidFill>
              <a:srgbClr val="5B6070"/>
            </a:solidFill>
            <a:prstDash val="solid"/>
          </a:ln>
        </p:spPr>
        <p:txBody>
          <a:bodyPr/>
          <a:lstStyle/>
          <a:p>
            <a:endParaRPr lang="en-US"/>
          </a:p>
        </p:txBody>
      </p:sp>
      <p:sp>
        <p:nvSpPr>
          <p:cNvPr id="44" name="Connector">
            <a:extLst>
              <a:ext uri="{C183D7F6-B498-43B3-948B-1728B52AA6E4}">
                <adec:decorative xmlns:adec="http://schemas.microsoft.com/office/drawing/2017/decorative" val="1"/>
              </a:ext>
            </a:extLst>
          </p:cNvPr>
          <p:cNvSpPr/>
          <p:nvPr/>
        </p:nvSpPr>
        <p:spPr>
          <a:xfrm>
            <a:off x="5559552" y="3300984"/>
            <a:ext cx="493776" cy="411480"/>
          </a:xfrm>
          <a:prstGeom prst="line">
            <a:avLst/>
          </a:prstGeom>
          <a:noFill/>
          <a:ln w="15875">
            <a:solidFill>
              <a:srgbClr val="5B6070"/>
            </a:solidFill>
            <a:prstDash val="solid"/>
          </a:ln>
        </p:spPr>
        <p:txBody>
          <a:bodyPr/>
          <a:lstStyle/>
          <a:p>
            <a:endParaRPr lang="en-US"/>
          </a:p>
        </p:txBody>
      </p:sp>
      <p:sp>
        <p:nvSpPr>
          <p:cNvPr id="45" name="Connector">
            <a:extLst>
              <a:ext uri="{C183D7F6-B498-43B3-948B-1728B52AA6E4}">
                <adec:decorative xmlns:adec="http://schemas.microsoft.com/office/drawing/2017/decorative" val="1"/>
              </a:ext>
            </a:extLst>
          </p:cNvPr>
          <p:cNvSpPr/>
          <p:nvPr/>
        </p:nvSpPr>
        <p:spPr>
          <a:xfrm flipH="1">
            <a:off x="7040880" y="3300984"/>
            <a:ext cx="493776" cy="411480"/>
          </a:xfrm>
          <a:prstGeom prst="line">
            <a:avLst/>
          </a:prstGeom>
          <a:noFill/>
          <a:ln w="15875">
            <a:solidFill>
              <a:srgbClr val="5B6070"/>
            </a:solidFill>
            <a:prstDash val="solid"/>
          </a:ln>
        </p:spPr>
        <p:txBody>
          <a:bodyPr/>
          <a:lstStyle/>
          <a:p>
            <a:endParaRPr lang="en-US"/>
          </a:p>
        </p:txBody>
      </p:sp>
      <p:sp>
        <p:nvSpPr>
          <p:cNvPr id="46" name="Connector">
            <a:extLst>
              <a:ext uri="{C183D7F6-B498-43B3-948B-1728B52AA6E4}">
                <adec:decorative xmlns:adec="http://schemas.microsoft.com/office/drawing/2017/decorative" val="1"/>
              </a:ext>
            </a:extLst>
          </p:cNvPr>
          <p:cNvSpPr/>
          <p:nvPr/>
        </p:nvSpPr>
        <p:spPr>
          <a:xfrm>
            <a:off x="7534656" y="3300984"/>
            <a:ext cx="493776" cy="411480"/>
          </a:xfrm>
          <a:prstGeom prst="line">
            <a:avLst/>
          </a:prstGeom>
          <a:noFill/>
          <a:ln w="15875">
            <a:solidFill>
              <a:srgbClr val="5B6070"/>
            </a:solidFill>
            <a:prstDash val="solid"/>
          </a:ln>
        </p:spPr>
        <p:txBody>
          <a:bodyPr/>
          <a:lstStyle/>
          <a:p>
            <a:endParaRPr lang="en-US"/>
          </a:p>
        </p:txBody>
      </p:sp>
      <p:sp>
        <p:nvSpPr>
          <p:cNvPr id="47" name="Text 45"/>
          <p:cNvSpPr/>
          <p:nvPr/>
        </p:nvSpPr>
        <p:spPr>
          <a:xfrm>
            <a:off x="640080" y="4251960"/>
            <a:ext cx="7863840" cy="32004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Each additional qubit doubles the number of basis states — count the leaves.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Section checkpoint</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548640" y="1508760"/>
            <a:ext cx="2468880" cy="1783080"/>
          </a:xfrm>
          <a:prstGeom prst="roundRect">
            <a:avLst>
              <a:gd name="adj" fmla="val 3077"/>
            </a:avLst>
          </a:prstGeom>
          <a:solidFill>
            <a:srgbClr val="FFFFFF"/>
          </a:solidFill>
          <a:ln w="12700">
            <a:solidFill>
              <a:srgbClr val="D4D7DD"/>
            </a:solidFill>
            <a:prstDash val="solid"/>
          </a:ln>
        </p:spPr>
        <p:txBody>
          <a:bodyPr/>
          <a:lstStyle/>
          <a:p>
            <a:endParaRPr lang="en-US"/>
          </a:p>
        </p:txBody>
      </p:sp>
      <p:sp>
        <p:nvSpPr>
          <p:cNvPr id="4" name="Question number badge">
            <a:extLst>
              <a:ext uri="{C183D7F6-B498-43B3-948B-1728B52AA6E4}">
                <adec:decorative xmlns:adec="http://schemas.microsoft.com/office/drawing/2017/decorative" val="1"/>
              </a:ext>
            </a:extLst>
          </p:cNvPr>
          <p:cNvSpPr/>
          <p:nvPr/>
        </p:nvSpPr>
        <p:spPr>
          <a:xfrm>
            <a:off x="749808" y="1719072"/>
            <a:ext cx="384048" cy="384048"/>
          </a:xfrm>
          <a:prstGeom prst="ellipse">
            <a:avLst/>
          </a:prstGeom>
          <a:solidFill>
            <a:srgbClr val="F4F5FB"/>
          </a:solidFill>
          <a:ln w="12700">
            <a:solidFill>
              <a:srgbClr val="3730A3"/>
            </a:solidFill>
            <a:prstDash val="solid"/>
          </a:ln>
        </p:spPr>
        <p:txBody>
          <a:bodyPr/>
          <a:lstStyle/>
          <a:p>
            <a:endParaRPr lang="en-US"/>
          </a:p>
        </p:txBody>
      </p:sp>
      <p:sp>
        <p:nvSpPr>
          <p:cNvPr id="5" name="Text 3"/>
          <p:cNvSpPr/>
          <p:nvPr/>
        </p:nvSpPr>
        <p:spPr>
          <a:xfrm>
            <a:off x="749808" y="1719072"/>
            <a:ext cx="384048" cy="384048"/>
          </a:xfrm>
          <a:prstGeom prst="rect">
            <a:avLst/>
          </a:prstGeom>
          <a:noFill/>
          <a:ln/>
        </p:spPr>
        <p:txBody>
          <a:bodyPr wrap="square" lIns="0" tIns="0" rIns="0" bIns="0" rtlCol="0" anchor="ctr"/>
          <a:lstStyle/>
          <a:p>
            <a:pPr marL="0" indent="0" algn="ctr">
              <a:buNone/>
            </a:pPr>
            <a:r>
              <a:rPr lang="en-US" sz="1200" b="1" dirty="0">
                <a:solidFill>
                  <a:srgbClr val="3730A3"/>
                </a:solidFill>
                <a:latin typeface="Georgia" pitchFamily="34" charset="0"/>
                <a:ea typeface="Georgia" pitchFamily="34" charset="-122"/>
                <a:cs typeface="Georgia" pitchFamily="34" charset="-120"/>
              </a:rPr>
              <a:t>1</a:t>
            </a:r>
            <a:endParaRPr lang="en-US" sz="1200" dirty="0"/>
          </a:p>
        </p:txBody>
      </p:sp>
      <p:sp>
        <p:nvSpPr>
          <p:cNvPr id="6" name="Text 4"/>
          <p:cNvSpPr/>
          <p:nvPr/>
        </p:nvSpPr>
        <p:spPr>
          <a:xfrm>
            <a:off x="749808" y="2240280"/>
            <a:ext cx="2066544" cy="914400"/>
          </a:xfrm>
          <a:prstGeom prst="rect">
            <a:avLst/>
          </a:prstGeom>
          <a:noFill/>
          <a:ln/>
        </p:spPr>
        <p:txBody>
          <a:bodyPr wrap="square" lIns="0" tIns="0" rIns="0" bIns="0" rtlCol="0" anchor="ctr"/>
          <a:lstStyle/>
          <a:p>
            <a:pPr marL="0" indent="0">
              <a:buNone/>
            </a:pPr>
            <a:r>
              <a:rPr lang="en-US" sz="1400" dirty="0">
                <a:solidFill>
                  <a:srgbClr val="1A1A2E"/>
                </a:solidFill>
                <a:latin typeface="Georgia" pitchFamily="34" charset="0"/>
                <a:ea typeface="Georgia" pitchFamily="34" charset="-122"/>
                <a:cs typeface="Georgia" pitchFamily="34" charset="-120"/>
              </a:rPr>
              <a:t>Why does the dimension become 2ⁿ?</a:t>
            </a:r>
            <a:endParaRPr lang="en-US" sz="1400" dirty="0"/>
          </a:p>
        </p:txBody>
      </p:sp>
      <p:sp>
        <p:nvSpPr>
          <p:cNvPr id="7" name="Card frame">
            <a:extLst>
              <a:ext uri="{C183D7F6-B498-43B3-948B-1728B52AA6E4}">
                <adec:decorative xmlns:adec="http://schemas.microsoft.com/office/drawing/2017/decorative" val="1"/>
              </a:ext>
            </a:extLst>
          </p:cNvPr>
          <p:cNvSpPr/>
          <p:nvPr/>
        </p:nvSpPr>
        <p:spPr>
          <a:xfrm>
            <a:off x="3337560" y="1508760"/>
            <a:ext cx="2468880" cy="1783080"/>
          </a:xfrm>
          <a:prstGeom prst="roundRect">
            <a:avLst>
              <a:gd name="adj" fmla="val 3077"/>
            </a:avLst>
          </a:prstGeom>
          <a:solidFill>
            <a:srgbClr val="FFFFFF"/>
          </a:solidFill>
          <a:ln w="12700">
            <a:solidFill>
              <a:srgbClr val="D4D7DD"/>
            </a:solidFill>
            <a:prstDash val="solid"/>
          </a:ln>
        </p:spPr>
        <p:txBody>
          <a:bodyPr/>
          <a:lstStyle/>
          <a:p>
            <a:endParaRPr lang="en-US"/>
          </a:p>
        </p:txBody>
      </p:sp>
      <p:sp>
        <p:nvSpPr>
          <p:cNvPr id="8" name="Question number badge">
            <a:extLst>
              <a:ext uri="{C183D7F6-B498-43B3-948B-1728B52AA6E4}">
                <adec:decorative xmlns:adec="http://schemas.microsoft.com/office/drawing/2017/decorative" val="1"/>
              </a:ext>
            </a:extLst>
          </p:cNvPr>
          <p:cNvSpPr/>
          <p:nvPr/>
        </p:nvSpPr>
        <p:spPr>
          <a:xfrm>
            <a:off x="3538728" y="1719072"/>
            <a:ext cx="384048" cy="384048"/>
          </a:xfrm>
          <a:prstGeom prst="ellipse">
            <a:avLst/>
          </a:prstGeom>
          <a:solidFill>
            <a:srgbClr val="F4F5FB"/>
          </a:solidFill>
          <a:ln w="12700">
            <a:solidFill>
              <a:srgbClr val="3730A3"/>
            </a:solidFill>
            <a:prstDash val="solid"/>
          </a:ln>
        </p:spPr>
        <p:txBody>
          <a:bodyPr/>
          <a:lstStyle/>
          <a:p>
            <a:endParaRPr lang="en-US"/>
          </a:p>
        </p:txBody>
      </p:sp>
      <p:sp>
        <p:nvSpPr>
          <p:cNvPr id="9" name="Text 7"/>
          <p:cNvSpPr/>
          <p:nvPr/>
        </p:nvSpPr>
        <p:spPr>
          <a:xfrm>
            <a:off x="3538728" y="1719072"/>
            <a:ext cx="384048" cy="384048"/>
          </a:xfrm>
          <a:prstGeom prst="rect">
            <a:avLst/>
          </a:prstGeom>
          <a:noFill/>
          <a:ln/>
        </p:spPr>
        <p:txBody>
          <a:bodyPr wrap="square" lIns="0" tIns="0" rIns="0" bIns="0" rtlCol="0" anchor="ctr"/>
          <a:lstStyle/>
          <a:p>
            <a:pPr marL="0" indent="0" algn="ctr">
              <a:buNone/>
            </a:pPr>
            <a:r>
              <a:rPr lang="en-US" sz="1200" b="1" dirty="0">
                <a:solidFill>
                  <a:srgbClr val="3730A3"/>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3538728" y="2240280"/>
            <a:ext cx="2066544" cy="914400"/>
          </a:xfrm>
          <a:prstGeom prst="rect">
            <a:avLst/>
          </a:prstGeom>
          <a:noFill/>
          <a:ln/>
        </p:spPr>
        <p:txBody>
          <a:bodyPr wrap="square" lIns="0" tIns="0" rIns="0" bIns="0" rtlCol="0" anchor="ctr"/>
          <a:lstStyle/>
          <a:p>
            <a:pPr marL="0" indent="0">
              <a:buNone/>
            </a:pPr>
            <a:r>
              <a:rPr lang="en-US" sz="1400" dirty="0">
                <a:solidFill>
                  <a:srgbClr val="1A1A2E"/>
                </a:solidFill>
                <a:latin typeface="Georgia" pitchFamily="34" charset="0"/>
                <a:ea typeface="Georgia" pitchFamily="34" charset="-122"/>
                <a:cs typeface="Georgia" pitchFamily="34" charset="-120"/>
              </a:rPr>
              <a:t>What is the difference between ⊕ and ⊗?</a:t>
            </a:r>
            <a:endParaRPr lang="en-US" sz="1400" dirty="0"/>
          </a:p>
        </p:txBody>
      </p:sp>
      <p:sp>
        <p:nvSpPr>
          <p:cNvPr id="11" name="Card frame">
            <a:extLst>
              <a:ext uri="{C183D7F6-B498-43B3-948B-1728B52AA6E4}">
                <adec:decorative xmlns:adec="http://schemas.microsoft.com/office/drawing/2017/decorative" val="1"/>
              </a:ext>
            </a:extLst>
          </p:cNvPr>
          <p:cNvSpPr/>
          <p:nvPr/>
        </p:nvSpPr>
        <p:spPr>
          <a:xfrm>
            <a:off x="6126480" y="1508760"/>
            <a:ext cx="2468880" cy="1783080"/>
          </a:xfrm>
          <a:prstGeom prst="roundRect">
            <a:avLst>
              <a:gd name="adj" fmla="val 3077"/>
            </a:avLst>
          </a:prstGeom>
          <a:solidFill>
            <a:srgbClr val="FFFFFF"/>
          </a:solidFill>
          <a:ln w="12700">
            <a:solidFill>
              <a:srgbClr val="D4D7DD"/>
            </a:solidFill>
            <a:prstDash val="solid"/>
          </a:ln>
        </p:spPr>
        <p:txBody>
          <a:bodyPr/>
          <a:lstStyle/>
          <a:p>
            <a:endParaRPr lang="en-US"/>
          </a:p>
        </p:txBody>
      </p:sp>
      <p:sp>
        <p:nvSpPr>
          <p:cNvPr id="12" name="Question number badge">
            <a:extLst>
              <a:ext uri="{C183D7F6-B498-43B3-948B-1728B52AA6E4}">
                <adec:decorative xmlns:adec="http://schemas.microsoft.com/office/drawing/2017/decorative" val="1"/>
              </a:ext>
            </a:extLst>
          </p:cNvPr>
          <p:cNvSpPr/>
          <p:nvPr/>
        </p:nvSpPr>
        <p:spPr>
          <a:xfrm>
            <a:off x="6327648" y="1719072"/>
            <a:ext cx="384048" cy="384048"/>
          </a:xfrm>
          <a:prstGeom prst="ellipse">
            <a:avLst/>
          </a:prstGeom>
          <a:solidFill>
            <a:srgbClr val="F4F5FB"/>
          </a:solidFill>
          <a:ln w="12700">
            <a:solidFill>
              <a:srgbClr val="3730A3"/>
            </a:solidFill>
            <a:prstDash val="solid"/>
          </a:ln>
        </p:spPr>
        <p:txBody>
          <a:bodyPr/>
          <a:lstStyle/>
          <a:p>
            <a:endParaRPr lang="en-US"/>
          </a:p>
        </p:txBody>
      </p:sp>
      <p:sp>
        <p:nvSpPr>
          <p:cNvPr id="13" name="Text 11"/>
          <p:cNvSpPr/>
          <p:nvPr/>
        </p:nvSpPr>
        <p:spPr>
          <a:xfrm>
            <a:off x="6327648" y="1719072"/>
            <a:ext cx="384048" cy="384048"/>
          </a:xfrm>
          <a:prstGeom prst="rect">
            <a:avLst/>
          </a:prstGeom>
          <a:noFill/>
          <a:ln/>
        </p:spPr>
        <p:txBody>
          <a:bodyPr wrap="square" lIns="0" tIns="0" rIns="0" bIns="0" rtlCol="0" anchor="ctr"/>
          <a:lstStyle/>
          <a:p>
            <a:pPr marL="0" indent="0" algn="ctr">
              <a:buNone/>
            </a:pPr>
            <a:r>
              <a:rPr lang="en-US" sz="1200" b="1" dirty="0">
                <a:solidFill>
                  <a:srgbClr val="3730A3"/>
                </a:solidFill>
                <a:latin typeface="Georgia" pitchFamily="34" charset="0"/>
                <a:ea typeface="Georgia" pitchFamily="34" charset="-122"/>
                <a:cs typeface="Georgia" pitchFamily="34" charset="-120"/>
              </a:rPr>
              <a:t>3</a:t>
            </a:r>
            <a:endParaRPr lang="en-US" sz="1200" dirty="0"/>
          </a:p>
        </p:txBody>
      </p:sp>
      <p:sp>
        <p:nvSpPr>
          <p:cNvPr id="14" name="Text 12"/>
          <p:cNvSpPr/>
          <p:nvPr/>
        </p:nvSpPr>
        <p:spPr>
          <a:xfrm>
            <a:off x="6327648" y="2240280"/>
            <a:ext cx="2066544" cy="914400"/>
          </a:xfrm>
          <a:prstGeom prst="rect">
            <a:avLst/>
          </a:prstGeom>
          <a:noFill/>
          <a:ln/>
        </p:spPr>
        <p:txBody>
          <a:bodyPr wrap="square" lIns="0" tIns="0" rIns="0" bIns="0" rtlCol="0" anchor="ctr"/>
          <a:lstStyle/>
          <a:p>
            <a:pPr marL="0" indent="0">
              <a:buNone/>
            </a:pPr>
            <a:r>
              <a:rPr lang="en-US" sz="1400" dirty="0">
                <a:solidFill>
                  <a:srgbClr val="1A1A2E"/>
                </a:solidFill>
                <a:latin typeface="Georgia" pitchFamily="34" charset="0"/>
                <a:ea typeface="Georgia" pitchFamily="34" charset="-122"/>
                <a:cs typeface="Georgia" pitchFamily="34" charset="-120"/>
              </a:rPr>
              <a:t>What is the standard two-qubit basis ordering?</a:t>
            </a:r>
            <a:endParaRPr lang="en-US" sz="1400" dirty="0"/>
          </a:p>
        </p:txBody>
      </p:sp>
      <p:sp>
        <p:nvSpPr>
          <p:cNvPr id="15" name="Card frame">
            <a:extLst>
              <a:ext uri="{C183D7F6-B498-43B3-948B-1728B52AA6E4}">
                <adec:decorative xmlns:adec="http://schemas.microsoft.com/office/drawing/2017/decorative" val="1"/>
              </a:ext>
            </a:extLst>
          </p:cNvPr>
          <p:cNvSpPr/>
          <p:nvPr/>
        </p:nvSpPr>
        <p:spPr>
          <a:xfrm>
            <a:off x="640080" y="3657600"/>
            <a:ext cx="7863840" cy="777240"/>
          </a:xfrm>
          <a:prstGeom prst="roundRect">
            <a:avLst>
              <a:gd name="adj" fmla="val 7059"/>
            </a:avLst>
          </a:prstGeom>
          <a:solidFill>
            <a:srgbClr val="F4F5FB"/>
          </a:solidFill>
          <a:ln w="15240">
            <a:solidFill>
              <a:srgbClr val="3730A3"/>
            </a:solidFill>
            <a:prstDash val="solid"/>
          </a:ln>
        </p:spPr>
        <p:txBody>
          <a:bodyPr/>
          <a:lstStyle/>
          <a:p>
            <a:endParaRPr lang="en-US"/>
          </a:p>
        </p:txBody>
      </p:sp>
      <p:sp>
        <p:nvSpPr>
          <p:cNvPr id="16" name="Text 14"/>
          <p:cNvSpPr/>
          <p:nvPr/>
        </p:nvSpPr>
        <p:spPr>
          <a:xfrm>
            <a:off x="841248" y="3657600"/>
            <a:ext cx="7498080" cy="777240"/>
          </a:xfrm>
          <a:prstGeom prst="rect">
            <a:avLst/>
          </a:prstGeom>
          <a:noFill/>
          <a:ln/>
        </p:spPr>
        <p:txBody>
          <a:bodyPr wrap="square" lIns="0" tIns="0" rIns="0" bIns="0" rtlCol="0" anchor="ctr"/>
          <a:lstStyle/>
          <a:p>
            <a:pPr marL="0" indent="0">
              <a:buNone/>
            </a:pPr>
            <a:r>
              <a:rPr lang="en-US" sz="1100" b="1" kern="0" spc="100" dirty="0">
                <a:solidFill>
                  <a:srgbClr val="3730A3"/>
                </a:solidFill>
                <a:latin typeface="Georgia" pitchFamily="34" charset="0"/>
                <a:ea typeface="Georgia" pitchFamily="34" charset="-122"/>
                <a:cs typeface="Georgia" pitchFamily="34" charset="-120"/>
              </a:rPr>
              <a:t>Activity   </a:t>
            </a:r>
            <a:r>
              <a:rPr lang="en-US" sz="1400" i="1" dirty="0">
                <a:solidFill>
                  <a:srgbClr val="1A1A2E"/>
                </a:solidFill>
                <a:latin typeface="Georgia" pitchFamily="34" charset="0"/>
                <a:ea typeface="Georgia" pitchFamily="34" charset="-122"/>
                <a:cs typeface="Georgia" pitchFamily="34" charset="-120"/>
              </a:rPr>
              <a:t>Three-minute pair discussion — answer all three before moving 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One state, three representations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463040"/>
            <a:ext cx="2377440" cy="2331720"/>
          </a:xfrm>
          <a:prstGeom prst="roundRect">
            <a:avLst>
              <a:gd name="adj" fmla="val 2353"/>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685800" y="1627632"/>
            <a:ext cx="2377440" cy="292608"/>
          </a:xfrm>
          <a:prstGeom prst="rect">
            <a:avLst/>
          </a:prstGeom>
          <a:noFill/>
          <a:ln/>
        </p:spPr>
        <p:txBody>
          <a:bodyPr wrap="square" lIns="0" tIns="0" rIns="0" bIns="0" rtlCol="0" anchor="ctr"/>
          <a:lstStyle/>
          <a:p>
            <a:pPr marL="0" indent="0" algn="ctr">
              <a:buNone/>
            </a:pPr>
            <a:r>
              <a:rPr lang="en-US" sz="1150" b="1" kern="0" spc="60" dirty="0">
                <a:solidFill>
                  <a:srgbClr val="3730A3"/>
                </a:solidFill>
                <a:latin typeface="Georgia" pitchFamily="34" charset="0"/>
                <a:ea typeface="Georgia" pitchFamily="34" charset="-122"/>
                <a:cs typeface="Georgia" pitchFamily="34" charset="-120"/>
              </a:rPr>
              <a:t>Tensor notation</a:t>
            </a:r>
            <a:endParaRPr lang="en-US" sz="1150" dirty="0"/>
          </a:p>
        </p:txBody>
      </p:sp>
      <p:sp>
        <p:nvSpPr>
          <p:cNvPr id="5" name="Card frame">
            <a:extLst>
              <a:ext uri="{C183D7F6-B498-43B3-948B-1728B52AA6E4}">
                <adec:decorative xmlns:adec="http://schemas.microsoft.com/office/drawing/2017/decorative" val="1"/>
              </a:ext>
            </a:extLst>
          </p:cNvPr>
          <p:cNvSpPr/>
          <p:nvPr/>
        </p:nvSpPr>
        <p:spPr>
          <a:xfrm>
            <a:off x="3383280" y="1463040"/>
            <a:ext cx="2377440" cy="2331720"/>
          </a:xfrm>
          <a:prstGeom prst="roundRect">
            <a:avLst>
              <a:gd name="adj" fmla="val 2353"/>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3383280" y="1627632"/>
            <a:ext cx="2377440" cy="292608"/>
          </a:xfrm>
          <a:prstGeom prst="rect">
            <a:avLst/>
          </a:prstGeom>
          <a:noFill/>
          <a:ln/>
        </p:spPr>
        <p:txBody>
          <a:bodyPr wrap="square" lIns="0" tIns="0" rIns="0" bIns="0" rtlCol="0" anchor="ctr"/>
          <a:lstStyle/>
          <a:p>
            <a:pPr marL="0" indent="0" algn="ctr">
              <a:buNone/>
            </a:pPr>
            <a:r>
              <a:rPr lang="en-US" sz="1150" b="1" kern="0" spc="60" dirty="0">
                <a:solidFill>
                  <a:srgbClr val="3730A3"/>
                </a:solidFill>
                <a:latin typeface="Georgia" pitchFamily="34" charset="0"/>
                <a:ea typeface="Georgia" pitchFamily="34" charset="-122"/>
                <a:cs typeface="Georgia" pitchFamily="34" charset="-120"/>
              </a:rPr>
              <a:t>Dirac notation</a:t>
            </a:r>
            <a:endParaRPr lang="en-US" sz="1150" dirty="0"/>
          </a:p>
        </p:txBody>
      </p:sp>
      <p:sp>
        <p:nvSpPr>
          <p:cNvPr id="7" name="Card frame">
            <a:extLst>
              <a:ext uri="{C183D7F6-B498-43B3-948B-1728B52AA6E4}">
                <adec:decorative xmlns:adec="http://schemas.microsoft.com/office/drawing/2017/decorative" val="1"/>
              </a:ext>
            </a:extLst>
          </p:cNvPr>
          <p:cNvSpPr/>
          <p:nvPr/>
        </p:nvSpPr>
        <p:spPr>
          <a:xfrm>
            <a:off x="6080760" y="1463040"/>
            <a:ext cx="2377440" cy="2331720"/>
          </a:xfrm>
          <a:prstGeom prst="roundRect">
            <a:avLst>
              <a:gd name="adj" fmla="val 2353"/>
            </a:avLst>
          </a:prstGeom>
          <a:solidFill>
            <a:srgbClr val="F4F5FB"/>
          </a:solidFill>
          <a:ln w="15240">
            <a:solidFill>
              <a:srgbClr val="3730A3"/>
            </a:solidFill>
            <a:prstDash val="solid"/>
          </a:ln>
        </p:spPr>
        <p:txBody>
          <a:bodyPr/>
          <a:lstStyle/>
          <a:p>
            <a:endParaRPr lang="en-US"/>
          </a:p>
        </p:txBody>
      </p:sp>
      <p:sp>
        <p:nvSpPr>
          <p:cNvPr id="8" name="Text 6"/>
          <p:cNvSpPr/>
          <p:nvPr/>
        </p:nvSpPr>
        <p:spPr>
          <a:xfrm>
            <a:off x="6080760" y="1627632"/>
            <a:ext cx="2377440" cy="292608"/>
          </a:xfrm>
          <a:prstGeom prst="rect">
            <a:avLst/>
          </a:prstGeom>
          <a:noFill/>
          <a:ln/>
        </p:spPr>
        <p:txBody>
          <a:bodyPr wrap="square" lIns="0" tIns="0" rIns="0" bIns="0" rtlCol="0" anchor="ctr"/>
          <a:lstStyle/>
          <a:p>
            <a:pPr marL="0" indent="0" algn="ctr">
              <a:buNone/>
            </a:pPr>
            <a:r>
              <a:rPr lang="en-US" sz="1150" b="1" kern="0" spc="60" dirty="0">
                <a:solidFill>
                  <a:srgbClr val="3730A3"/>
                </a:solidFill>
                <a:latin typeface="Georgia" pitchFamily="34" charset="0"/>
                <a:ea typeface="Georgia" pitchFamily="34" charset="-122"/>
                <a:cs typeface="Georgia" pitchFamily="34" charset="-120"/>
              </a:rPr>
              <a:t>Vector notation</a:t>
            </a:r>
            <a:endParaRPr lang="en-US" sz="1150" dirty="0"/>
          </a:p>
        </p:txBody>
      </p:sp>
      <p:sp>
        <p:nvSpPr>
          <p:cNvPr id="9" name="Text 7"/>
          <p:cNvSpPr/>
          <p:nvPr/>
        </p:nvSpPr>
        <p:spPr>
          <a:xfrm>
            <a:off x="685800" y="2103120"/>
            <a:ext cx="2377440" cy="1463040"/>
          </a:xfrm>
          <a:prstGeom prst="rect">
            <a:avLst/>
          </a:prstGeom>
          <a:noFill/>
          <a:ln/>
        </p:spPr>
        <p:txBody>
          <a:bodyPr wrap="square" lIns="0" tIns="0" rIns="0" bIns="0" rtlCol="0" anchor="ctr"/>
          <a:lstStyle/>
          <a:p>
            <a:pPr marL="0" indent="0" algn="ctr">
              <a:buNone/>
            </a:pPr>
            <a:r>
              <a:rPr lang="en-US" sz="2600" dirty="0">
                <a:solidFill>
                  <a:srgbClr val="1A1A2E"/>
                </a:solidFill>
                <a:latin typeface="Georgia" pitchFamily="34" charset="0"/>
                <a:ea typeface="Georgia" pitchFamily="34" charset="-122"/>
                <a:cs typeface="Georgia" pitchFamily="34" charset="-120"/>
              </a:rPr>
              <a:t>|a⟩ ⊗ |b⟩</a:t>
            </a:r>
            <a:endParaRPr lang="en-US" sz="2600" dirty="0"/>
          </a:p>
        </p:txBody>
      </p:sp>
      <p:sp>
        <p:nvSpPr>
          <p:cNvPr id="10" name="Text 8"/>
          <p:cNvSpPr/>
          <p:nvPr/>
        </p:nvSpPr>
        <p:spPr>
          <a:xfrm>
            <a:off x="3383280" y="2103120"/>
            <a:ext cx="2377440" cy="1463040"/>
          </a:xfrm>
          <a:prstGeom prst="rect">
            <a:avLst/>
          </a:prstGeom>
          <a:noFill/>
          <a:ln/>
        </p:spPr>
        <p:txBody>
          <a:bodyPr wrap="square" lIns="0" tIns="0" rIns="0" bIns="0" rtlCol="0" anchor="ctr"/>
          <a:lstStyle/>
          <a:p>
            <a:pPr marL="0" indent="0" algn="ctr">
              <a:buNone/>
            </a:pPr>
            <a:r>
              <a:rPr lang="en-US" sz="2600" dirty="0">
                <a:solidFill>
                  <a:srgbClr val="1A1A2E"/>
                </a:solidFill>
                <a:latin typeface="Georgia" pitchFamily="34" charset="0"/>
                <a:ea typeface="Georgia" pitchFamily="34" charset="-122"/>
                <a:cs typeface="Georgia" pitchFamily="34" charset="-120"/>
              </a:rPr>
              <a:t>|ab⟩</a:t>
            </a:r>
            <a:endParaRPr lang="en-US" sz="2600" dirty="0"/>
          </a:p>
        </p:txBody>
      </p:sp>
      <p:sp>
        <p:nvSpPr>
          <p:cNvPr id="11" name="Vector bracket">
            <a:extLst>
              <a:ext uri="{C183D7F6-B498-43B3-948B-1728B52AA6E4}">
                <adec:decorative xmlns:adec="http://schemas.microsoft.com/office/drawing/2017/decorative" val="1"/>
              </a:ext>
            </a:extLst>
          </p:cNvPr>
          <p:cNvSpPr/>
          <p:nvPr/>
        </p:nvSpPr>
        <p:spPr>
          <a:xfrm>
            <a:off x="6771132" y="2029968"/>
            <a:ext cx="0" cy="1609344"/>
          </a:xfrm>
          <a:prstGeom prst="line">
            <a:avLst/>
          </a:prstGeom>
          <a:noFill/>
          <a:ln w="19050">
            <a:solidFill>
              <a:srgbClr val="1A1A2E"/>
            </a:solidFill>
            <a:prstDash val="solid"/>
          </a:ln>
        </p:spPr>
        <p:txBody>
          <a:bodyPr/>
          <a:lstStyle/>
          <a:p>
            <a:endParaRPr lang="en-US"/>
          </a:p>
        </p:txBody>
      </p:sp>
      <p:sp>
        <p:nvSpPr>
          <p:cNvPr id="12" name="Vector bracket tick">
            <a:extLst>
              <a:ext uri="{C183D7F6-B498-43B3-948B-1728B52AA6E4}">
                <adec:decorative xmlns:adec="http://schemas.microsoft.com/office/drawing/2017/decorative" val="1"/>
              </a:ext>
            </a:extLst>
          </p:cNvPr>
          <p:cNvSpPr/>
          <p:nvPr/>
        </p:nvSpPr>
        <p:spPr>
          <a:xfrm>
            <a:off x="6771132" y="2029968"/>
            <a:ext cx="146304" cy="0"/>
          </a:xfrm>
          <a:prstGeom prst="line">
            <a:avLst/>
          </a:prstGeom>
          <a:noFill/>
          <a:ln w="19050">
            <a:solidFill>
              <a:srgbClr val="1A1A2E"/>
            </a:solidFill>
            <a:prstDash val="solid"/>
          </a:ln>
        </p:spPr>
        <p:txBody>
          <a:bodyPr/>
          <a:lstStyle/>
          <a:p>
            <a:endParaRPr lang="en-US"/>
          </a:p>
        </p:txBody>
      </p:sp>
      <p:sp>
        <p:nvSpPr>
          <p:cNvPr id="13" name="Vector bracket tick">
            <a:extLst>
              <a:ext uri="{C183D7F6-B498-43B3-948B-1728B52AA6E4}">
                <adec:decorative xmlns:adec="http://schemas.microsoft.com/office/drawing/2017/decorative" val="1"/>
              </a:ext>
            </a:extLst>
          </p:cNvPr>
          <p:cNvSpPr/>
          <p:nvPr/>
        </p:nvSpPr>
        <p:spPr>
          <a:xfrm>
            <a:off x="6771132" y="3639312"/>
            <a:ext cx="146304" cy="0"/>
          </a:xfrm>
          <a:prstGeom prst="line">
            <a:avLst/>
          </a:prstGeom>
          <a:noFill/>
          <a:ln w="19050">
            <a:solidFill>
              <a:srgbClr val="1A1A2E"/>
            </a:solidFill>
            <a:prstDash val="solid"/>
          </a:ln>
        </p:spPr>
        <p:txBody>
          <a:bodyPr/>
          <a:lstStyle/>
          <a:p>
            <a:endParaRPr lang="en-US"/>
          </a:p>
        </p:txBody>
      </p:sp>
      <p:sp>
        <p:nvSpPr>
          <p:cNvPr id="14" name="Vector bracket">
            <a:extLst>
              <a:ext uri="{C183D7F6-B498-43B3-948B-1728B52AA6E4}">
                <adec:decorative xmlns:adec="http://schemas.microsoft.com/office/drawing/2017/decorative" val="1"/>
              </a:ext>
            </a:extLst>
          </p:cNvPr>
          <p:cNvSpPr/>
          <p:nvPr/>
        </p:nvSpPr>
        <p:spPr>
          <a:xfrm>
            <a:off x="7767828" y="2029968"/>
            <a:ext cx="0" cy="1609344"/>
          </a:xfrm>
          <a:prstGeom prst="line">
            <a:avLst/>
          </a:prstGeom>
          <a:noFill/>
          <a:ln w="19050">
            <a:solidFill>
              <a:srgbClr val="1A1A2E"/>
            </a:solidFill>
            <a:prstDash val="solid"/>
          </a:ln>
        </p:spPr>
        <p:txBody>
          <a:bodyPr/>
          <a:lstStyle/>
          <a:p>
            <a:endParaRPr lang="en-US"/>
          </a:p>
        </p:txBody>
      </p:sp>
      <p:sp>
        <p:nvSpPr>
          <p:cNvPr id="15" name="Vector bracket tick">
            <a:extLst>
              <a:ext uri="{C183D7F6-B498-43B3-948B-1728B52AA6E4}">
                <adec:decorative xmlns:adec="http://schemas.microsoft.com/office/drawing/2017/decorative" val="1"/>
              </a:ext>
            </a:extLst>
          </p:cNvPr>
          <p:cNvSpPr/>
          <p:nvPr/>
        </p:nvSpPr>
        <p:spPr>
          <a:xfrm>
            <a:off x="7621524" y="2029968"/>
            <a:ext cx="146304" cy="0"/>
          </a:xfrm>
          <a:prstGeom prst="line">
            <a:avLst/>
          </a:prstGeom>
          <a:noFill/>
          <a:ln w="19050">
            <a:solidFill>
              <a:srgbClr val="1A1A2E"/>
            </a:solidFill>
            <a:prstDash val="solid"/>
          </a:ln>
        </p:spPr>
        <p:txBody>
          <a:bodyPr/>
          <a:lstStyle/>
          <a:p>
            <a:endParaRPr lang="en-US"/>
          </a:p>
        </p:txBody>
      </p:sp>
      <p:sp>
        <p:nvSpPr>
          <p:cNvPr id="16" name="Vector bracket tick">
            <a:extLst>
              <a:ext uri="{C183D7F6-B498-43B3-948B-1728B52AA6E4}">
                <adec:decorative xmlns:adec="http://schemas.microsoft.com/office/drawing/2017/decorative" val="1"/>
              </a:ext>
            </a:extLst>
          </p:cNvPr>
          <p:cNvSpPr/>
          <p:nvPr/>
        </p:nvSpPr>
        <p:spPr>
          <a:xfrm>
            <a:off x="7621524" y="3639312"/>
            <a:ext cx="146304" cy="0"/>
          </a:xfrm>
          <a:prstGeom prst="line">
            <a:avLst/>
          </a:prstGeom>
          <a:noFill/>
          <a:ln w="19050">
            <a:solidFill>
              <a:srgbClr val="1A1A2E"/>
            </a:solidFill>
            <a:prstDash val="solid"/>
          </a:ln>
        </p:spPr>
        <p:txBody>
          <a:bodyPr/>
          <a:lstStyle/>
          <a:p>
            <a:endParaRPr lang="en-US"/>
          </a:p>
        </p:txBody>
      </p:sp>
      <p:sp>
        <p:nvSpPr>
          <p:cNvPr id="17" name="Text 15"/>
          <p:cNvSpPr/>
          <p:nvPr/>
        </p:nvSpPr>
        <p:spPr>
          <a:xfrm>
            <a:off x="6880860" y="2029968"/>
            <a:ext cx="777240" cy="402336"/>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α</a:t>
            </a:r>
            <a:endParaRPr lang="en-US" sz="1700" dirty="0"/>
          </a:p>
        </p:txBody>
      </p:sp>
      <p:sp>
        <p:nvSpPr>
          <p:cNvPr id="18" name="Text 16"/>
          <p:cNvSpPr/>
          <p:nvPr/>
        </p:nvSpPr>
        <p:spPr>
          <a:xfrm>
            <a:off x="6880860" y="2432304"/>
            <a:ext cx="777240" cy="402336"/>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β</a:t>
            </a:r>
            <a:endParaRPr lang="en-US" sz="1700" dirty="0"/>
          </a:p>
        </p:txBody>
      </p:sp>
      <p:sp>
        <p:nvSpPr>
          <p:cNvPr id="19" name="Text 17"/>
          <p:cNvSpPr/>
          <p:nvPr/>
        </p:nvSpPr>
        <p:spPr>
          <a:xfrm>
            <a:off x="6880860" y="2834640"/>
            <a:ext cx="777240" cy="402336"/>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γ</a:t>
            </a:r>
            <a:endParaRPr lang="en-US" sz="1700" dirty="0"/>
          </a:p>
        </p:txBody>
      </p:sp>
      <p:sp>
        <p:nvSpPr>
          <p:cNvPr id="20" name="Text 18"/>
          <p:cNvSpPr/>
          <p:nvPr/>
        </p:nvSpPr>
        <p:spPr>
          <a:xfrm>
            <a:off x="6880860" y="3236976"/>
            <a:ext cx="777240" cy="402336"/>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δ</a:t>
            </a:r>
            <a:endParaRPr lang="en-US" sz="1700" dirty="0"/>
          </a:p>
        </p:txBody>
      </p:sp>
      <p:sp>
        <p:nvSpPr>
          <p:cNvPr id="21" name="Text 19"/>
          <p:cNvSpPr/>
          <p:nvPr/>
        </p:nvSpPr>
        <p:spPr>
          <a:xfrm>
            <a:off x="3063240" y="2468880"/>
            <a:ext cx="320040" cy="457200"/>
          </a:xfrm>
          <a:prstGeom prst="rect">
            <a:avLst/>
          </a:prstGeom>
          <a:noFill/>
          <a:ln/>
        </p:spPr>
        <p:txBody>
          <a:bodyPr wrap="square" lIns="0" tIns="0" rIns="0" bIns="0" rtlCol="0" anchor="ctr"/>
          <a:lstStyle/>
          <a:p>
            <a:pPr marL="0" indent="0" algn="ctr">
              <a:buNone/>
            </a:pPr>
            <a:r>
              <a:rPr lang="en-US" sz="1700" dirty="0">
                <a:solidFill>
                  <a:srgbClr val="3730A3"/>
                </a:solidFill>
                <a:latin typeface="Georgia" pitchFamily="34" charset="0"/>
                <a:ea typeface="Georgia" pitchFamily="34" charset="-122"/>
                <a:cs typeface="Georgia" pitchFamily="34" charset="-120"/>
              </a:rPr>
              <a:t>→</a:t>
            </a:r>
            <a:endParaRPr lang="en-US" sz="1700" dirty="0"/>
          </a:p>
        </p:txBody>
      </p:sp>
      <p:sp>
        <p:nvSpPr>
          <p:cNvPr id="22" name="Text 20"/>
          <p:cNvSpPr/>
          <p:nvPr/>
        </p:nvSpPr>
        <p:spPr>
          <a:xfrm>
            <a:off x="5760720" y="2468880"/>
            <a:ext cx="320040" cy="457200"/>
          </a:xfrm>
          <a:prstGeom prst="rect">
            <a:avLst/>
          </a:prstGeom>
          <a:noFill/>
          <a:ln/>
        </p:spPr>
        <p:txBody>
          <a:bodyPr wrap="square" lIns="0" tIns="0" rIns="0" bIns="0" rtlCol="0" anchor="ctr"/>
          <a:lstStyle/>
          <a:p>
            <a:pPr marL="0" indent="0" algn="ctr">
              <a:buNone/>
            </a:pPr>
            <a:r>
              <a:rPr lang="en-US" sz="1700" dirty="0">
                <a:solidFill>
                  <a:srgbClr val="3730A3"/>
                </a:solidFill>
                <a:latin typeface="Georgia" pitchFamily="34" charset="0"/>
                <a:ea typeface="Georgia" pitchFamily="34" charset="-122"/>
                <a:cs typeface="Georgia" pitchFamily="34" charset="-120"/>
              </a:rPr>
              <a:t>→</a:t>
            </a:r>
            <a:endParaRPr lang="en-US" sz="1700" dirty="0"/>
          </a:p>
        </p:txBody>
      </p:sp>
      <p:sp>
        <p:nvSpPr>
          <p:cNvPr id="23" name="Text 21"/>
          <p:cNvSpPr/>
          <p:nvPr/>
        </p:nvSpPr>
        <p:spPr>
          <a:xfrm>
            <a:off x="640080" y="406908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Same physical state, three ways of writing it — the notation changes, the physics does not.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general two-qubit state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508760"/>
            <a:ext cx="7772400" cy="1051560"/>
          </a:xfrm>
          <a:prstGeom prst="roundRect">
            <a:avLst>
              <a:gd name="adj" fmla="val 5217"/>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685800" y="1508760"/>
            <a:ext cx="7772400" cy="1051560"/>
          </a:xfrm>
          <a:prstGeom prst="rect">
            <a:avLst/>
          </a:prstGeom>
          <a:noFill/>
          <a:ln/>
        </p:spPr>
        <p:txBody>
          <a:bodyPr wrap="square" lIns="0" tIns="0" rIns="0" bIns="0" rtlCol="0" anchor="ctr"/>
          <a:lstStyle/>
          <a:p>
            <a:pPr marL="0" indent="0" algn="ctr">
              <a:buNone/>
            </a:pPr>
            <a:r>
              <a:rPr lang="en-US" sz="2600" b="1" dirty="0">
                <a:solidFill>
                  <a:srgbClr val="3730A3"/>
                </a:solidFill>
                <a:latin typeface="Georgia" pitchFamily="34" charset="0"/>
                <a:ea typeface="Georgia" pitchFamily="34" charset="-122"/>
                <a:cs typeface="Georgia" pitchFamily="34" charset="-120"/>
              </a:rPr>
              <a:t>|ψ⟩ = α|00⟩ + β|01⟩ + γ|10⟩ + δ|11⟩</a:t>
            </a:r>
            <a:endParaRPr lang="en-US" sz="2600" dirty="0"/>
          </a:p>
        </p:txBody>
      </p:sp>
      <p:sp>
        <p:nvSpPr>
          <p:cNvPr id="5" name="Text 3"/>
          <p:cNvSpPr/>
          <p:nvPr/>
        </p:nvSpPr>
        <p:spPr>
          <a:xfrm>
            <a:off x="685800" y="2633472"/>
            <a:ext cx="7772400" cy="292608"/>
          </a:xfrm>
          <a:prstGeom prst="rect">
            <a:avLst/>
          </a:prstGeom>
          <a:noFill/>
          <a:ln/>
        </p:spPr>
        <p:txBody>
          <a:bodyPr wrap="square" lIns="0" tIns="0" rIns="0" bIns="0" rtlCol="0" anchor="ctr"/>
          <a:lstStyle/>
          <a:p>
            <a:pPr marL="0" indent="0" algn="ctr">
              <a:buNone/>
            </a:pPr>
            <a:r>
              <a:rPr lang="en-US" sz="1150" i="1" dirty="0">
                <a:solidFill>
                  <a:srgbClr val="6B7280"/>
                </a:solidFill>
                <a:latin typeface="Georgia" pitchFamily="34" charset="0"/>
                <a:ea typeface="Georgia" pitchFamily="34" charset="-122"/>
                <a:cs typeface="Georgia" pitchFamily="34" charset="-120"/>
              </a:rPr>
              <a:t>four complex amplitudes, one for each basis state</a:t>
            </a:r>
            <a:endParaRPr lang="en-US" sz="1150" dirty="0"/>
          </a:p>
        </p:txBody>
      </p:sp>
      <p:sp>
        <p:nvSpPr>
          <p:cNvPr id="6" name="Card frame">
            <a:extLst>
              <a:ext uri="{C183D7F6-B498-43B3-948B-1728B52AA6E4}">
                <adec:decorative xmlns:adec="http://schemas.microsoft.com/office/drawing/2017/decorative" val="1"/>
              </a:ext>
            </a:extLst>
          </p:cNvPr>
          <p:cNvSpPr/>
          <p:nvPr/>
        </p:nvSpPr>
        <p:spPr>
          <a:xfrm>
            <a:off x="1920240" y="3200400"/>
            <a:ext cx="5303520" cy="914400"/>
          </a:xfrm>
          <a:prstGeom prst="roundRect">
            <a:avLst>
              <a:gd name="adj" fmla="val 6000"/>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1920240" y="3200400"/>
            <a:ext cx="5303520" cy="914400"/>
          </a:xfrm>
          <a:prstGeom prst="rect">
            <a:avLst/>
          </a:prstGeom>
          <a:noFill/>
          <a:ln/>
        </p:spPr>
        <p:txBody>
          <a:bodyPr wrap="square" lIns="0" tIns="0" rIns="0" bIns="0" rtlCol="0" anchor="ctr"/>
          <a:lstStyle/>
          <a:p>
            <a:pPr marL="0" indent="0" algn="ctr">
              <a:buNone/>
            </a:pPr>
            <a:r>
              <a:rPr lang="en-US" sz="2200" dirty="0">
                <a:solidFill>
                  <a:srgbClr val="1A1A2E"/>
                </a:solidFill>
                <a:latin typeface="Georgia" pitchFamily="34" charset="0"/>
                <a:ea typeface="Georgia" pitchFamily="34" charset="-122"/>
                <a:cs typeface="Georgia" pitchFamily="34" charset="-120"/>
              </a:rPr>
              <a:t>|α|² + |β|² + |γ|² + |δ|² = 1</a:t>
            </a:r>
            <a:endParaRPr lang="en-US" sz="2200" dirty="0"/>
          </a:p>
        </p:txBody>
      </p:sp>
      <p:sp>
        <p:nvSpPr>
          <p:cNvPr id="8" name="Text 6"/>
          <p:cNvSpPr/>
          <p:nvPr/>
        </p:nvSpPr>
        <p:spPr>
          <a:xfrm>
            <a:off x="640080" y="425196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Normalization: the probabilities of the four outcomes must sum to one.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Amplitude versus probability</a:t>
            </a:r>
            <a:endParaRPr lang="en-US" sz="2500" dirty="0"/>
          </a:p>
        </p:txBody>
      </p:sp>
      <p:sp>
        <p:nvSpPr>
          <p:cNvPr id="3" name="Amplitude bar">
            <a:extLst>
              <a:ext uri="{C183D7F6-B498-43B3-948B-1728B52AA6E4}">
                <adec:decorative xmlns:adec="http://schemas.microsoft.com/office/drawing/2017/decorative" val="1"/>
              </a:ext>
            </a:extLst>
          </p:cNvPr>
          <p:cNvSpPr/>
          <p:nvPr/>
        </p:nvSpPr>
        <p:spPr>
          <a:xfrm>
            <a:off x="1051560" y="2068830"/>
            <a:ext cx="777240" cy="1360170"/>
          </a:xfrm>
          <a:prstGeom prst="rect">
            <a:avLst/>
          </a:prstGeom>
          <a:solidFill>
            <a:srgbClr val="3730A3"/>
          </a:solidFill>
          <a:ln w="12700">
            <a:solidFill>
              <a:srgbClr val="3730A3"/>
            </a:solidFill>
            <a:prstDash val="solid"/>
          </a:ln>
        </p:spPr>
        <p:txBody>
          <a:bodyPr/>
          <a:lstStyle/>
          <a:p>
            <a:endParaRPr lang="en-US"/>
          </a:p>
        </p:txBody>
      </p:sp>
      <p:sp>
        <p:nvSpPr>
          <p:cNvPr id="4" name="Text 2"/>
          <p:cNvSpPr/>
          <p:nvPr/>
        </p:nvSpPr>
        <p:spPr>
          <a:xfrm>
            <a:off x="1051560" y="1721358"/>
            <a:ext cx="777240" cy="310896"/>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α</a:t>
            </a:r>
            <a:endParaRPr lang="en-US" sz="1500" dirty="0"/>
          </a:p>
        </p:txBody>
      </p:sp>
      <p:sp>
        <p:nvSpPr>
          <p:cNvPr id="5" name="Text 3"/>
          <p:cNvSpPr/>
          <p:nvPr/>
        </p:nvSpPr>
        <p:spPr>
          <a:xfrm>
            <a:off x="1051560" y="3502152"/>
            <a:ext cx="77724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|00⟩</a:t>
            </a:r>
            <a:endParaRPr lang="en-US" sz="1400" dirty="0"/>
          </a:p>
        </p:txBody>
      </p:sp>
      <p:sp>
        <p:nvSpPr>
          <p:cNvPr id="6" name="Amplitude bar">
            <a:extLst>
              <a:ext uri="{C183D7F6-B498-43B3-948B-1728B52AA6E4}">
                <adec:decorative xmlns:adec="http://schemas.microsoft.com/office/drawing/2017/decorative" val="1"/>
              </a:ext>
            </a:extLst>
          </p:cNvPr>
          <p:cNvSpPr/>
          <p:nvPr/>
        </p:nvSpPr>
        <p:spPr>
          <a:xfrm>
            <a:off x="2148840" y="2548890"/>
            <a:ext cx="777240" cy="880110"/>
          </a:xfrm>
          <a:prstGeom prst="rect">
            <a:avLst/>
          </a:prstGeom>
          <a:solidFill>
            <a:srgbClr val="3730A3"/>
          </a:solidFill>
          <a:ln w="12700">
            <a:solidFill>
              <a:srgbClr val="3730A3"/>
            </a:solidFill>
            <a:prstDash val="solid"/>
          </a:ln>
        </p:spPr>
        <p:txBody>
          <a:bodyPr/>
          <a:lstStyle/>
          <a:p>
            <a:endParaRPr lang="en-US"/>
          </a:p>
        </p:txBody>
      </p:sp>
      <p:sp>
        <p:nvSpPr>
          <p:cNvPr id="7" name="Text 5"/>
          <p:cNvSpPr/>
          <p:nvPr/>
        </p:nvSpPr>
        <p:spPr>
          <a:xfrm>
            <a:off x="2148840" y="2201418"/>
            <a:ext cx="777240" cy="310896"/>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β</a:t>
            </a:r>
            <a:endParaRPr lang="en-US" sz="1500" dirty="0"/>
          </a:p>
        </p:txBody>
      </p:sp>
      <p:sp>
        <p:nvSpPr>
          <p:cNvPr id="8" name="Text 6"/>
          <p:cNvSpPr/>
          <p:nvPr/>
        </p:nvSpPr>
        <p:spPr>
          <a:xfrm>
            <a:off x="2148840" y="3502152"/>
            <a:ext cx="77724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|01⟩</a:t>
            </a:r>
            <a:endParaRPr lang="en-US" sz="1400" dirty="0"/>
          </a:p>
        </p:txBody>
      </p:sp>
      <p:sp>
        <p:nvSpPr>
          <p:cNvPr id="9" name="Amplitude bar">
            <a:extLst>
              <a:ext uri="{C183D7F6-B498-43B3-948B-1728B52AA6E4}">
                <adec:decorative xmlns:adec="http://schemas.microsoft.com/office/drawing/2017/decorative" val="1"/>
              </a:ext>
            </a:extLst>
          </p:cNvPr>
          <p:cNvSpPr/>
          <p:nvPr/>
        </p:nvSpPr>
        <p:spPr>
          <a:xfrm>
            <a:off x="3246120" y="1828800"/>
            <a:ext cx="777240" cy="1600200"/>
          </a:xfrm>
          <a:prstGeom prst="rect">
            <a:avLst/>
          </a:prstGeom>
          <a:solidFill>
            <a:srgbClr val="3730A3"/>
          </a:solidFill>
          <a:ln w="12700">
            <a:solidFill>
              <a:srgbClr val="3730A3"/>
            </a:solidFill>
            <a:prstDash val="solid"/>
          </a:ln>
        </p:spPr>
        <p:txBody>
          <a:bodyPr/>
          <a:lstStyle/>
          <a:p>
            <a:endParaRPr lang="en-US"/>
          </a:p>
        </p:txBody>
      </p:sp>
      <p:sp>
        <p:nvSpPr>
          <p:cNvPr id="10" name="Text 8"/>
          <p:cNvSpPr/>
          <p:nvPr/>
        </p:nvSpPr>
        <p:spPr>
          <a:xfrm>
            <a:off x="3246120" y="1481328"/>
            <a:ext cx="777240" cy="310896"/>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γ</a:t>
            </a:r>
            <a:endParaRPr lang="en-US" sz="1500" dirty="0"/>
          </a:p>
        </p:txBody>
      </p:sp>
      <p:sp>
        <p:nvSpPr>
          <p:cNvPr id="11" name="Text 9"/>
          <p:cNvSpPr/>
          <p:nvPr/>
        </p:nvSpPr>
        <p:spPr>
          <a:xfrm>
            <a:off x="3246120" y="3502152"/>
            <a:ext cx="77724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|10⟩</a:t>
            </a:r>
            <a:endParaRPr lang="en-US" sz="1400" dirty="0"/>
          </a:p>
        </p:txBody>
      </p:sp>
      <p:sp>
        <p:nvSpPr>
          <p:cNvPr id="12" name="Amplitude bar">
            <a:extLst>
              <a:ext uri="{C183D7F6-B498-43B3-948B-1728B52AA6E4}">
                <adec:decorative xmlns:adec="http://schemas.microsoft.com/office/drawing/2017/decorative" val="1"/>
              </a:ext>
            </a:extLst>
          </p:cNvPr>
          <p:cNvSpPr/>
          <p:nvPr/>
        </p:nvSpPr>
        <p:spPr>
          <a:xfrm>
            <a:off x="4343400" y="2788920"/>
            <a:ext cx="777240" cy="640080"/>
          </a:xfrm>
          <a:prstGeom prst="rect">
            <a:avLst/>
          </a:prstGeom>
          <a:solidFill>
            <a:srgbClr val="3730A3"/>
          </a:solidFill>
          <a:ln w="12700">
            <a:solidFill>
              <a:srgbClr val="3730A3"/>
            </a:solidFill>
            <a:prstDash val="solid"/>
          </a:ln>
        </p:spPr>
        <p:txBody>
          <a:bodyPr/>
          <a:lstStyle/>
          <a:p>
            <a:endParaRPr lang="en-US"/>
          </a:p>
        </p:txBody>
      </p:sp>
      <p:sp>
        <p:nvSpPr>
          <p:cNvPr id="13" name="Text 11"/>
          <p:cNvSpPr/>
          <p:nvPr/>
        </p:nvSpPr>
        <p:spPr>
          <a:xfrm>
            <a:off x="4343400" y="2441448"/>
            <a:ext cx="777240" cy="310896"/>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δ</a:t>
            </a:r>
            <a:endParaRPr lang="en-US" sz="1500" dirty="0"/>
          </a:p>
        </p:txBody>
      </p:sp>
      <p:sp>
        <p:nvSpPr>
          <p:cNvPr id="14" name="Text 12"/>
          <p:cNvSpPr/>
          <p:nvPr/>
        </p:nvSpPr>
        <p:spPr>
          <a:xfrm>
            <a:off x="4343400" y="3502152"/>
            <a:ext cx="77724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|11⟩</a:t>
            </a:r>
            <a:endParaRPr lang="en-US" sz="1400" dirty="0"/>
          </a:p>
        </p:txBody>
      </p:sp>
      <p:sp>
        <p:nvSpPr>
          <p:cNvPr id="15" name="Baseline">
            <a:extLst>
              <a:ext uri="{C183D7F6-B498-43B3-948B-1728B52AA6E4}">
                <adec:decorative xmlns:adec="http://schemas.microsoft.com/office/drawing/2017/decorative" val="1"/>
              </a:ext>
            </a:extLst>
          </p:cNvPr>
          <p:cNvSpPr/>
          <p:nvPr/>
        </p:nvSpPr>
        <p:spPr>
          <a:xfrm>
            <a:off x="914400" y="3429000"/>
            <a:ext cx="4114800" cy="0"/>
          </a:xfrm>
          <a:prstGeom prst="line">
            <a:avLst/>
          </a:prstGeom>
          <a:noFill/>
          <a:ln w="15875">
            <a:solidFill>
              <a:srgbClr val="1A1A2E"/>
            </a:solidFill>
            <a:prstDash val="solid"/>
          </a:ln>
        </p:spPr>
        <p:txBody>
          <a:bodyPr/>
          <a:lstStyle/>
          <a:p>
            <a:endParaRPr lang="en-US"/>
          </a:p>
        </p:txBody>
      </p:sp>
      <p:sp>
        <p:nvSpPr>
          <p:cNvPr id="16" name="Text 14"/>
          <p:cNvSpPr/>
          <p:nvPr/>
        </p:nvSpPr>
        <p:spPr>
          <a:xfrm>
            <a:off x="914400" y="1234440"/>
            <a:ext cx="4114800" cy="274320"/>
          </a:xfrm>
          <a:prstGeom prst="rect">
            <a:avLst/>
          </a:prstGeom>
          <a:noFill/>
          <a:ln/>
        </p:spPr>
        <p:txBody>
          <a:bodyPr wrap="square" lIns="0" tIns="0" rIns="0" bIns="0" rtlCol="0" anchor="ctr"/>
          <a:lstStyle/>
          <a:p>
            <a:pPr marL="0" indent="0">
              <a:buNone/>
            </a:pPr>
            <a:r>
              <a:rPr lang="en-US" sz="1150" b="1" kern="0" spc="80" dirty="0">
                <a:solidFill>
                  <a:srgbClr val="3730A3"/>
                </a:solidFill>
                <a:latin typeface="Georgia" pitchFamily="34" charset="0"/>
                <a:ea typeface="Georgia" pitchFamily="34" charset="-122"/>
                <a:cs typeface="Georgia" pitchFamily="34" charset="-120"/>
              </a:rPr>
              <a:t>Amplitudes</a:t>
            </a:r>
            <a:endParaRPr lang="en-US" sz="1150" dirty="0"/>
          </a:p>
        </p:txBody>
      </p:sp>
      <p:sp>
        <p:nvSpPr>
          <p:cNvPr id="17" name="Card frame">
            <a:extLst>
              <a:ext uri="{C183D7F6-B498-43B3-948B-1728B52AA6E4}">
                <adec:decorative xmlns:adec="http://schemas.microsoft.com/office/drawing/2017/decorative" val="1"/>
              </a:ext>
            </a:extLst>
          </p:cNvPr>
          <p:cNvSpPr/>
          <p:nvPr/>
        </p:nvSpPr>
        <p:spPr>
          <a:xfrm>
            <a:off x="5486400" y="1417320"/>
            <a:ext cx="3017520" cy="658368"/>
          </a:xfrm>
          <a:prstGeom prst="roundRect">
            <a:avLst>
              <a:gd name="adj" fmla="val 8333"/>
            </a:avLst>
          </a:prstGeom>
          <a:solidFill>
            <a:srgbClr val="FFFFFF"/>
          </a:solidFill>
          <a:ln w="12700">
            <a:solidFill>
              <a:srgbClr val="D4D7DD"/>
            </a:solidFill>
            <a:prstDash val="solid"/>
          </a:ln>
        </p:spPr>
        <p:txBody>
          <a:bodyPr/>
          <a:lstStyle/>
          <a:p>
            <a:endParaRPr lang="en-US"/>
          </a:p>
        </p:txBody>
      </p:sp>
      <p:sp>
        <p:nvSpPr>
          <p:cNvPr id="18" name="Text 16"/>
          <p:cNvSpPr/>
          <p:nvPr/>
        </p:nvSpPr>
        <p:spPr>
          <a:xfrm>
            <a:off x="5669280" y="1417320"/>
            <a:ext cx="1920240" cy="658368"/>
          </a:xfrm>
          <a:prstGeom prst="rect">
            <a:avLst/>
          </a:prstGeom>
          <a:noFill/>
          <a:ln/>
        </p:spPr>
        <p:txBody>
          <a:bodyPr wrap="square" lIns="0" tIns="0" rIns="0" bIns="0" rtlCol="0" anchor="ctr"/>
          <a:lstStyle/>
          <a:p>
            <a:pPr marL="0" indent="0">
              <a:buNone/>
            </a:pPr>
            <a:r>
              <a:rPr lang="en-US" sz="1200" dirty="0">
                <a:solidFill>
                  <a:srgbClr val="6B7280"/>
                </a:solidFill>
                <a:latin typeface="Georgia" pitchFamily="34" charset="0"/>
                <a:ea typeface="Georgia" pitchFamily="34" charset="-122"/>
                <a:cs typeface="Georgia" pitchFamily="34" charset="-120"/>
              </a:rPr>
              <a:t>complex amplitude</a:t>
            </a:r>
            <a:endParaRPr lang="en-US" sz="1200" dirty="0"/>
          </a:p>
        </p:txBody>
      </p:sp>
      <p:sp>
        <p:nvSpPr>
          <p:cNvPr id="19" name="Text 17"/>
          <p:cNvSpPr/>
          <p:nvPr/>
        </p:nvSpPr>
        <p:spPr>
          <a:xfrm>
            <a:off x="7498080" y="1417320"/>
            <a:ext cx="868680" cy="658368"/>
          </a:xfrm>
          <a:prstGeom prst="rect">
            <a:avLst/>
          </a:prstGeom>
          <a:noFill/>
          <a:ln/>
        </p:spPr>
        <p:txBody>
          <a:bodyPr wrap="square" lIns="0" tIns="0" rIns="0" bIns="0" rtlCol="0" anchor="ctr"/>
          <a:lstStyle/>
          <a:p>
            <a:pPr marL="0" indent="0" algn="r">
              <a:buNone/>
            </a:pPr>
            <a:r>
              <a:rPr lang="en-US" sz="1600" b="1" dirty="0">
                <a:solidFill>
                  <a:srgbClr val="1A1A2E"/>
                </a:solidFill>
                <a:latin typeface="Georgia" pitchFamily="34" charset="0"/>
                <a:ea typeface="Georgia" pitchFamily="34" charset="-122"/>
                <a:cs typeface="Georgia" pitchFamily="34" charset="-120"/>
              </a:rPr>
              <a:t>α</a:t>
            </a:r>
            <a:endParaRPr lang="en-US" sz="1600" dirty="0"/>
          </a:p>
        </p:txBody>
      </p:sp>
      <p:sp>
        <p:nvSpPr>
          <p:cNvPr id="20" name="Text 18"/>
          <p:cNvSpPr/>
          <p:nvPr/>
        </p:nvSpPr>
        <p:spPr>
          <a:xfrm>
            <a:off x="5486400" y="2075688"/>
            <a:ext cx="3017520" cy="329184"/>
          </a:xfrm>
          <a:prstGeom prst="rect">
            <a:avLst/>
          </a:prstGeom>
          <a:noFill/>
          <a:ln/>
        </p:spPr>
        <p:txBody>
          <a:bodyPr wrap="square" lIns="0" tIns="0" rIns="0" bIns="0" rtlCol="0" anchor="ctr"/>
          <a:lstStyle/>
          <a:p>
            <a:pPr marL="0" indent="0" algn="ctr">
              <a:buNone/>
            </a:pPr>
            <a:r>
              <a:rPr lang="en-US" sz="1400" dirty="0">
                <a:solidFill>
                  <a:srgbClr val="3730A3"/>
                </a:solidFill>
                <a:latin typeface="Georgia" pitchFamily="34" charset="0"/>
                <a:ea typeface="Georgia" pitchFamily="34" charset="-122"/>
                <a:cs typeface="Georgia" pitchFamily="34" charset="-120"/>
              </a:rPr>
              <a:t>↓</a:t>
            </a:r>
            <a:endParaRPr lang="en-US" sz="1400" dirty="0"/>
          </a:p>
        </p:txBody>
      </p:sp>
      <p:sp>
        <p:nvSpPr>
          <p:cNvPr id="21" name="Card frame">
            <a:extLst>
              <a:ext uri="{C183D7F6-B498-43B3-948B-1728B52AA6E4}">
                <adec:decorative xmlns:adec="http://schemas.microsoft.com/office/drawing/2017/decorative" val="1"/>
              </a:ext>
            </a:extLst>
          </p:cNvPr>
          <p:cNvSpPr/>
          <p:nvPr/>
        </p:nvSpPr>
        <p:spPr>
          <a:xfrm>
            <a:off x="5486400" y="2404872"/>
            <a:ext cx="3017520" cy="658368"/>
          </a:xfrm>
          <a:prstGeom prst="roundRect">
            <a:avLst>
              <a:gd name="adj" fmla="val 8333"/>
            </a:avLst>
          </a:prstGeom>
          <a:solidFill>
            <a:srgbClr val="FFFFFF"/>
          </a:solidFill>
          <a:ln w="12700">
            <a:solidFill>
              <a:srgbClr val="D4D7DD"/>
            </a:solidFill>
            <a:prstDash val="solid"/>
          </a:ln>
        </p:spPr>
        <p:txBody>
          <a:bodyPr/>
          <a:lstStyle/>
          <a:p>
            <a:endParaRPr lang="en-US"/>
          </a:p>
        </p:txBody>
      </p:sp>
      <p:sp>
        <p:nvSpPr>
          <p:cNvPr id="22" name="Text 20"/>
          <p:cNvSpPr/>
          <p:nvPr/>
        </p:nvSpPr>
        <p:spPr>
          <a:xfrm>
            <a:off x="5669280" y="2404872"/>
            <a:ext cx="1920240" cy="658368"/>
          </a:xfrm>
          <a:prstGeom prst="rect">
            <a:avLst/>
          </a:prstGeom>
          <a:noFill/>
          <a:ln/>
        </p:spPr>
        <p:txBody>
          <a:bodyPr wrap="square" lIns="0" tIns="0" rIns="0" bIns="0" rtlCol="0" anchor="ctr"/>
          <a:lstStyle/>
          <a:p>
            <a:pPr marL="0" indent="0">
              <a:buNone/>
            </a:pPr>
            <a:r>
              <a:rPr lang="en-US" sz="1200" dirty="0">
                <a:solidFill>
                  <a:srgbClr val="6B7280"/>
                </a:solidFill>
                <a:latin typeface="Georgia" pitchFamily="34" charset="0"/>
                <a:ea typeface="Georgia" pitchFamily="34" charset="-122"/>
                <a:cs typeface="Georgia" pitchFamily="34" charset="-120"/>
              </a:rPr>
              <a:t>magnitude squared</a:t>
            </a:r>
            <a:endParaRPr lang="en-US" sz="1200" dirty="0"/>
          </a:p>
        </p:txBody>
      </p:sp>
      <p:sp>
        <p:nvSpPr>
          <p:cNvPr id="23" name="Text 21"/>
          <p:cNvSpPr/>
          <p:nvPr/>
        </p:nvSpPr>
        <p:spPr>
          <a:xfrm>
            <a:off x="7498080" y="2404872"/>
            <a:ext cx="868680" cy="658368"/>
          </a:xfrm>
          <a:prstGeom prst="rect">
            <a:avLst/>
          </a:prstGeom>
          <a:noFill/>
          <a:ln/>
        </p:spPr>
        <p:txBody>
          <a:bodyPr wrap="square" lIns="0" tIns="0" rIns="0" bIns="0" rtlCol="0" anchor="ctr"/>
          <a:lstStyle/>
          <a:p>
            <a:pPr marL="0" indent="0" algn="r">
              <a:buNone/>
            </a:pPr>
            <a:r>
              <a:rPr lang="en-US" sz="1600" b="1" dirty="0">
                <a:solidFill>
                  <a:srgbClr val="1A1A2E"/>
                </a:solidFill>
                <a:latin typeface="Georgia" pitchFamily="34" charset="0"/>
                <a:ea typeface="Georgia" pitchFamily="34" charset="-122"/>
                <a:cs typeface="Georgia" pitchFamily="34" charset="-120"/>
              </a:rPr>
              <a:t>|α|²</a:t>
            </a:r>
            <a:endParaRPr lang="en-US" sz="1600" dirty="0"/>
          </a:p>
        </p:txBody>
      </p:sp>
      <p:sp>
        <p:nvSpPr>
          <p:cNvPr id="24" name="Text 22"/>
          <p:cNvSpPr/>
          <p:nvPr/>
        </p:nvSpPr>
        <p:spPr>
          <a:xfrm>
            <a:off x="5486400" y="3063240"/>
            <a:ext cx="3017520" cy="329184"/>
          </a:xfrm>
          <a:prstGeom prst="rect">
            <a:avLst/>
          </a:prstGeom>
          <a:noFill/>
          <a:ln/>
        </p:spPr>
        <p:txBody>
          <a:bodyPr wrap="square" lIns="0" tIns="0" rIns="0" bIns="0" rtlCol="0" anchor="ctr"/>
          <a:lstStyle/>
          <a:p>
            <a:pPr marL="0" indent="0" algn="ctr">
              <a:buNone/>
            </a:pPr>
            <a:r>
              <a:rPr lang="en-US" sz="1400" dirty="0">
                <a:solidFill>
                  <a:srgbClr val="3730A3"/>
                </a:solidFill>
                <a:latin typeface="Georgia" pitchFamily="34" charset="0"/>
                <a:ea typeface="Georgia" pitchFamily="34" charset="-122"/>
                <a:cs typeface="Georgia" pitchFamily="34" charset="-120"/>
              </a:rPr>
              <a:t>↓</a:t>
            </a:r>
            <a:endParaRPr lang="en-US" sz="1400" dirty="0"/>
          </a:p>
        </p:txBody>
      </p:sp>
      <p:sp>
        <p:nvSpPr>
          <p:cNvPr id="25" name="Card frame">
            <a:extLst>
              <a:ext uri="{C183D7F6-B498-43B3-948B-1728B52AA6E4}">
                <adec:decorative xmlns:adec="http://schemas.microsoft.com/office/drawing/2017/decorative" val="1"/>
              </a:ext>
            </a:extLst>
          </p:cNvPr>
          <p:cNvSpPr/>
          <p:nvPr/>
        </p:nvSpPr>
        <p:spPr>
          <a:xfrm>
            <a:off x="5486400" y="3392424"/>
            <a:ext cx="301752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26" name="Text 24"/>
          <p:cNvSpPr/>
          <p:nvPr/>
        </p:nvSpPr>
        <p:spPr>
          <a:xfrm>
            <a:off x="5669280" y="3392424"/>
            <a:ext cx="1920240" cy="658368"/>
          </a:xfrm>
          <a:prstGeom prst="rect">
            <a:avLst/>
          </a:prstGeom>
          <a:noFill/>
          <a:ln/>
        </p:spPr>
        <p:txBody>
          <a:bodyPr wrap="square" lIns="0" tIns="0" rIns="0" bIns="0" rtlCol="0" anchor="ctr"/>
          <a:lstStyle/>
          <a:p>
            <a:pPr marL="0" indent="0">
              <a:buNone/>
            </a:pPr>
            <a:r>
              <a:rPr lang="en-US" sz="1200" dirty="0">
                <a:solidFill>
                  <a:srgbClr val="6B7280"/>
                </a:solidFill>
                <a:latin typeface="Georgia" pitchFamily="34" charset="0"/>
                <a:ea typeface="Georgia" pitchFamily="34" charset="-122"/>
                <a:cs typeface="Georgia" pitchFamily="34" charset="-120"/>
              </a:rPr>
              <a:t>probability</a:t>
            </a:r>
            <a:endParaRPr lang="en-US" sz="1200" dirty="0"/>
          </a:p>
        </p:txBody>
      </p:sp>
      <p:sp>
        <p:nvSpPr>
          <p:cNvPr id="27" name="Text 25"/>
          <p:cNvSpPr/>
          <p:nvPr/>
        </p:nvSpPr>
        <p:spPr>
          <a:xfrm>
            <a:off x="7498080" y="3392424"/>
            <a:ext cx="868680" cy="658368"/>
          </a:xfrm>
          <a:prstGeom prst="rect">
            <a:avLst/>
          </a:prstGeom>
          <a:noFill/>
          <a:ln/>
        </p:spPr>
        <p:txBody>
          <a:bodyPr wrap="square" lIns="0" tIns="0" rIns="0" bIns="0" rtlCol="0" anchor="ctr"/>
          <a:lstStyle/>
          <a:p>
            <a:pPr marL="0" indent="0" algn="r">
              <a:buNone/>
            </a:pPr>
            <a:r>
              <a:rPr lang="en-US" sz="1600" b="1" dirty="0">
                <a:solidFill>
                  <a:srgbClr val="3730A3"/>
                </a:solidFill>
                <a:latin typeface="Georgia" pitchFamily="34" charset="0"/>
                <a:ea typeface="Georgia" pitchFamily="34" charset="-122"/>
                <a:cs typeface="Georgia" pitchFamily="34" charset="-120"/>
              </a:rPr>
              <a:t>p ≥ 0</a:t>
            </a:r>
            <a:endParaRPr lang="en-US" sz="1600" dirty="0"/>
          </a:p>
        </p:txBody>
      </p:sp>
      <p:sp>
        <p:nvSpPr>
          <p:cNvPr id="28" name="Text 26"/>
          <p:cNvSpPr/>
          <p:nvPr/>
        </p:nvSpPr>
        <p:spPr>
          <a:xfrm>
            <a:off x="640080" y="402336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Amplitudes may be complex; probabilities are always real and non-negative.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Worked example:  |+⟩ ⊗ |−⟩</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822960" y="1371600"/>
            <a:ext cx="3566160" cy="1051560"/>
          </a:xfrm>
          <a:prstGeom prst="roundRect">
            <a:avLst>
              <a:gd name="adj" fmla="val 5217"/>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051560" y="1371600"/>
            <a:ext cx="1188720" cy="1051560"/>
          </a:xfrm>
          <a:prstGeom prst="rect">
            <a:avLst/>
          </a:prstGeom>
          <a:noFill/>
          <a:ln/>
        </p:spPr>
        <p:txBody>
          <a:bodyPr wrap="square" lIns="0" tIns="0" rIns="0" bIns="0" rtlCol="0" anchor="ctr"/>
          <a:lstStyle/>
          <a:p>
            <a:pPr marL="0" indent="0">
              <a:buNone/>
            </a:pPr>
            <a:r>
              <a:rPr lang="en-US" sz="2000" dirty="0">
                <a:solidFill>
                  <a:srgbClr val="1A1A2E"/>
                </a:solidFill>
                <a:latin typeface="Georgia" pitchFamily="34" charset="0"/>
                <a:ea typeface="Georgia" pitchFamily="34" charset="-122"/>
                <a:cs typeface="Georgia" pitchFamily="34" charset="-120"/>
              </a:rPr>
              <a:t>|+⟩ =</a:t>
            </a:r>
            <a:endParaRPr lang="en-US" sz="2000" dirty="0"/>
          </a:p>
        </p:txBody>
      </p:sp>
      <p:sp>
        <p:nvSpPr>
          <p:cNvPr id="5" name="Text 3"/>
          <p:cNvSpPr/>
          <p:nvPr/>
        </p:nvSpPr>
        <p:spPr>
          <a:xfrm>
            <a:off x="2148840" y="1572768"/>
            <a:ext cx="2011680" cy="310896"/>
          </a:xfrm>
          <a:prstGeom prst="rect">
            <a:avLst/>
          </a:prstGeom>
          <a:noFill/>
          <a:ln/>
        </p:spPr>
        <p:txBody>
          <a:bodyPr wrap="square" lIns="0" tIns="0" rIns="0" bIns="0" rtlCol="0" anchor="b"/>
          <a:lstStyle/>
          <a:p>
            <a:pPr marL="0" indent="0" algn="ctr">
              <a:buNone/>
            </a:pPr>
            <a:r>
              <a:rPr lang="en-US" sz="1600" dirty="0">
                <a:solidFill>
                  <a:srgbClr val="1A1A2E"/>
                </a:solidFill>
                <a:latin typeface="Georgia" pitchFamily="34" charset="0"/>
                <a:ea typeface="Georgia" pitchFamily="34" charset="-122"/>
                <a:cs typeface="Georgia" pitchFamily="34" charset="-120"/>
              </a:rPr>
              <a:t>|0⟩ + |1⟩</a:t>
            </a:r>
            <a:endParaRPr lang="en-US" sz="1600" dirty="0"/>
          </a:p>
        </p:txBody>
      </p:sp>
      <p:sp>
        <p:nvSpPr>
          <p:cNvPr id="6" name="Fraction bar">
            <a:extLst>
              <a:ext uri="{C183D7F6-B498-43B3-948B-1728B52AA6E4}">
                <adec:decorative xmlns:adec="http://schemas.microsoft.com/office/drawing/2017/decorative" val="1"/>
              </a:ext>
            </a:extLst>
          </p:cNvPr>
          <p:cNvSpPr/>
          <p:nvPr/>
        </p:nvSpPr>
        <p:spPr>
          <a:xfrm>
            <a:off x="2240280" y="1901952"/>
            <a:ext cx="1828800" cy="0"/>
          </a:xfrm>
          <a:prstGeom prst="line">
            <a:avLst/>
          </a:prstGeom>
          <a:noFill/>
          <a:ln w="15875">
            <a:solidFill>
              <a:srgbClr val="1A1A2E"/>
            </a:solidFill>
            <a:prstDash val="solid"/>
          </a:ln>
        </p:spPr>
        <p:txBody>
          <a:bodyPr/>
          <a:lstStyle/>
          <a:p>
            <a:endParaRPr lang="en-US"/>
          </a:p>
        </p:txBody>
      </p:sp>
      <p:sp>
        <p:nvSpPr>
          <p:cNvPr id="7" name="Text 5"/>
          <p:cNvSpPr/>
          <p:nvPr/>
        </p:nvSpPr>
        <p:spPr>
          <a:xfrm>
            <a:off x="2148840" y="1920240"/>
            <a:ext cx="2011680" cy="310896"/>
          </a:xfrm>
          <a:prstGeom prst="rect">
            <a:avLst/>
          </a:prstGeom>
          <a:noFill/>
          <a:ln/>
        </p:spPr>
        <p:txBody>
          <a:bodyPr wrap="square" lIns="0" tIns="0" rIns="0" bIns="0" rtlCol="0" anchor="t"/>
          <a:lstStyle/>
          <a:p>
            <a:pPr marL="0" indent="0" algn="ctr">
              <a:buNone/>
            </a:pPr>
            <a:r>
              <a:rPr lang="en-US" sz="1600" dirty="0">
                <a:solidFill>
                  <a:srgbClr val="1A1A2E"/>
                </a:solidFill>
                <a:latin typeface="Georgia" pitchFamily="34" charset="0"/>
                <a:ea typeface="Georgia" pitchFamily="34" charset="-122"/>
                <a:cs typeface="Georgia" pitchFamily="34" charset="-120"/>
              </a:rPr>
              <a:t>√2</a:t>
            </a:r>
            <a:endParaRPr lang="en-US" sz="1600" dirty="0"/>
          </a:p>
        </p:txBody>
      </p:sp>
      <p:sp>
        <p:nvSpPr>
          <p:cNvPr id="8" name="Card frame">
            <a:extLst>
              <a:ext uri="{C183D7F6-B498-43B3-948B-1728B52AA6E4}">
                <adec:decorative xmlns:adec="http://schemas.microsoft.com/office/drawing/2017/decorative" val="1"/>
              </a:ext>
            </a:extLst>
          </p:cNvPr>
          <p:cNvSpPr/>
          <p:nvPr/>
        </p:nvSpPr>
        <p:spPr>
          <a:xfrm>
            <a:off x="4754880" y="1371600"/>
            <a:ext cx="3566160" cy="1051560"/>
          </a:xfrm>
          <a:prstGeom prst="roundRect">
            <a:avLst>
              <a:gd name="adj" fmla="val 5217"/>
            </a:avLst>
          </a:prstGeom>
          <a:solidFill>
            <a:srgbClr val="FFFFFF"/>
          </a:solidFill>
          <a:ln w="12700">
            <a:solidFill>
              <a:srgbClr val="D4D7DD"/>
            </a:solidFill>
            <a:prstDash val="solid"/>
          </a:ln>
        </p:spPr>
        <p:txBody>
          <a:bodyPr/>
          <a:lstStyle/>
          <a:p>
            <a:endParaRPr lang="en-US"/>
          </a:p>
        </p:txBody>
      </p:sp>
      <p:sp>
        <p:nvSpPr>
          <p:cNvPr id="9" name="Text 7"/>
          <p:cNvSpPr/>
          <p:nvPr/>
        </p:nvSpPr>
        <p:spPr>
          <a:xfrm>
            <a:off x="4983480" y="1371600"/>
            <a:ext cx="1188720" cy="1051560"/>
          </a:xfrm>
          <a:prstGeom prst="rect">
            <a:avLst/>
          </a:prstGeom>
          <a:noFill/>
          <a:ln/>
        </p:spPr>
        <p:txBody>
          <a:bodyPr wrap="square" lIns="0" tIns="0" rIns="0" bIns="0" rtlCol="0" anchor="ctr"/>
          <a:lstStyle/>
          <a:p>
            <a:pPr marL="0" indent="0">
              <a:buNone/>
            </a:pPr>
            <a:r>
              <a:rPr lang="en-US" sz="2000" dirty="0">
                <a:solidFill>
                  <a:srgbClr val="1A1A2E"/>
                </a:solidFill>
                <a:latin typeface="Georgia" pitchFamily="34" charset="0"/>
                <a:ea typeface="Georgia" pitchFamily="34" charset="-122"/>
                <a:cs typeface="Georgia" pitchFamily="34" charset="-120"/>
              </a:rPr>
              <a:t>|−⟩ =</a:t>
            </a:r>
            <a:endParaRPr lang="en-US" sz="2000" dirty="0"/>
          </a:p>
        </p:txBody>
      </p:sp>
      <p:sp>
        <p:nvSpPr>
          <p:cNvPr id="10" name="Text 8"/>
          <p:cNvSpPr/>
          <p:nvPr/>
        </p:nvSpPr>
        <p:spPr>
          <a:xfrm>
            <a:off x="6080760" y="1572768"/>
            <a:ext cx="2011680" cy="310896"/>
          </a:xfrm>
          <a:prstGeom prst="rect">
            <a:avLst/>
          </a:prstGeom>
          <a:noFill/>
          <a:ln/>
        </p:spPr>
        <p:txBody>
          <a:bodyPr wrap="square" lIns="0" tIns="0" rIns="0" bIns="0" rtlCol="0" anchor="b"/>
          <a:lstStyle/>
          <a:p>
            <a:pPr marL="0" indent="0" algn="ctr">
              <a:buNone/>
            </a:pPr>
            <a:r>
              <a:rPr lang="en-US" sz="1600" dirty="0">
                <a:solidFill>
                  <a:srgbClr val="1A1A2E"/>
                </a:solidFill>
                <a:latin typeface="Georgia" pitchFamily="34" charset="0"/>
                <a:ea typeface="Georgia" pitchFamily="34" charset="-122"/>
                <a:cs typeface="Georgia" pitchFamily="34" charset="-120"/>
              </a:rPr>
              <a:t>|0⟩ − |1⟩</a:t>
            </a:r>
            <a:endParaRPr lang="en-US" sz="1600" dirty="0"/>
          </a:p>
        </p:txBody>
      </p:sp>
      <p:sp>
        <p:nvSpPr>
          <p:cNvPr id="11" name="Fraction bar">
            <a:extLst>
              <a:ext uri="{C183D7F6-B498-43B3-948B-1728B52AA6E4}">
                <adec:decorative xmlns:adec="http://schemas.microsoft.com/office/drawing/2017/decorative" val="1"/>
              </a:ext>
            </a:extLst>
          </p:cNvPr>
          <p:cNvSpPr/>
          <p:nvPr/>
        </p:nvSpPr>
        <p:spPr>
          <a:xfrm>
            <a:off x="6172200" y="1901952"/>
            <a:ext cx="1828800" cy="0"/>
          </a:xfrm>
          <a:prstGeom prst="line">
            <a:avLst/>
          </a:prstGeom>
          <a:noFill/>
          <a:ln w="15875">
            <a:solidFill>
              <a:srgbClr val="1A1A2E"/>
            </a:solidFill>
            <a:prstDash val="solid"/>
          </a:ln>
        </p:spPr>
        <p:txBody>
          <a:bodyPr/>
          <a:lstStyle/>
          <a:p>
            <a:endParaRPr lang="en-US"/>
          </a:p>
        </p:txBody>
      </p:sp>
      <p:sp>
        <p:nvSpPr>
          <p:cNvPr id="12" name="Text 10"/>
          <p:cNvSpPr/>
          <p:nvPr/>
        </p:nvSpPr>
        <p:spPr>
          <a:xfrm>
            <a:off x="6080760" y="1920240"/>
            <a:ext cx="2011680" cy="310896"/>
          </a:xfrm>
          <a:prstGeom prst="rect">
            <a:avLst/>
          </a:prstGeom>
          <a:noFill/>
          <a:ln/>
        </p:spPr>
        <p:txBody>
          <a:bodyPr wrap="square" lIns="0" tIns="0" rIns="0" bIns="0" rtlCol="0" anchor="t"/>
          <a:lstStyle/>
          <a:p>
            <a:pPr marL="0" indent="0" algn="ctr">
              <a:buNone/>
            </a:pPr>
            <a:r>
              <a:rPr lang="en-US" sz="1600" dirty="0">
                <a:solidFill>
                  <a:srgbClr val="1A1A2E"/>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640080" y="2487168"/>
            <a:ext cx="7863840" cy="365760"/>
          </a:xfrm>
          <a:prstGeom prst="rect">
            <a:avLst/>
          </a:prstGeom>
          <a:noFill/>
          <a:ln/>
        </p:spPr>
        <p:txBody>
          <a:bodyPr wrap="square" lIns="0" tIns="0" rIns="0" bIns="0" rtlCol="0" anchor="ctr"/>
          <a:lstStyle/>
          <a:p>
            <a:pPr marL="0" indent="0" algn="ctr">
              <a:buNone/>
            </a:pPr>
            <a:r>
              <a:rPr lang="en-US" sz="1800" dirty="0">
                <a:solidFill>
                  <a:srgbClr val="3730A3"/>
                </a:solidFill>
                <a:latin typeface="Georgia" pitchFamily="34" charset="0"/>
                <a:ea typeface="Georgia" pitchFamily="34" charset="-122"/>
                <a:cs typeface="Georgia" pitchFamily="34" charset="-120"/>
              </a:rPr>
              <a:t>↓</a:t>
            </a:r>
            <a:endParaRPr lang="en-US" sz="1800" dirty="0"/>
          </a:p>
        </p:txBody>
      </p:sp>
      <p:sp>
        <p:nvSpPr>
          <p:cNvPr id="14" name="Card frame">
            <a:extLst>
              <a:ext uri="{C183D7F6-B498-43B3-948B-1728B52AA6E4}">
                <adec:decorative xmlns:adec="http://schemas.microsoft.com/office/drawing/2017/decorative" val="1"/>
              </a:ext>
            </a:extLst>
          </p:cNvPr>
          <p:cNvSpPr/>
          <p:nvPr/>
        </p:nvSpPr>
        <p:spPr>
          <a:xfrm>
            <a:off x="822960" y="2926080"/>
            <a:ext cx="7498080" cy="109728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5" name="Text 13"/>
          <p:cNvSpPr/>
          <p:nvPr/>
        </p:nvSpPr>
        <p:spPr>
          <a:xfrm>
            <a:off x="1143000" y="2926080"/>
            <a:ext cx="1920240" cy="1097280"/>
          </a:xfrm>
          <a:prstGeom prst="rect">
            <a:avLst/>
          </a:prstGeom>
          <a:noFill/>
          <a:ln/>
        </p:spPr>
        <p:txBody>
          <a:bodyPr wrap="square" lIns="0" tIns="0" rIns="0" bIns="0" rtlCol="0" anchor="ctr"/>
          <a:lstStyle/>
          <a:p>
            <a:pPr marL="0" indent="0">
              <a:buNone/>
            </a:pPr>
            <a:r>
              <a:rPr lang="en-US" sz="2000" b="1" dirty="0">
                <a:solidFill>
                  <a:srgbClr val="3730A3"/>
                </a:solidFill>
                <a:latin typeface="Georgia" pitchFamily="34" charset="0"/>
                <a:ea typeface="Georgia" pitchFamily="34" charset="-122"/>
                <a:cs typeface="Georgia" pitchFamily="34" charset="-120"/>
              </a:rPr>
              <a:t>|+⟩|−⟩  =</a:t>
            </a:r>
            <a:endParaRPr lang="en-US" sz="2000" dirty="0"/>
          </a:p>
        </p:txBody>
      </p:sp>
      <p:sp>
        <p:nvSpPr>
          <p:cNvPr id="16" name="Text 14"/>
          <p:cNvSpPr/>
          <p:nvPr/>
        </p:nvSpPr>
        <p:spPr>
          <a:xfrm>
            <a:off x="2971800" y="3145536"/>
            <a:ext cx="685800" cy="310896"/>
          </a:xfrm>
          <a:prstGeom prst="rect">
            <a:avLst/>
          </a:prstGeom>
          <a:noFill/>
          <a:ln/>
        </p:spPr>
        <p:txBody>
          <a:bodyPr wrap="square" lIns="0" tIns="0" rIns="0" bIns="0" rtlCol="0" anchor="b"/>
          <a:lstStyle/>
          <a:p>
            <a:pPr marL="0" indent="0" algn="ctr">
              <a:buNone/>
            </a:pPr>
            <a:r>
              <a:rPr lang="en-US" sz="1600" dirty="0">
                <a:solidFill>
                  <a:srgbClr val="3730A3"/>
                </a:solidFill>
                <a:latin typeface="Georgia" pitchFamily="34" charset="0"/>
                <a:ea typeface="Georgia" pitchFamily="34" charset="-122"/>
                <a:cs typeface="Georgia" pitchFamily="34" charset="-120"/>
              </a:rPr>
              <a:t>1</a:t>
            </a:r>
            <a:endParaRPr lang="en-US" sz="1600" dirty="0"/>
          </a:p>
        </p:txBody>
      </p:sp>
      <p:sp>
        <p:nvSpPr>
          <p:cNvPr id="17" name="Fraction bar">
            <a:extLst>
              <a:ext uri="{C183D7F6-B498-43B3-948B-1728B52AA6E4}">
                <adec:decorative xmlns:adec="http://schemas.microsoft.com/office/drawing/2017/decorative" val="1"/>
              </a:ext>
            </a:extLst>
          </p:cNvPr>
          <p:cNvSpPr/>
          <p:nvPr/>
        </p:nvSpPr>
        <p:spPr>
          <a:xfrm>
            <a:off x="3063240" y="3474720"/>
            <a:ext cx="502920" cy="0"/>
          </a:xfrm>
          <a:prstGeom prst="line">
            <a:avLst/>
          </a:prstGeom>
          <a:noFill/>
          <a:ln w="15875">
            <a:solidFill>
              <a:srgbClr val="3730A3"/>
            </a:solidFill>
            <a:prstDash val="solid"/>
          </a:ln>
        </p:spPr>
        <p:txBody>
          <a:bodyPr/>
          <a:lstStyle/>
          <a:p>
            <a:endParaRPr lang="en-US"/>
          </a:p>
        </p:txBody>
      </p:sp>
      <p:sp>
        <p:nvSpPr>
          <p:cNvPr id="18" name="Text 16"/>
          <p:cNvSpPr/>
          <p:nvPr/>
        </p:nvSpPr>
        <p:spPr>
          <a:xfrm>
            <a:off x="2971800" y="3493008"/>
            <a:ext cx="685800" cy="310896"/>
          </a:xfrm>
          <a:prstGeom prst="rect">
            <a:avLst/>
          </a:prstGeom>
          <a:noFill/>
          <a:ln/>
        </p:spPr>
        <p:txBody>
          <a:bodyPr wrap="square" lIns="0" tIns="0" rIns="0" bIns="0" rtlCol="0" anchor="t"/>
          <a:lstStyle/>
          <a:p>
            <a:pPr marL="0" indent="0" algn="ctr">
              <a:buNone/>
            </a:pPr>
            <a:r>
              <a:rPr lang="en-US" sz="1600" dirty="0">
                <a:solidFill>
                  <a:srgbClr val="3730A3"/>
                </a:solidFill>
                <a:latin typeface="Georgia" pitchFamily="34" charset="0"/>
                <a:ea typeface="Georgia" pitchFamily="34" charset="-122"/>
                <a:cs typeface="Georgia" pitchFamily="34" charset="-120"/>
              </a:rPr>
              <a:t>2</a:t>
            </a:r>
            <a:endParaRPr lang="en-US" sz="1600" dirty="0"/>
          </a:p>
        </p:txBody>
      </p:sp>
      <p:sp>
        <p:nvSpPr>
          <p:cNvPr id="19" name="Text 17"/>
          <p:cNvSpPr/>
          <p:nvPr/>
        </p:nvSpPr>
        <p:spPr>
          <a:xfrm>
            <a:off x="3703320" y="2926080"/>
            <a:ext cx="4389120" cy="109728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 |00⟩ − |01⟩ + |10⟩ − |11⟩ )</a:t>
            </a:r>
            <a:endParaRPr lang="en-US" sz="1900" dirty="0"/>
          </a:p>
        </p:txBody>
      </p:sp>
      <p:sp>
        <p:nvSpPr>
          <p:cNvPr id="20" name="Text 18"/>
          <p:cNvSpPr/>
          <p:nvPr/>
        </p:nvSpPr>
        <p:spPr>
          <a:xfrm>
            <a:off x="640080" y="416052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Expand by distributivity, then collect the four basis terms (Exercise E1).</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Normalization check</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2377440" y="1325880"/>
            <a:ext cx="4389120" cy="960120"/>
          </a:xfrm>
          <a:prstGeom prst="roundRect">
            <a:avLst>
              <a:gd name="adj" fmla="val 5714"/>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2377440" y="1325880"/>
            <a:ext cx="4389120" cy="960120"/>
          </a:xfrm>
          <a:prstGeom prst="rect">
            <a:avLst/>
          </a:prstGeom>
          <a:noFill/>
          <a:ln/>
        </p:spPr>
        <p:txBody>
          <a:bodyPr wrap="square" lIns="0" tIns="0" rIns="0" bIns="0" rtlCol="0" anchor="ctr"/>
          <a:lstStyle/>
          <a:p>
            <a:pPr marL="0" indent="0" algn="ctr">
              <a:buNone/>
            </a:pPr>
            <a:r>
              <a:rPr lang="en-US" sz="2600" b="1" dirty="0">
                <a:solidFill>
                  <a:srgbClr val="3730A3"/>
                </a:solidFill>
                <a:latin typeface="Georgia" pitchFamily="34" charset="0"/>
                <a:ea typeface="Georgia" pitchFamily="34" charset="-122"/>
                <a:cs typeface="Georgia" pitchFamily="34" charset="-120"/>
              </a:rPr>
              <a:t>4 × ( ¼ )  =  1</a:t>
            </a:r>
            <a:endParaRPr lang="en-US" sz="2600" dirty="0"/>
          </a:p>
        </p:txBody>
      </p:sp>
      <p:sp>
        <p:nvSpPr>
          <p:cNvPr id="5" name="Text 3"/>
          <p:cNvSpPr/>
          <p:nvPr/>
        </p:nvSpPr>
        <p:spPr>
          <a:xfrm>
            <a:off x="640080" y="2359152"/>
            <a:ext cx="7863840" cy="292608"/>
          </a:xfrm>
          <a:prstGeom prst="rect">
            <a:avLst/>
          </a:prstGeom>
          <a:noFill/>
          <a:ln/>
        </p:spPr>
        <p:txBody>
          <a:bodyPr wrap="square" lIns="0" tIns="0" rIns="0" bIns="0" rtlCol="0" anchor="ctr"/>
          <a:lstStyle/>
          <a:p>
            <a:pPr marL="0" indent="0" algn="ctr">
              <a:buNone/>
            </a:pPr>
            <a:r>
              <a:rPr lang="en-US" sz="1150" i="1" dirty="0">
                <a:solidFill>
                  <a:srgbClr val="6B7280"/>
                </a:solidFill>
                <a:latin typeface="Georgia" pitchFamily="34" charset="0"/>
                <a:ea typeface="Georgia" pitchFamily="34" charset="-122"/>
                <a:cs typeface="Georgia" pitchFamily="34" charset="-120"/>
              </a:rPr>
              <a:t>each outcome carries probability |±½|² = ¼</a:t>
            </a:r>
            <a:endParaRPr lang="en-US" sz="1150" dirty="0"/>
          </a:p>
        </p:txBody>
      </p:sp>
      <p:sp>
        <p:nvSpPr>
          <p:cNvPr id="6" name="Probability bar">
            <a:extLst>
              <a:ext uri="{C183D7F6-B498-43B3-948B-1728B52AA6E4}">
                <adec:decorative xmlns:adec="http://schemas.microsoft.com/office/drawing/2017/decorative" val="1"/>
              </a:ext>
            </a:extLst>
          </p:cNvPr>
          <p:cNvSpPr/>
          <p:nvPr/>
        </p:nvSpPr>
        <p:spPr>
          <a:xfrm>
            <a:off x="1211580" y="3063240"/>
            <a:ext cx="1371600" cy="1005840"/>
          </a:xfrm>
          <a:prstGeom prst="rect">
            <a:avLst/>
          </a:prstGeom>
          <a:solidFill>
            <a:srgbClr val="3730A3"/>
          </a:solidFill>
          <a:ln w="12700">
            <a:solidFill>
              <a:srgbClr val="3730A3"/>
            </a:solidFill>
            <a:prstDash val="solid"/>
          </a:ln>
        </p:spPr>
        <p:txBody>
          <a:bodyPr/>
          <a:lstStyle/>
          <a:p>
            <a:endParaRPr lang="en-US"/>
          </a:p>
        </p:txBody>
      </p:sp>
      <p:sp>
        <p:nvSpPr>
          <p:cNvPr id="7" name="Text 5"/>
          <p:cNvSpPr/>
          <p:nvPr/>
        </p:nvSpPr>
        <p:spPr>
          <a:xfrm>
            <a:off x="1211580" y="2734056"/>
            <a:ext cx="1371600" cy="292608"/>
          </a:xfrm>
          <a:prstGeom prst="rect">
            <a:avLst/>
          </a:prstGeom>
          <a:noFill/>
          <a:ln/>
        </p:spPr>
        <p:txBody>
          <a:bodyPr wrap="square" lIns="0" tIns="0" rIns="0" bIns="0" rtlCol="0" anchor="ctr"/>
          <a:lstStyle/>
          <a:p>
            <a:pPr marL="0" indent="0" algn="ctr">
              <a:buNone/>
            </a:pPr>
            <a:r>
              <a:rPr lang="en-US" sz="1200" b="1" dirty="0">
                <a:solidFill>
                  <a:srgbClr val="1A1A2E"/>
                </a:solidFill>
                <a:latin typeface="Georgia" pitchFamily="34" charset="0"/>
                <a:ea typeface="Georgia" pitchFamily="34" charset="-122"/>
                <a:cs typeface="Georgia" pitchFamily="34" charset="-120"/>
              </a:rPr>
              <a:t>0.25</a:t>
            </a:r>
            <a:endParaRPr lang="en-US" sz="1200" dirty="0"/>
          </a:p>
        </p:txBody>
      </p:sp>
      <p:sp>
        <p:nvSpPr>
          <p:cNvPr id="8" name="Text 6"/>
          <p:cNvSpPr/>
          <p:nvPr/>
        </p:nvSpPr>
        <p:spPr>
          <a:xfrm>
            <a:off x="1211580" y="4142232"/>
            <a:ext cx="137160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|00⟩</a:t>
            </a:r>
            <a:endParaRPr lang="en-US" sz="1400" dirty="0"/>
          </a:p>
        </p:txBody>
      </p:sp>
      <p:sp>
        <p:nvSpPr>
          <p:cNvPr id="9" name="Probability bar">
            <a:extLst>
              <a:ext uri="{C183D7F6-B498-43B3-948B-1728B52AA6E4}">
                <adec:decorative xmlns:adec="http://schemas.microsoft.com/office/drawing/2017/decorative" val="1"/>
              </a:ext>
            </a:extLst>
          </p:cNvPr>
          <p:cNvSpPr/>
          <p:nvPr/>
        </p:nvSpPr>
        <p:spPr>
          <a:xfrm>
            <a:off x="2994660" y="3063240"/>
            <a:ext cx="1371600" cy="1005840"/>
          </a:xfrm>
          <a:prstGeom prst="rect">
            <a:avLst/>
          </a:prstGeom>
          <a:solidFill>
            <a:srgbClr val="3730A3"/>
          </a:solidFill>
          <a:ln w="12700">
            <a:solidFill>
              <a:srgbClr val="3730A3"/>
            </a:solidFill>
            <a:prstDash val="solid"/>
          </a:ln>
        </p:spPr>
        <p:txBody>
          <a:bodyPr/>
          <a:lstStyle/>
          <a:p>
            <a:endParaRPr lang="en-US"/>
          </a:p>
        </p:txBody>
      </p:sp>
      <p:sp>
        <p:nvSpPr>
          <p:cNvPr id="10" name="Text 8"/>
          <p:cNvSpPr/>
          <p:nvPr/>
        </p:nvSpPr>
        <p:spPr>
          <a:xfrm>
            <a:off x="2994660" y="2734056"/>
            <a:ext cx="1371600" cy="292608"/>
          </a:xfrm>
          <a:prstGeom prst="rect">
            <a:avLst/>
          </a:prstGeom>
          <a:noFill/>
          <a:ln/>
        </p:spPr>
        <p:txBody>
          <a:bodyPr wrap="square" lIns="0" tIns="0" rIns="0" bIns="0" rtlCol="0" anchor="ctr"/>
          <a:lstStyle/>
          <a:p>
            <a:pPr marL="0" indent="0" algn="ctr">
              <a:buNone/>
            </a:pPr>
            <a:r>
              <a:rPr lang="en-US" sz="1200" b="1" dirty="0">
                <a:solidFill>
                  <a:srgbClr val="1A1A2E"/>
                </a:solidFill>
                <a:latin typeface="Georgia" pitchFamily="34" charset="0"/>
                <a:ea typeface="Georgia" pitchFamily="34" charset="-122"/>
                <a:cs typeface="Georgia" pitchFamily="34" charset="-120"/>
              </a:rPr>
              <a:t>0.25</a:t>
            </a:r>
            <a:endParaRPr lang="en-US" sz="1200" dirty="0"/>
          </a:p>
        </p:txBody>
      </p:sp>
      <p:sp>
        <p:nvSpPr>
          <p:cNvPr id="11" name="Text 9"/>
          <p:cNvSpPr/>
          <p:nvPr/>
        </p:nvSpPr>
        <p:spPr>
          <a:xfrm>
            <a:off x="2994660" y="4142232"/>
            <a:ext cx="137160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|01⟩</a:t>
            </a:r>
            <a:endParaRPr lang="en-US" sz="1400" dirty="0"/>
          </a:p>
        </p:txBody>
      </p:sp>
      <p:sp>
        <p:nvSpPr>
          <p:cNvPr id="12" name="Probability bar">
            <a:extLst>
              <a:ext uri="{C183D7F6-B498-43B3-948B-1728B52AA6E4}">
                <adec:decorative xmlns:adec="http://schemas.microsoft.com/office/drawing/2017/decorative" val="1"/>
              </a:ext>
            </a:extLst>
          </p:cNvPr>
          <p:cNvSpPr/>
          <p:nvPr/>
        </p:nvSpPr>
        <p:spPr>
          <a:xfrm>
            <a:off x="4777740" y="3063240"/>
            <a:ext cx="1371600" cy="1005840"/>
          </a:xfrm>
          <a:prstGeom prst="rect">
            <a:avLst/>
          </a:prstGeom>
          <a:solidFill>
            <a:srgbClr val="3730A3"/>
          </a:solidFill>
          <a:ln w="12700">
            <a:solidFill>
              <a:srgbClr val="3730A3"/>
            </a:solidFill>
            <a:prstDash val="solid"/>
          </a:ln>
        </p:spPr>
        <p:txBody>
          <a:bodyPr/>
          <a:lstStyle/>
          <a:p>
            <a:endParaRPr lang="en-US"/>
          </a:p>
        </p:txBody>
      </p:sp>
      <p:sp>
        <p:nvSpPr>
          <p:cNvPr id="13" name="Text 11"/>
          <p:cNvSpPr/>
          <p:nvPr/>
        </p:nvSpPr>
        <p:spPr>
          <a:xfrm>
            <a:off x="4777740" y="2734056"/>
            <a:ext cx="1371600" cy="292608"/>
          </a:xfrm>
          <a:prstGeom prst="rect">
            <a:avLst/>
          </a:prstGeom>
          <a:noFill/>
          <a:ln/>
        </p:spPr>
        <p:txBody>
          <a:bodyPr wrap="square" lIns="0" tIns="0" rIns="0" bIns="0" rtlCol="0" anchor="ctr"/>
          <a:lstStyle/>
          <a:p>
            <a:pPr marL="0" indent="0" algn="ctr">
              <a:buNone/>
            </a:pPr>
            <a:r>
              <a:rPr lang="en-US" sz="1200" b="1" dirty="0">
                <a:solidFill>
                  <a:srgbClr val="1A1A2E"/>
                </a:solidFill>
                <a:latin typeface="Georgia" pitchFamily="34" charset="0"/>
                <a:ea typeface="Georgia" pitchFamily="34" charset="-122"/>
                <a:cs typeface="Georgia" pitchFamily="34" charset="-120"/>
              </a:rPr>
              <a:t>0.25</a:t>
            </a:r>
            <a:endParaRPr lang="en-US" sz="1200" dirty="0"/>
          </a:p>
        </p:txBody>
      </p:sp>
      <p:sp>
        <p:nvSpPr>
          <p:cNvPr id="14" name="Text 12"/>
          <p:cNvSpPr/>
          <p:nvPr/>
        </p:nvSpPr>
        <p:spPr>
          <a:xfrm>
            <a:off x="4777740" y="4142232"/>
            <a:ext cx="137160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|10⟩</a:t>
            </a:r>
            <a:endParaRPr lang="en-US" sz="1400" dirty="0"/>
          </a:p>
        </p:txBody>
      </p:sp>
      <p:sp>
        <p:nvSpPr>
          <p:cNvPr id="15" name="Probability bar">
            <a:extLst>
              <a:ext uri="{C183D7F6-B498-43B3-948B-1728B52AA6E4}">
                <adec:decorative xmlns:adec="http://schemas.microsoft.com/office/drawing/2017/decorative" val="1"/>
              </a:ext>
            </a:extLst>
          </p:cNvPr>
          <p:cNvSpPr/>
          <p:nvPr/>
        </p:nvSpPr>
        <p:spPr>
          <a:xfrm>
            <a:off x="6560820" y="3063240"/>
            <a:ext cx="1371600" cy="1005840"/>
          </a:xfrm>
          <a:prstGeom prst="rect">
            <a:avLst/>
          </a:prstGeom>
          <a:solidFill>
            <a:srgbClr val="3730A3"/>
          </a:solidFill>
          <a:ln w="12700">
            <a:solidFill>
              <a:srgbClr val="3730A3"/>
            </a:solidFill>
            <a:prstDash val="solid"/>
          </a:ln>
        </p:spPr>
        <p:txBody>
          <a:bodyPr/>
          <a:lstStyle/>
          <a:p>
            <a:endParaRPr lang="en-US"/>
          </a:p>
        </p:txBody>
      </p:sp>
      <p:sp>
        <p:nvSpPr>
          <p:cNvPr id="16" name="Text 14"/>
          <p:cNvSpPr/>
          <p:nvPr/>
        </p:nvSpPr>
        <p:spPr>
          <a:xfrm>
            <a:off x="6560820" y="2734056"/>
            <a:ext cx="1371600" cy="292608"/>
          </a:xfrm>
          <a:prstGeom prst="rect">
            <a:avLst/>
          </a:prstGeom>
          <a:noFill/>
          <a:ln/>
        </p:spPr>
        <p:txBody>
          <a:bodyPr wrap="square" lIns="0" tIns="0" rIns="0" bIns="0" rtlCol="0" anchor="ctr"/>
          <a:lstStyle/>
          <a:p>
            <a:pPr marL="0" indent="0" algn="ctr">
              <a:buNone/>
            </a:pPr>
            <a:r>
              <a:rPr lang="en-US" sz="1200" b="1" dirty="0">
                <a:solidFill>
                  <a:srgbClr val="1A1A2E"/>
                </a:solidFill>
                <a:latin typeface="Georgia" pitchFamily="34" charset="0"/>
                <a:ea typeface="Georgia" pitchFamily="34" charset="-122"/>
                <a:cs typeface="Georgia" pitchFamily="34" charset="-120"/>
              </a:rPr>
              <a:t>0.25</a:t>
            </a:r>
            <a:endParaRPr lang="en-US" sz="1200" dirty="0"/>
          </a:p>
        </p:txBody>
      </p:sp>
      <p:sp>
        <p:nvSpPr>
          <p:cNvPr id="17" name="Text 15"/>
          <p:cNvSpPr/>
          <p:nvPr/>
        </p:nvSpPr>
        <p:spPr>
          <a:xfrm>
            <a:off x="6560820" y="4142232"/>
            <a:ext cx="1371600" cy="310896"/>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|11⟩</a:t>
            </a:r>
            <a:endParaRPr lang="en-US" sz="1400" dirty="0"/>
          </a:p>
        </p:txBody>
      </p:sp>
      <p:sp>
        <p:nvSpPr>
          <p:cNvPr id="18" name="Baseline">
            <a:extLst>
              <a:ext uri="{C183D7F6-B498-43B3-948B-1728B52AA6E4}">
                <adec:decorative xmlns:adec="http://schemas.microsoft.com/office/drawing/2017/decorative" val="1"/>
              </a:ext>
            </a:extLst>
          </p:cNvPr>
          <p:cNvSpPr/>
          <p:nvPr/>
        </p:nvSpPr>
        <p:spPr>
          <a:xfrm>
            <a:off x="640080" y="4069080"/>
            <a:ext cx="7863840" cy="0"/>
          </a:xfrm>
          <a:prstGeom prst="line">
            <a:avLst/>
          </a:prstGeom>
          <a:noFill/>
          <a:ln w="12700">
            <a:solidFill>
              <a:srgbClr val="D4D7DD"/>
            </a:solidFill>
            <a:prstDash val="solid"/>
          </a:ln>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Matrix representation</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051560" y="1371600"/>
            <a:ext cx="3291840" cy="2834640"/>
          </a:xfrm>
          <a:prstGeom prst="roundRect">
            <a:avLst>
              <a:gd name="adj" fmla="val 1935"/>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1280160" y="1371600"/>
            <a:ext cx="1188720" cy="2834640"/>
          </a:xfrm>
          <a:prstGeom prst="rect">
            <a:avLst/>
          </a:prstGeom>
          <a:noFill/>
          <a:ln/>
        </p:spPr>
        <p:txBody>
          <a:bodyPr wrap="square" lIns="0" tIns="0" rIns="0" bIns="0" rtlCol="0" anchor="ctr"/>
          <a:lstStyle/>
          <a:p>
            <a:pPr marL="0" indent="0">
              <a:buNone/>
            </a:pPr>
            <a:r>
              <a:rPr lang="en-US" sz="2200" b="1" dirty="0">
                <a:solidFill>
                  <a:srgbClr val="3730A3"/>
                </a:solidFill>
                <a:latin typeface="Georgia" pitchFamily="34" charset="0"/>
                <a:ea typeface="Georgia" pitchFamily="34" charset="-122"/>
                <a:cs typeface="Georgia" pitchFamily="34" charset="-120"/>
              </a:rPr>
              <a:t>|ψ⟩  =</a:t>
            </a:r>
            <a:endParaRPr lang="en-US" sz="2200" dirty="0"/>
          </a:p>
        </p:txBody>
      </p:sp>
      <p:sp>
        <p:nvSpPr>
          <p:cNvPr id="5" name="Vector bracket">
            <a:extLst>
              <a:ext uri="{C183D7F6-B498-43B3-948B-1728B52AA6E4}">
                <adec:decorative xmlns:adec="http://schemas.microsoft.com/office/drawing/2017/decorative" val="1"/>
              </a:ext>
            </a:extLst>
          </p:cNvPr>
          <p:cNvSpPr/>
          <p:nvPr/>
        </p:nvSpPr>
        <p:spPr>
          <a:xfrm>
            <a:off x="2724912" y="1783080"/>
            <a:ext cx="0" cy="2011680"/>
          </a:xfrm>
          <a:prstGeom prst="line">
            <a:avLst/>
          </a:prstGeom>
          <a:noFill/>
          <a:ln w="19050">
            <a:solidFill>
              <a:srgbClr val="1A1A2E"/>
            </a:solidFill>
            <a:prstDash val="solid"/>
          </a:ln>
        </p:spPr>
        <p:txBody>
          <a:bodyPr/>
          <a:lstStyle/>
          <a:p>
            <a:endParaRPr lang="en-US"/>
          </a:p>
        </p:txBody>
      </p:sp>
      <p:sp>
        <p:nvSpPr>
          <p:cNvPr id="6" name="Vector bracket tick">
            <a:extLst>
              <a:ext uri="{C183D7F6-B498-43B3-948B-1728B52AA6E4}">
                <adec:decorative xmlns:adec="http://schemas.microsoft.com/office/drawing/2017/decorative" val="1"/>
              </a:ext>
            </a:extLst>
          </p:cNvPr>
          <p:cNvSpPr/>
          <p:nvPr/>
        </p:nvSpPr>
        <p:spPr>
          <a:xfrm>
            <a:off x="2724912" y="1783080"/>
            <a:ext cx="146304" cy="0"/>
          </a:xfrm>
          <a:prstGeom prst="line">
            <a:avLst/>
          </a:prstGeom>
          <a:noFill/>
          <a:ln w="19050">
            <a:solidFill>
              <a:srgbClr val="1A1A2E"/>
            </a:solidFill>
            <a:prstDash val="solid"/>
          </a:ln>
        </p:spPr>
        <p:txBody>
          <a:bodyPr/>
          <a:lstStyle/>
          <a:p>
            <a:endParaRPr lang="en-US"/>
          </a:p>
        </p:txBody>
      </p:sp>
      <p:sp>
        <p:nvSpPr>
          <p:cNvPr id="7" name="Vector bracket tick">
            <a:extLst>
              <a:ext uri="{C183D7F6-B498-43B3-948B-1728B52AA6E4}">
                <adec:decorative xmlns:adec="http://schemas.microsoft.com/office/drawing/2017/decorative" val="1"/>
              </a:ext>
            </a:extLst>
          </p:cNvPr>
          <p:cNvSpPr/>
          <p:nvPr/>
        </p:nvSpPr>
        <p:spPr>
          <a:xfrm>
            <a:off x="2724912" y="3794760"/>
            <a:ext cx="146304" cy="0"/>
          </a:xfrm>
          <a:prstGeom prst="line">
            <a:avLst/>
          </a:prstGeom>
          <a:noFill/>
          <a:ln w="19050">
            <a:solidFill>
              <a:srgbClr val="1A1A2E"/>
            </a:solidFill>
            <a:prstDash val="solid"/>
          </a:ln>
        </p:spPr>
        <p:txBody>
          <a:bodyPr/>
          <a:lstStyle/>
          <a:p>
            <a:endParaRPr lang="en-US"/>
          </a:p>
        </p:txBody>
      </p:sp>
      <p:sp>
        <p:nvSpPr>
          <p:cNvPr id="8" name="Vector bracket">
            <a:extLst>
              <a:ext uri="{C183D7F6-B498-43B3-948B-1728B52AA6E4}">
                <adec:decorative xmlns:adec="http://schemas.microsoft.com/office/drawing/2017/decorative" val="1"/>
              </a:ext>
            </a:extLst>
          </p:cNvPr>
          <p:cNvSpPr/>
          <p:nvPr/>
        </p:nvSpPr>
        <p:spPr>
          <a:xfrm>
            <a:off x="3858768" y="1783080"/>
            <a:ext cx="0" cy="2011680"/>
          </a:xfrm>
          <a:prstGeom prst="line">
            <a:avLst/>
          </a:prstGeom>
          <a:noFill/>
          <a:ln w="19050">
            <a:solidFill>
              <a:srgbClr val="1A1A2E"/>
            </a:solidFill>
            <a:prstDash val="solid"/>
          </a:ln>
        </p:spPr>
        <p:txBody>
          <a:bodyPr/>
          <a:lstStyle/>
          <a:p>
            <a:endParaRPr lang="en-US"/>
          </a:p>
        </p:txBody>
      </p:sp>
      <p:sp>
        <p:nvSpPr>
          <p:cNvPr id="9" name="Vector bracket tick">
            <a:extLst>
              <a:ext uri="{C183D7F6-B498-43B3-948B-1728B52AA6E4}">
                <adec:decorative xmlns:adec="http://schemas.microsoft.com/office/drawing/2017/decorative" val="1"/>
              </a:ext>
            </a:extLst>
          </p:cNvPr>
          <p:cNvSpPr/>
          <p:nvPr/>
        </p:nvSpPr>
        <p:spPr>
          <a:xfrm>
            <a:off x="3712464" y="1783080"/>
            <a:ext cx="146304" cy="0"/>
          </a:xfrm>
          <a:prstGeom prst="line">
            <a:avLst/>
          </a:prstGeom>
          <a:noFill/>
          <a:ln w="19050">
            <a:solidFill>
              <a:srgbClr val="1A1A2E"/>
            </a:solidFill>
            <a:prstDash val="solid"/>
          </a:ln>
        </p:spPr>
        <p:txBody>
          <a:bodyPr/>
          <a:lstStyle/>
          <a:p>
            <a:endParaRPr lang="en-US"/>
          </a:p>
        </p:txBody>
      </p:sp>
      <p:sp>
        <p:nvSpPr>
          <p:cNvPr id="10" name="Vector bracket tick">
            <a:extLst>
              <a:ext uri="{C183D7F6-B498-43B3-948B-1728B52AA6E4}">
                <adec:decorative xmlns:adec="http://schemas.microsoft.com/office/drawing/2017/decorative" val="1"/>
              </a:ext>
            </a:extLst>
          </p:cNvPr>
          <p:cNvSpPr/>
          <p:nvPr/>
        </p:nvSpPr>
        <p:spPr>
          <a:xfrm>
            <a:off x="3712464" y="3794760"/>
            <a:ext cx="146304" cy="0"/>
          </a:xfrm>
          <a:prstGeom prst="line">
            <a:avLst/>
          </a:prstGeom>
          <a:noFill/>
          <a:ln w="19050">
            <a:solidFill>
              <a:srgbClr val="1A1A2E"/>
            </a:solidFill>
            <a:prstDash val="solid"/>
          </a:ln>
        </p:spPr>
        <p:txBody>
          <a:bodyPr/>
          <a:lstStyle/>
          <a:p>
            <a:endParaRPr lang="en-US"/>
          </a:p>
        </p:txBody>
      </p:sp>
      <p:sp>
        <p:nvSpPr>
          <p:cNvPr id="11" name="Text 9"/>
          <p:cNvSpPr/>
          <p:nvPr/>
        </p:nvSpPr>
        <p:spPr>
          <a:xfrm>
            <a:off x="2834640" y="1783080"/>
            <a:ext cx="914400" cy="502920"/>
          </a:xfrm>
          <a:prstGeom prst="rect">
            <a:avLst/>
          </a:prstGeom>
          <a:noFill/>
          <a:ln/>
        </p:spPr>
        <p:txBody>
          <a:bodyPr wrap="square" lIns="0" tIns="0" rIns="0" bIns="0" rtlCol="0" anchor="ctr"/>
          <a:lstStyle/>
          <a:p>
            <a:pPr marL="0" indent="0" algn="ctr">
              <a:buNone/>
            </a:pPr>
            <a:r>
              <a:rPr lang="en-US" sz="2000" dirty="0">
                <a:solidFill>
                  <a:srgbClr val="1A1A2E"/>
                </a:solidFill>
                <a:latin typeface="Georgia" pitchFamily="34" charset="0"/>
                <a:ea typeface="Georgia" pitchFamily="34" charset="-122"/>
                <a:cs typeface="Georgia" pitchFamily="34" charset="-120"/>
              </a:rPr>
              <a:t>α</a:t>
            </a:r>
            <a:endParaRPr lang="en-US" sz="2000" dirty="0"/>
          </a:p>
        </p:txBody>
      </p:sp>
      <p:sp>
        <p:nvSpPr>
          <p:cNvPr id="12" name="Text 10"/>
          <p:cNvSpPr/>
          <p:nvPr/>
        </p:nvSpPr>
        <p:spPr>
          <a:xfrm>
            <a:off x="2834640" y="2286000"/>
            <a:ext cx="914400" cy="502920"/>
          </a:xfrm>
          <a:prstGeom prst="rect">
            <a:avLst/>
          </a:prstGeom>
          <a:noFill/>
          <a:ln/>
        </p:spPr>
        <p:txBody>
          <a:bodyPr wrap="square" lIns="0" tIns="0" rIns="0" bIns="0" rtlCol="0" anchor="ctr"/>
          <a:lstStyle/>
          <a:p>
            <a:pPr marL="0" indent="0" algn="ctr">
              <a:buNone/>
            </a:pPr>
            <a:r>
              <a:rPr lang="en-US" sz="2000" dirty="0">
                <a:solidFill>
                  <a:srgbClr val="1A1A2E"/>
                </a:solidFill>
                <a:latin typeface="Georgia" pitchFamily="34" charset="0"/>
                <a:ea typeface="Georgia" pitchFamily="34" charset="-122"/>
                <a:cs typeface="Georgia" pitchFamily="34" charset="-120"/>
              </a:rPr>
              <a:t>β</a:t>
            </a:r>
            <a:endParaRPr lang="en-US" sz="2000" dirty="0"/>
          </a:p>
        </p:txBody>
      </p:sp>
      <p:sp>
        <p:nvSpPr>
          <p:cNvPr id="13" name="Text 11"/>
          <p:cNvSpPr/>
          <p:nvPr/>
        </p:nvSpPr>
        <p:spPr>
          <a:xfrm>
            <a:off x="2834640" y="2788920"/>
            <a:ext cx="914400" cy="502920"/>
          </a:xfrm>
          <a:prstGeom prst="rect">
            <a:avLst/>
          </a:prstGeom>
          <a:noFill/>
          <a:ln/>
        </p:spPr>
        <p:txBody>
          <a:bodyPr wrap="square" lIns="0" tIns="0" rIns="0" bIns="0" rtlCol="0" anchor="ctr"/>
          <a:lstStyle/>
          <a:p>
            <a:pPr marL="0" indent="0" algn="ctr">
              <a:buNone/>
            </a:pPr>
            <a:r>
              <a:rPr lang="en-US" sz="2000" dirty="0">
                <a:solidFill>
                  <a:srgbClr val="1A1A2E"/>
                </a:solidFill>
                <a:latin typeface="Georgia" pitchFamily="34" charset="0"/>
                <a:ea typeface="Georgia" pitchFamily="34" charset="-122"/>
                <a:cs typeface="Georgia" pitchFamily="34" charset="-120"/>
              </a:rPr>
              <a:t>γ</a:t>
            </a:r>
            <a:endParaRPr lang="en-US" sz="2000" dirty="0"/>
          </a:p>
        </p:txBody>
      </p:sp>
      <p:sp>
        <p:nvSpPr>
          <p:cNvPr id="14" name="Text 12"/>
          <p:cNvSpPr/>
          <p:nvPr/>
        </p:nvSpPr>
        <p:spPr>
          <a:xfrm>
            <a:off x="2834640" y="3291840"/>
            <a:ext cx="914400" cy="502920"/>
          </a:xfrm>
          <a:prstGeom prst="rect">
            <a:avLst/>
          </a:prstGeom>
          <a:noFill/>
          <a:ln/>
        </p:spPr>
        <p:txBody>
          <a:bodyPr wrap="square" lIns="0" tIns="0" rIns="0" bIns="0" rtlCol="0" anchor="ctr"/>
          <a:lstStyle/>
          <a:p>
            <a:pPr marL="0" indent="0" algn="ctr">
              <a:buNone/>
            </a:pPr>
            <a:r>
              <a:rPr lang="en-US" sz="2000" dirty="0">
                <a:solidFill>
                  <a:srgbClr val="1A1A2E"/>
                </a:solidFill>
                <a:latin typeface="Georgia" pitchFamily="34" charset="0"/>
                <a:ea typeface="Georgia" pitchFamily="34" charset="-122"/>
                <a:cs typeface="Georgia" pitchFamily="34" charset="-120"/>
              </a:rPr>
              <a:t>δ</a:t>
            </a:r>
            <a:endParaRPr lang="en-US" sz="2000" dirty="0"/>
          </a:p>
        </p:txBody>
      </p:sp>
      <p:sp>
        <p:nvSpPr>
          <p:cNvPr id="15" name="Card frame">
            <a:extLst>
              <a:ext uri="{C183D7F6-B498-43B3-948B-1728B52AA6E4}">
                <adec:decorative xmlns:adec="http://schemas.microsoft.com/office/drawing/2017/decorative" val="1"/>
              </a:ext>
            </a:extLst>
          </p:cNvPr>
          <p:cNvSpPr/>
          <p:nvPr/>
        </p:nvSpPr>
        <p:spPr>
          <a:xfrm>
            <a:off x="4800600" y="1371600"/>
            <a:ext cx="3291840" cy="2834640"/>
          </a:xfrm>
          <a:prstGeom prst="roundRect">
            <a:avLst>
              <a:gd name="adj" fmla="val 1935"/>
            </a:avLst>
          </a:prstGeom>
          <a:solidFill>
            <a:srgbClr val="FFFFFF"/>
          </a:solidFill>
          <a:ln w="12700">
            <a:solidFill>
              <a:srgbClr val="D4D7DD"/>
            </a:solidFill>
            <a:prstDash val="solid"/>
          </a:ln>
        </p:spPr>
        <p:txBody>
          <a:bodyPr/>
          <a:lstStyle/>
          <a:p>
            <a:endParaRPr lang="en-US"/>
          </a:p>
        </p:txBody>
      </p:sp>
      <p:sp>
        <p:nvSpPr>
          <p:cNvPr id="16" name="Text 14"/>
          <p:cNvSpPr/>
          <p:nvPr/>
        </p:nvSpPr>
        <p:spPr>
          <a:xfrm>
            <a:off x="4800600" y="1572768"/>
            <a:ext cx="3291840" cy="292608"/>
          </a:xfrm>
          <a:prstGeom prst="rect">
            <a:avLst/>
          </a:prstGeom>
          <a:noFill/>
          <a:ln/>
        </p:spPr>
        <p:txBody>
          <a:bodyPr wrap="square" lIns="0" tIns="0" rIns="0" bIns="0" rtlCol="0" anchor="ctr"/>
          <a:lstStyle/>
          <a:p>
            <a:pPr marL="0" indent="0" algn="ctr">
              <a:buNone/>
            </a:pPr>
            <a:r>
              <a:rPr lang="en-US" sz="1150" b="1" kern="0" spc="60" dirty="0">
                <a:solidFill>
                  <a:srgbClr val="3730A3"/>
                </a:solidFill>
                <a:latin typeface="Georgia" pitchFamily="34" charset="0"/>
                <a:ea typeface="Georgia" pitchFamily="34" charset="-122"/>
                <a:cs typeface="Georgia" pitchFamily="34" charset="-120"/>
              </a:rPr>
              <a:t>Basis ordering</a:t>
            </a:r>
            <a:endParaRPr lang="en-US" sz="1150" dirty="0"/>
          </a:p>
        </p:txBody>
      </p:sp>
      <p:sp>
        <p:nvSpPr>
          <p:cNvPr id="17" name="Text 15"/>
          <p:cNvSpPr/>
          <p:nvPr/>
        </p:nvSpPr>
        <p:spPr>
          <a:xfrm>
            <a:off x="5120640" y="2057400"/>
            <a:ext cx="1280160" cy="457200"/>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|00⟩</a:t>
            </a:r>
            <a:endParaRPr lang="en-US" sz="1700" dirty="0"/>
          </a:p>
        </p:txBody>
      </p:sp>
      <p:sp>
        <p:nvSpPr>
          <p:cNvPr id="18" name="Text 16"/>
          <p:cNvSpPr/>
          <p:nvPr/>
        </p:nvSpPr>
        <p:spPr>
          <a:xfrm>
            <a:off x="6400800" y="2057400"/>
            <a:ext cx="1371600" cy="457200"/>
          </a:xfrm>
          <a:prstGeom prst="rect">
            <a:avLst/>
          </a:prstGeom>
          <a:noFill/>
          <a:ln/>
        </p:spPr>
        <p:txBody>
          <a:bodyPr wrap="square" lIns="0" tIns="0" rIns="0" bIns="0" rtlCol="0" anchor="ctr"/>
          <a:lstStyle/>
          <a:p>
            <a:pPr marL="0" indent="0">
              <a:buNone/>
            </a:pPr>
            <a:r>
              <a:rPr lang="en-US" sz="1500" dirty="0">
                <a:solidFill>
                  <a:srgbClr val="6B7280"/>
                </a:solidFill>
                <a:latin typeface="Georgia" pitchFamily="34" charset="0"/>
                <a:ea typeface="Georgia" pitchFamily="34" charset="-122"/>
                <a:cs typeface="Georgia" pitchFamily="34" charset="-120"/>
              </a:rPr>
              <a:t>↔  α</a:t>
            </a:r>
            <a:endParaRPr lang="en-US" sz="1500" dirty="0"/>
          </a:p>
        </p:txBody>
      </p:sp>
      <p:sp>
        <p:nvSpPr>
          <p:cNvPr id="19" name="Text 17"/>
          <p:cNvSpPr/>
          <p:nvPr/>
        </p:nvSpPr>
        <p:spPr>
          <a:xfrm>
            <a:off x="5120640" y="2560320"/>
            <a:ext cx="1280160" cy="457200"/>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|01⟩</a:t>
            </a:r>
            <a:endParaRPr lang="en-US" sz="1700" dirty="0"/>
          </a:p>
        </p:txBody>
      </p:sp>
      <p:sp>
        <p:nvSpPr>
          <p:cNvPr id="20" name="Text 18"/>
          <p:cNvSpPr/>
          <p:nvPr/>
        </p:nvSpPr>
        <p:spPr>
          <a:xfrm>
            <a:off x="6400800" y="2560320"/>
            <a:ext cx="1371600" cy="457200"/>
          </a:xfrm>
          <a:prstGeom prst="rect">
            <a:avLst/>
          </a:prstGeom>
          <a:noFill/>
          <a:ln/>
        </p:spPr>
        <p:txBody>
          <a:bodyPr wrap="square" lIns="0" tIns="0" rIns="0" bIns="0" rtlCol="0" anchor="ctr"/>
          <a:lstStyle/>
          <a:p>
            <a:pPr marL="0" indent="0">
              <a:buNone/>
            </a:pPr>
            <a:r>
              <a:rPr lang="en-US" sz="1500" dirty="0">
                <a:solidFill>
                  <a:srgbClr val="6B7280"/>
                </a:solidFill>
                <a:latin typeface="Georgia" pitchFamily="34" charset="0"/>
                <a:ea typeface="Georgia" pitchFamily="34" charset="-122"/>
                <a:cs typeface="Georgia" pitchFamily="34" charset="-120"/>
              </a:rPr>
              <a:t>↔  β</a:t>
            </a:r>
            <a:endParaRPr lang="en-US" sz="1500" dirty="0"/>
          </a:p>
        </p:txBody>
      </p:sp>
      <p:sp>
        <p:nvSpPr>
          <p:cNvPr id="21" name="Text 19"/>
          <p:cNvSpPr/>
          <p:nvPr/>
        </p:nvSpPr>
        <p:spPr>
          <a:xfrm>
            <a:off x="5120640" y="3063240"/>
            <a:ext cx="1280160" cy="457200"/>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|10⟩</a:t>
            </a:r>
            <a:endParaRPr lang="en-US" sz="1700" dirty="0"/>
          </a:p>
        </p:txBody>
      </p:sp>
      <p:sp>
        <p:nvSpPr>
          <p:cNvPr id="22" name="Text 20"/>
          <p:cNvSpPr/>
          <p:nvPr/>
        </p:nvSpPr>
        <p:spPr>
          <a:xfrm>
            <a:off x="6400800" y="3063240"/>
            <a:ext cx="1371600" cy="457200"/>
          </a:xfrm>
          <a:prstGeom prst="rect">
            <a:avLst/>
          </a:prstGeom>
          <a:noFill/>
          <a:ln/>
        </p:spPr>
        <p:txBody>
          <a:bodyPr wrap="square" lIns="0" tIns="0" rIns="0" bIns="0" rtlCol="0" anchor="ctr"/>
          <a:lstStyle/>
          <a:p>
            <a:pPr marL="0" indent="0">
              <a:buNone/>
            </a:pPr>
            <a:r>
              <a:rPr lang="en-US" sz="1500" dirty="0">
                <a:solidFill>
                  <a:srgbClr val="6B7280"/>
                </a:solidFill>
                <a:latin typeface="Georgia" pitchFamily="34" charset="0"/>
                <a:ea typeface="Georgia" pitchFamily="34" charset="-122"/>
                <a:cs typeface="Georgia" pitchFamily="34" charset="-120"/>
              </a:rPr>
              <a:t>↔  γ</a:t>
            </a:r>
            <a:endParaRPr lang="en-US" sz="1500" dirty="0"/>
          </a:p>
        </p:txBody>
      </p:sp>
      <p:sp>
        <p:nvSpPr>
          <p:cNvPr id="23" name="Text 21"/>
          <p:cNvSpPr/>
          <p:nvPr/>
        </p:nvSpPr>
        <p:spPr>
          <a:xfrm>
            <a:off x="5120640" y="3566160"/>
            <a:ext cx="1280160" cy="457200"/>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|11⟩</a:t>
            </a:r>
            <a:endParaRPr lang="en-US" sz="1700" dirty="0"/>
          </a:p>
        </p:txBody>
      </p:sp>
      <p:sp>
        <p:nvSpPr>
          <p:cNvPr id="24" name="Text 22"/>
          <p:cNvSpPr/>
          <p:nvPr/>
        </p:nvSpPr>
        <p:spPr>
          <a:xfrm>
            <a:off x="6400800" y="3566160"/>
            <a:ext cx="1371600" cy="457200"/>
          </a:xfrm>
          <a:prstGeom prst="rect">
            <a:avLst/>
          </a:prstGeom>
          <a:noFill/>
          <a:ln/>
        </p:spPr>
        <p:txBody>
          <a:bodyPr wrap="square" lIns="0" tIns="0" rIns="0" bIns="0" rtlCol="0" anchor="ctr"/>
          <a:lstStyle/>
          <a:p>
            <a:pPr marL="0" indent="0">
              <a:buNone/>
            </a:pPr>
            <a:r>
              <a:rPr lang="en-US" sz="1500" dirty="0">
                <a:solidFill>
                  <a:srgbClr val="6B7280"/>
                </a:solidFill>
                <a:latin typeface="Georgia" pitchFamily="34" charset="0"/>
                <a:ea typeface="Georgia" pitchFamily="34" charset="-122"/>
                <a:cs typeface="Georgia" pitchFamily="34" charset="-120"/>
              </a:rPr>
              <a:t>↔  δ</a:t>
            </a:r>
            <a:endParaRPr lang="en-US" sz="1500" dirty="0"/>
          </a:p>
        </p:txBody>
      </p:sp>
      <p:sp>
        <p:nvSpPr>
          <p:cNvPr id="25" name="Text 23"/>
          <p:cNvSpPr/>
          <p:nvPr/>
        </p:nvSpPr>
        <p:spPr>
          <a:xfrm>
            <a:off x="640080" y="431596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Each row of the column vector is the amplitude of one basis state, in lexicographic order.</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Bell basis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371600"/>
            <a:ext cx="374904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960120" y="1371600"/>
            <a:ext cx="1463040" cy="1234440"/>
          </a:xfrm>
          <a:prstGeom prst="rect">
            <a:avLst/>
          </a:prstGeom>
          <a:noFill/>
          <a:ln/>
        </p:spPr>
        <p:txBody>
          <a:bodyPr wrap="square" lIns="0" tIns="0" rIns="0" bIns="0" rtlCol="0" anchor="ctr"/>
          <a:lstStyle/>
          <a:p>
            <a:pPr marL="0" indent="0">
              <a:buNone/>
            </a:pPr>
            <a:r>
              <a:rPr lang="en-US" sz="2000" b="1" dirty="0">
                <a:solidFill>
                  <a:srgbClr val="3730A3"/>
                </a:solidFill>
                <a:latin typeface="Georgia" pitchFamily="34" charset="0"/>
                <a:ea typeface="Georgia" pitchFamily="34" charset="-122"/>
                <a:cs typeface="Georgia" pitchFamily="34" charset="-120"/>
              </a:rPr>
              <a:t>|Φ⁺⟩  =</a:t>
            </a:r>
            <a:endParaRPr lang="en-US" sz="2000" dirty="0"/>
          </a:p>
        </p:txBody>
      </p:sp>
      <p:sp>
        <p:nvSpPr>
          <p:cNvPr id="5" name="Text 3"/>
          <p:cNvSpPr/>
          <p:nvPr/>
        </p:nvSpPr>
        <p:spPr>
          <a:xfrm>
            <a:off x="2468880" y="1627632"/>
            <a:ext cx="1828800" cy="310896"/>
          </a:xfrm>
          <a:prstGeom prst="rect">
            <a:avLst/>
          </a:prstGeom>
          <a:noFill/>
          <a:ln/>
        </p:spPr>
        <p:txBody>
          <a:bodyPr wrap="square" lIns="0" tIns="0" rIns="0" bIns="0" rtlCol="0" anchor="b"/>
          <a:lstStyle/>
          <a:p>
            <a:pPr marL="0" indent="0" algn="ctr">
              <a:buNone/>
            </a:pPr>
            <a:r>
              <a:rPr lang="en-US" sz="1500" dirty="0">
                <a:solidFill>
                  <a:srgbClr val="1A1A2E"/>
                </a:solidFill>
                <a:latin typeface="Georgia" pitchFamily="34" charset="0"/>
                <a:ea typeface="Georgia" pitchFamily="34" charset="-122"/>
                <a:cs typeface="Georgia" pitchFamily="34" charset="-120"/>
              </a:rPr>
              <a:t>|00⟩ + |11⟩</a:t>
            </a:r>
            <a:endParaRPr lang="en-US" sz="1500" dirty="0"/>
          </a:p>
        </p:txBody>
      </p:sp>
      <p:sp>
        <p:nvSpPr>
          <p:cNvPr id="6" name="Fraction bar">
            <a:extLst>
              <a:ext uri="{C183D7F6-B498-43B3-948B-1728B52AA6E4}">
                <adec:decorative xmlns:adec="http://schemas.microsoft.com/office/drawing/2017/decorative" val="1"/>
              </a:ext>
            </a:extLst>
          </p:cNvPr>
          <p:cNvSpPr/>
          <p:nvPr/>
        </p:nvSpPr>
        <p:spPr>
          <a:xfrm>
            <a:off x="2560320" y="1956816"/>
            <a:ext cx="1645920" cy="0"/>
          </a:xfrm>
          <a:prstGeom prst="line">
            <a:avLst/>
          </a:prstGeom>
          <a:noFill/>
          <a:ln w="15875">
            <a:solidFill>
              <a:srgbClr val="1A1A2E"/>
            </a:solidFill>
            <a:prstDash val="solid"/>
          </a:ln>
        </p:spPr>
        <p:txBody>
          <a:bodyPr/>
          <a:lstStyle/>
          <a:p>
            <a:endParaRPr lang="en-US"/>
          </a:p>
        </p:txBody>
      </p:sp>
      <p:sp>
        <p:nvSpPr>
          <p:cNvPr id="7" name="Text 5"/>
          <p:cNvSpPr/>
          <p:nvPr/>
        </p:nvSpPr>
        <p:spPr>
          <a:xfrm>
            <a:off x="2468880" y="1975104"/>
            <a:ext cx="1828800" cy="310896"/>
          </a:xfrm>
          <a:prstGeom prst="rect">
            <a:avLst/>
          </a:prstGeom>
          <a:noFill/>
          <a:ln/>
        </p:spPr>
        <p:txBody>
          <a:bodyPr wrap="square" lIns="0" tIns="0" rIns="0" bIns="0" rtlCol="0" anchor="t"/>
          <a:lstStyle/>
          <a:p>
            <a:pPr marL="0" indent="0" algn="ctr">
              <a:buNone/>
            </a:pPr>
            <a:r>
              <a:rPr lang="en-US" sz="1500" dirty="0">
                <a:solidFill>
                  <a:srgbClr val="1A1A2E"/>
                </a:solidFill>
                <a:latin typeface="Georgia" pitchFamily="34" charset="0"/>
                <a:ea typeface="Georgia" pitchFamily="34" charset="-122"/>
                <a:cs typeface="Georgia" pitchFamily="34" charset="-120"/>
              </a:rPr>
              <a:t>√2</a:t>
            </a:r>
            <a:endParaRPr lang="en-US" sz="1500" dirty="0"/>
          </a:p>
        </p:txBody>
      </p:sp>
      <p:sp>
        <p:nvSpPr>
          <p:cNvPr id="8" name="Card frame">
            <a:extLst>
              <a:ext uri="{C183D7F6-B498-43B3-948B-1728B52AA6E4}">
                <adec:decorative xmlns:adec="http://schemas.microsoft.com/office/drawing/2017/decorative" val="1"/>
              </a:ext>
            </a:extLst>
          </p:cNvPr>
          <p:cNvSpPr/>
          <p:nvPr/>
        </p:nvSpPr>
        <p:spPr>
          <a:xfrm>
            <a:off x="4800600" y="1371600"/>
            <a:ext cx="374904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9" name="Text 7"/>
          <p:cNvSpPr/>
          <p:nvPr/>
        </p:nvSpPr>
        <p:spPr>
          <a:xfrm>
            <a:off x="5074920" y="1371600"/>
            <a:ext cx="1463040" cy="1234440"/>
          </a:xfrm>
          <a:prstGeom prst="rect">
            <a:avLst/>
          </a:prstGeom>
          <a:noFill/>
          <a:ln/>
        </p:spPr>
        <p:txBody>
          <a:bodyPr wrap="square" lIns="0" tIns="0" rIns="0" bIns="0" rtlCol="0" anchor="ctr"/>
          <a:lstStyle/>
          <a:p>
            <a:pPr marL="0" indent="0">
              <a:buNone/>
            </a:pPr>
            <a:r>
              <a:rPr lang="en-US" sz="2000" b="1" dirty="0">
                <a:solidFill>
                  <a:srgbClr val="3730A3"/>
                </a:solidFill>
                <a:latin typeface="Georgia" pitchFamily="34" charset="0"/>
                <a:ea typeface="Georgia" pitchFamily="34" charset="-122"/>
                <a:cs typeface="Georgia" pitchFamily="34" charset="-120"/>
              </a:rPr>
              <a:t>|Φ⁻⟩  =</a:t>
            </a:r>
            <a:endParaRPr lang="en-US" sz="2000" dirty="0"/>
          </a:p>
        </p:txBody>
      </p:sp>
      <p:sp>
        <p:nvSpPr>
          <p:cNvPr id="10" name="Text 8"/>
          <p:cNvSpPr/>
          <p:nvPr/>
        </p:nvSpPr>
        <p:spPr>
          <a:xfrm>
            <a:off x="6583680" y="1627632"/>
            <a:ext cx="1828800" cy="310896"/>
          </a:xfrm>
          <a:prstGeom prst="rect">
            <a:avLst/>
          </a:prstGeom>
          <a:noFill/>
          <a:ln/>
        </p:spPr>
        <p:txBody>
          <a:bodyPr wrap="square" lIns="0" tIns="0" rIns="0" bIns="0" rtlCol="0" anchor="b"/>
          <a:lstStyle/>
          <a:p>
            <a:pPr marL="0" indent="0" algn="ctr">
              <a:buNone/>
            </a:pPr>
            <a:r>
              <a:rPr lang="en-US" sz="1500" dirty="0">
                <a:solidFill>
                  <a:srgbClr val="1A1A2E"/>
                </a:solidFill>
                <a:latin typeface="Georgia" pitchFamily="34" charset="0"/>
                <a:ea typeface="Georgia" pitchFamily="34" charset="-122"/>
                <a:cs typeface="Georgia" pitchFamily="34" charset="-120"/>
              </a:rPr>
              <a:t>|00⟩ − |11⟩</a:t>
            </a:r>
            <a:endParaRPr lang="en-US" sz="1500" dirty="0"/>
          </a:p>
        </p:txBody>
      </p:sp>
      <p:sp>
        <p:nvSpPr>
          <p:cNvPr id="11" name="Fraction bar">
            <a:extLst>
              <a:ext uri="{C183D7F6-B498-43B3-948B-1728B52AA6E4}">
                <adec:decorative xmlns:adec="http://schemas.microsoft.com/office/drawing/2017/decorative" val="1"/>
              </a:ext>
            </a:extLst>
          </p:cNvPr>
          <p:cNvSpPr/>
          <p:nvPr/>
        </p:nvSpPr>
        <p:spPr>
          <a:xfrm>
            <a:off x="6675120" y="1956816"/>
            <a:ext cx="1645920" cy="0"/>
          </a:xfrm>
          <a:prstGeom prst="line">
            <a:avLst/>
          </a:prstGeom>
          <a:noFill/>
          <a:ln w="15875">
            <a:solidFill>
              <a:srgbClr val="1A1A2E"/>
            </a:solidFill>
            <a:prstDash val="solid"/>
          </a:ln>
        </p:spPr>
        <p:txBody>
          <a:bodyPr/>
          <a:lstStyle/>
          <a:p>
            <a:endParaRPr lang="en-US"/>
          </a:p>
        </p:txBody>
      </p:sp>
      <p:sp>
        <p:nvSpPr>
          <p:cNvPr id="12" name="Text 10"/>
          <p:cNvSpPr/>
          <p:nvPr/>
        </p:nvSpPr>
        <p:spPr>
          <a:xfrm>
            <a:off x="6583680" y="1975104"/>
            <a:ext cx="1828800" cy="310896"/>
          </a:xfrm>
          <a:prstGeom prst="rect">
            <a:avLst/>
          </a:prstGeom>
          <a:noFill/>
          <a:ln/>
        </p:spPr>
        <p:txBody>
          <a:bodyPr wrap="square" lIns="0" tIns="0" rIns="0" bIns="0" rtlCol="0" anchor="t"/>
          <a:lstStyle/>
          <a:p>
            <a:pPr marL="0" indent="0" algn="ctr">
              <a:buNone/>
            </a:pPr>
            <a:r>
              <a:rPr lang="en-US" sz="1500" dirty="0">
                <a:solidFill>
                  <a:srgbClr val="1A1A2E"/>
                </a:solidFill>
                <a:latin typeface="Georgia" pitchFamily="34" charset="0"/>
                <a:ea typeface="Georgia" pitchFamily="34" charset="-122"/>
                <a:cs typeface="Georgia" pitchFamily="34" charset="-120"/>
              </a:rPr>
              <a:t>√2</a:t>
            </a:r>
            <a:endParaRPr lang="en-US" sz="1500" dirty="0"/>
          </a:p>
        </p:txBody>
      </p:sp>
      <p:sp>
        <p:nvSpPr>
          <p:cNvPr id="13" name="Card frame">
            <a:extLst>
              <a:ext uri="{C183D7F6-B498-43B3-948B-1728B52AA6E4}">
                <adec:decorative xmlns:adec="http://schemas.microsoft.com/office/drawing/2017/decorative" val="1"/>
              </a:ext>
            </a:extLst>
          </p:cNvPr>
          <p:cNvSpPr/>
          <p:nvPr/>
        </p:nvSpPr>
        <p:spPr>
          <a:xfrm>
            <a:off x="685800" y="2926080"/>
            <a:ext cx="374904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14" name="Text 12"/>
          <p:cNvSpPr/>
          <p:nvPr/>
        </p:nvSpPr>
        <p:spPr>
          <a:xfrm>
            <a:off x="960120" y="2926080"/>
            <a:ext cx="1463040" cy="1234440"/>
          </a:xfrm>
          <a:prstGeom prst="rect">
            <a:avLst/>
          </a:prstGeom>
          <a:noFill/>
          <a:ln/>
        </p:spPr>
        <p:txBody>
          <a:bodyPr wrap="square" lIns="0" tIns="0" rIns="0" bIns="0" rtlCol="0" anchor="ctr"/>
          <a:lstStyle/>
          <a:p>
            <a:pPr marL="0" indent="0">
              <a:buNone/>
            </a:pPr>
            <a:r>
              <a:rPr lang="en-US" sz="2000" b="1" dirty="0">
                <a:solidFill>
                  <a:srgbClr val="3730A3"/>
                </a:solidFill>
                <a:latin typeface="Georgia" pitchFamily="34" charset="0"/>
                <a:ea typeface="Georgia" pitchFamily="34" charset="-122"/>
                <a:cs typeface="Georgia" pitchFamily="34" charset="-120"/>
              </a:rPr>
              <a:t>|Ψ⁺⟩  =</a:t>
            </a:r>
            <a:endParaRPr lang="en-US" sz="2000" dirty="0"/>
          </a:p>
        </p:txBody>
      </p:sp>
      <p:sp>
        <p:nvSpPr>
          <p:cNvPr id="15" name="Text 13"/>
          <p:cNvSpPr/>
          <p:nvPr/>
        </p:nvSpPr>
        <p:spPr>
          <a:xfrm>
            <a:off x="2468880" y="3182112"/>
            <a:ext cx="1828800" cy="310896"/>
          </a:xfrm>
          <a:prstGeom prst="rect">
            <a:avLst/>
          </a:prstGeom>
          <a:noFill/>
          <a:ln/>
        </p:spPr>
        <p:txBody>
          <a:bodyPr wrap="square" lIns="0" tIns="0" rIns="0" bIns="0" rtlCol="0" anchor="b"/>
          <a:lstStyle/>
          <a:p>
            <a:pPr marL="0" indent="0" algn="ctr">
              <a:buNone/>
            </a:pPr>
            <a:r>
              <a:rPr lang="en-US" sz="1500" dirty="0">
                <a:solidFill>
                  <a:srgbClr val="1A1A2E"/>
                </a:solidFill>
                <a:latin typeface="Georgia" pitchFamily="34" charset="0"/>
                <a:ea typeface="Georgia" pitchFamily="34" charset="-122"/>
                <a:cs typeface="Georgia" pitchFamily="34" charset="-120"/>
              </a:rPr>
              <a:t>|01⟩ + |10⟩</a:t>
            </a:r>
            <a:endParaRPr lang="en-US" sz="1500" dirty="0"/>
          </a:p>
        </p:txBody>
      </p:sp>
      <p:sp>
        <p:nvSpPr>
          <p:cNvPr id="16" name="Fraction bar">
            <a:extLst>
              <a:ext uri="{C183D7F6-B498-43B3-948B-1728B52AA6E4}">
                <adec:decorative xmlns:adec="http://schemas.microsoft.com/office/drawing/2017/decorative" val="1"/>
              </a:ext>
            </a:extLst>
          </p:cNvPr>
          <p:cNvSpPr/>
          <p:nvPr/>
        </p:nvSpPr>
        <p:spPr>
          <a:xfrm>
            <a:off x="2560320" y="3511296"/>
            <a:ext cx="1645920" cy="0"/>
          </a:xfrm>
          <a:prstGeom prst="line">
            <a:avLst/>
          </a:prstGeom>
          <a:noFill/>
          <a:ln w="15875">
            <a:solidFill>
              <a:srgbClr val="1A1A2E"/>
            </a:solidFill>
            <a:prstDash val="solid"/>
          </a:ln>
        </p:spPr>
        <p:txBody>
          <a:bodyPr/>
          <a:lstStyle/>
          <a:p>
            <a:endParaRPr lang="en-US"/>
          </a:p>
        </p:txBody>
      </p:sp>
      <p:sp>
        <p:nvSpPr>
          <p:cNvPr id="17" name="Text 15"/>
          <p:cNvSpPr/>
          <p:nvPr/>
        </p:nvSpPr>
        <p:spPr>
          <a:xfrm>
            <a:off x="2468880" y="3529584"/>
            <a:ext cx="1828800" cy="310896"/>
          </a:xfrm>
          <a:prstGeom prst="rect">
            <a:avLst/>
          </a:prstGeom>
          <a:noFill/>
          <a:ln/>
        </p:spPr>
        <p:txBody>
          <a:bodyPr wrap="square" lIns="0" tIns="0" rIns="0" bIns="0" rtlCol="0" anchor="t"/>
          <a:lstStyle/>
          <a:p>
            <a:pPr marL="0" indent="0" algn="ctr">
              <a:buNone/>
            </a:pPr>
            <a:r>
              <a:rPr lang="en-US" sz="1500" dirty="0">
                <a:solidFill>
                  <a:srgbClr val="1A1A2E"/>
                </a:solidFill>
                <a:latin typeface="Georgia" pitchFamily="34" charset="0"/>
                <a:ea typeface="Georgia" pitchFamily="34" charset="-122"/>
                <a:cs typeface="Georgia" pitchFamily="34" charset="-120"/>
              </a:rPr>
              <a:t>√2</a:t>
            </a:r>
            <a:endParaRPr lang="en-US" sz="1500" dirty="0"/>
          </a:p>
        </p:txBody>
      </p:sp>
      <p:sp>
        <p:nvSpPr>
          <p:cNvPr id="18" name="Card frame">
            <a:extLst>
              <a:ext uri="{C183D7F6-B498-43B3-948B-1728B52AA6E4}">
                <adec:decorative xmlns:adec="http://schemas.microsoft.com/office/drawing/2017/decorative" val="1"/>
              </a:ext>
            </a:extLst>
          </p:cNvPr>
          <p:cNvSpPr/>
          <p:nvPr/>
        </p:nvSpPr>
        <p:spPr>
          <a:xfrm>
            <a:off x="4800600" y="2926080"/>
            <a:ext cx="374904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19" name="Text 17"/>
          <p:cNvSpPr/>
          <p:nvPr/>
        </p:nvSpPr>
        <p:spPr>
          <a:xfrm>
            <a:off x="5074920" y="2926080"/>
            <a:ext cx="1463040" cy="1234440"/>
          </a:xfrm>
          <a:prstGeom prst="rect">
            <a:avLst/>
          </a:prstGeom>
          <a:noFill/>
          <a:ln/>
        </p:spPr>
        <p:txBody>
          <a:bodyPr wrap="square" lIns="0" tIns="0" rIns="0" bIns="0" rtlCol="0" anchor="ctr"/>
          <a:lstStyle/>
          <a:p>
            <a:pPr marL="0" indent="0">
              <a:buNone/>
            </a:pPr>
            <a:r>
              <a:rPr lang="en-US" sz="2000" b="1" dirty="0">
                <a:solidFill>
                  <a:srgbClr val="3730A3"/>
                </a:solidFill>
                <a:latin typeface="Georgia" pitchFamily="34" charset="0"/>
                <a:ea typeface="Georgia" pitchFamily="34" charset="-122"/>
                <a:cs typeface="Georgia" pitchFamily="34" charset="-120"/>
              </a:rPr>
              <a:t>|Ψ⁻⟩  =</a:t>
            </a:r>
            <a:endParaRPr lang="en-US" sz="2000" dirty="0"/>
          </a:p>
        </p:txBody>
      </p:sp>
      <p:sp>
        <p:nvSpPr>
          <p:cNvPr id="20" name="Text 18"/>
          <p:cNvSpPr/>
          <p:nvPr/>
        </p:nvSpPr>
        <p:spPr>
          <a:xfrm>
            <a:off x="6583680" y="3182112"/>
            <a:ext cx="1828800" cy="310896"/>
          </a:xfrm>
          <a:prstGeom prst="rect">
            <a:avLst/>
          </a:prstGeom>
          <a:noFill/>
          <a:ln/>
        </p:spPr>
        <p:txBody>
          <a:bodyPr wrap="square" lIns="0" tIns="0" rIns="0" bIns="0" rtlCol="0" anchor="b"/>
          <a:lstStyle/>
          <a:p>
            <a:pPr marL="0" indent="0" algn="ctr">
              <a:buNone/>
            </a:pPr>
            <a:r>
              <a:rPr lang="en-US" sz="1500" dirty="0">
                <a:solidFill>
                  <a:srgbClr val="1A1A2E"/>
                </a:solidFill>
                <a:latin typeface="Georgia" pitchFamily="34" charset="0"/>
                <a:ea typeface="Georgia" pitchFamily="34" charset="-122"/>
                <a:cs typeface="Georgia" pitchFamily="34" charset="-120"/>
              </a:rPr>
              <a:t>|01⟩ − |10⟩</a:t>
            </a:r>
            <a:endParaRPr lang="en-US" sz="1500" dirty="0"/>
          </a:p>
        </p:txBody>
      </p:sp>
      <p:sp>
        <p:nvSpPr>
          <p:cNvPr id="21" name="Fraction bar">
            <a:extLst>
              <a:ext uri="{C183D7F6-B498-43B3-948B-1728B52AA6E4}">
                <adec:decorative xmlns:adec="http://schemas.microsoft.com/office/drawing/2017/decorative" val="1"/>
              </a:ext>
            </a:extLst>
          </p:cNvPr>
          <p:cNvSpPr/>
          <p:nvPr/>
        </p:nvSpPr>
        <p:spPr>
          <a:xfrm>
            <a:off x="6675120" y="3511296"/>
            <a:ext cx="1645920" cy="0"/>
          </a:xfrm>
          <a:prstGeom prst="line">
            <a:avLst/>
          </a:prstGeom>
          <a:noFill/>
          <a:ln w="15875">
            <a:solidFill>
              <a:srgbClr val="1A1A2E"/>
            </a:solidFill>
            <a:prstDash val="solid"/>
          </a:ln>
        </p:spPr>
        <p:txBody>
          <a:bodyPr/>
          <a:lstStyle/>
          <a:p>
            <a:endParaRPr lang="en-US"/>
          </a:p>
        </p:txBody>
      </p:sp>
      <p:sp>
        <p:nvSpPr>
          <p:cNvPr id="22" name="Text 20"/>
          <p:cNvSpPr/>
          <p:nvPr/>
        </p:nvSpPr>
        <p:spPr>
          <a:xfrm>
            <a:off x="6583680" y="3529584"/>
            <a:ext cx="1828800" cy="310896"/>
          </a:xfrm>
          <a:prstGeom prst="rect">
            <a:avLst/>
          </a:prstGeom>
          <a:noFill/>
          <a:ln/>
        </p:spPr>
        <p:txBody>
          <a:bodyPr wrap="square" lIns="0" tIns="0" rIns="0" bIns="0" rtlCol="0" anchor="t"/>
          <a:lstStyle/>
          <a:p>
            <a:pPr marL="0" indent="0" algn="ctr">
              <a:buNone/>
            </a:pPr>
            <a:r>
              <a:rPr lang="en-US" sz="1500" dirty="0">
                <a:solidFill>
                  <a:srgbClr val="1A1A2E"/>
                </a:solidFill>
                <a:latin typeface="Georgia" pitchFamily="34" charset="0"/>
                <a:ea typeface="Georgia" pitchFamily="34" charset="-122"/>
                <a:cs typeface="Georgia" pitchFamily="34" charset="-120"/>
              </a:rPr>
              <a:t>√2</a:t>
            </a:r>
            <a:endParaRPr lang="en-US" sz="1500" dirty="0"/>
          </a:p>
        </p:txBody>
      </p:sp>
      <p:sp>
        <p:nvSpPr>
          <p:cNvPr id="23" name="Text 21"/>
          <p:cNvSpPr/>
          <p:nvPr/>
        </p:nvSpPr>
        <p:spPr>
          <a:xfrm>
            <a:off x="640080" y="420624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Four maximally entangled states — the basis behind teleportation, superdense coding and QKD.</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Why Bell states matter</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554480"/>
            <a:ext cx="2148840" cy="914400"/>
          </a:xfrm>
          <a:prstGeom prst="roundRect">
            <a:avLst>
              <a:gd name="adj" fmla="val 6000"/>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685800" y="1554480"/>
            <a:ext cx="2148840" cy="914400"/>
          </a:xfrm>
          <a:prstGeom prst="rect">
            <a:avLst/>
          </a:prstGeom>
          <a:noFill/>
          <a:ln/>
        </p:spPr>
        <p:txBody>
          <a:bodyPr wrap="square" lIns="0" tIns="0" rIns="0" bIns="0" rtlCol="0" anchor="ctr"/>
          <a:lstStyle/>
          <a:p>
            <a:pPr marL="0" indent="0" algn="ctr">
              <a:buNone/>
            </a:pPr>
            <a:r>
              <a:rPr lang="en-US" sz="1600" b="1" dirty="0">
                <a:solidFill>
                  <a:srgbClr val="3730A3"/>
                </a:solidFill>
                <a:latin typeface="Georgia" pitchFamily="34" charset="0"/>
                <a:ea typeface="Georgia" pitchFamily="34" charset="-122"/>
                <a:cs typeface="Georgia" pitchFamily="34" charset="-120"/>
              </a:rPr>
              <a:t>Bell state</a:t>
            </a:r>
            <a:endParaRPr lang="en-US" sz="1600" dirty="0"/>
          </a:p>
        </p:txBody>
      </p:sp>
      <p:sp>
        <p:nvSpPr>
          <p:cNvPr id="5" name="Text 3"/>
          <p:cNvSpPr/>
          <p:nvPr/>
        </p:nvSpPr>
        <p:spPr>
          <a:xfrm>
            <a:off x="2880360" y="1554480"/>
            <a:ext cx="548640" cy="914400"/>
          </a:xfrm>
          <a:prstGeom prst="rect">
            <a:avLst/>
          </a:prstGeom>
          <a:noFill/>
          <a:ln/>
        </p:spPr>
        <p:txBody>
          <a:bodyPr wrap="square" lIns="0" tIns="0" rIns="0" bIns="0" rtlCol="0" anchor="ctr"/>
          <a:lstStyle/>
          <a:p>
            <a:pPr marL="0" indent="0" algn="ctr">
              <a:buNone/>
            </a:pPr>
            <a:r>
              <a:rPr lang="en-US" sz="2000" dirty="0">
                <a:solidFill>
                  <a:srgbClr val="3730A3"/>
                </a:solidFill>
                <a:latin typeface="Georgia" pitchFamily="34" charset="0"/>
                <a:ea typeface="Georgia" pitchFamily="34" charset="-122"/>
                <a:cs typeface="Georgia" pitchFamily="34" charset="-120"/>
              </a:rPr>
              <a:t>→</a:t>
            </a:r>
            <a:endParaRPr lang="en-US" sz="2000" dirty="0"/>
          </a:p>
        </p:txBody>
      </p:sp>
      <p:sp>
        <p:nvSpPr>
          <p:cNvPr id="6" name="Card frame">
            <a:extLst>
              <a:ext uri="{C183D7F6-B498-43B3-948B-1728B52AA6E4}">
                <adec:decorative xmlns:adec="http://schemas.microsoft.com/office/drawing/2017/decorative" val="1"/>
              </a:ext>
            </a:extLst>
          </p:cNvPr>
          <p:cNvSpPr/>
          <p:nvPr/>
        </p:nvSpPr>
        <p:spPr>
          <a:xfrm>
            <a:off x="3474720" y="1554480"/>
            <a:ext cx="2148840" cy="914400"/>
          </a:xfrm>
          <a:prstGeom prst="roundRect">
            <a:avLst>
              <a:gd name="adj" fmla="val 6000"/>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3474720" y="1554480"/>
            <a:ext cx="2148840" cy="914400"/>
          </a:xfrm>
          <a:prstGeom prst="rect">
            <a:avLst/>
          </a:prstGeom>
          <a:noFill/>
          <a:ln/>
        </p:spPr>
        <p:txBody>
          <a:bodyPr wrap="square" lIns="0" tIns="0" rIns="0" bIns="0" rtlCol="0" anchor="ctr"/>
          <a:lstStyle/>
          <a:p>
            <a:pPr marL="0" indent="0" algn="ctr">
              <a:buNone/>
            </a:pPr>
            <a:r>
              <a:rPr lang="en-US" sz="1600" b="1" dirty="0">
                <a:solidFill>
                  <a:srgbClr val="1A1A2E"/>
                </a:solidFill>
                <a:latin typeface="Georgia" pitchFamily="34" charset="0"/>
                <a:ea typeface="Georgia" pitchFamily="34" charset="-122"/>
                <a:cs typeface="Georgia" pitchFamily="34" charset="-120"/>
              </a:rPr>
              <a:t>Entanglement</a:t>
            </a:r>
            <a:endParaRPr lang="en-US" sz="1600" dirty="0"/>
          </a:p>
        </p:txBody>
      </p:sp>
      <p:sp>
        <p:nvSpPr>
          <p:cNvPr id="8" name="Text 6"/>
          <p:cNvSpPr/>
          <p:nvPr/>
        </p:nvSpPr>
        <p:spPr>
          <a:xfrm>
            <a:off x="5669280" y="1554480"/>
            <a:ext cx="548640" cy="914400"/>
          </a:xfrm>
          <a:prstGeom prst="rect">
            <a:avLst/>
          </a:prstGeom>
          <a:noFill/>
          <a:ln/>
        </p:spPr>
        <p:txBody>
          <a:bodyPr wrap="square" lIns="0" tIns="0" rIns="0" bIns="0" rtlCol="0" anchor="ctr"/>
          <a:lstStyle/>
          <a:p>
            <a:pPr marL="0" indent="0" algn="ctr">
              <a:buNone/>
            </a:pPr>
            <a:r>
              <a:rPr lang="en-US" sz="2000" dirty="0">
                <a:solidFill>
                  <a:srgbClr val="3730A3"/>
                </a:solidFill>
                <a:latin typeface="Georgia" pitchFamily="34" charset="0"/>
                <a:ea typeface="Georgia" pitchFamily="34" charset="-122"/>
                <a:cs typeface="Georgia" pitchFamily="34" charset="-120"/>
              </a:rPr>
              <a:t>→</a:t>
            </a:r>
            <a:endParaRPr lang="en-US" sz="2000" dirty="0"/>
          </a:p>
        </p:txBody>
      </p:sp>
      <p:sp>
        <p:nvSpPr>
          <p:cNvPr id="9" name="Card frame">
            <a:extLst>
              <a:ext uri="{C183D7F6-B498-43B3-948B-1728B52AA6E4}">
                <adec:decorative xmlns:adec="http://schemas.microsoft.com/office/drawing/2017/decorative" val="1"/>
              </a:ext>
            </a:extLst>
          </p:cNvPr>
          <p:cNvSpPr/>
          <p:nvPr/>
        </p:nvSpPr>
        <p:spPr>
          <a:xfrm>
            <a:off x="6263640" y="1298448"/>
            <a:ext cx="224028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10" name="Text 8"/>
          <p:cNvSpPr/>
          <p:nvPr/>
        </p:nvSpPr>
        <p:spPr>
          <a:xfrm>
            <a:off x="6355080" y="1298448"/>
            <a:ext cx="2057400" cy="548640"/>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Teleportation</a:t>
            </a:r>
            <a:endParaRPr lang="en-US" sz="1150" dirty="0"/>
          </a:p>
        </p:txBody>
      </p:sp>
      <p:sp>
        <p:nvSpPr>
          <p:cNvPr id="11" name="Card frame">
            <a:extLst>
              <a:ext uri="{C183D7F6-B498-43B3-948B-1728B52AA6E4}">
                <adec:decorative xmlns:adec="http://schemas.microsoft.com/office/drawing/2017/decorative" val="1"/>
              </a:ext>
            </a:extLst>
          </p:cNvPr>
          <p:cNvSpPr/>
          <p:nvPr/>
        </p:nvSpPr>
        <p:spPr>
          <a:xfrm>
            <a:off x="6263640" y="1956816"/>
            <a:ext cx="224028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12" name="Text 10"/>
          <p:cNvSpPr/>
          <p:nvPr/>
        </p:nvSpPr>
        <p:spPr>
          <a:xfrm>
            <a:off x="6355080" y="1956816"/>
            <a:ext cx="2057400" cy="548640"/>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Superdense coding</a:t>
            </a:r>
            <a:endParaRPr lang="en-US" sz="1150" dirty="0"/>
          </a:p>
        </p:txBody>
      </p:sp>
      <p:sp>
        <p:nvSpPr>
          <p:cNvPr id="13" name="Card frame">
            <a:extLst>
              <a:ext uri="{C183D7F6-B498-43B3-948B-1728B52AA6E4}">
                <adec:decorative xmlns:adec="http://schemas.microsoft.com/office/drawing/2017/decorative" val="1"/>
              </a:ext>
            </a:extLst>
          </p:cNvPr>
          <p:cNvSpPr/>
          <p:nvPr/>
        </p:nvSpPr>
        <p:spPr>
          <a:xfrm>
            <a:off x="6263640" y="2615184"/>
            <a:ext cx="224028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14" name="Text 12"/>
          <p:cNvSpPr/>
          <p:nvPr/>
        </p:nvSpPr>
        <p:spPr>
          <a:xfrm>
            <a:off x="6355080" y="2615184"/>
            <a:ext cx="2057400" cy="548640"/>
          </a:xfrm>
          <a:prstGeom prst="rect">
            <a:avLst/>
          </a:prstGeom>
          <a:noFill/>
          <a:ln/>
        </p:spPr>
        <p:txBody>
          <a:bodyPr wrap="square" lIns="0" tIns="0" rIns="0" bIns="0" rtlCol="0" anchor="ctr"/>
          <a:lstStyle/>
          <a:p>
            <a:pPr marL="0" indent="0" algn="ctr">
              <a:buNone/>
            </a:pPr>
            <a:r>
              <a:rPr lang="en-US" sz="1150" dirty="0">
                <a:solidFill>
                  <a:srgbClr val="1A1A2E"/>
                </a:solidFill>
                <a:latin typeface="Georgia" pitchFamily="34" charset="0"/>
                <a:ea typeface="Georgia" pitchFamily="34" charset="-122"/>
                <a:cs typeface="Georgia" pitchFamily="34" charset="-120"/>
              </a:rPr>
              <a:t>Quantum key distribution</a:t>
            </a:r>
            <a:endParaRPr lang="en-US" sz="1150" dirty="0"/>
          </a:p>
        </p:txBody>
      </p:sp>
      <p:sp>
        <p:nvSpPr>
          <p:cNvPr id="15" name="Card frame">
            <a:extLst>
              <a:ext uri="{C183D7F6-B498-43B3-948B-1728B52AA6E4}">
                <adec:decorative xmlns:adec="http://schemas.microsoft.com/office/drawing/2017/decorative" val="1"/>
              </a:ext>
            </a:extLst>
          </p:cNvPr>
          <p:cNvSpPr/>
          <p:nvPr/>
        </p:nvSpPr>
        <p:spPr>
          <a:xfrm>
            <a:off x="685800" y="3520440"/>
            <a:ext cx="7772400" cy="777240"/>
          </a:xfrm>
          <a:prstGeom prst="roundRect">
            <a:avLst>
              <a:gd name="adj" fmla="val 7059"/>
            </a:avLst>
          </a:prstGeom>
          <a:solidFill>
            <a:srgbClr val="F4F5FB"/>
          </a:solidFill>
          <a:ln w="15240">
            <a:solidFill>
              <a:srgbClr val="3730A3"/>
            </a:solidFill>
            <a:prstDash val="solid"/>
          </a:ln>
        </p:spPr>
        <p:txBody>
          <a:bodyPr/>
          <a:lstStyle/>
          <a:p>
            <a:endParaRPr lang="en-US"/>
          </a:p>
        </p:txBody>
      </p:sp>
      <p:sp>
        <p:nvSpPr>
          <p:cNvPr id="16" name="Text 14"/>
          <p:cNvSpPr/>
          <p:nvPr/>
        </p:nvSpPr>
        <p:spPr>
          <a:xfrm>
            <a:off x="868680" y="3520440"/>
            <a:ext cx="7406640" cy="777240"/>
          </a:xfrm>
          <a:prstGeom prst="rect">
            <a:avLst/>
          </a:prstGeom>
          <a:noFill/>
          <a:ln/>
        </p:spPr>
        <p:txBody>
          <a:bodyPr wrap="square" lIns="0" tIns="0" rIns="0" bIns="0" rtlCol="0" anchor="ctr"/>
          <a:lstStyle/>
          <a:p>
            <a:pPr marL="0" indent="0">
              <a:buNone/>
            </a:pPr>
            <a:r>
              <a:rPr lang="en-US" sz="1350" i="1" dirty="0">
                <a:solidFill>
                  <a:srgbClr val="1A1A2E"/>
                </a:solidFill>
                <a:latin typeface="Georgia" pitchFamily="34" charset="0"/>
                <a:ea typeface="Georgia" pitchFamily="34" charset="-122"/>
                <a:cs typeface="Georgia" pitchFamily="34" charset="-120"/>
              </a:rPr>
              <a:t>Today the goal is only to establish the Bell basis — the protocols come later.</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Global phase versus relative phase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325880"/>
            <a:ext cx="3749040" cy="2377440"/>
          </a:xfrm>
          <a:prstGeom prst="roundRect">
            <a:avLst>
              <a:gd name="adj" fmla="val 2308"/>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868680" y="1691640"/>
            <a:ext cx="3383280" cy="548640"/>
          </a:xfrm>
          <a:prstGeom prst="rect">
            <a:avLst/>
          </a:prstGeom>
          <a:noFill/>
          <a:ln/>
        </p:spPr>
        <p:txBody>
          <a:bodyPr wrap="square" lIns="0" tIns="0" rIns="0" bIns="0" rtlCol="0" anchor="ctr"/>
          <a:lstStyle/>
          <a:p>
            <a:pPr marL="0" indent="0" algn="ctr">
              <a:buNone/>
            </a:pPr>
            <a:r>
              <a:rPr lang="en-US" sz="2400" dirty="0">
                <a:solidFill>
                  <a:srgbClr val="1A1A2E"/>
                </a:solidFill>
                <a:latin typeface="Georgia" pitchFamily="34" charset="0"/>
                <a:ea typeface="Georgia" pitchFamily="34" charset="-122"/>
                <a:cs typeface="Georgia" pitchFamily="34" charset="-120"/>
              </a:rPr>
              <a:t>|ψ⟩</a:t>
            </a:r>
            <a:endParaRPr lang="en-US" sz="2400" dirty="0"/>
          </a:p>
        </p:txBody>
      </p:sp>
      <p:sp>
        <p:nvSpPr>
          <p:cNvPr id="5" name="Text 3"/>
          <p:cNvSpPr/>
          <p:nvPr/>
        </p:nvSpPr>
        <p:spPr>
          <a:xfrm>
            <a:off x="868680" y="2240280"/>
            <a:ext cx="3383280" cy="320040"/>
          </a:xfrm>
          <a:prstGeom prst="rect">
            <a:avLst/>
          </a:prstGeom>
          <a:noFill/>
          <a:ln/>
        </p:spPr>
        <p:txBody>
          <a:bodyPr wrap="square" lIns="0" tIns="0" rIns="0" bIns="0" rtlCol="0" anchor="ctr"/>
          <a:lstStyle/>
          <a:p>
            <a:pPr marL="0" indent="0" algn="ctr">
              <a:buNone/>
            </a:pPr>
            <a:r>
              <a:rPr lang="en-US" sz="1150" i="1" dirty="0">
                <a:solidFill>
                  <a:srgbClr val="6B7280"/>
                </a:solidFill>
                <a:latin typeface="Georgia" pitchFamily="34" charset="0"/>
                <a:ea typeface="Georgia" pitchFamily="34" charset="-122"/>
                <a:cs typeface="Georgia" pitchFamily="34" charset="-120"/>
              </a:rPr>
              <a:t>versus</a:t>
            </a:r>
            <a:endParaRPr lang="en-US" sz="1150" dirty="0"/>
          </a:p>
        </p:txBody>
      </p:sp>
      <p:sp>
        <p:nvSpPr>
          <p:cNvPr id="6" name="Text 4"/>
          <p:cNvSpPr/>
          <p:nvPr/>
        </p:nvSpPr>
        <p:spPr>
          <a:xfrm>
            <a:off x="868680" y="2560320"/>
            <a:ext cx="3383280" cy="548640"/>
          </a:xfrm>
          <a:prstGeom prst="rect">
            <a:avLst/>
          </a:prstGeom>
          <a:noFill/>
          <a:ln/>
        </p:spPr>
        <p:txBody>
          <a:bodyPr wrap="square" lIns="0" tIns="0" rIns="0" bIns="0" rtlCol="0" anchor="ctr"/>
          <a:lstStyle/>
          <a:p>
            <a:pPr marL="0" indent="0" algn="ctr">
              <a:buNone/>
            </a:pPr>
            <a:r>
              <a:rPr lang="en-US" sz="2400" dirty="0">
                <a:solidFill>
                  <a:srgbClr val="1A1A2E"/>
                </a:solidFill>
                <a:latin typeface="Georgia" pitchFamily="34" charset="0"/>
                <a:ea typeface="Georgia" pitchFamily="34" charset="-122"/>
                <a:cs typeface="Georgia" pitchFamily="34" charset="-120"/>
              </a:rPr>
              <a:t>eⁱᶿ |ψ⟩</a:t>
            </a:r>
            <a:endParaRPr lang="en-US" sz="2400" dirty="0"/>
          </a:p>
        </p:txBody>
      </p:sp>
      <p:sp>
        <p:nvSpPr>
          <p:cNvPr id="7" name="Text 5"/>
          <p:cNvSpPr/>
          <p:nvPr/>
        </p:nvSpPr>
        <p:spPr>
          <a:xfrm>
            <a:off x="868680" y="3182112"/>
            <a:ext cx="3383280" cy="365760"/>
          </a:xfrm>
          <a:prstGeom prst="rect">
            <a:avLst/>
          </a:prstGeom>
          <a:noFill/>
          <a:ln/>
        </p:spPr>
        <p:txBody>
          <a:bodyPr wrap="square" lIns="0" tIns="0" rIns="0" bIns="0" rtlCol="0" anchor="ctr"/>
          <a:lstStyle/>
          <a:p>
            <a:pPr marL="0" indent="0" algn="ctr">
              <a:buNone/>
            </a:pPr>
            <a:r>
              <a:rPr lang="en-US" sz="1250" b="1" kern="0" spc="80" dirty="0">
                <a:solidFill>
                  <a:srgbClr val="6B7280"/>
                </a:solidFill>
                <a:latin typeface="Georgia" pitchFamily="34" charset="0"/>
                <a:ea typeface="Georgia" pitchFamily="34" charset="-122"/>
                <a:cs typeface="Georgia" pitchFamily="34" charset="-120"/>
              </a:rPr>
              <a:t>SAME physical state</a:t>
            </a:r>
            <a:endParaRPr lang="en-US" sz="1250" dirty="0"/>
          </a:p>
        </p:txBody>
      </p:sp>
      <p:sp>
        <p:nvSpPr>
          <p:cNvPr id="8" name="Text 6"/>
          <p:cNvSpPr/>
          <p:nvPr/>
        </p:nvSpPr>
        <p:spPr>
          <a:xfrm>
            <a:off x="685800" y="1417320"/>
            <a:ext cx="3749040" cy="274320"/>
          </a:xfrm>
          <a:prstGeom prst="rect">
            <a:avLst/>
          </a:prstGeom>
          <a:noFill/>
          <a:ln/>
        </p:spPr>
        <p:txBody>
          <a:bodyPr wrap="square" lIns="0" tIns="0" rIns="0" bIns="0" rtlCol="0" anchor="ctr"/>
          <a:lstStyle/>
          <a:p>
            <a:pPr marL="0" indent="0" algn="ctr">
              <a:buNone/>
            </a:pPr>
            <a:r>
              <a:rPr lang="en-US" sz="1100" b="1" kern="0" spc="60" dirty="0">
                <a:solidFill>
                  <a:srgbClr val="6B7280"/>
                </a:solidFill>
                <a:latin typeface="Georgia" pitchFamily="34" charset="0"/>
                <a:ea typeface="Georgia" pitchFamily="34" charset="-122"/>
                <a:cs typeface="Georgia" pitchFamily="34" charset="-120"/>
              </a:rPr>
              <a:t>global phase</a:t>
            </a:r>
            <a:endParaRPr lang="en-US" sz="1100" dirty="0"/>
          </a:p>
        </p:txBody>
      </p:sp>
      <p:sp>
        <p:nvSpPr>
          <p:cNvPr id="9" name="Card frame">
            <a:extLst>
              <a:ext uri="{C183D7F6-B498-43B3-948B-1728B52AA6E4}">
                <adec:decorative xmlns:adec="http://schemas.microsoft.com/office/drawing/2017/decorative" val="1"/>
              </a:ext>
            </a:extLst>
          </p:cNvPr>
          <p:cNvSpPr/>
          <p:nvPr/>
        </p:nvSpPr>
        <p:spPr>
          <a:xfrm>
            <a:off x="4709160" y="1325880"/>
            <a:ext cx="3749040" cy="2377440"/>
          </a:xfrm>
          <a:prstGeom prst="roundRect">
            <a:avLst>
              <a:gd name="adj" fmla="val 2308"/>
            </a:avLst>
          </a:prstGeom>
          <a:solidFill>
            <a:srgbClr val="F4F5FB"/>
          </a:solidFill>
          <a:ln w="15240">
            <a:solidFill>
              <a:srgbClr val="3730A3"/>
            </a:solidFill>
            <a:prstDash val="solid"/>
          </a:ln>
        </p:spPr>
        <p:txBody>
          <a:bodyPr/>
          <a:lstStyle/>
          <a:p>
            <a:endParaRPr lang="en-US"/>
          </a:p>
        </p:txBody>
      </p:sp>
      <p:sp>
        <p:nvSpPr>
          <p:cNvPr id="10" name="Text 8"/>
          <p:cNvSpPr/>
          <p:nvPr/>
        </p:nvSpPr>
        <p:spPr>
          <a:xfrm>
            <a:off x="4892040" y="1691640"/>
            <a:ext cx="3383280" cy="548640"/>
          </a:xfrm>
          <a:prstGeom prst="rect">
            <a:avLst/>
          </a:prstGeom>
          <a:noFill/>
          <a:ln/>
        </p:spPr>
        <p:txBody>
          <a:bodyPr wrap="square" lIns="0" tIns="0" rIns="0" bIns="0" rtlCol="0" anchor="ctr"/>
          <a:lstStyle/>
          <a:p>
            <a:pPr marL="0" indent="0" algn="ctr">
              <a:buNone/>
            </a:pPr>
            <a:r>
              <a:rPr lang="en-US" sz="2200" b="1" dirty="0">
                <a:solidFill>
                  <a:srgbClr val="3730A3"/>
                </a:solidFill>
                <a:latin typeface="Georgia" pitchFamily="34" charset="0"/>
                <a:ea typeface="Georgia" pitchFamily="34" charset="-122"/>
                <a:cs typeface="Georgia" pitchFamily="34" charset="-120"/>
              </a:rPr>
              <a:t>|00⟩ + |11⟩</a:t>
            </a:r>
            <a:endParaRPr lang="en-US" sz="2200" dirty="0"/>
          </a:p>
        </p:txBody>
      </p:sp>
      <p:sp>
        <p:nvSpPr>
          <p:cNvPr id="11" name="Text 9"/>
          <p:cNvSpPr/>
          <p:nvPr/>
        </p:nvSpPr>
        <p:spPr>
          <a:xfrm>
            <a:off x="4892040" y="2240280"/>
            <a:ext cx="3383280" cy="320040"/>
          </a:xfrm>
          <a:prstGeom prst="rect">
            <a:avLst/>
          </a:prstGeom>
          <a:noFill/>
          <a:ln/>
        </p:spPr>
        <p:txBody>
          <a:bodyPr wrap="square" lIns="0" tIns="0" rIns="0" bIns="0" rtlCol="0" anchor="ctr"/>
          <a:lstStyle/>
          <a:p>
            <a:pPr marL="0" indent="0" algn="ctr">
              <a:buNone/>
            </a:pPr>
            <a:r>
              <a:rPr lang="en-US" sz="1150" i="1" dirty="0">
                <a:solidFill>
                  <a:srgbClr val="6B7280"/>
                </a:solidFill>
                <a:latin typeface="Georgia" pitchFamily="34" charset="0"/>
                <a:ea typeface="Georgia" pitchFamily="34" charset="-122"/>
                <a:cs typeface="Georgia" pitchFamily="34" charset="-120"/>
              </a:rPr>
              <a:t>versus</a:t>
            </a:r>
            <a:endParaRPr lang="en-US" sz="1150" dirty="0"/>
          </a:p>
        </p:txBody>
      </p:sp>
      <p:sp>
        <p:nvSpPr>
          <p:cNvPr id="12" name="Text 10"/>
          <p:cNvSpPr/>
          <p:nvPr/>
        </p:nvSpPr>
        <p:spPr>
          <a:xfrm>
            <a:off x="4892040" y="2560320"/>
            <a:ext cx="3383280" cy="548640"/>
          </a:xfrm>
          <a:prstGeom prst="rect">
            <a:avLst/>
          </a:prstGeom>
          <a:noFill/>
          <a:ln/>
        </p:spPr>
        <p:txBody>
          <a:bodyPr wrap="square" lIns="0" tIns="0" rIns="0" bIns="0" rtlCol="0" anchor="ctr"/>
          <a:lstStyle/>
          <a:p>
            <a:pPr marL="0" indent="0" algn="ctr">
              <a:buNone/>
            </a:pPr>
            <a:r>
              <a:rPr lang="en-US" sz="2200" b="1" dirty="0">
                <a:solidFill>
                  <a:srgbClr val="3730A3"/>
                </a:solidFill>
                <a:latin typeface="Georgia" pitchFamily="34" charset="0"/>
                <a:ea typeface="Georgia" pitchFamily="34" charset="-122"/>
                <a:cs typeface="Georgia" pitchFamily="34" charset="-120"/>
              </a:rPr>
              <a:t>|00⟩ − |11⟩</a:t>
            </a:r>
            <a:endParaRPr lang="en-US" sz="2200" dirty="0"/>
          </a:p>
        </p:txBody>
      </p:sp>
      <p:sp>
        <p:nvSpPr>
          <p:cNvPr id="13" name="Text 11"/>
          <p:cNvSpPr/>
          <p:nvPr/>
        </p:nvSpPr>
        <p:spPr>
          <a:xfrm>
            <a:off x="4892040" y="3182112"/>
            <a:ext cx="3383280" cy="365760"/>
          </a:xfrm>
          <a:prstGeom prst="rect">
            <a:avLst/>
          </a:prstGeom>
          <a:noFill/>
          <a:ln/>
        </p:spPr>
        <p:txBody>
          <a:bodyPr wrap="square" lIns="0" tIns="0" rIns="0" bIns="0" rtlCol="0" anchor="ctr"/>
          <a:lstStyle/>
          <a:p>
            <a:pPr marL="0" indent="0" algn="ctr">
              <a:buNone/>
            </a:pPr>
            <a:r>
              <a:rPr lang="en-US" sz="1250" b="1" kern="0" spc="80" dirty="0">
                <a:solidFill>
                  <a:srgbClr val="3730A3"/>
                </a:solidFill>
                <a:latin typeface="Georgia" pitchFamily="34" charset="0"/>
                <a:ea typeface="Georgia" pitchFamily="34" charset="-122"/>
                <a:cs typeface="Georgia" pitchFamily="34" charset="-120"/>
              </a:rPr>
              <a:t>DIFFERENT physical states</a:t>
            </a:r>
            <a:endParaRPr lang="en-US" sz="1250" dirty="0"/>
          </a:p>
        </p:txBody>
      </p:sp>
      <p:sp>
        <p:nvSpPr>
          <p:cNvPr id="14" name="Text 12"/>
          <p:cNvSpPr/>
          <p:nvPr/>
        </p:nvSpPr>
        <p:spPr>
          <a:xfrm>
            <a:off x="4709160" y="1417320"/>
            <a:ext cx="3749040" cy="274320"/>
          </a:xfrm>
          <a:prstGeom prst="rect">
            <a:avLst/>
          </a:prstGeom>
          <a:noFill/>
          <a:ln/>
        </p:spPr>
        <p:txBody>
          <a:bodyPr wrap="square" lIns="0" tIns="0" rIns="0" bIns="0" rtlCol="0" anchor="ctr"/>
          <a:lstStyle/>
          <a:p>
            <a:pPr marL="0" indent="0" algn="ctr">
              <a:buNone/>
            </a:pPr>
            <a:r>
              <a:rPr lang="en-US" sz="1100" b="1" kern="0" spc="60" dirty="0">
                <a:solidFill>
                  <a:srgbClr val="3730A3"/>
                </a:solidFill>
                <a:latin typeface="Georgia" pitchFamily="34" charset="0"/>
                <a:ea typeface="Georgia" pitchFamily="34" charset="-122"/>
                <a:cs typeface="Georgia" pitchFamily="34" charset="-120"/>
              </a:rPr>
              <a:t>relative phase</a:t>
            </a:r>
            <a:endParaRPr lang="en-US" sz="1100" dirty="0"/>
          </a:p>
        </p:txBody>
      </p:sp>
      <p:sp>
        <p:nvSpPr>
          <p:cNvPr id="15" name="Text 13"/>
          <p:cNvSpPr/>
          <p:nvPr/>
        </p:nvSpPr>
        <p:spPr>
          <a:xfrm>
            <a:off x="640080" y="388620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Global phase is physically irrelevant; relative phase is physically significant.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Phase intuition: the complex plane</a:t>
            </a:r>
            <a:endParaRPr lang="en-US" sz="2500" dirty="0"/>
          </a:p>
        </p:txBody>
      </p:sp>
      <p:sp>
        <p:nvSpPr>
          <p:cNvPr id="3" name="Real axis">
            <a:extLst>
              <a:ext uri="{C183D7F6-B498-43B3-948B-1728B52AA6E4}">
                <adec:decorative xmlns:adec="http://schemas.microsoft.com/office/drawing/2017/decorative" val="1"/>
              </a:ext>
            </a:extLst>
          </p:cNvPr>
          <p:cNvSpPr/>
          <p:nvPr/>
        </p:nvSpPr>
        <p:spPr>
          <a:xfrm>
            <a:off x="640080" y="3200400"/>
            <a:ext cx="3383280" cy="0"/>
          </a:xfrm>
          <a:prstGeom prst="line">
            <a:avLst/>
          </a:prstGeom>
          <a:noFill/>
          <a:ln w="15875">
            <a:solidFill>
              <a:srgbClr val="1A1A2E"/>
            </a:solidFill>
            <a:prstDash val="solid"/>
          </a:ln>
        </p:spPr>
        <p:txBody>
          <a:bodyPr/>
          <a:lstStyle/>
          <a:p>
            <a:endParaRPr lang="en-US"/>
          </a:p>
        </p:txBody>
      </p:sp>
      <p:sp>
        <p:nvSpPr>
          <p:cNvPr id="4" name="Imaginary axis">
            <a:extLst>
              <a:ext uri="{C183D7F6-B498-43B3-948B-1728B52AA6E4}">
                <adec:decorative xmlns:adec="http://schemas.microsoft.com/office/drawing/2017/decorative" val="1"/>
              </a:ext>
            </a:extLst>
          </p:cNvPr>
          <p:cNvSpPr/>
          <p:nvPr/>
        </p:nvSpPr>
        <p:spPr>
          <a:xfrm>
            <a:off x="2331720" y="1783080"/>
            <a:ext cx="0" cy="1920240"/>
          </a:xfrm>
          <a:prstGeom prst="line">
            <a:avLst/>
          </a:prstGeom>
          <a:noFill/>
          <a:ln w="15875">
            <a:solidFill>
              <a:srgbClr val="1A1A2E"/>
            </a:solidFill>
            <a:prstDash val="solid"/>
          </a:ln>
        </p:spPr>
        <p:txBody>
          <a:bodyPr/>
          <a:lstStyle/>
          <a:p>
            <a:endParaRPr lang="en-US"/>
          </a:p>
        </p:txBody>
      </p:sp>
      <p:sp>
        <p:nvSpPr>
          <p:cNvPr id="5" name="Text 3"/>
          <p:cNvSpPr/>
          <p:nvPr/>
        </p:nvSpPr>
        <p:spPr>
          <a:xfrm>
            <a:off x="3520440" y="3273552"/>
            <a:ext cx="548640" cy="256032"/>
          </a:xfrm>
          <a:prstGeom prst="rect">
            <a:avLst/>
          </a:prstGeom>
          <a:noFill/>
          <a:ln/>
        </p:spPr>
        <p:txBody>
          <a:bodyPr wrap="square" lIns="0" tIns="0" rIns="0" bIns="0" rtlCol="0" anchor="ctr"/>
          <a:lstStyle/>
          <a:p>
            <a:pPr marL="0" indent="0">
              <a:buNone/>
            </a:pPr>
            <a:r>
              <a:rPr lang="en-US" sz="1050" dirty="0">
                <a:solidFill>
                  <a:srgbClr val="6B7280"/>
                </a:solidFill>
                <a:latin typeface="Georgia" pitchFamily="34" charset="0"/>
                <a:ea typeface="Georgia" pitchFamily="34" charset="-122"/>
                <a:cs typeface="Georgia" pitchFamily="34" charset="-120"/>
              </a:rPr>
              <a:t>Re</a:t>
            </a:r>
            <a:endParaRPr lang="en-US" sz="1050" dirty="0"/>
          </a:p>
        </p:txBody>
      </p:sp>
      <p:sp>
        <p:nvSpPr>
          <p:cNvPr id="6" name="Text 4"/>
          <p:cNvSpPr/>
          <p:nvPr/>
        </p:nvSpPr>
        <p:spPr>
          <a:xfrm>
            <a:off x="2423160" y="1764792"/>
            <a:ext cx="548640" cy="256032"/>
          </a:xfrm>
          <a:prstGeom prst="rect">
            <a:avLst/>
          </a:prstGeom>
          <a:noFill/>
          <a:ln/>
        </p:spPr>
        <p:txBody>
          <a:bodyPr wrap="square" lIns="0" tIns="0" rIns="0" bIns="0" rtlCol="0" anchor="ctr"/>
          <a:lstStyle/>
          <a:p>
            <a:pPr marL="0" indent="0">
              <a:buNone/>
            </a:pPr>
            <a:r>
              <a:rPr lang="en-US" sz="1050" dirty="0">
                <a:solidFill>
                  <a:srgbClr val="6B7280"/>
                </a:solidFill>
                <a:latin typeface="Georgia" pitchFamily="34" charset="0"/>
                <a:ea typeface="Georgia" pitchFamily="34" charset="-122"/>
                <a:cs typeface="Georgia" pitchFamily="34" charset="-120"/>
              </a:rPr>
              <a:t>Im</a:t>
            </a:r>
            <a:endParaRPr lang="en-US" sz="1050" dirty="0"/>
          </a:p>
        </p:txBody>
      </p:sp>
      <p:sp>
        <p:nvSpPr>
          <p:cNvPr id="7" name="Connector">
            <a:extLst>
              <a:ext uri="{C183D7F6-B498-43B3-948B-1728B52AA6E4}">
                <adec:decorative xmlns:adec="http://schemas.microsoft.com/office/drawing/2017/decorative" val="1"/>
              </a:ext>
            </a:extLst>
          </p:cNvPr>
          <p:cNvSpPr/>
          <p:nvPr/>
        </p:nvSpPr>
        <p:spPr>
          <a:xfrm flipV="1">
            <a:off x="2331720" y="2240280"/>
            <a:ext cx="1170432" cy="960120"/>
          </a:xfrm>
          <a:prstGeom prst="line">
            <a:avLst/>
          </a:prstGeom>
          <a:noFill/>
          <a:ln w="15875">
            <a:solidFill>
              <a:srgbClr val="3730A3"/>
            </a:solidFill>
            <a:prstDash val="solid"/>
          </a:ln>
        </p:spPr>
        <p:txBody>
          <a:bodyPr/>
          <a:lstStyle/>
          <a:p>
            <a:endParaRPr lang="en-US"/>
          </a:p>
        </p:txBody>
      </p:sp>
      <p:sp>
        <p:nvSpPr>
          <p:cNvPr id="8" name="Amplitude point">
            <a:extLst>
              <a:ext uri="{C183D7F6-B498-43B3-948B-1728B52AA6E4}">
                <adec:decorative xmlns:adec="http://schemas.microsoft.com/office/drawing/2017/decorative" val="1"/>
              </a:ext>
            </a:extLst>
          </p:cNvPr>
          <p:cNvSpPr/>
          <p:nvPr/>
        </p:nvSpPr>
        <p:spPr>
          <a:xfrm>
            <a:off x="3451860" y="2189988"/>
            <a:ext cx="100584" cy="100584"/>
          </a:xfrm>
          <a:prstGeom prst="ellipse">
            <a:avLst/>
          </a:prstGeom>
          <a:solidFill>
            <a:srgbClr val="3730A3"/>
          </a:solidFill>
          <a:ln w="12700">
            <a:solidFill>
              <a:srgbClr val="3730A3"/>
            </a:solidFill>
            <a:prstDash val="solid"/>
          </a:ln>
        </p:spPr>
        <p:txBody>
          <a:bodyPr/>
          <a:lstStyle/>
          <a:p>
            <a:endParaRPr lang="en-US"/>
          </a:p>
        </p:txBody>
      </p:sp>
      <p:sp>
        <p:nvSpPr>
          <p:cNvPr id="9" name="Text 7"/>
          <p:cNvSpPr/>
          <p:nvPr/>
        </p:nvSpPr>
        <p:spPr>
          <a:xfrm>
            <a:off x="3182112" y="1856232"/>
            <a:ext cx="1737360" cy="274320"/>
          </a:xfrm>
          <a:prstGeom prst="rect">
            <a:avLst/>
          </a:prstGeom>
          <a:noFill/>
          <a:ln/>
        </p:spPr>
        <p:txBody>
          <a:bodyPr wrap="square" lIns="0" tIns="0" rIns="0" bIns="0" rtlCol="0" anchor="ctr"/>
          <a:lstStyle/>
          <a:p>
            <a:pPr marL="0" indent="0">
              <a:buNone/>
            </a:pPr>
            <a:r>
              <a:rPr lang="en-US" sz="1150" b="1" dirty="0">
                <a:solidFill>
                  <a:srgbClr val="3730A3"/>
                </a:solidFill>
                <a:latin typeface="Georgia" pitchFamily="34" charset="0"/>
                <a:ea typeface="Georgia" pitchFamily="34" charset="-122"/>
                <a:cs typeface="Georgia" pitchFamily="34" charset="-120"/>
              </a:rPr>
              <a:t>|α|  =  length</a:t>
            </a:r>
            <a:endParaRPr lang="en-US" sz="1150" dirty="0"/>
          </a:p>
        </p:txBody>
      </p:sp>
      <p:sp>
        <p:nvSpPr>
          <p:cNvPr id="10" name="Text 8"/>
          <p:cNvSpPr/>
          <p:nvPr/>
        </p:nvSpPr>
        <p:spPr>
          <a:xfrm>
            <a:off x="731520" y="3291840"/>
            <a:ext cx="1463040" cy="274320"/>
          </a:xfrm>
          <a:prstGeom prst="rect">
            <a:avLst/>
          </a:prstGeom>
          <a:noFill/>
          <a:ln/>
        </p:spPr>
        <p:txBody>
          <a:bodyPr wrap="square" lIns="0" tIns="0" rIns="0" bIns="0" rtlCol="0" anchor="ctr"/>
          <a:lstStyle/>
          <a:p>
            <a:pPr marL="0" indent="0" algn="r">
              <a:buNone/>
            </a:pPr>
            <a:r>
              <a:rPr lang="en-US" sz="1050" dirty="0">
                <a:solidFill>
                  <a:srgbClr val="6B7280"/>
                </a:solidFill>
                <a:latin typeface="Georgia" pitchFamily="34" charset="0"/>
                <a:ea typeface="Georgia" pitchFamily="34" charset="-122"/>
                <a:cs typeface="Georgia" pitchFamily="34" charset="-120"/>
              </a:rPr>
              <a:t>θ = phase angle</a:t>
            </a:r>
            <a:endParaRPr lang="en-US" sz="1050" dirty="0"/>
          </a:p>
        </p:txBody>
      </p:sp>
      <p:sp>
        <p:nvSpPr>
          <p:cNvPr id="11" name="Card frame">
            <a:extLst>
              <a:ext uri="{C183D7F6-B498-43B3-948B-1728B52AA6E4}">
                <adec:decorative xmlns:adec="http://schemas.microsoft.com/office/drawing/2017/decorative" val="1"/>
              </a:ext>
            </a:extLst>
          </p:cNvPr>
          <p:cNvSpPr/>
          <p:nvPr/>
        </p:nvSpPr>
        <p:spPr>
          <a:xfrm>
            <a:off x="4937760" y="1463040"/>
            <a:ext cx="3566160" cy="731520"/>
          </a:xfrm>
          <a:prstGeom prst="roundRect">
            <a:avLst>
              <a:gd name="adj" fmla="val 7500"/>
            </a:avLst>
          </a:prstGeom>
          <a:solidFill>
            <a:srgbClr val="F4F5FB"/>
          </a:solidFill>
          <a:ln w="15240">
            <a:solidFill>
              <a:srgbClr val="3730A3"/>
            </a:solidFill>
            <a:prstDash val="solid"/>
          </a:ln>
        </p:spPr>
        <p:txBody>
          <a:bodyPr/>
          <a:lstStyle/>
          <a:p>
            <a:endParaRPr lang="en-US"/>
          </a:p>
        </p:txBody>
      </p:sp>
      <p:sp>
        <p:nvSpPr>
          <p:cNvPr id="12" name="Text 10"/>
          <p:cNvSpPr/>
          <p:nvPr/>
        </p:nvSpPr>
        <p:spPr>
          <a:xfrm>
            <a:off x="5120640" y="1536192"/>
            <a:ext cx="3200400" cy="274320"/>
          </a:xfrm>
          <a:prstGeom prst="rect">
            <a:avLst/>
          </a:prstGeom>
          <a:noFill/>
          <a:ln/>
        </p:spPr>
        <p:txBody>
          <a:bodyPr wrap="square" lIns="0" tIns="0" rIns="0" bIns="0" rtlCol="0" anchor="ctr"/>
          <a:lstStyle/>
          <a:p>
            <a:pPr marL="0" indent="0">
              <a:buNone/>
            </a:pPr>
            <a:r>
              <a:rPr lang="en-US" sz="1050" kern="0" spc="60" dirty="0">
                <a:solidFill>
                  <a:srgbClr val="6B7280"/>
                </a:solidFill>
                <a:latin typeface="Georgia" pitchFamily="34" charset="0"/>
                <a:ea typeface="Georgia" pitchFamily="34" charset="-122"/>
                <a:cs typeface="Georgia" pitchFamily="34" charset="-120"/>
              </a:rPr>
              <a:t>complex amplitude</a:t>
            </a:r>
            <a:endParaRPr lang="en-US" sz="1050" dirty="0"/>
          </a:p>
        </p:txBody>
      </p:sp>
      <p:sp>
        <p:nvSpPr>
          <p:cNvPr id="13" name="Text 11"/>
          <p:cNvSpPr/>
          <p:nvPr/>
        </p:nvSpPr>
        <p:spPr>
          <a:xfrm>
            <a:off x="5120640" y="1792224"/>
            <a:ext cx="3200400" cy="329184"/>
          </a:xfrm>
          <a:prstGeom prst="rect">
            <a:avLst/>
          </a:prstGeom>
          <a:noFill/>
          <a:ln/>
        </p:spPr>
        <p:txBody>
          <a:bodyPr wrap="square" lIns="0" tIns="0" rIns="0" bIns="0" rtlCol="0" anchor="ctr"/>
          <a:lstStyle/>
          <a:p>
            <a:pPr marL="0" indent="0">
              <a:buNone/>
            </a:pPr>
            <a:r>
              <a:rPr lang="en-US" sz="1500" b="1" dirty="0">
                <a:solidFill>
                  <a:srgbClr val="3730A3"/>
                </a:solidFill>
                <a:latin typeface="Georgia" pitchFamily="34" charset="0"/>
                <a:ea typeface="Georgia" pitchFamily="34" charset="-122"/>
                <a:cs typeface="Georgia" pitchFamily="34" charset="-120"/>
              </a:rPr>
              <a:t>α = |α| · eⁱᶿ</a:t>
            </a:r>
            <a:endParaRPr lang="en-US" sz="1500" dirty="0"/>
          </a:p>
        </p:txBody>
      </p:sp>
      <p:sp>
        <p:nvSpPr>
          <p:cNvPr id="14" name="Text 12"/>
          <p:cNvSpPr/>
          <p:nvPr/>
        </p:nvSpPr>
        <p:spPr>
          <a:xfrm>
            <a:off x="4937760" y="2194560"/>
            <a:ext cx="3566160" cy="274320"/>
          </a:xfrm>
          <a:prstGeom prst="rect">
            <a:avLst/>
          </a:prstGeom>
          <a:noFill/>
          <a:ln/>
        </p:spPr>
        <p:txBody>
          <a:bodyPr wrap="square" lIns="0" tIns="0" rIns="0" bIns="0" rtlCol="0" anchor="ctr"/>
          <a:lstStyle/>
          <a:p>
            <a:pPr marL="0" indent="0" algn="ctr">
              <a:buNone/>
            </a:pPr>
            <a:r>
              <a:rPr lang="en-US" sz="1300" dirty="0">
                <a:solidFill>
                  <a:srgbClr val="3730A3"/>
                </a:solidFill>
                <a:latin typeface="Georgia" pitchFamily="34" charset="0"/>
                <a:ea typeface="Georgia" pitchFamily="34" charset="-122"/>
                <a:cs typeface="Georgia" pitchFamily="34" charset="-120"/>
              </a:rPr>
              <a:t>↓</a:t>
            </a:r>
            <a:endParaRPr lang="en-US" sz="1300" dirty="0"/>
          </a:p>
        </p:txBody>
      </p:sp>
      <p:sp>
        <p:nvSpPr>
          <p:cNvPr id="15" name="Card frame">
            <a:extLst>
              <a:ext uri="{C183D7F6-B498-43B3-948B-1728B52AA6E4}">
                <adec:decorative xmlns:adec="http://schemas.microsoft.com/office/drawing/2017/decorative" val="1"/>
              </a:ext>
            </a:extLst>
          </p:cNvPr>
          <p:cNvSpPr/>
          <p:nvPr/>
        </p:nvSpPr>
        <p:spPr>
          <a:xfrm>
            <a:off x="4937760" y="2468880"/>
            <a:ext cx="3566160" cy="731520"/>
          </a:xfrm>
          <a:prstGeom prst="roundRect">
            <a:avLst>
              <a:gd name="adj" fmla="val 7500"/>
            </a:avLst>
          </a:prstGeom>
          <a:solidFill>
            <a:srgbClr val="FFFFFF"/>
          </a:solidFill>
          <a:ln w="12700">
            <a:solidFill>
              <a:srgbClr val="D4D7DD"/>
            </a:solidFill>
            <a:prstDash val="solid"/>
          </a:ln>
        </p:spPr>
        <p:txBody>
          <a:bodyPr/>
          <a:lstStyle/>
          <a:p>
            <a:endParaRPr lang="en-US"/>
          </a:p>
        </p:txBody>
      </p:sp>
      <p:sp>
        <p:nvSpPr>
          <p:cNvPr id="16" name="Text 14"/>
          <p:cNvSpPr/>
          <p:nvPr/>
        </p:nvSpPr>
        <p:spPr>
          <a:xfrm>
            <a:off x="5120640" y="2542032"/>
            <a:ext cx="3200400" cy="274320"/>
          </a:xfrm>
          <a:prstGeom prst="rect">
            <a:avLst/>
          </a:prstGeom>
          <a:noFill/>
          <a:ln/>
        </p:spPr>
        <p:txBody>
          <a:bodyPr wrap="square" lIns="0" tIns="0" rIns="0" bIns="0" rtlCol="0" anchor="ctr"/>
          <a:lstStyle/>
          <a:p>
            <a:pPr marL="0" indent="0">
              <a:buNone/>
            </a:pPr>
            <a:r>
              <a:rPr lang="en-US" sz="1050" kern="0" spc="60" dirty="0">
                <a:solidFill>
                  <a:srgbClr val="6B7280"/>
                </a:solidFill>
                <a:latin typeface="Georgia" pitchFamily="34" charset="0"/>
                <a:ea typeface="Georgia" pitchFamily="34" charset="-122"/>
                <a:cs typeface="Georgia" pitchFamily="34" charset="-120"/>
              </a:rPr>
              <a:t>magnitude</a:t>
            </a:r>
            <a:endParaRPr lang="en-US" sz="1050" dirty="0"/>
          </a:p>
        </p:txBody>
      </p:sp>
      <p:sp>
        <p:nvSpPr>
          <p:cNvPr id="17" name="Text 15"/>
          <p:cNvSpPr/>
          <p:nvPr/>
        </p:nvSpPr>
        <p:spPr>
          <a:xfrm>
            <a:off x="5120640" y="2798064"/>
            <a:ext cx="3200400" cy="329184"/>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probability  |α|²</a:t>
            </a:r>
            <a:endParaRPr lang="en-US" sz="1500" dirty="0"/>
          </a:p>
        </p:txBody>
      </p:sp>
      <p:sp>
        <p:nvSpPr>
          <p:cNvPr id="18" name="Text 16"/>
          <p:cNvSpPr/>
          <p:nvPr/>
        </p:nvSpPr>
        <p:spPr>
          <a:xfrm>
            <a:off x="4937760" y="3200400"/>
            <a:ext cx="3566160" cy="274320"/>
          </a:xfrm>
          <a:prstGeom prst="rect">
            <a:avLst/>
          </a:prstGeom>
          <a:noFill/>
          <a:ln/>
        </p:spPr>
        <p:txBody>
          <a:bodyPr wrap="square" lIns="0" tIns="0" rIns="0" bIns="0" rtlCol="0" anchor="ctr"/>
          <a:lstStyle/>
          <a:p>
            <a:pPr marL="0" indent="0" algn="ctr">
              <a:buNone/>
            </a:pPr>
            <a:r>
              <a:rPr lang="en-US" sz="1300" dirty="0">
                <a:solidFill>
                  <a:srgbClr val="3730A3"/>
                </a:solidFill>
                <a:latin typeface="Georgia" pitchFamily="34" charset="0"/>
                <a:ea typeface="Georgia" pitchFamily="34" charset="-122"/>
                <a:cs typeface="Georgia" pitchFamily="34" charset="-120"/>
              </a:rPr>
              <a:t>↓</a:t>
            </a:r>
            <a:endParaRPr lang="en-US" sz="1300" dirty="0"/>
          </a:p>
        </p:txBody>
      </p:sp>
      <p:sp>
        <p:nvSpPr>
          <p:cNvPr id="19" name="Card frame">
            <a:extLst>
              <a:ext uri="{C183D7F6-B498-43B3-948B-1728B52AA6E4}">
                <adec:decorative xmlns:adec="http://schemas.microsoft.com/office/drawing/2017/decorative" val="1"/>
              </a:ext>
            </a:extLst>
          </p:cNvPr>
          <p:cNvSpPr/>
          <p:nvPr/>
        </p:nvSpPr>
        <p:spPr>
          <a:xfrm>
            <a:off x="4937760" y="3474720"/>
            <a:ext cx="3566160" cy="731520"/>
          </a:xfrm>
          <a:prstGeom prst="roundRect">
            <a:avLst>
              <a:gd name="adj" fmla="val 7500"/>
            </a:avLst>
          </a:prstGeom>
          <a:solidFill>
            <a:srgbClr val="FFFFFF"/>
          </a:solidFill>
          <a:ln w="12700">
            <a:solidFill>
              <a:srgbClr val="D4D7DD"/>
            </a:solidFill>
            <a:prstDash val="solid"/>
          </a:ln>
        </p:spPr>
        <p:txBody>
          <a:bodyPr/>
          <a:lstStyle/>
          <a:p>
            <a:endParaRPr lang="en-US"/>
          </a:p>
        </p:txBody>
      </p:sp>
      <p:sp>
        <p:nvSpPr>
          <p:cNvPr id="20" name="Text 18"/>
          <p:cNvSpPr/>
          <p:nvPr/>
        </p:nvSpPr>
        <p:spPr>
          <a:xfrm>
            <a:off x="5120640" y="3547872"/>
            <a:ext cx="3200400" cy="274320"/>
          </a:xfrm>
          <a:prstGeom prst="rect">
            <a:avLst/>
          </a:prstGeom>
          <a:noFill/>
          <a:ln/>
        </p:spPr>
        <p:txBody>
          <a:bodyPr wrap="square" lIns="0" tIns="0" rIns="0" bIns="0" rtlCol="0" anchor="ctr"/>
          <a:lstStyle/>
          <a:p>
            <a:pPr marL="0" indent="0">
              <a:buNone/>
            </a:pPr>
            <a:r>
              <a:rPr lang="en-US" sz="1050" kern="0" spc="60" dirty="0">
                <a:solidFill>
                  <a:srgbClr val="6B7280"/>
                </a:solidFill>
                <a:latin typeface="Georgia" pitchFamily="34" charset="0"/>
                <a:ea typeface="Georgia" pitchFamily="34" charset="-122"/>
                <a:cs typeface="Georgia" pitchFamily="34" charset="-120"/>
              </a:rPr>
              <a:t>angle</a:t>
            </a:r>
            <a:endParaRPr lang="en-US" sz="1050" dirty="0"/>
          </a:p>
        </p:txBody>
      </p:sp>
      <p:sp>
        <p:nvSpPr>
          <p:cNvPr id="21" name="Text 19"/>
          <p:cNvSpPr/>
          <p:nvPr/>
        </p:nvSpPr>
        <p:spPr>
          <a:xfrm>
            <a:off x="5120640" y="3803904"/>
            <a:ext cx="3200400" cy="329184"/>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phase  θ</a:t>
            </a:r>
            <a:endParaRPr lang="en-US" sz="1500" dirty="0"/>
          </a:p>
        </p:txBody>
      </p:sp>
      <p:sp>
        <p:nvSpPr>
          <p:cNvPr id="22" name="Text 20"/>
          <p:cNvSpPr/>
          <p:nvPr/>
        </p:nvSpPr>
        <p:spPr>
          <a:xfrm>
            <a:off x="640080" y="434340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A complex amplitude carries both a probability and a phase </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Mini activity: classify the states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207008"/>
            <a:ext cx="7772400" cy="566928"/>
          </a:xfrm>
          <a:prstGeom prst="roundRect">
            <a:avLst>
              <a:gd name="adj" fmla="val 9677"/>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868680" y="1207008"/>
            <a:ext cx="7406640" cy="566928"/>
          </a:xfrm>
          <a:prstGeom prst="rect">
            <a:avLst/>
          </a:prstGeom>
          <a:noFill/>
          <a:ln/>
        </p:spPr>
        <p:txBody>
          <a:bodyPr wrap="square" lIns="0" tIns="0" rIns="0" bIns="0" rtlCol="0" anchor="ctr"/>
          <a:lstStyle/>
          <a:p>
            <a:pPr marL="0" indent="0">
              <a:buNone/>
            </a:pPr>
            <a:r>
              <a:rPr lang="en-US" sz="1500" b="1" dirty="0">
                <a:solidFill>
                  <a:srgbClr val="3730A3"/>
                </a:solidFill>
                <a:latin typeface="Georgia" pitchFamily="34" charset="0"/>
                <a:ea typeface="Georgia" pitchFamily="34" charset="-122"/>
                <a:cs typeface="Georgia" pitchFamily="34" charset="-120"/>
              </a:rPr>
              <a:t>For each state: separable or entangled?</a:t>
            </a:r>
            <a:endParaRPr lang="en-US" sz="1500" dirty="0"/>
          </a:p>
        </p:txBody>
      </p:sp>
      <p:sp>
        <p:nvSpPr>
          <p:cNvPr id="5" name="Card frame">
            <a:extLst>
              <a:ext uri="{C183D7F6-B498-43B3-948B-1728B52AA6E4}">
                <adec:decorative xmlns:adec="http://schemas.microsoft.com/office/drawing/2017/decorative" val="1"/>
              </a:ext>
            </a:extLst>
          </p:cNvPr>
          <p:cNvSpPr/>
          <p:nvPr/>
        </p:nvSpPr>
        <p:spPr>
          <a:xfrm>
            <a:off x="685800" y="1965960"/>
            <a:ext cx="3794760" cy="1143000"/>
          </a:xfrm>
          <a:prstGeom prst="roundRect">
            <a:avLst>
              <a:gd name="adj" fmla="val 4800"/>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914400" y="1965960"/>
            <a:ext cx="1280160" cy="1143000"/>
          </a:xfrm>
          <a:prstGeom prst="rect">
            <a:avLst/>
          </a:prstGeom>
          <a:noFill/>
          <a:ln/>
        </p:spPr>
        <p:txBody>
          <a:bodyPr wrap="square" lIns="0" tIns="0" rIns="0" bIns="0" rtlCol="0" anchor="ctr"/>
          <a:lstStyle/>
          <a:p>
            <a:pPr marL="0" indent="0">
              <a:buNone/>
            </a:pPr>
            <a:r>
              <a:rPr lang="en-US" sz="1700" b="1" dirty="0">
                <a:solidFill>
                  <a:srgbClr val="3730A3"/>
                </a:solidFill>
                <a:latin typeface="Georgia" pitchFamily="34" charset="0"/>
                <a:ea typeface="Georgia" pitchFamily="34" charset="-122"/>
                <a:cs typeface="Georgia" pitchFamily="34" charset="-120"/>
              </a:rPr>
              <a:t>|ψ₁⟩  =</a:t>
            </a:r>
            <a:endParaRPr lang="en-US" sz="1700" dirty="0"/>
          </a:p>
        </p:txBody>
      </p:sp>
      <p:sp>
        <p:nvSpPr>
          <p:cNvPr id="7" name="Text 5"/>
          <p:cNvSpPr/>
          <p:nvPr/>
        </p:nvSpPr>
        <p:spPr>
          <a:xfrm>
            <a:off x="2240280" y="2194560"/>
            <a:ext cx="2011680" cy="310896"/>
          </a:xfrm>
          <a:prstGeom prst="rect">
            <a:avLst/>
          </a:prstGeom>
          <a:noFill/>
          <a:ln/>
        </p:spPr>
        <p:txBody>
          <a:bodyPr wrap="square" lIns="0" tIns="0" rIns="0" bIns="0" rtlCol="0" anchor="b"/>
          <a:lstStyle/>
          <a:p>
            <a:pPr marL="0" indent="0" algn="ctr">
              <a:buNone/>
            </a:pPr>
            <a:r>
              <a:rPr lang="en-US" sz="1350" dirty="0">
                <a:solidFill>
                  <a:srgbClr val="1A1A2E"/>
                </a:solidFill>
                <a:latin typeface="Georgia" pitchFamily="34" charset="0"/>
                <a:ea typeface="Georgia" pitchFamily="34" charset="-122"/>
                <a:cs typeface="Georgia" pitchFamily="34" charset="-120"/>
              </a:rPr>
              <a:t>|00⟩ + |11⟩</a:t>
            </a:r>
            <a:endParaRPr lang="en-US" sz="1350" dirty="0"/>
          </a:p>
        </p:txBody>
      </p:sp>
      <p:sp>
        <p:nvSpPr>
          <p:cNvPr id="8" name="Fraction bar">
            <a:extLst>
              <a:ext uri="{C183D7F6-B498-43B3-948B-1728B52AA6E4}">
                <adec:decorative xmlns:adec="http://schemas.microsoft.com/office/drawing/2017/decorative" val="1"/>
              </a:ext>
            </a:extLst>
          </p:cNvPr>
          <p:cNvSpPr/>
          <p:nvPr/>
        </p:nvSpPr>
        <p:spPr>
          <a:xfrm>
            <a:off x="2331720" y="2523744"/>
            <a:ext cx="1828800" cy="0"/>
          </a:xfrm>
          <a:prstGeom prst="line">
            <a:avLst/>
          </a:prstGeom>
          <a:noFill/>
          <a:ln w="15875">
            <a:solidFill>
              <a:srgbClr val="1A1A2E"/>
            </a:solidFill>
            <a:prstDash val="solid"/>
          </a:ln>
        </p:spPr>
        <p:txBody>
          <a:bodyPr/>
          <a:lstStyle/>
          <a:p>
            <a:endParaRPr lang="en-US"/>
          </a:p>
        </p:txBody>
      </p:sp>
      <p:sp>
        <p:nvSpPr>
          <p:cNvPr id="9" name="Text 7"/>
          <p:cNvSpPr/>
          <p:nvPr/>
        </p:nvSpPr>
        <p:spPr>
          <a:xfrm>
            <a:off x="2240280" y="2542032"/>
            <a:ext cx="2011680" cy="310896"/>
          </a:xfrm>
          <a:prstGeom prst="rect">
            <a:avLst/>
          </a:prstGeom>
          <a:noFill/>
          <a:ln/>
        </p:spPr>
        <p:txBody>
          <a:bodyPr wrap="square" lIns="0" tIns="0" rIns="0" bIns="0" rtlCol="0" anchor="t"/>
          <a:lstStyle/>
          <a:p>
            <a:pPr marL="0" indent="0" algn="ctr">
              <a:buNone/>
            </a:pPr>
            <a:r>
              <a:rPr lang="en-US" sz="1350" dirty="0">
                <a:solidFill>
                  <a:srgbClr val="1A1A2E"/>
                </a:solidFill>
                <a:latin typeface="Georgia" pitchFamily="34" charset="0"/>
                <a:ea typeface="Georgia" pitchFamily="34" charset="-122"/>
                <a:cs typeface="Georgia" pitchFamily="34" charset="-120"/>
              </a:rPr>
              <a:t>√2</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4846320" y="1965960"/>
            <a:ext cx="3794760" cy="1143000"/>
          </a:xfrm>
          <a:prstGeom prst="roundRect">
            <a:avLst>
              <a:gd name="adj" fmla="val 4800"/>
            </a:avLst>
          </a:prstGeom>
          <a:solidFill>
            <a:srgbClr val="FFFFFF"/>
          </a:solidFill>
          <a:ln w="12700">
            <a:solidFill>
              <a:srgbClr val="D4D7DD"/>
            </a:solidFill>
            <a:prstDash val="solid"/>
          </a:ln>
        </p:spPr>
        <p:txBody>
          <a:bodyPr/>
          <a:lstStyle/>
          <a:p>
            <a:endParaRPr lang="en-US"/>
          </a:p>
        </p:txBody>
      </p:sp>
      <p:sp>
        <p:nvSpPr>
          <p:cNvPr id="11" name="Text 9"/>
          <p:cNvSpPr/>
          <p:nvPr/>
        </p:nvSpPr>
        <p:spPr>
          <a:xfrm>
            <a:off x="5074920" y="1965960"/>
            <a:ext cx="1280160" cy="1143000"/>
          </a:xfrm>
          <a:prstGeom prst="rect">
            <a:avLst/>
          </a:prstGeom>
          <a:noFill/>
          <a:ln/>
        </p:spPr>
        <p:txBody>
          <a:bodyPr wrap="square" lIns="0" tIns="0" rIns="0" bIns="0" rtlCol="0" anchor="ctr"/>
          <a:lstStyle/>
          <a:p>
            <a:pPr marL="0" indent="0">
              <a:buNone/>
            </a:pPr>
            <a:r>
              <a:rPr lang="en-US" sz="1700" b="1" dirty="0">
                <a:solidFill>
                  <a:srgbClr val="3730A3"/>
                </a:solidFill>
                <a:latin typeface="Georgia" pitchFamily="34" charset="0"/>
                <a:ea typeface="Georgia" pitchFamily="34" charset="-122"/>
                <a:cs typeface="Georgia" pitchFamily="34" charset="-120"/>
              </a:rPr>
              <a:t>|ψ₂⟩  =</a:t>
            </a:r>
            <a:endParaRPr lang="en-US" sz="1700" dirty="0"/>
          </a:p>
        </p:txBody>
      </p:sp>
      <p:sp>
        <p:nvSpPr>
          <p:cNvPr id="12" name="Text 10"/>
          <p:cNvSpPr/>
          <p:nvPr/>
        </p:nvSpPr>
        <p:spPr>
          <a:xfrm>
            <a:off x="6400800" y="2194560"/>
            <a:ext cx="2011680" cy="310896"/>
          </a:xfrm>
          <a:prstGeom prst="rect">
            <a:avLst/>
          </a:prstGeom>
          <a:noFill/>
          <a:ln/>
        </p:spPr>
        <p:txBody>
          <a:bodyPr wrap="square" lIns="0" tIns="0" rIns="0" bIns="0" rtlCol="0" anchor="b"/>
          <a:lstStyle/>
          <a:p>
            <a:pPr marL="0" indent="0" algn="ctr">
              <a:buNone/>
            </a:pPr>
            <a:r>
              <a:rPr lang="en-US" sz="1350" dirty="0">
                <a:solidFill>
                  <a:srgbClr val="1A1A2E"/>
                </a:solidFill>
                <a:latin typeface="Georgia" pitchFamily="34" charset="0"/>
                <a:ea typeface="Georgia" pitchFamily="34" charset="-122"/>
                <a:cs typeface="Georgia" pitchFamily="34" charset="-120"/>
              </a:rPr>
              <a:t>|00⟩ + |01⟩</a:t>
            </a:r>
            <a:endParaRPr lang="en-US" sz="1350" dirty="0"/>
          </a:p>
        </p:txBody>
      </p:sp>
      <p:sp>
        <p:nvSpPr>
          <p:cNvPr id="13" name="Fraction bar">
            <a:extLst>
              <a:ext uri="{C183D7F6-B498-43B3-948B-1728B52AA6E4}">
                <adec:decorative xmlns:adec="http://schemas.microsoft.com/office/drawing/2017/decorative" val="1"/>
              </a:ext>
            </a:extLst>
          </p:cNvPr>
          <p:cNvSpPr/>
          <p:nvPr/>
        </p:nvSpPr>
        <p:spPr>
          <a:xfrm>
            <a:off x="6492240" y="2523744"/>
            <a:ext cx="1828800" cy="0"/>
          </a:xfrm>
          <a:prstGeom prst="line">
            <a:avLst/>
          </a:prstGeom>
          <a:noFill/>
          <a:ln w="15875">
            <a:solidFill>
              <a:srgbClr val="1A1A2E"/>
            </a:solidFill>
            <a:prstDash val="solid"/>
          </a:ln>
        </p:spPr>
        <p:txBody>
          <a:bodyPr/>
          <a:lstStyle/>
          <a:p>
            <a:endParaRPr lang="en-US"/>
          </a:p>
        </p:txBody>
      </p:sp>
      <p:sp>
        <p:nvSpPr>
          <p:cNvPr id="14" name="Text 12"/>
          <p:cNvSpPr/>
          <p:nvPr/>
        </p:nvSpPr>
        <p:spPr>
          <a:xfrm>
            <a:off x="6400800" y="2542032"/>
            <a:ext cx="2011680" cy="310896"/>
          </a:xfrm>
          <a:prstGeom prst="rect">
            <a:avLst/>
          </a:prstGeom>
          <a:noFill/>
          <a:ln/>
        </p:spPr>
        <p:txBody>
          <a:bodyPr wrap="square" lIns="0" tIns="0" rIns="0" bIns="0" rtlCol="0" anchor="t"/>
          <a:lstStyle/>
          <a:p>
            <a:pPr marL="0" indent="0" algn="ctr">
              <a:buNone/>
            </a:pPr>
            <a:r>
              <a:rPr lang="en-US" sz="1350" dirty="0">
                <a:solidFill>
                  <a:srgbClr val="1A1A2E"/>
                </a:solidFill>
                <a:latin typeface="Georgia" pitchFamily="34" charset="0"/>
                <a:ea typeface="Georgia" pitchFamily="34" charset="-122"/>
                <a:cs typeface="Georgia" pitchFamily="34" charset="-120"/>
              </a:rPr>
              <a:t>√2</a:t>
            </a:r>
            <a:endParaRPr lang="en-US" sz="1350" dirty="0"/>
          </a:p>
        </p:txBody>
      </p:sp>
      <p:sp>
        <p:nvSpPr>
          <p:cNvPr id="15" name="Card frame">
            <a:extLst>
              <a:ext uri="{C183D7F6-B498-43B3-948B-1728B52AA6E4}">
                <adec:decorative xmlns:adec="http://schemas.microsoft.com/office/drawing/2017/decorative" val="1"/>
              </a:ext>
            </a:extLst>
          </p:cNvPr>
          <p:cNvSpPr/>
          <p:nvPr/>
        </p:nvSpPr>
        <p:spPr>
          <a:xfrm>
            <a:off x="685800" y="3429000"/>
            <a:ext cx="3794760" cy="1143000"/>
          </a:xfrm>
          <a:prstGeom prst="roundRect">
            <a:avLst>
              <a:gd name="adj" fmla="val 4800"/>
            </a:avLst>
          </a:prstGeom>
          <a:solidFill>
            <a:srgbClr val="FFFFFF"/>
          </a:solidFill>
          <a:ln w="12700">
            <a:solidFill>
              <a:srgbClr val="D4D7DD"/>
            </a:solidFill>
            <a:prstDash val="solid"/>
          </a:ln>
        </p:spPr>
        <p:txBody>
          <a:bodyPr/>
          <a:lstStyle/>
          <a:p>
            <a:endParaRPr lang="en-US"/>
          </a:p>
        </p:txBody>
      </p:sp>
      <p:sp>
        <p:nvSpPr>
          <p:cNvPr id="16" name="Text 14"/>
          <p:cNvSpPr/>
          <p:nvPr/>
        </p:nvSpPr>
        <p:spPr>
          <a:xfrm>
            <a:off x="914400" y="3429000"/>
            <a:ext cx="1280160" cy="1143000"/>
          </a:xfrm>
          <a:prstGeom prst="rect">
            <a:avLst/>
          </a:prstGeom>
          <a:noFill/>
          <a:ln/>
        </p:spPr>
        <p:txBody>
          <a:bodyPr wrap="square" lIns="0" tIns="0" rIns="0" bIns="0" rtlCol="0" anchor="ctr"/>
          <a:lstStyle/>
          <a:p>
            <a:pPr marL="0" indent="0">
              <a:buNone/>
            </a:pPr>
            <a:r>
              <a:rPr lang="en-US" sz="1700" b="1" dirty="0">
                <a:solidFill>
                  <a:srgbClr val="3730A3"/>
                </a:solidFill>
                <a:latin typeface="Georgia" pitchFamily="34" charset="0"/>
                <a:ea typeface="Georgia" pitchFamily="34" charset="-122"/>
                <a:cs typeface="Georgia" pitchFamily="34" charset="-120"/>
              </a:rPr>
              <a:t>|ψ₃⟩  =</a:t>
            </a:r>
            <a:endParaRPr lang="en-US" sz="1700" dirty="0"/>
          </a:p>
        </p:txBody>
      </p:sp>
      <p:sp>
        <p:nvSpPr>
          <p:cNvPr id="17" name="Text 15"/>
          <p:cNvSpPr/>
          <p:nvPr/>
        </p:nvSpPr>
        <p:spPr>
          <a:xfrm>
            <a:off x="2240280" y="3657600"/>
            <a:ext cx="2011680" cy="310896"/>
          </a:xfrm>
          <a:prstGeom prst="rect">
            <a:avLst/>
          </a:prstGeom>
          <a:noFill/>
          <a:ln/>
        </p:spPr>
        <p:txBody>
          <a:bodyPr wrap="square" lIns="0" tIns="0" rIns="0" bIns="0" rtlCol="0" anchor="b"/>
          <a:lstStyle/>
          <a:p>
            <a:pPr marL="0" indent="0" algn="ctr">
              <a:buNone/>
            </a:pPr>
            <a:r>
              <a:rPr lang="en-US" sz="1350" dirty="0">
                <a:solidFill>
                  <a:srgbClr val="1A1A2E"/>
                </a:solidFill>
                <a:latin typeface="Georgia" pitchFamily="34" charset="0"/>
                <a:ea typeface="Georgia" pitchFamily="34" charset="-122"/>
                <a:cs typeface="Georgia" pitchFamily="34" charset="-120"/>
              </a:rPr>
              <a:t>|00⟩ + |01⟩ + |10⟩ + |11⟩</a:t>
            </a:r>
            <a:endParaRPr lang="en-US" sz="1350" dirty="0"/>
          </a:p>
        </p:txBody>
      </p:sp>
      <p:sp>
        <p:nvSpPr>
          <p:cNvPr id="18" name="Fraction bar">
            <a:extLst>
              <a:ext uri="{C183D7F6-B498-43B3-948B-1728B52AA6E4}">
                <adec:decorative xmlns:adec="http://schemas.microsoft.com/office/drawing/2017/decorative" val="1"/>
              </a:ext>
            </a:extLst>
          </p:cNvPr>
          <p:cNvSpPr/>
          <p:nvPr/>
        </p:nvSpPr>
        <p:spPr>
          <a:xfrm>
            <a:off x="2331720" y="3986784"/>
            <a:ext cx="1828800" cy="0"/>
          </a:xfrm>
          <a:prstGeom prst="line">
            <a:avLst/>
          </a:prstGeom>
          <a:noFill/>
          <a:ln w="15875">
            <a:solidFill>
              <a:srgbClr val="1A1A2E"/>
            </a:solidFill>
            <a:prstDash val="solid"/>
          </a:ln>
        </p:spPr>
        <p:txBody>
          <a:bodyPr/>
          <a:lstStyle/>
          <a:p>
            <a:endParaRPr lang="en-US"/>
          </a:p>
        </p:txBody>
      </p:sp>
      <p:sp>
        <p:nvSpPr>
          <p:cNvPr id="19" name="Text 17"/>
          <p:cNvSpPr/>
          <p:nvPr/>
        </p:nvSpPr>
        <p:spPr>
          <a:xfrm>
            <a:off x="2240280" y="4005072"/>
            <a:ext cx="2011680" cy="310896"/>
          </a:xfrm>
          <a:prstGeom prst="rect">
            <a:avLst/>
          </a:prstGeom>
          <a:noFill/>
          <a:ln/>
        </p:spPr>
        <p:txBody>
          <a:bodyPr wrap="square" lIns="0" tIns="0" rIns="0" bIns="0" rtlCol="0" anchor="t"/>
          <a:lstStyle/>
          <a:p>
            <a:pPr marL="0" indent="0" algn="ctr">
              <a:buNone/>
            </a:pPr>
            <a:r>
              <a:rPr lang="en-US" sz="1350" dirty="0">
                <a:solidFill>
                  <a:srgbClr val="1A1A2E"/>
                </a:solidFill>
                <a:latin typeface="Georgia" pitchFamily="34" charset="0"/>
                <a:ea typeface="Georgia" pitchFamily="34" charset="-122"/>
                <a:cs typeface="Georgia" pitchFamily="34" charset="-120"/>
              </a:rPr>
              <a:t>2</a:t>
            </a:r>
            <a:endParaRPr lang="en-US" sz="1350" dirty="0"/>
          </a:p>
        </p:txBody>
      </p:sp>
      <p:sp>
        <p:nvSpPr>
          <p:cNvPr id="20" name="Card frame">
            <a:extLst>
              <a:ext uri="{C183D7F6-B498-43B3-948B-1728B52AA6E4}">
                <adec:decorative xmlns:adec="http://schemas.microsoft.com/office/drawing/2017/decorative" val="1"/>
              </a:ext>
            </a:extLst>
          </p:cNvPr>
          <p:cNvSpPr/>
          <p:nvPr/>
        </p:nvSpPr>
        <p:spPr>
          <a:xfrm>
            <a:off x="4846320" y="3429000"/>
            <a:ext cx="3794760" cy="1143000"/>
          </a:xfrm>
          <a:prstGeom prst="roundRect">
            <a:avLst>
              <a:gd name="adj" fmla="val 4800"/>
            </a:avLst>
          </a:prstGeom>
          <a:solidFill>
            <a:srgbClr val="FFFFFF"/>
          </a:solidFill>
          <a:ln w="12700">
            <a:solidFill>
              <a:srgbClr val="D4D7DD"/>
            </a:solidFill>
            <a:prstDash val="solid"/>
          </a:ln>
        </p:spPr>
        <p:txBody>
          <a:bodyPr/>
          <a:lstStyle/>
          <a:p>
            <a:endParaRPr lang="en-US"/>
          </a:p>
        </p:txBody>
      </p:sp>
      <p:sp>
        <p:nvSpPr>
          <p:cNvPr id="21" name="Text 19"/>
          <p:cNvSpPr/>
          <p:nvPr/>
        </p:nvSpPr>
        <p:spPr>
          <a:xfrm>
            <a:off x="5074920" y="3429000"/>
            <a:ext cx="1280160" cy="1143000"/>
          </a:xfrm>
          <a:prstGeom prst="rect">
            <a:avLst/>
          </a:prstGeom>
          <a:noFill/>
          <a:ln/>
        </p:spPr>
        <p:txBody>
          <a:bodyPr wrap="square" lIns="0" tIns="0" rIns="0" bIns="0" rtlCol="0" anchor="ctr"/>
          <a:lstStyle/>
          <a:p>
            <a:pPr marL="0" indent="0">
              <a:buNone/>
            </a:pPr>
            <a:r>
              <a:rPr lang="en-US" sz="1700" b="1" dirty="0">
                <a:solidFill>
                  <a:srgbClr val="3730A3"/>
                </a:solidFill>
                <a:latin typeface="Georgia" pitchFamily="34" charset="0"/>
                <a:ea typeface="Georgia" pitchFamily="34" charset="-122"/>
                <a:cs typeface="Georgia" pitchFamily="34" charset="-120"/>
              </a:rPr>
              <a:t>|ψ₄⟩  =</a:t>
            </a:r>
            <a:endParaRPr lang="en-US" sz="1700" dirty="0"/>
          </a:p>
        </p:txBody>
      </p:sp>
      <p:sp>
        <p:nvSpPr>
          <p:cNvPr id="22" name="Text 20"/>
          <p:cNvSpPr/>
          <p:nvPr/>
        </p:nvSpPr>
        <p:spPr>
          <a:xfrm>
            <a:off x="6400800" y="3657600"/>
            <a:ext cx="2011680" cy="310896"/>
          </a:xfrm>
          <a:prstGeom prst="rect">
            <a:avLst/>
          </a:prstGeom>
          <a:noFill/>
          <a:ln/>
        </p:spPr>
        <p:txBody>
          <a:bodyPr wrap="square" lIns="0" tIns="0" rIns="0" bIns="0" rtlCol="0" anchor="b"/>
          <a:lstStyle/>
          <a:p>
            <a:pPr marL="0" indent="0" algn="ctr">
              <a:buNone/>
            </a:pPr>
            <a:r>
              <a:rPr lang="en-US" sz="1350" dirty="0">
                <a:solidFill>
                  <a:srgbClr val="1A1A2E"/>
                </a:solidFill>
                <a:latin typeface="Georgia" pitchFamily="34" charset="0"/>
                <a:ea typeface="Georgia" pitchFamily="34" charset="-122"/>
                <a:cs typeface="Georgia" pitchFamily="34" charset="-120"/>
              </a:rPr>
              <a:t>|01⟩ − |10⟩</a:t>
            </a:r>
            <a:endParaRPr lang="en-US" sz="1350" dirty="0"/>
          </a:p>
        </p:txBody>
      </p:sp>
      <p:sp>
        <p:nvSpPr>
          <p:cNvPr id="23" name="Fraction bar">
            <a:extLst>
              <a:ext uri="{C183D7F6-B498-43B3-948B-1728B52AA6E4}">
                <adec:decorative xmlns:adec="http://schemas.microsoft.com/office/drawing/2017/decorative" val="1"/>
              </a:ext>
            </a:extLst>
          </p:cNvPr>
          <p:cNvSpPr/>
          <p:nvPr/>
        </p:nvSpPr>
        <p:spPr>
          <a:xfrm>
            <a:off x="6492240" y="3986784"/>
            <a:ext cx="1828800" cy="0"/>
          </a:xfrm>
          <a:prstGeom prst="line">
            <a:avLst/>
          </a:prstGeom>
          <a:noFill/>
          <a:ln w="15875">
            <a:solidFill>
              <a:srgbClr val="1A1A2E"/>
            </a:solidFill>
            <a:prstDash val="solid"/>
          </a:ln>
        </p:spPr>
        <p:txBody>
          <a:bodyPr/>
          <a:lstStyle/>
          <a:p>
            <a:endParaRPr lang="en-US"/>
          </a:p>
        </p:txBody>
      </p:sp>
      <p:sp>
        <p:nvSpPr>
          <p:cNvPr id="24" name="Text 22"/>
          <p:cNvSpPr/>
          <p:nvPr/>
        </p:nvSpPr>
        <p:spPr>
          <a:xfrm>
            <a:off x="6400800" y="4005072"/>
            <a:ext cx="2011680" cy="310896"/>
          </a:xfrm>
          <a:prstGeom prst="rect">
            <a:avLst/>
          </a:prstGeom>
          <a:noFill/>
          <a:ln/>
        </p:spPr>
        <p:txBody>
          <a:bodyPr wrap="square" lIns="0" tIns="0" rIns="0" bIns="0" rtlCol="0" anchor="t"/>
          <a:lstStyle/>
          <a:p>
            <a:pPr marL="0" indent="0" algn="ctr">
              <a:buNone/>
            </a:pPr>
            <a:r>
              <a:rPr lang="en-US" sz="1350" dirty="0">
                <a:solidFill>
                  <a:srgbClr val="1A1A2E"/>
                </a:solidFill>
                <a:latin typeface="Georgia" pitchFamily="34" charset="0"/>
                <a:ea typeface="Georgia" pitchFamily="34" charset="-122"/>
                <a:cs typeface="Georgia" pitchFamily="34" charset="-120"/>
              </a:rPr>
              <a:t>√2</a:t>
            </a:r>
            <a:endParaRPr lang="en-US" sz="1350" dirty="0"/>
          </a:p>
        </p:txBody>
      </p:sp>
      <p:sp>
        <p:nvSpPr>
          <p:cNvPr id="25" name="Text 23"/>
          <p:cNvSpPr/>
          <p:nvPr/>
        </p:nvSpPr>
        <p:spPr>
          <a:xfrm>
            <a:off x="640080" y="457200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Work in pairs — justify each answer before you commit to it (Exercise E2).</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What is a separable state?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828800" y="1371600"/>
            <a:ext cx="5486400" cy="960120"/>
          </a:xfrm>
          <a:prstGeom prst="roundRect">
            <a:avLst>
              <a:gd name="adj" fmla="val 5714"/>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1828800" y="1371600"/>
            <a:ext cx="5486400" cy="960120"/>
          </a:xfrm>
          <a:prstGeom prst="rect">
            <a:avLst/>
          </a:prstGeom>
          <a:noFill/>
          <a:ln/>
        </p:spPr>
        <p:txBody>
          <a:bodyPr wrap="square" lIns="0" tIns="0" rIns="0" bIns="0" rtlCol="0" anchor="ctr"/>
          <a:lstStyle/>
          <a:p>
            <a:pPr marL="0" indent="0" algn="ctr">
              <a:buNone/>
            </a:pPr>
            <a:r>
              <a:rPr lang="en-US" sz="2600" b="1" dirty="0">
                <a:solidFill>
                  <a:srgbClr val="3730A3"/>
                </a:solidFill>
                <a:latin typeface="Georgia" pitchFamily="34" charset="0"/>
                <a:ea typeface="Georgia" pitchFamily="34" charset="-122"/>
                <a:cs typeface="Georgia" pitchFamily="34" charset="-120"/>
              </a:rPr>
              <a:t>|ψ⟩  =  |a⟩ ⊗ |b⟩</a:t>
            </a:r>
            <a:endParaRPr lang="en-US" sz="2600" dirty="0"/>
          </a:p>
        </p:txBody>
      </p:sp>
      <p:sp>
        <p:nvSpPr>
          <p:cNvPr id="5" name="Card frame">
            <a:extLst>
              <a:ext uri="{C183D7F6-B498-43B3-948B-1728B52AA6E4}">
                <adec:decorative xmlns:adec="http://schemas.microsoft.com/office/drawing/2017/decorative" val="1"/>
              </a:ext>
            </a:extLst>
          </p:cNvPr>
          <p:cNvSpPr/>
          <p:nvPr/>
        </p:nvSpPr>
        <p:spPr>
          <a:xfrm>
            <a:off x="1371600" y="2697480"/>
            <a:ext cx="283464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1371600" y="2852928"/>
            <a:ext cx="2834640" cy="274320"/>
          </a:xfrm>
          <a:prstGeom prst="rect">
            <a:avLst/>
          </a:prstGeom>
          <a:noFill/>
          <a:ln/>
        </p:spPr>
        <p:txBody>
          <a:bodyPr wrap="square" lIns="0" tIns="0" rIns="0" bIns="0" rtlCol="0" anchor="ctr"/>
          <a:lstStyle/>
          <a:p>
            <a:pPr marL="0" indent="0" algn="ctr">
              <a:buNone/>
            </a:pPr>
            <a:r>
              <a:rPr lang="en-US" sz="1100" b="1" kern="0" spc="60" dirty="0">
                <a:solidFill>
                  <a:srgbClr val="6B7280"/>
                </a:solidFill>
                <a:latin typeface="Georgia" pitchFamily="34" charset="0"/>
                <a:ea typeface="Georgia" pitchFamily="34" charset="-122"/>
                <a:cs typeface="Georgia" pitchFamily="34" charset="-120"/>
              </a:rPr>
              <a:t>Subsystem A</a:t>
            </a:r>
            <a:endParaRPr lang="en-US" sz="1100" dirty="0"/>
          </a:p>
        </p:txBody>
      </p:sp>
      <p:sp>
        <p:nvSpPr>
          <p:cNvPr id="7" name="Text 5"/>
          <p:cNvSpPr/>
          <p:nvPr/>
        </p:nvSpPr>
        <p:spPr>
          <a:xfrm>
            <a:off x="1371600" y="3154680"/>
            <a:ext cx="2834640" cy="640080"/>
          </a:xfrm>
          <a:prstGeom prst="rect">
            <a:avLst/>
          </a:prstGeom>
          <a:noFill/>
          <a:ln/>
        </p:spPr>
        <p:txBody>
          <a:bodyPr wrap="square" lIns="0" tIns="0" rIns="0" bIns="0" rtlCol="0" anchor="ctr"/>
          <a:lstStyle/>
          <a:p>
            <a:pPr marL="0" indent="0" algn="ctr">
              <a:buNone/>
            </a:pPr>
            <a:r>
              <a:rPr lang="en-US" sz="2600" dirty="0">
                <a:solidFill>
                  <a:srgbClr val="1A1A2E"/>
                </a:solidFill>
                <a:latin typeface="Georgia" pitchFamily="34" charset="0"/>
                <a:ea typeface="Georgia" pitchFamily="34" charset="-122"/>
                <a:cs typeface="Georgia" pitchFamily="34" charset="-120"/>
              </a:rPr>
              <a:t>|a⟩</a:t>
            </a:r>
            <a:endParaRPr lang="en-US" sz="2600" dirty="0"/>
          </a:p>
        </p:txBody>
      </p:sp>
      <p:sp>
        <p:nvSpPr>
          <p:cNvPr id="8" name="Card frame">
            <a:extLst>
              <a:ext uri="{C183D7F6-B498-43B3-948B-1728B52AA6E4}">
                <adec:decorative xmlns:adec="http://schemas.microsoft.com/office/drawing/2017/decorative" val="1"/>
              </a:ext>
            </a:extLst>
          </p:cNvPr>
          <p:cNvSpPr/>
          <p:nvPr/>
        </p:nvSpPr>
        <p:spPr>
          <a:xfrm>
            <a:off x="4937760" y="2697480"/>
            <a:ext cx="283464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9" name="Text 7"/>
          <p:cNvSpPr/>
          <p:nvPr/>
        </p:nvSpPr>
        <p:spPr>
          <a:xfrm>
            <a:off x="4937760" y="2852928"/>
            <a:ext cx="2834640" cy="274320"/>
          </a:xfrm>
          <a:prstGeom prst="rect">
            <a:avLst/>
          </a:prstGeom>
          <a:noFill/>
          <a:ln/>
        </p:spPr>
        <p:txBody>
          <a:bodyPr wrap="square" lIns="0" tIns="0" rIns="0" bIns="0" rtlCol="0" anchor="ctr"/>
          <a:lstStyle/>
          <a:p>
            <a:pPr marL="0" indent="0" algn="ctr">
              <a:buNone/>
            </a:pPr>
            <a:r>
              <a:rPr lang="en-US" sz="1100" b="1" kern="0" spc="60" dirty="0">
                <a:solidFill>
                  <a:srgbClr val="6B7280"/>
                </a:solidFill>
                <a:latin typeface="Georgia" pitchFamily="34" charset="0"/>
                <a:ea typeface="Georgia" pitchFamily="34" charset="-122"/>
                <a:cs typeface="Georgia" pitchFamily="34" charset="-120"/>
              </a:rPr>
              <a:t>Subsystem B</a:t>
            </a:r>
            <a:endParaRPr lang="en-US" sz="1100" dirty="0"/>
          </a:p>
        </p:txBody>
      </p:sp>
      <p:sp>
        <p:nvSpPr>
          <p:cNvPr id="10" name="Text 8"/>
          <p:cNvSpPr/>
          <p:nvPr/>
        </p:nvSpPr>
        <p:spPr>
          <a:xfrm>
            <a:off x="4937760" y="3154680"/>
            <a:ext cx="2834640" cy="640080"/>
          </a:xfrm>
          <a:prstGeom prst="rect">
            <a:avLst/>
          </a:prstGeom>
          <a:noFill/>
          <a:ln/>
        </p:spPr>
        <p:txBody>
          <a:bodyPr wrap="square" lIns="0" tIns="0" rIns="0" bIns="0" rtlCol="0" anchor="ctr"/>
          <a:lstStyle/>
          <a:p>
            <a:pPr marL="0" indent="0" algn="ctr">
              <a:buNone/>
            </a:pPr>
            <a:r>
              <a:rPr lang="en-US" sz="2600" dirty="0">
                <a:solidFill>
                  <a:srgbClr val="1A1A2E"/>
                </a:solidFill>
                <a:latin typeface="Georgia" pitchFamily="34" charset="0"/>
                <a:ea typeface="Georgia" pitchFamily="34" charset="-122"/>
                <a:cs typeface="Georgia" pitchFamily="34" charset="-120"/>
              </a:rPr>
              <a:t>|b⟩</a:t>
            </a:r>
            <a:endParaRPr lang="en-US" sz="2600" dirty="0"/>
          </a:p>
        </p:txBody>
      </p:sp>
      <p:sp>
        <p:nvSpPr>
          <p:cNvPr id="11" name="Text 9"/>
          <p:cNvSpPr/>
          <p:nvPr/>
        </p:nvSpPr>
        <p:spPr>
          <a:xfrm>
            <a:off x="4206240" y="2697480"/>
            <a:ext cx="731520" cy="1234440"/>
          </a:xfrm>
          <a:prstGeom prst="rect">
            <a:avLst/>
          </a:prstGeom>
          <a:noFill/>
          <a:ln/>
        </p:spPr>
        <p:txBody>
          <a:bodyPr wrap="square" lIns="0" tIns="0" rIns="0" bIns="0" rtlCol="0" anchor="ctr"/>
          <a:lstStyle/>
          <a:p>
            <a:pPr marL="0" indent="0" algn="ctr">
              <a:buNone/>
            </a:pPr>
            <a:r>
              <a:rPr lang="en-US" sz="2600" dirty="0">
                <a:solidFill>
                  <a:srgbClr val="3730A3"/>
                </a:solidFill>
                <a:latin typeface="Georgia" pitchFamily="34" charset="0"/>
                <a:ea typeface="Georgia" pitchFamily="34" charset="-122"/>
                <a:cs typeface="Georgia" pitchFamily="34" charset="-120"/>
              </a:rPr>
              <a:t>⊗</a:t>
            </a:r>
            <a:endParaRPr lang="en-US" sz="2600" dirty="0"/>
          </a:p>
        </p:txBody>
      </p:sp>
      <p:sp>
        <p:nvSpPr>
          <p:cNvPr id="12" name="Text 10"/>
          <p:cNvSpPr/>
          <p:nvPr/>
        </p:nvSpPr>
        <p:spPr>
          <a:xfrm>
            <a:off x="640080" y="416052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Separable: the joint state factorizes, and each subsystem has a state of its own.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What is an entangled state?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051560" y="1463040"/>
            <a:ext cx="2468880" cy="1051560"/>
          </a:xfrm>
          <a:prstGeom prst="roundRect">
            <a:avLst>
              <a:gd name="adj" fmla="val 5217"/>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051560" y="1463040"/>
            <a:ext cx="2468880" cy="1051560"/>
          </a:xfrm>
          <a:prstGeom prst="rect">
            <a:avLst/>
          </a:prstGeom>
          <a:noFill/>
          <a:ln/>
        </p:spPr>
        <p:txBody>
          <a:bodyPr wrap="square" lIns="0" tIns="0" rIns="0" bIns="0" rtlCol="0" anchor="ctr"/>
          <a:lstStyle/>
          <a:p>
            <a:pPr marL="0" indent="0" algn="ctr">
              <a:buNone/>
            </a:pPr>
            <a:r>
              <a:rPr lang="en-US" sz="1700" b="1" dirty="0">
                <a:solidFill>
                  <a:srgbClr val="1A1A2E"/>
                </a:solidFill>
                <a:latin typeface="Georgia" pitchFamily="34" charset="0"/>
                <a:ea typeface="Georgia" pitchFamily="34" charset="-122"/>
                <a:cs typeface="Georgia" pitchFamily="34" charset="-120"/>
              </a:rPr>
              <a:t>Qubit A</a:t>
            </a:r>
            <a:endParaRPr lang="en-US" sz="1700" dirty="0"/>
          </a:p>
        </p:txBody>
      </p:sp>
      <p:sp>
        <p:nvSpPr>
          <p:cNvPr id="5" name="Card frame">
            <a:extLst>
              <a:ext uri="{C183D7F6-B498-43B3-948B-1728B52AA6E4}">
                <adec:decorative xmlns:adec="http://schemas.microsoft.com/office/drawing/2017/decorative" val="1"/>
              </a:ext>
            </a:extLst>
          </p:cNvPr>
          <p:cNvSpPr/>
          <p:nvPr/>
        </p:nvSpPr>
        <p:spPr>
          <a:xfrm>
            <a:off x="5623560" y="1463040"/>
            <a:ext cx="2468880" cy="1051560"/>
          </a:xfrm>
          <a:prstGeom prst="roundRect">
            <a:avLst>
              <a:gd name="adj" fmla="val 5217"/>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5623560" y="1463040"/>
            <a:ext cx="2468880" cy="1051560"/>
          </a:xfrm>
          <a:prstGeom prst="rect">
            <a:avLst/>
          </a:prstGeom>
          <a:noFill/>
          <a:ln/>
        </p:spPr>
        <p:txBody>
          <a:bodyPr wrap="square" lIns="0" tIns="0" rIns="0" bIns="0" rtlCol="0" anchor="ctr"/>
          <a:lstStyle/>
          <a:p>
            <a:pPr marL="0" indent="0" algn="ctr">
              <a:buNone/>
            </a:pPr>
            <a:r>
              <a:rPr lang="en-US" sz="1700" b="1" dirty="0">
                <a:solidFill>
                  <a:srgbClr val="1A1A2E"/>
                </a:solidFill>
                <a:latin typeface="Georgia" pitchFamily="34" charset="0"/>
                <a:ea typeface="Georgia" pitchFamily="34" charset="-122"/>
                <a:cs typeface="Georgia" pitchFamily="34" charset="-120"/>
              </a:rPr>
              <a:t>Qubit B</a:t>
            </a:r>
            <a:endParaRPr lang="en-US" sz="1700" dirty="0"/>
          </a:p>
        </p:txBody>
      </p:sp>
      <p:sp>
        <p:nvSpPr>
          <p:cNvPr id="7" name="Correlation link">
            <a:extLst>
              <a:ext uri="{C183D7F6-B498-43B3-948B-1728B52AA6E4}">
                <adec:decorative xmlns:adec="http://schemas.microsoft.com/office/drawing/2017/decorative" val="1"/>
              </a:ext>
            </a:extLst>
          </p:cNvPr>
          <p:cNvSpPr/>
          <p:nvPr/>
        </p:nvSpPr>
        <p:spPr>
          <a:xfrm>
            <a:off x="3520440" y="1911096"/>
            <a:ext cx="2103120" cy="0"/>
          </a:xfrm>
          <a:prstGeom prst="line">
            <a:avLst/>
          </a:prstGeom>
          <a:noFill/>
          <a:ln w="25400">
            <a:solidFill>
              <a:srgbClr val="3730A3"/>
            </a:solidFill>
            <a:prstDash val="solid"/>
          </a:ln>
        </p:spPr>
        <p:txBody>
          <a:bodyPr/>
          <a:lstStyle/>
          <a:p>
            <a:endParaRPr lang="en-US"/>
          </a:p>
        </p:txBody>
      </p:sp>
      <p:sp>
        <p:nvSpPr>
          <p:cNvPr id="8" name="Correlation link">
            <a:extLst>
              <a:ext uri="{C183D7F6-B498-43B3-948B-1728B52AA6E4}">
                <adec:decorative xmlns:adec="http://schemas.microsoft.com/office/drawing/2017/decorative" val="1"/>
              </a:ext>
            </a:extLst>
          </p:cNvPr>
          <p:cNvSpPr/>
          <p:nvPr/>
        </p:nvSpPr>
        <p:spPr>
          <a:xfrm>
            <a:off x="3520440" y="2066544"/>
            <a:ext cx="2103120" cy="0"/>
          </a:xfrm>
          <a:prstGeom prst="line">
            <a:avLst/>
          </a:prstGeom>
          <a:noFill/>
          <a:ln w="25400">
            <a:solidFill>
              <a:srgbClr val="3730A3"/>
            </a:solidFill>
            <a:prstDash val="solid"/>
          </a:ln>
        </p:spPr>
        <p:txBody>
          <a:bodyPr/>
          <a:lstStyle/>
          <a:p>
            <a:endParaRPr lang="en-US"/>
          </a:p>
        </p:txBody>
      </p:sp>
      <p:sp>
        <p:nvSpPr>
          <p:cNvPr id="9" name="Text 7"/>
          <p:cNvSpPr/>
          <p:nvPr/>
        </p:nvSpPr>
        <p:spPr>
          <a:xfrm>
            <a:off x="3520440" y="2194560"/>
            <a:ext cx="2103120" cy="274320"/>
          </a:xfrm>
          <a:prstGeom prst="rect">
            <a:avLst/>
          </a:prstGeom>
          <a:noFill/>
          <a:ln/>
        </p:spPr>
        <p:txBody>
          <a:bodyPr wrap="square" lIns="0" tIns="0" rIns="0" bIns="0" rtlCol="0" anchor="ctr"/>
          <a:lstStyle/>
          <a:p>
            <a:pPr marL="0" indent="0" algn="ctr">
              <a:buNone/>
            </a:pPr>
            <a:r>
              <a:rPr lang="en-US" sz="1100" kern="0" spc="80" dirty="0">
                <a:solidFill>
                  <a:srgbClr val="3730A3"/>
                </a:solidFill>
                <a:latin typeface="Georgia" pitchFamily="34" charset="0"/>
                <a:ea typeface="Georgia" pitchFamily="34" charset="-122"/>
                <a:cs typeface="Georgia" pitchFamily="34" charset="-120"/>
              </a:rPr>
              <a:t>correlation</a:t>
            </a:r>
            <a:endParaRPr lang="en-US" sz="1100" dirty="0"/>
          </a:p>
        </p:txBody>
      </p:sp>
      <p:sp>
        <p:nvSpPr>
          <p:cNvPr id="10" name="Card frame">
            <a:extLst>
              <a:ext uri="{C183D7F6-B498-43B3-948B-1728B52AA6E4}">
                <adec:decorative xmlns:adec="http://schemas.microsoft.com/office/drawing/2017/decorative" val="1"/>
              </a:ext>
            </a:extLst>
          </p:cNvPr>
          <p:cNvSpPr/>
          <p:nvPr/>
        </p:nvSpPr>
        <p:spPr>
          <a:xfrm>
            <a:off x="2194560" y="2880360"/>
            <a:ext cx="4754880" cy="960120"/>
          </a:xfrm>
          <a:prstGeom prst="roundRect">
            <a:avLst>
              <a:gd name="adj" fmla="val 5714"/>
            </a:avLst>
          </a:prstGeom>
          <a:solidFill>
            <a:srgbClr val="F4F5FB"/>
          </a:solidFill>
          <a:ln w="15240">
            <a:solidFill>
              <a:srgbClr val="3730A3"/>
            </a:solidFill>
            <a:prstDash val="solid"/>
          </a:ln>
        </p:spPr>
        <p:txBody>
          <a:bodyPr/>
          <a:lstStyle/>
          <a:p>
            <a:endParaRPr lang="en-US"/>
          </a:p>
        </p:txBody>
      </p:sp>
      <p:sp>
        <p:nvSpPr>
          <p:cNvPr id="11" name="Text 9"/>
          <p:cNvSpPr/>
          <p:nvPr/>
        </p:nvSpPr>
        <p:spPr>
          <a:xfrm>
            <a:off x="2194560" y="2880360"/>
            <a:ext cx="4754880" cy="960120"/>
          </a:xfrm>
          <a:prstGeom prst="rect">
            <a:avLst/>
          </a:prstGeom>
          <a:noFill/>
          <a:ln/>
        </p:spPr>
        <p:txBody>
          <a:bodyPr wrap="square" lIns="0" tIns="0" rIns="0" bIns="0" rtlCol="0" anchor="ctr"/>
          <a:lstStyle/>
          <a:p>
            <a:pPr marL="0" indent="0" algn="ctr">
              <a:buNone/>
            </a:pPr>
            <a:r>
              <a:rPr lang="en-US" sz="2400" b="1" dirty="0">
                <a:solidFill>
                  <a:srgbClr val="3730A3"/>
                </a:solidFill>
                <a:latin typeface="Georgia" pitchFamily="34" charset="0"/>
                <a:ea typeface="Georgia" pitchFamily="34" charset="-122"/>
                <a:cs typeface="Georgia" pitchFamily="34" charset="-120"/>
              </a:rPr>
              <a:t>|ψ⟩  ≠  |a⟩ ⊗ |b⟩</a:t>
            </a:r>
            <a:endParaRPr lang="en-US" sz="2400" dirty="0"/>
          </a:p>
        </p:txBody>
      </p:sp>
      <p:sp>
        <p:nvSpPr>
          <p:cNvPr id="12" name="Text 10"/>
          <p:cNvSpPr/>
          <p:nvPr/>
        </p:nvSpPr>
        <p:spPr>
          <a:xfrm>
            <a:off x="640080" y="402336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Entangled: no factorization into subsystem states exists, for any choice of |a⟩ and |b⟩.</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Bell state as the canonical example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2331720" y="1298448"/>
            <a:ext cx="4480560" cy="1188720"/>
          </a:xfrm>
          <a:prstGeom prst="roundRect">
            <a:avLst>
              <a:gd name="adj" fmla="val 4615"/>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2788920" y="1298448"/>
            <a:ext cx="1417320" cy="1188720"/>
          </a:xfrm>
          <a:prstGeom prst="rect">
            <a:avLst/>
          </a:prstGeom>
          <a:noFill/>
          <a:ln/>
        </p:spPr>
        <p:txBody>
          <a:bodyPr wrap="square" lIns="0" tIns="0" rIns="0" bIns="0" rtlCol="0" anchor="ctr"/>
          <a:lstStyle/>
          <a:p>
            <a:pPr marL="0" indent="0" algn="r">
              <a:buNone/>
            </a:pPr>
            <a:r>
              <a:rPr lang="en-US" sz="2400" b="1" dirty="0">
                <a:solidFill>
                  <a:srgbClr val="3730A3"/>
                </a:solidFill>
                <a:latin typeface="Georgia" pitchFamily="34" charset="0"/>
                <a:ea typeface="Georgia" pitchFamily="34" charset="-122"/>
                <a:cs typeface="Georgia" pitchFamily="34" charset="-120"/>
              </a:rPr>
              <a:t>|Φ⁺⟩  =</a:t>
            </a:r>
            <a:endParaRPr lang="en-US" sz="2400" dirty="0"/>
          </a:p>
        </p:txBody>
      </p:sp>
      <p:sp>
        <p:nvSpPr>
          <p:cNvPr id="5" name="Text 3"/>
          <p:cNvSpPr/>
          <p:nvPr/>
        </p:nvSpPr>
        <p:spPr>
          <a:xfrm>
            <a:off x="4343400" y="1572768"/>
            <a:ext cx="1920240" cy="310896"/>
          </a:xfrm>
          <a:prstGeom prst="rect">
            <a:avLst/>
          </a:prstGeom>
          <a:noFill/>
          <a:ln/>
        </p:spPr>
        <p:txBody>
          <a:bodyPr wrap="square" lIns="0" tIns="0" rIns="0" bIns="0" rtlCol="0" anchor="b"/>
          <a:lstStyle/>
          <a:p>
            <a:pPr marL="0" indent="0" algn="ctr">
              <a:buNone/>
            </a:pPr>
            <a:r>
              <a:rPr lang="en-US" sz="1700" dirty="0">
                <a:solidFill>
                  <a:srgbClr val="1A1A2E"/>
                </a:solidFill>
                <a:latin typeface="Georgia" pitchFamily="34" charset="0"/>
                <a:ea typeface="Georgia" pitchFamily="34" charset="-122"/>
                <a:cs typeface="Georgia" pitchFamily="34" charset="-120"/>
              </a:rPr>
              <a:t>|00⟩ + |11⟩</a:t>
            </a:r>
            <a:endParaRPr lang="en-US" sz="1700" dirty="0"/>
          </a:p>
        </p:txBody>
      </p:sp>
      <p:sp>
        <p:nvSpPr>
          <p:cNvPr id="6" name="Fraction bar">
            <a:extLst>
              <a:ext uri="{C183D7F6-B498-43B3-948B-1728B52AA6E4}">
                <adec:decorative xmlns:adec="http://schemas.microsoft.com/office/drawing/2017/decorative" val="1"/>
              </a:ext>
            </a:extLst>
          </p:cNvPr>
          <p:cNvSpPr/>
          <p:nvPr/>
        </p:nvSpPr>
        <p:spPr>
          <a:xfrm>
            <a:off x="4434840" y="1901952"/>
            <a:ext cx="1737360" cy="0"/>
          </a:xfrm>
          <a:prstGeom prst="line">
            <a:avLst/>
          </a:prstGeom>
          <a:noFill/>
          <a:ln w="15875">
            <a:solidFill>
              <a:srgbClr val="1A1A2E"/>
            </a:solidFill>
            <a:prstDash val="solid"/>
          </a:ln>
        </p:spPr>
        <p:txBody>
          <a:bodyPr/>
          <a:lstStyle/>
          <a:p>
            <a:endParaRPr lang="en-US"/>
          </a:p>
        </p:txBody>
      </p:sp>
      <p:sp>
        <p:nvSpPr>
          <p:cNvPr id="7" name="Text 5"/>
          <p:cNvSpPr/>
          <p:nvPr/>
        </p:nvSpPr>
        <p:spPr>
          <a:xfrm>
            <a:off x="4343400" y="1920240"/>
            <a:ext cx="1920240" cy="310896"/>
          </a:xfrm>
          <a:prstGeom prst="rect">
            <a:avLst/>
          </a:prstGeom>
          <a:noFill/>
          <a:ln/>
        </p:spPr>
        <p:txBody>
          <a:bodyPr wrap="square" lIns="0" tIns="0" rIns="0" bIns="0" rtlCol="0" anchor="t"/>
          <a:lstStyle/>
          <a:p>
            <a:pPr marL="0" indent="0" algn="ctr">
              <a:buNone/>
            </a:pPr>
            <a:r>
              <a:rPr lang="en-US" sz="1700" dirty="0">
                <a:solidFill>
                  <a:srgbClr val="1A1A2E"/>
                </a:solidFill>
                <a:latin typeface="Georgia" pitchFamily="34" charset="0"/>
                <a:ea typeface="Georgia" pitchFamily="34" charset="-122"/>
                <a:cs typeface="Georgia" pitchFamily="34" charset="-120"/>
              </a:rPr>
              <a:t>√2</a:t>
            </a:r>
            <a:endParaRPr lang="en-US" sz="1700" dirty="0"/>
          </a:p>
        </p:txBody>
      </p:sp>
      <p:sp>
        <p:nvSpPr>
          <p:cNvPr id="8" name="Card frame">
            <a:extLst>
              <a:ext uri="{C183D7F6-B498-43B3-948B-1728B52AA6E4}">
                <adec:decorative xmlns:adec="http://schemas.microsoft.com/office/drawing/2017/decorative" val="1"/>
              </a:ext>
            </a:extLst>
          </p:cNvPr>
          <p:cNvSpPr/>
          <p:nvPr/>
        </p:nvSpPr>
        <p:spPr>
          <a:xfrm>
            <a:off x="822960" y="2697480"/>
            <a:ext cx="7498080" cy="566928"/>
          </a:xfrm>
          <a:prstGeom prst="roundRect">
            <a:avLst>
              <a:gd name="adj" fmla="val 9677"/>
            </a:avLst>
          </a:prstGeom>
          <a:solidFill>
            <a:srgbClr val="FFFFFF"/>
          </a:solidFill>
          <a:ln w="12700">
            <a:solidFill>
              <a:srgbClr val="D4D7DD"/>
            </a:solidFill>
            <a:prstDash val="solid"/>
          </a:ln>
        </p:spPr>
        <p:txBody>
          <a:bodyPr/>
          <a:lstStyle/>
          <a:p>
            <a:endParaRPr lang="en-US"/>
          </a:p>
        </p:txBody>
      </p:sp>
      <p:sp>
        <p:nvSpPr>
          <p:cNvPr id="9" name="Text 7"/>
          <p:cNvSpPr/>
          <p:nvPr/>
        </p:nvSpPr>
        <p:spPr>
          <a:xfrm>
            <a:off x="1005840" y="2697480"/>
            <a:ext cx="1554480" cy="566928"/>
          </a:xfrm>
          <a:prstGeom prst="rect">
            <a:avLst/>
          </a:prstGeom>
          <a:noFill/>
          <a:ln/>
        </p:spPr>
        <p:txBody>
          <a:bodyPr wrap="square" lIns="0" tIns="0" rIns="0" bIns="0" rtlCol="0" anchor="ctr"/>
          <a:lstStyle/>
          <a:p>
            <a:pPr marL="0" indent="0">
              <a:buNone/>
            </a:pPr>
            <a:r>
              <a:rPr lang="en-US" sz="1100" b="1" kern="0" spc="60" dirty="0">
                <a:solidFill>
                  <a:srgbClr val="6B7280"/>
                </a:solidFill>
                <a:latin typeface="Georgia" pitchFamily="34" charset="0"/>
                <a:ea typeface="Georgia" pitchFamily="34" charset="-122"/>
                <a:cs typeface="Georgia" pitchFamily="34" charset="-120"/>
              </a:rPr>
              <a:t>Assume</a:t>
            </a:r>
            <a:endParaRPr lang="en-US" sz="1100" dirty="0"/>
          </a:p>
        </p:txBody>
      </p:sp>
      <p:sp>
        <p:nvSpPr>
          <p:cNvPr id="10" name="Text 8"/>
          <p:cNvSpPr/>
          <p:nvPr/>
        </p:nvSpPr>
        <p:spPr>
          <a:xfrm>
            <a:off x="2606040" y="2697480"/>
            <a:ext cx="5532120" cy="566928"/>
          </a:xfrm>
          <a:prstGeom prst="rect">
            <a:avLst/>
          </a:prstGeom>
          <a:noFill/>
          <a:ln/>
        </p:spPr>
        <p:txBody>
          <a:bodyPr wrap="square" lIns="0" tIns="0" rIns="0" bIns="0" rtlCol="0" anchor="ctr"/>
          <a:lstStyle/>
          <a:p>
            <a:pPr marL="0" indent="0">
              <a:buNone/>
            </a:pPr>
            <a:r>
              <a:rPr lang="en-US" sz="1400" dirty="0">
                <a:solidFill>
                  <a:srgbClr val="1A1A2E"/>
                </a:solidFill>
                <a:latin typeface="Georgia" pitchFamily="34" charset="0"/>
                <a:ea typeface="Georgia" pitchFamily="34" charset="-122"/>
                <a:cs typeface="Georgia" pitchFamily="34" charset="-120"/>
              </a:rPr>
              <a:t>|Φ⁺⟩ = (a|0⟩ + b|1⟩) ⊗ (c|0⟩ + d|1⟩)</a:t>
            </a:r>
            <a:endParaRPr lang="en-US" sz="1400" dirty="0"/>
          </a:p>
        </p:txBody>
      </p:sp>
      <p:sp>
        <p:nvSpPr>
          <p:cNvPr id="11" name="Card frame">
            <a:extLst>
              <a:ext uri="{C183D7F6-B498-43B3-948B-1728B52AA6E4}">
                <adec:decorative xmlns:adec="http://schemas.microsoft.com/office/drawing/2017/decorative" val="1"/>
              </a:ext>
            </a:extLst>
          </p:cNvPr>
          <p:cNvSpPr/>
          <p:nvPr/>
        </p:nvSpPr>
        <p:spPr>
          <a:xfrm>
            <a:off x="822960" y="3355848"/>
            <a:ext cx="7498080" cy="566928"/>
          </a:xfrm>
          <a:prstGeom prst="roundRect">
            <a:avLst>
              <a:gd name="adj" fmla="val 9677"/>
            </a:avLst>
          </a:prstGeom>
          <a:solidFill>
            <a:srgbClr val="FFFFFF"/>
          </a:solidFill>
          <a:ln w="12700">
            <a:solidFill>
              <a:srgbClr val="D4D7DD"/>
            </a:solidFill>
            <a:prstDash val="solid"/>
          </a:ln>
        </p:spPr>
        <p:txBody>
          <a:bodyPr/>
          <a:lstStyle/>
          <a:p>
            <a:endParaRPr lang="en-US"/>
          </a:p>
        </p:txBody>
      </p:sp>
      <p:sp>
        <p:nvSpPr>
          <p:cNvPr id="12" name="Text 10"/>
          <p:cNvSpPr/>
          <p:nvPr/>
        </p:nvSpPr>
        <p:spPr>
          <a:xfrm>
            <a:off x="1005840" y="3355848"/>
            <a:ext cx="1554480" cy="566928"/>
          </a:xfrm>
          <a:prstGeom prst="rect">
            <a:avLst/>
          </a:prstGeom>
          <a:noFill/>
          <a:ln/>
        </p:spPr>
        <p:txBody>
          <a:bodyPr wrap="square" lIns="0" tIns="0" rIns="0" bIns="0" rtlCol="0" anchor="ctr"/>
          <a:lstStyle/>
          <a:p>
            <a:pPr marL="0" indent="0">
              <a:buNone/>
            </a:pPr>
            <a:r>
              <a:rPr lang="en-US" sz="1100" b="1" kern="0" spc="60" dirty="0">
                <a:solidFill>
                  <a:srgbClr val="6B7280"/>
                </a:solidFill>
                <a:latin typeface="Georgia" pitchFamily="34" charset="0"/>
                <a:ea typeface="Georgia" pitchFamily="34" charset="-122"/>
                <a:cs typeface="Georgia" pitchFamily="34" charset="-120"/>
              </a:rPr>
              <a:t>Expand</a:t>
            </a:r>
            <a:endParaRPr lang="en-US" sz="1100" dirty="0"/>
          </a:p>
        </p:txBody>
      </p:sp>
      <p:sp>
        <p:nvSpPr>
          <p:cNvPr id="13" name="Text 11"/>
          <p:cNvSpPr/>
          <p:nvPr/>
        </p:nvSpPr>
        <p:spPr>
          <a:xfrm>
            <a:off x="2606040" y="3355848"/>
            <a:ext cx="5532120" cy="566928"/>
          </a:xfrm>
          <a:prstGeom prst="rect">
            <a:avLst/>
          </a:prstGeom>
          <a:noFill/>
          <a:ln/>
        </p:spPr>
        <p:txBody>
          <a:bodyPr wrap="square" lIns="0" tIns="0" rIns="0" bIns="0" rtlCol="0" anchor="ctr"/>
          <a:lstStyle/>
          <a:p>
            <a:pPr marL="0" indent="0">
              <a:buNone/>
            </a:pPr>
            <a:r>
              <a:rPr lang="en-US" sz="1400" dirty="0">
                <a:solidFill>
                  <a:srgbClr val="1A1A2E"/>
                </a:solidFill>
                <a:latin typeface="Georgia" pitchFamily="34" charset="0"/>
                <a:ea typeface="Georgia" pitchFamily="34" charset="-122"/>
                <a:cs typeface="Georgia" pitchFamily="34" charset="-120"/>
              </a:rPr>
              <a:t>ac = bd = 1/√2   and   ad = bc = 0</a:t>
            </a:r>
            <a:endParaRPr lang="en-US" sz="1400" dirty="0"/>
          </a:p>
        </p:txBody>
      </p:sp>
      <p:sp>
        <p:nvSpPr>
          <p:cNvPr id="14" name="Card frame">
            <a:extLst>
              <a:ext uri="{C183D7F6-B498-43B3-948B-1728B52AA6E4}">
                <adec:decorative xmlns:adec="http://schemas.microsoft.com/office/drawing/2017/decorative" val="1"/>
              </a:ext>
            </a:extLst>
          </p:cNvPr>
          <p:cNvSpPr/>
          <p:nvPr/>
        </p:nvSpPr>
        <p:spPr>
          <a:xfrm>
            <a:off x="822960" y="4014216"/>
            <a:ext cx="7498080" cy="566928"/>
          </a:xfrm>
          <a:prstGeom prst="roundRect">
            <a:avLst>
              <a:gd name="adj" fmla="val 9677"/>
            </a:avLst>
          </a:prstGeom>
          <a:solidFill>
            <a:srgbClr val="F4F5FB"/>
          </a:solidFill>
          <a:ln w="15240">
            <a:solidFill>
              <a:srgbClr val="3730A3"/>
            </a:solidFill>
            <a:prstDash val="solid"/>
          </a:ln>
        </p:spPr>
        <p:txBody>
          <a:bodyPr/>
          <a:lstStyle/>
          <a:p>
            <a:endParaRPr lang="en-US"/>
          </a:p>
        </p:txBody>
      </p:sp>
      <p:sp>
        <p:nvSpPr>
          <p:cNvPr id="15" name="Text 13"/>
          <p:cNvSpPr/>
          <p:nvPr/>
        </p:nvSpPr>
        <p:spPr>
          <a:xfrm>
            <a:off x="1005840" y="4014216"/>
            <a:ext cx="1554480" cy="566928"/>
          </a:xfrm>
          <a:prstGeom prst="rect">
            <a:avLst/>
          </a:prstGeom>
          <a:noFill/>
          <a:ln/>
        </p:spPr>
        <p:txBody>
          <a:bodyPr wrap="square" lIns="0" tIns="0" rIns="0" bIns="0" rtlCol="0" anchor="ctr"/>
          <a:lstStyle/>
          <a:p>
            <a:pPr marL="0" indent="0">
              <a:buNone/>
            </a:pPr>
            <a:r>
              <a:rPr lang="en-US" sz="1100" b="1" kern="0" spc="60" dirty="0">
                <a:solidFill>
                  <a:srgbClr val="3730A3"/>
                </a:solidFill>
                <a:latin typeface="Georgia" pitchFamily="34" charset="0"/>
                <a:ea typeface="Georgia" pitchFamily="34" charset="-122"/>
                <a:cs typeface="Georgia" pitchFamily="34" charset="-120"/>
              </a:rPr>
              <a:t>Contradiction</a:t>
            </a:r>
            <a:endParaRPr lang="en-US" sz="1100" dirty="0"/>
          </a:p>
        </p:txBody>
      </p:sp>
      <p:sp>
        <p:nvSpPr>
          <p:cNvPr id="16" name="Text 14"/>
          <p:cNvSpPr/>
          <p:nvPr/>
        </p:nvSpPr>
        <p:spPr>
          <a:xfrm>
            <a:off x="2606040" y="4014216"/>
            <a:ext cx="5532120" cy="566928"/>
          </a:xfrm>
          <a:prstGeom prst="rect">
            <a:avLst/>
          </a:prstGeom>
          <a:noFill/>
          <a:ln/>
        </p:spPr>
        <p:txBody>
          <a:bodyPr wrap="square" lIns="0" tIns="0" rIns="0" bIns="0" rtlCol="0" anchor="ctr"/>
          <a:lstStyle/>
          <a:p>
            <a:pPr marL="0" indent="0">
              <a:buNone/>
            </a:pPr>
            <a:r>
              <a:rPr lang="en-US" sz="1400" b="1" dirty="0">
                <a:solidFill>
                  <a:srgbClr val="3730A3"/>
                </a:solidFill>
                <a:latin typeface="Georgia" pitchFamily="34" charset="0"/>
                <a:ea typeface="Georgia" pitchFamily="34" charset="-122"/>
                <a:cs typeface="Georgia" pitchFamily="34" charset="-120"/>
              </a:rPr>
              <a:t>no a, b, c, d satisfy both conditions</a:t>
            </a:r>
            <a:endParaRPr lang="en-US" sz="1400" dirty="0"/>
          </a:p>
        </p:txBody>
      </p:sp>
      <p:sp>
        <p:nvSpPr>
          <p:cNvPr id="17" name="Text 15"/>
          <p:cNvSpPr/>
          <p:nvPr/>
        </p:nvSpPr>
        <p:spPr>
          <a:xfrm>
            <a:off x="640080" y="468172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The factorization attempt fails — therefore |Φ⁺⟩ is entangled.</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Entanglement: decomposition-based</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005840" y="1280160"/>
            <a:ext cx="96012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005840" y="1280160"/>
            <a:ext cx="960120" cy="548640"/>
          </a:xfrm>
          <a:prstGeom prst="rect">
            <a:avLst/>
          </a:prstGeom>
          <a:noFill/>
          <a:ln/>
        </p:spPr>
        <p:txBody>
          <a:bodyPr wrap="square" lIns="0" tIns="0" rIns="0" bIns="0" rtlCol="0" anchor="ctr"/>
          <a:lstStyle/>
          <a:p>
            <a:pPr marL="0" indent="0" algn="ctr">
              <a:buNone/>
            </a:pPr>
            <a:r>
              <a:rPr lang="en-US" sz="1500" b="1" dirty="0">
                <a:solidFill>
                  <a:srgbClr val="1A1A2E"/>
                </a:solidFill>
                <a:latin typeface="Georgia" pitchFamily="34" charset="0"/>
                <a:ea typeface="Georgia" pitchFamily="34" charset="-122"/>
                <a:cs typeface="Georgia" pitchFamily="34" charset="-120"/>
              </a:rPr>
              <a:t>q₁</a:t>
            </a:r>
            <a:endParaRPr lang="en-US" sz="1500" dirty="0"/>
          </a:p>
        </p:txBody>
      </p:sp>
      <p:sp>
        <p:nvSpPr>
          <p:cNvPr id="5" name="Qubit link">
            <a:extLst>
              <a:ext uri="{C183D7F6-B498-43B3-948B-1728B52AA6E4}">
                <adec:decorative xmlns:adec="http://schemas.microsoft.com/office/drawing/2017/decorative" val="1"/>
              </a:ext>
            </a:extLst>
          </p:cNvPr>
          <p:cNvSpPr/>
          <p:nvPr/>
        </p:nvSpPr>
        <p:spPr>
          <a:xfrm>
            <a:off x="1965960" y="1554480"/>
            <a:ext cx="1097280" cy="0"/>
          </a:xfrm>
          <a:prstGeom prst="line">
            <a:avLst/>
          </a:prstGeom>
          <a:noFill/>
          <a:ln w="15875">
            <a:solidFill>
              <a:srgbClr val="5B6070"/>
            </a:solidFill>
            <a:prstDash val="solid"/>
          </a:ln>
        </p:spPr>
        <p:txBody>
          <a:bodyPr/>
          <a:lstStyle/>
          <a:p>
            <a:endParaRPr lang="en-US"/>
          </a:p>
        </p:txBody>
      </p:sp>
      <p:sp>
        <p:nvSpPr>
          <p:cNvPr id="6" name="Card frame">
            <a:extLst>
              <a:ext uri="{C183D7F6-B498-43B3-948B-1728B52AA6E4}">
                <adec:decorative xmlns:adec="http://schemas.microsoft.com/office/drawing/2017/decorative" val="1"/>
              </a:ext>
            </a:extLst>
          </p:cNvPr>
          <p:cNvSpPr/>
          <p:nvPr/>
        </p:nvSpPr>
        <p:spPr>
          <a:xfrm>
            <a:off x="3063240" y="1280160"/>
            <a:ext cx="96012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3063240" y="1280160"/>
            <a:ext cx="960120" cy="548640"/>
          </a:xfrm>
          <a:prstGeom prst="rect">
            <a:avLst/>
          </a:prstGeom>
          <a:noFill/>
          <a:ln/>
        </p:spPr>
        <p:txBody>
          <a:bodyPr wrap="square" lIns="0" tIns="0" rIns="0" bIns="0" rtlCol="0" anchor="ctr"/>
          <a:lstStyle/>
          <a:p>
            <a:pPr marL="0" indent="0" algn="ctr">
              <a:buNone/>
            </a:pPr>
            <a:r>
              <a:rPr lang="en-US" sz="1500" b="1" dirty="0">
                <a:solidFill>
                  <a:srgbClr val="1A1A2E"/>
                </a:solidFill>
                <a:latin typeface="Georgia" pitchFamily="34" charset="0"/>
                <a:ea typeface="Georgia" pitchFamily="34" charset="-122"/>
                <a:cs typeface="Georgia" pitchFamily="34" charset="-120"/>
              </a:rPr>
              <a:t>q₂</a:t>
            </a:r>
            <a:endParaRPr lang="en-US" sz="1500" dirty="0"/>
          </a:p>
        </p:txBody>
      </p:sp>
      <p:sp>
        <p:nvSpPr>
          <p:cNvPr id="8" name="Qubit link">
            <a:extLst>
              <a:ext uri="{C183D7F6-B498-43B3-948B-1728B52AA6E4}">
                <adec:decorative xmlns:adec="http://schemas.microsoft.com/office/drawing/2017/decorative" val="1"/>
              </a:ext>
            </a:extLst>
          </p:cNvPr>
          <p:cNvSpPr/>
          <p:nvPr/>
        </p:nvSpPr>
        <p:spPr>
          <a:xfrm>
            <a:off x="4023360" y="1554480"/>
            <a:ext cx="1097280" cy="0"/>
          </a:xfrm>
          <a:prstGeom prst="line">
            <a:avLst/>
          </a:prstGeom>
          <a:noFill/>
          <a:ln w="15875">
            <a:solidFill>
              <a:srgbClr val="5B6070"/>
            </a:solidFill>
            <a:prstDash val="solid"/>
          </a:ln>
        </p:spPr>
        <p:txBody>
          <a:bodyPr/>
          <a:lstStyle/>
          <a:p>
            <a:endParaRPr lang="en-US"/>
          </a:p>
        </p:txBody>
      </p:sp>
      <p:sp>
        <p:nvSpPr>
          <p:cNvPr id="9" name="Card frame">
            <a:extLst>
              <a:ext uri="{C183D7F6-B498-43B3-948B-1728B52AA6E4}">
                <adec:decorative xmlns:adec="http://schemas.microsoft.com/office/drawing/2017/decorative" val="1"/>
              </a:ext>
            </a:extLst>
          </p:cNvPr>
          <p:cNvSpPr/>
          <p:nvPr/>
        </p:nvSpPr>
        <p:spPr>
          <a:xfrm>
            <a:off x="5120640" y="1280160"/>
            <a:ext cx="96012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10" name="Text 8"/>
          <p:cNvSpPr/>
          <p:nvPr/>
        </p:nvSpPr>
        <p:spPr>
          <a:xfrm>
            <a:off x="5120640" y="1280160"/>
            <a:ext cx="960120" cy="548640"/>
          </a:xfrm>
          <a:prstGeom prst="rect">
            <a:avLst/>
          </a:prstGeom>
          <a:noFill/>
          <a:ln/>
        </p:spPr>
        <p:txBody>
          <a:bodyPr wrap="square" lIns="0" tIns="0" rIns="0" bIns="0" rtlCol="0" anchor="ctr"/>
          <a:lstStyle/>
          <a:p>
            <a:pPr marL="0" indent="0" algn="ctr">
              <a:buNone/>
            </a:pPr>
            <a:r>
              <a:rPr lang="en-US" sz="1500" b="1" dirty="0">
                <a:solidFill>
                  <a:srgbClr val="1A1A2E"/>
                </a:solidFill>
                <a:latin typeface="Georgia" pitchFamily="34" charset="0"/>
                <a:ea typeface="Georgia" pitchFamily="34" charset="-122"/>
                <a:cs typeface="Georgia" pitchFamily="34" charset="-120"/>
              </a:rPr>
              <a:t>q₃</a:t>
            </a:r>
            <a:endParaRPr lang="en-US" sz="1500" dirty="0"/>
          </a:p>
        </p:txBody>
      </p:sp>
      <p:sp>
        <p:nvSpPr>
          <p:cNvPr id="11" name="Qubit link">
            <a:extLst>
              <a:ext uri="{C183D7F6-B498-43B3-948B-1728B52AA6E4}">
                <adec:decorative xmlns:adec="http://schemas.microsoft.com/office/drawing/2017/decorative" val="1"/>
              </a:ext>
            </a:extLst>
          </p:cNvPr>
          <p:cNvSpPr/>
          <p:nvPr/>
        </p:nvSpPr>
        <p:spPr>
          <a:xfrm>
            <a:off x="6080760" y="1554480"/>
            <a:ext cx="1097280" cy="0"/>
          </a:xfrm>
          <a:prstGeom prst="line">
            <a:avLst/>
          </a:prstGeom>
          <a:noFill/>
          <a:ln w="15875">
            <a:solidFill>
              <a:srgbClr val="5B6070"/>
            </a:solidFill>
            <a:prstDash val="solid"/>
          </a:ln>
        </p:spPr>
        <p:txBody>
          <a:bodyPr/>
          <a:lstStyle/>
          <a:p>
            <a:endParaRPr lang="en-US"/>
          </a:p>
        </p:txBody>
      </p:sp>
      <p:sp>
        <p:nvSpPr>
          <p:cNvPr id="12" name="Card frame">
            <a:extLst>
              <a:ext uri="{C183D7F6-B498-43B3-948B-1728B52AA6E4}">
                <adec:decorative xmlns:adec="http://schemas.microsoft.com/office/drawing/2017/decorative" val="1"/>
              </a:ext>
            </a:extLst>
          </p:cNvPr>
          <p:cNvSpPr/>
          <p:nvPr/>
        </p:nvSpPr>
        <p:spPr>
          <a:xfrm>
            <a:off x="7178040" y="1280160"/>
            <a:ext cx="96012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13" name="Text 11"/>
          <p:cNvSpPr/>
          <p:nvPr/>
        </p:nvSpPr>
        <p:spPr>
          <a:xfrm>
            <a:off x="7178040" y="1280160"/>
            <a:ext cx="960120" cy="548640"/>
          </a:xfrm>
          <a:prstGeom prst="rect">
            <a:avLst/>
          </a:prstGeom>
          <a:noFill/>
          <a:ln/>
        </p:spPr>
        <p:txBody>
          <a:bodyPr wrap="square" lIns="0" tIns="0" rIns="0" bIns="0" rtlCol="0" anchor="ctr"/>
          <a:lstStyle/>
          <a:p>
            <a:pPr marL="0" indent="0" algn="ctr">
              <a:buNone/>
            </a:pPr>
            <a:r>
              <a:rPr lang="en-US" sz="1500" b="1" dirty="0">
                <a:solidFill>
                  <a:srgbClr val="1A1A2E"/>
                </a:solidFill>
                <a:latin typeface="Georgia" pitchFamily="34" charset="0"/>
                <a:ea typeface="Georgia" pitchFamily="34" charset="-122"/>
                <a:cs typeface="Georgia" pitchFamily="34" charset="-120"/>
              </a:rPr>
              <a:t>q₄</a:t>
            </a:r>
            <a:endParaRPr lang="en-US" sz="1500" dirty="0"/>
          </a:p>
        </p:txBody>
      </p:sp>
      <p:sp>
        <p:nvSpPr>
          <p:cNvPr id="14" name="Card frame">
            <a:extLst>
              <a:ext uri="{C183D7F6-B498-43B3-948B-1728B52AA6E4}">
                <adec:decorative xmlns:adec="http://schemas.microsoft.com/office/drawing/2017/decorative" val="1"/>
              </a:ext>
            </a:extLst>
          </p:cNvPr>
          <p:cNvSpPr/>
          <p:nvPr/>
        </p:nvSpPr>
        <p:spPr>
          <a:xfrm>
            <a:off x="777240" y="2103120"/>
            <a:ext cx="7680960" cy="1051560"/>
          </a:xfrm>
          <a:prstGeom prst="roundRect">
            <a:avLst>
              <a:gd name="adj" fmla="val 5217"/>
            </a:avLst>
          </a:prstGeom>
          <a:solidFill>
            <a:srgbClr val="FFFFFF"/>
          </a:solidFill>
          <a:ln w="12700">
            <a:solidFill>
              <a:srgbClr val="D4D7DD"/>
            </a:solidFill>
            <a:prstDash val="solid"/>
          </a:ln>
        </p:spPr>
        <p:txBody>
          <a:bodyPr/>
          <a:lstStyle/>
          <a:p>
            <a:endParaRPr lang="en-US"/>
          </a:p>
        </p:txBody>
      </p:sp>
      <p:sp>
        <p:nvSpPr>
          <p:cNvPr id="15" name="Text 13"/>
          <p:cNvSpPr/>
          <p:nvPr/>
        </p:nvSpPr>
        <p:spPr>
          <a:xfrm>
            <a:off x="960120" y="2221992"/>
            <a:ext cx="1645920" cy="274320"/>
          </a:xfrm>
          <a:prstGeom prst="rect">
            <a:avLst/>
          </a:prstGeom>
          <a:noFill/>
          <a:ln/>
        </p:spPr>
        <p:txBody>
          <a:bodyPr wrap="square" lIns="0" tIns="0" rIns="0" bIns="0" rtlCol="0" anchor="ctr"/>
          <a:lstStyle/>
          <a:p>
            <a:pPr marL="0" indent="0">
              <a:buNone/>
            </a:pPr>
            <a:r>
              <a:rPr lang="en-US" sz="1050" b="1" kern="0" spc="60" dirty="0">
                <a:solidFill>
                  <a:srgbClr val="6B7280"/>
                </a:solidFill>
                <a:latin typeface="Georgia" pitchFamily="34" charset="0"/>
                <a:ea typeface="Georgia" pitchFamily="34" charset="-122"/>
                <a:cs typeface="Georgia" pitchFamily="34" charset="-120"/>
              </a:rPr>
              <a:t>Grouping 1</a:t>
            </a:r>
            <a:endParaRPr lang="en-US" sz="1050" dirty="0"/>
          </a:p>
        </p:txBody>
      </p:sp>
      <p:sp>
        <p:nvSpPr>
          <p:cNvPr id="16" name="Text 14"/>
          <p:cNvSpPr/>
          <p:nvPr/>
        </p:nvSpPr>
        <p:spPr>
          <a:xfrm>
            <a:off x="960120" y="2523744"/>
            <a:ext cx="4206240" cy="457200"/>
          </a:xfrm>
          <a:prstGeom prst="rect">
            <a:avLst/>
          </a:prstGeom>
          <a:noFill/>
          <a:ln/>
        </p:spPr>
        <p:txBody>
          <a:bodyPr wrap="square" lIns="0" tIns="0" rIns="0" bIns="0" rtlCol="0" anchor="ctr"/>
          <a:lstStyle/>
          <a:p>
            <a:pPr marL="0" indent="0">
              <a:buNone/>
            </a:pPr>
            <a:r>
              <a:rPr lang="en-US" sz="1800" dirty="0">
                <a:solidFill>
                  <a:srgbClr val="1A1A2E"/>
                </a:solidFill>
                <a:latin typeface="Georgia" pitchFamily="34" charset="0"/>
                <a:ea typeface="Georgia" pitchFamily="34" charset="-122"/>
                <a:cs typeface="Georgia" pitchFamily="34" charset="-120"/>
              </a:rPr>
              <a:t>( q₁ ) ( q₂ ) ( q₃ ) ( q₄ )</a:t>
            </a:r>
            <a:endParaRPr lang="en-US" sz="1800" dirty="0"/>
          </a:p>
        </p:txBody>
      </p:sp>
      <p:sp>
        <p:nvSpPr>
          <p:cNvPr id="17" name="Text 15"/>
          <p:cNvSpPr/>
          <p:nvPr/>
        </p:nvSpPr>
        <p:spPr>
          <a:xfrm>
            <a:off x="5303520" y="2523744"/>
            <a:ext cx="2926080" cy="45720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   entangled</a:t>
            </a:r>
            <a:endParaRPr lang="en-US" sz="1600" dirty="0"/>
          </a:p>
        </p:txBody>
      </p:sp>
      <p:sp>
        <p:nvSpPr>
          <p:cNvPr id="18" name="Card frame">
            <a:extLst>
              <a:ext uri="{C183D7F6-B498-43B3-948B-1728B52AA6E4}">
                <adec:decorative xmlns:adec="http://schemas.microsoft.com/office/drawing/2017/decorative" val="1"/>
              </a:ext>
            </a:extLst>
          </p:cNvPr>
          <p:cNvSpPr/>
          <p:nvPr/>
        </p:nvSpPr>
        <p:spPr>
          <a:xfrm>
            <a:off x="777240" y="3273552"/>
            <a:ext cx="7680960" cy="1051560"/>
          </a:xfrm>
          <a:prstGeom prst="roundRect">
            <a:avLst>
              <a:gd name="adj" fmla="val 5217"/>
            </a:avLst>
          </a:prstGeom>
          <a:solidFill>
            <a:srgbClr val="F4F5FB"/>
          </a:solidFill>
          <a:ln w="15240">
            <a:solidFill>
              <a:srgbClr val="3730A3"/>
            </a:solidFill>
            <a:prstDash val="solid"/>
          </a:ln>
        </p:spPr>
        <p:txBody>
          <a:bodyPr/>
          <a:lstStyle/>
          <a:p>
            <a:endParaRPr lang="en-US"/>
          </a:p>
        </p:txBody>
      </p:sp>
      <p:sp>
        <p:nvSpPr>
          <p:cNvPr id="19" name="Text 17"/>
          <p:cNvSpPr/>
          <p:nvPr/>
        </p:nvSpPr>
        <p:spPr>
          <a:xfrm>
            <a:off x="960120" y="3392424"/>
            <a:ext cx="1645920" cy="274320"/>
          </a:xfrm>
          <a:prstGeom prst="rect">
            <a:avLst/>
          </a:prstGeom>
          <a:noFill/>
          <a:ln/>
        </p:spPr>
        <p:txBody>
          <a:bodyPr wrap="square" lIns="0" tIns="0" rIns="0" bIns="0" rtlCol="0" anchor="ctr"/>
          <a:lstStyle/>
          <a:p>
            <a:pPr marL="0" indent="0">
              <a:buNone/>
            </a:pPr>
            <a:r>
              <a:rPr lang="en-US" sz="1050" b="1" kern="0" spc="60" dirty="0">
                <a:solidFill>
                  <a:srgbClr val="3730A3"/>
                </a:solidFill>
                <a:latin typeface="Georgia" pitchFamily="34" charset="0"/>
                <a:ea typeface="Georgia" pitchFamily="34" charset="-122"/>
                <a:cs typeface="Georgia" pitchFamily="34" charset="-120"/>
              </a:rPr>
              <a:t>Grouping 2</a:t>
            </a:r>
            <a:endParaRPr lang="en-US" sz="1050" dirty="0"/>
          </a:p>
        </p:txBody>
      </p:sp>
      <p:sp>
        <p:nvSpPr>
          <p:cNvPr id="20" name="Text 18"/>
          <p:cNvSpPr/>
          <p:nvPr/>
        </p:nvSpPr>
        <p:spPr>
          <a:xfrm>
            <a:off x="960120" y="3694176"/>
            <a:ext cx="4206240" cy="457200"/>
          </a:xfrm>
          <a:prstGeom prst="rect">
            <a:avLst/>
          </a:prstGeom>
          <a:noFill/>
          <a:ln/>
        </p:spPr>
        <p:txBody>
          <a:bodyPr wrap="square" lIns="0" tIns="0" rIns="0" bIns="0" rtlCol="0" anchor="ctr"/>
          <a:lstStyle/>
          <a:p>
            <a:pPr marL="0" indent="0">
              <a:buNone/>
            </a:pPr>
            <a:r>
              <a:rPr lang="en-US" sz="1800" dirty="0">
                <a:solidFill>
                  <a:srgbClr val="1A1A2E"/>
                </a:solidFill>
                <a:latin typeface="Georgia" pitchFamily="34" charset="0"/>
                <a:ea typeface="Georgia" pitchFamily="34" charset="-122"/>
                <a:cs typeface="Georgia" pitchFamily="34" charset="-120"/>
              </a:rPr>
              <a:t>( q₁ , q₃ )   |   ( q₂ , q₄ )</a:t>
            </a:r>
            <a:endParaRPr lang="en-US" sz="1800" dirty="0"/>
          </a:p>
        </p:txBody>
      </p:sp>
      <p:sp>
        <p:nvSpPr>
          <p:cNvPr id="21" name="Text 19"/>
          <p:cNvSpPr/>
          <p:nvPr/>
        </p:nvSpPr>
        <p:spPr>
          <a:xfrm>
            <a:off x="5303520" y="3694176"/>
            <a:ext cx="2926080" cy="457200"/>
          </a:xfrm>
          <a:prstGeom prst="rect">
            <a:avLst/>
          </a:prstGeom>
          <a:noFill/>
          <a:ln/>
        </p:spPr>
        <p:txBody>
          <a:bodyPr wrap="square" lIns="0" tIns="0" rIns="0" bIns="0" rtlCol="0" anchor="ctr"/>
          <a:lstStyle/>
          <a:p>
            <a:pPr marL="0" indent="0">
              <a:buNone/>
            </a:pPr>
            <a:r>
              <a:rPr lang="en-US" sz="1600" b="1" dirty="0">
                <a:solidFill>
                  <a:srgbClr val="3730A3"/>
                </a:solidFill>
                <a:latin typeface="Georgia" pitchFamily="34" charset="0"/>
                <a:ea typeface="Georgia" pitchFamily="34" charset="-122"/>
                <a:cs typeface="Georgia" pitchFamily="34" charset="-120"/>
              </a:rPr>
              <a:t>→   separable</a:t>
            </a:r>
            <a:endParaRPr lang="en-US" sz="1600" dirty="0"/>
          </a:p>
        </p:txBody>
      </p:sp>
      <p:sp>
        <p:nvSpPr>
          <p:cNvPr id="22" name="Text 20"/>
          <p:cNvSpPr/>
          <p:nvPr/>
        </p:nvSpPr>
        <p:spPr>
          <a:xfrm>
            <a:off x="640080" y="4443984"/>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Same four qubits, same state — the answer changes with how you split the system.</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Entanglement is not basis dependent</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777240" y="1280160"/>
            <a:ext cx="3703320" cy="1508760"/>
          </a:xfrm>
          <a:prstGeom prst="roundRect">
            <a:avLst>
              <a:gd name="adj" fmla="val 3636"/>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777240" y="1399032"/>
            <a:ext cx="3703320" cy="274320"/>
          </a:xfrm>
          <a:prstGeom prst="rect">
            <a:avLst/>
          </a:prstGeom>
          <a:noFill/>
          <a:ln/>
        </p:spPr>
        <p:txBody>
          <a:bodyPr wrap="square" lIns="0" tIns="0" rIns="0" bIns="0" rtlCol="0" anchor="ctr"/>
          <a:lstStyle/>
          <a:p>
            <a:pPr marL="0" indent="0" algn="ctr">
              <a:buNone/>
            </a:pPr>
            <a:r>
              <a:rPr lang="en-US" sz="1050" b="1" kern="0" spc="60" dirty="0">
                <a:solidFill>
                  <a:srgbClr val="3730A3"/>
                </a:solidFill>
                <a:latin typeface="Georgia" pitchFamily="34" charset="0"/>
                <a:ea typeface="Georgia" pitchFamily="34" charset="-122"/>
                <a:cs typeface="Georgia" pitchFamily="34" charset="-120"/>
              </a:rPr>
              <a:t>computational basis</a:t>
            </a:r>
            <a:endParaRPr lang="en-US" sz="1050" dirty="0"/>
          </a:p>
        </p:txBody>
      </p:sp>
      <p:sp>
        <p:nvSpPr>
          <p:cNvPr id="5" name="Text 3"/>
          <p:cNvSpPr/>
          <p:nvPr/>
        </p:nvSpPr>
        <p:spPr>
          <a:xfrm>
            <a:off x="1097280" y="1764792"/>
            <a:ext cx="1371600" cy="86868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|Φ⁺⟩  =</a:t>
            </a:r>
            <a:endParaRPr lang="en-US" sz="1900" dirty="0"/>
          </a:p>
        </p:txBody>
      </p:sp>
      <p:sp>
        <p:nvSpPr>
          <p:cNvPr id="6" name="Text 4"/>
          <p:cNvSpPr/>
          <p:nvPr/>
        </p:nvSpPr>
        <p:spPr>
          <a:xfrm>
            <a:off x="2468880" y="1947672"/>
            <a:ext cx="1783080" cy="310896"/>
          </a:xfrm>
          <a:prstGeom prst="rect">
            <a:avLst/>
          </a:prstGeom>
          <a:noFill/>
          <a:ln/>
        </p:spPr>
        <p:txBody>
          <a:bodyPr wrap="square" lIns="0" tIns="0" rIns="0" bIns="0" rtlCol="0" anchor="b"/>
          <a:lstStyle/>
          <a:p>
            <a:pPr marL="0" indent="0" algn="ctr">
              <a:buNone/>
            </a:pPr>
            <a:r>
              <a:rPr lang="en-US" sz="1500" dirty="0">
                <a:solidFill>
                  <a:srgbClr val="1A1A2E"/>
                </a:solidFill>
                <a:latin typeface="Georgia" pitchFamily="34" charset="0"/>
                <a:ea typeface="Georgia" pitchFamily="34" charset="-122"/>
                <a:cs typeface="Georgia" pitchFamily="34" charset="-120"/>
              </a:rPr>
              <a:t>|00⟩ + |11⟩</a:t>
            </a:r>
            <a:endParaRPr lang="en-US" sz="1500" dirty="0"/>
          </a:p>
        </p:txBody>
      </p:sp>
      <p:sp>
        <p:nvSpPr>
          <p:cNvPr id="7" name="Fraction bar">
            <a:extLst>
              <a:ext uri="{C183D7F6-B498-43B3-948B-1728B52AA6E4}">
                <adec:decorative xmlns:adec="http://schemas.microsoft.com/office/drawing/2017/decorative" val="1"/>
              </a:ext>
            </a:extLst>
          </p:cNvPr>
          <p:cNvSpPr/>
          <p:nvPr/>
        </p:nvSpPr>
        <p:spPr>
          <a:xfrm>
            <a:off x="2560320" y="2276856"/>
            <a:ext cx="1600200" cy="0"/>
          </a:xfrm>
          <a:prstGeom prst="line">
            <a:avLst/>
          </a:prstGeom>
          <a:noFill/>
          <a:ln w="15875">
            <a:solidFill>
              <a:srgbClr val="1A1A2E"/>
            </a:solidFill>
            <a:prstDash val="solid"/>
          </a:ln>
        </p:spPr>
        <p:txBody>
          <a:bodyPr/>
          <a:lstStyle/>
          <a:p>
            <a:endParaRPr lang="en-US"/>
          </a:p>
        </p:txBody>
      </p:sp>
      <p:sp>
        <p:nvSpPr>
          <p:cNvPr id="8" name="Text 6"/>
          <p:cNvSpPr/>
          <p:nvPr/>
        </p:nvSpPr>
        <p:spPr>
          <a:xfrm>
            <a:off x="2468880" y="2295144"/>
            <a:ext cx="1783080" cy="310896"/>
          </a:xfrm>
          <a:prstGeom prst="rect">
            <a:avLst/>
          </a:prstGeom>
          <a:noFill/>
          <a:ln/>
        </p:spPr>
        <p:txBody>
          <a:bodyPr wrap="square" lIns="0" tIns="0" rIns="0" bIns="0" rtlCol="0" anchor="t"/>
          <a:lstStyle/>
          <a:p>
            <a:pPr marL="0" indent="0" algn="ctr">
              <a:buNone/>
            </a:pPr>
            <a:r>
              <a:rPr lang="en-US" sz="1500" dirty="0">
                <a:solidFill>
                  <a:srgbClr val="1A1A2E"/>
                </a:solidFill>
                <a:latin typeface="Georgia" pitchFamily="34" charset="0"/>
                <a:ea typeface="Georgia" pitchFamily="34" charset="-122"/>
                <a:cs typeface="Georgia" pitchFamily="34" charset="-120"/>
              </a:rPr>
              <a:t>√2</a:t>
            </a:r>
            <a:endParaRPr lang="en-US" sz="1500" dirty="0"/>
          </a:p>
        </p:txBody>
      </p:sp>
      <p:sp>
        <p:nvSpPr>
          <p:cNvPr id="9" name="Card frame">
            <a:extLst>
              <a:ext uri="{C183D7F6-B498-43B3-948B-1728B52AA6E4}">
                <adec:decorative xmlns:adec="http://schemas.microsoft.com/office/drawing/2017/decorative" val="1"/>
              </a:ext>
            </a:extLst>
          </p:cNvPr>
          <p:cNvSpPr/>
          <p:nvPr/>
        </p:nvSpPr>
        <p:spPr>
          <a:xfrm>
            <a:off x="4754880" y="1280160"/>
            <a:ext cx="3703320" cy="1508760"/>
          </a:xfrm>
          <a:prstGeom prst="roundRect">
            <a:avLst>
              <a:gd name="adj" fmla="val 3636"/>
            </a:avLst>
          </a:prstGeom>
          <a:solidFill>
            <a:srgbClr val="F4F5FB"/>
          </a:solidFill>
          <a:ln w="15240">
            <a:solidFill>
              <a:srgbClr val="3730A3"/>
            </a:solidFill>
            <a:prstDash val="solid"/>
          </a:ln>
        </p:spPr>
        <p:txBody>
          <a:bodyPr/>
          <a:lstStyle/>
          <a:p>
            <a:endParaRPr lang="en-US"/>
          </a:p>
        </p:txBody>
      </p:sp>
      <p:sp>
        <p:nvSpPr>
          <p:cNvPr id="10" name="Text 8"/>
          <p:cNvSpPr/>
          <p:nvPr/>
        </p:nvSpPr>
        <p:spPr>
          <a:xfrm>
            <a:off x="4754880" y="1399032"/>
            <a:ext cx="3703320" cy="274320"/>
          </a:xfrm>
          <a:prstGeom prst="rect">
            <a:avLst/>
          </a:prstGeom>
          <a:noFill/>
          <a:ln/>
        </p:spPr>
        <p:txBody>
          <a:bodyPr wrap="square" lIns="0" tIns="0" rIns="0" bIns="0" rtlCol="0" anchor="ctr"/>
          <a:lstStyle/>
          <a:p>
            <a:pPr marL="0" indent="0" algn="ctr">
              <a:buNone/>
            </a:pPr>
            <a:r>
              <a:rPr lang="en-US" sz="1050" b="1" kern="0" spc="60" dirty="0">
                <a:solidFill>
                  <a:srgbClr val="3730A3"/>
                </a:solidFill>
                <a:latin typeface="Georgia" pitchFamily="34" charset="0"/>
                <a:ea typeface="Georgia" pitchFamily="34" charset="-122"/>
                <a:cs typeface="Georgia" pitchFamily="34" charset="-120"/>
              </a:rPr>
              <a:t>Hadamard basis</a:t>
            </a:r>
            <a:endParaRPr lang="en-US" sz="1050" dirty="0"/>
          </a:p>
        </p:txBody>
      </p:sp>
      <p:sp>
        <p:nvSpPr>
          <p:cNvPr id="11" name="Text 9"/>
          <p:cNvSpPr/>
          <p:nvPr/>
        </p:nvSpPr>
        <p:spPr>
          <a:xfrm>
            <a:off x="5074920" y="1764792"/>
            <a:ext cx="1371600" cy="86868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|Φ⁺⟩  =</a:t>
            </a:r>
            <a:endParaRPr lang="en-US" sz="1900" dirty="0"/>
          </a:p>
        </p:txBody>
      </p:sp>
      <p:sp>
        <p:nvSpPr>
          <p:cNvPr id="12" name="Text 10"/>
          <p:cNvSpPr/>
          <p:nvPr/>
        </p:nvSpPr>
        <p:spPr>
          <a:xfrm>
            <a:off x="6446520" y="1947672"/>
            <a:ext cx="1783080" cy="310896"/>
          </a:xfrm>
          <a:prstGeom prst="rect">
            <a:avLst/>
          </a:prstGeom>
          <a:noFill/>
          <a:ln/>
        </p:spPr>
        <p:txBody>
          <a:bodyPr wrap="square" lIns="0" tIns="0" rIns="0" bIns="0" rtlCol="0" anchor="b"/>
          <a:lstStyle/>
          <a:p>
            <a:pPr marL="0" indent="0" algn="ctr">
              <a:buNone/>
            </a:pPr>
            <a:r>
              <a:rPr lang="en-US" sz="1500" dirty="0">
                <a:solidFill>
                  <a:srgbClr val="1A1A2E"/>
                </a:solidFill>
                <a:latin typeface="Georgia" pitchFamily="34" charset="0"/>
                <a:ea typeface="Georgia" pitchFamily="34" charset="-122"/>
                <a:cs typeface="Georgia" pitchFamily="34" charset="-120"/>
              </a:rPr>
              <a:t>|++⟩ + |−−⟩</a:t>
            </a:r>
            <a:endParaRPr lang="en-US" sz="1500" dirty="0"/>
          </a:p>
        </p:txBody>
      </p:sp>
      <p:sp>
        <p:nvSpPr>
          <p:cNvPr id="13" name="Fraction bar">
            <a:extLst>
              <a:ext uri="{C183D7F6-B498-43B3-948B-1728B52AA6E4}">
                <adec:decorative xmlns:adec="http://schemas.microsoft.com/office/drawing/2017/decorative" val="1"/>
              </a:ext>
            </a:extLst>
          </p:cNvPr>
          <p:cNvSpPr/>
          <p:nvPr/>
        </p:nvSpPr>
        <p:spPr>
          <a:xfrm>
            <a:off x="6537960" y="2276856"/>
            <a:ext cx="1600200" cy="0"/>
          </a:xfrm>
          <a:prstGeom prst="line">
            <a:avLst/>
          </a:prstGeom>
          <a:noFill/>
          <a:ln w="15875">
            <a:solidFill>
              <a:srgbClr val="1A1A2E"/>
            </a:solidFill>
            <a:prstDash val="solid"/>
          </a:ln>
        </p:spPr>
        <p:txBody>
          <a:bodyPr/>
          <a:lstStyle/>
          <a:p>
            <a:endParaRPr lang="en-US"/>
          </a:p>
        </p:txBody>
      </p:sp>
      <p:sp>
        <p:nvSpPr>
          <p:cNvPr id="14" name="Text 12"/>
          <p:cNvSpPr/>
          <p:nvPr/>
        </p:nvSpPr>
        <p:spPr>
          <a:xfrm>
            <a:off x="6446520" y="2295144"/>
            <a:ext cx="1783080" cy="310896"/>
          </a:xfrm>
          <a:prstGeom prst="rect">
            <a:avLst/>
          </a:prstGeom>
          <a:noFill/>
          <a:ln/>
        </p:spPr>
        <p:txBody>
          <a:bodyPr wrap="square" lIns="0" tIns="0" rIns="0" bIns="0" rtlCol="0" anchor="t"/>
          <a:lstStyle/>
          <a:p>
            <a:pPr marL="0" indent="0" algn="ctr">
              <a:buNone/>
            </a:pPr>
            <a:r>
              <a:rPr lang="en-US" sz="1500" dirty="0">
                <a:solidFill>
                  <a:srgbClr val="1A1A2E"/>
                </a:solidFill>
                <a:latin typeface="Georgia" pitchFamily="34" charset="0"/>
                <a:ea typeface="Georgia" pitchFamily="34" charset="-122"/>
                <a:cs typeface="Georgia" pitchFamily="34" charset="-120"/>
              </a:rPr>
              <a:t>√2</a:t>
            </a:r>
            <a:endParaRPr lang="en-US" sz="1500" dirty="0"/>
          </a:p>
        </p:txBody>
      </p:sp>
      <p:sp>
        <p:nvSpPr>
          <p:cNvPr id="15" name="Card frame">
            <a:extLst>
              <a:ext uri="{C183D7F6-B498-43B3-948B-1728B52AA6E4}">
                <adec:decorative xmlns:adec="http://schemas.microsoft.com/office/drawing/2017/decorative" val="1"/>
              </a:ext>
            </a:extLst>
          </p:cNvPr>
          <p:cNvSpPr/>
          <p:nvPr/>
        </p:nvSpPr>
        <p:spPr>
          <a:xfrm>
            <a:off x="777240" y="3063240"/>
            <a:ext cx="7589520" cy="512064"/>
          </a:xfrm>
          <a:prstGeom prst="roundRect">
            <a:avLst>
              <a:gd name="adj" fmla="val 10714"/>
            </a:avLst>
          </a:prstGeom>
          <a:solidFill>
            <a:srgbClr val="FFFFFF"/>
          </a:solidFill>
          <a:ln w="12700">
            <a:solidFill>
              <a:srgbClr val="D4D7DD"/>
            </a:solidFill>
            <a:prstDash val="solid"/>
          </a:ln>
        </p:spPr>
        <p:txBody>
          <a:bodyPr/>
          <a:lstStyle/>
          <a:p>
            <a:endParaRPr lang="en-US"/>
          </a:p>
        </p:txBody>
      </p:sp>
      <p:sp>
        <p:nvSpPr>
          <p:cNvPr id="16" name="Text 14"/>
          <p:cNvSpPr/>
          <p:nvPr/>
        </p:nvSpPr>
        <p:spPr>
          <a:xfrm>
            <a:off x="1005840" y="3063240"/>
            <a:ext cx="4023360" cy="512064"/>
          </a:xfrm>
          <a:prstGeom prst="rect">
            <a:avLst/>
          </a:prstGeom>
          <a:noFill/>
          <a:ln/>
        </p:spPr>
        <p:txBody>
          <a:bodyPr wrap="square" lIns="0" tIns="0" rIns="0" bIns="0" rtlCol="0" anchor="ctr"/>
          <a:lstStyle/>
          <a:p>
            <a:pPr marL="0" indent="0">
              <a:buNone/>
            </a:pPr>
            <a:r>
              <a:rPr lang="en-US" sz="1300" dirty="0">
                <a:solidFill>
                  <a:srgbClr val="1A1A2E"/>
                </a:solidFill>
                <a:latin typeface="Georgia" pitchFamily="34" charset="0"/>
                <a:ea typeface="Georgia" pitchFamily="34" charset="-122"/>
                <a:cs typeface="Georgia" pitchFamily="34" charset="-120"/>
              </a:rPr>
              <a:t>Superposition appearance</a:t>
            </a:r>
            <a:endParaRPr lang="en-US" sz="1300" dirty="0"/>
          </a:p>
        </p:txBody>
      </p:sp>
      <p:sp>
        <p:nvSpPr>
          <p:cNvPr id="17" name="Text 15"/>
          <p:cNvSpPr/>
          <p:nvPr/>
        </p:nvSpPr>
        <p:spPr>
          <a:xfrm>
            <a:off x="5029200" y="3063240"/>
            <a:ext cx="3108960" cy="512064"/>
          </a:xfrm>
          <a:prstGeom prst="rect">
            <a:avLst/>
          </a:prstGeom>
          <a:noFill/>
          <a:ln/>
        </p:spPr>
        <p:txBody>
          <a:bodyPr wrap="square" lIns="0" tIns="0" rIns="0" bIns="0" rtlCol="0" anchor="ctr"/>
          <a:lstStyle/>
          <a:p>
            <a:pPr marL="0" indent="0" algn="r">
              <a:buNone/>
            </a:pPr>
            <a:r>
              <a:rPr lang="en-US" sz="1300" b="1" dirty="0">
                <a:solidFill>
                  <a:srgbClr val="6B7280"/>
                </a:solidFill>
                <a:latin typeface="Georgia" pitchFamily="34" charset="0"/>
                <a:ea typeface="Georgia" pitchFamily="34" charset="-122"/>
                <a:cs typeface="Georgia" pitchFamily="34" charset="-120"/>
              </a:rPr>
              <a:t>basis dependent</a:t>
            </a:r>
            <a:endParaRPr lang="en-US" sz="1300" dirty="0"/>
          </a:p>
        </p:txBody>
      </p:sp>
      <p:sp>
        <p:nvSpPr>
          <p:cNvPr id="18" name="Card frame">
            <a:extLst>
              <a:ext uri="{C183D7F6-B498-43B3-948B-1728B52AA6E4}">
                <adec:decorative xmlns:adec="http://schemas.microsoft.com/office/drawing/2017/decorative" val="1"/>
              </a:ext>
            </a:extLst>
          </p:cNvPr>
          <p:cNvSpPr/>
          <p:nvPr/>
        </p:nvSpPr>
        <p:spPr>
          <a:xfrm>
            <a:off x="777240" y="3666744"/>
            <a:ext cx="7589520" cy="512064"/>
          </a:xfrm>
          <a:prstGeom prst="roundRect">
            <a:avLst>
              <a:gd name="adj" fmla="val 10714"/>
            </a:avLst>
          </a:prstGeom>
          <a:solidFill>
            <a:srgbClr val="F4F5FB"/>
          </a:solidFill>
          <a:ln w="15240">
            <a:solidFill>
              <a:srgbClr val="3730A3"/>
            </a:solidFill>
            <a:prstDash val="solid"/>
          </a:ln>
        </p:spPr>
        <p:txBody>
          <a:bodyPr/>
          <a:lstStyle/>
          <a:p>
            <a:endParaRPr lang="en-US"/>
          </a:p>
        </p:txBody>
      </p:sp>
      <p:sp>
        <p:nvSpPr>
          <p:cNvPr id="19" name="Text 17"/>
          <p:cNvSpPr/>
          <p:nvPr/>
        </p:nvSpPr>
        <p:spPr>
          <a:xfrm>
            <a:off x="1005840" y="3666744"/>
            <a:ext cx="4023360" cy="512064"/>
          </a:xfrm>
          <a:prstGeom prst="rect">
            <a:avLst/>
          </a:prstGeom>
          <a:noFill/>
          <a:ln/>
        </p:spPr>
        <p:txBody>
          <a:bodyPr wrap="square" lIns="0" tIns="0" rIns="0" bIns="0" rtlCol="0" anchor="ctr"/>
          <a:lstStyle/>
          <a:p>
            <a:pPr marL="0" indent="0">
              <a:buNone/>
            </a:pPr>
            <a:r>
              <a:rPr lang="en-US" sz="1300" dirty="0">
                <a:solidFill>
                  <a:srgbClr val="1A1A2E"/>
                </a:solidFill>
                <a:latin typeface="Georgia" pitchFamily="34" charset="0"/>
                <a:ea typeface="Georgia" pitchFamily="34" charset="-122"/>
                <a:cs typeface="Georgia" pitchFamily="34" charset="-120"/>
              </a:rPr>
              <a:t>Entanglement</a:t>
            </a:r>
            <a:endParaRPr lang="en-US" sz="1300" dirty="0"/>
          </a:p>
        </p:txBody>
      </p:sp>
      <p:sp>
        <p:nvSpPr>
          <p:cNvPr id="20" name="Text 18"/>
          <p:cNvSpPr/>
          <p:nvPr/>
        </p:nvSpPr>
        <p:spPr>
          <a:xfrm>
            <a:off x="5029200" y="3666744"/>
            <a:ext cx="3108960" cy="512064"/>
          </a:xfrm>
          <a:prstGeom prst="rect">
            <a:avLst/>
          </a:prstGeom>
          <a:noFill/>
          <a:ln/>
        </p:spPr>
        <p:txBody>
          <a:bodyPr wrap="square" lIns="0" tIns="0" rIns="0" bIns="0" rtlCol="0" anchor="ctr"/>
          <a:lstStyle/>
          <a:p>
            <a:pPr marL="0" indent="0" algn="r">
              <a:buNone/>
            </a:pPr>
            <a:r>
              <a:rPr lang="en-US" sz="1300" b="1" dirty="0">
                <a:solidFill>
                  <a:srgbClr val="3730A3"/>
                </a:solidFill>
                <a:latin typeface="Georgia" pitchFamily="34" charset="0"/>
                <a:ea typeface="Georgia" pitchFamily="34" charset="-122"/>
                <a:cs typeface="Georgia" pitchFamily="34" charset="-120"/>
              </a:rPr>
              <a:t>not basis dependent</a:t>
            </a:r>
            <a:endParaRPr lang="en-US" sz="1300" dirty="0"/>
          </a:p>
        </p:txBody>
      </p:sp>
      <p:sp>
        <p:nvSpPr>
          <p:cNvPr id="21" name="Card frame">
            <a:extLst>
              <a:ext uri="{C183D7F6-B498-43B3-948B-1728B52AA6E4}">
                <adec:decorative xmlns:adec="http://schemas.microsoft.com/office/drawing/2017/decorative" val="1"/>
              </a:ext>
            </a:extLst>
          </p:cNvPr>
          <p:cNvSpPr/>
          <p:nvPr/>
        </p:nvSpPr>
        <p:spPr>
          <a:xfrm>
            <a:off x="777240" y="4270248"/>
            <a:ext cx="4480560" cy="512064"/>
          </a:xfrm>
          <a:prstGeom prst="roundRect">
            <a:avLst>
              <a:gd name="adj" fmla="val 10714"/>
            </a:avLst>
          </a:prstGeom>
          <a:solidFill>
            <a:srgbClr val="FFFFFF"/>
          </a:solidFill>
          <a:ln w="12700">
            <a:solidFill>
              <a:srgbClr val="D4D7DD"/>
            </a:solidFill>
            <a:prstDash val="solid"/>
          </a:ln>
        </p:spPr>
        <p:txBody>
          <a:bodyPr/>
          <a:lstStyle/>
          <a:p>
            <a:endParaRPr lang="en-US"/>
          </a:p>
        </p:txBody>
      </p:sp>
      <p:sp>
        <p:nvSpPr>
          <p:cNvPr id="22" name="Text 20"/>
          <p:cNvSpPr/>
          <p:nvPr/>
        </p:nvSpPr>
        <p:spPr>
          <a:xfrm>
            <a:off x="1005840" y="4270248"/>
            <a:ext cx="4023360" cy="512064"/>
          </a:xfrm>
          <a:prstGeom prst="rect">
            <a:avLst/>
          </a:prstGeom>
          <a:noFill/>
          <a:ln/>
        </p:spPr>
        <p:txBody>
          <a:bodyPr wrap="square" lIns="0" tIns="0" rIns="0" bIns="0" rtlCol="0" anchor="ctr"/>
          <a:lstStyle/>
          <a:p>
            <a:pPr marL="0" indent="0">
              <a:buNone/>
            </a:pPr>
            <a:r>
              <a:rPr lang="en-US" sz="1300" dirty="0">
                <a:solidFill>
                  <a:srgbClr val="1A1A2E"/>
                </a:solidFill>
                <a:latin typeface="Georgia" pitchFamily="34" charset="0"/>
                <a:ea typeface="Georgia" pitchFamily="34" charset="-122"/>
                <a:cs typeface="Georgia" pitchFamily="34" charset="-120"/>
              </a:rPr>
              <a:t>Subsystem decomposition</a:t>
            </a:r>
            <a:endParaRPr lang="en-US" sz="1300" dirty="0"/>
          </a:p>
        </p:txBody>
      </p:sp>
      <p:sp>
        <p:nvSpPr>
          <p:cNvPr id="23" name="Text 21"/>
          <p:cNvSpPr/>
          <p:nvPr/>
        </p:nvSpPr>
        <p:spPr>
          <a:xfrm>
            <a:off x="640080" y="4270248"/>
            <a:ext cx="3108960" cy="512064"/>
          </a:xfrm>
          <a:prstGeom prst="rect">
            <a:avLst/>
          </a:prstGeom>
          <a:noFill/>
          <a:ln/>
        </p:spPr>
        <p:txBody>
          <a:bodyPr wrap="square" lIns="0" tIns="0" rIns="0" bIns="0" rtlCol="0" anchor="ctr"/>
          <a:lstStyle/>
          <a:p>
            <a:pPr marL="0" indent="0" algn="r">
              <a:buNone/>
            </a:pPr>
            <a:r>
              <a:rPr lang="en-US" sz="1300" b="1" dirty="0">
                <a:solidFill>
                  <a:srgbClr val="6B7280"/>
                </a:solidFill>
                <a:latin typeface="Georgia" pitchFamily="34" charset="0"/>
                <a:ea typeface="Georgia" pitchFamily="34" charset="-122"/>
                <a:cs typeface="Georgia" pitchFamily="34" charset="-120"/>
              </a:rPr>
              <a:t>matters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EPR pair</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3749040" y="1234440"/>
            <a:ext cx="1645920" cy="566928"/>
          </a:xfrm>
          <a:prstGeom prst="roundRect">
            <a:avLst>
              <a:gd name="adj" fmla="val 9677"/>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3749040" y="1234440"/>
            <a:ext cx="1645920" cy="566928"/>
          </a:xfrm>
          <a:prstGeom prst="rect">
            <a:avLst/>
          </a:prstGeom>
          <a:noFill/>
          <a:ln/>
        </p:spPr>
        <p:txBody>
          <a:bodyPr wrap="square" lIns="0" tIns="0" rIns="0" bIns="0" rtlCol="0" anchor="ctr"/>
          <a:lstStyle/>
          <a:p>
            <a:pPr marL="0" indent="0" algn="ctr">
              <a:buNone/>
            </a:pPr>
            <a:r>
              <a:rPr lang="en-US" sz="1300" b="1" dirty="0">
                <a:solidFill>
                  <a:srgbClr val="3730A3"/>
                </a:solidFill>
                <a:latin typeface="Georgia" pitchFamily="34" charset="0"/>
                <a:ea typeface="Georgia" pitchFamily="34" charset="-122"/>
                <a:cs typeface="Georgia" pitchFamily="34" charset="-120"/>
              </a:rPr>
              <a:t>source</a:t>
            </a:r>
            <a:endParaRPr lang="en-US" sz="1300" dirty="0"/>
          </a:p>
        </p:txBody>
      </p:sp>
      <p:sp>
        <p:nvSpPr>
          <p:cNvPr id="5" name="Connector">
            <a:extLst>
              <a:ext uri="{C183D7F6-B498-43B3-948B-1728B52AA6E4}">
                <adec:decorative xmlns:adec="http://schemas.microsoft.com/office/drawing/2017/decorative" val="1"/>
              </a:ext>
            </a:extLst>
          </p:cNvPr>
          <p:cNvSpPr/>
          <p:nvPr/>
        </p:nvSpPr>
        <p:spPr>
          <a:xfrm flipH="1">
            <a:off x="2194560" y="1801368"/>
            <a:ext cx="2377440" cy="804672"/>
          </a:xfrm>
          <a:prstGeom prst="line">
            <a:avLst/>
          </a:prstGeom>
          <a:noFill/>
          <a:ln w="15875">
            <a:solidFill>
              <a:srgbClr val="3730A3"/>
            </a:solidFill>
            <a:prstDash val="solid"/>
          </a:ln>
        </p:spPr>
        <p:txBody>
          <a:bodyPr/>
          <a:lstStyle/>
          <a:p>
            <a:endParaRPr lang="en-US"/>
          </a:p>
        </p:txBody>
      </p:sp>
      <p:sp>
        <p:nvSpPr>
          <p:cNvPr id="6" name="Card frame">
            <a:extLst>
              <a:ext uri="{C183D7F6-B498-43B3-948B-1728B52AA6E4}">
                <adec:decorative xmlns:adec="http://schemas.microsoft.com/office/drawing/2017/decorative" val="1"/>
              </a:ext>
            </a:extLst>
          </p:cNvPr>
          <p:cNvSpPr/>
          <p:nvPr/>
        </p:nvSpPr>
        <p:spPr>
          <a:xfrm>
            <a:off x="1371600" y="2606040"/>
            <a:ext cx="1645920" cy="566928"/>
          </a:xfrm>
          <a:prstGeom prst="roundRect">
            <a:avLst>
              <a:gd name="adj" fmla="val 9677"/>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1371600" y="2606040"/>
            <a:ext cx="1645920" cy="566928"/>
          </a:xfrm>
          <a:prstGeom prst="rect">
            <a:avLst/>
          </a:prstGeom>
          <a:noFill/>
          <a:ln/>
        </p:spPr>
        <p:txBody>
          <a:bodyPr wrap="square" lIns="0" tIns="0" rIns="0" bIns="0" rtlCol="0" anchor="ctr"/>
          <a:lstStyle/>
          <a:p>
            <a:pPr marL="0" indent="0" algn="ctr">
              <a:buNone/>
            </a:pPr>
            <a:r>
              <a:rPr lang="en-US" sz="1300" b="1" dirty="0">
                <a:solidFill>
                  <a:srgbClr val="1A1A2E"/>
                </a:solidFill>
                <a:latin typeface="Georgia" pitchFamily="34" charset="0"/>
                <a:ea typeface="Georgia" pitchFamily="34" charset="-122"/>
                <a:cs typeface="Georgia" pitchFamily="34" charset="-120"/>
              </a:rPr>
              <a:t>Alice</a:t>
            </a:r>
            <a:endParaRPr lang="en-US" sz="1300" dirty="0"/>
          </a:p>
        </p:txBody>
      </p:sp>
      <p:sp>
        <p:nvSpPr>
          <p:cNvPr id="8" name="Card frame">
            <a:extLst>
              <a:ext uri="{C183D7F6-B498-43B3-948B-1728B52AA6E4}">
                <adec:decorative xmlns:adec="http://schemas.microsoft.com/office/drawing/2017/decorative" val="1"/>
              </a:ext>
            </a:extLst>
          </p:cNvPr>
          <p:cNvSpPr/>
          <p:nvPr/>
        </p:nvSpPr>
        <p:spPr>
          <a:xfrm>
            <a:off x="1371600" y="3401568"/>
            <a:ext cx="164592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9" name="Text 7"/>
          <p:cNvSpPr/>
          <p:nvPr/>
        </p:nvSpPr>
        <p:spPr>
          <a:xfrm>
            <a:off x="1371600" y="3401568"/>
            <a:ext cx="1645920" cy="548640"/>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qA</a:t>
            </a:r>
            <a:endParaRPr lang="en-US" sz="1400" dirty="0"/>
          </a:p>
        </p:txBody>
      </p:sp>
      <p:sp>
        <p:nvSpPr>
          <p:cNvPr id="10" name="Connector">
            <a:extLst>
              <a:ext uri="{C183D7F6-B498-43B3-948B-1728B52AA6E4}">
                <adec:decorative xmlns:adec="http://schemas.microsoft.com/office/drawing/2017/decorative" val="1"/>
              </a:ext>
            </a:extLst>
          </p:cNvPr>
          <p:cNvSpPr/>
          <p:nvPr/>
        </p:nvSpPr>
        <p:spPr>
          <a:xfrm>
            <a:off x="4572000" y="1801368"/>
            <a:ext cx="2377440" cy="804672"/>
          </a:xfrm>
          <a:prstGeom prst="line">
            <a:avLst/>
          </a:prstGeom>
          <a:noFill/>
          <a:ln w="15875">
            <a:solidFill>
              <a:srgbClr val="3730A3"/>
            </a:solidFill>
            <a:prstDash val="solid"/>
          </a:ln>
        </p:spPr>
        <p:txBody>
          <a:bodyPr/>
          <a:lstStyle/>
          <a:p>
            <a:endParaRPr lang="en-US"/>
          </a:p>
        </p:txBody>
      </p:sp>
      <p:sp>
        <p:nvSpPr>
          <p:cNvPr id="11" name="Card frame">
            <a:extLst>
              <a:ext uri="{C183D7F6-B498-43B3-948B-1728B52AA6E4}">
                <adec:decorative xmlns:adec="http://schemas.microsoft.com/office/drawing/2017/decorative" val="1"/>
              </a:ext>
            </a:extLst>
          </p:cNvPr>
          <p:cNvSpPr/>
          <p:nvPr/>
        </p:nvSpPr>
        <p:spPr>
          <a:xfrm>
            <a:off x="6126480" y="2606040"/>
            <a:ext cx="1645920" cy="566928"/>
          </a:xfrm>
          <a:prstGeom prst="roundRect">
            <a:avLst>
              <a:gd name="adj" fmla="val 9677"/>
            </a:avLst>
          </a:prstGeom>
          <a:solidFill>
            <a:srgbClr val="FFFFFF"/>
          </a:solidFill>
          <a:ln w="12700">
            <a:solidFill>
              <a:srgbClr val="D4D7DD"/>
            </a:solidFill>
            <a:prstDash val="solid"/>
          </a:ln>
        </p:spPr>
        <p:txBody>
          <a:bodyPr/>
          <a:lstStyle/>
          <a:p>
            <a:endParaRPr lang="en-US"/>
          </a:p>
        </p:txBody>
      </p:sp>
      <p:sp>
        <p:nvSpPr>
          <p:cNvPr id="12" name="Text 10"/>
          <p:cNvSpPr/>
          <p:nvPr/>
        </p:nvSpPr>
        <p:spPr>
          <a:xfrm>
            <a:off x="6126480" y="2606040"/>
            <a:ext cx="1645920" cy="566928"/>
          </a:xfrm>
          <a:prstGeom prst="rect">
            <a:avLst/>
          </a:prstGeom>
          <a:noFill/>
          <a:ln/>
        </p:spPr>
        <p:txBody>
          <a:bodyPr wrap="square" lIns="0" tIns="0" rIns="0" bIns="0" rtlCol="0" anchor="ctr"/>
          <a:lstStyle/>
          <a:p>
            <a:pPr marL="0" indent="0" algn="ctr">
              <a:buNone/>
            </a:pPr>
            <a:r>
              <a:rPr lang="en-US" sz="1300" b="1" dirty="0">
                <a:solidFill>
                  <a:srgbClr val="1A1A2E"/>
                </a:solidFill>
                <a:latin typeface="Georgia" pitchFamily="34" charset="0"/>
                <a:ea typeface="Georgia" pitchFamily="34" charset="-122"/>
                <a:cs typeface="Georgia" pitchFamily="34" charset="-120"/>
              </a:rPr>
              <a:t>Bob</a:t>
            </a:r>
            <a:endParaRPr lang="en-US" sz="1300" dirty="0"/>
          </a:p>
        </p:txBody>
      </p:sp>
      <p:sp>
        <p:nvSpPr>
          <p:cNvPr id="13" name="Card frame">
            <a:extLst>
              <a:ext uri="{C183D7F6-B498-43B3-948B-1728B52AA6E4}">
                <adec:decorative xmlns:adec="http://schemas.microsoft.com/office/drawing/2017/decorative" val="1"/>
              </a:ext>
            </a:extLst>
          </p:cNvPr>
          <p:cNvSpPr/>
          <p:nvPr/>
        </p:nvSpPr>
        <p:spPr>
          <a:xfrm>
            <a:off x="6126480" y="3401568"/>
            <a:ext cx="1645920" cy="548640"/>
          </a:xfrm>
          <a:prstGeom prst="roundRect">
            <a:avLst>
              <a:gd name="adj" fmla="val 10000"/>
            </a:avLst>
          </a:prstGeom>
          <a:solidFill>
            <a:srgbClr val="FFFFFF"/>
          </a:solidFill>
          <a:ln w="12700">
            <a:solidFill>
              <a:srgbClr val="D4D7DD"/>
            </a:solidFill>
            <a:prstDash val="solid"/>
          </a:ln>
        </p:spPr>
        <p:txBody>
          <a:bodyPr/>
          <a:lstStyle/>
          <a:p>
            <a:endParaRPr lang="en-US"/>
          </a:p>
        </p:txBody>
      </p:sp>
      <p:sp>
        <p:nvSpPr>
          <p:cNvPr id="14" name="Text 12"/>
          <p:cNvSpPr/>
          <p:nvPr/>
        </p:nvSpPr>
        <p:spPr>
          <a:xfrm>
            <a:off x="6126480" y="3401568"/>
            <a:ext cx="1645920" cy="548640"/>
          </a:xfrm>
          <a:prstGeom prst="rect">
            <a:avLst/>
          </a:prstGeom>
          <a:noFill/>
          <a:ln/>
        </p:spPr>
        <p:txBody>
          <a:bodyPr wrap="square" lIns="0" tIns="0" rIns="0" bIns="0" rtlCol="0" anchor="ctr"/>
          <a:lstStyle/>
          <a:p>
            <a:pPr marL="0" indent="0" algn="ctr">
              <a:buNone/>
            </a:pPr>
            <a:r>
              <a:rPr lang="en-US" sz="1400" dirty="0">
                <a:solidFill>
                  <a:srgbClr val="1A1A2E"/>
                </a:solidFill>
                <a:latin typeface="Georgia" pitchFamily="34" charset="0"/>
                <a:ea typeface="Georgia" pitchFamily="34" charset="-122"/>
                <a:cs typeface="Georgia" pitchFamily="34" charset="-120"/>
              </a:rPr>
              <a:t>qB</a:t>
            </a:r>
            <a:endParaRPr lang="en-US" sz="1400" dirty="0"/>
          </a:p>
        </p:txBody>
      </p:sp>
      <p:sp>
        <p:nvSpPr>
          <p:cNvPr id="15" name="Card frame">
            <a:extLst>
              <a:ext uri="{C183D7F6-B498-43B3-948B-1728B52AA6E4}">
                <adec:decorative xmlns:adec="http://schemas.microsoft.com/office/drawing/2017/decorative" val="1"/>
              </a:ext>
            </a:extLst>
          </p:cNvPr>
          <p:cNvSpPr/>
          <p:nvPr/>
        </p:nvSpPr>
        <p:spPr>
          <a:xfrm>
            <a:off x="3520440" y="2606040"/>
            <a:ext cx="210312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16" name="Text 14"/>
          <p:cNvSpPr/>
          <p:nvPr/>
        </p:nvSpPr>
        <p:spPr>
          <a:xfrm>
            <a:off x="3520440" y="2606040"/>
            <a:ext cx="2103120" cy="777240"/>
          </a:xfrm>
          <a:prstGeom prst="rect">
            <a:avLst/>
          </a:prstGeom>
          <a:noFill/>
          <a:ln/>
        </p:spPr>
        <p:txBody>
          <a:bodyPr wrap="square" lIns="0" tIns="0" rIns="0" bIns="0" rtlCol="0" anchor="ctr"/>
          <a:lstStyle/>
          <a:p>
            <a:pPr marL="0" indent="0" algn="ctr">
              <a:buNone/>
            </a:pPr>
            <a:r>
              <a:rPr lang="en-US" sz="2600" b="1" dirty="0">
                <a:solidFill>
                  <a:srgbClr val="3730A3"/>
                </a:solidFill>
                <a:latin typeface="Georgia" pitchFamily="34" charset="0"/>
                <a:ea typeface="Georgia" pitchFamily="34" charset="-122"/>
                <a:cs typeface="Georgia" pitchFamily="34" charset="-120"/>
              </a:rPr>
              <a:t>|Φ⁺⟩</a:t>
            </a:r>
            <a:endParaRPr lang="en-US" sz="2600" dirty="0"/>
          </a:p>
        </p:txBody>
      </p:sp>
      <p:sp>
        <p:nvSpPr>
          <p:cNvPr id="17" name="Text 15"/>
          <p:cNvSpPr/>
          <p:nvPr/>
        </p:nvSpPr>
        <p:spPr>
          <a:xfrm>
            <a:off x="3520440" y="3401568"/>
            <a:ext cx="2103120" cy="274320"/>
          </a:xfrm>
          <a:prstGeom prst="rect">
            <a:avLst/>
          </a:prstGeom>
          <a:noFill/>
          <a:ln/>
        </p:spPr>
        <p:txBody>
          <a:bodyPr wrap="square" lIns="0" tIns="0" rIns="0" bIns="0" rtlCol="0" anchor="ctr"/>
          <a:lstStyle/>
          <a:p>
            <a:pPr marL="0" indent="0" algn="ctr">
              <a:buNone/>
            </a:pPr>
            <a:r>
              <a:rPr lang="en-US" sz="1050" kern="0" spc="60" dirty="0">
                <a:solidFill>
                  <a:srgbClr val="6B7280"/>
                </a:solidFill>
                <a:latin typeface="Georgia" pitchFamily="34" charset="0"/>
                <a:ea typeface="Georgia" pitchFamily="34" charset="-122"/>
                <a:cs typeface="Georgia" pitchFamily="34" charset="-120"/>
              </a:rPr>
              <a:t>shared state</a:t>
            </a:r>
            <a:endParaRPr lang="en-US" sz="1050" dirty="0"/>
          </a:p>
        </p:txBody>
      </p:sp>
      <p:sp>
        <p:nvSpPr>
          <p:cNvPr id="18" name="Text 16"/>
          <p:cNvSpPr/>
          <p:nvPr/>
        </p:nvSpPr>
        <p:spPr>
          <a:xfrm>
            <a:off x="640080" y="411480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One shared entangled pair, two distant laboratories — perfect correlation in the same basis.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Section summary: entanglement</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480060" y="1463040"/>
            <a:ext cx="2514600" cy="2148840"/>
          </a:xfrm>
          <a:prstGeom prst="roundRect">
            <a:avLst>
              <a:gd name="adj" fmla="val 2553"/>
            </a:avLst>
          </a:prstGeom>
          <a:solidFill>
            <a:srgbClr val="FFFFFF"/>
          </a:solidFill>
          <a:ln w="12700">
            <a:solidFill>
              <a:srgbClr val="D4D7DD"/>
            </a:solidFill>
            <a:prstDash val="solid"/>
          </a:ln>
        </p:spPr>
        <p:txBody>
          <a:bodyPr/>
          <a:lstStyle/>
          <a:p>
            <a:endParaRPr lang="en-US"/>
          </a:p>
        </p:txBody>
      </p:sp>
      <p:sp>
        <p:nvSpPr>
          <p:cNvPr id="4" name="Takeaway number badge">
            <a:extLst>
              <a:ext uri="{C183D7F6-B498-43B3-948B-1728B52AA6E4}">
                <adec:decorative xmlns:adec="http://schemas.microsoft.com/office/drawing/2017/decorative" val="1"/>
              </a:ext>
            </a:extLst>
          </p:cNvPr>
          <p:cNvSpPr/>
          <p:nvPr/>
        </p:nvSpPr>
        <p:spPr>
          <a:xfrm>
            <a:off x="708660" y="1691640"/>
            <a:ext cx="411480" cy="411480"/>
          </a:xfrm>
          <a:prstGeom prst="ellipse">
            <a:avLst/>
          </a:prstGeom>
          <a:solidFill>
            <a:srgbClr val="F4F5FB"/>
          </a:solidFill>
          <a:ln w="12700">
            <a:solidFill>
              <a:srgbClr val="3730A3"/>
            </a:solidFill>
            <a:prstDash val="solid"/>
          </a:ln>
        </p:spPr>
        <p:txBody>
          <a:bodyPr/>
          <a:lstStyle/>
          <a:p>
            <a:endParaRPr lang="en-US"/>
          </a:p>
        </p:txBody>
      </p:sp>
      <p:sp>
        <p:nvSpPr>
          <p:cNvPr id="5" name="Text 3"/>
          <p:cNvSpPr/>
          <p:nvPr/>
        </p:nvSpPr>
        <p:spPr>
          <a:xfrm>
            <a:off x="708660" y="1691640"/>
            <a:ext cx="411480" cy="411480"/>
          </a:xfrm>
          <a:prstGeom prst="rect">
            <a:avLst/>
          </a:prstGeom>
          <a:noFill/>
          <a:ln/>
        </p:spPr>
        <p:txBody>
          <a:bodyPr wrap="square" lIns="0" tIns="0" rIns="0" bIns="0" rtlCol="0" anchor="ctr"/>
          <a:lstStyle/>
          <a:p>
            <a:pPr marL="0" indent="0" algn="ctr">
              <a:buNone/>
            </a:pPr>
            <a:r>
              <a:rPr lang="en-US" sz="1200" b="1" dirty="0">
                <a:solidFill>
                  <a:srgbClr val="3730A3"/>
                </a:solidFill>
                <a:latin typeface="Georgia" pitchFamily="34" charset="0"/>
                <a:ea typeface="Georgia" pitchFamily="34" charset="-122"/>
                <a:cs typeface="Georgia" pitchFamily="34" charset="-120"/>
              </a:rPr>
              <a:t>1</a:t>
            </a:r>
            <a:endParaRPr lang="en-US" sz="1200" dirty="0"/>
          </a:p>
        </p:txBody>
      </p:sp>
      <p:sp>
        <p:nvSpPr>
          <p:cNvPr id="6" name="Text 4"/>
          <p:cNvSpPr/>
          <p:nvPr/>
        </p:nvSpPr>
        <p:spPr>
          <a:xfrm>
            <a:off x="708660" y="2240280"/>
            <a:ext cx="2057400" cy="365760"/>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Product state</a:t>
            </a:r>
            <a:endParaRPr lang="en-US" sz="1500" dirty="0"/>
          </a:p>
        </p:txBody>
      </p:sp>
      <p:sp>
        <p:nvSpPr>
          <p:cNvPr id="7" name="Text 5"/>
          <p:cNvSpPr/>
          <p:nvPr/>
        </p:nvSpPr>
        <p:spPr>
          <a:xfrm>
            <a:off x="708660" y="2651760"/>
            <a:ext cx="2057400" cy="822960"/>
          </a:xfrm>
          <a:prstGeom prst="rect">
            <a:avLst/>
          </a:prstGeom>
          <a:noFill/>
          <a:ln/>
        </p:spPr>
        <p:txBody>
          <a:bodyPr wrap="square" lIns="0" tIns="0" rIns="0" bIns="0" rtlCol="0" anchor="ctr"/>
          <a:lstStyle/>
          <a:p>
            <a:pPr marL="0" indent="0">
              <a:buNone/>
            </a:pPr>
            <a:r>
              <a:rPr lang="en-US" sz="1150" dirty="0">
                <a:solidFill>
                  <a:srgbClr val="6B7280"/>
                </a:solidFill>
                <a:latin typeface="Georgia" pitchFamily="34" charset="0"/>
                <a:ea typeface="Georgia" pitchFamily="34" charset="-122"/>
                <a:cs typeface="Georgia" pitchFamily="34" charset="-120"/>
              </a:rPr>
              <a:t>Factorable — each subsystem has its own state, |a⟩ ⊗ |b⟩.</a:t>
            </a:r>
            <a:endParaRPr lang="en-US" sz="1150" dirty="0"/>
          </a:p>
        </p:txBody>
      </p:sp>
      <p:sp>
        <p:nvSpPr>
          <p:cNvPr id="8" name="Card frame">
            <a:extLst>
              <a:ext uri="{C183D7F6-B498-43B3-948B-1728B52AA6E4}">
                <adec:decorative xmlns:adec="http://schemas.microsoft.com/office/drawing/2017/decorative" val="1"/>
              </a:ext>
            </a:extLst>
          </p:cNvPr>
          <p:cNvSpPr/>
          <p:nvPr/>
        </p:nvSpPr>
        <p:spPr>
          <a:xfrm>
            <a:off x="3314700" y="1463040"/>
            <a:ext cx="2514600" cy="2148840"/>
          </a:xfrm>
          <a:prstGeom prst="roundRect">
            <a:avLst>
              <a:gd name="adj" fmla="val 2553"/>
            </a:avLst>
          </a:prstGeom>
          <a:solidFill>
            <a:srgbClr val="FFFFFF"/>
          </a:solidFill>
          <a:ln w="12700">
            <a:solidFill>
              <a:srgbClr val="D4D7DD"/>
            </a:solidFill>
            <a:prstDash val="solid"/>
          </a:ln>
        </p:spPr>
        <p:txBody>
          <a:bodyPr/>
          <a:lstStyle/>
          <a:p>
            <a:endParaRPr lang="en-US"/>
          </a:p>
        </p:txBody>
      </p:sp>
      <p:sp>
        <p:nvSpPr>
          <p:cNvPr id="9" name="Takeaway number badge">
            <a:extLst>
              <a:ext uri="{C183D7F6-B498-43B3-948B-1728B52AA6E4}">
                <adec:decorative xmlns:adec="http://schemas.microsoft.com/office/drawing/2017/decorative" val="1"/>
              </a:ext>
            </a:extLst>
          </p:cNvPr>
          <p:cNvSpPr/>
          <p:nvPr/>
        </p:nvSpPr>
        <p:spPr>
          <a:xfrm>
            <a:off x="3543300" y="1691640"/>
            <a:ext cx="411480" cy="411480"/>
          </a:xfrm>
          <a:prstGeom prst="ellipse">
            <a:avLst/>
          </a:prstGeom>
          <a:solidFill>
            <a:srgbClr val="F4F5FB"/>
          </a:solidFill>
          <a:ln w="12700">
            <a:solidFill>
              <a:srgbClr val="3730A3"/>
            </a:solidFill>
            <a:prstDash val="solid"/>
          </a:ln>
        </p:spPr>
        <p:txBody>
          <a:bodyPr/>
          <a:lstStyle/>
          <a:p>
            <a:endParaRPr lang="en-US"/>
          </a:p>
        </p:txBody>
      </p:sp>
      <p:sp>
        <p:nvSpPr>
          <p:cNvPr id="10" name="Text 8"/>
          <p:cNvSpPr/>
          <p:nvPr/>
        </p:nvSpPr>
        <p:spPr>
          <a:xfrm>
            <a:off x="3543300" y="1691640"/>
            <a:ext cx="411480" cy="411480"/>
          </a:xfrm>
          <a:prstGeom prst="rect">
            <a:avLst/>
          </a:prstGeom>
          <a:noFill/>
          <a:ln/>
        </p:spPr>
        <p:txBody>
          <a:bodyPr wrap="square" lIns="0" tIns="0" rIns="0" bIns="0" rtlCol="0" anchor="ctr"/>
          <a:lstStyle/>
          <a:p>
            <a:pPr marL="0" indent="0" algn="ctr">
              <a:buNone/>
            </a:pPr>
            <a:r>
              <a:rPr lang="en-US" sz="1200" b="1" dirty="0">
                <a:solidFill>
                  <a:srgbClr val="3730A3"/>
                </a:solidFill>
                <a:latin typeface="Georgia" pitchFamily="34" charset="0"/>
                <a:ea typeface="Georgia" pitchFamily="34" charset="-122"/>
                <a:cs typeface="Georgia" pitchFamily="34" charset="-120"/>
              </a:rPr>
              <a:t>2</a:t>
            </a:r>
            <a:endParaRPr lang="en-US" sz="1200" dirty="0"/>
          </a:p>
        </p:txBody>
      </p:sp>
      <p:sp>
        <p:nvSpPr>
          <p:cNvPr id="11" name="Text 9"/>
          <p:cNvSpPr/>
          <p:nvPr/>
        </p:nvSpPr>
        <p:spPr>
          <a:xfrm>
            <a:off x="3543300" y="2240280"/>
            <a:ext cx="2057400" cy="365760"/>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Entangled state</a:t>
            </a:r>
            <a:endParaRPr lang="en-US" sz="1500" dirty="0"/>
          </a:p>
        </p:txBody>
      </p:sp>
      <p:sp>
        <p:nvSpPr>
          <p:cNvPr id="12" name="Text 10"/>
          <p:cNvSpPr/>
          <p:nvPr/>
        </p:nvSpPr>
        <p:spPr>
          <a:xfrm>
            <a:off x="3543300" y="2651760"/>
            <a:ext cx="2057400" cy="822960"/>
          </a:xfrm>
          <a:prstGeom prst="rect">
            <a:avLst/>
          </a:prstGeom>
          <a:noFill/>
          <a:ln/>
        </p:spPr>
        <p:txBody>
          <a:bodyPr wrap="square" lIns="0" tIns="0" rIns="0" bIns="0" rtlCol="0" anchor="ctr"/>
          <a:lstStyle/>
          <a:p>
            <a:pPr marL="0" indent="0">
              <a:buNone/>
            </a:pPr>
            <a:r>
              <a:rPr lang="en-US" sz="1150" dirty="0">
                <a:solidFill>
                  <a:srgbClr val="6B7280"/>
                </a:solidFill>
                <a:latin typeface="Georgia" pitchFamily="34" charset="0"/>
                <a:ea typeface="Georgia" pitchFamily="34" charset="-122"/>
                <a:cs typeface="Georgia" pitchFamily="34" charset="-120"/>
              </a:rPr>
              <a:t>Non-factorable — no product decomposition exists.</a:t>
            </a:r>
            <a:endParaRPr lang="en-US" sz="1150" dirty="0"/>
          </a:p>
        </p:txBody>
      </p:sp>
      <p:sp>
        <p:nvSpPr>
          <p:cNvPr id="13" name="Card frame">
            <a:extLst>
              <a:ext uri="{C183D7F6-B498-43B3-948B-1728B52AA6E4}">
                <adec:decorative xmlns:adec="http://schemas.microsoft.com/office/drawing/2017/decorative" val="1"/>
              </a:ext>
            </a:extLst>
          </p:cNvPr>
          <p:cNvSpPr/>
          <p:nvPr/>
        </p:nvSpPr>
        <p:spPr>
          <a:xfrm>
            <a:off x="6149340" y="1463040"/>
            <a:ext cx="2514600" cy="2148840"/>
          </a:xfrm>
          <a:prstGeom prst="roundRect">
            <a:avLst>
              <a:gd name="adj" fmla="val 2553"/>
            </a:avLst>
          </a:prstGeom>
          <a:solidFill>
            <a:srgbClr val="F4F5FB"/>
          </a:solidFill>
          <a:ln w="15240">
            <a:solidFill>
              <a:srgbClr val="3730A3"/>
            </a:solidFill>
            <a:prstDash val="solid"/>
          </a:ln>
        </p:spPr>
        <p:txBody>
          <a:bodyPr/>
          <a:lstStyle/>
          <a:p>
            <a:endParaRPr lang="en-US"/>
          </a:p>
        </p:txBody>
      </p:sp>
      <p:sp>
        <p:nvSpPr>
          <p:cNvPr id="14" name="Takeaway number badge">
            <a:extLst>
              <a:ext uri="{C183D7F6-B498-43B3-948B-1728B52AA6E4}">
                <adec:decorative xmlns:adec="http://schemas.microsoft.com/office/drawing/2017/decorative" val="1"/>
              </a:ext>
            </a:extLst>
          </p:cNvPr>
          <p:cNvSpPr/>
          <p:nvPr/>
        </p:nvSpPr>
        <p:spPr>
          <a:xfrm>
            <a:off x="6377940" y="1691640"/>
            <a:ext cx="411480" cy="411480"/>
          </a:xfrm>
          <a:prstGeom prst="ellipse">
            <a:avLst/>
          </a:prstGeom>
          <a:solidFill>
            <a:srgbClr val="F4F5FB"/>
          </a:solidFill>
          <a:ln w="12700">
            <a:solidFill>
              <a:srgbClr val="3730A3"/>
            </a:solidFill>
            <a:prstDash val="solid"/>
          </a:ln>
        </p:spPr>
        <p:txBody>
          <a:bodyPr/>
          <a:lstStyle/>
          <a:p>
            <a:endParaRPr lang="en-US"/>
          </a:p>
        </p:txBody>
      </p:sp>
      <p:sp>
        <p:nvSpPr>
          <p:cNvPr id="15" name="Text 13"/>
          <p:cNvSpPr/>
          <p:nvPr/>
        </p:nvSpPr>
        <p:spPr>
          <a:xfrm>
            <a:off x="6377940" y="1691640"/>
            <a:ext cx="411480" cy="411480"/>
          </a:xfrm>
          <a:prstGeom prst="rect">
            <a:avLst/>
          </a:prstGeom>
          <a:noFill/>
          <a:ln/>
        </p:spPr>
        <p:txBody>
          <a:bodyPr wrap="square" lIns="0" tIns="0" rIns="0" bIns="0" rtlCol="0" anchor="ctr"/>
          <a:lstStyle/>
          <a:p>
            <a:pPr marL="0" indent="0" algn="ctr">
              <a:buNone/>
            </a:pPr>
            <a:r>
              <a:rPr lang="en-US" sz="1200" b="1" dirty="0">
                <a:solidFill>
                  <a:srgbClr val="3730A3"/>
                </a:solidFill>
                <a:latin typeface="Georgia" pitchFamily="34" charset="0"/>
                <a:ea typeface="Georgia" pitchFamily="34" charset="-122"/>
                <a:cs typeface="Georgia" pitchFamily="34" charset="-120"/>
              </a:rPr>
              <a:t>3</a:t>
            </a:r>
            <a:endParaRPr lang="en-US" sz="1200" dirty="0"/>
          </a:p>
        </p:txBody>
      </p:sp>
      <p:sp>
        <p:nvSpPr>
          <p:cNvPr id="16" name="Text 14"/>
          <p:cNvSpPr/>
          <p:nvPr/>
        </p:nvSpPr>
        <p:spPr>
          <a:xfrm>
            <a:off x="6377940" y="2240280"/>
            <a:ext cx="2057400" cy="365760"/>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A relationship</a:t>
            </a:r>
            <a:endParaRPr lang="en-US" sz="1500" dirty="0"/>
          </a:p>
        </p:txBody>
      </p:sp>
      <p:sp>
        <p:nvSpPr>
          <p:cNvPr id="17" name="Text 15"/>
          <p:cNvSpPr/>
          <p:nvPr/>
        </p:nvSpPr>
        <p:spPr>
          <a:xfrm>
            <a:off x="6377940" y="2651760"/>
            <a:ext cx="2057400" cy="822960"/>
          </a:xfrm>
          <a:prstGeom prst="rect">
            <a:avLst/>
          </a:prstGeom>
          <a:noFill/>
          <a:ln/>
        </p:spPr>
        <p:txBody>
          <a:bodyPr wrap="square" lIns="0" tIns="0" rIns="0" bIns="0" rtlCol="0" anchor="ctr"/>
          <a:lstStyle/>
          <a:p>
            <a:pPr marL="0" indent="0">
              <a:buNone/>
            </a:pPr>
            <a:r>
              <a:rPr lang="en-US" sz="1150" dirty="0">
                <a:solidFill>
                  <a:srgbClr val="6B7280"/>
                </a:solidFill>
                <a:latin typeface="Georgia" pitchFamily="34" charset="0"/>
                <a:ea typeface="Georgia" pitchFamily="34" charset="-122"/>
                <a:cs typeface="Georgia" pitchFamily="34" charset="-120"/>
              </a:rPr>
              <a:t>Entanglement describes a relationship between subsystems.</a:t>
            </a:r>
            <a:endParaRPr lang="en-US" sz="1150" dirty="0"/>
          </a:p>
        </p:txBody>
      </p:sp>
      <p:sp>
        <p:nvSpPr>
          <p:cNvPr id="18" name="Card frame">
            <a:extLst>
              <a:ext uri="{C183D7F6-B498-43B3-948B-1728B52AA6E4}">
                <adec:decorative xmlns:adec="http://schemas.microsoft.com/office/drawing/2017/decorative" val="1"/>
              </a:ext>
            </a:extLst>
          </p:cNvPr>
          <p:cNvSpPr/>
          <p:nvPr/>
        </p:nvSpPr>
        <p:spPr>
          <a:xfrm>
            <a:off x="777240" y="3840480"/>
            <a:ext cx="758952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19" name="Text 17"/>
          <p:cNvSpPr/>
          <p:nvPr/>
        </p:nvSpPr>
        <p:spPr>
          <a:xfrm>
            <a:off x="960120" y="3840480"/>
            <a:ext cx="7223760" cy="658368"/>
          </a:xfrm>
          <a:prstGeom prst="rect">
            <a:avLst/>
          </a:prstGeom>
          <a:noFill/>
          <a:ln/>
        </p:spPr>
        <p:txBody>
          <a:bodyPr wrap="square" lIns="0" tIns="0" rIns="0" bIns="0" rtlCol="0" anchor="ctr"/>
          <a:lstStyle/>
          <a:p>
            <a:pPr marL="0" indent="0">
              <a:buNone/>
            </a:pPr>
            <a:r>
              <a:rPr lang="en-US" sz="1300" i="1" dirty="0">
                <a:solidFill>
                  <a:srgbClr val="1A1A2E"/>
                </a:solidFill>
                <a:latin typeface="Georgia" pitchFamily="34" charset="0"/>
                <a:ea typeface="Georgia" pitchFamily="34" charset="-122"/>
                <a:cs typeface="Georgia" pitchFamily="34" charset="-120"/>
              </a:rPr>
              <a:t>Next: measurement — what happens to a joint state when only one qubit is observed.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Measurement as subspace selection</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777240" y="1261872"/>
            <a:ext cx="3200400" cy="2651760"/>
          </a:xfrm>
          <a:prstGeom prst="roundRect">
            <a:avLst>
              <a:gd name="adj" fmla="val 2069"/>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777240" y="1417320"/>
            <a:ext cx="320040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Georgia" pitchFamily="34" charset="0"/>
                <a:ea typeface="Georgia" pitchFamily="34" charset="-122"/>
                <a:cs typeface="Georgia" pitchFamily="34" charset="-120"/>
              </a:rPr>
              <a:t>Hilbert space  V</a:t>
            </a:r>
            <a:endParaRPr lang="en-US" sz="1300" dirty="0"/>
          </a:p>
        </p:txBody>
      </p:sp>
      <p:sp>
        <p:nvSpPr>
          <p:cNvPr id="5" name="Card frame">
            <a:extLst>
              <a:ext uri="{C183D7F6-B498-43B3-948B-1728B52AA6E4}">
                <adec:decorative xmlns:adec="http://schemas.microsoft.com/office/drawing/2017/decorative" val="1"/>
              </a:ext>
            </a:extLst>
          </p:cNvPr>
          <p:cNvSpPr/>
          <p:nvPr/>
        </p:nvSpPr>
        <p:spPr>
          <a:xfrm>
            <a:off x="1051560" y="1920240"/>
            <a:ext cx="2651760" cy="502920"/>
          </a:xfrm>
          <a:prstGeom prst="roundRect">
            <a:avLst>
              <a:gd name="adj" fmla="val 10909"/>
            </a:avLst>
          </a:prstGeom>
          <a:solidFill>
            <a:srgbClr val="F4F5FB"/>
          </a:solidFill>
          <a:ln w="13970">
            <a:solidFill>
              <a:srgbClr val="3730A3"/>
            </a:solidFill>
            <a:prstDash val="solid"/>
          </a:ln>
        </p:spPr>
        <p:txBody>
          <a:bodyPr/>
          <a:lstStyle/>
          <a:p>
            <a:endParaRPr lang="en-US"/>
          </a:p>
        </p:txBody>
      </p:sp>
      <p:sp>
        <p:nvSpPr>
          <p:cNvPr id="6" name="Text 4"/>
          <p:cNvSpPr/>
          <p:nvPr/>
        </p:nvSpPr>
        <p:spPr>
          <a:xfrm>
            <a:off x="1051560" y="1920240"/>
            <a:ext cx="2651760" cy="502920"/>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S₁</a:t>
            </a:r>
            <a:endParaRPr lang="en-US" sz="1500" dirty="0"/>
          </a:p>
        </p:txBody>
      </p:sp>
      <p:sp>
        <p:nvSpPr>
          <p:cNvPr id="7" name="Text 5"/>
          <p:cNvSpPr/>
          <p:nvPr/>
        </p:nvSpPr>
        <p:spPr>
          <a:xfrm>
            <a:off x="4023360" y="1920240"/>
            <a:ext cx="548640" cy="502920"/>
          </a:xfrm>
          <a:prstGeom prst="rect">
            <a:avLst/>
          </a:prstGeom>
          <a:noFill/>
          <a:ln/>
        </p:spPr>
        <p:txBody>
          <a:bodyPr wrap="square" lIns="0" tIns="0" rIns="0" bIns="0" rtlCol="0" anchor="ctr"/>
          <a:lstStyle/>
          <a:p>
            <a:pPr marL="0" indent="0" algn="ctr">
              <a:buNone/>
            </a:pPr>
            <a:r>
              <a:rPr lang="en-US" sz="1600" dirty="0">
                <a:solidFill>
                  <a:srgbClr val="3730A3"/>
                </a:solidFill>
                <a:latin typeface="Georgia" pitchFamily="34" charset="0"/>
                <a:ea typeface="Georgia" pitchFamily="34" charset="-122"/>
                <a:cs typeface="Georgia" pitchFamily="34" charset="-120"/>
              </a:rPr>
              <a:t>→</a:t>
            </a:r>
            <a:endParaRPr lang="en-US" sz="1600" dirty="0"/>
          </a:p>
        </p:txBody>
      </p:sp>
      <p:sp>
        <p:nvSpPr>
          <p:cNvPr id="8" name="Card frame">
            <a:extLst>
              <a:ext uri="{C183D7F6-B498-43B3-948B-1728B52AA6E4}">
                <adec:decorative xmlns:adec="http://schemas.microsoft.com/office/drawing/2017/decorative" val="1"/>
              </a:ext>
            </a:extLst>
          </p:cNvPr>
          <p:cNvSpPr/>
          <p:nvPr/>
        </p:nvSpPr>
        <p:spPr>
          <a:xfrm>
            <a:off x="4617720" y="1920240"/>
            <a:ext cx="2834640" cy="502920"/>
          </a:xfrm>
          <a:prstGeom prst="roundRect">
            <a:avLst>
              <a:gd name="adj" fmla="val 10909"/>
            </a:avLst>
          </a:prstGeom>
          <a:solidFill>
            <a:srgbClr val="FFFFFF"/>
          </a:solidFill>
          <a:ln w="12700">
            <a:solidFill>
              <a:srgbClr val="D4D7DD"/>
            </a:solidFill>
            <a:prstDash val="solid"/>
          </a:ln>
        </p:spPr>
        <p:txBody>
          <a:bodyPr/>
          <a:lstStyle/>
          <a:p>
            <a:endParaRPr lang="en-US"/>
          </a:p>
        </p:txBody>
      </p:sp>
      <p:sp>
        <p:nvSpPr>
          <p:cNvPr id="9" name="Text 7"/>
          <p:cNvSpPr/>
          <p:nvPr/>
        </p:nvSpPr>
        <p:spPr>
          <a:xfrm>
            <a:off x="4617720" y="1920240"/>
            <a:ext cx="2834640" cy="502920"/>
          </a:xfrm>
          <a:prstGeom prst="rect">
            <a:avLst/>
          </a:prstGeom>
          <a:noFill/>
          <a:ln/>
        </p:spPr>
        <p:txBody>
          <a:bodyPr wrap="square" lIns="0" tIns="0" rIns="0" bIns="0" rtlCol="0" anchor="ctr"/>
          <a:lstStyle/>
          <a:p>
            <a:pPr marL="0" indent="0" algn="ctr">
              <a:buNone/>
            </a:pPr>
            <a:r>
              <a:rPr lang="en-US" sz="1300" dirty="0">
                <a:solidFill>
                  <a:srgbClr val="1A1A2E"/>
                </a:solidFill>
                <a:latin typeface="Georgia" pitchFamily="34" charset="0"/>
                <a:ea typeface="Georgia" pitchFamily="34" charset="-122"/>
                <a:cs typeface="Georgia" pitchFamily="34" charset="-120"/>
              </a:rPr>
              <a:t>outcome 1</a:t>
            </a:r>
            <a:endParaRPr lang="en-US" sz="1300" dirty="0"/>
          </a:p>
        </p:txBody>
      </p:sp>
      <p:sp>
        <p:nvSpPr>
          <p:cNvPr id="10" name="Card frame">
            <a:extLst>
              <a:ext uri="{C183D7F6-B498-43B3-948B-1728B52AA6E4}">
                <adec:decorative xmlns:adec="http://schemas.microsoft.com/office/drawing/2017/decorative" val="1"/>
              </a:ext>
            </a:extLst>
          </p:cNvPr>
          <p:cNvSpPr/>
          <p:nvPr/>
        </p:nvSpPr>
        <p:spPr>
          <a:xfrm>
            <a:off x="1051560" y="2542032"/>
            <a:ext cx="2651760" cy="502920"/>
          </a:xfrm>
          <a:prstGeom prst="roundRect">
            <a:avLst>
              <a:gd name="adj" fmla="val 10909"/>
            </a:avLst>
          </a:prstGeom>
          <a:solidFill>
            <a:srgbClr val="F4F5FB"/>
          </a:solidFill>
          <a:ln w="13970">
            <a:solidFill>
              <a:srgbClr val="3730A3"/>
            </a:solidFill>
            <a:prstDash val="solid"/>
          </a:ln>
        </p:spPr>
        <p:txBody>
          <a:bodyPr/>
          <a:lstStyle/>
          <a:p>
            <a:endParaRPr lang="en-US"/>
          </a:p>
        </p:txBody>
      </p:sp>
      <p:sp>
        <p:nvSpPr>
          <p:cNvPr id="11" name="Text 9"/>
          <p:cNvSpPr/>
          <p:nvPr/>
        </p:nvSpPr>
        <p:spPr>
          <a:xfrm>
            <a:off x="1051560" y="2542032"/>
            <a:ext cx="2651760" cy="502920"/>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S₂</a:t>
            </a:r>
            <a:endParaRPr lang="en-US" sz="1500" dirty="0"/>
          </a:p>
        </p:txBody>
      </p:sp>
      <p:sp>
        <p:nvSpPr>
          <p:cNvPr id="12" name="Text 10"/>
          <p:cNvSpPr/>
          <p:nvPr/>
        </p:nvSpPr>
        <p:spPr>
          <a:xfrm>
            <a:off x="4023360" y="2542032"/>
            <a:ext cx="548640" cy="502920"/>
          </a:xfrm>
          <a:prstGeom prst="rect">
            <a:avLst/>
          </a:prstGeom>
          <a:noFill/>
          <a:ln/>
        </p:spPr>
        <p:txBody>
          <a:bodyPr wrap="square" lIns="0" tIns="0" rIns="0" bIns="0" rtlCol="0" anchor="ctr"/>
          <a:lstStyle/>
          <a:p>
            <a:pPr marL="0" indent="0" algn="ctr">
              <a:buNone/>
            </a:pPr>
            <a:r>
              <a:rPr lang="en-US" sz="1600" dirty="0">
                <a:solidFill>
                  <a:srgbClr val="3730A3"/>
                </a:solidFill>
                <a:latin typeface="Georgia" pitchFamily="34" charset="0"/>
                <a:ea typeface="Georgia" pitchFamily="34" charset="-122"/>
                <a:cs typeface="Georgia" pitchFamily="34" charset="-120"/>
              </a:rPr>
              <a:t>→</a:t>
            </a:r>
            <a:endParaRPr lang="en-US" sz="1600" dirty="0"/>
          </a:p>
        </p:txBody>
      </p:sp>
      <p:sp>
        <p:nvSpPr>
          <p:cNvPr id="13" name="Card frame">
            <a:extLst>
              <a:ext uri="{C183D7F6-B498-43B3-948B-1728B52AA6E4}">
                <adec:decorative xmlns:adec="http://schemas.microsoft.com/office/drawing/2017/decorative" val="1"/>
              </a:ext>
            </a:extLst>
          </p:cNvPr>
          <p:cNvSpPr/>
          <p:nvPr/>
        </p:nvSpPr>
        <p:spPr>
          <a:xfrm>
            <a:off x="4617720" y="2542032"/>
            <a:ext cx="2834640" cy="502920"/>
          </a:xfrm>
          <a:prstGeom prst="roundRect">
            <a:avLst>
              <a:gd name="adj" fmla="val 10909"/>
            </a:avLst>
          </a:prstGeom>
          <a:solidFill>
            <a:srgbClr val="FFFFFF"/>
          </a:solidFill>
          <a:ln w="12700">
            <a:solidFill>
              <a:srgbClr val="D4D7DD"/>
            </a:solidFill>
            <a:prstDash val="solid"/>
          </a:ln>
        </p:spPr>
        <p:txBody>
          <a:bodyPr/>
          <a:lstStyle/>
          <a:p>
            <a:endParaRPr lang="en-US"/>
          </a:p>
        </p:txBody>
      </p:sp>
      <p:sp>
        <p:nvSpPr>
          <p:cNvPr id="14" name="Text 12"/>
          <p:cNvSpPr/>
          <p:nvPr/>
        </p:nvSpPr>
        <p:spPr>
          <a:xfrm>
            <a:off x="4617720" y="2542032"/>
            <a:ext cx="2834640" cy="502920"/>
          </a:xfrm>
          <a:prstGeom prst="rect">
            <a:avLst/>
          </a:prstGeom>
          <a:noFill/>
          <a:ln/>
        </p:spPr>
        <p:txBody>
          <a:bodyPr wrap="square" lIns="0" tIns="0" rIns="0" bIns="0" rtlCol="0" anchor="ctr"/>
          <a:lstStyle/>
          <a:p>
            <a:pPr marL="0" indent="0" algn="ctr">
              <a:buNone/>
            </a:pPr>
            <a:r>
              <a:rPr lang="en-US" sz="1300" dirty="0">
                <a:solidFill>
                  <a:srgbClr val="1A1A2E"/>
                </a:solidFill>
                <a:latin typeface="Georgia" pitchFamily="34" charset="0"/>
                <a:ea typeface="Georgia" pitchFamily="34" charset="-122"/>
                <a:cs typeface="Georgia" pitchFamily="34" charset="-120"/>
              </a:rPr>
              <a:t>outcome 2</a:t>
            </a:r>
            <a:endParaRPr lang="en-US" sz="1300" dirty="0"/>
          </a:p>
        </p:txBody>
      </p:sp>
      <p:sp>
        <p:nvSpPr>
          <p:cNvPr id="15" name="Card frame">
            <a:extLst>
              <a:ext uri="{C183D7F6-B498-43B3-948B-1728B52AA6E4}">
                <adec:decorative xmlns:adec="http://schemas.microsoft.com/office/drawing/2017/decorative" val="1"/>
              </a:ext>
            </a:extLst>
          </p:cNvPr>
          <p:cNvSpPr/>
          <p:nvPr/>
        </p:nvSpPr>
        <p:spPr>
          <a:xfrm>
            <a:off x="1051560" y="3163824"/>
            <a:ext cx="2651760" cy="502920"/>
          </a:xfrm>
          <a:prstGeom prst="roundRect">
            <a:avLst>
              <a:gd name="adj" fmla="val 10909"/>
            </a:avLst>
          </a:prstGeom>
          <a:solidFill>
            <a:srgbClr val="F4F5FB"/>
          </a:solidFill>
          <a:ln w="13970">
            <a:solidFill>
              <a:srgbClr val="3730A3"/>
            </a:solidFill>
            <a:prstDash val="solid"/>
          </a:ln>
        </p:spPr>
        <p:txBody>
          <a:bodyPr/>
          <a:lstStyle/>
          <a:p>
            <a:endParaRPr lang="en-US"/>
          </a:p>
        </p:txBody>
      </p:sp>
      <p:sp>
        <p:nvSpPr>
          <p:cNvPr id="16" name="Text 14"/>
          <p:cNvSpPr/>
          <p:nvPr/>
        </p:nvSpPr>
        <p:spPr>
          <a:xfrm>
            <a:off x="1051560" y="3163824"/>
            <a:ext cx="2651760" cy="502920"/>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S₃</a:t>
            </a:r>
            <a:endParaRPr lang="en-US" sz="1500" dirty="0"/>
          </a:p>
        </p:txBody>
      </p:sp>
      <p:sp>
        <p:nvSpPr>
          <p:cNvPr id="17" name="Text 15"/>
          <p:cNvSpPr/>
          <p:nvPr/>
        </p:nvSpPr>
        <p:spPr>
          <a:xfrm>
            <a:off x="4023360" y="3163824"/>
            <a:ext cx="548640" cy="502920"/>
          </a:xfrm>
          <a:prstGeom prst="rect">
            <a:avLst/>
          </a:prstGeom>
          <a:noFill/>
          <a:ln/>
        </p:spPr>
        <p:txBody>
          <a:bodyPr wrap="square" lIns="0" tIns="0" rIns="0" bIns="0" rtlCol="0" anchor="ctr"/>
          <a:lstStyle/>
          <a:p>
            <a:pPr marL="0" indent="0" algn="ctr">
              <a:buNone/>
            </a:pPr>
            <a:r>
              <a:rPr lang="en-US" sz="1600" dirty="0">
                <a:solidFill>
                  <a:srgbClr val="3730A3"/>
                </a:solidFill>
                <a:latin typeface="Georgia" pitchFamily="34" charset="0"/>
                <a:ea typeface="Georgia" pitchFamily="34" charset="-122"/>
                <a:cs typeface="Georgia" pitchFamily="34" charset="-120"/>
              </a:rPr>
              <a:t>→</a:t>
            </a:r>
            <a:endParaRPr lang="en-US" sz="1600" dirty="0"/>
          </a:p>
        </p:txBody>
      </p:sp>
      <p:sp>
        <p:nvSpPr>
          <p:cNvPr id="18" name="Card frame">
            <a:extLst>
              <a:ext uri="{C183D7F6-B498-43B3-948B-1728B52AA6E4}">
                <adec:decorative xmlns:adec="http://schemas.microsoft.com/office/drawing/2017/decorative" val="1"/>
              </a:ext>
            </a:extLst>
          </p:cNvPr>
          <p:cNvSpPr/>
          <p:nvPr/>
        </p:nvSpPr>
        <p:spPr>
          <a:xfrm>
            <a:off x="4617720" y="3163824"/>
            <a:ext cx="2834640" cy="502920"/>
          </a:xfrm>
          <a:prstGeom prst="roundRect">
            <a:avLst>
              <a:gd name="adj" fmla="val 10909"/>
            </a:avLst>
          </a:prstGeom>
          <a:solidFill>
            <a:srgbClr val="FFFFFF"/>
          </a:solidFill>
          <a:ln w="12700">
            <a:solidFill>
              <a:srgbClr val="D4D7DD"/>
            </a:solidFill>
            <a:prstDash val="solid"/>
          </a:ln>
        </p:spPr>
        <p:txBody>
          <a:bodyPr/>
          <a:lstStyle/>
          <a:p>
            <a:endParaRPr lang="en-US"/>
          </a:p>
        </p:txBody>
      </p:sp>
      <p:sp>
        <p:nvSpPr>
          <p:cNvPr id="19" name="Text 17"/>
          <p:cNvSpPr/>
          <p:nvPr/>
        </p:nvSpPr>
        <p:spPr>
          <a:xfrm>
            <a:off x="4617720" y="3163824"/>
            <a:ext cx="2834640" cy="502920"/>
          </a:xfrm>
          <a:prstGeom prst="rect">
            <a:avLst/>
          </a:prstGeom>
          <a:noFill/>
          <a:ln/>
        </p:spPr>
        <p:txBody>
          <a:bodyPr wrap="square" lIns="0" tIns="0" rIns="0" bIns="0" rtlCol="0" anchor="ctr"/>
          <a:lstStyle/>
          <a:p>
            <a:pPr marL="0" indent="0" algn="ctr">
              <a:buNone/>
            </a:pPr>
            <a:r>
              <a:rPr lang="en-US" sz="1300" dirty="0">
                <a:solidFill>
                  <a:srgbClr val="1A1A2E"/>
                </a:solidFill>
                <a:latin typeface="Georgia" pitchFamily="34" charset="0"/>
                <a:ea typeface="Georgia" pitchFamily="34" charset="-122"/>
                <a:cs typeface="Georgia" pitchFamily="34" charset="-120"/>
              </a:rPr>
              <a:t>outcome 3</a:t>
            </a:r>
            <a:endParaRPr lang="en-US" sz="1300" dirty="0"/>
          </a:p>
        </p:txBody>
      </p:sp>
      <p:sp>
        <p:nvSpPr>
          <p:cNvPr id="20" name="Card frame">
            <a:extLst>
              <a:ext uri="{C183D7F6-B498-43B3-948B-1728B52AA6E4}">
                <adec:decorative xmlns:adec="http://schemas.microsoft.com/office/drawing/2017/decorative" val="1"/>
              </a:ext>
            </a:extLst>
          </p:cNvPr>
          <p:cNvSpPr/>
          <p:nvPr/>
        </p:nvSpPr>
        <p:spPr>
          <a:xfrm>
            <a:off x="777240" y="4114800"/>
            <a:ext cx="758952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21" name="Text 19"/>
          <p:cNvSpPr/>
          <p:nvPr/>
        </p:nvSpPr>
        <p:spPr>
          <a:xfrm>
            <a:off x="777240" y="4114800"/>
            <a:ext cx="7589520" cy="658368"/>
          </a:xfrm>
          <a:prstGeom prst="rect">
            <a:avLst/>
          </a:prstGeom>
          <a:noFill/>
          <a:ln/>
        </p:spPr>
        <p:txBody>
          <a:bodyPr wrap="square" lIns="0" tIns="0" rIns="0" bIns="0" rtlCol="0" anchor="ctr"/>
          <a:lstStyle/>
          <a:p>
            <a:pPr marL="0" indent="0" algn="ctr">
              <a:buNone/>
            </a:pPr>
            <a:r>
              <a:rPr lang="en-US" sz="1900" b="1" dirty="0">
                <a:solidFill>
                  <a:srgbClr val="3730A3"/>
                </a:solidFill>
                <a:latin typeface="Georgia" pitchFamily="34" charset="0"/>
                <a:ea typeface="Georgia" pitchFamily="34" charset="-122"/>
                <a:cs typeface="Georgia" pitchFamily="34" charset="-120"/>
              </a:rPr>
              <a:t>V  =  S₁ ⊕ S₂ ⊕ ⋯ ⊕ Sₖ</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Measurement probability</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2011680" y="1298448"/>
            <a:ext cx="5120640" cy="109728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2011680" y="1298448"/>
            <a:ext cx="5120640" cy="1097280"/>
          </a:xfrm>
          <a:prstGeom prst="rect">
            <a:avLst/>
          </a:prstGeom>
          <a:noFill/>
          <a:ln/>
        </p:spPr>
        <p:txBody>
          <a:bodyPr wrap="square" lIns="0" tIns="0" rIns="0" bIns="0" rtlCol="0" anchor="ctr"/>
          <a:lstStyle/>
          <a:p>
            <a:pPr marL="0" indent="0" algn="ctr">
              <a:buNone/>
            </a:pPr>
            <a:r>
              <a:rPr lang="en-US" sz="2700" b="1" dirty="0">
                <a:solidFill>
                  <a:srgbClr val="3730A3"/>
                </a:solidFill>
                <a:latin typeface="Georgia" pitchFamily="34" charset="0"/>
                <a:ea typeface="Georgia" pitchFamily="34" charset="-122"/>
                <a:cs typeface="Georgia" pitchFamily="34" charset="-120"/>
              </a:rPr>
              <a:t>P(i)  =  ⟨ψ| Pᵢ |ψ⟩</a:t>
            </a:r>
            <a:endParaRPr lang="en-US" sz="2700" dirty="0"/>
          </a:p>
        </p:txBody>
      </p:sp>
      <p:sp>
        <p:nvSpPr>
          <p:cNvPr id="5" name="Card frame">
            <a:extLst>
              <a:ext uri="{C183D7F6-B498-43B3-948B-1728B52AA6E4}">
                <adec:decorative xmlns:adec="http://schemas.microsoft.com/office/drawing/2017/decorative" val="1"/>
              </a:ext>
            </a:extLst>
          </p:cNvPr>
          <p:cNvSpPr/>
          <p:nvPr/>
        </p:nvSpPr>
        <p:spPr>
          <a:xfrm>
            <a:off x="594360" y="2743200"/>
            <a:ext cx="237744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777240" y="2880360"/>
            <a:ext cx="365760" cy="274320"/>
          </a:xfrm>
          <a:prstGeom prst="rect">
            <a:avLst/>
          </a:prstGeom>
          <a:noFill/>
          <a:ln/>
        </p:spPr>
        <p:txBody>
          <a:bodyPr wrap="square" lIns="0" tIns="0" rIns="0" bIns="0" rtlCol="0" anchor="ctr"/>
          <a:lstStyle/>
          <a:p>
            <a:pPr marL="0" indent="0">
              <a:buNone/>
            </a:pPr>
            <a:r>
              <a:rPr lang="en-US" sz="1100" b="1" dirty="0">
                <a:solidFill>
                  <a:srgbClr val="3730A3"/>
                </a:solidFill>
                <a:latin typeface="Georgia" pitchFamily="34" charset="0"/>
                <a:ea typeface="Georgia" pitchFamily="34" charset="-122"/>
                <a:cs typeface="Georgia" pitchFamily="34" charset="-120"/>
              </a:rPr>
              <a:t>1</a:t>
            </a:r>
            <a:endParaRPr lang="en-US" sz="1100" dirty="0"/>
          </a:p>
        </p:txBody>
      </p:sp>
      <p:sp>
        <p:nvSpPr>
          <p:cNvPr id="7" name="Text 5"/>
          <p:cNvSpPr/>
          <p:nvPr/>
        </p:nvSpPr>
        <p:spPr>
          <a:xfrm>
            <a:off x="777240" y="3182112"/>
            <a:ext cx="2011680" cy="320040"/>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project</a:t>
            </a:r>
            <a:endParaRPr lang="en-US" sz="1500" dirty="0"/>
          </a:p>
        </p:txBody>
      </p:sp>
      <p:sp>
        <p:nvSpPr>
          <p:cNvPr id="8" name="Text 6"/>
          <p:cNvSpPr/>
          <p:nvPr/>
        </p:nvSpPr>
        <p:spPr>
          <a:xfrm>
            <a:off x="777240" y="3520440"/>
            <a:ext cx="2011680" cy="365760"/>
          </a:xfrm>
          <a:prstGeom prst="rect">
            <a:avLst/>
          </a:prstGeom>
          <a:noFill/>
          <a:ln/>
        </p:spPr>
        <p:txBody>
          <a:bodyPr wrap="square" lIns="0" tIns="0" rIns="0" bIns="0" rtlCol="0" anchor="ctr"/>
          <a:lstStyle/>
          <a:p>
            <a:pPr marL="0" indent="0">
              <a:buNone/>
            </a:pPr>
            <a:r>
              <a:rPr lang="en-US" sz="1100" dirty="0">
                <a:solidFill>
                  <a:srgbClr val="6B7280"/>
                </a:solidFill>
                <a:latin typeface="Georgia" pitchFamily="34" charset="0"/>
                <a:ea typeface="Georgia" pitchFamily="34" charset="-122"/>
                <a:cs typeface="Georgia" pitchFamily="34" charset="-120"/>
              </a:rPr>
              <a:t>apply Pᵢ to |ψ⟩</a:t>
            </a:r>
            <a:endParaRPr lang="en-US" sz="1100" dirty="0"/>
          </a:p>
        </p:txBody>
      </p:sp>
      <p:sp>
        <p:nvSpPr>
          <p:cNvPr id="9" name="Text 7"/>
          <p:cNvSpPr/>
          <p:nvPr/>
        </p:nvSpPr>
        <p:spPr>
          <a:xfrm>
            <a:off x="2971800" y="2743200"/>
            <a:ext cx="411480" cy="1234440"/>
          </a:xfrm>
          <a:prstGeom prst="rect">
            <a:avLst/>
          </a:prstGeom>
          <a:noFill/>
          <a:ln/>
        </p:spPr>
        <p:txBody>
          <a:bodyPr wrap="square" lIns="0" tIns="0" rIns="0" bIns="0" rtlCol="0" anchor="ctr"/>
          <a:lstStyle/>
          <a:p>
            <a:pPr marL="0" indent="0" algn="ctr">
              <a:buNone/>
            </a:pPr>
            <a:r>
              <a:rPr lang="en-US" sz="1700" dirty="0">
                <a:solidFill>
                  <a:srgbClr val="3730A3"/>
                </a:solidFill>
                <a:latin typeface="Georgia" pitchFamily="34" charset="0"/>
                <a:ea typeface="Georgia" pitchFamily="34" charset="-122"/>
                <a:cs typeface="Georgia" pitchFamily="34" charset="-120"/>
              </a:rPr>
              <a:t>→</a:t>
            </a:r>
            <a:endParaRPr lang="en-US" sz="1700" dirty="0"/>
          </a:p>
        </p:txBody>
      </p:sp>
      <p:sp>
        <p:nvSpPr>
          <p:cNvPr id="10" name="Card frame">
            <a:extLst>
              <a:ext uri="{C183D7F6-B498-43B3-948B-1728B52AA6E4}">
                <adec:decorative xmlns:adec="http://schemas.microsoft.com/office/drawing/2017/decorative" val="1"/>
              </a:ext>
            </a:extLst>
          </p:cNvPr>
          <p:cNvSpPr/>
          <p:nvPr/>
        </p:nvSpPr>
        <p:spPr>
          <a:xfrm>
            <a:off x="3383280" y="2743200"/>
            <a:ext cx="237744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1" name="Text 9"/>
          <p:cNvSpPr/>
          <p:nvPr/>
        </p:nvSpPr>
        <p:spPr>
          <a:xfrm>
            <a:off x="3566160" y="2880360"/>
            <a:ext cx="365760" cy="274320"/>
          </a:xfrm>
          <a:prstGeom prst="rect">
            <a:avLst/>
          </a:prstGeom>
          <a:noFill/>
          <a:ln/>
        </p:spPr>
        <p:txBody>
          <a:bodyPr wrap="square" lIns="0" tIns="0" rIns="0" bIns="0" rtlCol="0" anchor="ctr"/>
          <a:lstStyle/>
          <a:p>
            <a:pPr marL="0" indent="0">
              <a:buNone/>
            </a:pPr>
            <a:r>
              <a:rPr lang="en-US" sz="1100" b="1" dirty="0">
                <a:solidFill>
                  <a:srgbClr val="3730A3"/>
                </a:solidFill>
                <a:latin typeface="Georgia" pitchFamily="34" charset="0"/>
                <a:ea typeface="Georgia" pitchFamily="34" charset="-122"/>
                <a:cs typeface="Georgia" pitchFamily="34" charset="-120"/>
              </a:rPr>
              <a:t>2</a:t>
            </a:r>
            <a:endParaRPr lang="en-US" sz="1100" dirty="0"/>
          </a:p>
        </p:txBody>
      </p:sp>
      <p:sp>
        <p:nvSpPr>
          <p:cNvPr id="12" name="Text 10"/>
          <p:cNvSpPr/>
          <p:nvPr/>
        </p:nvSpPr>
        <p:spPr>
          <a:xfrm>
            <a:off x="3566160" y="3182112"/>
            <a:ext cx="2011680" cy="320040"/>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probability</a:t>
            </a:r>
            <a:endParaRPr lang="en-US" sz="1500" dirty="0"/>
          </a:p>
        </p:txBody>
      </p:sp>
      <p:sp>
        <p:nvSpPr>
          <p:cNvPr id="13" name="Text 11"/>
          <p:cNvSpPr/>
          <p:nvPr/>
        </p:nvSpPr>
        <p:spPr>
          <a:xfrm>
            <a:off x="3566160" y="3520440"/>
            <a:ext cx="2011680" cy="365760"/>
          </a:xfrm>
          <a:prstGeom prst="rect">
            <a:avLst/>
          </a:prstGeom>
          <a:noFill/>
          <a:ln/>
        </p:spPr>
        <p:txBody>
          <a:bodyPr wrap="square" lIns="0" tIns="0" rIns="0" bIns="0" rtlCol="0" anchor="ctr"/>
          <a:lstStyle/>
          <a:p>
            <a:pPr marL="0" indent="0">
              <a:buNone/>
            </a:pPr>
            <a:r>
              <a:rPr lang="en-US" sz="1100" dirty="0">
                <a:solidFill>
                  <a:srgbClr val="6B7280"/>
                </a:solidFill>
                <a:latin typeface="Georgia" pitchFamily="34" charset="0"/>
                <a:ea typeface="Georgia" pitchFamily="34" charset="-122"/>
                <a:cs typeface="Georgia" pitchFamily="34" charset="-120"/>
              </a:rPr>
              <a:t>take the squared norm</a:t>
            </a:r>
            <a:endParaRPr lang="en-US" sz="1100" dirty="0"/>
          </a:p>
        </p:txBody>
      </p:sp>
      <p:sp>
        <p:nvSpPr>
          <p:cNvPr id="14" name="Text 12"/>
          <p:cNvSpPr/>
          <p:nvPr/>
        </p:nvSpPr>
        <p:spPr>
          <a:xfrm>
            <a:off x="5760720" y="2743200"/>
            <a:ext cx="411480" cy="1234440"/>
          </a:xfrm>
          <a:prstGeom prst="rect">
            <a:avLst/>
          </a:prstGeom>
          <a:noFill/>
          <a:ln/>
        </p:spPr>
        <p:txBody>
          <a:bodyPr wrap="square" lIns="0" tIns="0" rIns="0" bIns="0" rtlCol="0" anchor="ctr"/>
          <a:lstStyle/>
          <a:p>
            <a:pPr marL="0" indent="0" algn="ctr">
              <a:buNone/>
            </a:pPr>
            <a:r>
              <a:rPr lang="en-US" sz="1700" dirty="0">
                <a:solidFill>
                  <a:srgbClr val="3730A3"/>
                </a:solidFill>
                <a:latin typeface="Georgia" pitchFamily="34" charset="0"/>
                <a:ea typeface="Georgia" pitchFamily="34" charset="-122"/>
                <a:cs typeface="Georgia" pitchFamily="34" charset="-120"/>
              </a:rPr>
              <a:t>→</a:t>
            </a:r>
            <a:endParaRPr lang="en-US" sz="1700" dirty="0"/>
          </a:p>
        </p:txBody>
      </p:sp>
      <p:sp>
        <p:nvSpPr>
          <p:cNvPr id="15" name="Card frame">
            <a:extLst>
              <a:ext uri="{C183D7F6-B498-43B3-948B-1728B52AA6E4}">
                <adec:decorative xmlns:adec="http://schemas.microsoft.com/office/drawing/2017/decorative" val="1"/>
              </a:ext>
            </a:extLst>
          </p:cNvPr>
          <p:cNvSpPr/>
          <p:nvPr/>
        </p:nvSpPr>
        <p:spPr>
          <a:xfrm>
            <a:off x="6172200" y="2743200"/>
            <a:ext cx="237744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16" name="Text 14"/>
          <p:cNvSpPr/>
          <p:nvPr/>
        </p:nvSpPr>
        <p:spPr>
          <a:xfrm>
            <a:off x="6355080" y="2880360"/>
            <a:ext cx="365760" cy="274320"/>
          </a:xfrm>
          <a:prstGeom prst="rect">
            <a:avLst/>
          </a:prstGeom>
          <a:noFill/>
          <a:ln/>
        </p:spPr>
        <p:txBody>
          <a:bodyPr wrap="square" lIns="0" tIns="0" rIns="0" bIns="0" rtlCol="0" anchor="ctr"/>
          <a:lstStyle/>
          <a:p>
            <a:pPr marL="0" indent="0">
              <a:buNone/>
            </a:pPr>
            <a:r>
              <a:rPr lang="en-US" sz="1100" b="1" dirty="0">
                <a:solidFill>
                  <a:srgbClr val="3730A3"/>
                </a:solidFill>
                <a:latin typeface="Georgia" pitchFamily="34" charset="0"/>
                <a:ea typeface="Georgia" pitchFamily="34" charset="-122"/>
                <a:cs typeface="Georgia" pitchFamily="34" charset="-120"/>
              </a:rPr>
              <a:t>3</a:t>
            </a:r>
            <a:endParaRPr lang="en-US" sz="1100" dirty="0"/>
          </a:p>
        </p:txBody>
      </p:sp>
      <p:sp>
        <p:nvSpPr>
          <p:cNvPr id="17" name="Text 15"/>
          <p:cNvSpPr/>
          <p:nvPr/>
        </p:nvSpPr>
        <p:spPr>
          <a:xfrm>
            <a:off x="6355080" y="3182112"/>
            <a:ext cx="2011680" cy="320040"/>
          </a:xfrm>
          <a:prstGeom prst="rect">
            <a:avLst/>
          </a:prstGeom>
          <a:noFill/>
          <a:ln/>
        </p:spPr>
        <p:txBody>
          <a:bodyPr wrap="square" lIns="0" tIns="0" rIns="0" bIns="0" rtlCol="0" anchor="ctr"/>
          <a:lstStyle/>
          <a:p>
            <a:pPr marL="0" indent="0">
              <a:buNone/>
            </a:pPr>
            <a:r>
              <a:rPr lang="en-US" sz="1500" b="1" dirty="0">
                <a:solidFill>
                  <a:srgbClr val="1A1A2E"/>
                </a:solidFill>
                <a:latin typeface="Georgia" pitchFamily="34" charset="0"/>
                <a:ea typeface="Georgia" pitchFamily="34" charset="-122"/>
                <a:cs typeface="Georgia" pitchFamily="34" charset="-120"/>
              </a:rPr>
              <a:t>collapse</a:t>
            </a:r>
            <a:endParaRPr lang="en-US" sz="1500" dirty="0"/>
          </a:p>
        </p:txBody>
      </p:sp>
      <p:sp>
        <p:nvSpPr>
          <p:cNvPr id="18" name="Text 16"/>
          <p:cNvSpPr/>
          <p:nvPr/>
        </p:nvSpPr>
        <p:spPr>
          <a:xfrm>
            <a:off x="6355080" y="3520440"/>
            <a:ext cx="2011680" cy="365760"/>
          </a:xfrm>
          <a:prstGeom prst="rect">
            <a:avLst/>
          </a:prstGeom>
          <a:noFill/>
          <a:ln/>
        </p:spPr>
        <p:txBody>
          <a:bodyPr wrap="square" lIns="0" tIns="0" rIns="0" bIns="0" rtlCol="0" anchor="ctr"/>
          <a:lstStyle/>
          <a:p>
            <a:pPr marL="0" indent="0">
              <a:buNone/>
            </a:pPr>
            <a:r>
              <a:rPr lang="en-US" sz="1100" dirty="0">
                <a:solidFill>
                  <a:srgbClr val="6B7280"/>
                </a:solidFill>
                <a:latin typeface="Georgia" pitchFamily="34" charset="0"/>
                <a:ea typeface="Georgia" pitchFamily="34" charset="-122"/>
                <a:cs typeface="Georgia" pitchFamily="34" charset="-120"/>
              </a:rPr>
              <a:t>renormalize what remains</a:t>
            </a:r>
            <a:endParaRPr lang="en-US" sz="1100" dirty="0"/>
          </a:p>
        </p:txBody>
      </p:sp>
      <p:sp>
        <p:nvSpPr>
          <p:cNvPr id="19" name="Text 17"/>
          <p:cNvSpPr/>
          <p:nvPr/>
        </p:nvSpPr>
        <p:spPr>
          <a:xfrm>
            <a:off x="640080" y="416052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One reusable pattern: project, read off the probability, then collapse.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Partial measurement</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280160"/>
            <a:ext cx="7772400" cy="914400"/>
          </a:xfrm>
          <a:prstGeom prst="roundRect">
            <a:avLst>
              <a:gd name="adj" fmla="val 6000"/>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685800" y="1280160"/>
            <a:ext cx="7772400" cy="914400"/>
          </a:xfrm>
          <a:prstGeom prst="rect">
            <a:avLst/>
          </a:prstGeom>
          <a:noFill/>
          <a:ln/>
        </p:spPr>
        <p:txBody>
          <a:bodyPr wrap="square" lIns="0" tIns="0" rIns="0" bIns="0" rtlCol="0" anchor="ctr"/>
          <a:lstStyle/>
          <a:p>
            <a:pPr marL="0" indent="0" algn="ctr">
              <a:buNone/>
            </a:pPr>
            <a:r>
              <a:rPr lang="en-US" sz="2200" dirty="0">
                <a:solidFill>
                  <a:srgbClr val="1A1A2E"/>
                </a:solidFill>
                <a:latin typeface="Georgia" pitchFamily="34" charset="0"/>
                <a:ea typeface="Georgia" pitchFamily="34" charset="-122"/>
                <a:cs typeface="Georgia" pitchFamily="34" charset="-120"/>
              </a:rPr>
              <a:t>|ψ⟩  =  a|00⟩ + b|01⟩ + c|10⟩ + d|11⟩</a:t>
            </a:r>
            <a:endParaRPr lang="en-US" sz="2200" dirty="0"/>
          </a:p>
        </p:txBody>
      </p:sp>
      <p:sp>
        <p:nvSpPr>
          <p:cNvPr id="5" name="Card frame">
            <a:extLst>
              <a:ext uri="{C183D7F6-B498-43B3-948B-1728B52AA6E4}">
                <adec:decorative xmlns:adec="http://schemas.microsoft.com/office/drawing/2017/decorative" val="1"/>
              </a:ext>
            </a:extLst>
          </p:cNvPr>
          <p:cNvSpPr/>
          <p:nvPr/>
        </p:nvSpPr>
        <p:spPr>
          <a:xfrm>
            <a:off x="685800" y="2423160"/>
            <a:ext cx="7772400" cy="548640"/>
          </a:xfrm>
          <a:prstGeom prst="roundRect">
            <a:avLst>
              <a:gd name="adj" fmla="val 10000"/>
            </a:avLst>
          </a:prstGeom>
          <a:solidFill>
            <a:srgbClr val="F4F5FB"/>
          </a:solidFill>
          <a:ln w="15240">
            <a:solidFill>
              <a:srgbClr val="3730A3"/>
            </a:solidFill>
            <a:prstDash val="solid"/>
          </a:ln>
        </p:spPr>
        <p:txBody>
          <a:bodyPr/>
          <a:lstStyle/>
          <a:p>
            <a:endParaRPr lang="en-US"/>
          </a:p>
        </p:txBody>
      </p:sp>
      <p:sp>
        <p:nvSpPr>
          <p:cNvPr id="6" name="Text 4"/>
          <p:cNvSpPr/>
          <p:nvPr/>
        </p:nvSpPr>
        <p:spPr>
          <a:xfrm>
            <a:off x="685800" y="2423160"/>
            <a:ext cx="7772400" cy="548640"/>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Measure only the first qubit</a:t>
            </a:r>
            <a:endParaRPr lang="en-US" sz="1400" dirty="0"/>
          </a:p>
        </p:txBody>
      </p:sp>
      <p:sp>
        <p:nvSpPr>
          <p:cNvPr id="7" name="Card frame">
            <a:extLst>
              <a:ext uri="{C183D7F6-B498-43B3-948B-1728B52AA6E4}">
                <adec:decorative xmlns:adec="http://schemas.microsoft.com/office/drawing/2017/decorative" val="1"/>
              </a:ext>
            </a:extLst>
          </p:cNvPr>
          <p:cNvSpPr/>
          <p:nvPr/>
        </p:nvSpPr>
        <p:spPr>
          <a:xfrm>
            <a:off x="777240" y="3154680"/>
            <a:ext cx="370332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8" name="Text 6"/>
          <p:cNvSpPr/>
          <p:nvPr/>
        </p:nvSpPr>
        <p:spPr>
          <a:xfrm>
            <a:off x="777240" y="3291840"/>
            <a:ext cx="3703320" cy="292608"/>
          </a:xfrm>
          <a:prstGeom prst="rect">
            <a:avLst/>
          </a:prstGeom>
          <a:noFill/>
          <a:ln/>
        </p:spPr>
        <p:txBody>
          <a:bodyPr wrap="square" lIns="0" tIns="0" rIns="0" bIns="0" rtlCol="0" anchor="ctr"/>
          <a:lstStyle/>
          <a:p>
            <a:pPr marL="0" indent="0" algn="ctr">
              <a:buNone/>
            </a:pPr>
            <a:r>
              <a:rPr lang="en-US" sz="1150" b="1" kern="0" spc="60" dirty="0">
                <a:solidFill>
                  <a:srgbClr val="3730A3"/>
                </a:solidFill>
                <a:latin typeface="Georgia" pitchFamily="34" charset="0"/>
                <a:ea typeface="Georgia" pitchFamily="34" charset="-122"/>
                <a:cs typeface="Georgia" pitchFamily="34" charset="-120"/>
              </a:rPr>
              <a:t>first qubit = 0</a:t>
            </a:r>
            <a:endParaRPr lang="en-US" sz="1150" dirty="0"/>
          </a:p>
        </p:txBody>
      </p:sp>
      <p:sp>
        <p:nvSpPr>
          <p:cNvPr id="9" name="Text 7"/>
          <p:cNvSpPr/>
          <p:nvPr/>
        </p:nvSpPr>
        <p:spPr>
          <a:xfrm>
            <a:off x="777240" y="3639312"/>
            <a:ext cx="3703320" cy="594360"/>
          </a:xfrm>
          <a:prstGeom prst="rect">
            <a:avLst/>
          </a:prstGeom>
          <a:noFill/>
          <a:ln/>
        </p:spPr>
        <p:txBody>
          <a:bodyPr wrap="square" lIns="0" tIns="0" rIns="0" bIns="0" rtlCol="0" anchor="ctr"/>
          <a:lstStyle/>
          <a:p>
            <a:pPr marL="0" indent="0" algn="ctr">
              <a:buNone/>
            </a:pPr>
            <a:r>
              <a:rPr lang="en-US" sz="2000" b="1" dirty="0">
                <a:solidFill>
                  <a:srgbClr val="3730A3"/>
                </a:solidFill>
                <a:latin typeface="Georgia" pitchFamily="34" charset="0"/>
                <a:ea typeface="Georgia" pitchFamily="34" charset="-122"/>
                <a:cs typeface="Georgia" pitchFamily="34" charset="-120"/>
              </a:rPr>
              <a:t>{ |00⟩ , |01⟩ }</a:t>
            </a:r>
            <a:endParaRPr lang="en-US" sz="2000" dirty="0"/>
          </a:p>
        </p:txBody>
      </p:sp>
      <p:sp>
        <p:nvSpPr>
          <p:cNvPr id="10" name="Card frame">
            <a:extLst>
              <a:ext uri="{C183D7F6-B498-43B3-948B-1728B52AA6E4}">
                <adec:decorative xmlns:adec="http://schemas.microsoft.com/office/drawing/2017/decorative" val="1"/>
              </a:ext>
            </a:extLst>
          </p:cNvPr>
          <p:cNvSpPr/>
          <p:nvPr/>
        </p:nvSpPr>
        <p:spPr>
          <a:xfrm>
            <a:off x="4754880" y="3154680"/>
            <a:ext cx="370332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1" name="Text 9"/>
          <p:cNvSpPr/>
          <p:nvPr/>
        </p:nvSpPr>
        <p:spPr>
          <a:xfrm>
            <a:off x="4754880" y="3291840"/>
            <a:ext cx="3703320" cy="292608"/>
          </a:xfrm>
          <a:prstGeom prst="rect">
            <a:avLst/>
          </a:prstGeom>
          <a:noFill/>
          <a:ln/>
        </p:spPr>
        <p:txBody>
          <a:bodyPr wrap="square" lIns="0" tIns="0" rIns="0" bIns="0" rtlCol="0" anchor="ctr"/>
          <a:lstStyle/>
          <a:p>
            <a:pPr marL="0" indent="0" algn="ctr">
              <a:buNone/>
            </a:pPr>
            <a:r>
              <a:rPr lang="en-US" sz="1150" b="1" kern="0" spc="60" dirty="0">
                <a:solidFill>
                  <a:srgbClr val="6B7280"/>
                </a:solidFill>
                <a:latin typeface="Georgia" pitchFamily="34" charset="0"/>
                <a:ea typeface="Georgia" pitchFamily="34" charset="-122"/>
                <a:cs typeface="Georgia" pitchFamily="34" charset="-120"/>
              </a:rPr>
              <a:t>first qubit = 1</a:t>
            </a:r>
            <a:endParaRPr lang="en-US" sz="1150" dirty="0"/>
          </a:p>
        </p:txBody>
      </p:sp>
      <p:sp>
        <p:nvSpPr>
          <p:cNvPr id="12" name="Text 10"/>
          <p:cNvSpPr/>
          <p:nvPr/>
        </p:nvSpPr>
        <p:spPr>
          <a:xfrm>
            <a:off x="4754880" y="3639312"/>
            <a:ext cx="3703320" cy="594360"/>
          </a:xfrm>
          <a:prstGeom prst="rect">
            <a:avLst/>
          </a:prstGeom>
          <a:noFill/>
          <a:ln/>
        </p:spPr>
        <p:txBody>
          <a:bodyPr wrap="square" lIns="0" tIns="0" rIns="0" bIns="0" rtlCol="0" anchor="ctr"/>
          <a:lstStyle/>
          <a:p>
            <a:pPr marL="0" indent="0" algn="ctr">
              <a:buNone/>
            </a:pPr>
            <a:r>
              <a:rPr lang="en-US" sz="2000" dirty="0">
                <a:solidFill>
                  <a:srgbClr val="1A1A2E"/>
                </a:solidFill>
                <a:latin typeface="Georgia" pitchFamily="34" charset="0"/>
                <a:ea typeface="Georgia" pitchFamily="34" charset="-122"/>
                <a:cs typeface="Georgia" pitchFamily="34" charset="-120"/>
              </a:rPr>
              <a:t>{ |10⟩ , |11⟩ }</a:t>
            </a:r>
            <a:endParaRPr lang="en-US" sz="2000" dirty="0"/>
          </a:p>
        </p:txBody>
      </p:sp>
      <p:sp>
        <p:nvSpPr>
          <p:cNvPr id="13" name="Text 11"/>
          <p:cNvSpPr/>
          <p:nvPr/>
        </p:nvSpPr>
        <p:spPr>
          <a:xfrm>
            <a:off x="640080" y="449884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Each outcome selects the subspace spanned by the basis states consistent with it.</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Partial-measurement probabilities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737360" y="1600200"/>
            <a:ext cx="5669280" cy="960120"/>
          </a:xfrm>
          <a:prstGeom prst="roundRect">
            <a:avLst>
              <a:gd name="adj" fmla="val 5714"/>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2286000" y="1600200"/>
            <a:ext cx="1463040" cy="960120"/>
          </a:xfrm>
          <a:prstGeom prst="rect">
            <a:avLst/>
          </a:prstGeom>
          <a:noFill/>
          <a:ln/>
        </p:spPr>
        <p:txBody>
          <a:bodyPr wrap="square" lIns="0" tIns="0" rIns="0" bIns="0" rtlCol="0" anchor="ctr"/>
          <a:lstStyle/>
          <a:p>
            <a:pPr marL="0" indent="0" algn="r">
              <a:buNone/>
            </a:pPr>
            <a:r>
              <a:rPr lang="en-US" sz="2200" b="1" dirty="0">
                <a:solidFill>
                  <a:srgbClr val="3730A3"/>
                </a:solidFill>
                <a:latin typeface="Georgia" pitchFamily="34" charset="0"/>
                <a:ea typeface="Georgia" pitchFamily="34" charset="-122"/>
                <a:cs typeface="Georgia" pitchFamily="34" charset="-120"/>
              </a:rPr>
              <a:t>P(0)  =</a:t>
            </a:r>
            <a:endParaRPr lang="en-US" sz="2200" dirty="0"/>
          </a:p>
        </p:txBody>
      </p:sp>
      <p:sp>
        <p:nvSpPr>
          <p:cNvPr id="5" name="Text 3"/>
          <p:cNvSpPr/>
          <p:nvPr/>
        </p:nvSpPr>
        <p:spPr>
          <a:xfrm>
            <a:off x="3886200" y="1600200"/>
            <a:ext cx="3108960" cy="960120"/>
          </a:xfrm>
          <a:prstGeom prst="rect">
            <a:avLst/>
          </a:prstGeom>
          <a:noFill/>
          <a:ln/>
        </p:spPr>
        <p:txBody>
          <a:bodyPr wrap="square" lIns="0" tIns="0" rIns="0" bIns="0" rtlCol="0" anchor="ctr"/>
          <a:lstStyle/>
          <a:p>
            <a:pPr marL="0" indent="0">
              <a:buNone/>
            </a:pPr>
            <a:r>
              <a:rPr lang="en-US" sz="2200" b="1" dirty="0">
                <a:solidFill>
                  <a:srgbClr val="3730A3"/>
                </a:solidFill>
                <a:latin typeface="Georgia" pitchFamily="34" charset="0"/>
                <a:ea typeface="Georgia" pitchFamily="34" charset="-122"/>
                <a:cs typeface="Georgia" pitchFamily="34" charset="-120"/>
              </a:rPr>
              <a:t>|a|² + |b|²</a:t>
            </a:r>
            <a:endParaRPr lang="en-US" sz="2200" dirty="0"/>
          </a:p>
        </p:txBody>
      </p:sp>
      <p:sp>
        <p:nvSpPr>
          <p:cNvPr id="6" name="Card frame">
            <a:extLst>
              <a:ext uri="{C183D7F6-B498-43B3-948B-1728B52AA6E4}">
                <adec:decorative xmlns:adec="http://schemas.microsoft.com/office/drawing/2017/decorative" val="1"/>
              </a:ext>
            </a:extLst>
          </p:cNvPr>
          <p:cNvSpPr/>
          <p:nvPr/>
        </p:nvSpPr>
        <p:spPr>
          <a:xfrm>
            <a:off x="1737360" y="2743200"/>
            <a:ext cx="5669280" cy="960120"/>
          </a:xfrm>
          <a:prstGeom prst="roundRect">
            <a:avLst>
              <a:gd name="adj" fmla="val 5714"/>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2286000" y="2743200"/>
            <a:ext cx="1463040" cy="960120"/>
          </a:xfrm>
          <a:prstGeom prst="rect">
            <a:avLst/>
          </a:prstGeom>
          <a:noFill/>
          <a:ln/>
        </p:spPr>
        <p:txBody>
          <a:bodyPr wrap="square" lIns="0" tIns="0" rIns="0" bIns="0" rtlCol="0" anchor="ctr"/>
          <a:lstStyle/>
          <a:p>
            <a:pPr marL="0" indent="0" algn="r">
              <a:buNone/>
            </a:pPr>
            <a:r>
              <a:rPr lang="en-US" sz="2200" b="1" dirty="0">
                <a:solidFill>
                  <a:srgbClr val="1A1A2E"/>
                </a:solidFill>
                <a:latin typeface="Georgia" pitchFamily="34" charset="0"/>
                <a:ea typeface="Georgia" pitchFamily="34" charset="-122"/>
                <a:cs typeface="Georgia" pitchFamily="34" charset="-120"/>
              </a:rPr>
              <a:t>P(1)  =</a:t>
            </a:r>
            <a:endParaRPr lang="en-US" sz="2200" dirty="0"/>
          </a:p>
        </p:txBody>
      </p:sp>
      <p:sp>
        <p:nvSpPr>
          <p:cNvPr id="8" name="Text 6"/>
          <p:cNvSpPr/>
          <p:nvPr/>
        </p:nvSpPr>
        <p:spPr>
          <a:xfrm>
            <a:off x="3886200" y="2743200"/>
            <a:ext cx="3108960" cy="960120"/>
          </a:xfrm>
          <a:prstGeom prst="rect">
            <a:avLst/>
          </a:prstGeom>
          <a:noFill/>
          <a:ln/>
        </p:spPr>
        <p:txBody>
          <a:bodyPr wrap="square" lIns="0" tIns="0" rIns="0" bIns="0" rtlCol="0" anchor="ctr"/>
          <a:lstStyle/>
          <a:p>
            <a:pPr marL="0" indent="0">
              <a:buNone/>
            </a:pPr>
            <a:r>
              <a:rPr lang="en-US" sz="2200" b="1" dirty="0">
                <a:solidFill>
                  <a:srgbClr val="1A1A2E"/>
                </a:solidFill>
                <a:latin typeface="Georgia" pitchFamily="34" charset="0"/>
                <a:ea typeface="Georgia" pitchFamily="34" charset="-122"/>
                <a:cs typeface="Georgia" pitchFamily="34" charset="-120"/>
              </a:rPr>
              <a:t>|c|² + |d|²</a:t>
            </a:r>
            <a:endParaRPr lang="en-US" sz="2200" dirty="0"/>
          </a:p>
        </p:txBody>
      </p:sp>
      <p:sp>
        <p:nvSpPr>
          <p:cNvPr id="9" name="Card frame">
            <a:extLst>
              <a:ext uri="{C183D7F6-B498-43B3-948B-1728B52AA6E4}">
                <adec:decorative xmlns:adec="http://schemas.microsoft.com/office/drawing/2017/decorative" val="1"/>
              </a:ext>
            </a:extLst>
          </p:cNvPr>
          <p:cNvSpPr/>
          <p:nvPr/>
        </p:nvSpPr>
        <p:spPr>
          <a:xfrm>
            <a:off x="777240" y="3931920"/>
            <a:ext cx="7589520" cy="731520"/>
          </a:xfrm>
          <a:prstGeom prst="roundRect">
            <a:avLst>
              <a:gd name="adj" fmla="val 7500"/>
            </a:avLst>
          </a:prstGeom>
          <a:solidFill>
            <a:srgbClr val="F4F5FB"/>
          </a:solidFill>
          <a:ln w="15240">
            <a:solidFill>
              <a:srgbClr val="3730A3"/>
            </a:solidFill>
            <a:prstDash val="solid"/>
          </a:ln>
        </p:spPr>
        <p:txBody>
          <a:bodyPr/>
          <a:lstStyle/>
          <a:p>
            <a:endParaRPr lang="en-US"/>
          </a:p>
        </p:txBody>
      </p:sp>
      <p:sp>
        <p:nvSpPr>
          <p:cNvPr id="10" name="Text 8"/>
          <p:cNvSpPr/>
          <p:nvPr/>
        </p:nvSpPr>
        <p:spPr>
          <a:xfrm>
            <a:off x="960120" y="3931920"/>
            <a:ext cx="7223760" cy="731520"/>
          </a:xfrm>
          <a:prstGeom prst="rect">
            <a:avLst/>
          </a:prstGeom>
          <a:noFill/>
          <a:ln/>
        </p:spPr>
        <p:txBody>
          <a:bodyPr wrap="square" lIns="0" tIns="0" rIns="0" bIns="0" rtlCol="0" anchor="ctr"/>
          <a:lstStyle/>
          <a:p>
            <a:pPr marL="0" indent="0" algn="ctr">
              <a:buNone/>
            </a:pPr>
            <a:r>
              <a:rPr lang="en-US" sz="1400" i="1" dirty="0">
                <a:solidFill>
                  <a:srgbClr val="1A1A2E"/>
                </a:solidFill>
                <a:latin typeface="Georgia" pitchFamily="34" charset="0"/>
                <a:ea typeface="Georgia" pitchFamily="34" charset="-122"/>
                <a:cs typeface="Georgia" pitchFamily="34" charset="-120"/>
              </a:rPr>
              <a:t>We add probabilities over the unmeasured degree of freedom.</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Post-measurement state</a:t>
            </a:r>
            <a:endParaRPr lang="en-US" sz="2500" dirty="0"/>
          </a:p>
        </p:txBody>
      </p:sp>
      <p:sp>
        <p:nvSpPr>
          <p:cNvPr id="3" name="Text 1"/>
          <p:cNvSpPr/>
          <p:nvPr/>
        </p:nvSpPr>
        <p:spPr>
          <a:xfrm>
            <a:off x="640080" y="1188720"/>
            <a:ext cx="7863840" cy="274320"/>
          </a:xfrm>
          <a:prstGeom prst="rect">
            <a:avLst/>
          </a:prstGeom>
          <a:noFill/>
          <a:ln/>
        </p:spPr>
        <p:txBody>
          <a:bodyPr wrap="square" lIns="0" tIns="0" rIns="0" bIns="0" rtlCol="0" anchor="ctr"/>
          <a:lstStyle/>
          <a:p>
            <a:pPr marL="0" indent="0" algn="ctr">
              <a:buNone/>
            </a:pPr>
            <a:r>
              <a:rPr lang="en-US" sz="1200" i="1" dirty="0">
                <a:solidFill>
                  <a:srgbClr val="6B7280"/>
                </a:solidFill>
                <a:latin typeface="Georgia" pitchFamily="34" charset="0"/>
                <a:ea typeface="Georgia" pitchFamily="34" charset="-122"/>
                <a:cs typeface="Georgia" pitchFamily="34" charset="-120"/>
              </a:rPr>
              <a:t>after outcome 0 on the first qubit</a:t>
            </a:r>
            <a:endParaRPr lang="en-US" sz="1200" dirty="0"/>
          </a:p>
        </p:txBody>
      </p:sp>
      <p:sp>
        <p:nvSpPr>
          <p:cNvPr id="4" name="Card frame">
            <a:extLst>
              <a:ext uri="{C183D7F6-B498-43B3-948B-1728B52AA6E4}">
                <adec:decorative xmlns:adec="http://schemas.microsoft.com/office/drawing/2017/decorative" val="1"/>
              </a:ext>
            </a:extLst>
          </p:cNvPr>
          <p:cNvSpPr/>
          <p:nvPr/>
        </p:nvSpPr>
        <p:spPr>
          <a:xfrm>
            <a:off x="1371600" y="1554480"/>
            <a:ext cx="6400800" cy="1371600"/>
          </a:xfrm>
          <a:prstGeom prst="roundRect">
            <a:avLst>
              <a:gd name="adj" fmla="val 4000"/>
            </a:avLst>
          </a:prstGeom>
          <a:solidFill>
            <a:srgbClr val="F4F5FB"/>
          </a:solidFill>
          <a:ln w="15240">
            <a:solidFill>
              <a:srgbClr val="3730A3"/>
            </a:solidFill>
            <a:prstDash val="solid"/>
          </a:ln>
        </p:spPr>
        <p:txBody>
          <a:bodyPr/>
          <a:lstStyle/>
          <a:p>
            <a:endParaRPr lang="en-US"/>
          </a:p>
        </p:txBody>
      </p:sp>
      <p:sp>
        <p:nvSpPr>
          <p:cNvPr id="5" name="Text 3"/>
          <p:cNvSpPr/>
          <p:nvPr/>
        </p:nvSpPr>
        <p:spPr>
          <a:xfrm>
            <a:off x="1737360" y="1554480"/>
            <a:ext cx="1463040" cy="1371600"/>
          </a:xfrm>
          <a:prstGeom prst="rect">
            <a:avLst/>
          </a:prstGeom>
          <a:noFill/>
          <a:ln/>
        </p:spPr>
        <p:txBody>
          <a:bodyPr wrap="square" lIns="0" tIns="0" rIns="0" bIns="0" rtlCol="0" anchor="ctr"/>
          <a:lstStyle/>
          <a:p>
            <a:pPr marL="0" indent="0">
              <a:buNone/>
            </a:pPr>
            <a:r>
              <a:rPr lang="en-US" sz="2200" b="1" dirty="0">
                <a:solidFill>
                  <a:srgbClr val="3730A3"/>
                </a:solidFill>
                <a:latin typeface="Georgia" pitchFamily="34" charset="0"/>
                <a:ea typeface="Georgia" pitchFamily="34" charset="-122"/>
                <a:cs typeface="Georgia" pitchFamily="34" charset="-120"/>
              </a:rPr>
              <a:t>|ψ′⟩  =</a:t>
            </a:r>
            <a:endParaRPr lang="en-US" sz="2200" dirty="0"/>
          </a:p>
        </p:txBody>
      </p:sp>
      <p:sp>
        <p:nvSpPr>
          <p:cNvPr id="6" name="Text 4"/>
          <p:cNvSpPr/>
          <p:nvPr/>
        </p:nvSpPr>
        <p:spPr>
          <a:xfrm>
            <a:off x="3520440" y="1874520"/>
            <a:ext cx="2880360" cy="310896"/>
          </a:xfrm>
          <a:prstGeom prst="rect">
            <a:avLst/>
          </a:prstGeom>
          <a:noFill/>
          <a:ln/>
        </p:spPr>
        <p:txBody>
          <a:bodyPr wrap="square" lIns="0" tIns="0" rIns="0" bIns="0" rtlCol="0" anchor="b"/>
          <a:lstStyle/>
          <a:p>
            <a:pPr marL="0" indent="0" algn="ctr">
              <a:buNone/>
            </a:pPr>
            <a:r>
              <a:rPr lang="en-US" sz="1700" dirty="0">
                <a:solidFill>
                  <a:srgbClr val="1A1A2E"/>
                </a:solidFill>
                <a:latin typeface="Georgia" pitchFamily="34" charset="0"/>
                <a:ea typeface="Georgia" pitchFamily="34" charset="-122"/>
                <a:cs typeface="Georgia" pitchFamily="34" charset="-120"/>
              </a:rPr>
              <a:t>a|00⟩ + b|01⟩</a:t>
            </a:r>
            <a:endParaRPr lang="en-US" sz="1700" dirty="0"/>
          </a:p>
        </p:txBody>
      </p:sp>
      <p:sp>
        <p:nvSpPr>
          <p:cNvPr id="7" name="Fraction bar">
            <a:extLst>
              <a:ext uri="{C183D7F6-B498-43B3-948B-1728B52AA6E4}">
                <adec:decorative xmlns:adec="http://schemas.microsoft.com/office/drawing/2017/decorative" val="1"/>
              </a:ext>
            </a:extLst>
          </p:cNvPr>
          <p:cNvSpPr/>
          <p:nvPr/>
        </p:nvSpPr>
        <p:spPr>
          <a:xfrm>
            <a:off x="3611880" y="2203704"/>
            <a:ext cx="2697480" cy="0"/>
          </a:xfrm>
          <a:prstGeom prst="line">
            <a:avLst/>
          </a:prstGeom>
          <a:noFill/>
          <a:ln w="15875">
            <a:solidFill>
              <a:srgbClr val="1A1A2E"/>
            </a:solidFill>
            <a:prstDash val="solid"/>
          </a:ln>
        </p:spPr>
        <p:txBody>
          <a:bodyPr/>
          <a:lstStyle/>
          <a:p>
            <a:endParaRPr lang="en-US"/>
          </a:p>
        </p:txBody>
      </p:sp>
      <p:sp>
        <p:nvSpPr>
          <p:cNvPr id="8" name="Text 6"/>
          <p:cNvSpPr/>
          <p:nvPr/>
        </p:nvSpPr>
        <p:spPr>
          <a:xfrm>
            <a:off x="3520440" y="2221992"/>
            <a:ext cx="2880360" cy="310896"/>
          </a:xfrm>
          <a:prstGeom prst="rect">
            <a:avLst/>
          </a:prstGeom>
          <a:noFill/>
          <a:ln/>
        </p:spPr>
        <p:txBody>
          <a:bodyPr wrap="square" lIns="0" tIns="0" rIns="0" bIns="0" rtlCol="0" anchor="t"/>
          <a:lstStyle/>
          <a:p>
            <a:pPr marL="0" indent="0" algn="ctr">
              <a:buNone/>
            </a:pPr>
            <a:r>
              <a:rPr lang="en-US" sz="1700" dirty="0">
                <a:solidFill>
                  <a:srgbClr val="1A1A2E"/>
                </a:solidFill>
                <a:latin typeface="Georgia" pitchFamily="34" charset="0"/>
                <a:ea typeface="Georgia" pitchFamily="34" charset="-122"/>
                <a:cs typeface="Georgia" pitchFamily="34" charset="-120"/>
              </a:rPr>
              <a:t>√( |a|² + |b|² )</a:t>
            </a:r>
            <a:endParaRPr lang="en-US" sz="1700" dirty="0"/>
          </a:p>
        </p:txBody>
      </p:sp>
      <p:sp>
        <p:nvSpPr>
          <p:cNvPr id="9" name="Card frame">
            <a:extLst>
              <a:ext uri="{C183D7F6-B498-43B3-948B-1728B52AA6E4}">
                <adec:decorative xmlns:adec="http://schemas.microsoft.com/office/drawing/2017/decorative" val="1"/>
              </a:ext>
            </a:extLst>
          </p:cNvPr>
          <p:cNvSpPr/>
          <p:nvPr/>
        </p:nvSpPr>
        <p:spPr>
          <a:xfrm>
            <a:off x="1371600" y="3154680"/>
            <a:ext cx="6400800" cy="1051560"/>
          </a:xfrm>
          <a:prstGeom prst="roundRect">
            <a:avLst>
              <a:gd name="adj" fmla="val 5217"/>
            </a:avLst>
          </a:prstGeom>
          <a:solidFill>
            <a:srgbClr val="FFFFFF"/>
          </a:solidFill>
          <a:ln w="12700">
            <a:solidFill>
              <a:srgbClr val="D4D7DD"/>
            </a:solidFill>
            <a:prstDash val="solid"/>
          </a:ln>
        </p:spPr>
        <p:txBody>
          <a:bodyPr/>
          <a:lstStyle/>
          <a:p>
            <a:endParaRPr lang="en-US"/>
          </a:p>
        </p:txBody>
      </p:sp>
      <p:sp>
        <p:nvSpPr>
          <p:cNvPr id="10" name="Text 8"/>
          <p:cNvSpPr/>
          <p:nvPr/>
        </p:nvSpPr>
        <p:spPr>
          <a:xfrm>
            <a:off x="1737360" y="3154680"/>
            <a:ext cx="822960" cy="1051560"/>
          </a:xfrm>
          <a:prstGeom prst="rect">
            <a:avLst/>
          </a:prstGeom>
          <a:noFill/>
          <a:ln/>
        </p:spPr>
        <p:txBody>
          <a:bodyPr wrap="square" lIns="0" tIns="0" rIns="0" bIns="0" rtlCol="0" anchor="ctr"/>
          <a:lstStyle/>
          <a:p>
            <a:pPr marL="0" indent="0" algn="ctr">
              <a:buNone/>
            </a:pPr>
            <a:r>
              <a:rPr lang="en-US" sz="2200" b="1" dirty="0">
                <a:solidFill>
                  <a:srgbClr val="3730A3"/>
                </a:solidFill>
                <a:latin typeface="Georgia" pitchFamily="34" charset="0"/>
                <a:ea typeface="Georgia" pitchFamily="34" charset="-122"/>
                <a:cs typeface="Georgia" pitchFamily="34" charset="-120"/>
              </a:rPr>
              <a:t>|0⟩</a:t>
            </a:r>
            <a:endParaRPr lang="en-US" sz="2200" dirty="0"/>
          </a:p>
        </p:txBody>
      </p:sp>
      <p:sp>
        <p:nvSpPr>
          <p:cNvPr id="11" name="Text 9"/>
          <p:cNvSpPr/>
          <p:nvPr/>
        </p:nvSpPr>
        <p:spPr>
          <a:xfrm>
            <a:off x="2606040" y="3154680"/>
            <a:ext cx="548640" cy="1051560"/>
          </a:xfrm>
          <a:prstGeom prst="rect">
            <a:avLst/>
          </a:prstGeom>
          <a:noFill/>
          <a:ln/>
        </p:spPr>
        <p:txBody>
          <a:bodyPr wrap="square" lIns="0" tIns="0" rIns="0" bIns="0" rtlCol="0" anchor="ctr"/>
          <a:lstStyle/>
          <a:p>
            <a:pPr marL="0" indent="0" algn="ctr">
              <a:buNone/>
            </a:pPr>
            <a:r>
              <a:rPr lang="en-US" sz="1800" dirty="0">
                <a:solidFill>
                  <a:srgbClr val="6B7280"/>
                </a:solidFill>
                <a:latin typeface="Georgia" pitchFamily="34" charset="0"/>
                <a:ea typeface="Georgia" pitchFamily="34" charset="-122"/>
                <a:cs typeface="Georgia" pitchFamily="34" charset="-120"/>
              </a:rPr>
              <a:t>⊗</a:t>
            </a:r>
            <a:endParaRPr lang="en-US" sz="1800" dirty="0"/>
          </a:p>
        </p:txBody>
      </p:sp>
      <p:sp>
        <p:nvSpPr>
          <p:cNvPr id="12" name="Text 10"/>
          <p:cNvSpPr/>
          <p:nvPr/>
        </p:nvSpPr>
        <p:spPr>
          <a:xfrm>
            <a:off x="3200400" y="3154680"/>
            <a:ext cx="4206240" cy="1051560"/>
          </a:xfrm>
          <a:prstGeom prst="rect">
            <a:avLst/>
          </a:prstGeom>
          <a:noFill/>
          <a:ln/>
        </p:spPr>
        <p:txBody>
          <a:bodyPr wrap="square" lIns="0" tIns="0" rIns="0" bIns="0" rtlCol="0" anchor="ctr"/>
          <a:lstStyle/>
          <a:p>
            <a:pPr marL="0" indent="0">
              <a:buNone/>
            </a:pPr>
            <a:r>
              <a:rPr lang="en-US" sz="1700" dirty="0">
                <a:solidFill>
                  <a:srgbClr val="1A1A2E"/>
                </a:solidFill>
                <a:latin typeface="Georgia" pitchFamily="34" charset="0"/>
                <a:ea typeface="Georgia" pitchFamily="34" charset="-122"/>
                <a:cs typeface="Georgia" pitchFamily="34" charset="-120"/>
              </a:rPr>
              <a:t>( a|0⟩ + b|1⟩ )  normalized</a:t>
            </a:r>
            <a:endParaRPr lang="en-US" sz="1700" dirty="0"/>
          </a:p>
        </p:txBody>
      </p:sp>
      <p:sp>
        <p:nvSpPr>
          <p:cNvPr id="13" name="Text 11"/>
          <p:cNvSpPr/>
          <p:nvPr/>
        </p:nvSpPr>
        <p:spPr>
          <a:xfrm>
            <a:off x="640080" y="431596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The measured qubit is now definite; the second qubit can remain in superposition.</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Measurement need not reveal every bit</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685800" y="1234440"/>
            <a:ext cx="7772400" cy="594360"/>
          </a:xfrm>
          <a:prstGeom prst="roundRect">
            <a:avLst>
              <a:gd name="adj" fmla="val 9231"/>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868680" y="1234440"/>
            <a:ext cx="7406640" cy="594360"/>
          </a:xfrm>
          <a:prstGeom prst="rect">
            <a:avLst/>
          </a:prstGeom>
          <a:noFill/>
          <a:ln/>
        </p:spPr>
        <p:txBody>
          <a:bodyPr wrap="square" lIns="0" tIns="0" rIns="0" bIns="0" rtlCol="0" anchor="ctr"/>
          <a:lstStyle/>
          <a:p>
            <a:pPr marL="0" indent="0">
              <a:buNone/>
            </a:pPr>
            <a:r>
              <a:rPr lang="en-US" sz="1500" b="1" dirty="0">
                <a:solidFill>
                  <a:srgbClr val="3730A3"/>
                </a:solidFill>
                <a:latin typeface="Georgia" pitchFamily="34" charset="0"/>
                <a:ea typeface="Georgia" pitchFamily="34" charset="-122"/>
                <a:cs typeface="Georgia" pitchFamily="34" charset="-120"/>
              </a:rPr>
              <a:t>Can we learn whether the two bits are equal, without learning their values?</a:t>
            </a:r>
            <a:endParaRPr lang="en-US" sz="1500" dirty="0"/>
          </a:p>
        </p:txBody>
      </p:sp>
      <p:sp>
        <p:nvSpPr>
          <p:cNvPr id="5" name="Card frame">
            <a:extLst>
              <a:ext uri="{C183D7F6-B498-43B3-948B-1728B52AA6E4}">
                <adec:decorative xmlns:adec="http://schemas.microsoft.com/office/drawing/2017/decorative" val="1"/>
              </a:ext>
            </a:extLst>
          </p:cNvPr>
          <p:cNvSpPr/>
          <p:nvPr/>
        </p:nvSpPr>
        <p:spPr>
          <a:xfrm>
            <a:off x="1051560" y="2057400"/>
            <a:ext cx="7040880" cy="914400"/>
          </a:xfrm>
          <a:prstGeom prst="roundRect">
            <a:avLst>
              <a:gd name="adj" fmla="val 6000"/>
            </a:avLst>
          </a:prstGeom>
          <a:solidFill>
            <a:srgbClr val="F4F5FB"/>
          </a:solidFill>
          <a:ln w="15240">
            <a:solidFill>
              <a:srgbClr val="3730A3"/>
            </a:solidFill>
            <a:prstDash val="solid"/>
          </a:ln>
        </p:spPr>
        <p:txBody>
          <a:bodyPr/>
          <a:lstStyle/>
          <a:p>
            <a:endParaRPr lang="en-US"/>
          </a:p>
        </p:txBody>
      </p:sp>
      <p:sp>
        <p:nvSpPr>
          <p:cNvPr id="6" name="Text 4"/>
          <p:cNvSpPr/>
          <p:nvPr/>
        </p:nvSpPr>
        <p:spPr>
          <a:xfrm>
            <a:off x="1417320" y="2057400"/>
            <a:ext cx="6400800" cy="914400"/>
          </a:xfrm>
          <a:prstGeom prst="rect">
            <a:avLst/>
          </a:prstGeom>
          <a:noFill/>
          <a:ln/>
        </p:spPr>
        <p:txBody>
          <a:bodyPr wrap="square" lIns="0" tIns="0" rIns="0" bIns="0" rtlCol="0" anchor="ctr"/>
          <a:lstStyle/>
          <a:p>
            <a:pPr marL="0" indent="0">
              <a:buNone/>
            </a:pPr>
            <a:r>
              <a:rPr lang="en-US" sz="2000" b="1" dirty="0">
                <a:solidFill>
                  <a:srgbClr val="3730A3"/>
                </a:solidFill>
                <a:latin typeface="Georgia" pitchFamily="34" charset="0"/>
                <a:ea typeface="Georgia" pitchFamily="34" charset="-122"/>
                <a:cs typeface="Georgia" pitchFamily="34" charset="-120"/>
              </a:rPr>
              <a:t>S</a:t>
            </a:r>
            <a:r>
              <a:rPr lang="en-US" sz="1300" dirty="0">
                <a:solidFill>
                  <a:srgbClr val="3730A3"/>
                </a:solidFill>
                <a:latin typeface="Georgia" pitchFamily="34" charset="0"/>
                <a:ea typeface="Georgia" pitchFamily="34" charset="-122"/>
                <a:cs typeface="Georgia" pitchFamily="34" charset="-120"/>
              </a:rPr>
              <a:t> equal   =   </a:t>
            </a:r>
            <a:r>
              <a:rPr lang="en-US" sz="1900" b="1" dirty="0">
                <a:solidFill>
                  <a:srgbClr val="3730A3"/>
                </a:solidFill>
                <a:latin typeface="Georgia" pitchFamily="34" charset="0"/>
                <a:ea typeface="Georgia" pitchFamily="34" charset="-122"/>
                <a:cs typeface="Georgia" pitchFamily="34" charset="-120"/>
              </a:rPr>
              <a:t>span { |00⟩ , |11⟩ }</a:t>
            </a:r>
            <a:endParaRPr lang="en-US" sz="2000" dirty="0"/>
          </a:p>
        </p:txBody>
      </p:sp>
      <p:sp>
        <p:nvSpPr>
          <p:cNvPr id="7" name="Card frame">
            <a:extLst>
              <a:ext uri="{C183D7F6-B498-43B3-948B-1728B52AA6E4}">
                <adec:decorative xmlns:adec="http://schemas.microsoft.com/office/drawing/2017/decorative" val="1"/>
              </a:ext>
            </a:extLst>
          </p:cNvPr>
          <p:cNvSpPr/>
          <p:nvPr/>
        </p:nvSpPr>
        <p:spPr>
          <a:xfrm>
            <a:off x="1051560" y="3154680"/>
            <a:ext cx="7040880" cy="914400"/>
          </a:xfrm>
          <a:prstGeom prst="roundRect">
            <a:avLst>
              <a:gd name="adj" fmla="val 6000"/>
            </a:avLst>
          </a:prstGeom>
          <a:solidFill>
            <a:srgbClr val="FFFFFF"/>
          </a:solidFill>
          <a:ln w="12700">
            <a:solidFill>
              <a:srgbClr val="D4D7DD"/>
            </a:solidFill>
            <a:prstDash val="solid"/>
          </a:ln>
        </p:spPr>
        <p:txBody>
          <a:bodyPr/>
          <a:lstStyle/>
          <a:p>
            <a:endParaRPr lang="en-US"/>
          </a:p>
        </p:txBody>
      </p:sp>
      <p:sp>
        <p:nvSpPr>
          <p:cNvPr id="8" name="Text 6"/>
          <p:cNvSpPr/>
          <p:nvPr/>
        </p:nvSpPr>
        <p:spPr>
          <a:xfrm>
            <a:off x="1417320" y="3154680"/>
            <a:ext cx="6400800" cy="914400"/>
          </a:xfrm>
          <a:prstGeom prst="rect">
            <a:avLst/>
          </a:prstGeom>
          <a:noFill/>
          <a:ln/>
        </p:spPr>
        <p:txBody>
          <a:bodyPr wrap="square" lIns="0" tIns="0" rIns="0" bIns="0" rtlCol="0" anchor="ctr"/>
          <a:lstStyle/>
          <a:p>
            <a:pPr marL="0" indent="0">
              <a:buNone/>
            </a:pPr>
            <a:r>
              <a:rPr lang="en-US" sz="2000" b="1" dirty="0">
                <a:solidFill>
                  <a:srgbClr val="1A1A2E"/>
                </a:solidFill>
                <a:latin typeface="Georgia" pitchFamily="34" charset="0"/>
                <a:ea typeface="Georgia" pitchFamily="34" charset="-122"/>
                <a:cs typeface="Georgia" pitchFamily="34" charset="-120"/>
              </a:rPr>
              <a:t>S</a:t>
            </a:r>
            <a:r>
              <a:rPr lang="en-US" sz="1300" dirty="0">
                <a:solidFill>
                  <a:srgbClr val="6B7280"/>
                </a:solidFill>
                <a:latin typeface="Georgia" pitchFamily="34" charset="0"/>
                <a:ea typeface="Georgia" pitchFamily="34" charset="-122"/>
                <a:cs typeface="Georgia" pitchFamily="34" charset="-120"/>
              </a:rPr>
              <a:t> unequal   =   </a:t>
            </a:r>
            <a:r>
              <a:rPr lang="en-US" sz="1900" b="1" dirty="0">
                <a:solidFill>
                  <a:srgbClr val="1A1A2E"/>
                </a:solidFill>
                <a:latin typeface="Georgia" pitchFamily="34" charset="0"/>
                <a:ea typeface="Georgia" pitchFamily="34" charset="-122"/>
                <a:cs typeface="Georgia" pitchFamily="34" charset="-120"/>
              </a:rPr>
              <a:t>span { |01⟩ , |10⟩ }</a:t>
            </a:r>
            <a:endParaRPr lang="en-US" sz="2000" dirty="0"/>
          </a:p>
        </p:txBody>
      </p:sp>
      <p:sp>
        <p:nvSpPr>
          <p:cNvPr id="9" name="Text 7"/>
          <p:cNvSpPr/>
          <p:nvPr/>
        </p:nvSpPr>
        <p:spPr>
          <a:xfrm>
            <a:off x="640080" y="4279392"/>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Two orthogonal subspaces — the answer is one bit of information, not two.</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Equality projectors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777240" y="1371600"/>
            <a:ext cx="7589520" cy="1051560"/>
          </a:xfrm>
          <a:prstGeom prst="roundRect">
            <a:avLst>
              <a:gd name="adj" fmla="val 5217"/>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1143000" y="1371600"/>
            <a:ext cx="6949440" cy="1051560"/>
          </a:xfrm>
          <a:prstGeom prst="rect">
            <a:avLst/>
          </a:prstGeom>
          <a:noFill/>
          <a:ln/>
        </p:spPr>
        <p:txBody>
          <a:bodyPr wrap="square" lIns="0" tIns="0" rIns="0" bIns="0" rtlCol="0" anchor="ctr"/>
          <a:lstStyle/>
          <a:p>
            <a:pPr marL="0" indent="0">
              <a:buNone/>
            </a:pPr>
            <a:r>
              <a:rPr lang="en-US" sz="2100" b="1" dirty="0">
                <a:solidFill>
                  <a:srgbClr val="3730A3"/>
                </a:solidFill>
                <a:latin typeface="Georgia" pitchFamily="34" charset="0"/>
                <a:ea typeface="Georgia" pitchFamily="34" charset="-122"/>
                <a:cs typeface="Georgia" pitchFamily="34" charset="-120"/>
              </a:rPr>
              <a:t>P</a:t>
            </a:r>
            <a:r>
              <a:rPr lang="en-US" sz="1300" dirty="0">
                <a:solidFill>
                  <a:srgbClr val="3730A3"/>
                </a:solidFill>
                <a:latin typeface="Georgia" pitchFamily="34" charset="0"/>
                <a:ea typeface="Georgia" pitchFamily="34" charset="-122"/>
                <a:cs typeface="Georgia" pitchFamily="34" charset="-120"/>
              </a:rPr>
              <a:t> equal   =   </a:t>
            </a:r>
            <a:r>
              <a:rPr lang="en-US" sz="1900" b="1" dirty="0">
                <a:solidFill>
                  <a:srgbClr val="3730A3"/>
                </a:solidFill>
                <a:latin typeface="Georgia" pitchFamily="34" charset="0"/>
                <a:ea typeface="Georgia" pitchFamily="34" charset="-122"/>
                <a:cs typeface="Georgia" pitchFamily="34" charset="-120"/>
              </a:rPr>
              <a:t>|00⟩⟨00|  +  |11⟩⟨11|</a:t>
            </a:r>
            <a:endParaRPr lang="en-US" sz="2100" dirty="0"/>
          </a:p>
        </p:txBody>
      </p:sp>
      <p:sp>
        <p:nvSpPr>
          <p:cNvPr id="5" name="Card frame">
            <a:extLst>
              <a:ext uri="{C183D7F6-B498-43B3-948B-1728B52AA6E4}">
                <adec:decorative xmlns:adec="http://schemas.microsoft.com/office/drawing/2017/decorative" val="1"/>
              </a:ext>
            </a:extLst>
          </p:cNvPr>
          <p:cNvSpPr/>
          <p:nvPr/>
        </p:nvSpPr>
        <p:spPr>
          <a:xfrm>
            <a:off x="777240" y="2606040"/>
            <a:ext cx="7589520" cy="1051560"/>
          </a:xfrm>
          <a:prstGeom prst="roundRect">
            <a:avLst>
              <a:gd name="adj" fmla="val 5217"/>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1143000" y="2606040"/>
            <a:ext cx="6949440" cy="1051560"/>
          </a:xfrm>
          <a:prstGeom prst="rect">
            <a:avLst/>
          </a:prstGeom>
          <a:noFill/>
          <a:ln/>
        </p:spPr>
        <p:txBody>
          <a:bodyPr wrap="square" lIns="0" tIns="0" rIns="0" bIns="0" rtlCol="0" anchor="ctr"/>
          <a:lstStyle/>
          <a:p>
            <a:pPr marL="0" indent="0">
              <a:buNone/>
            </a:pPr>
            <a:r>
              <a:rPr lang="en-US" sz="2100" b="1" dirty="0">
                <a:solidFill>
                  <a:srgbClr val="1A1A2E"/>
                </a:solidFill>
                <a:latin typeface="Georgia" pitchFamily="34" charset="0"/>
                <a:ea typeface="Georgia" pitchFamily="34" charset="-122"/>
                <a:cs typeface="Georgia" pitchFamily="34" charset="-120"/>
              </a:rPr>
              <a:t>P</a:t>
            </a:r>
            <a:r>
              <a:rPr lang="en-US" sz="1300" dirty="0">
                <a:solidFill>
                  <a:srgbClr val="6B7280"/>
                </a:solidFill>
                <a:latin typeface="Georgia" pitchFamily="34" charset="0"/>
                <a:ea typeface="Georgia" pitchFamily="34" charset="-122"/>
                <a:cs typeface="Georgia" pitchFamily="34" charset="-120"/>
              </a:rPr>
              <a:t> unequal   =   </a:t>
            </a:r>
            <a:r>
              <a:rPr lang="en-US" sz="1900" b="1" dirty="0">
                <a:solidFill>
                  <a:srgbClr val="1A1A2E"/>
                </a:solidFill>
                <a:latin typeface="Georgia" pitchFamily="34" charset="0"/>
                <a:ea typeface="Georgia" pitchFamily="34" charset="-122"/>
                <a:cs typeface="Georgia" pitchFamily="34" charset="-120"/>
              </a:rPr>
              <a:t>|01⟩⟨01|  +  |10⟩⟨10|</a:t>
            </a:r>
            <a:endParaRPr lang="en-US" sz="2100" dirty="0"/>
          </a:p>
        </p:txBody>
      </p:sp>
      <p:sp>
        <p:nvSpPr>
          <p:cNvPr id="7" name="Card frame">
            <a:extLst>
              <a:ext uri="{C183D7F6-B498-43B3-948B-1728B52AA6E4}">
                <adec:decorative xmlns:adec="http://schemas.microsoft.com/office/drawing/2017/decorative" val="1"/>
              </a:ext>
            </a:extLst>
          </p:cNvPr>
          <p:cNvSpPr/>
          <p:nvPr/>
        </p:nvSpPr>
        <p:spPr>
          <a:xfrm>
            <a:off x="777240" y="3886200"/>
            <a:ext cx="7589520" cy="777240"/>
          </a:xfrm>
          <a:prstGeom prst="roundRect">
            <a:avLst>
              <a:gd name="adj" fmla="val 7059"/>
            </a:avLst>
          </a:prstGeom>
          <a:solidFill>
            <a:srgbClr val="F4F5FB"/>
          </a:solidFill>
          <a:ln w="15240">
            <a:solidFill>
              <a:srgbClr val="3730A3"/>
            </a:solidFill>
            <a:prstDash val="solid"/>
          </a:ln>
        </p:spPr>
        <p:txBody>
          <a:bodyPr/>
          <a:lstStyle/>
          <a:p>
            <a:endParaRPr lang="en-US"/>
          </a:p>
        </p:txBody>
      </p:sp>
      <p:sp>
        <p:nvSpPr>
          <p:cNvPr id="8" name="Text 6"/>
          <p:cNvSpPr/>
          <p:nvPr/>
        </p:nvSpPr>
        <p:spPr>
          <a:xfrm>
            <a:off x="960120" y="3886200"/>
            <a:ext cx="7223760" cy="777240"/>
          </a:xfrm>
          <a:prstGeom prst="rect">
            <a:avLst/>
          </a:prstGeom>
          <a:noFill/>
          <a:ln/>
        </p:spPr>
        <p:txBody>
          <a:bodyPr wrap="square" lIns="0" tIns="0" rIns="0" bIns="0" rtlCol="0" anchor="ctr"/>
          <a:lstStyle/>
          <a:p>
            <a:pPr marL="0" indent="0" algn="ctr">
              <a:buNone/>
            </a:pPr>
            <a:r>
              <a:rPr lang="en-US" sz="1400" i="1" dirty="0">
                <a:solidFill>
                  <a:srgbClr val="1A1A2E"/>
                </a:solidFill>
                <a:latin typeface="Georgia" pitchFamily="34" charset="0"/>
                <a:ea typeface="Georgia" pitchFamily="34" charset="-122"/>
                <a:cs typeface="Georgia" pitchFamily="34" charset="-120"/>
              </a:rPr>
              <a:t>Such a measurement can preserve superpositions inside the selected subspace.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Guided problem: E3</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234440" y="1261872"/>
            <a:ext cx="6675120" cy="1051560"/>
          </a:xfrm>
          <a:prstGeom prst="roundRect">
            <a:avLst>
              <a:gd name="adj" fmla="val 5217"/>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1554480" y="1261872"/>
            <a:ext cx="1188720" cy="1051560"/>
          </a:xfrm>
          <a:prstGeom prst="rect">
            <a:avLst/>
          </a:prstGeom>
          <a:noFill/>
          <a:ln/>
        </p:spPr>
        <p:txBody>
          <a:bodyPr wrap="square" lIns="0" tIns="0" rIns="0" bIns="0" rtlCol="0" anchor="ctr"/>
          <a:lstStyle/>
          <a:p>
            <a:pPr marL="0" indent="0">
              <a:buNone/>
            </a:pPr>
            <a:r>
              <a:rPr lang="en-US" sz="2100" b="1" dirty="0">
                <a:solidFill>
                  <a:srgbClr val="3730A3"/>
                </a:solidFill>
                <a:latin typeface="Georgia" pitchFamily="34" charset="0"/>
                <a:ea typeface="Georgia" pitchFamily="34" charset="-122"/>
                <a:cs typeface="Georgia" pitchFamily="34" charset="-120"/>
              </a:rPr>
              <a:t>|ψ⟩  =</a:t>
            </a:r>
            <a:endParaRPr lang="en-US" sz="2100" dirty="0"/>
          </a:p>
        </p:txBody>
      </p:sp>
      <p:sp>
        <p:nvSpPr>
          <p:cNvPr id="5" name="Text 3"/>
          <p:cNvSpPr/>
          <p:nvPr/>
        </p:nvSpPr>
        <p:spPr>
          <a:xfrm>
            <a:off x="2743200" y="1463040"/>
            <a:ext cx="685800" cy="310896"/>
          </a:xfrm>
          <a:prstGeom prst="rect">
            <a:avLst/>
          </a:prstGeom>
          <a:noFill/>
          <a:ln/>
        </p:spPr>
        <p:txBody>
          <a:bodyPr wrap="square" lIns="0" tIns="0" rIns="0" bIns="0" rtlCol="0" anchor="b"/>
          <a:lstStyle/>
          <a:p>
            <a:pPr marL="0" indent="0" algn="ctr">
              <a:buNone/>
            </a:pPr>
            <a:r>
              <a:rPr lang="en-US" sz="1600" dirty="0">
                <a:solidFill>
                  <a:srgbClr val="3730A3"/>
                </a:solidFill>
                <a:latin typeface="Georgia" pitchFamily="34" charset="0"/>
                <a:ea typeface="Georgia" pitchFamily="34" charset="-122"/>
                <a:cs typeface="Georgia" pitchFamily="34" charset="-120"/>
              </a:rPr>
              <a:t>1</a:t>
            </a:r>
            <a:endParaRPr lang="en-US" sz="1600" dirty="0"/>
          </a:p>
        </p:txBody>
      </p:sp>
      <p:sp>
        <p:nvSpPr>
          <p:cNvPr id="6" name="Fraction bar">
            <a:extLst>
              <a:ext uri="{C183D7F6-B498-43B3-948B-1728B52AA6E4}">
                <adec:decorative xmlns:adec="http://schemas.microsoft.com/office/drawing/2017/decorative" val="1"/>
              </a:ext>
            </a:extLst>
          </p:cNvPr>
          <p:cNvSpPr/>
          <p:nvPr/>
        </p:nvSpPr>
        <p:spPr>
          <a:xfrm>
            <a:off x="2834640" y="1792224"/>
            <a:ext cx="502920" cy="0"/>
          </a:xfrm>
          <a:prstGeom prst="line">
            <a:avLst/>
          </a:prstGeom>
          <a:noFill/>
          <a:ln w="15875">
            <a:solidFill>
              <a:srgbClr val="3730A3"/>
            </a:solidFill>
            <a:prstDash val="solid"/>
          </a:ln>
        </p:spPr>
        <p:txBody>
          <a:bodyPr/>
          <a:lstStyle/>
          <a:p>
            <a:endParaRPr lang="en-US"/>
          </a:p>
        </p:txBody>
      </p:sp>
      <p:sp>
        <p:nvSpPr>
          <p:cNvPr id="7" name="Text 5"/>
          <p:cNvSpPr/>
          <p:nvPr/>
        </p:nvSpPr>
        <p:spPr>
          <a:xfrm>
            <a:off x="2743200" y="1810512"/>
            <a:ext cx="685800" cy="310896"/>
          </a:xfrm>
          <a:prstGeom prst="rect">
            <a:avLst/>
          </a:prstGeom>
          <a:noFill/>
          <a:ln/>
        </p:spPr>
        <p:txBody>
          <a:bodyPr wrap="square" lIns="0" tIns="0" rIns="0" bIns="0" rtlCol="0" anchor="t"/>
          <a:lstStyle/>
          <a:p>
            <a:pPr marL="0" indent="0" algn="ctr">
              <a:buNone/>
            </a:pPr>
            <a:r>
              <a:rPr lang="en-US" sz="1600" dirty="0">
                <a:solidFill>
                  <a:srgbClr val="3730A3"/>
                </a:solidFill>
                <a:latin typeface="Georgia" pitchFamily="34" charset="0"/>
                <a:ea typeface="Georgia" pitchFamily="34" charset="-122"/>
                <a:cs typeface="Georgia" pitchFamily="34" charset="-120"/>
              </a:rPr>
              <a:t>2</a:t>
            </a:r>
            <a:endParaRPr lang="en-US" sz="1600" dirty="0"/>
          </a:p>
        </p:txBody>
      </p:sp>
      <p:sp>
        <p:nvSpPr>
          <p:cNvPr id="8" name="Text 6"/>
          <p:cNvSpPr/>
          <p:nvPr/>
        </p:nvSpPr>
        <p:spPr>
          <a:xfrm>
            <a:off x="3520440" y="1261872"/>
            <a:ext cx="4206240" cy="1051560"/>
          </a:xfrm>
          <a:prstGeom prst="rect">
            <a:avLst/>
          </a:prstGeom>
          <a:noFill/>
          <a:ln/>
        </p:spPr>
        <p:txBody>
          <a:bodyPr wrap="square" lIns="0" tIns="0" rIns="0" bIns="0" rtlCol="0" anchor="ctr"/>
          <a:lstStyle/>
          <a:p>
            <a:pPr marL="0" indent="0">
              <a:buNone/>
            </a:pPr>
            <a:r>
              <a:rPr lang="en-US" sz="1800" b="1" dirty="0">
                <a:solidFill>
                  <a:srgbClr val="3730A3"/>
                </a:solidFill>
                <a:latin typeface="Georgia" pitchFamily="34" charset="0"/>
                <a:ea typeface="Georgia" pitchFamily="34" charset="-122"/>
                <a:cs typeface="Georgia" pitchFamily="34" charset="-120"/>
              </a:rPr>
              <a:t>( |00⟩ + |01⟩ + |10⟩ + |11⟩ )</a:t>
            </a:r>
            <a:endParaRPr lang="en-US" sz="1800" dirty="0"/>
          </a:p>
        </p:txBody>
      </p:sp>
      <p:sp>
        <p:nvSpPr>
          <p:cNvPr id="9" name="Card frame">
            <a:extLst>
              <a:ext uri="{C183D7F6-B498-43B3-948B-1728B52AA6E4}">
                <adec:decorative xmlns:adec="http://schemas.microsoft.com/office/drawing/2017/decorative" val="1"/>
              </a:ext>
            </a:extLst>
          </p:cNvPr>
          <p:cNvSpPr/>
          <p:nvPr/>
        </p:nvSpPr>
        <p:spPr>
          <a:xfrm>
            <a:off x="480060" y="2514600"/>
            <a:ext cx="251460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0" name="Question number badge">
            <a:extLst>
              <a:ext uri="{C183D7F6-B498-43B3-948B-1728B52AA6E4}">
                <adec:decorative xmlns:adec="http://schemas.microsoft.com/office/drawing/2017/decorative" val="1"/>
              </a:ext>
            </a:extLst>
          </p:cNvPr>
          <p:cNvSpPr/>
          <p:nvPr/>
        </p:nvSpPr>
        <p:spPr>
          <a:xfrm>
            <a:off x="681228" y="2697480"/>
            <a:ext cx="384048" cy="384048"/>
          </a:xfrm>
          <a:prstGeom prst="ellipse">
            <a:avLst/>
          </a:prstGeom>
          <a:solidFill>
            <a:srgbClr val="F4F5FB"/>
          </a:solidFill>
          <a:ln w="12700">
            <a:solidFill>
              <a:srgbClr val="3730A3"/>
            </a:solidFill>
            <a:prstDash val="solid"/>
          </a:ln>
        </p:spPr>
        <p:txBody>
          <a:bodyPr/>
          <a:lstStyle/>
          <a:p>
            <a:endParaRPr lang="en-US"/>
          </a:p>
        </p:txBody>
      </p:sp>
      <p:sp>
        <p:nvSpPr>
          <p:cNvPr id="11" name="Text 9"/>
          <p:cNvSpPr/>
          <p:nvPr/>
        </p:nvSpPr>
        <p:spPr>
          <a:xfrm>
            <a:off x="681228" y="2697480"/>
            <a:ext cx="384048" cy="384048"/>
          </a:xfrm>
          <a:prstGeom prst="rect">
            <a:avLst/>
          </a:prstGeom>
          <a:noFill/>
          <a:ln/>
        </p:spPr>
        <p:txBody>
          <a:bodyPr wrap="square" lIns="0" tIns="0" rIns="0" bIns="0" rtlCol="0" anchor="ctr"/>
          <a:lstStyle/>
          <a:p>
            <a:pPr marL="0" indent="0" algn="ctr">
              <a:buNone/>
            </a:pPr>
            <a:r>
              <a:rPr lang="en-US" sz="1150" b="1" dirty="0">
                <a:solidFill>
                  <a:srgbClr val="3730A3"/>
                </a:solidFill>
                <a:latin typeface="Georgia" pitchFamily="34" charset="0"/>
                <a:ea typeface="Georgia" pitchFamily="34" charset="-122"/>
                <a:cs typeface="Georgia" pitchFamily="34" charset="-120"/>
              </a:rPr>
              <a:t>1</a:t>
            </a:r>
            <a:endParaRPr lang="en-US" sz="1150" dirty="0"/>
          </a:p>
        </p:txBody>
      </p:sp>
      <p:sp>
        <p:nvSpPr>
          <p:cNvPr id="12" name="Text 10"/>
          <p:cNvSpPr/>
          <p:nvPr/>
        </p:nvSpPr>
        <p:spPr>
          <a:xfrm>
            <a:off x="681228" y="3200400"/>
            <a:ext cx="2112264" cy="457200"/>
          </a:xfrm>
          <a:prstGeom prst="rect">
            <a:avLst/>
          </a:prstGeom>
          <a:noFill/>
          <a:ln/>
        </p:spPr>
        <p:txBody>
          <a:bodyPr wrap="square" lIns="0" tIns="0" rIns="0" bIns="0" rtlCol="0" anchor="ctr"/>
          <a:lstStyle/>
          <a:p>
            <a:pPr marL="0" indent="0">
              <a:buNone/>
            </a:pPr>
            <a:r>
              <a:rPr lang="en-US" sz="1300" dirty="0">
                <a:solidFill>
                  <a:srgbClr val="1A1A2E"/>
                </a:solidFill>
                <a:latin typeface="Georgia" pitchFamily="34" charset="0"/>
                <a:ea typeface="Georgia" pitchFamily="34" charset="-122"/>
                <a:cs typeface="Georgia" pitchFamily="34" charset="-120"/>
              </a:rPr>
              <a:t>P( first qubit = 0 ) ?</a:t>
            </a:r>
            <a:endParaRPr lang="en-US" sz="1300" dirty="0"/>
          </a:p>
        </p:txBody>
      </p:sp>
      <p:sp>
        <p:nvSpPr>
          <p:cNvPr id="13" name="Card frame">
            <a:extLst>
              <a:ext uri="{C183D7F6-B498-43B3-948B-1728B52AA6E4}">
                <adec:decorative xmlns:adec="http://schemas.microsoft.com/office/drawing/2017/decorative" val="1"/>
              </a:ext>
            </a:extLst>
          </p:cNvPr>
          <p:cNvSpPr/>
          <p:nvPr/>
        </p:nvSpPr>
        <p:spPr>
          <a:xfrm>
            <a:off x="3314700" y="2514600"/>
            <a:ext cx="251460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4" name="Question number badge">
            <a:extLst>
              <a:ext uri="{C183D7F6-B498-43B3-948B-1728B52AA6E4}">
                <adec:decorative xmlns:adec="http://schemas.microsoft.com/office/drawing/2017/decorative" val="1"/>
              </a:ext>
            </a:extLst>
          </p:cNvPr>
          <p:cNvSpPr/>
          <p:nvPr/>
        </p:nvSpPr>
        <p:spPr>
          <a:xfrm>
            <a:off x="3515868" y="2697480"/>
            <a:ext cx="384048" cy="384048"/>
          </a:xfrm>
          <a:prstGeom prst="ellipse">
            <a:avLst/>
          </a:prstGeom>
          <a:solidFill>
            <a:srgbClr val="F4F5FB"/>
          </a:solidFill>
          <a:ln w="12700">
            <a:solidFill>
              <a:srgbClr val="3730A3"/>
            </a:solidFill>
            <a:prstDash val="solid"/>
          </a:ln>
        </p:spPr>
        <p:txBody>
          <a:bodyPr/>
          <a:lstStyle/>
          <a:p>
            <a:endParaRPr lang="en-US"/>
          </a:p>
        </p:txBody>
      </p:sp>
      <p:sp>
        <p:nvSpPr>
          <p:cNvPr id="15" name="Text 13"/>
          <p:cNvSpPr/>
          <p:nvPr/>
        </p:nvSpPr>
        <p:spPr>
          <a:xfrm>
            <a:off x="3515868" y="2697480"/>
            <a:ext cx="384048" cy="384048"/>
          </a:xfrm>
          <a:prstGeom prst="rect">
            <a:avLst/>
          </a:prstGeom>
          <a:noFill/>
          <a:ln/>
        </p:spPr>
        <p:txBody>
          <a:bodyPr wrap="square" lIns="0" tIns="0" rIns="0" bIns="0" rtlCol="0" anchor="ctr"/>
          <a:lstStyle/>
          <a:p>
            <a:pPr marL="0" indent="0" algn="ctr">
              <a:buNone/>
            </a:pPr>
            <a:r>
              <a:rPr lang="en-US" sz="1150" b="1" dirty="0">
                <a:solidFill>
                  <a:srgbClr val="3730A3"/>
                </a:solidFill>
                <a:latin typeface="Georgia" pitchFamily="34" charset="0"/>
                <a:ea typeface="Georgia" pitchFamily="34" charset="-122"/>
                <a:cs typeface="Georgia" pitchFamily="34" charset="-120"/>
              </a:rPr>
              <a:t>2</a:t>
            </a:r>
            <a:endParaRPr lang="en-US" sz="1150" dirty="0"/>
          </a:p>
        </p:txBody>
      </p:sp>
      <p:sp>
        <p:nvSpPr>
          <p:cNvPr id="16" name="Text 14"/>
          <p:cNvSpPr/>
          <p:nvPr/>
        </p:nvSpPr>
        <p:spPr>
          <a:xfrm>
            <a:off x="3515868" y="3200400"/>
            <a:ext cx="2112264" cy="457200"/>
          </a:xfrm>
          <a:prstGeom prst="rect">
            <a:avLst/>
          </a:prstGeom>
          <a:noFill/>
          <a:ln/>
        </p:spPr>
        <p:txBody>
          <a:bodyPr wrap="square" lIns="0" tIns="0" rIns="0" bIns="0" rtlCol="0" anchor="ctr"/>
          <a:lstStyle/>
          <a:p>
            <a:pPr marL="0" indent="0">
              <a:buNone/>
            </a:pPr>
            <a:r>
              <a:rPr lang="en-US" sz="1300" dirty="0">
                <a:solidFill>
                  <a:srgbClr val="1A1A2E"/>
                </a:solidFill>
                <a:latin typeface="Georgia" pitchFamily="34" charset="0"/>
                <a:ea typeface="Georgia" pitchFamily="34" charset="-122"/>
                <a:cs typeface="Georgia" pitchFamily="34" charset="-120"/>
              </a:rPr>
              <a:t>Post-measurement state ?</a:t>
            </a:r>
            <a:endParaRPr lang="en-US" sz="1300" dirty="0"/>
          </a:p>
        </p:txBody>
      </p:sp>
      <p:sp>
        <p:nvSpPr>
          <p:cNvPr id="17" name="Card frame">
            <a:extLst>
              <a:ext uri="{C183D7F6-B498-43B3-948B-1728B52AA6E4}">
                <adec:decorative xmlns:adec="http://schemas.microsoft.com/office/drawing/2017/decorative" val="1"/>
              </a:ext>
            </a:extLst>
          </p:cNvPr>
          <p:cNvSpPr/>
          <p:nvPr/>
        </p:nvSpPr>
        <p:spPr>
          <a:xfrm>
            <a:off x="6149340" y="2514600"/>
            <a:ext cx="251460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8" name="Question number badge">
            <a:extLst>
              <a:ext uri="{C183D7F6-B498-43B3-948B-1728B52AA6E4}">
                <adec:decorative xmlns:adec="http://schemas.microsoft.com/office/drawing/2017/decorative" val="1"/>
              </a:ext>
            </a:extLst>
          </p:cNvPr>
          <p:cNvSpPr/>
          <p:nvPr/>
        </p:nvSpPr>
        <p:spPr>
          <a:xfrm>
            <a:off x="6350508" y="2697480"/>
            <a:ext cx="384048" cy="384048"/>
          </a:xfrm>
          <a:prstGeom prst="ellipse">
            <a:avLst/>
          </a:prstGeom>
          <a:solidFill>
            <a:srgbClr val="F4F5FB"/>
          </a:solidFill>
          <a:ln w="12700">
            <a:solidFill>
              <a:srgbClr val="3730A3"/>
            </a:solidFill>
            <a:prstDash val="solid"/>
          </a:ln>
        </p:spPr>
        <p:txBody>
          <a:bodyPr/>
          <a:lstStyle/>
          <a:p>
            <a:endParaRPr lang="en-US"/>
          </a:p>
        </p:txBody>
      </p:sp>
      <p:sp>
        <p:nvSpPr>
          <p:cNvPr id="19" name="Text 17"/>
          <p:cNvSpPr/>
          <p:nvPr/>
        </p:nvSpPr>
        <p:spPr>
          <a:xfrm>
            <a:off x="6350508" y="2697480"/>
            <a:ext cx="384048" cy="384048"/>
          </a:xfrm>
          <a:prstGeom prst="rect">
            <a:avLst/>
          </a:prstGeom>
          <a:noFill/>
          <a:ln/>
        </p:spPr>
        <p:txBody>
          <a:bodyPr wrap="square" lIns="0" tIns="0" rIns="0" bIns="0" rtlCol="0" anchor="ctr"/>
          <a:lstStyle/>
          <a:p>
            <a:pPr marL="0" indent="0" algn="ctr">
              <a:buNone/>
            </a:pPr>
            <a:r>
              <a:rPr lang="en-US" sz="1150" b="1" dirty="0">
                <a:solidFill>
                  <a:srgbClr val="3730A3"/>
                </a:solidFill>
                <a:latin typeface="Georgia" pitchFamily="34" charset="0"/>
                <a:ea typeface="Georgia" pitchFamily="34" charset="-122"/>
                <a:cs typeface="Georgia" pitchFamily="34" charset="-120"/>
              </a:rPr>
              <a:t>3</a:t>
            </a:r>
            <a:endParaRPr lang="en-US" sz="1150" dirty="0"/>
          </a:p>
        </p:txBody>
      </p:sp>
      <p:sp>
        <p:nvSpPr>
          <p:cNvPr id="20" name="Text 18"/>
          <p:cNvSpPr/>
          <p:nvPr/>
        </p:nvSpPr>
        <p:spPr>
          <a:xfrm>
            <a:off x="6350508" y="3200400"/>
            <a:ext cx="2112264" cy="457200"/>
          </a:xfrm>
          <a:prstGeom prst="rect">
            <a:avLst/>
          </a:prstGeom>
          <a:noFill/>
          <a:ln/>
        </p:spPr>
        <p:txBody>
          <a:bodyPr wrap="square" lIns="0" tIns="0" rIns="0" bIns="0" rtlCol="0" anchor="ctr"/>
          <a:lstStyle/>
          <a:p>
            <a:pPr marL="0" indent="0">
              <a:buNone/>
            </a:pPr>
            <a:r>
              <a:rPr lang="en-US" sz="1300" dirty="0">
                <a:solidFill>
                  <a:srgbClr val="1A1A2E"/>
                </a:solidFill>
                <a:latin typeface="Georgia" pitchFamily="34" charset="0"/>
                <a:ea typeface="Georgia" pitchFamily="34" charset="-122"/>
                <a:cs typeface="Georgia" pitchFamily="34" charset="-120"/>
              </a:rPr>
              <a:t>P( 11 ) ?</a:t>
            </a:r>
            <a:endParaRPr lang="en-US" sz="1300" dirty="0"/>
          </a:p>
        </p:txBody>
      </p:sp>
      <p:sp>
        <p:nvSpPr>
          <p:cNvPr id="21" name="Card frame">
            <a:extLst>
              <a:ext uri="{C183D7F6-B498-43B3-948B-1728B52AA6E4}">
                <adec:decorative xmlns:adec="http://schemas.microsoft.com/office/drawing/2017/decorative" val="1"/>
              </a:ext>
            </a:extLst>
          </p:cNvPr>
          <p:cNvSpPr/>
          <p:nvPr/>
        </p:nvSpPr>
        <p:spPr>
          <a:xfrm>
            <a:off x="777240" y="3950208"/>
            <a:ext cx="7589520" cy="685800"/>
          </a:xfrm>
          <a:prstGeom prst="roundRect">
            <a:avLst>
              <a:gd name="adj" fmla="val 8000"/>
            </a:avLst>
          </a:prstGeom>
          <a:solidFill>
            <a:srgbClr val="F4F5FB"/>
          </a:solidFill>
          <a:ln w="15240">
            <a:solidFill>
              <a:srgbClr val="3730A3"/>
            </a:solidFill>
            <a:prstDash val="solid"/>
          </a:ln>
        </p:spPr>
        <p:txBody>
          <a:bodyPr/>
          <a:lstStyle/>
          <a:p>
            <a:endParaRPr lang="en-US"/>
          </a:p>
        </p:txBody>
      </p:sp>
      <p:sp>
        <p:nvSpPr>
          <p:cNvPr id="22" name="Text 20"/>
          <p:cNvSpPr/>
          <p:nvPr/>
        </p:nvSpPr>
        <p:spPr>
          <a:xfrm>
            <a:off x="960120" y="3950208"/>
            <a:ext cx="7223760" cy="685800"/>
          </a:xfrm>
          <a:prstGeom prst="rect">
            <a:avLst/>
          </a:prstGeom>
          <a:noFill/>
          <a:ln/>
        </p:spPr>
        <p:txBody>
          <a:bodyPr wrap="square" lIns="0" tIns="0" rIns="0" bIns="0" rtlCol="0" anchor="ctr"/>
          <a:lstStyle/>
          <a:p>
            <a:pPr marL="0" indent="0">
              <a:buNone/>
            </a:pPr>
            <a:r>
              <a:rPr lang="en-US" sz="1100" b="1" kern="0" spc="100" dirty="0">
                <a:solidFill>
                  <a:srgbClr val="3730A3"/>
                </a:solidFill>
                <a:latin typeface="Georgia" pitchFamily="34" charset="0"/>
                <a:ea typeface="Georgia" pitchFamily="34" charset="-122"/>
                <a:cs typeface="Georgia" pitchFamily="34" charset="-120"/>
              </a:rPr>
              <a:t>Activity   </a:t>
            </a:r>
            <a:r>
              <a:rPr lang="en-US" sz="1350" i="1" dirty="0">
                <a:solidFill>
                  <a:srgbClr val="1A1A2E"/>
                </a:solidFill>
                <a:latin typeface="Georgia" pitchFamily="34" charset="0"/>
                <a:ea typeface="Georgia" pitchFamily="34" charset="-122"/>
                <a:cs typeface="Georgia" pitchFamily="34" charset="-120"/>
              </a:rPr>
              <a:t>Five minutes on your own — then we work through the solution together.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Outer product intuition</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3017520" y="1261872"/>
            <a:ext cx="3108960" cy="914400"/>
          </a:xfrm>
          <a:prstGeom prst="roundRect">
            <a:avLst>
              <a:gd name="adj" fmla="val 6000"/>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3017520" y="1261872"/>
            <a:ext cx="3108960" cy="914400"/>
          </a:xfrm>
          <a:prstGeom prst="rect">
            <a:avLst/>
          </a:prstGeom>
          <a:noFill/>
          <a:ln/>
        </p:spPr>
        <p:txBody>
          <a:bodyPr wrap="square" lIns="0" tIns="0" rIns="0" bIns="0" rtlCol="0" anchor="ctr"/>
          <a:lstStyle/>
          <a:p>
            <a:pPr marL="0" indent="0" algn="ctr">
              <a:buNone/>
            </a:pPr>
            <a:r>
              <a:rPr lang="en-US" sz="3000" b="1" dirty="0">
                <a:solidFill>
                  <a:srgbClr val="3730A3"/>
                </a:solidFill>
                <a:latin typeface="Georgia" pitchFamily="34" charset="0"/>
                <a:ea typeface="Georgia" pitchFamily="34" charset="-122"/>
                <a:cs typeface="Georgia" pitchFamily="34" charset="-120"/>
              </a:rPr>
              <a:t>|u⟩⟨v|</a:t>
            </a:r>
            <a:endParaRPr lang="en-US" sz="3000" dirty="0"/>
          </a:p>
        </p:txBody>
      </p:sp>
      <p:sp>
        <p:nvSpPr>
          <p:cNvPr id="5" name="Card frame">
            <a:extLst>
              <a:ext uri="{C183D7F6-B498-43B3-948B-1728B52AA6E4}">
                <adec:decorative xmlns:adec="http://schemas.microsoft.com/office/drawing/2017/decorative" val="1"/>
              </a:ext>
            </a:extLst>
          </p:cNvPr>
          <p:cNvSpPr/>
          <p:nvPr/>
        </p:nvSpPr>
        <p:spPr>
          <a:xfrm>
            <a:off x="594360" y="2514600"/>
            <a:ext cx="237744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777240" y="2743200"/>
            <a:ext cx="2011680" cy="320040"/>
          </a:xfrm>
          <a:prstGeom prst="rect">
            <a:avLst/>
          </a:prstGeom>
          <a:noFill/>
          <a:ln/>
        </p:spPr>
        <p:txBody>
          <a:bodyPr wrap="square" lIns="0" tIns="0" rIns="0" bIns="0" rtlCol="0" anchor="ctr"/>
          <a:lstStyle/>
          <a:p>
            <a:pPr marL="0" indent="0">
              <a:buNone/>
            </a:pPr>
            <a:r>
              <a:rPr lang="en-US" sz="1350" b="1" dirty="0">
                <a:solidFill>
                  <a:srgbClr val="1A1A2E"/>
                </a:solidFill>
                <a:latin typeface="Georgia" pitchFamily="34" charset="0"/>
                <a:ea typeface="Georgia" pitchFamily="34" charset="-122"/>
                <a:cs typeface="Georgia" pitchFamily="34" charset="-120"/>
              </a:rPr>
              <a:t>input</a:t>
            </a:r>
            <a:endParaRPr lang="en-US" sz="1350" dirty="0"/>
          </a:p>
        </p:txBody>
      </p:sp>
      <p:sp>
        <p:nvSpPr>
          <p:cNvPr id="7" name="Text 5"/>
          <p:cNvSpPr/>
          <p:nvPr/>
        </p:nvSpPr>
        <p:spPr>
          <a:xfrm>
            <a:off x="777240" y="3127248"/>
            <a:ext cx="2011680" cy="457200"/>
          </a:xfrm>
          <a:prstGeom prst="rect">
            <a:avLst/>
          </a:prstGeom>
          <a:noFill/>
          <a:ln/>
        </p:spPr>
        <p:txBody>
          <a:bodyPr wrap="square" lIns="0" tIns="0" rIns="0" bIns="0" rtlCol="0" anchor="ctr"/>
          <a:lstStyle/>
          <a:p>
            <a:pPr marL="0" indent="0">
              <a:buNone/>
            </a:pPr>
            <a:r>
              <a:rPr lang="en-US" sz="1200" dirty="0">
                <a:solidFill>
                  <a:srgbClr val="6B7280"/>
                </a:solidFill>
                <a:latin typeface="Georgia" pitchFamily="34" charset="0"/>
                <a:ea typeface="Georgia" pitchFamily="34" charset="-122"/>
                <a:cs typeface="Georgia" pitchFamily="34" charset="-120"/>
              </a:rPr>
              <a:t>any vector |x⟩</a:t>
            </a:r>
            <a:endParaRPr lang="en-US" sz="1200" dirty="0"/>
          </a:p>
        </p:txBody>
      </p:sp>
      <p:sp>
        <p:nvSpPr>
          <p:cNvPr id="8" name="Text 6"/>
          <p:cNvSpPr/>
          <p:nvPr/>
        </p:nvSpPr>
        <p:spPr>
          <a:xfrm>
            <a:off x="2971800" y="2514600"/>
            <a:ext cx="411480" cy="1234440"/>
          </a:xfrm>
          <a:prstGeom prst="rect">
            <a:avLst/>
          </a:prstGeom>
          <a:noFill/>
          <a:ln/>
        </p:spPr>
        <p:txBody>
          <a:bodyPr wrap="square" lIns="0" tIns="0" rIns="0" bIns="0" rtlCol="0" anchor="ctr"/>
          <a:lstStyle/>
          <a:p>
            <a:pPr marL="0" indent="0" algn="ctr">
              <a:buNone/>
            </a:pPr>
            <a:r>
              <a:rPr lang="en-US" sz="1700" dirty="0">
                <a:solidFill>
                  <a:srgbClr val="3730A3"/>
                </a:solidFill>
                <a:latin typeface="Georgia" pitchFamily="34" charset="0"/>
                <a:ea typeface="Georgia" pitchFamily="34" charset="-122"/>
                <a:cs typeface="Georgia" pitchFamily="34" charset="-120"/>
              </a:rPr>
              <a:t>→</a:t>
            </a:r>
            <a:endParaRPr lang="en-US" sz="1700" dirty="0"/>
          </a:p>
        </p:txBody>
      </p:sp>
      <p:sp>
        <p:nvSpPr>
          <p:cNvPr id="9" name="Card frame">
            <a:extLst>
              <a:ext uri="{C183D7F6-B498-43B3-948B-1728B52AA6E4}">
                <adec:decorative xmlns:adec="http://schemas.microsoft.com/office/drawing/2017/decorative" val="1"/>
              </a:ext>
            </a:extLst>
          </p:cNvPr>
          <p:cNvSpPr/>
          <p:nvPr/>
        </p:nvSpPr>
        <p:spPr>
          <a:xfrm>
            <a:off x="3383280" y="2514600"/>
            <a:ext cx="2377440" cy="1234440"/>
          </a:xfrm>
          <a:prstGeom prst="roundRect">
            <a:avLst>
              <a:gd name="adj" fmla="val 4444"/>
            </a:avLst>
          </a:prstGeom>
          <a:solidFill>
            <a:srgbClr val="FFFFFF"/>
          </a:solidFill>
          <a:ln w="12700">
            <a:solidFill>
              <a:srgbClr val="D4D7DD"/>
            </a:solidFill>
            <a:prstDash val="solid"/>
          </a:ln>
        </p:spPr>
        <p:txBody>
          <a:bodyPr/>
          <a:lstStyle/>
          <a:p>
            <a:endParaRPr lang="en-US"/>
          </a:p>
        </p:txBody>
      </p:sp>
      <p:sp>
        <p:nvSpPr>
          <p:cNvPr id="10" name="Text 8"/>
          <p:cNvSpPr/>
          <p:nvPr/>
        </p:nvSpPr>
        <p:spPr>
          <a:xfrm>
            <a:off x="3566160" y="2743200"/>
            <a:ext cx="2011680" cy="320040"/>
          </a:xfrm>
          <a:prstGeom prst="rect">
            <a:avLst/>
          </a:prstGeom>
          <a:noFill/>
          <a:ln/>
        </p:spPr>
        <p:txBody>
          <a:bodyPr wrap="square" lIns="0" tIns="0" rIns="0" bIns="0" rtlCol="0" anchor="ctr"/>
          <a:lstStyle/>
          <a:p>
            <a:pPr marL="0" indent="0">
              <a:buNone/>
            </a:pPr>
            <a:r>
              <a:rPr lang="en-US" sz="1350" b="1" dirty="0">
                <a:solidFill>
                  <a:srgbClr val="1A1A2E"/>
                </a:solidFill>
                <a:latin typeface="Georgia" pitchFamily="34" charset="0"/>
                <a:ea typeface="Georgia" pitchFamily="34" charset="-122"/>
                <a:cs typeface="Georgia" pitchFamily="34" charset="-120"/>
              </a:rPr>
              <a:t>overlap with v</a:t>
            </a:r>
            <a:endParaRPr lang="en-US" sz="1350" dirty="0"/>
          </a:p>
        </p:txBody>
      </p:sp>
      <p:sp>
        <p:nvSpPr>
          <p:cNvPr id="11" name="Text 9"/>
          <p:cNvSpPr/>
          <p:nvPr/>
        </p:nvSpPr>
        <p:spPr>
          <a:xfrm>
            <a:off x="3566160" y="3127248"/>
            <a:ext cx="2011680" cy="457200"/>
          </a:xfrm>
          <a:prstGeom prst="rect">
            <a:avLst/>
          </a:prstGeom>
          <a:noFill/>
          <a:ln/>
        </p:spPr>
        <p:txBody>
          <a:bodyPr wrap="square" lIns="0" tIns="0" rIns="0" bIns="0" rtlCol="0" anchor="ctr"/>
          <a:lstStyle/>
          <a:p>
            <a:pPr marL="0" indent="0">
              <a:buNone/>
            </a:pPr>
            <a:r>
              <a:rPr lang="en-US" sz="1200" dirty="0">
                <a:solidFill>
                  <a:srgbClr val="6B7280"/>
                </a:solidFill>
                <a:latin typeface="Georgia" pitchFamily="34" charset="0"/>
                <a:ea typeface="Georgia" pitchFamily="34" charset="-122"/>
                <a:cs typeface="Georgia" pitchFamily="34" charset="-120"/>
              </a:rPr>
              <a:t>⟨v|x⟩ — a number</a:t>
            </a:r>
            <a:endParaRPr lang="en-US" sz="1200" dirty="0"/>
          </a:p>
        </p:txBody>
      </p:sp>
      <p:sp>
        <p:nvSpPr>
          <p:cNvPr id="12" name="Text 10"/>
          <p:cNvSpPr/>
          <p:nvPr/>
        </p:nvSpPr>
        <p:spPr>
          <a:xfrm>
            <a:off x="5760720" y="2514600"/>
            <a:ext cx="411480" cy="1234440"/>
          </a:xfrm>
          <a:prstGeom prst="rect">
            <a:avLst/>
          </a:prstGeom>
          <a:noFill/>
          <a:ln/>
        </p:spPr>
        <p:txBody>
          <a:bodyPr wrap="square" lIns="0" tIns="0" rIns="0" bIns="0" rtlCol="0" anchor="ctr"/>
          <a:lstStyle/>
          <a:p>
            <a:pPr marL="0" indent="0" algn="ctr">
              <a:buNone/>
            </a:pPr>
            <a:r>
              <a:rPr lang="en-US" sz="1700" dirty="0">
                <a:solidFill>
                  <a:srgbClr val="3730A3"/>
                </a:solidFill>
                <a:latin typeface="Georgia" pitchFamily="34" charset="0"/>
                <a:ea typeface="Georgia" pitchFamily="34" charset="-122"/>
                <a:cs typeface="Georgia" pitchFamily="34" charset="-120"/>
              </a:rPr>
              <a:t>→</a:t>
            </a:r>
            <a:endParaRPr lang="en-US" sz="1700" dirty="0"/>
          </a:p>
        </p:txBody>
      </p:sp>
      <p:sp>
        <p:nvSpPr>
          <p:cNvPr id="13" name="Card frame">
            <a:extLst>
              <a:ext uri="{C183D7F6-B498-43B3-948B-1728B52AA6E4}">
                <adec:decorative xmlns:adec="http://schemas.microsoft.com/office/drawing/2017/decorative" val="1"/>
              </a:ext>
            </a:extLst>
          </p:cNvPr>
          <p:cNvSpPr/>
          <p:nvPr/>
        </p:nvSpPr>
        <p:spPr>
          <a:xfrm>
            <a:off x="6172200" y="2514600"/>
            <a:ext cx="237744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14" name="Text 12"/>
          <p:cNvSpPr/>
          <p:nvPr/>
        </p:nvSpPr>
        <p:spPr>
          <a:xfrm>
            <a:off x="6355080" y="2743200"/>
            <a:ext cx="2011680" cy="320040"/>
          </a:xfrm>
          <a:prstGeom prst="rect">
            <a:avLst/>
          </a:prstGeom>
          <a:noFill/>
          <a:ln/>
        </p:spPr>
        <p:txBody>
          <a:bodyPr wrap="square" lIns="0" tIns="0" rIns="0" bIns="0" rtlCol="0" anchor="ctr"/>
          <a:lstStyle/>
          <a:p>
            <a:pPr marL="0" indent="0">
              <a:buNone/>
            </a:pPr>
            <a:r>
              <a:rPr lang="en-US" sz="1350" b="1" dirty="0">
                <a:solidFill>
                  <a:srgbClr val="1A1A2E"/>
                </a:solidFill>
                <a:latin typeface="Georgia" pitchFamily="34" charset="0"/>
                <a:ea typeface="Georgia" pitchFamily="34" charset="-122"/>
                <a:cs typeface="Georgia" pitchFamily="34" charset="-120"/>
              </a:rPr>
              <a:t>output along u</a:t>
            </a:r>
            <a:endParaRPr lang="en-US" sz="1350" dirty="0"/>
          </a:p>
        </p:txBody>
      </p:sp>
      <p:sp>
        <p:nvSpPr>
          <p:cNvPr id="15" name="Text 13"/>
          <p:cNvSpPr/>
          <p:nvPr/>
        </p:nvSpPr>
        <p:spPr>
          <a:xfrm>
            <a:off x="6355080" y="3127248"/>
            <a:ext cx="2011680" cy="457200"/>
          </a:xfrm>
          <a:prstGeom prst="rect">
            <a:avLst/>
          </a:prstGeom>
          <a:noFill/>
          <a:ln/>
        </p:spPr>
        <p:txBody>
          <a:bodyPr wrap="square" lIns="0" tIns="0" rIns="0" bIns="0" rtlCol="0" anchor="ctr"/>
          <a:lstStyle/>
          <a:p>
            <a:pPr marL="0" indent="0">
              <a:buNone/>
            </a:pPr>
            <a:r>
              <a:rPr lang="en-US" sz="1200" dirty="0">
                <a:solidFill>
                  <a:srgbClr val="6B7280"/>
                </a:solidFill>
                <a:latin typeface="Georgia" pitchFamily="34" charset="0"/>
                <a:ea typeface="Georgia" pitchFamily="34" charset="-122"/>
                <a:cs typeface="Georgia" pitchFamily="34" charset="-120"/>
              </a:rPr>
              <a:t>⟨v|x⟩ · |u⟩</a:t>
            </a:r>
            <a:endParaRPr lang="en-US" sz="1200" dirty="0"/>
          </a:p>
        </p:txBody>
      </p:sp>
      <p:sp>
        <p:nvSpPr>
          <p:cNvPr id="16" name="Text 14"/>
          <p:cNvSpPr/>
          <p:nvPr/>
        </p:nvSpPr>
        <p:spPr>
          <a:xfrm>
            <a:off x="640080" y="397764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The outer product is an operator: it measures the overlap with |v⟩ and re-emits it along |u⟩.</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Outer products as matrices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777240" y="1280160"/>
            <a:ext cx="3657600" cy="1280160"/>
          </a:xfrm>
          <a:prstGeom prst="roundRect">
            <a:avLst>
              <a:gd name="adj" fmla="val 4286"/>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1188720" y="1280160"/>
            <a:ext cx="1691640" cy="128016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|0⟩⟨0|  =</a:t>
            </a:r>
            <a:endParaRPr lang="en-US" sz="1900" dirty="0"/>
          </a:p>
        </p:txBody>
      </p:sp>
      <p:sp>
        <p:nvSpPr>
          <p:cNvPr id="5" name="Matrix bracket">
            <a:extLst>
              <a:ext uri="{C183D7F6-B498-43B3-948B-1728B52AA6E4}">
                <adec:decorative xmlns:adec="http://schemas.microsoft.com/office/drawing/2017/decorative" val="1"/>
              </a:ext>
            </a:extLst>
          </p:cNvPr>
          <p:cNvSpPr/>
          <p:nvPr/>
        </p:nvSpPr>
        <p:spPr>
          <a:xfrm>
            <a:off x="2798064" y="1536192"/>
            <a:ext cx="0" cy="768096"/>
          </a:xfrm>
          <a:prstGeom prst="line">
            <a:avLst/>
          </a:prstGeom>
          <a:noFill/>
          <a:ln w="17780">
            <a:solidFill>
              <a:srgbClr val="1A1A2E"/>
            </a:solidFill>
            <a:prstDash val="solid"/>
          </a:ln>
        </p:spPr>
        <p:txBody>
          <a:bodyPr/>
          <a:lstStyle/>
          <a:p>
            <a:endParaRPr lang="en-US"/>
          </a:p>
        </p:txBody>
      </p:sp>
      <p:sp>
        <p:nvSpPr>
          <p:cNvPr id="6" name="Matrix bracket tick">
            <a:extLst>
              <a:ext uri="{C183D7F6-B498-43B3-948B-1728B52AA6E4}">
                <adec:decorative xmlns:adec="http://schemas.microsoft.com/office/drawing/2017/decorative" val="1"/>
              </a:ext>
            </a:extLst>
          </p:cNvPr>
          <p:cNvSpPr/>
          <p:nvPr/>
        </p:nvSpPr>
        <p:spPr>
          <a:xfrm>
            <a:off x="2798064" y="1536192"/>
            <a:ext cx="137160" cy="0"/>
          </a:xfrm>
          <a:prstGeom prst="line">
            <a:avLst/>
          </a:prstGeom>
          <a:noFill/>
          <a:ln w="17780">
            <a:solidFill>
              <a:srgbClr val="1A1A2E"/>
            </a:solidFill>
            <a:prstDash val="solid"/>
          </a:ln>
        </p:spPr>
        <p:txBody>
          <a:bodyPr/>
          <a:lstStyle/>
          <a:p>
            <a:endParaRPr lang="en-US"/>
          </a:p>
        </p:txBody>
      </p:sp>
      <p:sp>
        <p:nvSpPr>
          <p:cNvPr id="7" name="Matrix bracket tick">
            <a:extLst>
              <a:ext uri="{C183D7F6-B498-43B3-948B-1728B52AA6E4}">
                <adec:decorative xmlns:adec="http://schemas.microsoft.com/office/drawing/2017/decorative" val="1"/>
              </a:ext>
            </a:extLst>
          </p:cNvPr>
          <p:cNvSpPr/>
          <p:nvPr/>
        </p:nvSpPr>
        <p:spPr>
          <a:xfrm>
            <a:off x="2798064" y="2304288"/>
            <a:ext cx="137160" cy="0"/>
          </a:xfrm>
          <a:prstGeom prst="line">
            <a:avLst/>
          </a:prstGeom>
          <a:noFill/>
          <a:ln w="17780">
            <a:solidFill>
              <a:srgbClr val="1A1A2E"/>
            </a:solidFill>
            <a:prstDash val="solid"/>
          </a:ln>
        </p:spPr>
        <p:txBody>
          <a:bodyPr/>
          <a:lstStyle/>
          <a:p>
            <a:endParaRPr lang="en-US"/>
          </a:p>
        </p:txBody>
      </p:sp>
      <p:sp>
        <p:nvSpPr>
          <p:cNvPr id="8" name="Matrix bracket">
            <a:extLst>
              <a:ext uri="{C183D7F6-B498-43B3-948B-1728B52AA6E4}">
                <adec:decorative xmlns:adec="http://schemas.microsoft.com/office/drawing/2017/decorative" val="1"/>
              </a:ext>
            </a:extLst>
          </p:cNvPr>
          <p:cNvSpPr/>
          <p:nvPr/>
        </p:nvSpPr>
        <p:spPr>
          <a:xfrm>
            <a:off x="3968496" y="1536192"/>
            <a:ext cx="0" cy="768096"/>
          </a:xfrm>
          <a:prstGeom prst="line">
            <a:avLst/>
          </a:prstGeom>
          <a:noFill/>
          <a:ln w="17780">
            <a:solidFill>
              <a:srgbClr val="1A1A2E"/>
            </a:solidFill>
            <a:prstDash val="solid"/>
          </a:ln>
        </p:spPr>
        <p:txBody>
          <a:bodyPr/>
          <a:lstStyle/>
          <a:p>
            <a:endParaRPr lang="en-US"/>
          </a:p>
        </p:txBody>
      </p:sp>
      <p:sp>
        <p:nvSpPr>
          <p:cNvPr id="9" name="Matrix bracket tick">
            <a:extLst>
              <a:ext uri="{C183D7F6-B498-43B3-948B-1728B52AA6E4}">
                <adec:decorative xmlns:adec="http://schemas.microsoft.com/office/drawing/2017/decorative" val="1"/>
              </a:ext>
            </a:extLst>
          </p:cNvPr>
          <p:cNvSpPr/>
          <p:nvPr/>
        </p:nvSpPr>
        <p:spPr>
          <a:xfrm>
            <a:off x="3831336" y="1536192"/>
            <a:ext cx="137160" cy="0"/>
          </a:xfrm>
          <a:prstGeom prst="line">
            <a:avLst/>
          </a:prstGeom>
          <a:noFill/>
          <a:ln w="17780">
            <a:solidFill>
              <a:srgbClr val="1A1A2E"/>
            </a:solidFill>
            <a:prstDash val="solid"/>
          </a:ln>
        </p:spPr>
        <p:txBody>
          <a:bodyPr/>
          <a:lstStyle/>
          <a:p>
            <a:endParaRPr lang="en-US"/>
          </a:p>
        </p:txBody>
      </p:sp>
      <p:sp>
        <p:nvSpPr>
          <p:cNvPr id="10" name="Matrix bracket tick">
            <a:extLst>
              <a:ext uri="{C183D7F6-B498-43B3-948B-1728B52AA6E4}">
                <adec:decorative xmlns:adec="http://schemas.microsoft.com/office/drawing/2017/decorative" val="1"/>
              </a:ext>
            </a:extLst>
          </p:cNvPr>
          <p:cNvSpPr/>
          <p:nvPr/>
        </p:nvSpPr>
        <p:spPr>
          <a:xfrm>
            <a:off x="3831336" y="2304288"/>
            <a:ext cx="137160" cy="0"/>
          </a:xfrm>
          <a:prstGeom prst="line">
            <a:avLst/>
          </a:prstGeom>
          <a:noFill/>
          <a:ln w="17780">
            <a:solidFill>
              <a:srgbClr val="1A1A2E"/>
            </a:solidFill>
            <a:prstDash val="solid"/>
          </a:ln>
        </p:spPr>
        <p:txBody>
          <a:bodyPr/>
          <a:lstStyle/>
          <a:p>
            <a:endParaRPr lang="en-US"/>
          </a:p>
        </p:txBody>
      </p:sp>
      <p:sp>
        <p:nvSpPr>
          <p:cNvPr id="11" name="Text 9"/>
          <p:cNvSpPr/>
          <p:nvPr/>
        </p:nvSpPr>
        <p:spPr>
          <a:xfrm>
            <a:off x="2926080" y="153619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3383280" y="153619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13" name="Text 11"/>
          <p:cNvSpPr/>
          <p:nvPr/>
        </p:nvSpPr>
        <p:spPr>
          <a:xfrm>
            <a:off x="2926080" y="192024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14" name="Text 12"/>
          <p:cNvSpPr/>
          <p:nvPr/>
        </p:nvSpPr>
        <p:spPr>
          <a:xfrm>
            <a:off x="3383280" y="192024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15" name="Card frame">
            <a:extLst>
              <a:ext uri="{C183D7F6-B498-43B3-948B-1728B52AA6E4}">
                <adec:decorative xmlns:adec="http://schemas.microsoft.com/office/drawing/2017/decorative" val="1"/>
              </a:ext>
            </a:extLst>
          </p:cNvPr>
          <p:cNvSpPr/>
          <p:nvPr/>
        </p:nvSpPr>
        <p:spPr>
          <a:xfrm>
            <a:off x="4800600" y="1280160"/>
            <a:ext cx="3657600" cy="1280160"/>
          </a:xfrm>
          <a:prstGeom prst="roundRect">
            <a:avLst>
              <a:gd name="adj" fmla="val 4286"/>
            </a:avLst>
          </a:prstGeom>
          <a:solidFill>
            <a:srgbClr val="F4F5FB"/>
          </a:solidFill>
          <a:ln w="15240">
            <a:solidFill>
              <a:srgbClr val="3730A3"/>
            </a:solidFill>
            <a:prstDash val="solid"/>
          </a:ln>
        </p:spPr>
        <p:txBody>
          <a:bodyPr/>
          <a:lstStyle/>
          <a:p>
            <a:endParaRPr lang="en-US"/>
          </a:p>
        </p:txBody>
      </p:sp>
      <p:sp>
        <p:nvSpPr>
          <p:cNvPr id="16" name="Text 14"/>
          <p:cNvSpPr/>
          <p:nvPr/>
        </p:nvSpPr>
        <p:spPr>
          <a:xfrm>
            <a:off x="5212080" y="1280160"/>
            <a:ext cx="1691640" cy="128016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|0⟩⟨1|  =</a:t>
            </a:r>
            <a:endParaRPr lang="en-US" sz="1900" dirty="0"/>
          </a:p>
        </p:txBody>
      </p:sp>
      <p:sp>
        <p:nvSpPr>
          <p:cNvPr id="17" name="Matrix bracket">
            <a:extLst>
              <a:ext uri="{C183D7F6-B498-43B3-948B-1728B52AA6E4}">
                <adec:decorative xmlns:adec="http://schemas.microsoft.com/office/drawing/2017/decorative" val="1"/>
              </a:ext>
            </a:extLst>
          </p:cNvPr>
          <p:cNvSpPr/>
          <p:nvPr/>
        </p:nvSpPr>
        <p:spPr>
          <a:xfrm>
            <a:off x="6821424" y="1536192"/>
            <a:ext cx="0" cy="768096"/>
          </a:xfrm>
          <a:prstGeom prst="line">
            <a:avLst/>
          </a:prstGeom>
          <a:noFill/>
          <a:ln w="17780">
            <a:solidFill>
              <a:srgbClr val="1A1A2E"/>
            </a:solidFill>
            <a:prstDash val="solid"/>
          </a:ln>
        </p:spPr>
        <p:txBody>
          <a:bodyPr/>
          <a:lstStyle/>
          <a:p>
            <a:endParaRPr lang="en-US"/>
          </a:p>
        </p:txBody>
      </p:sp>
      <p:sp>
        <p:nvSpPr>
          <p:cNvPr id="18" name="Matrix bracket tick">
            <a:extLst>
              <a:ext uri="{C183D7F6-B498-43B3-948B-1728B52AA6E4}">
                <adec:decorative xmlns:adec="http://schemas.microsoft.com/office/drawing/2017/decorative" val="1"/>
              </a:ext>
            </a:extLst>
          </p:cNvPr>
          <p:cNvSpPr/>
          <p:nvPr/>
        </p:nvSpPr>
        <p:spPr>
          <a:xfrm>
            <a:off x="6821424" y="1536192"/>
            <a:ext cx="137160" cy="0"/>
          </a:xfrm>
          <a:prstGeom prst="line">
            <a:avLst/>
          </a:prstGeom>
          <a:noFill/>
          <a:ln w="17780">
            <a:solidFill>
              <a:srgbClr val="1A1A2E"/>
            </a:solidFill>
            <a:prstDash val="solid"/>
          </a:ln>
        </p:spPr>
        <p:txBody>
          <a:bodyPr/>
          <a:lstStyle/>
          <a:p>
            <a:endParaRPr lang="en-US"/>
          </a:p>
        </p:txBody>
      </p:sp>
      <p:sp>
        <p:nvSpPr>
          <p:cNvPr id="19" name="Matrix bracket tick">
            <a:extLst>
              <a:ext uri="{C183D7F6-B498-43B3-948B-1728B52AA6E4}">
                <adec:decorative xmlns:adec="http://schemas.microsoft.com/office/drawing/2017/decorative" val="1"/>
              </a:ext>
            </a:extLst>
          </p:cNvPr>
          <p:cNvSpPr/>
          <p:nvPr/>
        </p:nvSpPr>
        <p:spPr>
          <a:xfrm>
            <a:off x="6821424" y="2304288"/>
            <a:ext cx="137160" cy="0"/>
          </a:xfrm>
          <a:prstGeom prst="line">
            <a:avLst/>
          </a:prstGeom>
          <a:noFill/>
          <a:ln w="17780">
            <a:solidFill>
              <a:srgbClr val="1A1A2E"/>
            </a:solidFill>
            <a:prstDash val="solid"/>
          </a:ln>
        </p:spPr>
        <p:txBody>
          <a:bodyPr/>
          <a:lstStyle/>
          <a:p>
            <a:endParaRPr lang="en-US"/>
          </a:p>
        </p:txBody>
      </p:sp>
      <p:sp>
        <p:nvSpPr>
          <p:cNvPr id="20" name="Matrix bracket">
            <a:extLst>
              <a:ext uri="{C183D7F6-B498-43B3-948B-1728B52AA6E4}">
                <adec:decorative xmlns:adec="http://schemas.microsoft.com/office/drawing/2017/decorative" val="1"/>
              </a:ext>
            </a:extLst>
          </p:cNvPr>
          <p:cNvSpPr/>
          <p:nvPr/>
        </p:nvSpPr>
        <p:spPr>
          <a:xfrm>
            <a:off x="7991856" y="1536192"/>
            <a:ext cx="0" cy="768096"/>
          </a:xfrm>
          <a:prstGeom prst="line">
            <a:avLst/>
          </a:prstGeom>
          <a:noFill/>
          <a:ln w="17780">
            <a:solidFill>
              <a:srgbClr val="1A1A2E"/>
            </a:solidFill>
            <a:prstDash val="solid"/>
          </a:ln>
        </p:spPr>
        <p:txBody>
          <a:bodyPr/>
          <a:lstStyle/>
          <a:p>
            <a:endParaRPr lang="en-US"/>
          </a:p>
        </p:txBody>
      </p:sp>
      <p:sp>
        <p:nvSpPr>
          <p:cNvPr id="21" name="Matrix bracket tick">
            <a:extLst>
              <a:ext uri="{C183D7F6-B498-43B3-948B-1728B52AA6E4}">
                <adec:decorative xmlns:adec="http://schemas.microsoft.com/office/drawing/2017/decorative" val="1"/>
              </a:ext>
            </a:extLst>
          </p:cNvPr>
          <p:cNvSpPr/>
          <p:nvPr/>
        </p:nvSpPr>
        <p:spPr>
          <a:xfrm>
            <a:off x="7854696" y="1536192"/>
            <a:ext cx="137160" cy="0"/>
          </a:xfrm>
          <a:prstGeom prst="line">
            <a:avLst/>
          </a:prstGeom>
          <a:noFill/>
          <a:ln w="17780">
            <a:solidFill>
              <a:srgbClr val="1A1A2E"/>
            </a:solidFill>
            <a:prstDash val="solid"/>
          </a:ln>
        </p:spPr>
        <p:txBody>
          <a:bodyPr/>
          <a:lstStyle/>
          <a:p>
            <a:endParaRPr lang="en-US"/>
          </a:p>
        </p:txBody>
      </p:sp>
      <p:sp>
        <p:nvSpPr>
          <p:cNvPr id="22" name="Matrix bracket tick">
            <a:extLst>
              <a:ext uri="{C183D7F6-B498-43B3-948B-1728B52AA6E4}">
                <adec:decorative xmlns:adec="http://schemas.microsoft.com/office/drawing/2017/decorative" val="1"/>
              </a:ext>
            </a:extLst>
          </p:cNvPr>
          <p:cNvSpPr/>
          <p:nvPr/>
        </p:nvSpPr>
        <p:spPr>
          <a:xfrm>
            <a:off x="7854696" y="2304288"/>
            <a:ext cx="137160" cy="0"/>
          </a:xfrm>
          <a:prstGeom prst="line">
            <a:avLst/>
          </a:prstGeom>
          <a:noFill/>
          <a:ln w="17780">
            <a:solidFill>
              <a:srgbClr val="1A1A2E"/>
            </a:solidFill>
            <a:prstDash val="solid"/>
          </a:ln>
        </p:spPr>
        <p:txBody>
          <a:bodyPr/>
          <a:lstStyle/>
          <a:p>
            <a:endParaRPr lang="en-US"/>
          </a:p>
        </p:txBody>
      </p:sp>
      <p:sp>
        <p:nvSpPr>
          <p:cNvPr id="23" name="Text 21"/>
          <p:cNvSpPr/>
          <p:nvPr/>
        </p:nvSpPr>
        <p:spPr>
          <a:xfrm>
            <a:off x="6949440" y="153619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24" name="Text 22"/>
          <p:cNvSpPr/>
          <p:nvPr/>
        </p:nvSpPr>
        <p:spPr>
          <a:xfrm>
            <a:off x="7406640" y="153619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1</a:t>
            </a:r>
            <a:endParaRPr lang="en-US" sz="1600" dirty="0"/>
          </a:p>
        </p:txBody>
      </p:sp>
      <p:sp>
        <p:nvSpPr>
          <p:cNvPr id="25" name="Text 23"/>
          <p:cNvSpPr/>
          <p:nvPr/>
        </p:nvSpPr>
        <p:spPr>
          <a:xfrm>
            <a:off x="6949440" y="192024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26" name="Text 24"/>
          <p:cNvSpPr/>
          <p:nvPr/>
        </p:nvSpPr>
        <p:spPr>
          <a:xfrm>
            <a:off x="7406640" y="192024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27" name="Card frame">
            <a:extLst>
              <a:ext uri="{C183D7F6-B498-43B3-948B-1728B52AA6E4}">
                <adec:decorative xmlns:adec="http://schemas.microsoft.com/office/drawing/2017/decorative" val="1"/>
              </a:ext>
            </a:extLst>
          </p:cNvPr>
          <p:cNvSpPr/>
          <p:nvPr/>
        </p:nvSpPr>
        <p:spPr>
          <a:xfrm>
            <a:off x="777240" y="2834640"/>
            <a:ext cx="3657600" cy="1280160"/>
          </a:xfrm>
          <a:prstGeom prst="roundRect">
            <a:avLst>
              <a:gd name="adj" fmla="val 4286"/>
            </a:avLst>
          </a:prstGeom>
          <a:solidFill>
            <a:srgbClr val="F4F5FB"/>
          </a:solidFill>
          <a:ln w="15240">
            <a:solidFill>
              <a:srgbClr val="3730A3"/>
            </a:solidFill>
            <a:prstDash val="solid"/>
          </a:ln>
        </p:spPr>
        <p:txBody>
          <a:bodyPr/>
          <a:lstStyle/>
          <a:p>
            <a:endParaRPr lang="en-US"/>
          </a:p>
        </p:txBody>
      </p:sp>
      <p:sp>
        <p:nvSpPr>
          <p:cNvPr id="28" name="Text 26"/>
          <p:cNvSpPr/>
          <p:nvPr/>
        </p:nvSpPr>
        <p:spPr>
          <a:xfrm>
            <a:off x="1188720" y="2834640"/>
            <a:ext cx="1691640" cy="128016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|1⟩⟨0|  =</a:t>
            </a:r>
            <a:endParaRPr lang="en-US" sz="1900" dirty="0"/>
          </a:p>
        </p:txBody>
      </p:sp>
      <p:sp>
        <p:nvSpPr>
          <p:cNvPr id="29" name="Matrix bracket">
            <a:extLst>
              <a:ext uri="{C183D7F6-B498-43B3-948B-1728B52AA6E4}">
                <adec:decorative xmlns:adec="http://schemas.microsoft.com/office/drawing/2017/decorative" val="1"/>
              </a:ext>
            </a:extLst>
          </p:cNvPr>
          <p:cNvSpPr/>
          <p:nvPr/>
        </p:nvSpPr>
        <p:spPr>
          <a:xfrm>
            <a:off x="2798064" y="3090672"/>
            <a:ext cx="0" cy="768096"/>
          </a:xfrm>
          <a:prstGeom prst="line">
            <a:avLst/>
          </a:prstGeom>
          <a:noFill/>
          <a:ln w="17780">
            <a:solidFill>
              <a:srgbClr val="1A1A2E"/>
            </a:solidFill>
            <a:prstDash val="solid"/>
          </a:ln>
        </p:spPr>
        <p:txBody>
          <a:bodyPr/>
          <a:lstStyle/>
          <a:p>
            <a:endParaRPr lang="en-US"/>
          </a:p>
        </p:txBody>
      </p:sp>
      <p:sp>
        <p:nvSpPr>
          <p:cNvPr id="30" name="Matrix bracket tick">
            <a:extLst>
              <a:ext uri="{C183D7F6-B498-43B3-948B-1728B52AA6E4}">
                <adec:decorative xmlns:adec="http://schemas.microsoft.com/office/drawing/2017/decorative" val="1"/>
              </a:ext>
            </a:extLst>
          </p:cNvPr>
          <p:cNvSpPr/>
          <p:nvPr/>
        </p:nvSpPr>
        <p:spPr>
          <a:xfrm>
            <a:off x="2798064" y="3090672"/>
            <a:ext cx="137160" cy="0"/>
          </a:xfrm>
          <a:prstGeom prst="line">
            <a:avLst/>
          </a:prstGeom>
          <a:noFill/>
          <a:ln w="17780">
            <a:solidFill>
              <a:srgbClr val="1A1A2E"/>
            </a:solidFill>
            <a:prstDash val="solid"/>
          </a:ln>
        </p:spPr>
        <p:txBody>
          <a:bodyPr/>
          <a:lstStyle/>
          <a:p>
            <a:endParaRPr lang="en-US"/>
          </a:p>
        </p:txBody>
      </p:sp>
      <p:sp>
        <p:nvSpPr>
          <p:cNvPr id="31" name="Matrix bracket tick">
            <a:extLst>
              <a:ext uri="{C183D7F6-B498-43B3-948B-1728B52AA6E4}">
                <adec:decorative xmlns:adec="http://schemas.microsoft.com/office/drawing/2017/decorative" val="1"/>
              </a:ext>
            </a:extLst>
          </p:cNvPr>
          <p:cNvSpPr/>
          <p:nvPr/>
        </p:nvSpPr>
        <p:spPr>
          <a:xfrm>
            <a:off x="2798064" y="3858768"/>
            <a:ext cx="137160" cy="0"/>
          </a:xfrm>
          <a:prstGeom prst="line">
            <a:avLst/>
          </a:prstGeom>
          <a:noFill/>
          <a:ln w="17780">
            <a:solidFill>
              <a:srgbClr val="1A1A2E"/>
            </a:solidFill>
            <a:prstDash val="solid"/>
          </a:ln>
        </p:spPr>
        <p:txBody>
          <a:bodyPr/>
          <a:lstStyle/>
          <a:p>
            <a:endParaRPr lang="en-US"/>
          </a:p>
        </p:txBody>
      </p:sp>
      <p:sp>
        <p:nvSpPr>
          <p:cNvPr id="32" name="Matrix bracket">
            <a:extLst>
              <a:ext uri="{C183D7F6-B498-43B3-948B-1728B52AA6E4}">
                <adec:decorative xmlns:adec="http://schemas.microsoft.com/office/drawing/2017/decorative" val="1"/>
              </a:ext>
            </a:extLst>
          </p:cNvPr>
          <p:cNvSpPr/>
          <p:nvPr/>
        </p:nvSpPr>
        <p:spPr>
          <a:xfrm>
            <a:off x="3968496" y="3090672"/>
            <a:ext cx="0" cy="768096"/>
          </a:xfrm>
          <a:prstGeom prst="line">
            <a:avLst/>
          </a:prstGeom>
          <a:noFill/>
          <a:ln w="17780">
            <a:solidFill>
              <a:srgbClr val="1A1A2E"/>
            </a:solidFill>
            <a:prstDash val="solid"/>
          </a:ln>
        </p:spPr>
        <p:txBody>
          <a:bodyPr/>
          <a:lstStyle/>
          <a:p>
            <a:endParaRPr lang="en-US"/>
          </a:p>
        </p:txBody>
      </p:sp>
      <p:sp>
        <p:nvSpPr>
          <p:cNvPr id="33" name="Matrix bracket tick">
            <a:extLst>
              <a:ext uri="{C183D7F6-B498-43B3-948B-1728B52AA6E4}">
                <adec:decorative xmlns:adec="http://schemas.microsoft.com/office/drawing/2017/decorative" val="1"/>
              </a:ext>
            </a:extLst>
          </p:cNvPr>
          <p:cNvSpPr/>
          <p:nvPr/>
        </p:nvSpPr>
        <p:spPr>
          <a:xfrm>
            <a:off x="3831336" y="3090672"/>
            <a:ext cx="137160" cy="0"/>
          </a:xfrm>
          <a:prstGeom prst="line">
            <a:avLst/>
          </a:prstGeom>
          <a:noFill/>
          <a:ln w="17780">
            <a:solidFill>
              <a:srgbClr val="1A1A2E"/>
            </a:solidFill>
            <a:prstDash val="solid"/>
          </a:ln>
        </p:spPr>
        <p:txBody>
          <a:bodyPr/>
          <a:lstStyle/>
          <a:p>
            <a:endParaRPr lang="en-US"/>
          </a:p>
        </p:txBody>
      </p:sp>
      <p:sp>
        <p:nvSpPr>
          <p:cNvPr id="34" name="Matrix bracket tick">
            <a:extLst>
              <a:ext uri="{C183D7F6-B498-43B3-948B-1728B52AA6E4}">
                <adec:decorative xmlns:adec="http://schemas.microsoft.com/office/drawing/2017/decorative" val="1"/>
              </a:ext>
            </a:extLst>
          </p:cNvPr>
          <p:cNvSpPr/>
          <p:nvPr/>
        </p:nvSpPr>
        <p:spPr>
          <a:xfrm>
            <a:off x="3831336" y="3858768"/>
            <a:ext cx="137160" cy="0"/>
          </a:xfrm>
          <a:prstGeom prst="line">
            <a:avLst/>
          </a:prstGeom>
          <a:noFill/>
          <a:ln w="17780">
            <a:solidFill>
              <a:srgbClr val="1A1A2E"/>
            </a:solidFill>
            <a:prstDash val="solid"/>
          </a:ln>
        </p:spPr>
        <p:txBody>
          <a:bodyPr/>
          <a:lstStyle/>
          <a:p>
            <a:endParaRPr lang="en-US"/>
          </a:p>
        </p:txBody>
      </p:sp>
      <p:sp>
        <p:nvSpPr>
          <p:cNvPr id="35" name="Text 33"/>
          <p:cNvSpPr/>
          <p:nvPr/>
        </p:nvSpPr>
        <p:spPr>
          <a:xfrm>
            <a:off x="2926080" y="309067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36" name="Text 34"/>
          <p:cNvSpPr/>
          <p:nvPr/>
        </p:nvSpPr>
        <p:spPr>
          <a:xfrm>
            <a:off x="3383280" y="309067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37" name="Text 35"/>
          <p:cNvSpPr/>
          <p:nvPr/>
        </p:nvSpPr>
        <p:spPr>
          <a:xfrm>
            <a:off x="2926080" y="347472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1</a:t>
            </a:r>
            <a:endParaRPr lang="en-US" sz="1600" dirty="0"/>
          </a:p>
        </p:txBody>
      </p:sp>
      <p:sp>
        <p:nvSpPr>
          <p:cNvPr id="38" name="Text 36"/>
          <p:cNvSpPr/>
          <p:nvPr/>
        </p:nvSpPr>
        <p:spPr>
          <a:xfrm>
            <a:off x="3383280" y="347472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39" name="Card frame">
            <a:extLst>
              <a:ext uri="{C183D7F6-B498-43B3-948B-1728B52AA6E4}">
                <adec:decorative xmlns:adec="http://schemas.microsoft.com/office/drawing/2017/decorative" val="1"/>
              </a:ext>
            </a:extLst>
          </p:cNvPr>
          <p:cNvSpPr/>
          <p:nvPr/>
        </p:nvSpPr>
        <p:spPr>
          <a:xfrm>
            <a:off x="4800600" y="2834640"/>
            <a:ext cx="3657600" cy="1280160"/>
          </a:xfrm>
          <a:prstGeom prst="roundRect">
            <a:avLst>
              <a:gd name="adj" fmla="val 4286"/>
            </a:avLst>
          </a:prstGeom>
          <a:solidFill>
            <a:srgbClr val="F4F5FB"/>
          </a:solidFill>
          <a:ln w="15240">
            <a:solidFill>
              <a:srgbClr val="3730A3"/>
            </a:solidFill>
            <a:prstDash val="solid"/>
          </a:ln>
        </p:spPr>
        <p:txBody>
          <a:bodyPr/>
          <a:lstStyle/>
          <a:p>
            <a:endParaRPr lang="en-US"/>
          </a:p>
        </p:txBody>
      </p:sp>
      <p:sp>
        <p:nvSpPr>
          <p:cNvPr id="40" name="Text 38"/>
          <p:cNvSpPr/>
          <p:nvPr/>
        </p:nvSpPr>
        <p:spPr>
          <a:xfrm>
            <a:off x="5212080" y="2834640"/>
            <a:ext cx="1691640" cy="1280160"/>
          </a:xfrm>
          <a:prstGeom prst="rect">
            <a:avLst/>
          </a:prstGeom>
          <a:noFill/>
          <a:ln/>
        </p:spPr>
        <p:txBody>
          <a:bodyPr wrap="square" lIns="0" tIns="0" rIns="0" bIns="0" rtlCol="0" anchor="ctr"/>
          <a:lstStyle/>
          <a:p>
            <a:pPr marL="0" indent="0">
              <a:buNone/>
            </a:pPr>
            <a:r>
              <a:rPr lang="en-US" sz="1900" b="1" dirty="0">
                <a:solidFill>
                  <a:srgbClr val="3730A3"/>
                </a:solidFill>
                <a:latin typeface="Georgia" pitchFamily="34" charset="0"/>
                <a:ea typeface="Georgia" pitchFamily="34" charset="-122"/>
                <a:cs typeface="Georgia" pitchFamily="34" charset="-120"/>
              </a:rPr>
              <a:t>|1⟩⟨1|  =</a:t>
            </a:r>
            <a:endParaRPr lang="en-US" sz="1900" dirty="0"/>
          </a:p>
        </p:txBody>
      </p:sp>
      <p:sp>
        <p:nvSpPr>
          <p:cNvPr id="41" name="Matrix bracket">
            <a:extLst>
              <a:ext uri="{C183D7F6-B498-43B3-948B-1728B52AA6E4}">
                <adec:decorative xmlns:adec="http://schemas.microsoft.com/office/drawing/2017/decorative" val="1"/>
              </a:ext>
            </a:extLst>
          </p:cNvPr>
          <p:cNvSpPr/>
          <p:nvPr/>
        </p:nvSpPr>
        <p:spPr>
          <a:xfrm>
            <a:off x="6821424" y="3090672"/>
            <a:ext cx="0" cy="768096"/>
          </a:xfrm>
          <a:prstGeom prst="line">
            <a:avLst/>
          </a:prstGeom>
          <a:noFill/>
          <a:ln w="17780">
            <a:solidFill>
              <a:srgbClr val="1A1A2E"/>
            </a:solidFill>
            <a:prstDash val="solid"/>
          </a:ln>
        </p:spPr>
        <p:txBody>
          <a:bodyPr/>
          <a:lstStyle/>
          <a:p>
            <a:endParaRPr lang="en-US"/>
          </a:p>
        </p:txBody>
      </p:sp>
      <p:sp>
        <p:nvSpPr>
          <p:cNvPr id="42" name="Matrix bracket tick">
            <a:extLst>
              <a:ext uri="{C183D7F6-B498-43B3-948B-1728B52AA6E4}">
                <adec:decorative xmlns:adec="http://schemas.microsoft.com/office/drawing/2017/decorative" val="1"/>
              </a:ext>
            </a:extLst>
          </p:cNvPr>
          <p:cNvSpPr/>
          <p:nvPr/>
        </p:nvSpPr>
        <p:spPr>
          <a:xfrm>
            <a:off x="6821424" y="3090672"/>
            <a:ext cx="137160" cy="0"/>
          </a:xfrm>
          <a:prstGeom prst="line">
            <a:avLst/>
          </a:prstGeom>
          <a:noFill/>
          <a:ln w="17780">
            <a:solidFill>
              <a:srgbClr val="1A1A2E"/>
            </a:solidFill>
            <a:prstDash val="solid"/>
          </a:ln>
        </p:spPr>
        <p:txBody>
          <a:bodyPr/>
          <a:lstStyle/>
          <a:p>
            <a:endParaRPr lang="en-US"/>
          </a:p>
        </p:txBody>
      </p:sp>
      <p:sp>
        <p:nvSpPr>
          <p:cNvPr id="43" name="Matrix bracket tick">
            <a:extLst>
              <a:ext uri="{C183D7F6-B498-43B3-948B-1728B52AA6E4}">
                <adec:decorative xmlns:adec="http://schemas.microsoft.com/office/drawing/2017/decorative" val="1"/>
              </a:ext>
            </a:extLst>
          </p:cNvPr>
          <p:cNvSpPr/>
          <p:nvPr/>
        </p:nvSpPr>
        <p:spPr>
          <a:xfrm>
            <a:off x="6821424" y="3858768"/>
            <a:ext cx="137160" cy="0"/>
          </a:xfrm>
          <a:prstGeom prst="line">
            <a:avLst/>
          </a:prstGeom>
          <a:noFill/>
          <a:ln w="17780">
            <a:solidFill>
              <a:srgbClr val="1A1A2E"/>
            </a:solidFill>
            <a:prstDash val="solid"/>
          </a:ln>
        </p:spPr>
        <p:txBody>
          <a:bodyPr/>
          <a:lstStyle/>
          <a:p>
            <a:endParaRPr lang="en-US"/>
          </a:p>
        </p:txBody>
      </p:sp>
      <p:sp>
        <p:nvSpPr>
          <p:cNvPr id="44" name="Matrix bracket">
            <a:extLst>
              <a:ext uri="{C183D7F6-B498-43B3-948B-1728B52AA6E4}">
                <adec:decorative xmlns:adec="http://schemas.microsoft.com/office/drawing/2017/decorative" val="1"/>
              </a:ext>
            </a:extLst>
          </p:cNvPr>
          <p:cNvSpPr/>
          <p:nvPr/>
        </p:nvSpPr>
        <p:spPr>
          <a:xfrm>
            <a:off x="7991856" y="3090672"/>
            <a:ext cx="0" cy="768096"/>
          </a:xfrm>
          <a:prstGeom prst="line">
            <a:avLst/>
          </a:prstGeom>
          <a:noFill/>
          <a:ln w="17780">
            <a:solidFill>
              <a:srgbClr val="1A1A2E"/>
            </a:solidFill>
            <a:prstDash val="solid"/>
          </a:ln>
        </p:spPr>
        <p:txBody>
          <a:bodyPr/>
          <a:lstStyle/>
          <a:p>
            <a:endParaRPr lang="en-US"/>
          </a:p>
        </p:txBody>
      </p:sp>
      <p:sp>
        <p:nvSpPr>
          <p:cNvPr id="45" name="Matrix bracket tick">
            <a:extLst>
              <a:ext uri="{C183D7F6-B498-43B3-948B-1728B52AA6E4}">
                <adec:decorative xmlns:adec="http://schemas.microsoft.com/office/drawing/2017/decorative" val="1"/>
              </a:ext>
            </a:extLst>
          </p:cNvPr>
          <p:cNvSpPr/>
          <p:nvPr/>
        </p:nvSpPr>
        <p:spPr>
          <a:xfrm>
            <a:off x="7854696" y="3090672"/>
            <a:ext cx="137160" cy="0"/>
          </a:xfrm>
          <a:prstGeom prst="line">
            <a:avLst/>
          </a:prstGeom>
          <a:noFill/>
          <a:ln w="17780">
            <a:solidFill>
              <a:srgbClr val="1A1A2E"/>
            </a:solidFill>
            <a:prstDash val="solid"/>
          </a:ln>
        </p:spPr>
        <p:txBody>
          <a:bodyPr/>
          <a:lstStyle/>
          <a:p>
            <a:endParaRPr lang="en-US"/>
          </a:p>
        </p:txBody>
      </p:sp>
      <p:sp>
        <p:nvSpPr>
          <p:cNvPr id="46" name="Matrix bracket tick">
            <a:extLst>
              <a:ext uri="{C183D7F6-B498-43B3-948B-1728B52AA6E4}">
                <adec:decorative xmlns:adec="http://schemas.microsoft.com/office/drawing/2017/decorative" val="1"/>
              </a:ext>
            </a:extLst>
          </p:cNvPr>
          <p:cNvSpPr/>
          <p:nvPr/>
        </p:nvSpPr>
        <p:spPr>
          <a:xfrm>
            <a:off x="7854696" y="3858768"/>
            <a:ext cx="137160" cy="0"/>
          </a:xfrm>
          <a:prstGeom prst="line">
            <a:avLst/>
          </a:prstGeom>
          <a:noFill/>
          <a:ln w="17780">
            <a:solidFill>
              <a:srgbClr val="1A1A2E"/>
            </a:solidFill>
            <a:prstDash val="solid"/>
          </a:ln>
        </p:spPr>
        <p:txBody>
          <a:bodyPr/>
          <a:lstStyle/>
          <a:p>
            <a:endParaRPr lang="en-US"/>
          </a:p>
        </p:txBody>
      </p:sp>
      <p:sp>
        <p:nvSpPr>
          <p:cNvPr id="47" name="Text 45"/>
          <p:cNvSpPr/>
          <p:nvPr/>
        </p:nvSpPr>
        <p:spPr>
          <a:xfrm>
            <a:off x="6949440" y="309067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48" name="Text 46"/>
          <p:cNvSpPr/>
          <p:nvPr/>
        </p:nvSpPr>
        <p:spPr>
          <a:xfrm>
            <a:off x="7406640" y="3090672"/>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49" name="Text 47"/>
          <p:cNvSpPr/>
          <p:nvPr/>
        </p:nvSpPr>
        <p:spPr>
          <a:xfrm>
            <a:off x="6949440" y="347472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0</a:t>
            </a:r>
            <a:endParaRPr lang="en-US" sz="1600" dirty="0"/>
          </a:p>
        </p:txBody>
      </p:sp>
      <p:sp>
        <p:nvSpPr>
          <p:cNvPr id="50" name="Text 48"/>
          <p:cNvSpPr/>
          <p:nvPr/>
        </p:nvSpPr>
        <p:spPr>
          <a:xfrm>
            <a:off x="7406640" y="3474720"/>
            <a:ext cx="457200" cy="384048"/>
          </a:xfrm>
          <a:prstGeom prst="rect">
            <a:avLst/>
          </a:prstGeom>
          <a:noFill/>
          <a:ln/>
        </p:spPr>
        <p:txBody>
          <a:bodyPr wrap="square" lIns="0" tIns="0" rIns="0" bIns="0" rtlCol="0" anchor="ctr"/>
          <a:lstStyle/>
          <a:p>
            <a:pPr marL="0" indent="0" algn="ctr">
              <a:buNone/>
            </a:pPr>
            <a:r>
              <a:rPr lang="en-US" sz="1600" dirty="0">
                <a:solidFill>
                  <a:srgbClr val="1A1A2E"/>
                </a:solidFill>
                <a:latin typeface="Georgia" pitchFamily="34" charset="0"/>
                <a:ea typeface="Georgia" pitchFamily="34" charset="-122"/>
                <a:cs typeface="Georgia" pitchFamily="34" charset="-120"/>
              </a:rPr>
              <a:t>1</a:t>
            </a:r>
            <a:endParaRPr lang="en-US" sz="1600" dirty="0"/>
          </a:p>
        </p:txBody>
      </p:sp>
      <p:sp>
        <p:nvSpPr>
          <p:cNvPr id="51" name="Text 49"/>
          <p:cNvSpPr/>
          <p:nvPr/>
        </p:nvSpPr>
        <p:spPr>
          <a:xfrm>
            <a:off x="640080" y="422452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Each outer product picks out exactly one entry of the 2 × 2 matrix.</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Pauli-X from outer products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554480" y="1371600"/>
            <a:ext cx="6035040" cy="1005840"/>
          </a:xfrm>
          <a:prstGeom prst="roundRect">
            <a:avLst>
              <a:gd name="adj" fmla="val 5455"/>
            </a:avLst>
          </a:prstGeom>
          <a:solidFill>
            <a:srgbClr val="FFFFFF"/>
          </a:solidFill>
          <a:ln w="12700">
            <a:solidFill>
              <a:srgbClr val="D4D7DD"/>
            </a:solidFill>
            <a:prstDash val="solid"/>
          </a:ln>
        </p:spPr>
        <p:txBody>
          <a:bodyPr/>
          <a:lstStyle/>
          <a:p>
            <a:endParaRPr lang="en-US"/>
          </a:p>
        </p:txBody>
      </p:sp>
      <p:sp>
        <p:nvSpPr>
          <p:cNvPr id="4" name="Text 2"/>
          <p:cNvSpPr/>
          <p:nvPr/>
        </p:nvSpPr>
        <p:spPr>
          <a:xfrm>
            <a:off x="1554480" y="1371600"/>
            <a:ext cx="6035040" cy="1005840"/>
          </a:xfrm>
          <a:prstGeom prst="rect">
            <a:avLst/>
          </a:prstGeom>
          <a:noFill/>
          <a:ln/>
        </p:spPr>
        <p:txBody>
          <a:bodyPr wrap="square" lIns="0" tIns="0" rIns="0" bIns="0" rtlCol="0" anchor="ctr"/>
          <a:lstStyle/>
          <a:p>
            <a:pPr marL="0" indent="0" algn="ctr">
              <a:buNone/>
            </a:pPr>
            <a:r>
              <a:rPr lang="en-US" sz="2400" dirty="0">
                <a:solidFill>
                  <a:srgbClr val="1A1A2E"/>
                </a:solidFill>
                <a:latin typeface="Georgia" pitchFamily="34" charset="0"/>
                <a:ea typeface="Georgia" pitchFamily="34" charset="-122"/>
                <a:cs typeface="Georgia" pitchFamily="34" charset="-120"/>
              </a:rPr>
              <a:t>X  =  |0⟩⟨1|  +  |1⟩⟨0|</a:t>
            </a:r>
            <a:endParaRPr lang="en-US" sz="2400" dirty="0"/>
          </a:p>
        </p:txBody>
      </p:sp>
      <p:sp>
        <p:nvSpPr>
          <p:cNvPr id="5" name="Text 3"/>
          <p:cNvSpPr/>
          <p:nvPr/>
        </p:nvSpPr>
        <p:spPr>
          <a:xfrm>
            <a:off x="1554480" y="2450592"/>
            <a:ext cx="6035040" cy="384048"/>
          </a:xfrm>
          <a:prstGeom prst="rect">
            <a:avLst/>
          </a:prstGeom>
          <a:noFill/>
          <a:ln/>
        </p:spPr>
        <p:txBody>
          <a:bodyPr wrap="square" lIns="0" tIns="0" rIns="0" bIns="0" rtlCol="0" anchor="ctr"/>
          <a:lstStyle/>
          <a:p>
            <a:pPr marL="0" indent="0" algn="ctr">
              <a:buNone/>
            </a:pPr>
            <a:r>
              <a:rPr lang="en-US" sz="2000" dirty="0">
                <a:solidFill>
                  <a:srgbClr val="3730A3"/>
                </a:solidFill>
                <a:latin typeface="Georgia" pitchFamily="34" charset="0"/>
                <a:ea typeface="Georgia" pitchFamily="34" charset="-122"/>
                <a:cs typeface="Georgia" pitchFamily="34" charset="-120"/>
              </a:rPr>
              <a:t>↓</a:t>
            </a:r>
            <a:endParaRPr lang="en-US" sz="2000" dirty="0"/>
          </a:p>
        </p:txBody>
      </p:sp>
      <p:sp>
        <p:nvSpPr>
          <p:cNvPr id="6" name="Card frame">
            <a:extLst>
              <a:ext uri="{C183D7F6-B498-43B3-948B-1728B52AA6E4}">
                <adec:decorative xmlns:adec="http://schemas.microsoft.com/office/drawing/2017/decorative" val="1"/>
              </a:ext>
            </a:extLst>
          </p:cNvPr>
          <p:cNvSpPr/>
          <p:nvPr/>
        </p:nvSpPr>
        <p:spPr>
          <a:xfrm>
            <a:off x="1554480" y="2926080"/>
            <a:ext cx="6035040" cy="1234440"/>
          </a:xfrm>
          <a:prstGeom prst="roundRect">
            <a:avLst>
              <a:gd name="adj" fmla="val 4444"/>
            </a:avLst>
          </a:prstGeom>
          <a:solidFill>
            <a:srgbClr val="F4F5FB"/>
          </a:solidFill>
          <a:ln w="15240">
            <a:solidFill>
              <a:srgbClr val="3730A3"/>
            </a:solidFill>
            <a:prstDash val="solid"/>
          </a:ln>
        </p:spPr>
        <p:txBody>
          <a:bodyPr/>
          <a:lstStyle/>
          <a:p>
            <a:endParaRPr lang="en-US"/>
          </a:p>
        </p:txBody>
      </p:sp>
      <p:sp>
        <p:nvSpPr>
          <p:cNvPr id="7" name="Text 5"/>
          <p:cNvSpPr/>
          <p:nvPr/>
        </p:nvSpPr>
        <p:spPr>
          <a:xfrm>
            <a:off x="3063240" y="2926080"/>
            <a:ext cx="1097280" cy="1234440"/>
          </a:xfrm>
          <a:prstGeom prst="rect">
            <a:avLst/>
          </a:prstGeom>
          <a:noFill/>
          <a:ln/>
        </p:spPr>
        <p:txBody>
          <a:bodyPr wrap="square" lIns="0" tIns="0" rIns="0" bIns="0" rtlCol="0" anchor="ctr"/>
          <a:lstStyle/>
          <a:p>
            <a:pPr marL="0" indent="0" algn="r">
              <a:buNone/>
            </a:pPr>
            <a:r>
              <a:rPr lang="en-US" sz="2400" b="1" dirty="0">
                <a:solidFill>
                  <a:srgbClr val="3730A3"/>
                </a:solidFill>
                <a:latin typeface="Georgia" pitchFamily="34" charset="0"/>
                <a:ea typeface="Georgia" pitchFamily="34" charset="-122"/>
                <a:cs typeface="Georgia" pitchFamily="34" charset="-120"/>
              </a:rPr>
              <a:t>X  =</a:t>
            </a:r>
            <a:endParaRPr lang="en-US" sz="2400" dirty="0"/>
          </a:p>
        </p:txBody>
      </p:sp>
      <p:sp>
        <p:nvSpPr>
          <p:cNvPr id="8" name="Matrix bracket">
            <a:extLst>
              <a:ext uri="{C183D7F6-B498-43B3-948B-1728B52AA6E4}">
                <adec:decorative xmlns:adec="http://schemas.microsoft.com/office/drawing/2017/decorative" val="1"/>
              </a:ext>
            </a:extLst>
          </p:cNvPr>
          <p:cNvSpPr/>
          <p:nvPr/>
        </p:nvSpPr>
        <p:spPr>
          <a:xfrm>
            <a:off x="4489704" y="3159252"/>
            <a:ext cx="0" cy="768096"/>
          </a:xfrm>
          <a:prstGeom prst="line">
            <a:avLst/>
          </a:prstGeom>
          <a:noFill/>
          <a:ln w="17780">
            <a:solidFill>
              <a:srgbClr val="1A1A2E"/>
            </a:solidFill>
            <a:prstDash val="solid"/>
          </a:ln>
        </p:spPr>
        <p:txBody>
          <a:bodyPr/>
          <a:lstStyle/>
          <a:p>
            <a:endParaRPr lang="en-US"/>
          </a:p>
        </p:txBody>
      </p:sp>
      <p:sp>
        <p:nvSpPr>
          <p:cNvPr id="9" name="Matrix bracket tick">
            <a:extLst>
              <a:ext uri="{C183D7F6-B498-43B3-948B-1728B52AA6E4}">
                <adec:decorative xmlns:adec="http://schemas.microsoft.com/office/drawing/2017/decorative" val="1"/>
              </a:ext>
            </a:extLst>
          </p:cNvPr>
          <p:cNvSpPr/>
          <p:nvPr/>
        </p:nvSpPr>
        <p:spPr>
          <a:xfrm>
            <a:off x="4489704" y="3159252"/>
            <a:ext cx="137160" cy="0"/>
          </a:xfrm>
          <a:prstGeom prst="line">
            <a:avLst/>
          </a:prstGeom>
          <a:noFill/>
          <a:ln w="17780">
            <a:solidFill>
              <a:srgbClr val="1A1A2E"/>
            </a:solidFill>
            <a:prstDash val="solid"/>
          </a:ln>
        </p:spPr>
        <p:txBody>
          <a:bodyPr/>
          <a:lstStyle/>
          <a:p>
            <a:endParaRPr lang="en-US"/>
          </a:p>
        </p:txBody>
      </p:sp>
      <p:sp>
        <p:nvSpPr>
          <p:cNvPr id="10" name="Matrix bracket tick">
            <a:extLst>
              <a:ext uri="{C183D7F6-B498-43B3-948B-1728B52AA6E4}">
                <adec:decorative xmlns:adec="http://schemas.microsoft.com/office/drawing/2017/decorative" val="1"/>
              </a:ext>
            </a:extLst>
          </p:cNvPr>
          <p:cNvSpPr/>
          <p:nvPr/>
        </p:nvSpPr>
        <p:spPr>
          <a:xfrm>
            <a:off x="4489704" y="3927348"/>
            <a:ext cx="137160" cy="0"/>
          </a:xfrm>
          <a:prstGeom prst="line">
            <a:avLst/>
          </a:prstGeom>
          <a:noFill/>
          <a:ln w="17780">
            <a:solidFill>
              <a:srgbClr val="1A1A2E"/>
            </a:solidFill>
            <a:prstDash val="solid"/>
          </a:ln>
        </p:spPr>
        <p:txBody>
          <a:bodyPr/>
          <a:lstStyle/>
          <a:p>
            <a:endParaRPr lang="en-US"/>
          </a:p>
        </p:txBody>
      </p:sp>
      <p:sp>
        <p:nvSpPr>
          <p:cNvPr id="11" name="Matrix bracket">
            <a:extLst>
              <a:ext uri="{C183D7F6-B498-43B3-948B-1728B52AA6E4}">
                <adec:decorative xmlns:adec="http://schemas.microsoft.com/office/drawing/2017/decorative" val="1"/>
              </a:ext>
            </a:extLst>
          </p:cNvPr>
          <p:cNvSpPr/>
          <p:nvPr/>
        </p:nvSpPr>
        <p:spPr>
          <a:xfrm>
            <a:off x="5660136" y="3159252"/>
            <a:ext cx="0" cy="768096"/>
          </a:xfrm>
          <a:prstGeom prst="line">
            <a:avLst/>
          </a:prstGeom>
          <a:noFill/>
          <a:ln w="17780">
            <a:solidFill>
              <a:srgbClr val="1A1A2E"/>
            </a:solidFill>
            <a:prstDash val="solid"/>
          </a:ln>
        </p:spPr>
        <p:txBody>
          <a:bodyPr/>
          <a:lstStyle/>
          <a:p>
            <a:endParaRPr lang="en-US"/>
          </a:p>
        </p:txBody>
      </p:sp>
      <p:sp>
        <p:nvSpPr>
          <p:cNvPr id="12" name="Matrix bracket tick">
            <a:extLst>
              <a:ext uri="{C183D7F6-B498-43B3-948B-1728B52AA6E4}">
                <adec:decorative xmlns:adec="http://schemas.microsoft.com/office/drawing/2017/decorative" val="1"/>
              </a:ext>
            </a:extLst>
          </p:cNvPr>
          <p:cNvSpPr/>
          <p:nvPr/>
        </p:nvSpPr>
        <p:spPr>
          <a:xfrm>
            <a:off x="5522976" y="3159252"/>
            <a:ext cx="137160" cy="0"/>
          </a:xfrm>
          <a:prstGeom prst="line">
            <a:avLst/>
          </a:prstGeom>
          <a:noFill/>
          <a:ln w="17780">
            <a:solidFill>
              <a:srgbClr val="1A1A2E"/>
            </a:solidFill>
            <a:prstDash val="solid"/>
          </a:ln>
        </p:spPr>
        <p:txBody>
          <a:bodyPr/>
          <a:lstStyle/>
          <a:p>
            <a:endParaRPr lang="en-US"/>
          </a:p>
        </p:txBody>
      </p:sp>
      <p:sp>
        <p:nvSpPr>
          <p:cNvPr id="13" name="Matrix bracket tick">
            <a:extLst>
              <a:ext uri="{C183D7F6-B498-43B3-948B-1728B52AA6E4}">
                <adec:decorative xmlns:adec="http://schemas.microsoft.com/office/drawing/2017/decorative" val="1"/>
              </a:ext>
            </a:extLst>
          </p:cNvPr>
          <p:cNvSpPr/>
          <p:nvPr/>
        </p:nvSpPr>
        <p:spPr>
          <a:xfrm>
            <a:off x="5522976" y="3927348"/>
            <a:ext cx="137160" cy="0"/>
          </a:xfrm>
          <a:prstGeom prst="line">
            <a:avLst/>
          </a:prstGeom>
          <a:noFill/>
          <a:ln w="17780">
            <a:solidFill>
              <a:srgbClr val="1A1A2E"/>
            </a:solidFill>
            <a:prstDash val="solid"/>
          </a:ln>
        </p:spPr>
        <p:txBody>
          <a:bodyPr/>
          <a:lstStyle/>
          <a:p>
            <a:endParaRPr lang="en-US"/>
          </a:p>
        </p:txBody>
      </p:sp>
      <p:sp>
        <p:nvSpPr>
          <p:cNvPr id="14" name="Text 12"/>
          <p:cNvSpPr/>
          <p:nvPr/>
        </p:nvSpPr>
        <p:spPr>
          <a:xfrm>
            <a:off x="4617720" y="3159252"/>
            <a:ext cx="457200" cy="38404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0</a:t>
            </a:r>
            <a:endParaRPr lang="en-US" sz="1800" dirty="0"/>
          </a:p>
        </p:txBody>
      </p:sp>
      <p:sp>
        <p:nvSpPr>
          <p:cNvPr id="15" name="Text 13"/>
          <p:cNvSpPr/>
          <p:nvPr/>
        </p:nvSpPr>
        <p:spPr>
          <a:xfrm>
            <a:off x="5074920" y="3159252"/>
            <a:ext cx="457200" cy="38404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1</a:t>
            </a:r>
            <a:endParaRPr lang="en-US" sz="1800" dirty="0"/>
          </a:p>
        </p:txBody>
      </p:sp>
      <p:sp>
        <p:nvSpPr>
          <p:cNvPr id="16" name="Text 14"/>
          <p:cNvSpPr/>
          <p:nvPr/>
        </p:nvSpPr>
        <p:spPr>
          <a:xfrm>
            <a:off x="4617720" y="3543300"/>
            <a:ext cx="457200" cy="38404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1</a:t>
            </a:r>
            <a:endParaRPr lang="en-US" sz="1800" dirty="0"/>
          </a:p>
        </p:txBody>
      </p:sp>
      <p:sp>
        <p:nvSpPr>
          <p:cNvPr id="17" name="Text 15"/>
          <p:cNvSpPr/>
          <p:nvPr/>
        </p:nvSpPr>
        <p:spPr>
          <a:xfrm>
            <a:off x="5074920" y="3543300"/>
            <a:ext cx="457200" cy="384048"/>
          </a:xfrm>
          <a:prstGeom prst="rect">
            <a:avLst/>
          </a:prstGeom>
          <a:noFill/>
          <a:ln/>
        </p:spPr>
        <p:txBody>
          <a:bodyPr wrap="square" lIns="0" tIns="0" rIns="0" bIns="0" rtlCol="0" anchor="ctr"/>
          <a:lstStyle/>
          <a:p>
            <a:pPr marL="0" indent="0" algn="ctr">
              <a:buNone/>
            </a:pPr>
            <a:r>
              <a:rPr lang="en-US" sz="1800" dirty="0">
                <a:solidFill>
                  <a:srgbClr val="1A1A2E"/>
                </a:solidFill>
                <a:latin typeface="Georgia" pitchFamily="34" charset="0"/>
                <a:ea typeface="Georgia" pitchFamily="34" charset="-122"/>
                <a:cs typeface="Georgia" pitchFamily="34" charset="-120"/>
              </a:rPr>
              <a:t>0</a:t>
            </a:r>
            <a:endParaRPr lang="en-US" sz="1800" dirty="0"/>
          </a:p>
        </p:txBody>
      </p:sp>
      <p:sp>
        <p:nvSpPr>
          <p:cNvPr id="18" name="Text 16"/>
          <p:cNvSpPr/>
          <p:nvPr/>
        </p:nvSpPr>
        <p:spPr>
          <a:xfrm>
            <a:off x="640080" y="429768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Dirac notation and matrix notation describe the same operator.</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projection operator</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1417320" y="1325880"/>
            <a:ext cx="6309360" cy="1051560"/>
          </a:xfrm>
          <a:prstGeom prst="roundRect">
            <a:avLst>
              <a:gd name="adj" fmla="val 5217"/>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1417320" y="1325880"/>
            <a:ext cx="6309360" cy="1051560"/>
          </a:xfrm>
          <a:prstGeom prst="rect">
            <a:avLst/>
          </a:prstGeom>
          <a:noFill/>
          <a:ln/>
        </p:spPr>
        <p:txBody>
          <a:bodyPr wrap="square" lIns="0" tIns="0" rIns="0" bIns="0" rtlCol="0" anchor="ctr"/>
          <a:lstStyle/>
          <a:p>
            <a:pPr marL="0" indent="0" algn="ctr">
              <a:buNone/>
            </a:pPr>
            <a:r>
              <a:rPr lang="en-US" sz="2400" b="1" dirty="0">
                <a:solidFill>
                  <a:srgbClr val="3730A3"/>
                </a:solidFill>
                <a:latin typeface="Georgia" pitchFamily="34" charset="0"/>
                <a:ea typeface="Georgia" pitchFamily="34" charset="-122"/>
                <a:cs typeface="Georgia" pitchFamily="34" charset="-120"/>
              </a:rPr>
              <a:t>P</a:t>
            </a:r>
            <a:r>
              <a:rPr lang="en-US" sz="2400" b="1" baseline="-40000" dirty="0">
                <a:solidFill>
                  <a:srgbClr val="3730A3"/>
                </a:solidFill>
                <a:latin typeface="Georgia" pitchFamily="34" charset="0"/>
                <a:ea typeface="Georgia" pitchFamily="34" charset="-122"/>
                <a:cs typeface="Georgia" pitchFamily="34" charset="-120"/>
              </a:rPr>
              <a:t>S</a:t>
            </a:r>
            <a:r>
              <a:rPr lang="en-US" sz="2400" b="1" dirty="0">
                <a:solidFill>
                  <a:srgbClr val="3730A3"/>
                </a:solidFill>
                <a:latin typeface="Georgia" pitchFamily="34" charset="0"/>
                <a:ea typeface="Georgia" pitchFamily="34" charset="-122"/>
                <a:cs typeface="Georgia" pitchFamily="34" charset="-120"/>
              </a:rPr>
              <a:t>  =  |ψ⟩⟨ψ|</a:t>
            </a:r>
            <a:endParaRPr lang="en-US" sz="2400" dirty="0"/>
          </a:p>
        </p:txBody>
      </p:sp>
      <p:sp>
        <p:nvSpPr>
          <p:cNvPr id="5" name="Text 3"/>
          <p:cNvSpPr/>
          <p:nvPr/>
        </p:nvSpPr>
        <p:spPr>
          <a:xfrm>
            <a:off x="1417320" y="2450592"/>
            <a:ext cx="6309360" cy="274320"/>
          </a:xfrm>
          <a:prstGeom prst="rect">
            <a:avLst/>
          </a:prstGeom>
          <a:noFill/>
          <a:ln/>
        </p:spPr>
        <p:txBody>
          <a:bodyPr wrap="square" lIns="0" tIns="0" rIns="0" bIns="0" rtlCol="0" anchor="ctr"/>
          <a:lstStyle/>
          <a:p>
            <a:pPr marL="0" indent="0" algn="ctr">
              <a:buNone/>
            </a:pPr>
            <a:r>
              <a:rPr lang="en-US" sz="1150" i="1" dirty="0">
                <a:solidFill>
                  <a:srgbClr val="6B7280"/>
                </a:solidFill>
                <a:latin typeface="Georgia" pitchFamily="34" charset="0"/>
                <a:ea typeface="Georgia" pitchFamily="34" charset="-122"/>
                <a:cs typeface="Georgia" pitchFamily="34" charset="-120"/>
              </a:rPr>
              <a:t>one-dimensional subspace</a:t>
            </a:r>
            <a:endParaRPr lang="en-US" sz="1150" dirty="0"/>
          </a:p>
        </p:txBody>
      </p:sp>
      <p:sp>
        <p:nvSpPr>
          <p:cNvPr id="6" name="Card frame">
            <a:extLst>
              <a:ext uri="{C183D7F6-B498-43B3-948B-1728B52AA6E4}">
                <adec:decorative xmlns:adec="http://schemas.microsoft.com/office/drawing/2017/decorative" val="1"/>
              </a:ext>
            </a:extLst>
          </p:cNvPr>
          <p:cNvSpPr/>
          <p:nvPr/>
        </p:nvSpPr>
        <p:spPr>
          <a:xfrm>
            <a:off x="1417320" y="2926080"/>
            <a:ext cx="6309360" cy="1097280"/>
          </a:xfrm>
          <a:prstGeom prst="roundRect">
            <a:avLst>
              <a:gd name="adj" fmla="val 5000"/>
            </a:avLst>
          </a:prstGeom>
          <a:solidFill>
            <a:srgbClr val="FFFFFF"/>
          </a:solidFill>
          <a:ln w="12700">
            <a:solidFill>
              <a:srgbClr val="D4D7DD"/>
            </a:solidFill>
            <a:prstDash val="solid"/>
          </a:ln>
        </p:spPr>
        <p:txBody>
          <a:bodyPr/>
          <a:lstStyle/>
          <a:p>
            <a:endParaRPr lang="en-US"/>
          </a:p>
        </p:txBody>
      </p:sp>
      <p:sp>
        <p:nvSpPr>
          <p:cNvPr id="7" name="Text 5"/>
          <p:cNvSpPr/>
          <p:nvPr/>
        </p:nvSpPr>
        <p:spPr>
          <a:xfrm>
            <a:off x="1417320" y="2926080"/>
            <a:ext cx="6309360" cy="1097280"/>
          </a:xfrm>
          <a:prstGeom prst="rect">
            <a:avLst/>
          </a:prstGeom>
          <a:noFill/>
          <a:ln/>
        </p:spPr>
        <p:txBody>
          <a:bodyPr wrap="square" lIns="0" tIns="0" rIns="0" bIns="0" rtlCol="0" anchor="ctr"/>
          <a:lstStyle/>
          <a:p>
            <a:pPr marL="0" indent="0" algn="ctr">
              <a:buNone/>
            </a:pPr>
            <a:r>
              <a:rPr lang="en-US" sz="2200" dirty="0">
                <a:solidFill>
                  <a:srgbClr val="1A1A2E"/>
                </a:solidFill>
                <a:latin typeface="Georgia" pitchFamily="34" charset="0"/>
                <a:ea typeface="Georgia" pitchFamily="34" charset="-122"/>
                <a:cs typeface="Georgia" pitchFamily="34" charset="-120"/>
              </a:rPr>
              <a:t>P</a:t>
            </a:r>
            <a:r>
              <a:rPr lang="en-US" sz="2200" baseline="-40000" dirty="0">
                <a:solidFill>
                  <a:srgbClr val="1A1A2E"/>
                </a:solidFill>
                <a:latin typeface="Georgia" pitchFamily="34" charset="0"/>
                <a:ea typeface="Georgia" pitchFamily="34" charset="-122"/>
                <a:cs typeface="Georgia" pitchFamily="34" charset="-120"/>
              </a:rPr>
              <a:t>S</a:t>
            </a:r>
            <a:r>
              <a:rPr lang="en-US" sz="2200" dirty="0">
                <a:solidFill>
                  <a:srgbClr val="1A1A2E"/>
                </a:solidFill>
                <a:latin typeface="Georgia" pitchFamily="34" charset="0"/>
                <a:ea typeface="Georgia" pitchFamily="34" charset="-122"/>
                <a:cs typeface="Georgia" pitchFamily="34" charset="-120"/>
              </a:rPr>
              <a:t>  =  Σⱼ   | iⱼ ⟩⟨ iⱼ |</a:t>
            </a:r>
            <a:endParaRPr lang="en-US" sz="2200" dirty="0"/>
          </a:p>
        </p:txBody>
      </p:sp>
      <p:sp>
        <p:nvSpPr>
          <p:cNvPr id="8" name="Text 6"/>
          <p:cNvSpPr/>
          <p:nvPr/>
        </p:nvSpPr>
        <p:spPr>
          <a:xfrm>
            <a:off x="640080" y="416052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For a higher-dimensional subspace, sum the outer products of any orthonormal basis for it.</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Two properties every projector satisfies</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777240" y="1280160"/>
            <a:ext cx="3703320" cy="1691640"/>
          </a:xfrm>
          <a:prstGeom prst="roundRect">
            <a:avLst>
              <a:gd name="adj" fmla="val 3243"/>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777240" y="1417320"/>
            <a:ext cx="3703320" cy="777240"/>
          </a:xfrm>
          <a:prstGeom prst="rect">
            <a:avLst/>
          </a:prstGeom>
          <a:noFill/>
          <a:ln/>
        </p:spPr>
        <p:txBody>
          <a:bodyPr wrap="square" lIns="0" tIns="0" rIns="0" bIns="0" rtlCol="0" anchor="ctr"/>
          <a:lstStyle/>
          <a:p>
            <a:pPr marL="0" indent="0" algn="ctr">
              <a:buNone/>
            </a:pPr>
            <a:r>
              <a:rPr lang="en-US" sz="3200" b="1" dirty="0">
                <a:solidFill>
                  <a:srgbClr val="3730A3"/>
                </a:solidFill>
                <a:latin typeface="Georgia" pitchFamily="34" charset="0"/>
                <a:ea typeface="Georgia" pitchFamily="34" charset="-122"/>
                <a:cs typeface="Georgia" pitchFamily="34" charset="-120"/>
              </a:rPr>
              <a:t>P²  =  P</a:t>
            </a:r>
            <a:endParaRPr lang="en-US" sz="3200" dirty="0"/>
          </a:p>
        </p:txBody>
      </p:sp>
      <p:sp>
        <p:nvSpPr>
          <p:cNvPr id="5" name="Text 3"/>
          <p:cNvSpPr/>
          <p:nvPr/>
        </p:nvSpPr>
        <p:spPr>
          <a:xfrm>
            <a:off x="777240" y="2240280"/>
            <a:ext cx="3703320" cy="320040"/>
          </a:xfrm>
          <a:prstGeom prst="rect">
            <a:avLst/>
          </a:prstGeom>
          <a:noFill/>
          <a:ln/>
        </p:spPr>
        <p:txBody>
          <a:bodyPr wrap="square" lIns="0" tIns="0" rIns="0" bIns="0" rtlCol="0" anchor="ctr"/>
          <a:lstStyle/>
          <a:p>
            <a:pPr marL="0" indent="0" algn="ctr">
              <a:buNone/>
            </a:pPr>
            <a:r>
              <a:rPr lang="en-US" sz="1400" b="1" kern="0" spc="80" dirty="0">
                <a:solidFill>
                  <a:srgbClr val="1A1A2E"/>
                </a:solidFill>
                <a:latin typeface="Georgia" pitchFamily="34" charset="0"/>
                <a:ea typeface="Georgia" pitchFamily="34" charset="-122"/>
                <a:cs typeface="Georgia" pitchFamily="34" charset="-120"/>
              </a:rPr>
              <a:t>Idempotence</a:t>
            </a:r>
            <a:endParaRPr lang="en-US" sz="1400" dirty="0"/>
          </a:p>
        </p:txBody>
      </p:sp>
      <p:sp>
        <p:nvSpPr>
          <p:cNvPr id="6" name="Text 4"/>
          <p:cNvSpPr/>
          <p:nvPr/>
        </p:nvSpPr>
        <p:spPr>
          <a:xfrm>
            <a:off x="777240" y="2560320"/>
            <a:ext cx="3703320" cy="292608"/>
          </a:xfrm>
          <a:prstGeom prst="rect">
            <a:avLst/>
          </a:prstGeom>
          <a:noFill/>
          <a:ln/>
        </p:spPr>
        <p:txBody>
          <a:bodyPr wrap="square" lIns="0" tIns="0" rIns="0" bIns="0" rtlCol="0" anchor="ctr"/>
          <a:lstStyle/>
          <a:p>
            <a:pPr marL="0" indent="0" algn="ctr">
              <a:buNone/>
            </a:pPr>
            <a:r>
              <a:rPr lang="en-US" sz="1100" dirty="0">
                <a:solidFill>
                  <a:srgbClr val="6B7280"/>
                </a:solidFill>
                <a:latin typeface="Georgia" pitchFamily="34" charset="0"/>
                <a:ea typeface="Georgia" pitchFamily="34" charset="-122"/>
                <a:cs typeface="Georgia" pitchFamily="34" charset="-120"/>
              </a:rPr>
              <a:t>projecting twice changes nothing</a:t>
            </a:r>
            <a:endParaRPr lang="en-US" sz="1100" dirty="0"/>
          </a:p>
        </p:txBody>
      </p:sp>
      <p:sp>
        <p:nvSpPr>
          <p:cNvPr id="7" name="Card frame">
            <a:extLst>
              <a:ext uri="{C183D7F6-B498-43B3-948B-1728B52AA6E4}">
                <adec:decorative xmlns:adec="http://schemas.microsoft.com/office/drawing/2017/decorative" val="1"/>
              </a:ext>
            </a:extLst>
          </p:cNvPr>
          <p:cNvSpPr/>
          <p:nvPr/>
        </p:nvSpPr>
        <p:spPr>
          <a:xfrm>
            <a:off x="4754880" y="1280160"/>
            <a:ext cx="3703320" cy="1691640"/>
          </a:xfrm>
          <a:prstGeom prst="roundRect">
            <a:avLst>
              <a:gd name="adj" fmla="val 3243"/>
            </a:avLst>
          </a:prstGeom>
          <a:solidFill>
            <a:srgbClr val="F4F5FB"/>
          </a:solidFill>
          <a:ln w="15240">
            <a:solidFill>
              <a:srgbClr val="3730A3"/>
            </a:solidFill>
            <a:prstDash val="solid"/>
          </a:ln>
        </p:spPr>
        <p:txBody>
          <a:bodyPr/>
          <a:lstStyle/>
          <a:p>
            <a:endParaRPr lang="en-US"/>
          </a:p>
        </p:txBody>
      </p:sp>
      <p:sp>
        <p:nvSpPr>
          <p:cNvPr id="8" name="Text 6"/>
          <p:cNvSpPr/>
          <p:nvPr/>
        </p:nvSpPr>
        <p:spPr>
          <a:xfrm>
            <a:off x="4754880" y="1417320"/>
            <a:ext cx="3703320" cy="777240"/>
          </a:xfrm>
          <a:prstGeom prst="rect">
            <a:avLst/>
          </a:prstGeom>
          <a:noFill/>
          <a:ln/>
        </p:spPr>
        <p:txBody>
          <a:bodyPr wrap="square" lIns="0" tIns="0" rIns="0" bIns="0" rtlCol="0" anchor="ctr"/>
          <a:lstStyle/>
          <a:p>
            <a:pPr marL="0" indent="0" algn="ctr">
              <a:buNone/>
            </a:pPr>
            <a:r>
              <a:rPr lang="en-US" sz="3200" b="1" dirty="0">
                <a:solidFill>
                  <a:srgbClr val="3730A3"/>
                </a:solidFill>
                <a:latin typeface="Georgia" pitchFamily="34" charset="0"/>
                <a:ea typeface="Georgia" pitchFamily="34" charset="-122"/>
                <a:cs typeface="Georgia" pitchFamily="34" charset="-120"/>
              </a:rPr>
              <a:t>P†  =  P</a:t>
            </a:r>
            <a:endParaRPr lang="en-US" sz="3200" dirty="0"/>
          </a:p>
        </p:txBody>
      </p:sp>
      <p:sp>
        <p:nvSpPr>
          <p:cNvPr id="9" name="Text 7"/>
          <p:cNvSpPr/>
          <p:nvPr/>
        </p:nvSpPr>
        <p:spPr>
          <a:xfrm>
            <a:off x="4754880" y="2240280"/>
            <a:ext cx="3703320" cy="320040"/>
          </a:xfrm>
          <a:prstGeom prst="rect">
            <a:avLst/>
          </a:prstGeom>
          <a:noFill/>
          <a:ln/>
        </p:spPr>
        <p:txBody>
          <a:bodyPr wrap="square" lIns="0" tIns="0" rIns="0" bIns="0" rtlCol="0" anchor="ctr"/>
          <a:lstStyle/>
          <a:p>
            <a:pPr marL="0" indent="0" algn="ctr">
              <a:buNone/>
            </a:pPr>
            <a:r>
              <a:rPr lang="en-US" sz="1400" b="1" kern="0" spc="80" dirty="0">
                <a:solidFill>
                  <a:srgbClr val="1A1A2E"/>
                </a:solidFill>
                <a:latin typeface="Georgia" pitchFamily="34" charset="0"/>
                <a:ea typeface="Georgia" pitchFamily="34" charset="-122"/>
                <a:cs typeface="Georgia" pitchFamily="34" charset="-120"/>
              </a:rPr>
              <a:t>Hermiticity</a:t>
            </a:r>
            <a:endParaRPr lang="en-US" sz="1400" dirty="0"/>
          </a:p>
        </p:txBody>
      </p:sp>
      <p:sp>
        <p:nvSpPr>
          <p:cNvPr id="10" name="Text 8"/>
          <p:cNvSpPr/>
          <p:nvPr/>
        </p:nvSpPr>
        <p:spPr>
          <a:xfrm>
            <a:off x="4754880" y="2560320"/>
            <a:ext cx="3703320" cy="292608"/>
          </a:xfrm>
          <a:prstGeom prst="rect">
            <a:avLst/>
          </a:prstGeom>
          <a:noFill/>
          <a:ln/>
        </p:spPr>
        <p:txBody>
          <a:bodyPr wrap="square" lIns="0" tIns="0" rIns="0" bIns="0" rtlCol="0" anchor="ctr"/>
          <a:lstStyle/>
          <a:p>
            <a:pPr marL="0" indent="0" algn="ctr">
              <a:buNone/>
            </a:pPr>
            <a:r>
              <a:rPr lang="en-US" sz="1100" dirty="0">
                <a:solidFill>
                  <a:srgbClr val="6B7280"/>
                </a:solidFill>
                <a:latin typeface="Georgia" pitchFamily="34" charset="0"/>
                <a:ea typeface="Georgia" pitchFamily="34" charset="-122"/>
                <a:cs typeface="Georgia" pitchFamily="34" charset="-120"/>
              </a:rPr>
              <a:t>the operator is self-adjoint</a:t>
            </a:r>
            <a:endParaRPr lang="en-US" sz="1100" dirty="0"/>
          </a:p>
        </p:txBody>
      </p:sp>
      <p:sp>
        <p:nvSpPr>
          <p:cNvPr id="11" name="Text 9"/>
          <p:cNvSpPr/>
          <p:nvPr/>
        </p:nvSpPr>
        <p:spPr>
          <a:xfrm>
            <a:off x="777240" y="3200400"/>
            <a:ext cx="7589520" cy="274320"/>
          </a:xfrm>
          <a:prstGeom prst="rect">
            <a:avLst/>
          </a:prstGeom>
          <a:noFill/>
          <a:ln/>
        </p:spPr>
        <p:txBody>
          <a:bodyPr wrap="square" lIns="0" tIns="0" rIns="0" bIns="0" rtlCol="0" anchor="ctr"/>
          <a:lstStyle/>
          <a:p>
            <a:pPr marL="0" indent="0" algn="ctr">
              <a:buNone/>
            </a:pPr>
            <a:r>
              <a:rPr lang="en-US" sz="1100" b="1" kern="0" spc="80" dirty="0">
                <a:solidFill>
                  <a:srgbClr val="6B7280"/>
                </a:solidFill>
                <a:latin typeface="Georgia" pitchFamily="34" charset="0"/>
                <a:ea typeface="Georgia" pitchFamily="34" charset="-122"/>
                <a:cs typeface="Georgia" pitchFamily="34" charset="-120"/>
              </a:rPr>
              <a:t>project twice</a:t>
            </a:r>
            <a:endParaRPr lang="en-US" sz="1100" dirty="0"/>
          </a:p>
        </p:txBody>
      </p:sp>
      <p:sp>
        <p:nvSpPr>
          <p:cNvPr id="12" name="Card frame">
            <a:extLst>
              <a:ext uri="{C183D7F6-B498-43B3-948B-1728B52AA6E4}">
                <adec:decorative xmlns:adec="http://schemas.microsoft.com/office/drawing/2017/decorative" val="1"/>
              </a:ext>
            </a:extLst>
          </p:cNvPr>
          <p:cNvSpPr/>
          <p:nvPr/>
        </p:nvSpPr>
        <p:spPr>
          <a:xfrm>
            <a:off x="1051560" y="3520440"/>
            <a:ext cx="2011680" cy="658368"/>
          </a:xfrm>
          <a:prstGeom prst="roundRect">
            <a:avLst>
              <a:gd name="adj" fmla="val 8333"/>
            </a:avLst>
          </a:prstGeom>
          <a:solidFill>
            <a:srgbClr val="FFFFFF"/>
          </a:solidFill>
          <a:ln w="12700">
            <a:solidFill>
              <a:srgbClr val="D4D7DD"/>
            </a:solidFill>
            <a:prstDash val="solid"/>
          </a:ln>
        </p:spPr>
        <p:txBody>
          <a:bodyPr/>
          <a:lstStyle/>
          <a:p>
            <a:endParaRPr lang="en-US"/>
          </a:p>
        </p:txBody>
      </p:sp>
      <p:sp>
        <p:nvSpPr>
          <p:cNvPr id="13" name="Text 11"/>
          <p:cNvSpPr/>
          <p:nvPr/>
        </p:nvSpPr>
        <p:spPr>
          <a:xfrm>
            <a:off x="1051560" y="3520440"/>
            <a:ext cx="2011680" cy="658368"/>
          </a:xfrm>
          <a:prstGeom prst="rect">
            <a:avLst/>
          </a:prstGeom>
          <a:noFill/>
          <a:ln/>
        </p:spPr>
        <p:txBody>
          <a:bodyPr wrap="square" lIns="0" tIns="0" rIns="0" bIns="0" rtlCol="0" anchor="ctr"/>
          <a:lstStyle/>
          <a:p>
            <a:pPr marL="0" indent="0" algn="ctr">
              <a:buNone/>
            </a:pPr>
            <a:r>
              <a:rPr lang="en-US" sz="1500" dirty="0">
                <a:solidFill>
                  <a:srgbClr val="1A1A2E"/>
                </a:solidFill>
                <a:latin typeface="Georgia" pitchFamily="34" charset="0"/>
                <a:ea typeface="Georgia" pitchFamily="34" charset="-122"/>
                <a:cs typeface="Georgia" pitchFamily="34" charset="-120"/>
              </a:rPr>
              <a:t>|x⟩</a:t>
            </a:r>
            <a:endParaRPr lang="en-US" sz="1500" dirty="0"/>
          </a:p>
        </p:txBody>
      </p:sp>
      <p:sp>
        <p:nvSpPr>
          <p:cNvPr id="14" name="Text 12"/>
          <p:cNvSpPr/>
          <p:nvPr/>
        </p:nvSpPr>
        <p:spPr>
          <a:xfrm>
            <a:off x="3063240" y="3520440"/>
            <a:ext cx="502920" cy="658368"/>
          </a:xfrm>
          <a:prstGeom prst="rect">
            <a:avLst/>
          </a:prstGeom>
          <a:noFill/>
          <a:ln/>
        </p:spPr>
        <p:txBody>
          <a:bodyPr wrap="square" lIns="0" tIns="0" rIns="0" bIns="0" rtlCol="0" anchor="ctr"/>
          <a:lstStyle/>
          <a:p>
            <a:pPr marL="0" indent="0" algn="ctr">
              <a:buNone/>
            </a:pPr>
            <a:r>
              <a:rPr lang="en-US" sz="1600" dirty="0">
                <a:solidFill>
                  <a:srgbClr val="3730A3"/>
                </a:solidFill>
                <a:latin typeface="Georgia" pitchFamily="34" charset="0"/>
                <a:ea typeface="Georgia" pitchFamily="34" charset="-122"/>
                <a:cs typeface="Georgia" pitchFamily="34" charset="-120"/>
              </a:rPr>
              <a:t>→</a:t>
            </a:r>
            <a:endParaRPr lang="en-US" sz="1600" dirty="0"/>
          </a:p>
        </p:txBody>
      </p:sp>
      <p:sp>
        <p:nvSpPr>
          <p:cNvPr id="15" name="Card frame">
            <a:extLst>
              <a:ext uri="{C183D7F6-B498-43B3-948B-1728B52AA6E4}">
                <adec:decorative xmlns:adec="http://schemas.microsoft.com/office/drawing/2017/decorative" val="1"/>
              </a:ext>
            </a:extLst>
          </p:cNvPr>
          <p:cNvSpPr/>
          <p:nvPr/>
        </p:nvSpPr>
        <p:spPr>
          <a:xfrm>
            <a:off x="3566160" y="3520440"/>
            <a:ext cx="201168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16" name="Text 14"/>
          <p:cNvSpPr/>
          <p:nvPr/>
        </p:nvSpPr>
        <p:spPr>
          <a:xfrm>
            <a:off x="3566160" y="3520440"/>
            <a:ext cx="2011680" cy="658368"/>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P|x⟩</a:t>
            </a:r>
            <a:endParaRPr lang="en-US" sz="1500" dirty="0"/>
          </a:p>
        </p:txBody>
      </p:sp>
      <p:sp>
        <p:nvSpPr>
          <p:cNvPr id="17" name="Text 15"/>
          <p:cNvSpPr/>
          <p:nvPr/>
        </p:nvSpPr>
        <p:spPr>
          <a:xfrm>
            <a:off x="5577840" y="3520440"/>
            <a:ext cx="502920" cy="658368"/>
          </a:xfrm>
          <a:prstGeom prst="rect">
            <a:avLst/>
          </a:prstGeom>
          <a:noFill/>
          <a:ln/>
        </p:spPr>
        <p:txBody>
          <a:bodyPr wrap="square" lIns="0" tIns="0" rIns="0" bIns="0" rtlCol="0" anchor="ctr"/>
          <a:lstStyle/>
          <a:p>
            <a:pPr marL="0" indent="0" algn="ctr">
              <a:buNone/>
            </a:pPr>
            <a:r>
              <a:rPr lang="en-US" sz="1600" dirty="0">
                <a:solidFill>
                  <a:srgbClr val="3730A3"/>
                </a:solidFill>
                <a:latin typeface="Georgia" pitchFamily="34" charset="0"/>
                <a:ea typeface="Georgia" pitchFamily="34" charset="-122"/>
                <a:cs typeface="Georgia" pitchFamily="34" charset="-120"/>
              </a:rPr>
              <a:t>→</a:t>
            </a:r>
            <a:endParaRPr lang="en-US" sz="1600" dirty="0"/>
          </a:p>
        </p:txBody>
      </p:sp>
      <p:sp>
        <p:nvSpPr>
          <p:cNvPr id="18" name="Card frame">
            <a:extLst>
              <a:ext uri="{C183D7F6-B498-43B3-948B-1728B52AA6E4}">
                <adec:decorative xmlns:adec="http://schemas.microsoft.com/office/drawing/2017/decorative" val="1"/>
              </a:ext>
            </a:extLst>
          </p:cNvPr>
          <p:cNvSpPr/>
          <p:nvPr/>
        </p:nvSpPr>
        <p:spPr>
          <a:xfrm>
            <a:off x="6080760" y="3520440"/>
            <a:ext cx="2011680" cy="658368"/>
          </a:xfrm>
          <a:prstGeom prst="roundRect">
            <a:avLst>
              <a:gd name="adj" fmla="val 8333"/>
            </a:avLst>
          </a:prstGeom>
          <a:solidFill>
            <a:srgbClr val="F4F5FB"/>
          </a:solidFill>
          <a:ln w="15240">
            <a:solidFill>
              <a:srgbClr val="3730A3"/>
            </a:solidFill>
            <a:prstDash val="solid"/>
          </a:ln>
        </p:spPr>
        <p:txBody>
          <a:bodyPr/>
          <a:lstStyle/>
          <a:p>
            <a:endParaRPr lang="en-US"/>
          </a:p>
        </p:txBody>
      </p:sp>
      <p:sp>
        <p:nvSpPr>
          <p:cNvPr id="19" name="Text 17"/>
          <p:cNvSpPr/>
          <p:nvPr/>
        </p:nvSpPr>
        <p:spPr>
          <a:xfrm>
            <a:off x="6080760" y="3520440"/>
            <a:ext cx="2011680" cy="658368"/>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P²|x⟩ = P|x⟩</a:t>
            </a:r>
            <a:endParaRPr lang="en-US" sz="1500" dirty="0"/>
          </a:p>
        </p:txBody>
      </p:sp>
      <p:sp>
        <p:nvSpPr>
          <p:cNvPr id="20" name="Text 18"/>
          <p:cNvSpPr/>
          <p:nvPr/>
        </p:nvSpPr>
        <p:spPr>
          <a:xfrm>
            <a:off x="640080" y="431596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Once you are inside the subspace, projecting again leaves you exactly where you are.</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Trace equals dimension</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2148840" y="1298448"/>
            <a:ext cx="4846320" cy="960120"/>
          </a:xfrm>
          <a:prstGeom prst="roundRect">
            <a:avLst>
              <a:gd name="adj" fmla="val 5714"/>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2148840" y="1298448"/>
            <a:ext cx="4846320" cy="960120"/>
          </a:xfrm>
          <a:prstGeom prst="rect">
            <a:avLst/>
          </a:prstGeom>
          <a:noFill/>
          <a:ln/>
        </p:spPr>
        <p:txBody>
          <a:bodyPr wrap="square" lIns="0" tIns="0" rIns="0" bIns="0" rtlCol="0" anchor="ctr"/>
          <a:lstStyle/>
          <a:p>
            <a:pPr marL="0" indent="0" algn="ctr">
              <a:buNone/>
            </a:pPr>
            <a:r>
              <a:rPr lang="en-US" sz="2400" b="1" dirty="0">
                <a:solidFill>
                  <a:srgbClr val="3730A3"/>
                </a:solidFill>
                <a:latin typeface="Georgia" pitchFamily="34" charset="0"/>
                <a:ea typeface="Georgia" pitchFamily="34" charset="-122"/>
                <a:cs typeface="Georgia" pitchFamily="34" charset="-120"/>
              </a:rPr>
              <a:t>tr( P</a:t>
            </a:r>
            <a:r>
              <a:rPr lang="en-US" sz="2400" b="1" baseline="-40000" dirty="0">
                <a:solidFill>
                  <a:srgbClr val="3730A3"/>
                </a:solidFill>
                <a:latin typeface="Georgia" pitchFamily="34" charset="0"/>
                <a:ea typeface="Georgia" pitchFamily="34" charset="-122"/>
                <a:cs typeface="Georgia" pitchFamily="34" charset="-120"/>
              </a:rPr>
              <a:t>S</a:t>
            </a:r>
            <a:r>
              <a:rPr lang="en-US" sz="2400" b="1" dirty="0">
                <a:solidFill>
                  <a:srgbClr val="3730A3"/>
                </a:solidFill>
                <a:latin typeface="Georgia" pitchFamily="34" charset="0"/>
                <a:ea typeface="Georgia" pitchFamily="34" charset="-122"/>
                <a:cs typeface="Georgia" pitchFamily="34" charset="-120"/>
              </a:rPr>
              <a:t> )  =  dim( S )</a:t>
            </a:r>
            <a:endParaRPr lang="en-US" sz="2400" dirty="0"/>
          </a:p>
        </p:txBody>
      </p:sp>
      <p:sp>
        <p:nvSpPr>
          <p:cNvPr id="5" name="Card frame">
            <a:extLst>
              <a:ext uri="{C183D7F6-B498-43B3-948B-1728B52AA6E4}">
                <adec:decorative xmlns:adec="http://schemas.microsoft.com/office/drawing/2017/decorative" val="1"/>
              </a:ext>
            </a:extLst>
          </p:cNvPr>
          <p:cNvSpPr/>
          <p:nvPr/>
        </p:nvSpPr>
        <p:spPr>
          <a:xfrm>
            <a:off x="594360" y="2514600"/>
            <a:ext cx="2377440" cy="1783080"/>
          </a:xfrm>
          <a:prstGeom prst="roundRect">
            <a:avLst>
              <a:gd name="adj" fmla="val 3077"/>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594360" y="2670048"/>
            <a:ext cx="2377440" cy="274320"/>
          </a:xfrm>
          <a:prstGeom prst="rect">
            <a:avLst/>
          </a:prstGeom>
          <a:noFill/>
          <a:ln/>
        </p:spPr>
        <p:txBody>
          <a:bodyPr wrap="square" lIns="0" tIns="0" rIns="0" bIns="0" rtlCol="0" anchor="ctr"/>
          <a:lstStyle/>
          <a:p>
            <a:pPr marL="0" indent="0" algn="ctr">
              <a:buNone/>
            </a:pPr>
            <a:r>
              <a:rPr lang="en-US" sz="1150" b="1" kern="0" spc="60" dirty="0">
                <a:solidFill>
                  <a:srgbClr val="6B7280"/>
                </a:solidFill>
                <a:latin typeface="Georgia" pitchFamily="34" charset="0"/>
                <a:ea typeface="Georgia" pitchFamily="34" charset="-122"/>
                <a:cs typeface="Georgia" pitchFamily="34" charset="-120"/>
              </a:rPr>
              <a:t>1D projector</a:t>
            </a:r>
            <a:endParaRPr lang="en-US" sz="1150" dirty="0"/>
          </a:p>
        </p:txBody>
      </p:sp>
      <p:sp>
        <p:nvSpPr>
          <p:cNvPr id="7" name="Dimension bar">
            <a:extLst>
              <a:ext uri="{C183D7F6-B498-43B3-948B-1728B52AA6E4}">
                <adec:decorative xmlns:adec="http://schemas.microsoft.com/office/drawing/2017/decorative" val="1"/>
              </a:ext>
            </a:extLst>
          </p:cNvPr>
          <p:cNvSpPr/>
          <p:nvPr/>
        </p:nvSpPr>
        <p:spPr>
          <a:xfrm>
            <a:off x="1463040" y="3621024"/>
            <a:ext cx="640080" cy="292608"/>
          </a:xfrm>
          <a:prstGeom prst="rect">
            <a:avLst/>
          </a:prstGeom>
          <a:solidFill>
            <a:srgbClr val="3730A3"/>
          </a:solidFill>
          <a:ln w="12700">
            <a:solidFill>
              <a:srgbClr val="3730A3"/>
            </a:solidFill>
            <a:prstDash val="solid"/>
          </a:ln>
        </p:spPr>
        <p:txBody>
          <a:bodyPr/>
          <a:lstStyle/>
          <a:p>
            <a:endParaRPr lang="en-US"/>
          </a:p>
        </p:txBody>
      </p:sp>
      <p:sp>
        <p:nvSpPr>
          <p:cNvPr id="8" name="Text 6"/>
          <p:cNvSpPr/>
          <p:nvPr/>
        </p:nvSpPr>
        <p:spPr>
          <a:xfrm>
            <a:off x="594360" y="3931920"/>
            <a:ext cx="237744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trace  1</a:t>
            </a:r>
            <a:endParaRPr lang="en-US" sz="1400" dirty="0"/>
          </a:p>
        </p:txBody>
      </p:sp>
      <p:sp>
        <p:nvSpPr>
          <p:cNvPr id="9" name="Card frame">
            <a:extLst>
              <a:ext uri="{C183D7F6-B498-43B3-948B-1728B52AA6E4}">
                <adec:decorative xmlns:adec="http://schemas.microsoft.com/office/drawing/2017/decorative" val="1"/>
              </a:ext>
            </a:extLst>
          </p:cNvPr>
          <p:cNvSpPr/>
          <p:nvPr/>
        </p:nvSpPr>
        <p:spPr>
          <a:xfrm>
            <a:off x="3383280" y="2514600"/>
            <a:ext cx="2377440" cy="1783080"/>
          </a:xfrm>
          <a:prstGeom prst="roundRect">
            <a:avLst>
              <a:gd name="adj" fmla="val 3077"/>
            </a:avLst>
          </a:prstGeom>
          <a:solidFill>
            <a:srgbClr val="FFFFFF"/>
          </a:solidFill>
          <a:ln w="12700">
            <a:solidFill>
              <a:srgbClr val="D4D7DD"/>
            </a:solidFill>
            <a:prstDash val="solid"/>
          </a:ln>
        </p:spPr>
        <p:txBody>
          <a:bodyPr/>
          <a:lstStyle/>
          <a:p>
            <a:endParaRPr lang="en-US"/>
          </a:p>
        </p:txBody>
      </p:sp>
      <p:sp>
        <p:nvSpPr>
          <p:cNvPr id="10" name="Text 8"/>
          <p:cNvSpPr/>
          <p:nvPr/>
        </p:nvSpPr>
        <p:spPr>
          <a:xfrm>
            <a:off x="3383280" y="2670048"/>
            <a:ext cx="2377440" cy="274320"/>
          </a:xfrm>
          <a:prstGeom prst="rect">
            <a:avLst/>
          </a:prstGeom>
          <a:noFill/>
          <a:ln/>
        </p:spPr>
        <p:txBody>
          <a:bodyPr wrap="square" lIns="0" tIns="0" rIns="0" bIns="0" rtlCol="0" anchor="ctr"/>
          <a:lstStyle/>
          <a:p>
            <a:pPr marL="0" indent="0" algn="ctr">
              <a:buNone/>
            </a:pPr>
            <a:r>
              <a:rPr lang="en-US" sz="1150" b="1" kern="0" spc="60" dirty="0">
                <a:solidFill>
                  <a:srgbClr val="6B7280"/>
                </a:solidFill>
                <a:latin typeface="Georgia" pitchFamily="34" charset="0"/>
                <a:ea typeface="Georgia" pitchFamily="34" charset="-122"/>
                <a:cs typeface="Georgia" pitchFamily="34" charset="-120"/>
              </a:rPr>
              <a:t>2D projector</a:t>
            </a:r>
            <a:endParaRPr lang="en-US" sz="1150" dirty="0"/>
          </a:p>
        </p:txBody>
      </p:sp>
      <p:sp>
        <p:nvSpPr>
          <p:cNvPr id="11" name="Dimension bar">
            <a:extLst>
              <a:ext uri="{C183D7F6-B498-43B3-948B-1728B52AA6E4}">
                <adec:decorative xmlns:adec="http://schemas.microsoft.com/office/drawing/2017/decorative" val="1"/>
              </a:ext>
            </a:extLst>
          </p:cNvPr>
          <p:cNvSpPr/>
          <p:nvPr/>
        </p:nvSpPr>
        <p:spPr>
          <a:xfrm>
            <a:off x="4251960" y="3383280"/>
            <a:ext cx="640080" cy="530352"/>
          </a:xfrm>
          <a:prstGeom prst="rect">
            <a:avLst/>
          </a:prstGeom>
          <a:solidFill>
            <a:srgbClr val="3730A3"/>
          </a:solidFill>
          <a:ln w="12700">
            <a:solidFill>
              <a:srgbClr val="3730A3"/>
            </a:solidFill>
            <a:prstDash val="solid"/>
          </a:ln>
        </p:spPr>
        <p:txBody>
          <a:bodyPr/>
          <a:lstStyle/>
          <a:p>
            <a:endParaRPr lang="en-US"/>
          </a:p>
        </p:txBody>
      </p:sp>
      <p:sp>
        <p:nvSpPr>
          <p:cNvPr id="12" name="Text 10"/>
          <p:cNvSpPr/>
          <p:nvPr/>
        </p:nvSpPr>
        <p:spPr>
          <a:xfrm>
            <a:off x="3383280" y="3931920"/>
            <a:ext cx="237744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trace  2</a:t>
            </a:r>
            <a:endParaRPr lang="en-US" sz="1400" dirty="0"/>
          </a:p>
        </p:txBody>
      </p:sp>
      <p:sp>
        <p:nvSpPr>
          <p:cNvPr id="13" name="Card frame">
            <a:extLst>
              <a:ext uri="{C183D7F6-B498-43B3-948B-1728B52AA6E4}">
                <adec:decorative xmlns:adec="http://schemas.microsoft.com/office/drawing/2017/decorative" val="1"/>
              </a:ext>
            </a:extLst>
          </p:cNvPr>
          <p:cNvSpPr/>
          <p:nvPr/>
        </p:nvSpPr>
        <p:spPr>
          <a:xfrm>
            <a:off x="6172200" y="2514600"/>
            <a:ext cx="2377440" cy="1783080"/>
          </a:xfrm>
          <a:prstGeom prst="roundRect">
            <a:avLst>
              <a:gd name="adj" fmla="val 3077"/>
            </a:avLst>
          </a:prstGeom>
          <a:solidFill>
            <a:srgbClr val="F4F5FB"/>
          </a:solidFill>
          <a:ln w="15240">
            <a:solidFill>
              <a:srgbClr val="3730A3"/>
            </a:solidFill>
            <a:prstDash val="solid"/>
          </a:ln>
        </p:spPr>
        <p:txBody>
          <a:bodyPr/>
          <a:lstStyle/>
          <a:p>
            <a:endParaRPr lang="en-US"/>
          </a:p>
        </p:txBody>
      </p:sp>
      <p:sp>
        <p:nvSpPr>
          <p:cNvPr id="14" name="Text 12"/>
          <p:cNvSpPr/>
          <p:nvPr/>
        </p:nvSpPr>
        <p:spPr>
          <a:xfrm>
            <a:off x="6172200" y="2670048"/>
            <a:ext cx="2377440" cy="274320"/>
          </a:xfrm>
          <a:prstGeom prst="rect">
            <a:avLst/>
          </a:prstGeom>
          <a:noFill/>
          <a:ln/>
        </p:spPr>
        <p:txBody>
          <a:bodyPr wrap="square" lIns="0" tIns="0" rIns="0" bIns="0" rtlCol="0" anchor="ctr"/>
          <a:lstStyle/>
          <a:p>
            <a:pPr marL="0" indent="0" algn="ctr">
              <a:buNone/>
            </a:pPr>
            <a:r>
              <a:rPr lang="en-US" sz="1150" b="1" kern="0" spc="60" dirty="0">
                <a:solidFill>
                  <a:srgbClr val="6B7280"/>
                </a:solidFill>
                <a:latin typeface="Georgia" pitchFamily="34" charset="0"/>
                <a:ea typeface="Georgia" pitchFamily="34" charset="-122"/>
                <a:cs typeface="Georgia" pitchFamily="34" charset="-120"/>
              </a:rPr>
              <a:t>3D projector</a:t>
            </a:r>
            <a:endParaRPr lang="en-US" sz="1150" dirty="0"/>
          </a:p>
        </p:txBody>
      </p:sp>
      <p:sp>
        <p:nvSpPr>
          <p:cNvPr id="15" name="Dimension bar">
            <a:extLst>
              <a:ext uri="{C183D7F6-B498-43B3-948B-1728B52AA6E4}">
                <adec:decorative xmlns:adec="http://schemas.microsoft.com/office/drawing/2017/decorative" val="1"/>
              </a:ext>
            </a:extLst>
          </p:cNvPr>
          <p:cNvSpPr/>
          <p:nvPr/>
        </p:nvSpPr>
        <p:spPr>
          <a:xfrm>
            <a:off x="7040880" y="3136392"/>
            <a:ext cx="640080" cy="777240"/>
          </a:xfrm>
          <a:prstGeom prst="rect">
            <a:avLst/>
          </a:prstGeom>
          <a:solidFill>
            <a:srgbClr val="3730A3"/>
          </a:solidFill>
          <a:ln w="12700">
            <a:solidFill>
              <a:srgbClr val="3730A3"/>
            </a:solidFill>
            <a:prstDash val="solid"/>
          </a:ln>
        </p:spPr>
        <p:txBody>
          <a:bodyPr/>
          <a:lstStyle/>
          <a:p>
            <a:endParaRPr lang="en-US"/>
          </a:p>
        </p:txBody>
      </p:sp>
      <p:sp>
        <p:nvSpPr>
          <p:cNvPr id="16" name="Text 14"/>
          <p:cNvSpPr/>
          <p:nvPr/>
        </p:nvSpPr>
        <p:spPr>
          <a:xfrm>
            <a:off x="6172200" y="3931920"/>
            <a:ext cx="2377440" cy="292608"/>
          </a:xfrm>
          <a:prstGeom prst="rect">
            <a:avLst/>
          </a:prstGeom>
          <a:noFill/>
          <a:ln/>
        </p:spPr>
        <p:txBody>
          <a:bodyPr wrap="square" lIns="0" tIns="0" rIns="0" bIns="0" rtlCol="0" anchor="ctr"/>
          <a:lstStyle/>
          <a:p>
            <a:pPr marL="0" indent="0" algn="ctr">
              <a:buNone/>
            </a:pPr>
            <a:r>
              <a:rPr lang="en-US" sz="1400" b="1" dirty="0">
                <a:solidFill>
                  <a:srgbClr val="3730A3"/>
                </a:solidFill>
                <a:latin typeface="Georgia" pitchFamily="34" charset="0"/>
                <a:ea typeface="Georgia" pitchFamily="34" charset="-122"/>
                <a:cs typeface="Georgia" pitchFamily="34" charset="-120"/>
              </a:rPr>
              <a:t>trace  3</a:t>
            </a:r>
            <a:endParaRPr lang="en-US" sz="1400" dirty="0"/>
          </a:p>
        </p:txBody>
      </p:sp>
      <p:sp>
        <p:nvSpPr>
          <p:cNvPr id="17" name="Text 15"/>
          <p:cNvSpPr/>
          <p:nvPr/>
        </p:nvSpPr>
        <p:spPr>
          <a:xfrm>
            <a:off x="640080" y="443484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The trace of a projector counts the dimensions it keeps.</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Observable  =  Hermitian operator</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2651760" y="1298448"/>
            <a:ext cx="3840480" cy="914400"/>
          </a:xfrm>
          <a:prstGeom prst="roundRect">
            <a:avLst>
              <a:gd name="adj" fmla="val 6000"/>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2651760" y="1298448"/>
            <a:ext cx="3840480" cy="914400"/>
          </a:xfrm>
          <a:prstGeom prst="rect">
            <a:avLst/>
          </a:prstGeom>
          <a:noFill/>
          <a:ln/>
        </p:spPr>
        <p:txBody>
          <a:bodyPr wrap="square" lIns="0" tIns="0" rIns="0" bIns="0" rtlCol="0" anchor="ctr"/>
          <a:lstStyle/>
          <a:p>
            <a:pPr marL="0" indent="0" algn="ctr">
              <a:buNone/>
            </a:pPr>
            <a:r>
              <a:rPr lang="en-US" sz="3000" b="1" dirty="0">
                <a:solidFill>
                  <a:srgbClr val="3730A3"/>
                </a:solidFill>
                <a:latin typeface="Georgia" pitchFamily="34" charset="0"/>
                <a:ea typeface="Georgia" pitchFamily="34" charset="-122"/>
                <a:cs typeface="Georgia" pitchFamily="34" charset="-120"/>
              </a:rPr>
              <a:t>O</a:t>
            </a:r>
            <a:r>
              <a:rPr lang="en-US" sz="3000" b="1" baseline="30000" dirty="0">
                <a:solidFill>
                  <a:srgbClr val="3730A3"/>
                </a:solidFill>
                <a:latin typeface="Georgia" pitchFamily="34" charset="0"/>
                <a:ea typeface="Georgia" pitchFamily="34" charset="-122"/>
                <a:cs typeface="Georgia" pitchFamily="34" charset="-120"/>
              </a:rPr>
              <a:t>†</a:t>
            </a:r>
            <a:r>
              <a:rPr lang="en-US" sz="3000" b="1" dirty="0">
                <a:solidFill>
                  <a:srgbClr val="3730A3"/>
                </a:solidFill>
                <a:latin typeface="Georgia" pitchFamily="34" charset="0"/>
                <a:ea typeface="Georgia" pitchFamily="34" charset="-122"/>
                <a:cs typeface="Georgia" pitchFamily="34" charset="-120"/>
              </a:rPr>
              <a:t>  =  O</a:t>
            </a:r>
            <a:endParaRPr lang="en-US" sz="3000" dirty="0"/>
          </a:p>
        </p:txBody>
      </p:sp>
      <p:sp>
        <p:nvSpPr>
          <p:cNvPr id="5" name="Card frame">
            <a:extLst>
              <a:ext uri="{C183D7F6-B498-43B3-948B-1728B52AA6E4}">
                <adec:decorative xmlns:adec="http://schemas.microsoft.com/office/drawing/2017/decorative" val="1"/>
              </a:ext>
            </a:extLst>
          </p:cNvPr>
          <p:cNvSpPr/>
          <p:nvPr/>
        </p:nvSpPr>
        <p:spPr>
          <a:xfrm>
            <a:off x="502920" y="2542032"/>
            <a:ext cx="246888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6" name="Rule">
            <a:extLst>
              <a:ext uri="{C183D7F6-B498-43B3-948B-1728B52AA6E4}">
                <adec:decorative xmlns:adec="http://schemas.microsoft.com/office/drawing/2017/decorative" val="1"/>
              </a:ext>
            </a:extLst>
          </p:cNvPr>
          <p:cNvSpPr/>
          <p:nvPr/>
        </p:nvSpPr>
        <p:spPr>
          <a:xfrm>
            <a:off x="1481328" y="2761488"/>
            <a:ext cx="512064" cy="32004"/>
          </a:xfrm>
          <a:prstGeom prst="rect">
            <a:avLst/>
          </a:prstGeom>
          <a:solidFill>
            <a:srgbClr val="3730A3"/>
          </a:solidFill>
          <a:ln w="12700">
            <a:solidFill>
              <a:srgbClr val="3730A3"/>
            </a:solidFill>
            <a:prstDash val="solid"/>
          </a:ln>
        </p:spPr>
        <p:txBody>
          <a:bodyPr/>
          <a:lstStyle/>
          <a:p>
            <a:endParaRPr lang="en-US"/>
          </a:p>
        </p:txBody>
      </p:sp>
      <p:sp>
        <p:nvSpPr>
          <p:cNvPr id="7" name="Text 5"/>
          <p:cNvSpPr/>
          <p:nvPr/>
        </p:nvSpPr>
        <p:spPr>
          <a:xfrm>
            <a:off x="667512" y="2944368"/>
            <a:ext cx="2139696" cy="457200"/>
          </a:xfrm>
          <a:prstGeom prst="rect">
            <a:avLst/>
          </a:prstGeom>
          <a:noFill/>
          <a:ln/>
        </p:spPr>
        <p:txBody>
          <a:bodyPr wrap="square" lIns="0" tIns="0" rIns="0" bIns="0" rtlCol="0" anchor="ctr"/>
          <a:lstStyle/>
          <a:p>
            <a:pPr marL="0" indent="0" algn="ctr">
              <a:buNone/>
            </a:pPr>
            <a:r>
              <a:rPr lang="en-US" sz="1450" b="1" dirty="0">
                <a:solidFill>
                  <a:srgbClr val="1A1A2E"/>
                </a:solidFill>
                <a:latin typeface="Georgia" pitchFamily="34" charset="0"/>
                <a:ea typeface="Georgia" pitchFamily="34" charset="-122"/>
                <a:cs typeface="Georgia" pitchFamily="34" charset="-120"/>
              </a:rPr>
              <a:t>Real eigenvalues</a:t>
            </a:r>
            <a:endParaRPr lang="en-US" sz="1450" dirty="0"/>
          </a:p>
        </p:txBody>
      </p:sp>
      <p:sp>
        <p:nvSpPr>
          <p:cNvPr id="8" name="Text 6"/>
          <p:cNvSpPr/>
          <p:nvPr/>
        </p:nvSpPr>
        <p:spPr>
          <a:xfrm>
            <a:off x="667512" y="3401568"/>
            <a:ext cx="2139696" cy="411480"/>
          </a:xfrm>
          <a:prstGeom prst="rect">
            <a:avLst/>
          </a:prstGeom>
          <a:noFill/>
          <a:ln/>
        </p:spPr>
        <p:txBody>
          <a:bodyPr wrap="square" lIns="0" tIns="0" rIns="0" bIns="0" rtlCol="0" anchor="t"/>
          <a:lstStyle/>
          <a:p>
            <a:pPr marL="0" indent="0" algn="ctr">
              <a:buNone/>
            </a:pPr>
            <a:r>
              <a:rPr lang="en-US" sz="1100" dirty="0">
                <a:solidFill>
                  <a:srgbClr val="6B7280"/>
                </a:solidFill>
                <a:latin typeface="Georgia" pitchFamily="34" charset="0"/>
                <a:ea typeface="Georgia" pitchFamily="34" charset="-122"/>
                <a:cs typeface="Georgia" pitchFamily="34" charset="-120"/>
              </a:rPr>
              <a:t>measurement outcomes are real numbers</a:t>
            </a:r>
            <a:endParaRPr lang="en-US" sz="1100" dirty="0"/>
          </a:p>
        </p:txBody>
      </p:sp>
      <p:sp>
        <p:nvSpPr>
          <p:cNvPr id="9" name="Card frame">
            <a:extLst>
              <a:ext uri="{C183D7F6-B498-43B3-948B-1728B52AA6E4}">
                <adec:decorative xmlns:adec="http://schemas.microsoft.com/office/drawing/2017/decorative" val="1"/>
              </a:ext>
            </a:extLst>
          </p:cNvPr>
          <p:cNvSpPr/>
          <p:nvPr/>
        </p:nvSpPr>
        <p:spPr>
          <a:xfrm>
            <a:off x="3337560" y="2542032"/>
            <a:ext cx="246888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10" name="Rule">
            <a:extLst>
              <a:ext uri="{C183D7F6-B498-43B3-948B-1728B52AA6E4}">
                <adec:decorative xmlns:adec="http://schemas.microsoft.com/office/drawing/2017/decorative" val="1"/>
              </a:ext>
            </a:extLst>
          </p:cNvPr>
          <p:cNvSpPr/>
          <p:nvPr/>
        </p:nvSpPr>
        <p:spPr>
          <a:xfrm>
            <a:off x="4315968" y="2761488"/>
            <a:ext cx="512064" cy="32004"/>
          </a:xfrm>
          <a:prstGeom prst="rect">
            <a:avLst/>
          </a:prstGeom>
          <a:solidFill>
            <a:srgbClr val="3730A3"/>
          </a:solidFill>
          <a:ln w="12700">
            <a:solidFill>
              <a:srgbClr val="3730A3"/>
            </a:solidFill>
            <a:prstDash val="solid"/>
          </a:ln>
        </p:spPr>
        <p:txBody>
          <a:bodyPr/>
          <a:lstStyle/>
          <a:p>
            <a:endParaRPr lang="en-US"/>
          </a:p>
        </p:txBody>
      </p:sp>
      <p:sp>
        <p:nvSpPr>
          <p:cNvPr id="11" name="Text 9"/>
          <p:cNvSpPr/>
          <p:nvPr/>
        </p:nvSpPr>
        <p:spPr>
          <a:xfrm>
            <a:off x="3502152" y="2944368"/>
            <a:ext cx="2139696" cy="457200"/>
          </a:xfrm>
          <a:prstGeom prst="rect">
            <a:avLst/>
          </a:prstGeom>
          <a:noFill/>
          <a:ln/>
        </p:spPr>
        <p:txBody>
          <a:bodyPr wrap="square" lIns="0" tIns="0" rIns="0" bIns="0" rtlCol="0" anchor="ctr"/>
          <a:lstStyle/>
          <a:p>
            <a:pPr marL="0" indent="0" algn="ctr">
              <a:buNone/>
            </a:pPr>
            <a:r>
              <a:rPr lang="en-US" sz="1450" b="1" dirty="0">
                <a:solidFill>
                  <a:srgbClr val="1A1A2E"/>
                </a:solidFill>
                <a:latin typeface="Georgia" pitchFamily="34" charset="0"/>
                <a:ea typeface="Georgia" pitchFamily="34" charset="-122"/>
                <a:cs typeface="Georgia" pitchFamily="34" charset="-120"/>
              </a:rPr>
              <a:t>Orthogonal eigenvectors</a:t>
            </a:r>
            <a:endParaRPr lang="en-US" sz="1450" dirty="0"/>
          </a:p>
        </p:txBody>
      </p:sp>
      <p:sp>
        <p:nvSpPr>
          <p:cNvPr id="12" name="Text 10"/>
          <p:cNvSpPr/>
          <p:nvPr/>
        </p:nvSpPr>
        <p:spPr>
          <a:xfrm>
            <a:off x="3502152" y="3401568"/>
            <a:ext cx="2139696" cy="411480"/>
          </a:xfrm>
          <a:prstGeom prst="rect">
            <a:avLst/>
          </a:prstGeom>
          <a:noFill/>
          <a:ln/>
        </p:spPr>
        <p:txBody>
          <a:bodyPr wrap="square" lIns="0" tIns="0" rIns="0" bIns="0" rtlCol="0" anchor="t"/>
          <a:lstStyle/>
          <a:p>
            <a:pPr marL="0" indent="0" algn="ctr">
              <a:buNone/>
            </a:pPr>
            <a:r>
              <a:rPr lang="en-US" sz="1100" dirty="0">
                <a:solidFill>
                  <a:srgbClr val="6B7280"/>
                </a:solidFill>
                <a:latin typeface="Georgia" pitchFamily="34" charset="0"/>
                <a:ea typeface="Georgia" pitchFamily="34" charset="-122"/>
                <a:cs typeface="Georgia" pitchFamily="34" charset="-120"/>
              </a:rPr>
              <a:t>for distinct eigenvalues</a:t>
            </a:r>
            <a:endParaRPr lang="en-US" sz="1100" dirty="0"/>
          </a:p>
        </p:txBody>
      </p:sp>
      <p:sp>
        <p:nvSpPr>
          <p:cNvPr id="13" name="Card frame">
            <a:extLst>
              <a:ext uri="{C183D7F6-B498-43B3-948B-1728B52AA6E4}">
                <adec:decorative xmlns:adec="http://schemas.microsoft.com/office/drawing/2017/decorative" val="1"/>
              </a:ext>
            </a:extLst>
          </p:cNvPr>
          <p:cNvSpPr/>
          <p:nvPr/>
        </p:nvSpPr>
        <p:spPr>
          <a:xfrm>
            <a:off x="6172200" y="2542032"/>
            <a:ext cx="2468880" cy="1371600"/>
          </a:xfrm>
          <a:prstGeom prst="roundRect">
            <a:avLst>
              <a:gd name="adj" fmla="val 4000"/>
            </a:avLst>
          </a:prstGeom>
          <a:solidFill>
            <a:srgbClr val="FFFFFF"/>
          </a:solidFill>
          <a:ln w="12700">
            <a:solidFill>
              <a:srgbClr val="D4D7DD"/>
            </a:solidFill>
            <a:prstDash val="solid"/>
          </a:ln>
        </p:spPr>
        <p:txBody>
          <a:bodyPr/>
          <a:lstStyle/>
          <a:p>
            <a:endParaRPr lang="en-US"/>
          </a:p>
        </p:txBody>
      </p:sp>
      <p:sp>
        <p:nvSpPr>
          <p:cNvPr id="14" name="Rule">
            <a:extLst>
              <a:ext uri="{C183D7F6-B498-43B3-948B-1728B52AA6E4}">
                <adec:decorative xmlns:adec="http://schemas.microsoft.com/office/drawing/2017/decorative" val="1"/>
              </a:ext>
            </a:extLst>
          </p:cNvPr>
          <p:cNvSpPr/>
          <p:nvPr/>
        </p:nvSpPr>
        <p:spPr>
          <a:xfrm>
            <a:off x="7150608" y="2761488"/>
            <a:ext cx="512064" cy="32004"/>
          </a:xfrm>
          <a:prstGeom prst="rect">
            <a:avLst/>
          </a:prstGeom>
          <a:solidFill>
            <a:srgbClr val="3730A3"/>
          </a:solidFill>
          <a:ln w="12700">
            <a:solidFill>
              <a:srgbClr val="3730A3"/>
            </a:solidFill>
            <a:prstDash val="solid"/>
          </a:ln>
        </p:spPr>
        <p:txBody>
          <a:bodyPr/>
          <a:lstStyle/>
          <a:p>
            <a:endParaRPr lang="en-US"/>
          </a:p>
        </p:txBody>
      </p:sp>
      <p:sp>
        <p:nvSpPr>
          <p:cNvPr id="15" name="Text 13"/>
          <p:cNvSpPr/>
          <p:nvPr/>
        </p:nvSpPr>
        <p:spPr>
          <a:xfrm>
            <a:off x="6336792" y="2944368"/>
            <a:ext cx="2139696" cy="457200"/>
          </a:xfrm>
          <a:prstGeom prst="rect">
            <a:avLst/>
          </a:prstGeom>
          <a:noFill/>
          <a:ln/>
        </p:spPr>
        <p:txBody>
          <a:bodyPr wrap="square" lIns="0" tIns="0" rIns="0" bIns="0" rtlCol="0" anchor="ctr"/>
          <a:lstStyle/>
          <a:p>
            <a:pPr marL="0" indent="0" algn="ctr">
              <a:buNone/>
            </a:pPr>
            <a:r>
              <a:rPr lang="en-US" sz="1450" b="1" dirty="0">
                <a:solidFill>
                  <a:srgbClr val="1A1A2E"/>
                </a:solidFill>
                <a:latin typeface="Georgia" pitchFamily="34" charset="0"/>
                <a:ea typeface="Georgia" pitchFamily="34" charset="-122"/>
                <a:cs typeface="Georgia" pitchFamily="34" charset="-120"/>
              </a:rPr>
              <a:t>Complete eigenbasis</a:t>
            </a:r>
            <a:endParaRPr lang="en-US" sz="1450" dirty="0"/>
          </a:p>
        </p:txBody>
      </p:sp>
      <p:sp>
        <p:nvSpPr>
          <p:cNvPr id="16" name="Text 14"/>
          <p:cNvSpPr/>
          <p:nvPr/>
        </p:nvSpPr>
        <p:spPr>
          <a:xfrm>
            <a:off x="6336792" y="3401568"/>
            <a:ext cx="2139696" cy="411480"/>
          </a:xfrm>
          <a:prstGeom prst="rect">
            <a:avLst/>
          </a:prstGeom>
          <a:noFill/>
          <a:ln/>
        </p:spPr>
        <p:txBody>
          <a:bodyPr wrap="square" lIns="0" tIns="0" rIns="0" bIns="0" rtlCol="0" anchor="t"/>
          <a:lstStyle/>
          <a:p>
            <a:pPr marL="0" indent="0" algn="ctr">
              <a:buNone/>
            </a:pPr>
            <a:r>
              <a:rPr lang="en-US" sz="1100" dirty="0">
                <a:solidFill>
                  <a:srgbClr val="6B7280"/>
                </a:solidFill>
                <a:latin typeface="Georgia" pitchFamily="34" charset="0"/>
                <a:ea typeface="Georgia" pitchFamily="34" charset="-122"/>
                <a:cs typeface="Georgia" pitchFamily="34" charset="-120"/>
              </a:rPr>
              <a:t>the eigenvectors span the whole space</a:t>
            </a:r>
            <a:endParaRPr lang="en-US" sz="1100" dirty="0"/>
          </a:p>
        </p:txBody>
      </p:sp>
      <p:sp>
        <p:nvSpPr>
          <p:cNvPr id="17" name="Text 15"/>
          <p:cNvSpPr/>
          <p:nvPr/>
        </p:nvSpPr>
        <p:spPr>
          <a:xfrm>
            <a:off x="640080" y="406908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Hermiticity is exactly what makes an operator usable as a physical observable.</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Spectral decomposition</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2514600" y="1280160"/>
            <a:ext cx="4114800" cy="960120"/>
          </a:xfrm>
          <a:prstGeom prst="roundRect">
            <a:avLst>
              <a:gd name="adj" fmla="val 5714"/>
            </a:avLst>
          </a:prstGeom>
          <a:solidFill>
            <a:srgbClr val="F4F5FB"/>
          </a:solidFill>
          <a:ln w="15240">
            <a:solidFill>
              <a:srgbClr val="3730A3"/>
            </a:solidFill>
            <a:prstDash val="solid"/>
          </a:ln>
        </p:spPr>
        <p:txBody>
          <a:bodyPr/>
          <a:lstStyle/>
          <a:p>
            <a:endParaRPr lang="en-US"/>
          </a:p>
        </p:txBody>
      </p:sp>
      <p:sp>
        <p:nvSpPr>
          <p:cNvPr id="4" name="Text 2"/>
          <p:cNvSpPr/>
          <p:nvPr/>
        </p:nvSpPr>
        <p:spPr>
          <a:xfrm>
            <a:off x="2514600" y="1280160"/>
            <a:ext cx="4114800" cy="960120"/>
          </a:xfrm>
          <a:prstGeom prst="rect">
            <a:avLst/>
          </a:prstGeom>
          <a:noFill/>
          <a:ln/>
        </p:spPr>
        <p:txBody>
          <a:bodyPr wrap="square" lIns="0" tIns="0" rIns="0" bIns="0" rtlCol="0" anchor="ctr"/>
          <a:lstStyle/>
          <a:p>
            <a:pPr marL="0" indent="0" algn="ctr">
              <a:buNone/>
            </a:pPr>
            <a:r>
              <a:rPr lang="en-US" sz="2800" b="1" dirty="0">
                <a:solidFill>
                  <a:srgbClr val="3730A3"/>
                </a:solidFill>
                <a:latin typeface="Georgia" pitchFamily="34" charset="0"/>
                <a:ea typeface="Georgia" pitchFamily="34" charset="-122"/>
                <a:cs typeface="Georgia" pitchFamily="34" charset="-120"/>
              </a:rPr>
              <a:t>O  =  Σ</a:t>
            </a:r>
            <a:r>
              <a:rPr lang="en-US" sz="2800" b="1" baseline="-40000" dirty="0">
                <a:solidFill>
                  <a:srgbClr val="3730A3"/>
                </a:solidFill>
                <a:latin typeface="Georgia" pitchFamily="34" charset="0"/>
                <a:ea typeface="Georgia" pitchFamily="34" charset="-122"/>
                <a:cs typeface="Georgia" pitchFamily="34" charset="-120"/>
              </a:rPr>
              <a:t>i</a:t>
            </a:r>
            <a:r>
              <a:rPr lang="en-US" sz="2800" b="1" dirty="0">
                <a:solidFill>
                  <a:srgbClr val="3730A3"/>
                </a:solidFill>
                <a:latin typeface="Georgia" pitchFamily="34" charset="0"/>
                <a:ea typeface="Georgia" pitchFamily="34" charset="-122"/>
                <a:cs typeface="Georgia" pitchFamily="34" charset="-120"/>
              </a:rPr>
              <a:t>  λ</a:t>
            </a:r>
            <a:r>
              <a:rPr lang="en-US" sz="2800" b="1" baseline="-40000" dirty="0">
                <a:solidFill>
                  <a:srgbClr val="3730A3"/>
                </a:solidFill>
                <a:latin typeface="Georgia" pitchFamily="34" charset="0"/>
                <a:ea typeface="Georgia" pitchFamily="34" charset="-122"/>
                <a:cs typeface="Georgia" pitchFamily="34" charset="-120"/>
              </a:rPr>
              <a:t>i</a:t>
            </a:r>
            <a:r>
              <a:rPr lang="en-US" sz="2800" b="1" dirty="0">
                <a:solidFill>
                  <a:srgbClr val="3730A3"/>
                </a:solidFill>
                <a:latin typeface="Georgia" pitchFamily="34" charset="0"/>
                <a:ea typeface="Georgia" pitchFamily="34" charset="-122"/>
                <a:cs typeface="Georgia" pitchFamily="34" charset="-120"/>
              </a:rPr>
              <a:t>  P</a:t>
            </a:r>
            <a:r>
              <a:rPr lang="en-US" sz="2800" b="1" baseline="-40000" dirty="0">
                <a:solidFill>
                  <a:srgbClr val="3730A3"/>
                </a:solidFill>
                <a:latin typeface="Georgia" pitchFamily="34" charset="0"/>
                <a:ea typeface="Georgia" pitchFamily="34" charset="-122"/>
                <a:cs typeface="Georgia" pitchFamily="34" charset="-120"/>
              </a:rPr>
              <a:t>i</a:t>
            </a:r>
            <a:endParaRPr lang="en-US" sz="2800" dirty="0"/>
          </a:p>
        </p:txBody>
      </p:sp>
      <p:sp>
        <p:nvSpPr>
          <p:cNvPr id="5" name="Card frame">
            <a:extLst>
              <a:ext uri="{C183D7F6-B498-43B3-948B-1728B52AA6E4}">
                <adec:decorative xmlns:adec="http://schemas.microsoft.com/office/drawing/2017/decorative" val="1"/>
              </a:ext>
            </a:extLst>
          </p:cNvPr>
          <p:cNvSpPr/>
          <p:nvPr/>
        </p:nvSpPr>
        <p:spPr>
          <a:xfrm>
            <a:off x="548640" y="2606040"/>
            <a:ext cx="2286000" cy="1280160"/>
          </a:xfrm>
          <a:prstGeom prst="roundRect">
            <a:avLst>
              <a:gd name="adj" fmla="val 4286"/>
            </a:avLst>
          </a:prstGeom>
          <a:solidFill>
            <a:srgbClr val="FFFFFF"/>
          </a:solidFill>
          <a:ln w="12700">
            <a:solidFill>
              <a:srgbClr val="D4D7DD"/>
            </a:solidFill>
            <a:prstDash val="solid"/>
          </a:ln>
        </p:spPr>
        <p:txBody>
          <a:bodyPr/>
          <a:lstStyle/>
          <a:p>
            <a:endParaRPr lang="en-US"/>
          </a:p>
        </p:txBody>
      </p:sp>
      <p:sp>
        <p:nvSpPr>
          <p:cNvPr id="6" name="Text 4"/>
          <p:cNvSpPr/>
          <p:nvPr/>
        </p:nvSpPr>
        <p:spPr>
          <a:xfrm>
            <a:off x="658368" y="2761488"/>
            <a:ext cx="2066544" cy="310896"/>
          </a:xfrm>
          <a:prstGeom prst="rect">
            <a:avLst/>
          </a:prstGeom>
          <a:noFill/>
          <a:ln/>
        </p:spPr>
        <p:txBody>
          <a:bodyPr wrap="square" lIns="0" tIns="0" rIns="0" bIns="0" rtlCol="0" anchor="ctr"/>
          <a:lstStyle/>
          <a:p>
            <a:pPr marL="0" indent="0" algn="ctr">
              <a:buNone/>
            </a:pPr>
            <a:r>
              <a:rPr lang="en-US" sz="1100" b="1" kern="0" spc="60" dirty="0">
                <a:solidFill>
                  <a:srgbClr val="6B7280"/>
                </a:solidFill>
                <a:latin typeface="Georgia" pitchFamily="34" charset="0"/>
                <a:ea typeface="Georgia" pitchFamily="34" charset="-122"/>
                <a:cs typeface="Georgia" pitchFamily="34" charset="-120"/>
              </a:rPr>
              <a:t>Eigenvalue</a:t>
            </a:r>
            <a:endParaRPr lang="en-US" sz="1100" dirty="0"/>
          </a:p>
        </p:txBody>
      </p:sp>
      <p:sp>
        <p:nvSpPr>
          <p:cNvPr id="7" name="Text 5"/>
          <p:cNvSpPr/>
          <p:nvPr/>
        </p:nvSpPr>
        <p:spPr>
          <a:xfrm>
            <a:off x="658368" y="3127248"/>
            <a:ext cx="2066544" cy="548640"/>
          </a:xfrm>
          <a:prstGeom prst="rect">
            <a:avLst/>
          </a:prstGeom>
          <a:noFill/>
          <a:ln/>
        </p:spPr>
        <p:txBody>
          <a:bodyPr wrap="square" lIns="0" tIns="0" rIns="0" bIns="0" rtlCol="0" anchor="ctr"/>
          <a:lstStyle/>
          <a:p>
            <a:pPr marL="0" indent="0" algn="ctr">
              <a:buNone/>
            </a:pPr>
            <a:r>
              <a:rPr lang="en-US" sz="2200" b="1" dirty="0">
                <a:solidFill>
                  <a:srgbClr val="3730A3"/>
                </a:solidFill>
                <a:latin typeface="Georgia" pitchFamily="34" charset="0"/>
                <a:ea typeface="Georgia" pitchFamily="34" charset="-122"/>
                <a:cs typeface="Georgia" pitchFamily="34" charset="-120"/>
              </a:rPr>
              <a:t>λᵢ</a:t>
            </a:r>
            <a:endParaRPr lang="en-US" sz="2200" dirty="0"/>
          </a:p>
        </p:txBody>
      </p:sp>
      <p:sp>
        <p:nvSpPr>
          <p:cNvPr id="8" name="Text 6"/>
          <p:cNvSpPr/>
          <p:nvPr/>
        </p:nvSpPr>
        <p:spPr>
          <a:xfrm>
            <a:off x="2834640" y="3017520"/>
            <a:ext cx="594360" cy="457200"/>
          </a:xfrm>
          <a:prstGeom prst="rect">
            <a:avLst/>
          </a:prstGeom>
          <a:noFill/>
          <a:ln/>
        </p:spPr>
        <p:txBody>
          <a:bodyPr wrap="square" lIns="0" tIns="0" rIns="0" bIns="0" rtlCol="0" anchor="ctr"/>
          <a:lstStyle/>
          <a:p>
            <a:pPr marL="0" indent="0" algn="ctr">
              <a:buNone/>
            </a:pPr>
            <a:r>
              <a:rPr lang="en-US" sz="2000" dirty="0">
                <a:solidFill>
                  <a:srgbClr val="5B6070"/>
                </a:solidFill>
                <a:latin typeface="Georgia" pitchFamily="34" charset="0"/>
                <a:ea typeface="Georgia" pitchFamily="34" charset="-122"/>
                <a:cs typeface="Georgia" pitchFamily="34" charset="-120"/>
              </a:rPr>
              <a:t>→</a:t>
            </a:r>
            <a:endParaRPr lang="en-US" sz="2000" dirty="0"/>
          </a:p>
        </p:txBody>
      </p:sp>
      <p:sp>
        <p:nvSpPr>
          <p:cNvPr id="9" name="Card frame">
            <a:extLst>
              <a:ext uri="{C183D7F6-B498-43B3-948B-1728B52AA6E4}">
                <adec:decorative xmlns:adec="http://schemas.microsoft.com/office/drawing/2017/decorative" val="1"/>
              </a:ext>
            </a:extLst>
          </p:cNvPr>
          <p:cNvSpPr/>
          <p:nvPr/>
        </p:nvSpPr>
        <p:spPr>
          <a:xfrm>
            <a:off x="3429000" y="2606040"/>
            <a:ext cx="2286000" cy="1280160"/>
          </a:xfrm>
          <a:prstGeom prst="roundRect">
            <a:avLst>
              <a:gd name="adj" fmla="val 4286"/>
            </a:avLst>
          </a:prstGeom>
          <a:solidFill>
            <a:srgbClr val="FFFFFF"/>
          </a:solidFill>
          <a:ln w="12700">
            <a:solidFill>
              <a:srgbClr val="D4D7DD"/>
            </a:solidFill>
            <a:prstDash val="solid"/>
          </a:ln>
        </p:spPr>
        <p:txBody>
          <a:bodyPr/>
          <a:lstStyle/>
          <a:p>
            <a:endParaRPr lang="en-US"/>
          </a:p>
        </p:txBody>
      </p:sp>
      <p:sp>
        <p:nvSpPr>
          <p:cNvPr id="10" name="Text 8"/>
          <p:cNvSpPr/>
          <p:nvPr/>
        </p:nvSpPr>
        <p:spPr>
          <a:xfrm>
            <a:off x="3538728" y="2761488"/>
            <a:ext cx="2066544" cy="310896"/>
          </a:xfrm>
          <a:prstGeom prst="rect">
            <a:avLst/>
          </a:prstGeom>
          <a:noFill/>
          <a:ln/>
        </p:spPr>
        <p:txBody>
          <a:bodyPr wrap="square" lIns="0" tIns="0" rIns="0" bIns="0" rtlCol="0" anchor="ctr"/>
          <a:lstStyle/>
          <a:p>
            <a:pPr marL="0" indent="0" algn="ctr">
              <a:buNone/>
            </a:pPr>
            <a:r>
              <a:rPr lang="en-US" sz="1100" b="1" kern="0" spc="60" dirty="0">
                <a:solidFill>
                  <a:srgbClr val="6B7280"/>
                </a:solidFill>
                <a:latin typeface="Georgia" pitchFamily="34" charset="0"/>
                <a:ea typeface="Georgia" pitchFamily="34" charset="-122"/>
                <a:cs typeface="Georgia" pitchFamily="34" charset="-120"/>
              </a:rPr>
              <a:t>Projector</a:t>
            </a:r>
            <a:endParaRPr lang="en-US" sz="1100" dirty="0"/>
          </a:p>
        </p:txBody>
      </p:sp>
      <p:sp>
        <p:nvSpPr>
          <p:cNvPr id="11" name="Text 9"/>
          <p:cNvSpPr/>
          <p:nvPr/>
        </p:nvSpPr>
        <p:spPr>
          <a:xfrm>
            <a:off x="3538728" y="3127248"/>
            <a:ext cx="2066544" cy="548640"/>
          </a:xfrm>
          <a:prstGeom prst="rect">
            <a:avLst/>
          </a:prstGeom>
          <a:noFill/>
          <a:ln/>
        </p:spPr>
        <p:txBody>
          <a:bodyPr wrap="square" lIns="0" tIns="0" rIns="0" bIns="0" rtlCol="0" anchor="ctr"/>
          <a:lstStyle/>
          <a:p>
            <a:pPr marL="0" indent="0" algn="ctr">
              <a:buNone/>
            </a:pPr>
            <a:r>
              <a:rPr lang="en-US" sz="2200" b="1" dirty="0">
                <a:solidFill>
                  <a:srgbClr val="3730A3"/>
                </a:solidFill>
                <a:latin typeface="Georgia" pitchFamily="34" charset="0"/>
                <a:ea typeface="Georgia" pitchFamily="34" charset="-122"/>
                <a:cs typeface="Georgia" pitchFamily="34" charset="-120"/>
              </a:rPr>
              <a:t>Pᵢ</a:t>
            </a:r>
            <a:endParaRPr lang="en-US" sz="2200" dirty="0"/>
          </a:p>
        </p:txBody>
      </p:sp>
      <p:sp>
        <p:nvSpPr>
          <p:cNvPr id="12" name="Text 10"/>
          <p:cNvSpPr/>
          <p:nvPr/>
        </p:nvSpPr>
        <p:spPr>
          <a:xfrm>
            <a:off x="5715000" y="3017520"/>
            <a:ext cx="594360" cy="457200"/>
          </a:xfrm>
          <a:prstGeom prst="rect">
            <a:avLst/>
          </a:prstGeom>
          <a:noFill/>
          <a:ln/>
        </p:spPr>
        <p:txBody>
          <a:bodyPr wrap="square" lIns="0" tIns="0" rIns="0" bIns="0" rtlCol="0" anchor="ctr"/>
          <a:lstStyle/>
          <a:p>
            <a:pPr marL="0" indent="0" algn="ctr">
              <a:buNone/>
            </a:pPr>
            <a:r>
              <a:rPr lang="en-US" sz="2000" dirty="0">
                <a:solidFill>
                  <a:srgbClr val="5B6070"/>
                </a:solidFill>
                <a:latin typeface="Georgia" pitchFamily="34" charset="0"/>
                <a:ea typeface="Georgia" pitchFamily="34" charset="-122"/>
                <a:cs typeface="Georgia" pitchFamily="34" charset="-120"/>
              </a:rPr>
              <a:t>→</a:t>
            </a:r>
            <a:endParaRPr lang="en-US" sz="2000" dirty="0"/>
          </a:p>
        </p:txBody>
      </p:sp>
      <p:sp>
        <p:nvSpPr>
          <p:cNvPr id="13" name="Card frame">
            <a:extLst>
              <a:ext uri="{C183D7F6-B498-43B3-948B-1728B52AA6E4}">
                <adec:decorative xmlns:adec="http://schemas.microsoft.com/office/drawing/2017/decorative" val="1"/>
              </a:ext>
            </a:extLst>
          </p:cNvPr>
          <p:cNvSpPr/>
          <p:nvPr/>
        </p:nvSpPr>
        <p:spPr>
          <a:xfrm>
            <a:off x="6309360" y="2606040"/>
            <a:ext cx="2286000" cy="1280160"/>
          </a:xfrm>
          <a:prstGeom prst="roundRect">
            <a:avLst>
              <a:gd name="adj" fmla="val 4286"/>
            </a:avLst>
          </a:prstGeom>
          <a:solidFill>
            <a:srgbClr val="F4F5FB"/>
          </a:solidFill>
          <a:ln w="15240">
            <a:solidFill>
              <a:srgbClr val="3730A3"/>
            </a:solidFill>
            <a:prstDash val="solid"/>
          </a:ln>
        </p:spPr>
        <p:txBody>
          <a:bodyPr/>
          <a:lstStyle/>
          <a:p>
            <a:endParaRPr lang="en-US"/>
          </a:p>
        </p:txBody>
      </p:sp>
      <p:sp>
        <p:nvSpPr>
          <p:cNvPr id="14" name="Text 12"/>
          <p:cNvSpPr/>
          <p:nvPr/>
        </p:nvSpPr>
        <p:spPr>
          <a:xfrm>
            <a:off x="6419088" y="2761488"/>
            <a:ext cx="2066544" cy="310896"/>
          </a:xfrm>
          <a:prstGeom prst="rect">
            <a:avLst/>
          </a:prstGeom>
          <a:noFill/>
          <a:ln/>
        </p:spPr>
        <p:txBody>
          <a:bodyPr wrap="square" lIns="0" tIns="0" rIns="0" bIns="0" rtlCol="0" anchor="ctr"/>
          <a:lstStyle/>
          <a:p>
            <a:pPr marL="0" indent="0" algn="ctr">
              <a:buNone/>
            </a:pPr>
            <a:r>
              <a:rPr lang="en-US" sz="1100" b="1" kern="0" spc="60" dirty="0">
                <a:solidFill>
                  <a:srgbClr val="6B7280"/>
                </a:solidFill>
                <a:latin typeface="Georgia" pitchFamily="34" charset="0"/>
                <a:ea typeface="Georgia" pitchFamily="34" charset="-122"/>
                <a:cs typeface="Georgia" pitchFamily="34" charset="-120"/>
              </a:rPr>
              <a:t>Measurement outcome</a:t>
            </a:r>
            <a:endParaRPr lang="en-US" sz="1100" dirty="0"/>
          </a:p>
        </p:txBody>
      </p:sp>
      <p:sp>
        <p:nvSpPr>
          <p:cNvPr id="15" name="Text 13"/>
          <p:cNvSpPr/>
          <p:nvPr/>
        </p:nvSpPr>
        <p:spPr>
          <a:xfrm>
            <a:off x="6419088" y="3127248"/>
            <a:ext cx="2066544" cy="548640"/>
          </a:xfrm>
          <a:prstGeom prst="rect">
            <a:avLst/>
          </a:prstGeom>
          <a:noFill/>
          <a:ln/>
        </p:spPr>
        <p:txBody>
          <a:bodyPr wrap="square" lIns="0" tIns="0" rIns="0" bIns="0" rtlCol="0" anchor="ctr"/>
          <a:lstStyle/>
          <a:p>
            <a:pPr marL="0" indent="0" algn="ctr">
              <a:buNone/>
            </a:pPr>
            <a:r>
              <a:rPr lang="en-US" sz="2200" b="1" dirty="0">
                <a:solidFill>
                  <a:srgbClr val="3730A3"/>
                </a:solidFill>
                <a:latin typeface="Georgia" pitchFamily="34" charset="0"/>
                <a:ea typeface="Georgia" pitchFamily="34" charset="-122"/>
                <a:cs typeface="Georgia" pitchFamily="34" charset="-120"/>
              </a:rPr>
              <a:t>result  λᵢ</a:t>
            </a:r>
            <a:endParaRPr lang="en-US" sz="2200" dirty="0"/>
          </a:p>
        </p:txBody>
      </p:sp>
      <p:sp>
        <p:nvSpPr>
          <p:cNvPr id="16" name="Text 14"/>
          <p:cNvSpPr/>
          <p:nvPr/>
        </p:nvSpPr>
        <p:spPr>
          <a:xfrm>
            <a:off x="640080" y="404164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Every observable splits into eigenvalues paired with the projectors onto their eigenspaces.</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The measurement postulate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251460" y="1508760"/>
            <a:ext cx="2514600" cy="2286000"/>
          </a:xfrm>
          <a:prstGeom prst="roundRect">
            <a:avLst>
              <a:gd name="adj" fmla="val 2400"/>
            </a:avLst>
          </a:prstGeom>
          <a:solidFill>
            <a:srgbClr val="FFFFFF"/>
          </a:solidFill>
          <a:ln w="12700">
            <a:solidFill>
              <a:srgbClr val="D4D7DD"/>
            </a:solidFill>
            <a:prstDash val="solid"/>
          </a:ln>
        </p:spPr>
        <p:txBody>
          <a:bodyPr/>
          <a:lstStyle/>
          <a:p>
            <a:endParaRPr lang="en-US"/>
          </a:p>
        </p:txBody>
      </p:sp>
      <p:sp>
        <p:nvSpPr>
          <p:cNvPr id="4" name="Step marker">
            <a:extLst>
              <a:ext uri="{C183D7F6-B498-43B3-948B-1728B52AA6E4}">
                <adec:decorative xmlns:adec="http://schemas.microsoft.com/office/drawing/2017/decorative" val="1"/>
              </a:ext>
            </a:extLst>
          </p:cNvPr>
          <p:cNvSpPr/>
          <p:nvPr/>
        </p:nvSpPr>
        <p:spPr>
          <a:xfrm>
            <a:off x="1307592" y="1691640"/>
            <a:ext cx="402336" cy="402336"/>
          </a:xfrm>
          <a:prstGeom prst="ellipse">
            <a:avLst/>
          </a:prstGeom>
          <a:solidFill>
            <a:srgbClr val="3730A3"/>
          </a:solidFill>
          <a:ln w="12700">
            <a:solidFill>
              <a:srgbClr val="3730A3"/>
            </a:solidFill>
            <a:prstDash val="solid"/>
          </a:ln>
        </p:spPr>
        <p:txBody>
          <a:bodyPr/>
          <a:lstStyle/>
          <a:p>
            <a:endParaRPr lang="en-US"/>
          </a:p>
        </p:txBody>
      </p:sp>
      <p:sp>
        <p:nvSpPr>
          <p:cNvPr id="5" name="Text 3"/>
          <p:cNvSpPr/>
          <p:nvPr/>
        </p:nvSpPr>
        <p:spPr>
          <a:xfrm>
            <a:off x="1307592" y="16916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388620" y="224028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Georgia" pitchFamily="34" charset="0"/>
                <a:ea typeface="Georgia" pitchFamily="34" charset="-122"/>
                <a:cs typeface="Georgia" pitchFamily="34" charset="-120"/>
              </a:rPr>
              <a:t>Hermitian observable</a:t>
            </a:r>
            <a:endParaRPr lang="en-US" sz="1500" dirty="0"/>
          </a:p>
        </p:txBody>
      </p:sp>
      <p:sp>
        <p:nvSpPr>
          <p:cNvPr id="7" name="Text 5"/>
          <p:cNvSpPr/>
          <p:nvPr/>
        </p:nvSpPr>
        <p:spPr>
          <a:xfrm>
            <a:off x="388620" y="2633472"/>
            <a:ext cx="2240280" cy="457200"/>
          </a:xfrm>
          <a:prstGeom prst="rect">
            <a:avLst/>
          </a:prstGeom>
          <a:noFill/>
          <a:ln/>
        </p:spPr>
        <p:txBody>
          <a:bodyPr wrap="square" lIns="0" tIns="0" rIns="0" bIns="0" rtlCol="0" anchor="t"/>
          <a:lstStyle/>
          <a:p>
            <a:pPr marL="0" indent="0" algn="ctr">
              <a:buNone/>
            </a:pPr>
            <a:r>
              <a:rPr lang="en-US" sz="1100" dirty="0">
                <a:solidFill>
                  <a:srgbClr val="6B7280"/>
                </a:solidFill>
                <a:latin typeface="Georgia" pitchFamily="34" charset="0"/>
                <a:ea typeface="Georgia" pitchFamily="34" charset="-122"/>
                <a:cs typeface="Georgia" pitchFamily="34" charset="-120"/>
              </a:rPr>
              <a:t>O† = O defines what is being measured</a:t>
            </a:r>
            <a:endParaRPr lang="en-US" sz="1100" dirty="0"/>
          </a:p>
        </p:txBody>
      </p:sp>
      <p:sp>
        <p:nvSpPr>
          <p:cNvPr id="8" name="Text 6"/>
          <p:cNvSpPr/>
          <p:nvPr/>
        </p:nvSpPr>
        <p:spPr>
          <a:xfrm>
            <a:off x="2766060" y="2468880"/>
            <a:ext cx="548640" cy="457200"/>
          </a:xfrm>
          <a:prstGeom prst="rect">
            <a:avLst/>
          </a:prstGeom>
          <a:noFill/>
          <a:ln/>
        </p:spPr>
        <p:txBody>
          <a:bodyPr wrap="square" lIns="0" tIns="0" rIns="0" bIns="0" rtlCol="0" anchor="ctr"/>
          <a:lstStyle/>
          <a:p>
            <a:pPr marL="0" indent="0" algn="ctr">
              <a:buNone/>
            </a:pPr>
            <a:r>
              <a:rPr lang="en-US" sz="2000" dirty="0">
                <a:solidFill>
                  <a:srgbClr val="5B6070"/>
                </a:solidFill>
                <a:latin typeface="Georgia" pitchFamily="34" charset="0"/>
                <a:ea typeface="Georgia" pitchFamily="34" charset="-122"/>
                <a:cs typeface="Georgia" pitchFamily="34" charset="-120"/>
              </a:rPr>
              <a:t>→</a:t>
            </a:r>
            <a:endParaRPr lang="en-US" sz="2000" dirty="0"/>
          </a:p>
        </p:txBody>
      </p:sp>
      <p:sp>
        <p:nvSpPr>
          <p:cNvPr id="9" name="Card frame">
            <a:extLst>
              <a:ext uri="{C183D7F6-B498-43B3-948B-1728B52AA6E4}">
                <adec:decorative xmlns:adec="http://schemas.microsoft.com/office/drawing/2017/decorative" val="1"/>
              </a:ext>
            </a:extLst>
          </p:cNvPr>
          <p:cNvSpPr/>
          <p:nvPr/>
        </p:nvSpPr>
        <p:spPr>
          <a:xfrm>
            <a:off x="3314700" y="1508760"/>
            <a:ext cx="2514600" cy="2286000"/>
          </a:xfrm>
          <a:prstGeom prst="roundRect">
            <a:avLst>
              <a:gd name="adj" fmla="val 2400"/>
            </a:avLst>
          </a:prstGeom>
          <a:solidFill>
            <a:srgbClr val="F4F5FB"/>
          </a:solidFill>
          <a:ln w="15240">
            <a:solidFill>
              <a:srgbClr val="3730A3"/>
            </a:solidFill>
            <a:prstDash val="solid"/>
          </a:ln>
        </p:spPr>
        <p:txBody>
          <a:bodyPr/>
          <a:lstStyle/>
          <a:p>
            <a:endParaRPr lang="en-US"/>
          </a:p>
        </p:txBody>
      </p:sp>
      <p:sp>
        <p:nvSpPr>
          <p:cNvPr id="10" name="Step marker">
            <a:extLst>
              <a:ext uri="{C183D7F6-B498-43B3-948B-1728B52AA6E4}">
                <adec:decorative xmlns:adec="http://schemas.microsoft.com/office/drawing/2017/decorative" val="1"/>
              </a:ext>
            </a:extLst>
          </p:cNvPr>
          <p:cNvSpPr/>
          <p:nvPr/>
        </p:nvSpPr>
        <p:spPr>
          <a:xfrm>
            <a:off x="4370832" y="1691640"/>
            <a:ext cx="402336" cy="402336"/>
          </a:xfrm>
          <a:prstGeom prst="ellipse">
            <a:avLst/>
          </a:prstGeom>
          <a:solidFill>
            <a:srgbClr val="3730A3"/>
          </a:solidFill>
          <a:ln w="12700">
            <a:solidFill>
              <a:srgbClr val="3730A3"/>
            </a:solidFill>
            <a:prstDash val="solid"/>
          </a:ln>
        </p:spPr>
        <p:txBody>
          <a:bodyPr/>
          <a:lstStyle/>
          <a:p>
            <a:endParaRPr lang="en-US"/>
          </a:p>
        </p:txBody>
      </p:sp>
      <p:sp>
        <p:nvSpPr>
          <p:cNvPr id="11" name="Text 9"/>
          <p:cNvSpPr/>
          <p:nvPr/>
        </p:nvSpPr>
        <p:spPr>
          <a:xfrm>
            <a:off x="4370832" y="16916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3451860" y="224028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Georgia" pitchFamily="34" charset="0"/>
                <a:ea typeface="Georgia" pitchFamily="34" charset="-122"/>
                <a:cs typeface="Georgia" pitchFamily="34" charset="-120"/>
              </a:rPr>
              <a:t>Eigenvalue selected</a:t>
            </a:r>
            <a:endParaRPr lang="en-US" sz="1500" dirty="0"/>
          </a:p>
        </p:txBody>
      </p:sp>
      <p:sp>
        <p:nvSpPr>
          <p:cNvPr id="13" name="Text 11"/>
          <p:cNvSpPr/>
          <p:nvPr/>
        </p:nvSpPr>
        <p:spPr>
          <a:xfrm>
            <a:off x="3451860" y="2633472"/>
            <a:ext cx="2240280" cy="457200"/>
          </a:xfrm>
          <a:prstGeom prst="rect">
            <a:avLst/>
          </a:prstGeom>
          <a:noFill/>
          <a:ln/>
        </p:spPr>
        <p:txBody>
          <a:bodyPr wrap="square" lIns="0" tIns="0" rIns="0" bIns="0" rtlCol="0" anchor="t"/>
          <a:lstStyle/>
          <a:p>
            <a:pPr marL="0" indent="0" algn="ctr">
              <a:buNone/>
            </a:pPr>
            <a:r>
              <a:rPr lang="en-US" sz="1100" dirty="0">
                <a:solidFill>
                  <a:srgbClr val="6B7280"/>
                </a:solidFill>
                <a:latin typeface="Georgia" pitchFamily="34" charset="0"/>
                <a:ea typeface="Georgia" pitchFamily="34" charset="-122"/>
                <a:cs typeface="Georgia" pitchFamily="34" charset="-120"/>
              </a:rPr>
              <a:t>outcome λᵢ occurs with probability</a:t>
            </a:r>
            <a:endParaRPr lang="en-US" sz="1100" dirty="0"/>
          </a:p>
        </p:txBody>
      </p:sp>
      <p:sp>
        <p:nvSpPr>
          <p:cNvPr id="14" name="Text 12"/>
          <p:cNvSpPr/>
          <p:nvPr/>
        </p:nvSpPr>
        <p:spPr>
          <a:xfrm>
            <a:off x="3451860" y="3127248"/>
            <a:ext cx="2240280" cy="457200"/>
          </a:xfrm>
          <a:prstGeom prst="rect">
            <a:avLst/>
          </a:prstGeom>
          <a:noFill/>
          <a:ln/>
        </p:spPr>
        <p:txBody>
          <a:bodyPr wrap="square" lIns="0" tIns="0" rIns="0" bIns="0" rtlCol="0" anchor="ctr"/>
          <a:lstStyle/>
          <a:p>
            <a:pPr marL="0" indent="0" algn="ctr">
              <a:buNone/>
            </a:pPr>
            <a:r>
              <a:rPr lang="en-US" sz="1500" b="1" dirty="0">
                <a:solidFill>
                  <a:srgbClr val="3730A3"/>
                </a:solidFill>
                <a:latin typeface="Georgia" pitchFamily="34" charset="0"/>
                <a:ea typeface="Georgia" pitchFamily="34" charset="-122"/>
                <a:cs typeface="Georgia" pitchFamily="34" charset="-120"/>
              </a:rPr>
              <a:t>P(i)  =  ⟨ψ| Pᵢ |ψ⟩</a:t>
            </a:r>
            <a:endParaRPr lang="en-US" sz="1500" dirty="0"/>
          </a:p>
        </p:txBody>
      </p:sp>
      <p:sp>
        <p:nvSpPr>
          <p:cNvPr id="15" name="Text 13"/>
          <p:cNvSpPr/>
          <p:nvPr/>
        </p:nvSpPr>
        <p:spPr>
          <a:xfrm>
            <a:off x="5829300" y="2468880"/>
            <a:ext cx="548640" cy="457200"/>
          </a:xfrm>
          <a:prstGeom prst="rect">
            <a:avLst/>
          </a:prstGeom>
          <a:noFill/>
          <a:ln/>
        </p:spPr>
        <p:txBody>
          <a:bodyPr wrap="square" lIns="0" tIns="0" rIns="0" bIns="0" rtlCol="0" anchor="ctr"/>
          <a:lstStyle/>
          <a:p>
            <a:pPr marL="0" indent="0" algn="ctr">
              <a:buNone/>
            </a:pPr>
            <a:r>
              <a:rPr lang="en-US" sz="2000" dirty="0">
                <a:solidFill>
                  <a:srgbClr val="5B6070"/>
                </a:solidFill>
                <a:latin typeface="Georgia" pitchFamily="34" charset="0"/>
                <a:ea typeface="Georgia" pitchFamily="34" charset="-122"/>
                <a:cs typeface="Georgia" pitchFamily="34" charset="-120"/>
              </a:rPr>
              <a:t>→</a:t>
            </a:r>
            <a:endParaRPr lang="en-US" sz="2000" dirty="0"/>
          </a:p>
        </p:txBody>
      </p:sp>
      <p:sp>
        <p:nvSpPr>
          <p:cNvPr id="16" name="Card frame">
            <a:extLst>
              <a:ext uri="{C183D7F6-B498-43B3-948B-1728B52AA6E4}">
                <adec:decorative xmlns:adec="http://schemas.microsoft.com/office/drawing/2017/decorative" val="1"/>
              </a:ext>
            </a:extLst>
          </p:cNvPr>
          <p:cNvSpPr/>
          <p:nvPr/>
        </p:nvSpPr>
        <p:spPr>
          <a:xfrm>
            <a:off x="6377940" y="1508760"/>
            <a:ext cx="2514600" cy="2286000"/>
          </a:xfrm>
          <a:prstGeom prst="roundRect">
            <a:avLst>
              <a:gd name="adj" fmla="val 2400"/>
            </a:avLst>
          </a:prstGeom>
          <a:solidFill>
            <a:srgbClr val="FFFFFF"/>
          </a:solidFill>
          <a:ln w="12700">
            <a:solidFill>
              <a:srgbClr val="D4D7DD"/>
            </a:solidFill>
            <a:prstDash val="solid"/>
          </a:ln>
        </p:spPr>
        <p:txBody>
          <a:bodyPr/>
          <a:lstStyle/>
          <a:p>
            <a:endParaRPr lang="en-US"/>
          </a:p>
        </p:txBody>
      </p:sp>
      <p:sp>
        <p:nvSpPr>
          <p:cNvPr id="17" name="Step marker">
            <a:extLst>
              <a:ext uri="{C183D7F6-B498-43B3-948B-1728B52AA6E4}">
                <adec:decorative xmlns:adec="http://schemas.microsoft.com/office/drawing/2017/decorative" val="1"/>
              </a:ext>
            </a:extLst>
          </p:cNvPr>
          <p:cNvSpPr/>
          <p:nvPr/>
        </p:nvSpPr>
        <p:spPr>
          <a:xfrm>
            <a:off x="7434072" y="1691640"/>
            <a:ext cx="402336" cy="402336"/>
          </a:xfrm>
          <a:prstGeom prst="ellipse">
            <a:avLst/>
          </a:prstGeom>
          <a:solidFill>
            <a:srgbClr val="3730A3"/>
          </a:solidFill>
          <a:ln w="12700">
            <a:solidFill>
              <a:srgbClr val="3730A3"/>
            </a:solidFill>
            <a:prstDash val="solid"/>
          </a:ln>
        </p:spPr>
        <p:txBody>
          <a:bodyPr/>
          <a:lstStyle/>
          <a:p>
            <a:endParaRPr lang="en-US"/>
          </a:p>
        </p:txBody>
      </p:sp>
      <p:sp>
        <p:nvSpPr>
          <p:cNvPr id="18" name="Text 16"/>
          <p:cNvSpPr/>
          <p:nvPr/>
        </p:nvSpPr>
        <p:spPr>
          <a:xfrm>
            <a:off x="7434072" y="16916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9" name="Text 17"/>
          <p:cNvSpPr/>
          <p:nvPr/>
        </p:nvSpPr>
        <p:spPr>
          <a:xfrm>
            <a:off x="6515100" y="224028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Georgia" pitchFamily="34" charset="0"/>
                <a:ea typeface="Georgia" pitchFamily="34" charset="-122"/>
                <a:cs typeface="Georgia" pitchFamily="34" charset="-120"/>
              </a:rPr>
              <a:t>State collapses</a:t>
            </a:r>
            <a:endParaRPr lang="en-US" sz="1500" dirty="0"/>
          </a:p>
        </p:txBody>
      </p:sp>
      <p:sp>
        <p:nvSpPr>
          <p:cNvPr id="20" name="Text 18"/>
          <p:cNvSpPr/>
          <p:nvPr/>
        </p:nvSpPr>
        <p:spPr>
          <a:xfrm>
            <a:off x="6515100" y="2633472"/>
            <a:ext cx="2240280" cy="457200"/>
          </a:xfrm>
          <a:prstGeom prst="rect">
            <a:avLst/>
          </a:prstGeom>
          <a:noFill/>
          <a:ln/>
        </p:spPr>
        <p:txBody>
          <a:bodyPr wrap="square" lIns="0" tIns="0" rIns="0" bIns="0" rtlCol="0" anchor="t"/>
          <a:lstStyle/>
          <a:p>
            <a:pPr marL="0" indent="0" algn="ctr">
              <a:buNone/>
            </a:pPr>
            <a:r>
              <a:rPr lang="en-US" sz="1100" dirty="0">
                <a:solidFill>
                  <a:srgbClr val="6B7280"/>
                </a:solidFill>
                <a:latin typeface="Georgia" pitchFamily="34" charset="0"/>
                <a:ea typeface="Georgia" pitchFamily="34" charset="-122"/>
                <a:cs typeface="Georgia" pitchFamily="34" charset="-120"/>
              </a:rPr>
              <a:t>into the corresponding eigenspace</a:t>
            </a:r>
            <a:endParaRPr lang="en-US" sz="1100" dirty="0"/>
          </a:p>
        </p:txBody>
      </p:sp>
      <p:sp>
        <p:nvSpPr>
          <p:cNvPr id="21" name="Text 19"/>
          <p:cNvSpPr/>
          <p:nvPr/>
        </p:nvSpPr>
        <p:spPr>
          <a:xfrm>
            <a:off x="640080" y="4023360"/>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Observable, then outcome, then collapse — the same three moves every time.</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A misconception worth naming</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777240" y="1280160"/>
            <a:ext cx="7589520" cy="1325880"/>
          </a:xfrm>
          <a:prstGeom prst="roundRect">
            <a:avLst>
              <a:gd name="adj" fmla="val 4138"/>
            </a:avLst>
          </a:prstGeom>
          <a:solidFill>
            <a:srgbClr val="FFFFFF"/>
          </a:solidFill>
          <a:ln w="17780">
            <a:solidFill>
              <a:srgbClr val="C0392B"/>
            </a:solidFill>
            <a:prstDash val="solid"/>
          </a:ln>
        </p:spPr>
        <p:txBody>
          <a:bodyPr/>
          <a:lstStyle/>
          <a:p>
            <a:endParaRPr lang="en-US"/>
          </a:p>
        </p:txBody>
      </p:sp>
      <p:sp>
        <p:nvSpPr>
          <p:cNvPr id="4" name="Cross stroke">
            <a:extLst>
              <a:ext uri="{C183D7F6-B498-43B3-948B-1728B52AA6E4}">
                <adec:decorative xmlns:adec="http://schemas.microsoft.com/office/drawing/2017/decorative" val="1"/>
              </a:ext>
            </a:extLst>
          </p:cNvPr>
          <p:cNvSpPr/>
          <p:nvPr/>
        </p:nvSpPr>
        <p:spPr>
          <a:xfrm>
            <a:off x="1143000" y="1783080"/>
            <a:ext cx="329184" cy="329184"/>
          </a:xfrm>
          <a:prstGeom prst="line">
            <a:avLst/>
          </a:prstGeom>
          <a:noFill/>
          <a:ln w="31750">
            <a:solidFill>
              <a:srgbClr val="C0392B"/>
            </a:solidFill>
            <a:prstDash val="solid"/>
          </a:ln>
        </p:spPr>
        <p:txBody>
          <a:bodyPr/>
          <a:lstStyle/>
          <a:p>
            <a:endParaRPr lang="en-US"/>
          </a:p>
        </p:txBody>
      </p:sp>
      <p:sp>
        <p:nvSpPr>
          <p:cNvPr id="5" name="Cross stroke">
            <a:extLst>
              <a:ext uri="{C183D7F6-B498-43B3-948B-1728B52AA6E4}">
                <adec:decorative xmlns:adec="http://schemas.microsoft.com/office/drawing/2017/decorative" val="1"/>
              </a:ext>
            </a:extLst>
          </p:cNvPr>
          <p:cNvSpPr/>
          <p:nvPr/>
        </p:nvSpPr>
        <p:spPr>
          <a:xfrm flipV="1">
            <a:off x="1143000" y="1783080"/>
            <a:ext cx="329184" cy="329184"/>
          </a:xfrm>
          <a:prstGeom prst="line">
            <a:avLst/>
          </a:prstGeom>
          <a:noFill/>
          <a:ln w="31750">
            <a:solidFill>
              <a:srgbClr val="C0392B"/>
            </a:solidFill>
            <a:prstDash val="solid"/>
          </a:ln>
        </p:spPr>
        <p:txBody>
          <a:bodyPr/>
          <a:lstStyle/>
          <a:p>
            <a:endParaRPr lang="en-US"/>
          </a:p>
        </p:txBody>
      </p:sp>
      <p:sp>
        <p:nvSpPr>
          <p:cNvPr id="6" name="Text 4"/>
          <p:cNvSpPr/>
          <p:nvPr/>
        </p:nvSpPr>
        <p:spPr>
          <a:xfrm>
            <a:off x="1965960" y="1417320"/>
            <a:ext cx="1828800" cy="1051560"/>
          </a:xfrm>
          <a:prstGeom prst="rect">
            <a:avLst/>
          </a:prstGeom>
          <a:noFill/>
          <a:ln/>
        </p:spPr>
        <p:txBody>
          <a:bodyPr wrap="square" lIns="0" tIns="0" rIns="0" bIns="0" rtlCol="0" anchor="ctr"/>
          <a:lstStyle/>
          <a:p>
            <a:pPr marL="0" indent="0" algn="ctr">
              <a:buNone/>
            </a:pPr>
            <a:r>
              <a:rPr lang="en-US" sz="2600" b="1" dirty="0">
                <a:solidFill>
                  <a:srgbClr val="1A1A2E"/>
                </a:solidFill>
                <a:latin typeface="Georgia" pitchFamily="34" charset="0"/>
                <a:ea typeface="Georgia" pitchFamily="34" charset="-122"/>
                <a:cs typeface="Georgia" pitchFamily="34" charset="-120"/>
              </a:rPr>
              <a:t>O |ψ⟩</a:t>
            </a:r>
            <a:endParaRPr lang="en-US" sz="2600" dirty="0"/>
          </a:p>
        </p:txBody>
      </p:sp>
      <p:sp>
        <p:nvSpPr>
          <p:cNvPr id="7" name="Text 5"/>
          <p:cNvSpPr/>
          <p:nvPr/>
        </p:nvSpPr>
        <p:spPr>
          <a:xfrm>
            <a:off x="3794760" y="1417320"/>
            <a:ext cx="640080" cy="1051560"/>
          </a:xfrm>
          <a:prstGeom prst="rect">
            <a:avLst/>
          </a:prstGeom>
          <a:noFill/>
          <a:ln/>
        </p:spPr>
        <p:txBody>
          <a:bodyPr wrap="square" lIns="0" tIns="0" rIns="0" bIns="0" rtlCol="0" anchor="ctr"/>
          <a:lstStyle/>
          <a:p>
            <a:pPr marL="0" indent="0" algn="ctr">
              <a:buNone/>
            </a:pPr>
            <a:r>
              <a:rPr lang="en-US" sz="2400" b="1" dirty="0">
                <a:solidFill>
                  <a:srgbClr val="C0392B"/>
                </a:solidFill>
                <a:latin typeface="Georgia" pitchFamily="34" charset="0"/>
                <a:ea typeface="Georgia" pitchFamily="34" charset="-122"/>
                <a:cs typeface="Georgia" pitchFamily="34" charset="-120"/>
              </a:rPr>
              <a:t>≠</a:t>
            </a:r>
            <a:endParaRPr lang="en-US" sz="2400" dirty="0"/>
          </a:p>
        </p:txBody>
      </p:sp>
      <p:sp>
        <p:nvSpPr>
          <p:cNvPr id="8" name="Text 6"/>
          <p:cNvSpPr/>
          <p:nvPr/>
        </p:nvSpPr>
        <p:spPr>
          <a:xfrm>
            <a:off x="4434840" y="1417320"/>
            <a:ext cx="3566160" cy="1051560"/>
          </a:xfrm>
          <a:prstGeom prst="rect">
            <a:avLst/>
          </a:prstGeom>
          <a:noFill/>
          <a:ln/>
        </p:spPr>
        <p:txBody>
          <a:bodyPr wrap="square" lIns="0" tIns="0" rIns="0" bIns="0" rtlCol="0" anchor="ctr"/>
          <a:lstStyle/>
          <a:p>
            <a:pPr marL="0" indent="0" algn="ctr">
              <a:buNone/>
            </a:pPr>
            <a:r>
              <a:rPr lang="en-US" sz="1700" dirty="0">
                <a:solidFill>
                  <a:srgbClr val="1A1A2E"/>
                </a:solidFill>
                <a:latin typeface="Georgia" pitchFamily="34" charset="0"/>
                <a:ea typeface="Georgia" pitchFamily="34" charset="-122"/>
                <a:cs typeface="Georgia" pitchFamily="34" charset="-120"/>
              </a:rPr>
              <a:t>the post-measurement state</a:t>
            </a:r>
            <a:endParaRPr lang="en-US" sz="1700" dirty="0"/>
          </a:p>
        </p:txBody>
      </p:sp>
      <p:sp>
        <p:nvSpPr>
          <p:cNvPr id="9" name="Text 7"/>
          <p:cNvSpPr/>
          <p:nvPr/>
        </p:nvSpPr>
        <p:spPr>
          <a:xfrm>
            <a:off x="777240" y="2788920"/>
            <a:ext cx="7589520" cy="274320"/>
          </a:xfrm>
          <a:prstGeom prst="rect">
            <a:avLst/>
          </a:prstGeom>
          <a:noFill/>
          <a:ln/>
        </p:spPr>
        <p:txBody>
          <a:bodyPr wrap="square" lIns="0" tIns="0" rIns="0" bIns="0" rtlCol="0" anchor="ctr"/>
          <a:lstStyle/>
          <a:p>
            <a:pPr marL="0" indent="0" algn="ctr">
              <a:buNone/>
            </a:pPr>
            <a:r>
              <a:rPr lang="en-US" sz="1100" b="1" kern="0" spc="120" dirty="0">
                <a:solidFill>
                  <a:srgbClr val="3730A3"/>
                </a:solidFill>
                <a:latin typeface="Georgia" pitchFamily="34" charset="0"/>
                <a:ea typeface="Georgia" pitchFamily="34" charset="-122"/>
                <a:cs typeface="Georgia" pitchFamily="34" charset="-120"/>
              </a:rPr>
              <a:t>CORRECT</a:t>
            </a:r>
            <a:endParaRPr lang="en-US" sz="1100" dirty="0"/>
          </a:p>
        </p:txBody>
      </p:sp>
      <p:sp>
        <p:nvSpPr>
          <p:cNvPr id="10" name="Card frame">
            <a:extLst>
              <a:ext uri="{C183D7F6-B498-43B3-948B-1728B52AA6E4}">
                <adec:decorative xmlns:adec="http://schemas.microsoft.com/office/drawing/2017/decorative" val="1"/>
              </a:ext>
            </a:extLst>
          </p:cNvPr>
          <p:cNvSpPr/>
          <p:nvPr/>
        </p:nvSpPr>
        <p:spPr>
          <a:xfrm>
            <a:off x="2651760" y="3017520"/>
            <a:ext cx="3840480" cy="109728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1" name="Text 9"/>
          <p:cNvSpPr/>
          <p:nvPr/>
        </p:nvSpPr>
        <p:spPr>
          <a:xfrm>
            <a:off x="3017520" y="3127248"/>
            <a:ext cx="1188720" cy="658368"/>
          </a:xfrm>
          <a:prstGeom prst="rect">
            <a:avLst/>
          </a:prstGeom>
          <a:noFill/>
          <a:ln/>
        </p:spPr>
        <p:txBody>
          <a:bodyPr wrap="square" lIns="0" tIns="0" rIns="0" bIns="0" rtlCol="0" anchor="ctr"/>
          <a:lstStyle/>
          <a:p>
            <a:pPr marL="0" indent="0" algn="r">
              <a:buNone/>
            </a:pPr>
            <a:r>
              <a:rPr lang="en-US" sz="2000" b="1" dirty="0">
                <a:solidFill>
                  <a:srgbClr val="3730A3"/>
                </a:solidFill>
                <a:latin typeface="Georgia" pitchFamily="34" charset="0"/>
                <a:ea typeface="Georgia" pitchFamily="34" charset="-122"/>
                <a:cs typeface="Georgia" pitchFamily="34" charset="-120"/>
              </a:rPr>
              <a:t>|ψ′⟩  =</a:t>
            </a:r>
            <a:endParaRPr lang="en-US" sz="2000" dirty="0"/>
          </a:p>
        </p:txBody>
      </p:sp>
      <p:sp>
        <p:nvSpPr>
          <p:cNvPr id="12" name="Text 10"/>
          <p:cNvSpPr/>
          <p:nvPr/>
        </p:nvSpPr>
        <p:spPr>
          <a:xfrm>
            <a:off x="4315968" y="3127248"/>
            <a:ext cx="1371600" cy="310896"/>
          </a:xfrm>
          <a:prstGeom prst="rect">
            <a:avLst/>
          </a:prstGeom>
          <a:noFill/>
          <a:ln/>
        </p:spPr>
        <p:txBody>
          <a:bodyPr wrap="square" lIns="0" tIns="0" rIns="0" bIns="0" rtlCol="0" anchor="b"/>
          <a:lstStyle/>
          <a:p>
            <a:pPr marL="0" indent="0" algn="ctr">
              <a:buNone/>
            </a:pPr>
            <a:r>
              <a:rPr lang="en-US" sz="1700" dirty="0">
                <a:solidFill>
                  <a:srgbClr val="3730A3"/>
                </a:solidFill>
                <a:latin typeface="Georgia" pitchFamily="34" charset="0"/>
                <a:ea typeface="Georgia" pitchFamily="34" charset="-122"/>
                <a:cs typeface="Georgia" pitchFamily="34" charset="-120"/>
              </a:rPr>
              <a:t>Pᵢ |ψ⟩</a:t>
            </a:r>
            <a:endParaRPr lang="en-US" sz="1700" dirty="0"/>
          </a:p>
        </p:txBody>
      </p:sp>
      <p:sp>
        <p:nvSpPr>
          <p:cNvPr id="13" name="Fraction bar">
            <a:extLst>
              <a:ext uri="{C183D7F6-B498-43B3-948B-1728B52AA6E4}">
                <adec:decorative xmlns:adec="http://schemas.microsoft.com/office/drawing/2017/decorative" val="1"/>
              </a:ext>
            </a:extLst>
          </p:cNvPr>
          <p:cNvSpPr/>
          <p:nvPr/>
        </p:nvSpPr>
        <p:spPr>
          <a:xfrm>
            <a:off x="4407408" y="3456432"/>
            <a:ext cx="1188720" cy="0"/>
          </a:xfrm>
          <a:prstGeom prst="line">
            <a:avLst/>
          </a:prstGeom>
          <a:noFill/>
          <a:ln w="15875">
            <a:solidFill>
              <a:srgbClr val="3730A3"/>
            </a:solidFill>
            <a:prstDash val="solid"/>
          </a:ln>
        </p:spPr>
        <p:txBody>
          <a:bodyPr/>
          <a:lstStyle/>
          <a:p>
            <a:endParaRPr lang="en-US"/>
          </a:p>
        </p:txBody>
      </p:sp>
      <p:sp>
        <p:nvSpPr>
          <p:cNvPr id="14" name="Text 12"/>
          <p:cNvSpPr/>
          <p:nvPr/>
        </p:nvSpPr>
        <p:spPr>
          <a:xfrm>
            <a:off x="4315968" y="3474720"/>
            <a:ext cx="1371600" cy="310896"/>
          </a:xfrm>
          <a:prstGeom prst="rect">
            <a:avLst/>
          </a:prstGeom>
          <a:noFill/>
          <a:ln/>
        </p:spPr>
        <p:txBody>
          <a:bodyPr wrap="square" lIns="0" tIns="0" rIns="0" bIns="0" rtlCol="0" anchor="t"/>
          <a:lstStyle/>
          <a:p>
            <a:pPr marL="0" indent="0" algn="ctr">
              <a:buNone/>
            </a:pPr>
            <a:r>
              <a:rPr lang="en-US" sz="1700" dirty="0">
                <a:solidFill>
                  <a:srgbClr val="3730A3"/>
                </a:solidFill>
                <a:latin typeface="Georgia" pitchFamily="34" charset="0"/>
                <a:ea typeface="Georgia" pitchFamily="34" charset="-122"/>
                <a:cs typeface="Georgia" pitchFamily="34" charset="-120"/>
              </a:rPr>
              <a:t>‖ Pᵢ |ψ⟩ ‖</a:t>
            </a:r>
            <a:endParaRPr lang="en-US" sz="1700" dirty="0"/>
          </a:p>
        </p:txBody>
      </p:sp>
      <p:sp>
        <p:nvSpPr>
          <p:cNvPr id="15" name="Text 13"/>
          <p:cNvSpPr/>
          <p:nvPr/>
        </p:nvSpPr>
        <p:spPr>
          <a:xfrm>
            <a:off x="640080" y="4315968"/>
            <a:ext cx="7863840" cy="365760"/>
          </a:xfrm>
          <a:prstGeom prst="rect">
            <a:avLst/>
          </a:prstGeom>
          <a:noFill/>
          <a:ln/>
        </p:spPr>
        <p:txBody>
          <a:bodyPr wrap="square" lIns="0" tIns="0" rIns="0" bIns="0" rtlCol="0" anchor="ctr"/>
          <a:lstStyle/>
          <a:p>
            <a:pPr marL="0" indent="0" algn="ctr">
              <a:buNone/>
            </a:pPr>
            <a:r>
              <a:rPr lang="en-US" sz="1250" i="1" dirty="0">
                <a:solidFill>
                  <a:srgbClr val="6B7280"/>
                </a:solidFill>
                <a:latin typeface="Georgia" pitchFamily="34" charset="0"/>
                <a:ea typeface="Georgia" pitchFamily="34" charset="-122"/>
                <a:cs typeface="Georgia" pitchFamily="34" charset="-120"/>
              </a:rPr>
              <a:t>The operator says what is measured; the projector says what the state becomes.</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Operators on composite systems</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188720"/>
            <a:ext cx="7589520" cy="11887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4" name="Text"/>
          <p:cNvSpPr/>
          <p:nvPr/>
        </p:nvSpPr>
        <p:spPr>
          <a:xfrm>
            <a:off x="960120" y="1188720"/>
            <a:ext cx="7223760" cy="1188720"/>
          </a:xfrm>
          <a:prstGeom prst="rect">
            <a:avLst/>
          </a:prstGeom>
          <a:noFill/>
          <a:ln/>
        </p:spPr>
        <p:txBody>
          <a:bodyPr wrap="square" lIns="0" tIns="0" rIns="0" bIns="0" rtlCol="0" anchor="ctr">
            <a:normAutofit/>
          </a:bodyPr>
          <a:lstStyle/>
          <a:p>
            <a:pPr marL="0" indent="0" algn="ctr">
              <a:buNone/>
            </a:pPr>
            <a:r>
              <a:rPr lang="en-US" sz="2200" b="1" i="0">
                <a:solidFill>
                  <a:srgbClr val="1A1A2E"/>
                </a:solidFill>
                <a:latin typeface="Georgia" pitchFamily="34" charset="0"/>
                <a:ea typeface="Georgia" pitchFamily="34" charset="-122"/>
                <a:cs typeface="Georgia" pitchFamily="34" charset="-120"/>
              </a:rPr>
              <a:t>(A⊗B) ( |v⟩ ⊗ |w⟩ )  =  (A|v⟩) ⊗ (B|w⟩)</a:t>
            </a:r>
            <a:endParaRPr lang="en-US" sz="2200"/>
          </a:p>
        </p:txBody>
      </p:sp>
      <p:sp>
        <p:nvSpPr>
          <p:cNvPr id="5" name="Text"/>
          <p:cNvSpPr/>
          <p:nvPr/>
        </p:nvSpPr>
        <p:spPr>
          <a:xfrm>
            <a:off x="3931920" y="2468880"/>
            <a:ext cx="1280160" cy="320040"/>
          </a:xfrm>
          <a:prstGeom prst="rect">
            <a:avLst/>
          </a:prstGeom>
          <a:noFill/>
          <a:ln/>
        </p:spPr>
        <p:txBody>
          <a:bodyPr wrap="square" lIns="0" tIns="0" rIns="0" bIns="0" rtlCol="0" anchor="ctr">
            <a:normAutofit/>
          </a:bodyPr>
          <a:lstStyle/>
          <a:p>
            <a:pPr marL="0" indent="0" algn="ctr">
              <a:buNone/>
            </a:pPr>
            <a:r>
              <a:rPr lang="en-US" sz="1800" b="1" i="0">
                <a:solidFill>
                  <a:srgbClr val="3730A3"/>
                </a:solidFill>
                <a:latin typeface="Georgia" pitchFamily="34" charset="0"/>
                <a:ea typeface="Georgia" pitchFamily="34" charset="-122"/>
                <a:cs typeface="Georgia" pitchFamily="34" charset="-120"/>
              </a:rPr>
              <a:t>↓</a:t>
            </a:r>
            <a:endParaRPr lang="en-US" sz="1800"/>
          </a:p>
        </p:txBody>
      </p:sp>
      <p:sp>
        <p:nvSpPr>
          <p:cNvPr id="6" name="Card frame">
            <a:extLst>
              <a:ext uri="{C183D7F6-B498-43B3-948B-1728B52AA6E4}">
                <adec:decorative xmlns:adec="http://schemas.microsoft.com/office/drawing/2017/decorative" val="1"/>
              </a:ext>
            </a:extLst>
          </p:cNvPr>
          <p:cNvSpPr/>
          <p:nvPr/>
        </p:nvSpPr>
        <p:spPr>
          <a:xfrm>
            <a:off x="2377440" y="2880360"/>
            <a:ext cx="438912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7" name="Text"/>
          <p:cNvSpPr/>
          <p:nvPr/>
        </p:nvSpPr>
        <p:spPr>
          <a:xfrm>
            <a:off x="2560320" y="2880360"/>
            <a:ext cx="4023360" cy="731520"/>
          </a:xfrm>
          <a:prstGeom prst="rect">
            <a:avLst/>
          </a:prstGeom>
          <a:noFill/>
          <a:ln/>
        </p:spPr>
        <p:txBody>
          <a:bodyPr wrap="square" lIns="0" tIns="0" rIns="0" bIns="0" rtlCol="0" anchor="ctr">
            <a:normAutofit/>
          </a:bodyPr>
          <a:lstStyle/>
          <a:p>
            <a:pPr marL="0" indent="0" algn="ctr">
              <a:buNone/>
            </a:pPr>
            <a:r>
              <a:rPr lang="en-US" sz="1600" b="1" i="0">
                <a:solidFill>
                  <a:srgbClr val="3730A3"/>
                </a:solidFill>
                <a:latin typeface="Georgia" pitchFamily="34" charset="0"/>
                <a:ea typeface="Georgia" pitchFamily="34" charset="-122"/>
                <a:cs typeface="Georgia" pitchFamily="34" charset="-120"/>
              </a:rPr>
              <a:t>operate locally  →  combine globally</a:t>
            </a:r>
            <a:endParaRPr lang="en-US" sz="1600"/>
          </a:p>
        </p:txBody>
      </p:sp>
      <p:sp>
        <p:nvSpPr>
          <p:cNvPr id="8"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A tensor product of operators acts on each subsystem independently.</a:t>
            </a:r>
            <a:endParaRPr lang="en-US" sz="125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Eigenvalues multiply</a:t>
            </a:r>
            <a:endParaRPr lang="en-US" sz="2500"/>
          </a:p>
        </p:txBody>
      </p:sp>
      <p:sp>
        <p:nvSpPr>
          <p:cNvPr id="3" name="Card frame">
            <a:extLst>
              <a:ext uri="{C183D7F6-B498-43B3-948B-1728B52AA6E4}">
                <adec:decorative xmlns:adec="http://schemas.microsoft.com/office/drawing/2017/decorative" val="1"/>
              </a:ext>
            </a:extLst>
          </p:cNvPr>
          <p:cNvSpPr/>
          <p:nvPr/>
        </p:nvSpPr>
        <p:spPr>
          <a:xfrm>
            <a:off x="1600200" y="1188720"/>
            <a:ext cx="2560320" cy="8229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1691640" y="1188720"/>
            <a:ext cx="2377440" cy="822960"/>
          </a:xfrm>
          <a:prstGeom prst="rect">
            <a:avLst/>
          </a:prstGeom>
          <a:noFill/>
          <a:ln/>
        </p:spPr>
        <p:txBody>
          <a:bodyPr wrap="square" lIns="0" tIns="0" rIns="0" bIns="0" rtlCol="0" anchor="t">
            <a:normAutofit/>
          </a:bodyPr>
          <a:lstStyle/>
          <a:p>
            <a:pPr marL="0" indent="0" algn="ctr">
              <a:buNone/>
            </a:pPr>
            <a:r>
              <a:rPr lang="en-US" sz="1300" b="0" i="0">
                <a:solidFill>
                  <a:srgbClr val="6B7280"/>
                </a:solidFill>
                <a:latin typeface="Georgia" pitchFamily="34" charset="0"/>
                <a:ea typeface="Georgia" pitchFamily="34" charset="-122"/>
                <a:cs typeface="Georgia" pitchFamily="34" charset="-120"/>
              </a:rPr>
              <a:t>A  eigenvalue</a:t>
            </a:r>
            <a:endParaRPr lang="en-US" sz="1300"/>
          </a:p>
        </p:txBody>
      </p:sp>
      <p:sp>
        <p:nvSpPr>
          <p:cNvPr id="5" name="Text"/>
          <p:cNvSpPr/>
          <p:nvPr/>
        </p:nvSpPr>
        <p:spPr>
          <a:xfrm>
            <a:off x="1691640" y="1471930"/>
            <a:ext cx="2377440" cy="457200"/>
          </a:xfrm>
          <a:prstGeom prst="rect">
            <a:avLst/>
          </a:prstGeom>
          <a:noFill/>
          <a:ln/>
        </p:spPr>
        <p:txBody>
          <a:bodyPr wrap="square" lIns="0" tIns="0" rIns="0" bIns="0" rtlCol="0" anchor="ctr">
            <a:normAutofit/>
          </a:bodyPr>
          <a:lstStyle/>
          <a:p>
            <a:pPr marL="0" indent="0" algn="ctr">
              <a:buNone/>
            </a:pPr>
            <a:r>
              <a:rPr lang="en-US" sz="2200" b="1" i="0">
                <a:solidFill>
                  <a:srgbClr val="3730A3"/>
                </a:solidFill>
                <a:latin typeface="Georgia" pitchFamily="34" charset="0"/>
                <a:ea typeface="Georgia" pitchFamily="34" charset="-122"/>
                <a:cs typeface="Georgia" pitchFamily="34" charset="-120"/>
              </a:rPr>
              <a:t>λ₀</a:t>
            </a:r>
            <a:endParaRPr lang="en-US" sz="2200"/>
          </a:p>
        </p:txBody>
      </p:sp>
      <p:sp>
        <p:nvSpPr>
          <p:cNvPr id="6" name="Text"/>
          <p:cNvSpPr/>
          <p:nvPr/>
        </p:nvSpPr>
        <p:spPr>
          <a:xfrm>
            <a:off x="4160520" y="1188720"/>
            <a:ext cx="822960" cy="822960"/>
          </a:xfrm>
          <a:prstGeom prst="rect">
            <a:avLst/>
          </a:prstGeom>
          <a:noFill/>
          <a:ln/>
        </p:spPr>
        <p:txBody>
          <a:bodyPr wrap="square" lIns="0" tIns="0" rIns="0" bIns="0" rtlCol="0" anchor="ctr">
            <a:normAutofit/>
          </a:bodyPr>
          <a:lstStyle/>
          <a:p>
            <a:pPr marL="0" indent="0" algn="ctr">
              <a:buNone/>
            </a:pPr>
            <a:r>
              <a:rPr lang="en-US" sz="2000" b="1" i="0">
                <a:solidFill>
                  <a:srgbClr val="C0392B"/>
                </a:solidFill>
                <a:latin typeface="Georgia" pitchFamily="34" charset="0"/>
                <a:ea typeface="Georgia" pitchFamily="34" charset="-122"/>
                <a:cs typeface="Georgia" pitchFamily="34" charset="-120"/>
              </a:rPr>
              <a:t>×</a:t>
            </a:r>
            <a:endParaRPr lang="en-US" sz="2000"/>
          </a:p>
        </p:txBody>
      </p:sp>
      <p:sp>
        <p:nvSpPr>
          <p:cNvPr id="7" name="Card frame">
            <a:extLst>
              <a:ext uri="{C183D7F6-B498-43B3-948B-1728B52AA6E4}">
                <adec:decorative xmlns:adec="http://schemas.microsoft.com/office/drawing/2017/decorative" val="1"/>
              </a:ext>
            </a:extLst>
          </p:cNvPr>
          <p:cNvSpPr/>
          <p:nvPr/>
        </p:nvSpPr>
        <p:spPr>
          <a:xfrm>
            <a:off x="4983480" y="1188720"/>
            <a:ext cx="2560320" cy="8229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8" name="Text"/>
          <p:cNvSpPr/>
          <p:nvPr/>
        </p:nvSpPr>
        <p:spPr>
          <a:xfrm>
            <a:off x="5074920" y="1188720"/>
            <a:ext cx="2377440" cy="822960"/>
          </a:xfrm>
          <a:prstGeom prst="rect">
            <a:avLst/>
          </a:prstGeom>
          <a:noFill/>
          <a:ln/>
        </p:spPr>
        <p:txBody>
          <a:bodyPr wrap="square" lIns="0" tIns="0" rIns="0" bIns="0" rtlCol="0" anchor="t">
            <a:normAutofit/>
          </a:bodyPr>
          <a:lstStyle/>
          <a:p>
            <a:pPr marL="0" indent="0" algn="ctr">
              <a:buNone/>
            </a:pPr>
            <a:r>
              <a:rPr lang="en-US" sz="1300" b="0" i="0">
                <a:solidFill>
                  <a:srgbClr val="6B7280"/>
                </a:solidFill>
                <a:latin typeface="Georgia" pitchFamily="34" charset="0"/>
                <a:ea typeface="Georgia" pitchFamily="34" charset="-122"/>
                <a:cs typeface="Georgia" pitchFamily="34" charset="-120"/>
              </a:rPr>
              <a:t>B  eigenvalue</a:t>
            </a:r>
            <a:endParaRPr lang="en-US" sz="1300"/>
          </a:p>
        </p:txBody>
      </p:sp>
      <p:sp>
        <p:nvSpPr>
          <p:cNvPr id="9" name="Text"/>
          <p:cNvSpPr/>
          <p:nvPr/>
        </p:nvSpPr>
        <p:spPr>
          <a:xfrm>
            <a:off x="5074920" y="1471930"/>
            <a:ext cx="2377440" cy="457200"/>
          </a:xfrm>
          <a:prstGeom prst="rect">
            <a:avLst/>
          </a:prstGeom>
          <a:noFill/>
          <a:ln/>
        </p:spPr>
        <p:txBody>
          <a:bodyPr wrap="square" lIns="0" tIns="0" rIns="0" bIns="0" rtlCol="0" anchor="ctr">
            <a:normAutofit/>
          </a:bodyPr>
          <a:lstStyle/>
          <a:p>
            <a:pPr marL="0" indent="0" algn="ctr">
              <a:buNone/>
            </a:pPr>
            <a:r>
              <a:rPr lang="en-US" sz="2200" b="1" i="0">
                <a:solidFill>
                  <a:srgbClr val="3730A3"/>
                </a:solidFill>
                <a:latin typeface="Georgia" pitchFamily="34" charset="0"/>
                <a:ea typeface="Georgia" pitchFamily="34" charset="-122"/>
                <a:cs typeface="Georgia" pitchFamily="34" charset="-120"/>
              </a:rPr>
              <a:t>λ₁</a:t>
            </a:r>
            <a:endParaRPr lang="en-US" sz="2200"/>
          </a:p>
        </p:txBody>
      </p:sp>
      <p:sp>
        <p:nvSpPr>
          <p:cNvPr id="10" name="Text"/>
          <p:cNvSpPr/>
          <p:nvPr/>
        </p:nvSpPr>
        <p:spPr>
          <a:xfrm>
            <a:off x="3931920" y="2103120"/>
            <a:ext cx="1280160" cy="320040"/>
          </a:xfrm>
          <a:prstGeom prst="rect">
            <a:avLst/>
          </a:prstGeom>
          <a:noFill/>
          <a:ln/>
        </p:spPr>
        <p:txBody>
          <a:bodyPr wrap="square" lIns="0" tIns="0" rIns="0" bIns="0" rtlCol="0" anchor="ctr">
            <a:normAutofit/>
          </a:bodyPr>
          <a:lstStyle/>
          <a:p>
            <a:pPr marL="0" indent="0" algn="ctr">
              <a:buNone/>
            </a:pPr>
            <a:r>
              <a:rPr lang="en-US" sz="1800" b="1" i="0">
                <a:solidFill>
                  <a:srgbClr val="3730A3"/>
                </a:solidFill>
                <a:latin typeface="Georgia" pitchFamily="34" charset="0"/>
                <a:ea typeface="Georgia" pitchFamily="34" charset="-122"/>
                <a:cs typeface="Georgia" pitchFamily="34" charset="-120"/>
              </a:rPr>
              <a:t>↓</a:t>
            </a:r>
            <a:endParaRPr lang="en-US" sz="1800"/>
          </a:p>
        </p:txBody>
      </p:sp>
      <p:sp>
        <p:nvSpPr>
          <p:cNvPr id="11" name="Card frame">
            <a:extLst>
              <a:ext uri="{C183D7F6-B498-43B3-948B-1728B52AA6E4}">
                <adec:decorative xmlns:adec="http://schemas.microsoft.com/office/drawing/2017/decorative" val="1"/>
              </a:ext>
            </a:extLst>
          </p:cNvPr>
          <p:cNvSpPr/>
          <p:nvPr/>
        </p:nvSpPr>
        <p:spPr>
          <a:xfrm>
            <a:off x="2377440" y="2468880"/>
            <a:ext cx="4389120" cy="822960"/>
          </a:xfrm>
          <a:prstGeom prst="roundRect">
            <a:avLst>
              <a:gd name="adj" fmla="val 5000"/>
            </a:avLst>
          </a:prstGeom>
          <a:solidFill>
            <a:srgbClr val="FFFFFF"/>
          </a:solidFill>
          <a:ln w="17780">
            <a:solidFill>
              <a:srgbClr val="3730A3"/>
            </a:solidFill>
            <a:prstDash val="solid"/>
          </a:ln>
        </p:spPr>
        <p:txBody>
          <a:bodyPr/>
          <a:lstStyle/>
          <a:p>
            <a:endParaRPr lang="en-US"/>
          </a:p>
        </p:txBody>
      </p:sp>
      <p:sp>
        <p:nvSpPr>
          <p:cNvPr id="12" name="Text"/>
          <p:cNvSpPr/>
          <p:nvPr/>
        </p:nvSpPr>
        <p:spPr>
          <a:xfrm>
            <a:off x="2560320" y="2514600"/>
            <a:ext cx="4023360" cy="822960"/>
          </a:xfrm>
          <a:prstGeom prst="rect">
            <a:avLst/>
          </a:prstGeom>
          <a:noFill/>
          <a:ln/>
        </p:spPr>
        <p:txBody>
          <a:bodyPr wrap="square" lIns="0" tIns="0" rIns="0" bIns="0" rtlCol="0" anchor="t">
            <a:normAutofit/>
          </a:bodyPr>
          <a:lstStyle/>
          <a:p>
            <a:pPr marL="0" indent="0" algn="ctr">
              <a:buNone/>
            </a:pPr>
            <a:r>
              <a:rPr lang="en-US" sz="1300" b="0" i="0">
                <a:solidFill>
                  <a:srgbClr val="6B7280"/>
                </a:solidFill>
                <a:latin typeface="Georgia" pitchFamily="34" charset="0"/>
                <a:ea typeface="Georgia" pitchFamily="34" charset="-122"/>
                <a:cs typeface="Georgia" pitchFamily="34" charset="-120"/>
              </a:rPr>
              <a:t>A⊗B  eigenvalue</a:t>
            </a:r>
            <a:endParaRPr lang="en-US" sz="1300"/>
          </a:p>
        </p:txBody>
      </p:sp>
      <p:sp>
        <p:nvSpPr>
          <p:cNvPr id="13" name="Text"/>
          <p:cNvSpPr/>
          <p:nvPr/>
        </p:nvSpPr>
        <p:spPr>
          <a:xfrm>
            <a:off x="2560320" y="2788920"/>
            <a:ext cx="4023360" cy="457200"/>
          </a:xfrm>
          <a:prstGeom prst="rect">
            <a:avLst/>
          </a:prstGeom>
          <a:noFill/>
          <a:ln/>
        </p:spPr>
        <p:txBody>
          <a:bodyPr wrap="square" lIns="0" tIns="0" rIns="0" bIns="0" rtlCol="0" anchor="ctr">
            <a:normAutofit/>
          </a:bodyPr>
          <a:lstStyle/>
          <a:p>
            <a:pPr marL="0" indent="0" algn="ctr">
              <a:buNone/>
            </a:pPr>
            <a:r>
              <a:rPr lang="en-US" sz="2400" b="1" i="0">
                <a:solidFill>
                  <a:srgbClr val="3730A3"/>
                </a:solidFill>
                <a:latin typeface="Georgia" pitchFamily="34" charset="0"/>
                <a:ea typeface="Georgia" pitchFamily="34" charset="-122"/>
                <a:cs typeface="Georgia" pitchFamily="34" charset="-120"/>
              </a:rPr>
              <a:t>λ₀ λ₁</a:t>
            </a:r>
            <a:endParaRPr lang="en-US" sz="2400"/>
          </a:p>
        </p:txBody>
      </p:sp>
      <p:sp>
        <p:nvSpPr>
          <p:cNvPr id="14"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Eigenvalues of a tensor product operator are products of the subsystem eigenvalues.</a:t>
            </a:r>
            <a:endParaRPr lang="en-US" sz="125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dirty="0">
                <a:solidFill>
                  <a:srgbClr val="1A1A2E"/>
                </a:solidFill>
                <a:latin typeface="Georgia" pitchFamily="34" charset="0"/>
                <a:ea typeface="Georgia" pitchFamily="34" charset="-122"/>
                <a:cs typeface="Georgia" pitchFamily="34" charset="-120"/>
              </a:rPr>
              <a:t>Decomposable vs non-decomposable</a:t>
            </a:r>
            <a:endParaRPr lang="en-US" sz="2500" dirty="0"/>
          </a:p>
        </p:txBody>
      </p:sp>
      <p:sp>
        <p:nvSpPr>
          <p:cNvPr id="3" name="Card frame">
            <a:extLst>
              <a:ext uri="{C183D7F6-B498-43B3-948B-1728B52AA6E4}">
                <adec:decorative xmlns:adec="http://schemas.microsoft.com/office/drawing/2017/decorative" val="1"/>
              </a:ext>
            </a:extLst>
          </p:cNvPr>
          <p:cNvSpPr/>
          <p:nvPr/>
        </p:nvSpPr>
        <p:spPr>
          <a:xfrm>
            <a:off x="777240" y="1188720"/>
            <a:ext cx="3611880" cy="21945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960120" y="1325880"/>
            <a:ext cx="3246120" cy="274320"/>
          </a:xfrm>
          <a:prstGeom prst="rect">
            <a:avLst/>
          </a:prstGeom>
          <a:noFill/>
          <a:ln/>
        </p:spPr>
        <p:txBody>
          <a:bodyPr wrap="square" lIns="0" tIns="0" rIns="0" bIns="0" rtlCol="0" anchor="ctr">
            <a:normAutofit/>
          </a:bodyPr>
          <a:lstStyle/>
          <a:p>
            <a:pPr marL="0" indent="0" algn="ctr">
              <a:buNone/>
            </a:pPr>
            <a:r>
              <a:rPr lang="en-US" sz="1100" b="1" i="0" kern="0" spc="120">
                <a:solidFill>
                  <a:srgbClr val="3730A3"/>
                </a:solidFill>
                <a:latin typeface="Georgia" pitchFamily="34" charset="0"/>
                <a:ea typeface="Georgia" pitchFamily="34" charset="-122"/>
                <a:cs typeface="Georgia" pitchFamily="34" charset="-120"/>
              </a:rPr>
              <a:t>DECOMPOSABLE</a:t>
            </a:r>
            <a:endParaRPr lang="en-US" sz="1100"/>
          </a:p>
        </p:txBody>
      </p:sp>
      <p:sp>
        <p:nvSpPr>
          <p:cNvPr id="5" name="Text"/>
          <p:cNvSpPr/>
          <p:nvPr/>
        </p:nvSpPr>
        <p:spPr>
          <a:xfrm>
            <a:off x="960120" y="1737360"/>
            <a:ext cx="3246120" cy="640080"/>
          </a:xfrm>
          <a:prstGeom prst="rect">
            <a:avLst/>
          </a:prstGeom>
          <a:noFill/>
          <a:ln/>
        </p:spPr>
        <p:txBody>
          <a:bodyPr wrap="square" lIns="0" tIns="0" rIns="0" bIns="0" rtlCol="0" anchor="ctr">
            <a:normAutofit/>
          </a:bodyPr>
          <a:lstStyle/>
          <a:p>
            <a:pPr marL="0" indent="0" algn="ctr">
              <a:buNone/>
            </a:pPr>
            <a:r>
              <a:rPr lang="en-US" sz="2400" b="1" i="0">
                <a:solidFill>
                  <a:srgbClr val="1A1A2E"/>
                </a:solidFill>
                <a:latin typeface="Georgia" pitchFamily="34" charset="0"/>
                <a:ea typeface="Georgia" pitchFamily="34" charset="-122"/>
                <a:cs typeface="Georgia" pitchFamily="34" charset="-120"/>
              </a:rPr>
              <a:t>A ⊗ B</a:t>
            </a:r>
            <a:endParaRPr lang="en-US" sz="2400"/>
          </a:p>
        </p:txBody>
      </p:sp>
      <p:sp>
        <p:nvSpPr>
          <p:cNvPr id="6" name="Text"/>
          <p:cNvSpPr/>
          <p:nvPr/>
        </p:nvSpPr>
        <p:spPr>
          <a:xfrm>
            <a:off x="960120" y="2468880"/>
            <a:ext cx="3246120" cy="1188720"/>
          </a:xfrm>
          <a:prstGeom prst="rect">
            <a:avLst/>
          </a:prstGeom>
          <a:noFill/>
          <a:ln/>
        </p:spPr>
        <p:txBody>
          <a:bodyPr wrap="square" lIns="0" tIns="0" rIns="0" bIns="0" rtlCol="0" anchor="t">
            <a:normAutofit/>
          </a:bodyPr>
          <a:lstStyle/>
          <a:p>
            <a:pPr marL="0" indent="0" algn="ctr">
              <a:buNone/>
            </a:pPr>
            <a:r>
              <a:rPr lang="en-US" sz="1400" b="0" i="0">
                <a:solidFill>
                  <a:srgbClr val="1A1A2E"/>
                </a:solidFill>
                <a:latin typeface="Georgia" pitchFamily="34" charset="0"/>
                <a:ea typeface="Georgia" pitchFamily="34" charset="-122"/>
                <a:cs typeface="Georgia" pitchFamily="34" charset="-120"/>
              </a:rPr>
              <a:t>Built from one operator on each subsystem, so its eigenspaces factor cleanly.</a:t>
            </a:r>
            <a:endParaRPr lang="en-US" sz="1400"/>
          </a:p>
        </p:txBody>
      </p:sp>
      <p:sp>
        <p:nvSpPr>
          <p:cNvPr id="7" name="Card frame">
            <a:extLst>
              <a:ext uri="{C183D7F6-B498-43B3-948B-1728B52AA6E4}">
                <adec:decorative xmlns:adec="http://schemas.microsoft.com/office/drawing/2017/decorative" val="1"/>
              </a:ext>
            </a:extLst>
          </p:cNvPr>
          <p:cNvSpPr/>
          <p:nvPr/>
        </p:nvSpPr>
        <p:spPr>
          <a:xfrm>
            <a:off x="4754400" y="1188720"/>
            <a:ext cx="3611880" cy="219456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8" name="Text"/>
          <p:cNvSpPr/>
          <p:nvPr/>
        </p:nvSpPr>
        <p:spPr>
          <a:xfrm>
            <a:off x="4937280" y="1325880"/>
            <a:ext cx="3246120" cy="274320"/>
          </a:xfrm>
          <a:prstGeom prst="rect">
            <a:avLst/>
          </a:prstGeom>
          <a:noFill/>
          <a:ln/>
        </p:spPr>
        <p:txBody>
          <a:bodyPr wrap="square" lIns="0" tIns="0" rIns="0" bIns="0" rtlCol="0" anchor="ctr">
            <a:normAutofit/>
          </a:bodyPr>
          <a:lstStyle/>
          <a:p>
            <a:pPr marL="0" indent="0" algn="ctr">
              <a:buNone/>
            </a:pPr>
            <a:r>
              <a:rPr lang="en-US" sz="1100" b="1" i="0" kern="0" spc="120">
                <a:solidFill>
                  <a:srgbClr val="C0392B"/>
                </a:solidFill>
                <a:latin typeface="Georgia" pitchFamily="34" charset="0"/>
                <a:ea typeface="Georgia" pitchFamily="34" charset="-122"/>
                <a:cs typeface="Georgia" pitchFamily="34" charset="-120"/>
              </a:rPr>
              <a:t>NON-DECOMPOSABLE</a:t>
            </a:r>
            <a:endParaRPr lang="en-US" sz="1100"/>
          </a:p>
        </p:txBody>
      </p:sp>
      <p:sp>
        <p:nvSpPr>
          <p:cNvPr id="9" name="Text"/>
          <p:cNvSpPr/>
          <p:nvPr/>
        </p:nvSpPr>
        <p:spPr>
          <a:xfrm>
            <a:off x="4937280" y="1737360"/>
            <a:ext cx="3246120" cy="640080"/>
          </a:xfrm>
          <a:prstGeom prst="rect">
            <a:avLst/>
          </a:prstGeom>
          <a:noFill/>
          <a:ln/>
        </p:spPr>
        <p:txBody>
          <a:bodyPr wrap="square" lIns="0" tIns="0" rIns="0" bIns="0" rtlCol="0" anchor="ctr">
            <a:normAutofit/>
          </a:bodyPr>
          <a:lstStyle/>
          <a:p>
            <a:pPr marL="0" indent="0" algn="ctr">
              <a:buNone/>
            </a:pPr>
            <a:r>
              <a:rPr lang="en-US" sz="2000" b="1" i="0">
                <a:solidFill>
                  <a:srgbClr val="1A1A2E"/>
                </a:solidFill>
                <a:latin typeface="Georgia" pitchFamily="34" charset="0"/>
                <a:ea typeface="Georgia" pitchFamily="34" charset="-122"/>
                <a:cs typeface="Georgia" pitchFamily="34" charset="-120"/>
              </a:rPr>
              <a:t>general operator</a:t>
            </a:r>
            <a:endParaRPr lang="en-US" sz="2000"/>
          </a:p>
        </p:txBody>
      </p:sp>
      <p:sp>
        <p:nvSpPr>
          <p:cNvPr id="10" name="Text"/>
          <p:cNvSpPr/>
          <p:nvPr/>
        </p:nvSpPr>
        <p:spPr>
          <a:xfrm>
            <a:off x="4937280" y="2468880"/>
            <a:ext cx="3246120" cy="1188720"/>
          </a:xfrm>
          <a:prstGeom prst="rect">
            <a:avLst/>
          </a:prstGeom>
          <a:noFill/>
          <a:ln/>
        </p:spPr>
        <p:txBody>
          <a:bodyPr wrap="square" lIns="0" tIns="0" rIns="0" bIns="0" rtlCol="0" anchor="t">
            <a:normAutofit/>
          </a:bodyPr>
          <a:lstStyle/>
          <a:p>
            <a:pPr marL="0" indent="0" algn="ctr">
              <a:buNone/>
            </a:pPr>
            <a:r>
              <a:rPr lang="en-US" sz="1400" b="0" i="0">
                <a:solidFill>
                  <a:srgbClr val="1A1A2E"/>
                </a:solidFill>
                <a:latin typeface="Georgia" pitchFamily="34" charset="0"/>
                <a:ea typeface="Georgia" pitchFamily="34" charset="-122"/>
                <a:cs typeface="Georgia" pitchFamily="34" charset="-120"/>
              </a:rPr>
              <a:t>Its eigenspaces cannot be expressed as simple tensor products of subsystem subspaces.</a:t>
            </a:r>
            <a:endParaRPr lang="en-US" sz="1400"/>
          </a:p>
        </p:txBody>
      </p:sp>
      <p:sp>
        <p:nvSpPr>
          <p:cNvPr id="11"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Most operators on a composite system are not tensor products of subsystem operators.</a:t>
            </a:r>
            <a:endParaRPr lang="en-US" sz="125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Important example:  ZZ</a:t>
            </a:r>
            <a:endParaRPr lang="en-US" sz="2500"/>
          </a:p>
        </p:txBody>
      </p:sp>
      <p:sp>
        <p:nvSpPr>
          <p:cNvPr id="3" name="Card frame">
            <a:extLst>
              <a:ext uri="{C183D7F6-B498-43B3-948B-1728B52AA6E4}">
                <adec:decorative xmlns:adec="http://schemas.microsoft.com/office/drawing/2017/decorative" val="1"/>
              </a:ext>
            </a:extLst>
          </p:cNvPr>
          <p:cNvSpPr/>
          <p:nvPr/>
        </p:nvSpPr>
        <p:spPr>
          <a:xfrm>
            <a:off x="3474720" y="1143000"/>
            <a:ext cx="219456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3474720" y="1143000"/>
            <a:ext cx="2194560" cy="594360"/>
          </a:xfrm>
          <a:prstGeom prst="rect">
            <a:avLst/>
          </a:prstGeom>
          <a:noFill/>
          <a:ln/>
        </p:spPr>
        <p:txBody>
          <a:bodyPr wrap="square" lIns="0" tIns="0" rIns="0" bIns="0" rtlCol="0" anchor="ctr">
            <a:normAutofit/>
          </a:bodyPr>
          <a:lstStyle/>
          <a:p>
            <a:pPr marL="0" indent="0" algn="ctr">
              <a:buNone/>
            </a:pPr>
            <a:r>
              <a:rPr lang="en-US" sz="2200" b="1" i="0">
                <a:solidFill>
                  <a:srgbClr val="3730A3"/>
                </a:solidFill>
                <a:latin typeface="Georgia" pitchFamily="34" charset="0"/>
                <a:ea typeface="Georgia" pitchFamily="34" charset="-122"/>
                <a:cs typeface="Georgia" pitchFamily="34" charset="-120"/>
              </a:rPr>
              <a:t>Z ⊗ Z</a:t>
            </a:r>
            <a:endParaRPr lang="en-US" sz="2200"/>
          </a:p>
        </p:txBody>
      </p:sp>
      <p:sp>
        <p:nvSpPr>
          <p:cNvPr id="5" name="Text"/>
          <p:cNvSpPr/>
          <p:nvPr/>
        </p:nvSpPr>
        <p:spPr>
          <a:xfrm>
            <a:off x="3931920" y="1828800"/>
            <a:ext cx="1280160" cy="274320"/>
          </a:xfrm>
          <a:prstGeom prst="rect">
            <a:avLst/>
          </a:prstGeom>
          <a:noFill/>
          <a:ln/>
        </p:spPr>
        <p:txBody>
          <a:bodyPr wrap="square" lIns="0" tIns="0" rIns="0" bIns="0" rtlCol="0" anchor="ctr">
            <a:normAutofit/>
          </a:bodyPr>
          <a:lstStyle/>
          <a:p>
            <a:pPr marL="0" indent="0" algn="ctr">
              <a:buNone/>
            </a:pPr>
            <a:r>
              <a:rPr lang="en-US" sz="1600" b="1" i="0">
                <a:solidFill>
                  <a:srgbClr val="3730A3"/>
                </a:solidFill>
                <a:latin typeface="Georgia" pitchFamily="34" charset="0"/>
                <a:ea typeface="Georgia" pitchFamily="34" charset="-122"/>
                <a:cs typeface="Georgia" pitchFamily="34" charset="-120"/>
              </a:rPr>
              <a:t>↓</a:t>
            </a:r>
            <a:endParaRPr lang="en-US" sz="1600"/>
          </a:p>
        </p:txBody>
      </p:sp>
      <p:sp>
        <p:nvSpPr>
          <p:cNvPr id="6" name="Card frame">
            <a:extLst>
              <a:ext uri="{C183D7F6-B498-43B3-948B-1728B52AA6E4}">
                <adec:decorative xmlns:adec="http://schemas.microsoft.com/office/drawing/2017/decorative" val="1"/>
              </a:ext>
            </a:extLst>
          </p:cNvPr>
          <p:cNvSpPr/>
          <p:nvPr/>
        </p:nvSpPr>
        <p:spPr>
          <a:xfrm>
            <a:off x="777240" y="2194560"/>
            <a:ext cx="7589520" cy="7315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7" name="Text"/>
          <p:cNvSpPr/>
          <p:nvPr/>
        </p:nvSpPr>
        <p:spPr>
          <a:xfrm>
            <a:off x="960120" y="2194560"/>
            <a:ext cx="7223760" cy="731520"/>
          </a:xfrm>
          <a:prstGeom prst="rect">
            <a:avLst/>
          </a:prstGeom>
          <a:noFill/>
          <a:ln/>
        </p:spPr>
        <p:txBody>
          <a:bodyPr wrap="square" lIns="0" tIns="0" rIns="0" bIns="0" rtlCol="0" anchor="ctr">
            <a:normAutofit/>
          </a:bodyPr>
          <a:lstStyle/>
          <a:p>
            <a:pPr marL="0" indent="0" algn="ctr">
              <a:buNone/>
            </a:pPr>
            <a:r>
              <a:rPr lang="en-US" sz="1600" b="1" i="0">
                <a:solidFill>
                  <a:srgbClr val="1A1A2E"/>
                </a:solidFill>
                <a:latin typeface="Georgia" pitchFamily="34" charset="0"/>
                <a:ea typeface="Georgia" pitchFamily="34" charset="-122"/>
                <a:cs typeface="Georgia" pitchFamily="34" charset="-120"/>
              </a:rPr>
              <a:t>|00⟩⟨00| − |01⟩⟨01| − |10⟩⟨10| + |11⟩⟨11|</a:t>
            </a:r>
            <a:endParaRPr lang="en-US" sz="1600"/>
          </a:p>
        </p:txBody>
      </p:sp>
      <p:sp>
        <p:nvSpPr>
          <p:cNvPr id="8" name="Card frame">
            <a:extLst>
              <a:ext uri="{C183D7F6-B498-43B3-948B-1728B52AA6E4}">
                <adec:decorative xmlns:adec="http://schemas.microsoft.com/office/drawing/2017/decorative" val="1"/>
              </a:ext>
            </a:extLst>
          </p:cNvPr>
          <p:cNvSpPr/>
          <p:nvPr/>
        </p:nvSpPr>
        <p:spPr>
          <a:xfrm>
            <a:off x="1600200" y="3200400"/>
            <a:ext cx="2926080" cy="64008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9" name="Text"/>
          <p:cNvSpPr/>
          <p:nvPr/>
        </p:nvSpPr>
        <p:spPr>
          <a:xfrm>
            <a:off x="1691640" y="3200400"/>
            <a:ext cx="2743200" cy="640080"/>
          </a:xfrm>
          <a:prstGeom prst="rect">
            <a:avLst/>
          </a:prstGeom>
          <a:noFill/>
          <a:ln/>
        </p:spPr>
        <p:txBody>
          <a:bodyPr wrap="square" lIns="0" tIns="0" rIns="0" bIns="0" rtlCol="0" anchor="ctr">
            <a:normAutofit/>
          </a:bodyPr>
          <a:lstStyle/>
          <a:p>
            <a:pPr marL="0" indent="0" algn="ctr">
              <a:buNone/>
            </a:pPr>
            <a:r>
              <a:rPr lang="en-US" sz="1500" b="1" i="0">
                <a:solidFill>
                  <a:srgbClr val="3730A3"/>
                </a:solidFill>
                <a:latin typeface="Georgia" pitchFamily="34" charset="0"/>
                <a:ea typeface="Georgia" pitchFamily="34" charset="-122"/>
                <a:cs typeface="Georgia" pitchFamily="34" charset="-120"/>
              </a:rPr>
              <a:t>+1  →  equal</a:t>
            </a:r>
            <a:endParaRPr lang="en-US" sz="1500"/>
          </a:p>
        </p:txBody>
      </p:sp>
      <p:sp>
        <p:nvSpPr>
          <p:cNvPr id="10" name="Card frame">
            <a:extLst>
              <a:ext uri="{C183D7F6-B498-43B3-948B-1728B52AA6E4}">
                <adec:decorative xmlns:adec="http://schemas.microsoft.com/office/drawing/2017/decorative" val="1"/>
              </a:ext>
            </a:extLst>
          </p:cNvPr>
          <p:cNvSpPr/>
          <p:nvPr/>
        </p:nvSpPr>
        <p:spPr>
          <a:xfrm>
            <a:off x="4617720" y="3200400"/>
            <a:ext cx="2926080" cy="64008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1" name="Text"/>
          <p:cNvSpPr/>
          <p:nvPr/>
        </p:nvSpPr>
        <p:spPr>
          <a:xfrm>
            <a:off x="4709160" y="3200400"/>
            <a:ext cx="2743200" cy="640080"/>
          </a:xfrm>
          <a:prstGeom prst="rect">
            <a:avLst/>
          </a:prstGeom>
          <a:noFill/>
          <a:ln/>
        </p:spPr>
        <p:txBody>
          <a:bodyPr wrap="square" lIns="0" tIns="0" rIns="0" bIns="0" rtlCol="0" anchor="ctr">
            <a:normAutofit/>
          </a:bodyPr>
          <a:lstStyle/>
          <a:p>
            <a:pPr marL="0" indent="0" algn="ctr">
              <a:buNone/>
            </a:pPr>
            <a:r>
              <a:rPr lang="en-US" sz="1500" b="1" i="0">
                <a:solidFill>
                  <a:srgbClr val="C0392B"/>
                </a:solidFill>
                <a:latin typeface="Georgia" pitchFamily="34" charset="0"/>
                <a:ea typeface="Georgia" pitchFamily="34" charset="-122"/>
                <a:cs typeface="Georgia" pitchFamily="34" charset="-120"/>
              </a:rPr>
              <a:t>−1  →  unequal</a:t>
            </a:r>
            <a:endParaRPr lang="en-US" sz="1500"/>
          </a:p>
        </p:txBody>
      </p:sp>
      <p:sp>
        <p:nvSpPr>
          <p:cNvPr id="12"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Z⊗Z reads out whether the two qubits agree — exactly the equality measurement.</a:t>
            </a:r>
            <a:endParaRPr lang="en-US" sz="125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Worked example: measuring Z⊗Z</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097280"/>
            <a:ext cx="75895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960120" y="1097280"/>
            <a:ext cx="7223760" cy="594360"/>
          </a:xfrm>
          <a:prstGeom prst="rect">
            <a:avLst/>
          </a:prstGeom>
          <a:noFill/>
          <a:ln/>
        </p:spPr>
        <p:txBody>
          <a:bodyPr wrap="square" lIns="0" tIns="0" rIns="0" bIns="0" rtlCol="0" anchor="ctr">
            <a:normAutofit/>
          </a:bodyPr>
          <a:lstStyle/>
          <a:p>
            <a:pPr marL="0" indent="0" algn="ctr">
              <a:buNone/>
            </a:pPr>
            <a:r>
              <a:rPr lang="en-US" sz="1800" b="1" i="0">
                <a:solidFill>
                  <a:srgbClr val="3730A3"/>
                </a:solidFill>
                <a:latin typeface="Georgia" pitchFamily="34" charset="0"/>
                <a:ea typeface="Georgia" pitchFamily="34" charset="-122"/>
                <a:cs typeface="Georgia" pitchFamily="34" charset="-120"/>
              </a:rPr>
              <a:t>|ψ⟩  =  ( |00⟩ + |01⟩ ) / √2</a:t>
            </a:r>
            <a:endParaRPr lang="en-US" sz="1800"/>
          </a:p>
        </p:txBody>
      </p:sp>
      <p:sp>
        <p:nvSpPr>
          <p:cNvPr id="5" name="Card frame">
            <a:extLst>
              <a:ext uri="{C183D7F6-B498-43B3-948B-1728B52AA6E4}">
                <adec:decorative xmlns:adec="http://schemas.microsoft.com/office/drawing/2017/decorative" val="1"/>
              </a:ext>
            </a:extLst>
          </p:cNvPr>
          <p:cNvSpPr/>
          <p:nvPr/>
        </p:nvSpPr>
        <p:spPr>
          <a:xfrm>
            <a:off x="777240" y="1874520"/>
            <a:ext cx="3611880" cy="2011680"/>
          </a:xfrm>
          <a:prstGeom prst="roundRect">
            <a:avLst>
              <a:gd name="adj" fmla="val 5000"/>
            </a:avLst>
          </a:prstGeom>
          <a:solidFill>
            <a:srgbClr val="FFFFFF"/>
          </a:solidFill>
          <a:ln w="17780">
            <a:solidFill>
              <a:srgbClr val="3730A3"/>
            </a:solidFill>
            <a:prstDash val="solid"/>
          </a:ln>
        </p:spPr>
        <p:txBody>
          <a:bodyPr/>
          <a:lstStyle/>
          <a:p>
            <a:endParaRPr lang="en-US"/>
          </a:p>
        </p:txBody>
      </p:sp>
      <p:sp>
        <p:nvSpPr>
          <p:cNvPr id="6" name="Text"/>
          <p:cNvSpPr/>
          <p:nvPr/>
        </p:nvSpPr>
        <p:spPr>
          <a:xfrm>
            <a:off x="960120" y="2011680"/>
            <a:ext cx="3246120" cy="274320"/>
          </a:xfrm>
          <a:prstGeom prst="rect">
            <a:avLst/>
          </a:prstGeom>
          <a:noFill/>
          <a:ln/>
        </p:spPr>
        <p:txBody>
          <a:bodyPr wrap="square" lIns="0" tIns="0" rIns="0" bIns="0" rtlCol="0" anchor="ctr">
            <a:normAutofit/>
          </a:bodyPr>
          <a:lstStyle/>
          <a:p>
            <a:pPr marL="0" indent="0" algn="ctr">
              <a:buNone/>
            </a:pPr>
            <a:r>
              <a:rPr lang="en-US" sz="1000" b="1" i="0" kern="0" spc="120">
                <a:solidFill>
                  <a:srgbClr val="3730A3"/>
                </a:solidFill>
                <a:latin typeface="Georgia" pitchFamily="34" charset="0"/>
                <a:ea typeface="Georgia" pitchFamily="34" charset="-122"/>
                <a:cs typeface="Georgia" pitchFamily="34" charset="-120"/>
              </a:rPr>
              <a:t>OUTCOME  +1  (equal)</a:t>
            </a:r>
            <a:endParaRPr lang="en-US" sz="1000"/>
          </a:p>
        </p:txBody>
      </p:sp>
      <p:sp>
        <p:nvSpPr>
          <p:cNvPr id="7" name="Text"/>
          <p:cNvSpPr/>
          <p:nvPr/>
        </p:nvSpPr>
        <p:spPr>
          <a:xfrm>
            <a:off x="960120" y="2377440"/>
            <a:ext cx="3246120" cy="205740"/>
          </a:xfrm>
          <a:prstGeom prst="rect">
            <a:avLst/>
          </a:prstGeom>
          <a:noFill/>
          <a:ln/>
        </p:spPr>
        <p:txBody>
          <a:bodyPr wrap="square" lIns="0" tIns="0" rIns="0" bIns="0" rtlCol="0" anchor="ctr">
            <a:normAutofit/>
          </a:bodyPr>
          <a:lstStyle/>
          <a:p>
            <a:pPr marL="0" indent="0" algn="ctr">
              <a:buNone/>
            </a:pPr>
            <a:r>
              <a:rPr lang="en-US" sz="900" b="0" i="0">
                <a:solidFill>
                  <a:srgbClr val="6B7280"/>
                </a:solidFill>
                <a:latin typeface="Georgia" pitchFamily="34" charset="0"/>
                <a:ea typeface="Georgia" pitchFamily="34" charset="-122"/>
                <a:cs typeface="Georgia" pitchFamily="34" charset="-120"/>
              </a:rPr>
              <a:t>projector</a:t>
            </a:r>
            <a:endParaRPr lang="en-US" sz="900"/>
          </a:p>
        </p:txBody>
      </p:sp>
      <p:sp>
        <p:nvSpPr>
          <p:cNvPr id="8" name="Text"/>
          <p:cNvSpPr/>
          <p:nvPr/>
        </p:nvSpPr>
        <p:spPr>
          <a:xfrm>
            <a:off x="960120" y="2583180"/>
            <a:ext cx="3246120" cy="274320"/>
          </a:xfrm>
          <a:prstGeom prst="rect">
            <a:avLst/>
          </a:prstGeom>
          <a:noFill/>
          <a:ln/>
        </p:spPr>
        <p:txBody>
          <a:bodyPr wrap="square" lIns="0" tIns="0" rIns="0" bIns="0" rtlCol="0" anchor="ctr">
            <a:normAutofit/>
          </a:bodyPr>
          <a:lstStyle/>
          <a:p>
            <a:pPr marL="0" indent="0" algn="ctr">
              <a:buNone/>
            </a:pPr>
            <a:r>
              <a:rPr lang="en-US" sz="1200" b="0" i="0">
                <a:solidFill>
                  <a:srgbClr val="1A1A2E"/>
                </a:solidFill>
                <a:latin typeface="Georgia" pitchFamily="34" charset="0"/>
                <a:ea typeface="Georgia" pitchFamily="34" charset="-122"/>
                <a:cs typeface="Georgia" pitchFamily="34" charset="-120"/>
              </a:rPr>
              <a:t>P₊ = |00⟩⟨00| + |11⟩⟨11|</a:t>
            </a:r>
            <a:endParaRPr lang="en-US" sz="1200"/>
          </a:p>
        </p:txBody>
      </p:sp>
      <p:sp>
        <p:nvSpPr>
          <p:cNvPr id="9" name="Text"/>
          <p:cNvSpPr/>
          <p:nvPr/>
        </p:nvSpPr>
        <p:spPr>
          <a:xfrm>
            <a:off x="960120" y="2926080"/>
            <a:ext cx="3246120" cy="205740"/>
          </a:xfrm>
          <a:prstGeom prst="rect">
            <a:avLst/>
          </a:prstGeom>
          <a:noFill/>
          <a:ln/>
        </p:spPr>
        <p:txBody>
          <a:bodyPr wrap="square" lIns="0" tIns="0" rIns="0" bIns="0" rtlCol="0" anchor="ctr">
            <a:normAutofit/>
          </a:bodyPr>
          <a:lstStyle/>
          <a:p>
            <a:pPr marL="0" indent="0" algn="ctr">
              <a:buNone/>
            </a:pPr>
            <a:r>
              <a:rPr lang="en-US" sz="900" b="0" i="0">
                <a:solidFill>
                  <a:srgbClr val="6B7280"/>
                </a:solidFill>
                <a:latin typeface="Georgia" pitchFamily="34" charset="0"/>
                <a:ea typeface="Georgia" pitchFamily="34" charset="-122"/>
                <a:cs typeface="Georgia" pitchFamily="34" charset="-120"/>
              </a:rPr>
              <a:t>probability</a:t>
            </a:r>
            <a:endParaRPr lang="en-US" sz="900"/>
          </a:p>
        </p:txBody>
      </p:sp>
      <p:sp>
        <p:nvSpPr>
          <p:cNvPr id="10" name="Text"/>
          <p:cNvSpPr/>
          <p:nvPr/>
        </p:nvSpPr>
        <p:spPr>
          <a:xfrm>
            <a:off x="960120" y="3131820"/>
            <a:ext cx="3246120" cy="274320"/>
          </a:xfrm>
          <a:prstGeom prst="rect">
            <a:avLst/>
          </a:prstGeom>
          <a:noFill/>
          <a:ln/>
        </p:spPr>
        <p:txBody>
          <a:bodyPr wrap="square" lIns="0" tIns="0" rIns="0" bIns="0" rtlCol="0" anchor="ctr">
            <a:normAutofit/>
          </a:bodyPr>
          <a:lstStyle/>
          <a:p>
            <a:pPr marL="0" indent="0" algn="ctr">
              <a:buNone/>
            </a:pPr>
            <a:r>
              <a:rPr lang="en-US" sz="1200" b="0" i="0">
                <a:solidFill>
                  <a:srgbClr val="1A1A2E"/>
                </a:solidFill>
                <a:latin typeface="Georgia" pitchFamily="34" charset="0"/>
                <a:ea typeface="Georgia" pitchFamily="34" charset="-122"/>
                <a:cs typeface="Georgia" pitchFamily="34" charset="-120"/>
              </a:rPr>
              <a:t>⟨ψ| P₊ |ψ⟩  =  1/2</a:t>
            </a:r>
            <a:endParaRPr lang="en-US" sz="1200"/>
          </a:p>
        </p:txBody>
      </p:sp>
      <p:sp>
        <p:nvSpPr>
          <p:cNvPr id="11" name="Text"/>
          <p:cNvSpPr/>
          <p:nvPr/>
        </p:nvSpPr>
        <p:spPr>
          <a:xfrm>
            <a:off x="960120" y="3429000"/>
            <a:ext cx="3246120" cy="205740"/>
          </a:xfrm>
          <a:prstGeom prst="rect">
            <a:avLst/>
          </a:prstGeom>
          <a:noFill/>
          <a:ln/>
        </p:spPr>
        <p:txBody>
          <a:bodyPr wrap="square" lIns="0" tIns="0" rIns="0" bIns="0" rtlCol="0" anchor="ctr">
            <a:normAutofit/>
          </a:bodyPr>
          <a:lstStyle/>
          <a:p>
            <a:pPr marL="0" indent="0" algn="ctr">
              <a:buNone/>
            </a:pPr>
            <a:r>
              <a:rPr lang="en-US" sz="900" b="0" i="0">
                <a:solidFill>
                  <a:srgbClr val="6B7280"/>
                </a:solidFill>
                <a:latin typeface="Georgia" pitchFamily="34" charset="0"/>
                <a:ea typeface="Georgia" pitchFamily="34" charset="-122"/>
                <a:cs typeface="Georgia" pitchFamily="34" charset="-120"/>
              </a:rPr>
              <a:t>state after measurement</a:t>
            </a:r>
            <a:endParaRPr lang="en-US" sz="900"/>
          </a:p>
        </p:txBody>
      </p:sp>
      <p:sp>
        <p:nvSpPr>
          <p:cNvPr id="12" name="Text"/>
          <p:cNvSpPr/>
          <p:nvPr/>
        </p:nvSpPr>
        <p:spPr>
          <a:xfrm>
            <a:off x="960120" y="3611880"/>
            <a:ext cx="3246120" cy="274320"/>
          </a:xfrm>
          <a:prstGeom prst="rect">
            <a:avLst/>
          </a:prstGeom>
          <a:noFill/>
          <a:ln/>
        </p:spPr>
        <p:txBody>
          <a:bodyPr wrap="square" lIns="0" tIns="0" rIns="0" bIns="0" rtlCol="0" anchor="ctr">
            <a:normAutofit/>
          </a:bodyPr>
          <a:lstStyle/>
          <a:p>
            <a:pPr marL="0" indent="0" algn="ctr">
              <a:buNone/>
            </a:pPr>
            <a:r>
              <a:rPr lang="en-US" sz="1400" b="1" i="0">
                <a:solidFill>
                  <a:srgbClr val="3730A3"/>
                </a:solidFill>
                <a:latin typeface="Georgia" pitchFamily="34" charset="0"/>
                <a:ea typeface="Georgia" pitchFamily="34" charset="-122"/>
                <a:cs typeface="Georgia" pitchFamily="34" charset="-120"/>
              </a:rPr>
              <a:t>|00⟩</a:t>
            </a:r>
            <a:endParaRPr lang="en-US" sz="1400"/>
          </a:p>
        </p:txBody>
      </p:sp>
      <p:sp>
        <p:nvSpPr>
          <p:cNvPr id="13" name="Card frame">
            <a:extLst>
              <a:ext uri="{C183D7F6-B498-43B3-948B-1728B52AA6E4}">
                <adec:decorative xmlns:adec="http://schemas.microsoft.com/office/drawing/2017/decorative" val="1"/>
              </a:ext>
            </a:extLst>
          </p:cNvPr>
          <p:cNvSpPr/>
          <p:nvPr/>
        </p:nvSpPr>
        <p:spPr>
          <a:xfrm>
            <a:off x="4754400" y="1874520"/>
            <a:ext cx="3611880" cy="201168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14" name="Text"/>
          <p:cNvSpPr/>
          <p:nvPr/>
        </p:nvSpPr>
        <p:spPr>
          <a:xfrm>
            <a:off x="4937280" y="2011680"/>
            <a:ext cx="3246120" cy="274320"/>
          </a:xfrm>
          <a:prstGeom prst="rect">
            <a:avLst/>
          </a:prstGeom>
          <a:noFill/>
          <a:ln/>
        </p:spPr>
        <p:txBody>
          <a:bodyPr wrap="square" lIns="0" tIns="0" rIns="0" bIns="0" rtlCol="0" anchor="ctr">
            <a:normAutofit/>
          </a:bodyPr>
          <a:lstStyle/>
          <a:p>
            <a:pPr marL="0" indent="0" algn="ctr">
              <a:buNone/>
            </a:pPr>
            <a:r>
              <a:rPr lang="en-US" sz="1000" b="1" i="0" kern="0" spc="120">
                <a:solidFill>
                  <a:srgbClr val="C0392B"/>
                </a:solidFill>
                <a:latin typeface="Georgia" pitchFamily="34" charset="0"/>
                <a:ea typeface="Georgia" pitchFamily="34" charset="-122"/>
                <a:cs typeface="Georgia" pitchFamily="34" charset="-120"/>
              </a:rPr>
              <a:t>OUTCOME  −1  (unequal)</a:t>
            </a:r>
            <a:endParaRPr lang="en-US" sz="1000"/>
          </a:p>
        </p:txBody>
      </p:sp>
      <p:sp>
        <p:nvSpPr>
          <p:cNvPr id="15" name="Text"/>
          <p:cNvSpPr/>
          <p:nvPr/>
        </p:nvSpPr>
        <p:spPr>
          <a:xfrm>
            <a:off x="4937280" y="2377440"/>
            <a:ext cx="3246120" cy="205740"/>
          </a:xfrm>
          <a:prstGeom prst="rect">
            <a:avLst/>
          </a:prstGeom>
          <a:noFill/>
          <a:ln/>
        </p:spPr>
        <p:txBody>
          <a:bodyPr wrap="square" lIns="0" tIns="0" rIns="0" bIns="0" rtlCol="0" anchor="ctr">
            <a:normAutofit/>
          </a:bodyPr>
          <a:lstStyle/>
          <a:p>
            <a:pPr marL="0" indent="0" algn="ctr">
              <a:buNone/>
            </a:pPr>
            <a:r>
              <a:rPr lang="en-US" sz="900" b="0" i="0">
                <a:solidFill>
                  <a:srgbClr val="6B7280"/>
                </a:solidFill>
                <a:latin typeface="Georgia" pitchFamily="34" charset="0"/>
                <a:ea typeface="Georgia" pitchFamily="34" charset="-122"/>
                <a:cs typeface="Georgia" pitchFamily="34" charset="-120"/>
              </a:rPr>
              <a:t>projector</a:t>
            </a:r>
            <a:endParaRPr lang="en-US" sz="900"/>
          </a:p>
        </p:txBody>
      </p:sp>
      <p:sp>
        <p:nvSpPr>
          <p:cNvPr id="16" name="Text"/>
          <p:cNvSpPr/>
          <p:nvPr/>
        </p:nvSpPr>
        <p:spPr>
          <a:xfrm>
            <a:off x="4937280" y="2583180"/>
            <a:ext cx="3246120" cy="274320"/>
          </a:xfrm>
          <a:prstGeom prst="rect">
            <a:avLst/>
          </a:prstGeom>
          <a:noFill/>
          <a:ln/>
        </p:spPr>
        <p:txBody>
          <a:bodyPr wrap="square" lIns="0" tIns="0" rIns="0" bIns="0" rtlCol="0" anchor="ctr">
            <a:normAutofit/>
          </a:bodyPr>
          <a:lstStyle/>
          <a:p>
            <a:pPr marL="0" indent="0" algn="ctr">
              <a:buNone/>
            </a:pPr>
            <a:r>
              <a:rPr lang="en-US" sz="1200" b="0" i="0">
                <a:solidFill>
                  <a:srgbClr val="1A1A2E"/>
                </a:solidFill>
                <a:latin typeface="Georgia" pitchFamily="34" charset="0"/>
                <a:ea typeface="Georgia" pitchFamily="34" charset="-122"/>
                <a:cs typeface="Georgia" pitchFamily="34" charset="-120"/>
              </a:rPr>
              <a:t>P₋ = |01⟩⟨01| + |10⟩⟨10|</a:t>
            </a:r>
            <a:endParaRPr lang="en-US" sz="1200"/>
          </a:p>
        </p:txBody>
      </p:sp>
      <p:sp>
        <p:nvSpPr>
          <p:cNvPr id="17" name="Text"/>
          <p:cNvSpPr/>
          <p:nvPr/>
        </p:nvSpPr>
        <p:spPr>
          <a:xfrm>
            <a:off x="4937280" y="2926080"/>
            <a:ext cx="3246120" cy="205740"/>
          </a:xfrm>
          <a:prstGeom prst="rect">
            <a:avLst/>
          </a:prstGeom>
          <a:noFill/>
          <a:ln/>
        </p:spPr>
        <p:txBody>
          <a:bodyPr wrap="square" lIns="0" tIns="0" rIns="0" bIns="0" rtlCol="0" anchor="ctr">
            <a:normAutofit/>
          </a:bodyPr>
          <a:lstStyle/>
          <a:p>
            <a:pPr marL="0" indent="0" algn="ctr">
              <a:buNone/>
            </a:pPr>
            <a:r>
              <a:rPr lang="en-US" sz="900" b="0" i="0">
                <a:solidFill>
                  <a:srgbClr val="6B7280"/>
                </a:solidFill>
                <a:latin typeface="Georgia" pitchFamily="34" charset="0"/>
                <a:ea typeface="Georgia" pitchFamily="34" charset="-122"/>
                <a:cs typeface="Georgia" pitchFamily="34" charset="-120"/>
              </a:rPr>
              <a:t>probability</a:t>
            </a:r>
            <a:endParaRPr lang="en-US" sz="900"/>
          </a:p>
        </p:txBody>
      </p:sp>
      <p:sp>
        <p:nvSpPr>
          <p:cNvPr id="18" name="Text"/>
          <p:cNvSpPr/>
          <p:nvPr/>
        </p:nvSpPr>
        <p:spPr>
          <a:xfrm>
            <a:off x="4937280" y="3131820"/>
            <a:ext cx="3246120" cy="274320"/>
          </a:xfrm>
          <a:prstGeom prst="rect">
            <a:avLst/>
          </a:prstGeom>
          <a:noFill/>
          <a:ln/>
        </p:spPr>
        <p:txBody>
          <a:bodyPr wrap="square" lIns="0" tIns="0" rIns="0" bIns="0" rtlCol="0" anchor="ctr">
            <a:normAutofit/>
          </a:bodyPr>
          <a:lstStyle/>
          <a:p>
            <a:pPr marL="0" indent="0" algn="ctr">
              <a:buNone/>
            </a:pPr>
            <a:r>
              <a:rPr lang="en-US" sz="1200" b="0" i="0">
                <a:solidFill>
                  <a:srgbClr val="1A1A2E"/>
                </a:solidFill>
                <a:latin typeface="Georgia" pitchFamily="34" charset="0"/>
                <a:ea typeface="Georgia" pitchFamily="34" charset="-122"/>
                <a:cs typeface="Georgia" pitchFamily="34" charset="-120"/>
              </a:rPr>
              <a:t>⟨ψ| P₋ |ψ⟩  =  1/2</a:t>
            </a:r>
            <a:endParaRPr lang="en-US" sz="1200"/>
          </a:p>
        </p:txBody>
      </p:sp>
      <p:sp>
        <p:nvSpPr>
          <p:cNvPr id="19" name="Text"/>
          <p:cNvSpPr/>
          <p:nvPr/>
        </p:nvSpPr>
        <p:spPr>
          <a:xfrm>
            <a:off x="4937280" y="3429000"/>
            <a:ext cx="3246120" cy="205740"/>
          </a:xfrm>
          <a:prstGeom prst="rect">
            <a:avLst/>
          </a:prstGeom>
          <a:noFill/>
          <a:ln/>
        </p:spPr>
        <p:txBody>
          <a:bodyPr wrap="square" lIns="0" tIns="0" rIns="0" bIns="0" rtlCol="0" anchor="ctr">
            <a:normAutofit/>
          </a:bodyPr>
          <a:lstStyle/>
          <a:p>
            <a:pPr marL="0" indent="0" algn="ctr">
              <a:buNone/>
            </a:pPr>
            <a:r>
              <a:rPr lang="en-US" sz="900" b="0" i="0">
                <a:solidFill>
                  <a:srgbClr val="6B7280"/>
                </a:solidFill>
                <a:latin typeface="Georgia" pitchFamily="34" charset="0"/>
                <a:ea typeface="Georgia" pitchFamily="34" charset="-122"/>
                <a:cs typeface="Georgia" pitchFamily="34" charset="-120"/>
              </a:rPr>
              <a:t>state after measurement</a:t>
            </a:r>
            <a:endParaRPr lang="en-US" sz="900"/>
          </a:p>
        </p:txBody>
      </p:sp>
      <p:sp>
        <p:nvSpPr>
          <p:cNvPr id="20" name="Text"/>
          <p:cNvSpPr/>
          <p:nvPr/>
        </p:nvSpPr>
        <p:spPr>
          <a:xfrm>
            <a:off x="4937280" y="3611880"/>
            <a:ext cx="3246120" cy="274320"/>
          </a:xfrm>
          <a:prstGeom prst="rect">
            <a:avLst/>
          </a:prstGeom>
          <a:noFill/>
          <a:ln/>
        </p:spPr>
        <p:txBody>
          <a:bodyPr wrap="square" lIns="0" tIns="0" rIns="0" bIns="0" rtlCol="0" anchor="ctr">
            <a:normAutofit/>
          </a:bodyPr>
          <a:lstStyle/>
          <a:p>
            <a:pPr marL="0" indent="0" algn="ctr">
              <a:buNone/>
            </a:pPr>
            <a:r>
              <a:rPr lang="en-US" sz="1400" b="1" i="0">
                <a:solidFill>
                  <a:srgbClr val="C0392B"/>
                </a:solidFill>
                <a:latin typeface="Georgia" pitchFamily="34" charset="0"/>
                <a:ea typeface="Georgia" pitchFamily="34" charset="-122"/>
                <a:cs typeface="Georgia" pitchFamily="34" charset="-120"/>
              </a:rPr>
              <a:t>|01⟩</a:t>
            </a:r>
            <a:endParaRPr lang="en-US" sz="1400"/>
          </a:p>
        </p:txBody>
      </p:sp>
      <p:sp>
        <p:nvSpPr>
          <p:cNvPr id="21"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The measurement tells you whether the qubits agree — never which bit each one carries.</a:t>
            </a:r>
            <a:endParaRPr lang="en-US" sz="125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Why not just use the Bloch sphere?</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097280"/>
            <a:ext cx="3611880" cy="1600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960120" y="123444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3730A3"/>
                </a:solidFill>
                <a:latin typeface="Georgia" pitchFamily="34" charset="0"/>
                <a:ea typeface="Georgia" pitchFamily="34" charset="-122"/>
                <a:cs typeface="Georgia" pitchFamily="34" charset="-120"/>
              </a:rPr>
              <a:t>ONE QUBIT</a:t>
            </a:r>
            <a:endParaRPr lang="en-US" sz="1000"/>
          </a:p>
        </p:txBody>
      </p:sp>
      <p:sp>
        <p:nvSpPr>
          <p:cNvPr id="5" name="Text"/>
          <p:cNvSpPr/>
          <p:nvPr/>
        </p:nvSpPr>
        <p:spPr>
          <a:xfrm>
            <a:off x="960120" y="1554480"/>
            <a:ext cx="3246120" cy="457200"/>
          </a:xfrm>
          <a:prstGeom prst="rect">
            <a:avLst/>
          </a:prstGeom>
          <a:noFill/>
          <a:ln/>
        </p:spPr>
        <p:txBody>
          <a:bodyPr wrap="square" lIns="0" tIns="0" rIns="0" bIns="0" rtlCol="0" anchor="ctr">
            <a:normAutofit/>
          </a:bodyPr>
          <a:lstStyle/>
          <a:p>
            <a:pPr marL="0" indent="0" algn="ctr">
              <a:buNone/>
            </a:pPr>
            <a:r>
              <a:rPr lang="en-US" sz="1800" b="1" i="0">
                <a:solidFill>
                  <a:srgbClr val="3730A3"/>
                </a:solidFill>
                <a:latin typeface="Georgia" pitchFamily="34" charset="0"/>
                <a:ea typeface="Georgia" pitchFamily="34" charset="-122"/>
                <a:cs typeface="Georgia" pitchFamily="34" charset="-120"/>
              </a:rPr>
              <a:t>Bloch sphere  ✓</a:t>
            </a:r>
            <a:endParaRPr lang="en-US" sz="1800"/>
          </a:p>
        </p:txBody>
      </p:sp>
      <p:sp>
        <p:nvSpPr>
          <p:cNvPr id="6" name="Text"/>
          <p:cNvSpPr/>
          <p:nvPr/>
        </p:nvSpPr>
        <p:spPr>
          <a:xfrm>
            <a:off x="960120" y="2103120"/>
            <a:ext cx="3246120" cy="502920"/>
          </a:xfrm>
          <a:prstGeom prst="rect">
            <a:avLst/>
          </a:prstGeom>
          <a:noFill/>
          <a:ln/>
        </p:spPr>
        <p:txBody>
          <a:bodyPr wrap="square" lIns="0" tIns="0" rIns="0" bIns="0" rtlCol="0" anchor="t">
            <a:normAutofit/>
          </a:bodyPr>
          <a:lstStyle/>
          <a:p>
            <a:pPr marL="0" indent="0" algn="ctr">
              <a:buNone/>
            </a:pPr>
            <a:r>
              <a:rPr lang="en-US" sz="1200" b="0" i="0">
                <a:solidFill>
                  <a:srgbClr val="1A1A2E"/>
                </a:solidFill>
                <a:latin typeface="Georgia" pitchFamily="34" charset="0"/>
                <a:ea typeface="Georgia" pitchFamily="34" charset="-122"/>
                <a:cs typeface="Georgia" pitchFamily="34" charset="-120"/>
              </a:rPr>
              <a:t>Every pure state is a single point on the surface — the picture is complete.</a:t>
            </a:r>
            <a:endParaRPr lang="en-US" sz="1200"/>
          </a:p>
        </p:txBody>
      </p:sp>
      <p:sp>
        <p:nvSpPr>
          <p:cNvPr id="7" name="Card frame">
            <a:extLst>
              <a:ext uri="{C183D7F6-B498-43B3-948B-1728B52AA6E4}">
                <adec:decorative xmlns:adec="http://schemas.microsoft.com/office/drawing/2017/decorative" val="1"/>
              </a:ext>
            </a:extLst>
          </p:cNvPr>
          <p:cNvSpPr/>
          <p:nvPr/>
        </p:nvSpPr>
        <p:spPr>
          <a:xfrm>
            <a:off x="4754400" y="1097280"/>
            <a:ext cx="3611880" cy="160020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8" name="Text"/>
          <p:cNvSpPr/>
          <p:nvPr/>
        </p:nvSpPr>
        <p:spPr>
          <a:xfrm>
            <a:off x="4937280" y="123444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C0392B"/>
                </a:solidFill>
                <a:latin typeface="Georgia" pitchFamily="34" charset="0"/>
                <a:ea typeface="Georgia" pitchFamily="34" charset="-122"/>
                <a:cs typeface="Georgia" pitchFamily="34" charset="-120"/>
              </a:rPr>
              <a:t>n QUBITS</a:t>
            </a:r>
            <a:endParaRPr lang="en-US" sz="1000"/>
          </a:p>
        </p:txBody>
      </p:sp>
      <p:sp>
        <p:nvSpPr>
          <p:cNvPr id="9" name="Text"/>
          <p:cNvSpPr/>
          <p:nvPr/>
        </p:nvSpPr>
        <p:spPr>
          <a:xfrm>
            <a:off x="4937280" y="1554480"/>
            <a:ext cx="3246120" cy="457200"/>
          </a:xfrm>
          <a:prstGeom prst="rect">
            <a:avLst/>
          </a:prstGeom>
          <a:noFill/>
          <a:ln/>
        </p:spPr>
        <p:txBody>
          <a:bodyPr wrap="square" lIns="0" tIns="0" rIns="0" bIns="0" rtlCol="0" anchor="ctr">
            <a:normAutofit/>
          </a:bodyPr>
          <a:lstStyle/>
          <a:p>
            <a:pPr marL="0" indent="0" algn="ctr">
              <a:buNone/>
            </a:pPr>
            <a:r>
              <a:rPr lang="en-US" sz="1800" b="1" i="0">
                <a:solidFill>
                  <a:srgbClr val="C0392B"/>
                </a:solidFill>
                <a:latin typeface="Georgia" pitchFamily="34" charset="0"/>
                <a:ea typeface="Georgia" pitchFamily="34" charset="-122"/>
                <a:cs typeface="Georgia" pitchFamily="34" charset="-120"/>
              </a:rPr>
              <a:t>2ⁿ amplitudes</a:t>
            </a:r>
            <a:endParaRPr lang="en-US" sz="1800"/>
          </a:p>
        </p:txBody>
      </p:sp>
      <p:sp>
        <p:nvSpPr>
          <p:cNvPr id="10" name="Text"/>
          <p:cNvSpPr/>
          <p:nvPr/>
        </p:nvSpPr>
        <p:spPr>
          <a:xfrm>
            <a:off x="4937280" y="2103120"/>
            <a:ext cx="3246120" cy="502920"/>
          </a:xfrm>
          <a:prstGeom prst="rect">
            <a:avLst/>
          </a:prstGeom>
          <a:noFill/>
          <a:ln/>
        </p:spPr>
        <p:txBody>
          <a:bodyPr wrap="square" lIns="0" tIns="0" rIns="0" bIns="0" rtlCol="0" anchor="t">
            <a:normAutofit/>
          </a:bodyPr>
          <a:lstStyle/>
          <a:p>
            <a:pPr marL="0" indent="0" algn="ctr">
              <a:buNone/>
            </a:pPr>
            <a:r>
              <a:rPr lang="en-US" sz="1200" b="0" i="0">
                <a:solidFill>
                  <a:srgbClr val="1A1A2E"/>
                </a:solidFill>
                <a:latin typeface="Georgia" pitchFamily="34" charset="0"/>
                <a:ea typeface="Georgia" pitchFamily="34" charset="-122"/>
                <a:cs typeface="Georgia" pitchFamily="34" charset="-120"/>
              </a:rPr>
              <a:t>The state space outgrows any three-dimensional picture.</a:t>
            </a:r>
            <a:endParaRPr lang="en-US" sz="1200"/>
          </a:p>
        </p:txBody>
      </p:sp>
      <p:sp>
        <p:nvSpPr>
          <p:cNvPr id="11" name="Text"/>
          <p:cNvSpPr/>
          <p:nvPr/>
        </p:nvSpPr>
        <p:spPr>
          <a:xfrm>
            <a:off x="3931920" y="2743200"/>
            <a:ext cx="1280160" cy="274320"/>
          </a:xfrm>
          <a:prstGeom prst="rect">
            <a:avLst/>
          </a:prstGeom>
          <a:noFill/>
          <a:ln/>
        </p:spPr>
        <p:txBody>
          <a:bodyPr wrap="square" lIns="0" tIns="0" rIns="0" bIns="0" rtlCol="0" anchor="ctr">
            <a:normAutofit/>
          </a:bodyPr>
          <a:lstStyle/>
          <a:p>
            <a:pPr marL="0" indent="0" algn="ctr">
              <a:buNone/>
            </a:pPr>
            <a:r>
              <a:rPr lang="en-US" sz="1600" b="1" i="0">
                <a:solidFill>
                  <a:srgbClr val="3730A3"/>
                </a:solidFill>
                <a:latin typeface="Georgia" pitchFamily="34" charset="0"/>
                <a:ea typeface="Georgia" pitchFamily="34" charset="-122"/>
                <a:cs typeface="Georgia" pitchFamily="34" charset="-120"/>
              </a:rPr>
              <a:t>↓</a:t>
            </a:r>
            <a:endParaRPr lang="en-US" sz="1600"/>
          </a:p>
        </p:txBody>
      </p:sp>
      <p:sp>
        <p:nvSpPr>
          <p:cNvPr id="12" name="Card frame">
            <a:extLst>
              <a:ext uri="{C183D7F6-B498-43B3-948B-1728B52AA6E4}">
                <adec:decorative xmlns:adec="http://schemas.microsoft.com/office/drawing/2017/decorative" val="1"/>
              </a:ext>
            </a:extLst>
          </p:cNvPr>
          <p:cNvSpPr/>
          <p:nvPr/>
        </p:nvSpPr>
        <p:spPr>
          <a:xfrm>
            <a:off x="1600200" y="3063240"/>
            <a:ext cx="594360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3" name="Text"/>
          <p:cNvSpPr/>
          <p:nvPr/>
        </p:nvSpPr>
        <p:spPr>
          <a:xfrm>
            <a:off x="1783080" y="3063240"/>
            <a:ext cx="5577840" cy="731520"/>
          </a:xfrm>
          <a:prstGeom prst="rect">
            <a:avLst/>
          </a:prstGeom>
          <a:noFill/>
          <a:ln/>
        </p:spPr>
        <p:txBody>
          <a:bodyPr wrap="square" lIns="0" tIns="0" rIns="0" bIns="0" rtlCol="0" anchor="ctr">
            <a:normAutofit/>
          </a:bodyPr>
          <a:lstStyle/>
          <a:p>
            <a:pPr marL="0" indent="0" algn="ctr">
              <a:buNone/>
            </a:pPr>
            <a:r>
              <a:rPr lang="en-US" sz="1500" b="1" i="0">
                <a:solidFill>
                  <a:srgbClr val="3730A3"/>
                </a:solidFill>
                <a:latin typeface="Georgia" pitchFamily="34" charset="0"/>
                <a:ea typeface="Georgia" pitchFamily="34" charset="-122"/>
                <a:cs typeface="Georgia" pitchFamily="34" charset="-120"/>
              </a:rPr>
              <a:t>Q-sphere  =  a visualization aid, not the full state space</a:t>
            </a:r>
            <a:endParaRPr lang="en-US" sz="1500"/>
          </a:p>
        </p:txBody>
      </p:sp>
      <p:sp>
        <p:nvSpPr>
          <p:cNvPr id="14"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The Q-sphere shows selected features of a many-qubit state, not its complete geometry.</a:t>
            </a:r>
            <a:endParaRPr lang="en-US" sz="125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Anatomy of a Q-sphere</a:t>
            </a:r>
            <a:endParaRPr lang="en-US" sz="2500"/>
          </a:p>
        </p:txBody>
      </p:sp>
      <p:sp>
        <p:nvSpPr>
          <p:cNvPr id="3" name="Sphere outline">
            <a:extLst>
              <a:ext uri="{C183D7F6-B498-43B3-948B-1728B52AA6E4}">
                <adec:decorative xmlns:adec="http://schemas.microsoft.com/office/drawing/2017/decorative" val="1"/>
              </a:ext>
            </a:extLst>
          </p:cNvPr>
          <p:cNvSpPr/>
          <p:nvPr/>
        </p:nvSpPr>
        <p:spPr>
          <a:xfrm>
            <a:off x="868680" y="1280160"/>
            <a:ext cx="2560320" cy="2560320"/>
          </a:xfrm>
          <a:prstGeom prst="ellipse">
            <a:avLst/>
          </a:prstGeom>
          <a:solidFill>
            <a:srgbClr val="F4F5FB"/>
          </a:solidFill>
          <a:ln w="17780">
            <a:solidFill>
              <a:srgbClr val="3730A3"/>
            </a:solidFill>
            <a:prstDash val="solid"/>
          </a:ln>
        </p:spPr>
        <p:txBody>
          <a:bodyPr/>
          <a:lstStyle/>
          <a:p>
            <a:endParaRPr lang="en-US"/>
          </a:p>
        </p:txBody>
      </p:sp>
      <p:sp>
        <p:nvSpPr>
          <p:cNvPr id="4" name="Latitude">
            <a:extLst>
              <a:ext uri="{C183D7F6-B498-43B3-948B-1728B52AA6E4}">
                <adec:decorative xmlns:adec="http://schemas.microsoft.com/office/drawing/2017/decorative" val="1"/>
              </a:ext>
            </a:extLst>
          </p:cNvPr>
          <p:cNvSpPr/>
          <p:nvPr/>
        </p:nvSpPr>
        <p:spPr>
          <a:xfrm>
            <a:off x="1079695" y="1696212"/>
            <a:ext cx="2138288" cy="320040"/>
          </a:xfrm>
          <a:prstGeom prst="ellipse">
            <a:avLst/>
          </a:prstGeom>
          <a:noFill/>
          <a:ln w="9525">
            <a:solidFill>
              <a:srgbClr val="B9BEE8"/>
            </a:solidFill>
            <a:prstDash val="solid"/>
          </a:ln>
        </p:spPr>
        <p:txBody>
          <a:bodyPr/>
          <a:lstStyle/>
          <a:p>
            <a:endParaRPr lang="en-US"/>
          </a:p>
        </p:txBody>
      </p:sp>
      <p:sp>
        <p:nvSpPr>
          <p:cNvPr id="5" name="Latitude">
            <a:extLst>
              <a:ext uri="{C183D7F6-B498-43B3-948B-1728B52AA6E4}">
                <adec:decorative xmlns:adec="http://schemas.microsoft.com/office/drawing/2017/decorative" val="1"/>
              </a:ext>
            </a:extLst>
          </p:cNvPr>
          <p:cNvSpPr/>
          <p:nvPr/>
        </p:nvSpPr>
        <p:spPr>
          <a:xfrm>
            <a:off x="868680" y="2354580"/>
            <a:ext cx="2560320" cy="411480"/>
          </a:xfrm>
          <a:prstGeom prst="ellipse">
            <a:avLst/>
          </a:prstGeom>
          <a:noFill/>
          <a:ln w="9525">
            <a:solidFill>
              <a:srgbClr val="B9BEE8"/>
            </a:solidFill>
            <a:prstDash val="solid"/>
          </a:ln>
        </p:spPr>
        <p:txBody>
          <a:bodyPr/>
          <a:lstStyle/>
          <a:p>
            <a:endParaRPr lang="en-US"/>
          </a:p>
        </p:txBody>
      </p:sp>
      <p:sp>
        <p:nvSpPr>
          <p:cNvPr id="6" name="Latitude">
            <a:extLst>
              <a:ext uri="{C183D7F6-B498-43B3-948B-1728B52AA6E4}">
                <adec:decorative xmlns:adec="http://schemas.microsoft.com/office/drawing/2017/decorative" val="1"/>
              </a:ext>
            </a:extLst>
          </p:cNvPr>
          <p:cNvSpPr/>
          <p:nvPr/>
        </p:nvSpPr>
        <p:spPr>
          <a:xfrm>
            <a:off x="1079695" y="3104388"/>
            <a:ext cx="2138288" cy="320040"/>
          </a:xfrm>
          <a:prstGeom prst="ellipse">
            <a:avLst/>
          </a:prstGeom>
          <a:noFill/>
          <a:ln w="9525">
            <a:solidFill>
              <a:srgbClr val="B9BEE8"/>
            </a:solidFill>
            <a:prstDash val="solid"/>
          </a:ln>
        </p:spPr>
        <p:txBody>
          <a:bodyPr/>
          <a:lstStyle/>
          <a:p>
            <a:endParaRPr lang="en-US"/>
          </a:p>
        </p:txBody>
      </p:sp>
      <p:sp>
        <p:nvSpPr>
          <p:cNvPr id="7" name="Meridian">
            <a:extLst>
              <a:ext uri="{C183D7F6-B498-43B3-948B-1728B52AA6E4}">
                <adec:decorative xmlns:adec="http://schemas.microsoft.com/office/drawing/2017/decorative" val="1"/>
              </a:ext>
            </a:extLst>
          </p:cNvPr>
          <p:cNvSpPr/>
          <p:nvPr/>
        </p:nvSpPr>
        <p:spPr>
          <a:xfrm>
            <a:off x="1611172" y="1280160"/>
            <a:ext cx="1075334" cy="2560320"/>
          </a:xfrm>
          <a:prstGeom prst="ellipse">
            <a:avLst/>
          </a:prstGeom>
          <a:noFill/>
          <a:ln w="9525">
            <a:solidFill>
              <a:srgbClr val="B9BEE8"/>
            </a:solidFill>
            <a:prstDash val="solid"/>
          </a:ln>
        </p:spPr>
        <p:txBody>
          <a:bodyPr/>
          <a:lstStyle/>
          <a:p>
            <a:endParaRPr lang="en-US"/>
          </a:p>
        </p:txBody>
      </p:sp>
      <p:sp>
        <p:nvSpPr>
          <p:cNvPr id="8" name="Dot">
            <a:extLst>
              <a:ext uri="{C183D7F6-B498-43B3-948B-1728B52AA6E4}">
                <adec:decorative xmlns:adec="http://schemas.microsoft.com/office/drawing/2017/decorative" val="1"/>
              </a:ext>
            </a:extLst>
          </p:cNvPr>
          <p:cNvSpPr/>
          <p:nvPr/>
        </p:nvSpPr>
        <p:spPr>
          <a:xfrm>
            <a:off x="2057400" y="1188720"/>
            <a:ext cx="182880" cy="182880"/>
          </a:xfrm>
          <a:prstGeom prst="ellipse">
            <a:avLst/>
          </a:prstGeom>
          <a:solidFill>
            <a:srgbClr val="3730A3"/>
          </a:solidFill>
          <a:ln>
            <a:noFill/>
          </a:ln>
        </p:spPr>
        <p:txBody>
          <a:bodyPr/>
          <a:lstStyle/>
          <a:p>
            <a:endParaRPr lang="en-US"/>
          </a:p>
        </p:txBody>
      </p:sp>
      <p:sp>
        <p:nvSpPr>
          <p:cNvPr id="9" name="Dot">
            <a:extLst>
              <a:ext uri="{C183D7F6-B498-43B3-948B-1728B52AA6E4}">
                <adec:decorative xmlns:adec="http://schemas.microsoft.com/office/drawing/2017/decorative" val="1"/>
              </a:ext>
            </a:extLst>
          </p:cNvPr>
          <p:cNvSpPr/>
          <p:nvPr/>
        </p:nvSpPr>
        <p:spPr>
          <a:xfrm>
            <a:off x="2080260" y="3771900"/>
            <a:ext cx="137160" cy="137160"/>
          </a:xfrm>
          <a:prstGeom prst="ellipse">
            <a:avLst/>
          </a:prstGeom>
          <a:solidFill>
            <a:srgbClr val="C0392B"/>
          </a:solidFill>
          <a:ln>
            <a:noFill/>
          </a:ln>
        </p:spPr>
        <p:txBody>
          <a:bodyPr/>
          <a:lstStyle/>
          <a:p>
            <a:endParaRPr lang="en-US"/>
          </a:p>
        </p:txBody>
      </p:sp>
      <p:sp>
        <p:nvSpPr>
          <p:cNvPr id="10" name="Dot">
            <a:extLst>
              <a:ext uri="{C183D7F6-B498-43B3-948B-1728B52AA6E4}">
                <adec:decorative xmlns:adec="http://schemas.microsoft.com/office/drawing/2017/decorative" val="1"/>
              </a:ext>
            </a:extLst>
          </p:cNvPr>
          <p:cNvSpPr/>
          <p:nvPr/>
        </p:nvSpPr>
        <p:spPr>
          <a:xfrm>
            <a:off x="965395" y="1741932"/>
            <a:ext cx="228600" cy="228600"/>
          </a:xfrm>
          <a:prstGeom prst="ellipse">
            <a:avLst/>
          </a:prstGeom>
          <a:solidFill>
            <a:srgbClr val="3730A3"/>
          </a:solidFill>
          <a:ln>
            <a:noFill/>
          </a:ln>
        </p:spPr>
        <p:txBody>
          <a:bodyPr/>
          <a:lstStyle/>
          <a:p>
            <a:endParaRPr lang="en-US"/>
          </a:p>
        </p:txBody>
      </p:sp>
      <p:sp>
        <p:nvSpPr>
          <p:cNvPr id="11" name="Dot">
            <a:extLst>
              <a:ext uri="{C183D7F6-B498-43B3-948B-1728B52AA6E4}">
                <adec:decorative xmlns:adec="http://schemas.microsoft.com/office/drawing/2017/decorative" val="1"/>
              </a:ext>
            </a:extLst>
          </p:cNvPr>
          <p:cNvSpPr/>
          <p:nvPr/>
        </p:nvSpPr>
        <p:spPr>
          <a:xfrm>
            <a:off x="3137974" y="1776222"/>
            <a:ext cx="160020" cy="160020"/>
          </a:xfrm>
          <a:prstGeom prst="ellipse">
            <a:avLst/>
          </a:prstGeom>
          <a:solidFill>
            <a:srgbClr val="0F766E"/>
          </a:solidFill>
          <a:ln>
            <a:noFill/>
          </a:ln>
        </p:spPr>
        <p:txBody>
          <a:bodyPr/>
          <a:lstStyle/>
          <a:p>
            <a:endParaRPr lang="en-US"/>
          </a:p>
        </p:txBody>
      </p:sp>
      <p:sp>
        <p:nvSpPr>
          <p:cNvPr id="12" name="Dot">
            <a:extLst>
              <a:ext uri="{C183D7F6-B498-43B3-948B-1728B52AA6E4}">
                <adec:decorative xmlns:adec="http://schemas.microsoft.com/office/drawing/2017/decorative" val="1"/>
              </a:ext>
            </a:extLst>
          </p:cNvPr>
          <p:cNvSpPr/>
          <p:nvPr/>
        </p:nvSpPr>
        <p:spPr>
          <a:xfrm>
            <a:off x="731520" y="2423160"/>
            <a:ext cx="274320" cy="274320"/>
          </a:xfrm>
          <a:prstGeom prst="ellipse">
            <a:avLst/>
          </a:prstGeom>
          <a:solidFill>
            <a:srgbClr val="C0392B"/>
          </a:solidFill>
          <a:ln>
            <a:noFill/>
          </a:ln>
        </p:spPr>
        <p:txBody>
          <a:bodyPr/>
          <a:lstStyle/>
          <a:p>
            <a:endParaRPr lang="en-US"/>
          </a:p>
        </p:txBody>
      </p:sp>
      <p:sp>
        <p:nvSpPr>
          <p:cNvPr id="13" name="Dot">
            <a:extLst>
              <a:ext uri="{C183D7F6-B498-43B3-948B-1728B52AA6E4}">
                <adec:decorative xmlns:adec="http://schemas.microsoft.com/office/drawing/2017/decorative" val="1"/>
              </a:ext>
            </a:extLst>
          </p:cNvPr>
          <p:cNvSpPr/>
          <p:nvPr/>
        </p:nvSpPr>
        <p:spPr>
          <a:xfrm>
            <a:off x="3326130" y="2457450"/>
            <a:ext cx="205740" cy="205740"/>
          </a:xfrm>
          <a:prstGeom prst="ellipse">
            <a:avLst/>
          </a:prstGeom>
          <a:solidFill>
            <a:srgbClr val="0F766E"/>
          </a:solidFill>
          <a:ln>
            <a:noFill/>
          </a:ln>
        </p:spPr>
        <p:txBody>
          <a:bodyPr/>
          <a:lstStyle/>
          <a:p>
            <a:endParaRPr lang="en-US"/>
          </a:p>
        </p:txBody>
      </p:sp>
      <p:sp>
        <p:nvSpPr>
          <p:cNvPr id="14" name="Dot">
            <a:extLst>
              <a:ext uri="{C183D7F6-B498-43B3-948B-1728B52AA6E4}">
                <adec:decorative xmlns:adec="http://schemas.microsoft.com/office/drawing/2017/decorative" val="1"/>
              </a:ext>
            </a:extLst>
          </p:cNvPr>
          <p:cNvSpPr/>
          <p:nvPr/>
        </p:nvSpPr>
        <p:spPr>
          <a:xfrm>
            <a:off x="999685" y="3184398"/>
            <a:ext cx="160020" cy="160020"/>
          </a:xfrm>
          <a:prstGeom prst="ellipse">
            <a:avLst/>
          </a:prstGeom>
          <a:solidFill>
            <a:srgbClr val="3730A3"/>
          </a:solidFill>
          <a:ln>
            <a:noFill/>
          </a:ln>
        </p:spPr>
        <p:txBody>
          <a:bodyPr/>
          <a:lstStyle/>
          <a:p>
            <a:endParaRPr lang="en-US"/>
          </a:p>
        </p:txBody>
      </p:sp>
      <p:sp>
        <p:nvSpPr>
          <p:cNvPr id="15" name="Dot">
            <a:extLst>
              <a:ext uri="{C183D7F6-B498-43B3-948B-1728B52AA6E4}">
                <adec:decorative xmlns:adec="http://schemas.microsoft.com/office/drawing/2017/decorative" val="1"/>
              </a:ext>
            </a:extLst>
          </p:cNvPr>
          <p:cNvSpPr/>
          <p:nvPr/>
        </p:nvSpPr>
        <p:spPr>
          <a:xfrm>
            <a:off x="3103684" y="3150108"/>
            <a:ext cx="228600" cy="228600"/>
          </a:xfrm>
          <a:prstGeom prst="ellipse">
            <a:avLst/>
          </a:prstGeom>
          <a:solidFill>
            <a:srgbClr val="C0392B"/>
          </a:solidFill>
          <a:ln>
            <a:noFill/>
          </a:ln>
        </p:spPr>
        <p:txBody>
          <a:bodyPr/>
          <a:lstStyle/>
          <a:p>
            <a:endParaRPr lang="en-US"/>
          </a:p>
        </p:txBody>
      </p:sp>
      <p:sp>
        <p:nvSpPr>
          <p:cNvPr id="16" name="Card frame">
            <a:extLst>
              <a:ext uri="{C183D7F6-B498-43B3-948B-1728B52AA6E4}">
                <adec:decorative xmlns:adec="http://schemas.microsoft.com/office/drawing/2017/decorative" val="1"/>
              </a:ext>
            </a:extLst>
          </p:cNvPr>
          <p:cNvSpPr/>
          <p:nvPr/>
        </p:nvSpPr>
        <p:spPr>
          <a:xfrm>
            <a:off x="3931920" y="1417320"/>
            <a:ext cx="4572000" cy="82296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7" name="Text"/>
          <p:cNvSpPr/>
          <p:nvPr/>
        </p:nvSpPr>
        <p:spPr>
          <a:xfrm>
            <a:off x="4114800" y="1531620"/>
            <a:ext cx="4206240" cy="320040"/>
          </a:xfrm>
          <a:prstGeom prst="rect">
            <a:avLst/>
          </a:prstGeom>
          <a:noFill/>
          <a:ln/>
        </p:spPr>
        <p:txBody>
          <a:bodyPr wrap="square" lIns="0" tIns="0" rIns="0" bIns="0" rtlCol="0" anchor="ctr">
            <a:normAutofit/>
          </a:bodyPr>
          <a:lstStyle/>
          <a:p>
            <a:pPr marL="0" indent="0" algn="l">
              <a:buNone/>
            </a:pPr>
            <a:r>
              <a:rPr lang="en-US" sz="1400" b="1" i="0">
                <a:solidFill>
                  <a:srgbClr val="3730A3"/>
                </a:solidFill>
                <a:latin typeface="Georgia" pitchFamily="34" charset="0"/>
                <a:ea typeface="Georgia" pitchFamily="34" charset="-122"/>
                <a:cs typeface="Georgia" pitchFamily="34" charset="-120"/>
              </a:rPr>
              <a:t>Latitude  →  Hamming weight</a:t>
            </a:r>
            <a:endParaRPr lang="en-US" sz="1400"/>
          </a:p>
        </p:txBody>
      </p:sp>
      <p:sp>
        <p:nvSpPr>
          <p:cNvPr id="18" name="Text"/>
          <p:cNvSpPr/>
          <p:nvPr/>
        </p:nvSpPr>
        <p:spPr>
          <a:xfrm>
            <a:off x="4114800" y="1874520"/>
            <a:ext cx="4206240" cy="274320"/>
          </a:xfrm>
          <a:prstGeom prst="rect">
            <a:avLst/>
          </a:prstGeom>
          <a:noFill/>
          <a:ln/>
        </p:spPr>
        <p:txBody>
          <a:bodyPr wrap="square" lIns="0" tIns="0" rIns="0" bIns="0" rtlCol="0" anchor="ctr">
            <a:normAutofit/>
          </a:bodyPr>
          <a:lstStyle/>
          <a:p>
            <a:pPr marL="0" indent="0" algn="l">
              <a:buNone/>
            </a:pPr>
            <a:r>
              <a:rPr lang="en-US" sz="1100" b="0" i="0">
                <a:solidFill>
                  <a:srgbClr val="1A1A2E"/>
                </a:solidFill>
                <a:latin typeface="Georgia" pitchFamily="34" charset="0"/>
                <a:ea typeface="Georgia" pitchFamily="34" charset="-122"/>
                <a:cs typeface="Georgia" pitchFamily="34" charset="-120"/>
              </a:rPr>
              <a:t>how many 1s the basis state contains</a:t>
            </a:r>
            <a:endParaRPr lang="en-US" sz="1100"/>
          </a:p>
        </p:txBody>
      </p:sp>
      <p:sp>
        <p:nvSpPr>
          <p:cNvPr id="19" name="Card frame">
            <a:extLst>
              <a:ext uri="{C183D7F6-B498-43B3-948B-1728B52AA6E4}">
                <adec:decorative xmlns:adec="http://schemas.microsoft.com/office/drawing/2017/decorative" val="1"/>
              </a:ext>
            </a:extLst>
          </p:cNvPr>
          <p:cNvSpPr/>
          <p:nvPr/>
        </p:nvSpPr>
        <p:spPr>
          <a:xfrm>
            <a:off x="3931920" y="2377440"/>
            <a:ext cx="4572000" cy="82296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20" name="Text"/>
          <p:cNvSpPr/>
          <p:nvPr/>
        </p:nvSpPr>
        <p:spPr>
          <a:xfrm>
            <a:off x="4114800" y="2491740"/>
            <a:ext cx="4206240" cy="320040"/>
          </a:xfrm>
          <a:prstGeom prst="rect">
            <a:avLst/>
          </a:prstGeom>
          <a:noFill/>
          <a:ln/>
        </p:spPr>
        <p:txBody>
          <a:bodyPr wrap="square" lIns="0" tIns="0" rIns="0" bIns="0" rtlCol="0" anchor="ctr">
            <a:normAutofit/>
          </a:bodyPr>
          <a:lstStyle/>
          <a:p>
            <a:pPr marL="0" indent="0" algn="l">
              <a:buNone/>
            </a:pPr>
            <a:r>
              <a:rPr lang="en-US" sz="1400" b="1" i="0">
                <a:solidFill>
                  <a:srgbClr val="3730A3"/>
                </a:solidFill>
                <a:latin typeface="Georgia" pitchFamily="34" charset="0"/>
                <a:ea typeface="Georgia" pitchFamily="34" charset="-122"/>
                <a:cs typeface="Georgia" pitchFamily="34" charset="-120"/>
              </a:rPr>
              <a:t>Dot size  →  |aₓ|²</a:t>
            </a:r>
            <a:endParaRPr lang="en-US" sz="1400"/>
          </a:p>
        </p:txBody>
      </p:sp>
      <p:sp>
        <p:nvSpPr>
          <p:cNvPr id="21" name="Text"/>
          <p:cNvSpPr/>
          <p:nvPr/>
        </p:nvSpPr>
        <p:spPr>
          <a:xfrm>
            <a:off x="4114800" y="2834640"/>
            <a:ext cx="4206240" cy="274320"/>
          </a:xfrm>
          <a:prstGeom prst="rect">
            <a:avLst/>
          </a:prstGeom>
          <a:noFill/>
          <a:ln/>
        </p:spPr>
        <p:txBody>
          <a:bodyPr wrap="square" lIns="0" tIns="0" rIns="0" bIns="0" rtlCol="0" anchor="ctr">
            <a:normAutofit/>
          </a:bodyPr>
          <a:lstStyle/>
          <a:p>
            <a:pPr marL="0" indent="0" algn="l">
              <a:buNone/>
            </a:pPr>
            <a:r>
              <a:rPr lang="en-US" sz="1100" b="0" i="0">
                <a:solidFill>
                  <a:srgbClr val="1A1A2E"/>
                </a:solidFill>
                <a:latin typeface="Georgia" pitchFamily="34" charset="0"/>
                <a:ea typeface="Georgia" pitchFamily="34" charset="-122"/>
                <a:cs typeface="Georgia" pitchFamily="34" charset="-120"/>
              </a:rPr>
              <a:t>the probability of that basis state</a:t>
            </a:r>
            <a:endParaRPr lang="en-US" sz="1100"/>
          </a:p>
        </p:txBody>
      </p:sp>
      <p:sp>
        <p:nvSpPr>
          <p:cNvPr id="22" name="Card frame">
            <a:extLst>
              <a:ext uri="{C183D7F6-B498-43B3-948B-1728B52AA6E4}">
                <adec:decorative xmlns:adec="http://schemas.microsoft.com/office/drawing/2017/decorative" val="1"/>
              </a:ext>
            </a:extLst>
          </p:cNvPr>
          <p:cNvSpPr/>
          <p:nvPr/>
        </p:nvSpPr>
        <p:spPr>
          <a:xfrm>
            <a:off x="3931920" y="3337560"/>
            <a:ext cx="4572000" cy="82296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23" name="Text"/>
          <p:cNvSpPr/>
          <p:nvPr/>
        </p:nvSpPr>
        <p:spPr>
          <a:xfrm>
            <a:off x="4114800" y="3451860"/>
            <a:ext cx="4206240" cy="320040"/>
          </a:xfrm>
          <a:prstGeom prst="rect">
            <a:avLst/>
          </a:prstGeom>
          <a:noFill/>
          <a:ln/>
        </p:spPr>
        <p:txBody>
          <a:bodyPr wrap="square" lIns="0" tIns="0" rIns="0" bIns="0" rtlCol="0" anchor="ctr">
            <a:normAutofit/>
          </a:bodyPr>
          <a:lstStyle/>
          <a:p>
            <a:pPr marL="0" indent="0" algn="l">
              <a:buNone/>
            </a:pPr>
            <a:r>
              <a:rPr lang="en-US" sz="1400" b="1" i="0">
                <a:solidFill>
                  <a:srgbClr val="3730A3"/>
                </a:solidFill>
                <a:latin typeface="Georgia" pitchFamily="34" charset="0"/>
                <a:ea typeface="Georgia" pitchFamily="34" charset="-122"/>
                <a:cs typeface="Georgia" pitchFamily="34" charset="-120"/>
              </a:rPr>
              <a:t>Dot colour  →  arg(aₓ)</a:t>
            </a:r>
            <a:endParaRPr lang="en-US" sz="1400"/>
          </a:p>
        </p:txBody>
      </p:sp>
      <p:sp>
        <p:nvSpPr>
          <p:cNvPr id="24" name="Text"/>
          <p:cNvSpPr/>
          <p:nvPr/>
        </p:nvSpPr>
        <p:spPr>
          <a:xfrm>
            <a:off x="4114800" y="3794760"/>
            <a:ext cx="4206240" cy="274320"/>
          </a:xfrm>
          <a:prstGeom prst="rect">
            <a:avLst/>
          </a:prstGeom>
          <a:noFill/>
          <a:ln/>
        </p:spPr>
        <p:txBody>
          <a:bodyPr wrap="square" lIns="0" tIns="0" rIns="0" bIns="0" rtlCol="0" anchor="ctr">
            <a:normAutofit/>
          </a:bodyPr>
          <a:lstStyle/>
          <a:p>
            <a:pPr marL="0" indent="0" algn="l">
              <a:buNone/>
            </a:pPr>
            <a:r>
              <a:rPr lang="en-US" sz="1100" b="0" i="0">
                <a:solidFill>
                  <a:srgbClr val="1A1A2E"/>
                </a:solidFill>
                <a:latin typeface="Georgia" pitchFamily="34" charset="0"/>
                <a:ea typeface="Georgia" pitchFamily="34" charset="-122"/>
                <a:cs typeface="Georgia" pitchFamily="34" charset="-120"/>
              </a:rPr>
              <a:t>the phase of that amplitude</a:t>
            </a:r>
            <a:endParaRPr lang="en-US" sz="1100"/>
          </a:p>
        </p:txBody>
      </p:sp>
      <p:sp>
        <p:nvSpPr>
          <p:cNvPr id="25"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Position, size, and colour each carry one piece of the state — read all three together.</a:t>
            </a:r>
            <a:endParaRPr lang="en-US" sz="125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Read a Q-sphere</a:t>
            </a:r>
            <a:endParaRPr lang="en-US" sz="2500"/>
          </a:p>
        </p:txBody>
      </p:sp>
      <p:sp>
        <p:nvSpPr>
          <p:cNvPr id="3" name="Sphere outline">
            <a:extLst>
              <a:ext uri="{C183D7F6-B498-43B3-948B-1728B52AA6E4}">
                <adec:decorative xmlns:adec="http://schemas.microsoft.com/office/drawing/2017/decorative" val="1"/>
              </a:ext>
            </a:extLst>
          </p:cNvPr>
          <p:cNvSpPr/>
          <p:nvPr/>
        </p:nvSpPr>
        <p:spPr>
          <a:xfrm>
            <a:off x="1280160" y="1645920"/>
            <a:ext cx="1828800" cy="1828800"/>
          </a:xfrm>
          <a:prstGeom prst="ellipse">
            <a:avLst/>
          </a:prstGeom>
          <a:solidFill>
            <a:srgbClr val="F4F5FB"/>
          </a:solidFill>
          <a:ln w="17780">
            <a:solidFill>
              <a:srgbClr val="3730A3"/>
            </a:solidFill>
            <a:prstDash val="solid"/>
          </a:ln>
        </p:spPr>
        <p:txBody>
          <a:bodyPr/>
          <a:lstStyle/>
          <a:p>
            <a:endParaRPr lang="en-US"/>
          </a:p>
        </p:txBody>
      </p:sp>
      <p:sp>
        <p:nvSpPr>
          <p:cNvPr id="4" name="Latitude">
            <a:extLst>
              <a:ext uri="{C183D7F6-B498-43B3-948B-1728B52AA6E4}">
                <adec:decorative xmlns:adec="http://schemas.microsoft.com/office/drawing/2017/decorative" val="1"/>
              </a:ext>
            </a:extLst>
          </p:cNvPr>
          <p:cNvSpPr/>
          <p:nvPr/>
        </p:nvSpPr>
        <p:spPr>
          <a:xfrm>
            <a:off x="1332455" y="2118360"/>
            <a:ext cx="1724209" cy="274320"/>
          </a:xfrm>
          <a:prstGeom prst="ellipse">
            <a:avLst/>
          </a:prstGeom>
          <a:noFill/>
          <a:ln w="9525">
            <a:solidFill>
              <a:srgbClr val="B9BEE8"/>
            </a:solidFill>
            <a:prstDash val="solid"/>
          </a:ln>
        </p:spPr>
        <p:txBody>
          <a:bodyPr/>
          <a:lstStyle/>
          <a:p>
            <a:endParaRPr lang="en-US"/>
          </a:p>
        </p:txBody>
      </p:sp>
      <p:sp>
        <p:nvSpPr>
          <p:cNvPr id="5" name="Latitude">
            <a:extLst>
              <a:ext uri="{C183D7F6-B498-43B3-948B-1728B52AA6E4}">
                <adec:decorative xmlns:adec="http://schemas.microsoft.com/office/drawing/2017/decorative" val="1"/>
              </a:ext>
            </a:extLst>
          </p:cNvPr>
          <p:cNvSpPr/>
          <p:nvPr/>
        </p:nvSpPr>
        <p:spPr>
          <a:xfrm>
            <a:off x="1332455" y="2727960"/>
            <a:ext cx="1724209" cy="274320"/>
          </a:xfrm>
          <a:prstGeom prst="ellipse">
            <a:avLst/>
          </a:prstGeom>
          <a:noFill/>
          <a:ln w="9525">
            <a:solidFill>
              <a:srgbClr val="B9BEE8"/>
            </a:solidFill>
            <a:prstDash val="solid"/>
          </a:ln>
        </p:spPr>
        <p:txBody>
          <a:bodyPr/>
          <a:lstStyle/>
          <a:p>
            <a:endParaRPr lang="en-US"/>
          </a:p>
        </p:txBody>
      </p:sp>
      <p:sp>
        <p:nvSpPr>
          <p:cNvPr id="6" name="Dot">
            <a:extLst>
              <a:ext uri="{C183D7F6-B498-43B3-948B-1728B52AA6E4}">
                <adec:decorative xmlns:adec="http://schemas.microsoft.com/office/drawing/2017/decorative" val="1"/>
              </a:ext>
            </a:extLst>
          </p:cNvPr>
          <p:cNvSpPr/>
          <p:nvPr/>
        </p:nvSpPr>
        <p:spPr>
          <a:xfrm>
            <a:off x="2114550" y="1565910"/>
            <a:ext cx="160020" cy="160020"/>
          </a:xfrm>
          <a:prstGeom prst="ellipse">
            <a:avLst/>
          </a:prstGeom>
          <a:solidFill>
            <a:srgbClr val="3730A3"/>
          </a:solidFill>
          <a:ln>
            <a:noFill/>
          </a:ln>
        </p:spPr>
        <p:txBody>
          <a:bodyPr/>
          <a:lstStyle/>
          <a:p>
            <a:endParaRPr lang="en-US"/>
          </a:p>
        </p:txBody>
      </p:sp>
      <p:sp>
        <p:nvSpPr>
          <p:cNvPr id="7" name="Text"/>
          <p:cNvSpPr/>
          <p:nvPr/>
        </p:nvSpPr>
        <p:spPr>
          <a:xfrm>
            <a:off x="1737360" y="1325880"/>
            <a:ext cx="914400" cy="228600"/>
          </a:xfrm>
          <a:prstGeom prst="rect">
            <a:avLst/>
          </a:prstGeom>
          <a:noFill/>
          <a:ln/>
        </p:spPr>
        <p:txBody>
          <a:bodyPr wrap="square" lIns="0" tIns="0" rIns="0" bIns="0" rtlCol="0" anchor="ctr">
            <a:normAutofit/>
          </a:bodyPr>
          <a:lstStyle/>
          <a:p>
            <a:pPr marL="0" indent="0" algn="ctr">
              <a:buNone/>
            </a:pPr>
            <a:r>
              <a:rPr lang="en-US" sz="850" b="0" i="0">
                <a:solidFill>
                  <a:srgbClr val="1A1A2E"/>
                </a:solidFill>
                <a:latin typeface="Georgia" pitchFamily="34" charset="0"/>
                <a:ea typeface="Georgia" pitchFamily="34" charset="-122"/>
                <a:cs typeface="Georgia" pitchFamily="34" charset="-120"/>
              </a:rPr>
              <a:t>|000⟩</a:t>
            </a:r>
            <a:endParaRPr lang="en-US" sz="850"/>
          </a:p>
        </p:txBody>
      </p:sp>
      <p:sp>
        <p:nvSpPr>
          <p:cNvPr id="8" name="Dot">
            <a:extLst>
              <a:ext uri="{C183D7F6-B498-43B3-948B-1728B52AA6E4}">
                <adec:decorative xmlns:adec="http://schemas.microsoft.com/office/drawing/2017/decorative" val="1"/>
              </a:ext>
            </a:extLst>
          </p:cNvPr>
          <p:cNvSpPr/>
          <p:nvPr/>
        </p:nvSpPr>
        <p:spPr>
          <a:xfrm>
            <a:off x="1315990" y="2118360"/>
            <a:ext cx="274320" cy="274320"/>
          </a:xfrm>
          <a:prstGeom prst="ellipse">
            <a:avLst/>
          </a:prstGeom>
          <a:solidFill>
            <a:srgbClr val="3730A3"/>
          </a:solidFill>
          <a:ln>
            <a:noFill/>
          </a:ln>
        </p:spPr>
        <p:txBody>
          <a:bodyPr/>
          <a:lstStyle/>
          <a:p>
            <a:endParaRPr lang="en-US"/>
          </a:p>
        </p:txBody>
      </p:sp>
      <p:sp>
        <p:nvSpPr>
          <p:cNvPr id="9" name="Text"/>
          <p:cNvSpPr/>
          <p:nvPr/>
        </p:nvSpPr>
        <p:spPr>
          <a:xfrm>
            <a:off x="457200" y="2141220"/>
            <a:ext cx="685800" cy="228600"/>
          </a:xfrm>
          <a:prstGeom prst="rect">
            <a:avLst/>
          </a:prstGeom>
          <a:noFill/>
          <a:ln/>
        </p:spPr>
        <p:txBody>
          <a:bodyPr wrap="square" lIns="0" tIns="0" rIns="0" bIns="0" rtlCol="0" anchor="ctr">
            <a:normAutofit/>
          </a:bodyPr>
          <a:lstStyle/>
          <a:p>
            <a:pPr marL="0" indent="0" algn="r">
              <a:buNone/>
            </a:pPr>
            <a:r>
              <a:rPr lang="en-US" sz="850" b="0" i="0">
                <a:solidFill>
                  <a:srgbClr val="1A1A2E"/>
                </a:solidFill>
                <a:latin typeface="Georgia" pitchFamily="34" charset="0"/>
                <a:ea typeface="Georgia" pitchFamily="34" charset="-122"/>
                <a:cs typeface="Georgia" pitchFamily="34" charset="-120"/>
              </a:rPr>
              <a:t>|001⟩</a:t>
            </a:r>
            <a:endParaRPr lang="en-US" sz="850"/>
          </a:p>
        </p:txBody>
      </p:sp>
      <p:sp>
        <p:nvSpPr>
          <p:cNvPr id="10" name="Dot">
            <a:extLst>
              <a:ext uri="{C183D7F6-B498-43B3-948B-1728B52AA6E4}">
                <adec:decorative xmlns:adec="http://schemas.microsoft.com/office/drawing/2017/decorative" val="1"/>
              </a:ext>
            </a:extLst>
          </p:cNvPr>
          <p:cNvSpPr/>
          <p:nvPr/>
        </p:nvSpPr>
        <p:spPr>
          <a:xfrm>
            <a:off x="2844529" y="2164080"/>
            <a:ext cx="182880" cy="182880"/>
          </a:xfrm>
          <a:prstGeom prst="ellipse">
            <a:avLst/>
          </a:prstGeom>
          <a:solidFill>
            <a:srgbClr val="3730A3"/>
          </a:solidFill>
          <a:ln>
            <a:noFill/>
          </a:ln>
        </p:spPr>
        <p:txBody>
          <a:bodyPr/>
          <a:lstStyle/>
          <a:p>
            <a:endParaRPr lang="en-US"/>
          </a:p>
        </p:txBody>
      </p:sp>
      <p:sp>
        <p:nvSpPr>
          <p:cNvPr id="11" name="Text"/>
          <p:cNvSpPr/>
          <p:nvPr/>
        </p:nvSpPr>
        <p:spPr>
          <a:xfrm>
            <a:off x="3246120" y="2141220"/>
            <a:ext cx="640080" cy="228600"/>
          </a:xfrm>
          <a:prstGeom prst="rect">
            <a:avLst/>
          </a:prstGeom>
          <a:noFill/>
          <a:ln/>
        </p:spPr>
        <p:txBody>
          <a:bodyPr wrap="square" lIns="0" tIns="0" rIns="0" bIns="0" rtlCol="0" anchor="ctr">
            <a:normAutofit/>
          </a:bodyPr>
          <a:lstStyle/>
          <a:p>
            <a:pPr marL="0" indent="0" algn="l">
              <a:buNone/>
            </a:pPr>
            <a:r>
              <a:rPr lang="en-US" sz="850" b="0" i="0">
                <a:solidFill>
                  <a:srgbClr val="1A1A2E"/>
                </a:solidFill>
                <a:latin typeface="Georgia" pitchFamily="34" charset="0"/>
                <a:ea typeface="Georgia" pitchFamily="34" charset="-122"/>
                <a:cs typeface="Georgia" pitchFamily="34" charset="-120"/>
              </a:rPr>
              <a:t>|100⟩</a:t>
            </a:r>
            <a:endParaRPr lang="en-US" sz="850"/>
          </a:p>
        </p:txBody>
      </p:sp>
      <p:sp>
        <p:nvSpPr>
          <p:cNvPr id="12" name="Dot">
            <a:extLst>
              <a:ext uri="{C183D7F6-B498-43B3-948B-1728B52AA6E4}">
                <adec:decorative xmlns:adec="http://schemas.microsoft.com/office/drawing/2017/decorative" val="1"/>
              </a:ext>
            </a:extLst>
          </p:cNvPr>
          <p:cNvSpPr/>
          <p:nvPr/>
        </p:nvSpPr>
        <p:spPr>
          <a:xfrm>
            <a:off x="1384570" y="2796540"/>
            <a:ext cx="137160" cy="137160"/>
          </a:xfrm>
          <a:prstGeom prst="ellipse">
            <a:avLst/>
          </a:prstGeom>
          <a:solidFill>
            <a:srgbClr val="C0392B"/>
          </a:solidFill>
          <a:ln>
            <a:noFill/>
          </a:ln>
        </p:spPr>
        <p:txBody>
          <a:bodyPr/>
          <a:lstStyle/>
          <a:p>
            <a:endParaRPr lang="en-US"/>
          </a:p>
        </p:txBody>
      </p:sp>
      <p:sp>
        <p:nvSpPr>
          <p:cNvPr id="13" name="Text"/>
          <p:cNvSpPr/>
          <p:nvPr/>
        </p:nvSpPr>
        <p:spPr>
          <a:xfrm>
            <a:off x="457200" y="2750820"/>
            <a:ext cx="685800" cy="228600"/>
          </a:xfrm>
          <a:prstGeom prst="rect">
            <a:avLst/>
          </a:prstGeom>
          <a:noFill/>
          <a:ln/>
        </p:spPr>
        <p:txBody>
          <a:bodyPr wrap="square" lIns="0" tIns="0" rIns="0" bIns="0" rtlCol="0" anchor="ctr">
            <a:normAutofit/>
          </a:bodyPr>
          <a:lstStyle/>
          <a:p>
            <a:pPr marL="0" indent="0" algn="r">
              <a:buNone/>
            </a:pPr>
            <a:r>
              <a:rPr lang="en-US" sz="850" b="0" i="0">
                <a:solidFill>
                  <a:srgbClr val="1A1A2E"/>
                </a:solidFill>
                <a:latin typeface="Georgia" pitchFamily="34" charset="0"/>
                <a:ea typeface="Georgia" pitchFamily="34" charset="-122"/>
                <a:cs typeface="Georgia" pitchFamily="34" charset="-120"/>
              </a:rPr>
              <a:t>|011⟩</a:t>
            </a:r>
            <a:endParaRPr lang="en-US" sz="850"/>
          </a:p>
        </p:txBody>
      </p:sp>
      <p:sp>
        <p:nvSpPr>
          <p:cNvPr id="14" name="Dot">
            <a:extLst>
              <a:ext uri="{C183D7F6-B498-43B3-948B-1728B52AA6E4}">
                <adec:decorative xmlns:adec="http://schemas.microsoft.com/office/drawing/2017/decorative" val="1"/>
              </a:ext>
            </a:extLst>
          </p:cNvPr>
          <p:cNvSpPr/>
          <p:nvPr/>
        </p:nvSpPr>
        <p:spPr>
          <a:xfrm>
            <a:off x="2867389" y="2796540"/>
            <a:ext cx="137160" cy="137160"/>
          </a:xfrm>
          <a:prstGeom prst="ellipse">
            <a:avLst/>
          </a:prstGeom>
          <a:solidFill>
            <a:srgbClr val="C0392B"/>
          </a:solidFill>
          <a:ln>
            <a:noFill/>
          </a:ln>
        </p:spPr>
        <p:txBody>
          <a:bodyPr/>
          <a:lstStyle/>
          <a:p>
            <a:endParaRPr lang="en-US"/>
          </a:p>
        </p:txBody>
      </p:sp>
      <p:sp>
        <p:nvSpPr>
          <p:cNvPr id="15" name="Text"/>
          <p:cNvSpPr/>
          <p:nvPr/>
        </p:nvSpPr>
        <p:spPr>
          <a:xfrm>
            <a:off x="3246120" y="2750820"/>
            <a:ext cx="640080" cy="228600"/>
          </a:xfrm>
          <a:prstGeom prst="rect">
            <a:avLst/>
          </a:prstGeom>
          <a:noFill/>
          <a:ln/>
        </p:spPr>
        <p:txBody>
          <a:bodyPr wrap="square" lIns="0" tIns="0" rIns="0" bIns="0" rtlCol="0" anchor="ctr">
            <a:normAutofit/>
          </a:bodyPr>
          <a:lstStyle/>
          <a:p>
            <a:pPr marL="0" indent="0" algn="l">
              <a:buNone/>
            </a:pPr>
            <a:r>
              <a:rPr lang="en-US" sz="850" b="0" i="0">
                <a:solidFill>
                  <a:srgbClr val="1A1A2E"/>
                </a:solidFill>
                <a:latin typeface="Georgia" pitchFamily="34" charset="0"/>
                <a:ea typeface="Georgia" pitchFamily="34" charset="-122"/>
                <a:cs typeface="Georgia" pitchFamily="34" charset="-120"/>
              </a:rPr>
              <a:t>|101⟩</a:t>
            </a:r>
            <a:endParaRPr lang="en-US" sz="850"/>
          </a:p>
        </p:txBody>
      </p:sp>
      <p:sp>
        <p:nvSpPr>
          <p:cNvPr id="16" name="Dot">
            <a:extLst>
              <a:ext uri="{C183D7F6-B498-43B3-948B-1728B52AA6E4}">
                <adec:decorative xmlns:adec="http://schemas.microsoft.com/office/drawing/2017/decorative" val="1"/>
              </a:ext>
            </a:extLst>
          </p:cNvPr>
          <p:cNvSpPr/>
          <p:nvPr/>
        </p:nvSpPr>
        <p:spPr>
          <a:xfrm>
            <a:off x="2114550" y="3394710"/>
            <a:ext cx="160020" cy="160020"/>
          </a:xfrm>
          <a:prstGeom prst="ellipse">
            <a:avLst/>
          </a:prstGeom>
          <a:solidFill>
            <a:srgbClr val="0F766E"/>
          </a:solidFill>
          <a:ln>
            <a:noFill/>
          </a:ln>
        </p:spPr>
        <p:txBody>
          <a:bodyPr/>
          <a:lstStyle/>
          <a:p>
            <a:endParaRPr lang="en-US"/>
          </a:p>
        </p:txBody>
      </p:sp>
      <p:sp>
        <p:nvSpPr>
          <p:cNvPr id="17" name="Text"/>
          <p:cNvSpPr/>
          <p:nvPr/>
        </p:nvSpPr>
        <p:spPr>
          <a:xfrm>
            <a:off x="1737360" y="3566160"/>
            <a:ext cx="914400" cy="228600"/>
          </a:xfrm>
          <a:prstGeom prst="rect">
            <a:avLst/>
          </a:prstGeom>
          <a:noFill/>
          <a:ln/>
        </p:spPr>
        <p:txBody>
          <a:bodyPr wrap="square" lIns="0" tIns="0" rIns="0" bIns="0" rtlCol="0" anchor="ctr">
            <a:normAutofit/>
          </a:bodyPr>
          <a:lstStyle/>
          <a:p>
            <a:pPr marL="0" indent="0" algn="ctr">
              <a:buNone/>
            </a:pPr>
            <a:r>
              <a:rPr lang="en-US" sz="850" b="0" i="0">
                <a:solidFill>
                  <a:srgbClr val="1A1A2E"/>
                </a:solidFill>
                <a:latin typeface="Georgia" pitchFamily="34" charset="0"/>
                <a:ea typeface="Georgia" pitchFamily="34" charset="-122"/>
                <a:cs typeface="Georgia" pitchFamily="34" charset="-120"/>
              </a:rPr>
              <a:t>|111⟩</a:t>
            </a:r>
            <a:endParaRPr lang="en-US" sz="850"/>
          </a:p>
        </p:txBody>
      </p:sp>
      <p:sp>
        <p:nvSpPr>
          <p:cNvPr id="18" name="Card frame">
            <a:extLst>
              <a:ext uri="{C183D7F6-B498-43B3-948B-1728B52AA6E4}">
                <adec:decorative xmlns:adec="http://schemas.microsoft.com/office/drawing/2017/decorative" val="1"/>
              </a:ext>
            </a:extLst>
          </p:cNvPr>
          <p:cNvSpPr/>
          <p:nvPr/>
        </p:nvSpPr>
        <p:spPr>
          <a:xfrm>
            <a:off x="3931920" y="1188720"/>
            <a:ext cx="4572000" cy="25603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9" name="Text"/>
          <p:cNvSpPr/>
          <p:nvPr/>
        </p:nvSpPr>
        <p:spPr>
          <a:xfrm>
            <a:off x="4114800" y="1325880"/>
            <a:ext cx="420624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3730A3"/>
                </a:solidFill>
                <a:latin typeface="Georgia" pitchFamily="34" charset="0"/>
                <a:ea typeface="Georgia" pitchFamily="34" charset="-122"/>
                <a:cs typeface="Georgia" pitchFamily="34" charset="-120"/>
              </a:rPr>
              <a:t>READ THE PICTURE</a:t>
            </a:r>
            <a:endParaRPr lang="en-US" sz="1000"/>
          </a:p>
        </p:txBody>
      </p:sp>
      <p:sp>
        <p:nvSpPr>
          <p:cNvPr id="20" name="Text"/>
          <p:cNvSpPr/>
          <p:nvPr/>
        </p:nvSpPr>
        <p:spPr>
          <a:xfrm>
            <a:off x="4114800" y="1691640"/>
            <a:ext cx="274320" cy="41148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1</a:t>
            </a:r>
            <a:endParaRPr lang="en-US" sz="1300"/>
          </a:p>
        </p:txBody>
      </p:sp>
      <p:sp>
        <p:nvSpPr>
          <p:cNvPr id="21" name="Text"/>
          <p:cNvSpPr/>
          <p:nvPr/>
        </p:nvSpPr>
        <p:spPr>
          <a:xfrm>
            <a:off x="4480560" y="1691640"/>
            <a:ext cx="3840480" cy="411480"/>
          </a:xfrm>
          <a:prstGeom prst="rect">
            <a:avLst/>
          </a:prstGeom>
          <a:noFill/>
          <a:ln/>
        </p:spPr>
        <p:txBody>
          <a:bodyPr wrap="square" lIns="0" tIns="0" rIns="0" bIns="0" rtlCol="0" anchor="ctr">
            <a:normAutofit/>
          </a:bodyPr>
          <a:lstStyle/>
          <a:p>
            <a:pPr marL="0" indent="0" algn="l">
              <a:buNone/>
            </a:pPr>
            <a:r>
              <a:rPr lang="en-US" sz="1200" b="0" i="0">
                <a:solidFill>
                  <a:srgbClr val="1A1A2E"/>
                </a:solidFill>
                <a:latin typeface="Georgia" pitchFamily="34" charset="0"/>
                <a:ea typeface="Georgia" pitchFamily="34" charset="-122"/>
                <a:cs typeface="Georgia" pitchFamily="34" charset="-120"/>
              </a:rPr>
              <a:t>Which basis state has the largest probability?</a:t>
            </a:r>
            <a:endParaRPr lang="en-US" sz="1200"/>
          </a:p>
        </p:txBody>
      </p:sp>
      <p:sp>
        <p:nvSpPr>
          <p:cNvPr id="22" name="Text"/>
          <p:cNvSpPr/>
          <p:nvPr/>
        </p:nvSpPr>
        <p:spPr>
          <a:xfrm>
            <a:off x="4114800" y="2194560"/>
            <a:ext cx="274320" cy="41148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2</a:t>
            </a:r>
            <a:endParaRPr lang="en-US" sz="1300"/>
          </a:p>
        </p:txBody>
      </p:sp>
      <p:sp>
        <p:nvSpPr>
          <p:cNvPr id="23" name="Text"/>
          <p:cNvSpPr/>
          <p:nvPr/>
        </p:nvSpPr>
        <p:spPr>
          <a:xfrm>
            <a:off x="4480560" y="2194560"/>
            <a:ext cx="3840480" cy="411480"/>
          </a:xfrm>
          <a:prstGeom prst="rect">
            <a:avLst/>
          </a:prstGeom>
          <a:noFill/>
          <a:ln/>
        </p:spPr>
        <p:txBody>
          <a:bodyPr wrap="square" lIns="0" tIns="0" rIns="0" bIns="0" rtlCol="0" anchor="ctr">
            <a:normAutofit/>
          </a:bodyPr>
          <a:lstStyle/>
          <a:p>
            <a:pPr marL="0" indent="0" algn="l">
              <a:buNone/>
            </a:pPr>
            <a:r>
              <a:rPr lang="en-US" sz="1200" b="0" i="0">
                <a:solidFill>
                  <a:srgbClr val="1A1A2E"/>
                </a:solidFill>
                <a:latin typeface="Georgia" pitchFamily="34" charset="0"/>
                <a:ea typeface="Georgia" pitchFamily="34" charset="-122"/>
                <a:cs typeface="Georgia" pitchFamily="34" charset="-120"/>
              </a:rPr>
              <a:t>Which basis states have zero amplitude?</a:t>
            </a:r>
            <a:endParaRPr lang="en-US" sz="1200"/>
          </a:p>
        </p:txBody>
      </p:sp>
      <p:sp>
        <p:nvSpPr>
          <p:cNvPr id="24" name="Text"/>
          <p:cNvSpPr/>
          <p:nvPr/>
        </p:nvSpPr>
        <p:spPr>
          <a:xfrm>
            <a:off x="4114800" y="2697480"/>
            <a:ext cx="274320" cy="41148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3</a:t>
            </a:r>
            <a:endParaRPr lang="en-US" sz="1300"/>
          </a:p>
        </p:txBody>
      </p:sp>
      <p:sp>
        <p:nvSpPr>
          <p:cNvPr id="25" name="Text"/>
          <p:cNvSpPr/>
          <p:nvPr/>
        </p:nvSpPr>
        <p:spPr>
          <a:xfrm>
            <a:off x="4480560" y="2697480"/>
            <a:ext cx="3840480" cy="411480"/>
          </a:xfrm>
          <a:prstGeom prst="rect">
            <a:avLst/>
          </a:prstGeom>
          <a:noFill/>
          <a:ln/>
        </p:spPr>
        <p:txBody>
          <a:bodyPr wrap="square" lIns="0" tIns="0" rIns="0" bIns="0" rtlCol="0" anchor="ctr">
            <a:normAutofit/>
          </a:bodyPr>
          <a:lstStyle/>
          <a:p>
            <a:pPr marL="0" indent="0" algn="l">
              <a:buNone/>
            </a:pPr>
            <a:r>
              <a:rPr lang="en-US" sz="1200" b="0" i="0">
                <a:solidFill>
                  <a:srgbClr val="1A1A2E"/>
                </a:solidFill>
                <a:latin typeface="Georgia" pitchFamily="34" charset="0"/>
                <a:ea typeface="Georgia" pitchFamily="34" charset="-122"/>
                <a:cs typeface="Georgia" pitchFamily="34" charset="-120"/>
              </a:rPr>
              <a:t>Which states share the same phase?</a:t>
            </a:r>
            <a:endParaRPr lang="en-US" sz="1200"/>
          </a:p>
        </p:txBody>
      </p:sp>
      <p:sp>
        <p:nvSpPr>
          <p:cNvPr id="26" name="Text"/>
          <p:cNvSpPr/>
          <p:nvPr/>
        </p:nvSpPr>
        <p:spPr>
          <a:xfrm>
            <a:off x="4114800" y="3200400"/>
            <a:ext cx="274320" cy="41148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4</a:t>
            </a:r>
            <a:endParaRPr lang="en-US" sz="1300"/>
          </a:p>
        </p:txBody>
      </p:sp>
      <p:sp>
        <p:nvSpPr>
          <p:cNvPr id="27" name="Text"/>
          <p:cNvSpPr/>
          <p:nvPr/>
        </p:nvSpPr>
        <p:spPr>
          <a:xfrm>
            <a:off x="4480560" y="3200400"/>
            <a:ext cx="3840480" cy="411480"/>
          </a:xfrm>
          <a:prstGeom prst="rect">
            <a:avLst/>
          </a:prstGeom>
          <a:noFill/>
          <a:ln/>
        </p:spPr>
        <p:txBody>
          <a:bodyPr wrap="square" lIns="0" tIns="0" rIns="0" bIns="0" rtlCol="0" anchor="ctr">
            <a:normAutofit/>
          </a:bodyPr>
          <a:lstStyle/>
          <a:p>
            <a:pPr marL="0" indent="0" algn="l">
              <a:buNone/>
            </a:pPr>
            <a:r>
              <a:rPr lang="en-US" sz="1200" b="0" i="0">
                <a:solidFill>
                  <a:srgbClr val="1A1A2E"/>
                </a:solidFill>
                <a:latin typeface="Georgia" pitchFamily="34" charset="0"/>
                <a:ea typeface="Georgia" pitchFamily="34" charset="-122"/>
                <a:cs typeface="Georgia" pitchFamily="34" charset="-120"/>
              </a:rPr>
              <a:t>What is the Hamming weight of each dot's row?</a:t>
            </a:r>
            <a:endParaRPr lang="en-US" sz="1200"/>
          </a:p>
        </p:txBody>
      </p:sp>
      <p:sp>
        <p:nvSpPr>
          <p:cNvPr id="28"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A three-qubit state read entirely from the picture — no algebra required.</a:t>
            </a:r>
            <a:endParaRPr lang="en-US" sz="125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From entanglement to Bell's theorem</a:t>
            </a:r>
            <a:endParaRPr lang="en-US" sz="2500"/>
          </a:p>
        </p:txBody>
      </p:sp>
      <p:sp>
        <p:nvSpPr>
          <p:cNvPr id="3" name="Card frame">
            <a:extLst>
              <a:ext uri="{C183D7F6-B498-43B3-948B-1728B52AA6E4}">
                <adec:decorative xmlns:adec="http://schemas.microsoft.com/office/drawing/2017/decorative" val="1"/>
              </a:ext>
            </a:extLst>
          </p:cNvPr>
          <p:cNvSpPr/>
          <p:nvPr/>
        </p:nvSpPr>
        <p:spPr>
          <a:xfrm>
            <a:off x="1005840" y="1188720"/>
            <a:ext cx="71323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1188720" y="1188720"/>
            <a:ext cx="2743200" cy="594360"/>
          </a:xfrm>
          <a:prstGeom prst="rect">
            <a:avLst/>
          </a:prstGeom>
          <a:noFill/>
          <a:ln/>
        </p:spPr>
        <p:txBody>
          <a:bodyPr wrap="square" lIns="0" tIns="0" rIns="0" bIns="0" rtlCol="0" anchor="ctr">
            <a:normAutofit/>
          </a:bodyPr>
          <a:lstStyle/>
          <a:p>
            <a:pPr marL="0" indent="0" algn="l">
              <a:buNone/>
            </a:pPr>
            <a:r>
              <a:rPr lang="en-US" sz="1400" b="1" i="0">
                <a:solidFill>
                  <a:srgbClr val="3730A3"/>
                </a:solidFill>
                <a:latin typeface="Georgia" pitchFamily="34" charset="0"/>
                <a:ea typeface="Georgia" pitchFamily="34" charset="-122"/>
                <a:cs typeface="Georgia" pitchFamily="34" charset="-120"/>
              </a:rPr>
              <a:t>EPR question</a:t>
            </a:r>
            <a:endParaRPr lang="en-US" sz="1400"/>
          </a:p>
        </p:txBody>
      </p:sp>
      <p:sp>
        <p:nvSpPr>
          <p:cNvPr id="5" name="Text"/>
          <p:cNvSpPr/>
          <p:nvPr/>
        </p:nvSpPr>
        <p:spPr>
          <a:xfrm>
            <a:off x="4023360" y="1188720"/>
            <a:ext cx="3931920" cy="594360"/>
          </a:xfrm>
          <a:prstGeom prst="rect">
            <a:avLst/>
          </a:prstGeom>
          <a:noFill/>
          <a:ln/>
        </p:spPr>
        <p:txBody>
          <a:bodyPr wrap="square" lIns="0" tIns="0" rIns="0" bIns="0" rtlCol="0" anchor="ctr">
            <a:normAutofit/>
          </a:bodyPr>
          <a:lstStyle/>
          <a:p>
            <a:pPr marL="0" indent="0" algn="l">
              <a:buNone/>
            </a:pPr>
            <a:r>
              <a:rPr lang="en-US" sz="1100" b="0" i="0">
                <a:solidFill>
                  <a:srgbClr val="1A1A2E"/>
                </a:solidFill>
                <a:latin typeface="Georgia" pitchFamily="34" charset="0"/>
                <a:ea typeface="Georgia" pitchFamily="34" charset="-122"/>
                <a:cs typeface="Georgia" pitchFamily="34" charset="-120"/>
              </a:rPr>
              <a:t>Is the quantum description of correlated pairs complete?</a:t>
            </a:r>
            <a:endParaRPr lang="en-US" sz="1100"/>
          </a:p>
        </p:txBody>
      </p:sp>
      <p:sp>
        <p:nvSpPr>
          <p:cNvPr id="6" name="Text"/>
          <p:cNvSpPr/>
          <p:nvPr/>
        </p:nvSpPr>
        <p:spPr>
          <a:xfrm>
            <a:off x="4297680" y="1783080"/>
            <a:ext cx="548640" cy="182880"/>
          </a:xfrm>
          <a:prstGeom prst="rect">
            <a:avLst/>
          </a:prstGeom>
          <a:noFill/>
          <a:ln/>
        </p:spPr>
        <p:txBody>
          <a:bodyPr wrap="square" lIns="0" tIns="0" rIns="0" bIns="0" rtlCol="0" anchor="ctr">
            <a:normAutofit/>
          </a:bodyPr>
          <a:lstStyle/>
          <a:p>
            <a:pPr marL="0" indent="0" algn="ctr">
              <a:buNone/>
            </a:pPr>
            <a:r>
              <a:rPr lang="en-US" sz="1000" b="1" i="0">
                <a:solidFill>
                  <a:srgbClr val="3730A3"/>
                </a:solidFill>
                <a:latin typeface="Georgia" pitchFamily="34" charset="0"/>
                <a:ea typeface="Georgia" pitchFamily="34" charset="-122"/>
                <a:cs typeface="Georgia" pitchFamily="34" charset="-120"/>
              </a:rPr>
              <a:t>↓</a:t>
            </a:r>
            <a:endParaRPr lang="en-US" sz="1000"/>
          </a:p>
        </p:txBody>
      </p:sp>
      <p:sp>
        <p:nvSpPr>
          <p:cNvPr id="7" name="Card frame">
            <a:extLst>
              <a:ext uri="{C183D7F6-B498-43B3-948B-1728B52AA6E4}">
                <adec:decorative xmlns:adec="http://schemas.microsoft.com/office/drawing/2017/decorative" val="1"/>
              </a:ext>
            </a:extLst>
          </p:cNvPr>
          <p:cNvSpPr/>
          <p:nvPr/>
        </p:nvSpPr>
        <p:spPr>
          <a:xfrm>
            <a:off x="1005840" y="1965960"/>
            <a:ext cx="71323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8" name="Text"/>
          <p:cNvSpPr/>
          <p:nvPr/>
        </p:nvSpPr>
        <p:spPr>
          <a:xfrm>
            <a:off x="1188720" y="1965960"/>
            <a:ext cx="2743200" cy="594360"/>
          </a:xfrm>
          <a:prstGeom prst="rect">
            <a:avLst/>
          </a:prstGeom>
          <a:noFill/>
          <a:ln/>
        </p:spPr>
        <p:txBody>
          <a:bodyPr wrap="square" lIns="0" tIns="0" rIns="0" bIns="0" rtlCol="0" anchor="ctr">
            <a:normAutofit/>
          </a:bodyPr>
          <a:lstStyle/>
          <a:p>
            <a:pPr marL="0" indent="0" algn="l">
              <a:buNone/>
            </a:pPr>
            <a:r>
              <a:rPr lang="en-US" sz="1400" b="1" i="0">
                <a:solidFill>
                  <a:srgbClr val="3730A3"/>
                </a:solidFill>
                <a:latin typeface="Georgia" pitchFamily="34" charset="0"/>
                <a:ea typeface="Georgia" pitchFamily="34" charset="-122"/>
                <a:cs typeface="Georgia" pitchFamily="34" charset="-120"/>
              </a:rPr>
              <a:t>Hidden variables?</a:t>
            </a:r>
            <a:endParaRPr lang="en-US" sz="1400"/>
          </a:p>
        </p:txBody>
      </p:sp>
      <p:sp>
        <p:nvSpPr>
          <p:cNvPr id="9" name="Text"/>
          <p:cNvSpPr/>
          <p:nvPr/>
        </p:nvSpPr>
        <p:spPr>
          <a:xfrm>
            <a:off x="4023360" y="1965960"/>
            <a:ext cx="3931920" cy="594360"/>
          </a:xfrm>
          <a:prstGeom prst="rect">
            <a:avLst/>
          </a:prstGeom>
          <a:noFill/>
          <a:ln/>
        </p:spPr>
        <p:txBody>
          <a:bodyPr wrap="square" lIns="0" tIns="0" rIns="0" bIns="0" rtlCol="0" anchor="ctr">
            <a:normAutofit/>
          </a:bodyPr>
          <a:lstStyle/>
          <a:p>
            <a:pPr marL="0" indent="0" algn="l">
              <a:buNone/>
            </a:pPr>
            <a:r>
              <a:rPr lang="en-US" sz="1100" b="0" i="0">
                <a:solidFill>
                  <a:srgbClr val="1A1A2E"/>
                </a:solidFill>
                <a:latin typeface="Georgia" pitchFamily="34" charset="0"/>
                <a:ea typeface="Georgia" pitchFamily="34" charset="-122"/>
                <a:cs typeface="Georgia" pitchFamily="34" charset="-120"/>
              </a:rPr>
              <a:t>Could predetermined properties explain the correlations?</a:t>
            </a:r>
            <a:endParaRPr lang="en-US" sz="1100"/>
          </a:p>
        </p:txBody>
      </p:sp>
      <p:sp>
        <p:nvSpPr>
          <p:cNvPr id="10" name="Text"/>
          <p:cNvSpPr/>
          <p:nvPr/>
        </p:nvSpPr>
        <p:spPr>
          <a:xfrm>
            <a:off x="4297680" y="2560320"/>
            <a:ext cx="548640" cy="182880"/>
          </a:xfrm>
          <a:prstGeom prst="rect">
            <a:avLst/>
          </a:prstGeom>
          <a:noFill/>
          <a:ln/>
        </p:spPr>
        <p:txBody>
          <a:bodyPr wrap="square" lIns="0" tIns="0" rIns="0" bIns="0" rtlCol="0" anchor="ctr">
            <a:normAutofit/>
          </a:bodyPr>
          <a:lstStyle/>
          <a:p>
            <a:pPr marL="0" indent="0" algn="ctr">
              <a:buNone/>
            </a:pPr>
            <a:r>
              <a:rPr lang="en-US" sz="1000" b="1" i="0">
                <a:solidFill>
                  <a:srgbClr val="3730A3"/>
                </a:solidFill>
                <a:latin typeface="Georgia" pitchFamily="34" charset="0"/>
                <a:ea typeface="Georgia" pitchFamily="34" charset="-122"/>
                <a:cs typeface="Georgia" pitchFamily="34" charset="-120"/>
              </a:rPr>
              <a:t>↓</a:t>
            </a:r>
            <a:endParaRPr lang="en-US" sz="1000"/>
          </a:p>
        </p:txBody>
      </p:sp>
      <p:sp>
        <p:nvSpPr>
          <p:cNvPr id="11" name="Card frame">
            <a:extLst>
              <a:ext uri="{C183D7F6-B498-43B3-948B-1728B52AA6E4}">
                <adec:decorative xmlns:adec="http://schemas.microsoft.com/office/drawing/2017/decorative" val="1"/>
              </a:ext>
            </a:extLst>
          </p:cNvPr>
          <p:cNvSpPr/>
          <p:nvPr/>
        </p:nvSpPr>
        <p:spPr>
          <a:xfrm>
            <a:off x="1005840" y="2743200"/>
            <a:ext cx="71323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2" name="Text"/>
          <p:cNvSpPr/>
          <p:nvPr/>
        </p:nvSpPr>
        <p:spPr>
          <a:xfrm>
            <a:off x="1188720" y="2743200"/>
            <a:ext cx="2743200" cy="594360"/>
          </a:xfrm>
          <a:prstGeom prst="rect">
            <a:avLst/>
          </a:prstGeom>
          <a:noFill/>
          <a:ln/>
        </p:spPr>
        <p:txBody>
          <a:bodyPr wrap="square" lIns="0" tIns="0" rIns="0" bIns="0" rtlCol="0" anchor="ctr">
            <a:normAutofit/>
          </a:bodyPr>
          <a:lstStyle/>
          <a:p>
            <a:pPr marL="0" indent="0" algn="l">
              <a:buNone/>
            </a:pPr>
            <a:r>
              <a:rPr lang="en-US" sz="1400" b="1" i="0">
                <a:solidFill>
                  <a:srgbClr val="3730A3"/>
                </a:solidFill>
                <a:latin typeface="Georgia" pitchFamily="34" charset="0"/>
                <a:ea typeface="Georgia" pitchFamily="34" charset="-122"/>
                <a:cs typeface="Georgia" pitchFamily="34" charset="-120"/>
              </a:rPr>
              <a:t>Bell's theorem</a:t>
            </a:r>
            <a:endParaRPr lang="en-US" sz="1400"/>
          </a:p>
        </p:txBody>
      </p:sp>
      <p:sp>
        <p:nvSpPr>
          <p:cNvPr id="13" name="Text"/>
          <p:cNvSpPr/>
          <p:nvPr/>
        </p:nvSpPr>
        <p:spPr>
          <a:xfrm>
            <a:off x="4023360" y="2743200"/>
            <a:ext cx="3931920" cy="594360"/>
          </a:xfrm>
          <a:prstGeom prst="rect">
            <a:avLst/>
          </a:prstGeom>
          <a:noFill/>
          <a:ln/>
        </p:spPr>
        <p:txBody>
          <a:bodyPr wrap="square" lIns="0" tIns="0" rIns="0" bIns="0" rtlCol="0" anchor="ctr">
            <a:normAutofit/>
          </a:bodyPr>
          <a:lstStyle/>
          <a:p>
            <a:pPr marL="0" indent="0" algn="l">
              <a:buNone/>
            </a:pPr>
            <a:r>
              <a:rPr lang="en-US" sz="1100" b="0" i="0">
                <a:solidFill>
                  <a:srgbClr val="1A1A2E"/>
                </a:solidFill>
                <a:latin typeface="Georgia" pitchFamily="34" charset="0"/>
                <a:ea typeface="Georgia" pitchFamily="34" charset="-122"/>
                <a:cs typeface="Georgia" pitchFamily="34" charset="-120"/>
              </a:rPr>
              <a:t>Any local hidden-variable theory obeys a strict bound.</a:t>
            </a:r>
            <a:endParaRPr lang="en-US" sz="1100"/>
          </a:p>
        </p:txBody>
      </p:sp>
      <p:sp>
        <p:nvSpPr>
          <p:cNvPr id="14" name="Text"/>
          <p:cNvSpPr/>
          <p:nvPr/>
        </p:nvSpPr>
        <p:spPr>
          <a:xfrm>
            <a:off x="4297680" y="3337560"/>
            <a:ext cx="548640" cy="182880"/>
          </a:xfrm>
          <a:prstGeom prst="rect">
            <a:avLst/>
          </a:prstGeom>
          <a:noFill/>
          <a:ln/>
        </p:spPr>
        <p:txBody>
          <a:bodyPr wrap="square" lIns="0" tIns="0" rIns="0" bIns="0" rtlCol="0" anchor="ctr">
            <a:normAutofit/>
          </a:bodyPr>
          <a:lstStyle/>
          <a:p>
            <a:pPr marL="0" indent="0" algn="ctr">
              <a:buNone/>
            </a:pPr>
            <a:r>
              <a:rPr lang="en-US" sz="1000" b="1" i="0">
                <a:solidFill>
                  <a:srgbClr val="3730A3"/>
                </a:solidFill>
                <a:latin typeface="Georgia" pitchFamily="34" charset="0"/>
                <a:ea typeface="Georgia" pitchFamily="34" charset="-122"/>
                <a:cs typeface="Georgia" pitchFamily="34" charset="-120"/>
              </a:rPr>
              <a:t>↓</a:t>
            </a:r>
            <a:endParaRPr lang="en-US" sz="1000"/>
          </a:p>
        </p:txBody>
      </p:sp>
      <p:sp>
        <p:nvSpPr>
          <p:cNvPr id="15" name="Card frame">
            <a:extLst>
              <a:ext uri="{C183D7F6-B498-43B3-948B-1728B52AA6E4}">
                <adec:decorative xmlns:adec="http://schemas.microsoft.com/office/drawing/2017/decorative" val="1"/>
              </a:ext>
            </a:extLst>
          </p:cNvPr>
          <p:cNvSpPr/>
          <p:nvPr/>
        </p:nvSpPr>
        <p:spPr>
          <a:xfrm>
            <a:off x="1005840" y="3520440"/>
            <a:ext cx="7132320" cy="59436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16" name="Text"/>
          <p:cNvSpPr/>
          <p:nvPr/>
        </p:nvSpPr>
        <p:spPr>
          <a:xfrm>
            <a:off x="1188720" y="3520440"/>
            <a:ext cx="2743200" cy="594360"/>
          </a:xfrm>
          <a:prstGeom prst="rect">
            <a:avLst/>
          </a:prstGeom>
          <a:noFill/>
          <a:ln/>
        </p:spPr>
        <p:txBody>
          <a:bodyPr wrap="square" lIns="0" tIns="0" rIns="0" bIns="0" rtlCol="0" anchor="ctr">
            <a:normAutofit/>
          </a:bodyPr>
          <a:lstStyle/>
          <a:p>
            <a:pPr marL="0" indent="0" algn="l">
              <a:buNone/>
            </a:pPr>
            <a:r>
              <a:rPr lang="en-US" sz="1400" b="1" i="0">
                <a:solidFill>
                  <a:srgbClr val="C0392B"/>
                </a:solidFill>
                <a:latin typeface="Georgia" pitchFamily="34" charset="0"/>
                <a:ea typeface="Georgia" pitchFamily="34" charset="-122"/>
                <a:cs typeface="Georgia" pitchFamily="34" charset="-120"/>
              </a:rPr>
              <a:t>QM breaks the bound</a:t>
            </a:r>
            <a:endParaRPr lang="en-US" sz="1400"/>
          </a:p>
        </p:txBody>
      </p:sp>
      <p:sp>
        <p:nvSpPr>
          <p:cNvPr id="17" name="Text"/>
          <p:cNvSpPr/>
          <p:nvPr/>
        </p:nvSpPr>
        <p:spPr>
          <a:xfrm>
            <a:off x="4023360" y="3520440"/>
            <a:ext cx="3931920" cy="594360"/>
          </a:xfrm>
          <a:prstGeom prst="rect">
            <a:avLst/>
          </a:prstGeom>
          <a:noFill/>
          <a:ln/>
        </p:spPr>
        <p:txBody>
          <a:bodyPr wrap="square" lIns="0" tIns="0" rIns="0" bIns="0" rtlCol="0" anchor="ctr">
            <a:normAutofit/>
          </a:bodyPr>
          <a:lstStyle/>
          <a:p>
            <a:pPr marL="0" indent="0" algn="l">
              <a:buNone/>
            </a:pPr>
            <a:r>
              <a:rPr lang="en-US" sz="1100" b="0" i="0">
                <a:solidFill>
                  <a:srgbClr val="1A1A2E"/>
                </a:solidFill>
                <a:latin typeface="Georgia" pitchFamily="34" charset="0"/>
                <a:ea typeface="Georgia" pitchFamily="34" charset="-122"/>
                <a:cs typeface="Georgia" pitchFamily="34" charset="-120"/>
              </a:rPr>
              <a:t>The predicted correlations fall below any local model.</a:t>
            </a:r>
            <a:endParaRPr lang="en-US" sz="1100"/>
          </a:p>
        </p:txBody>
      </p:sp>
      <p:sp>
        <p:nvSpPr>
          <p:cNvPr id="18"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Bell's theorem rules out reproducing quantum correlations with local hidden variables.</a:t>
            </a:r>
            <a:endParaRPr lang="en-US" sz="125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Alice and Bob</a:t>
            </a:r>
            <a:endParaRPr lang="en-US" sz="2500"/>
          </a:p>
        </p:txBody>
      </p:sp>
      <p:sp>
        <p:nvSpPr>
          <p:cNvPr id="3" name="Card frame">
            <a:extLst>
              <a:ext uri="{C183D7F6-B498-43B3-948B-1728B52AA6E4}">
                <adec:decorative xmlns:adec="http://schemas.microsoft.com/office/drawing/2017/decorative" val="1"/>
              </a:ext>
            </a:extLst>
          </p:cNvPr>
          <p:cNvSpPr/>
          <p:nvPr/>
        </p:nvSpPr>
        <p:spPr>
          <a:xfrm>
            <a:off x="3200400" y="1097280"/>
            <a:ext cx="2743200" cy="54864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3200400" y="1097280"/>
            <a:ext cx="2743200" cy="548640"/>
          </a:xfrm>
          <a:prstGeom prst="rect">
            <a:avLst/>
          </a:prstGeom>
          <a:noFill/>
          <a:ln/>
        </p:spPr>
        <p:txBody>
          <a:bodyPr wrap="square" lIns="0" tIns="0" rIns="0" bIns="0" rtlCol="0" anchor="ctr">
            <a:normAutofit/>
          </a:bodyPr>
          <a:lstStyle/>
          <a:p>
            <a:pPr marL="0" indent="0" algn="ctr">
              <a:buNone/>
            </a:pPr>
            <a:r>
              <a:rPr lang="en-US" sz="1400" b="1" i="0">
                <a:solidFill>
                  <a:srgbClr val="3730A3"/>
                </a:solidFill>
                <a:latin typeface="Georgia" pitchFamily="34" charset="0"/>
                <a:ea typeface="Georgia" pitchFamily="34" charset="-122"/>
                <a:cs typeface="Georgia" pitchFamily="34" charset="-120"/>
              </a:rPr>
              <a:t>Entangled pair</a:t>
            </a:r>
            <a:endParaRPr lang="en-US" sz="1400"/>
          </a:p>
        </p:txBody>
      </p:sp>
      <p:sp>
        <p:nvSpPr>
          <p:cNvPr id="5" name="Connector">
            <a:extLst>
              <a:ext uri="{C183D7F6-B498-43B3-948B-1728B52AA6E4}">
                <adec:decorative xmlns:adec="http://schemas.microsoft.com/office/drawing/2017/decorative" val="1"/>
              </a:ext>
            </a:extLst>
          </p:cNvPr>
          <p:cNvSpPr/>
          <p:nvPr/>
        </p:nvSpPr>
        <p:spPr>
          <a:xfrm>
            <a:off x="4572000" y="1645920"/>
            <a:ext cx="0" cy="182880"/>
          </a:xfrm>
          <a:prstGeom prst="line">
            <a:avLst/>
          </a:prstGeom>
          <a:noFill/>
          <a:ln w="12700">
            <a:solidFill>
              <a:srgbClr val="3730A3"/>
            </a:solidFill>
            <a:prstDash val="solid"/>
          </a:ln>
        </p:spPr>
        <p:txBody>
          <a:bodyPr/>
          <a:lstStyle/>
          <a:p>
            <a:endParaRPr lang="en-US"/>
          </a:p>
        </p:txBody>
      </p:sp>
      <p:sp>
        <p:nvSpPr>
          <p:cNvPr id="6" name="Rule">
            <a:extLst>
              <a:ext uri="{C183D7F6-B498-43B3-948B-1728B52AA6E4}">
                <adec:decorative xmlns:adec="http://schemas.microsoft.com/office/drawing/2017/decorative" val="1"/>
              </a:ext>
            </a:extLst>
          </p:cNvPr>
          <p:cNvSpPr/>
          <p:nvPr/>
        </p:nvSpPr>
        <p:spPr>
          <a:xfrm>
            <a:off x="2377440" y="1828800"/>
            <a:ext cx="4389120" cy="0"/>
          </a:xfrm>
          <a:prstGeom prst="line">
            <a:avLst/>
          </a:prstGeom>
          <a:noFill/>
          <a:ln w="12700">
            <a:solidFill>
              <a:srgbClr val="3730A3"/>
            </a:solidFill>
            <a:prstDash val="solid"/>
          </a:ln>
        </p:spPr>
        <p:txBody>
          <a:bodyPr/>
          <a:lstStyle/>
          <a:p>
            <a:endParaRPr lang="en-US"/>
          </a:p>
        </p:txBody>
      </p:sp>
      <p:sp>
        <p:nvSpPr>
          <p:cNvPr id="7" name="Connector">
            <a:extLst>
              <a:ext uri="{C183D7F6-B498-43B3-948B-1728B52AA6E4}">
                <adec:decorative xmlns:adec="http://schemas.microsoft.com/office/drawing/2017/decorative" val="1"/>
              </a:ext>
            </a:extLst>
          </p:cNvPr>
          <p:cNvSpPr/>
          <p:nvPr/>
        </p:nvSpPr>
        <p:spPr>
          <a:xfrm>
            <a:off x="2377440" y="1828800"/>
            <a:ext cx="0" cy="320040"/>
          </a:xfrm>
          <a:prstGeom prst="line">
            <a:avLst/>
          </a:prstGeom>
          <a:noFill/>
          <a:ln w="12700">
            <a:solidFill>
              <a:srgbClr val="3730A3"/>
            </a:solidFill>
            <a:prstDash val="solid"/>
            <a:tailEnd type="triangle" w="med" len="med"/>
          </a:ln>
        </p:spPr>
        <p:txBody>
          <a:bodyPr/>
          <a:lstStyle/>
          <a:p>
            <a:endParaRPr lang="en-US"/>
          </a:p>
        </p:txBody>
      </p:sp>
      <p:sp>
        <p:nvSpPr>
          <p:cNvPr id="8" name="Connector">
            <a:extLst>
              <a:ext uri="{C183D7F6-B498-43B3-948B-1728B52AA6E4}">
                <adec:decorative xmlns:adec="http://schemas.microsoft.com/office/drawing/2017/decorative" val="1"/>
              </a:ext>
            </a:extLst>
          </p:cNvPr>
          <p:cNvSpPr/>
          <p:nvPr/>
        </p:nvSpPr>
        <p:spPr>
          <a:xfrm>
            <a:off x="6766560" y="1828800"/>
            <a:ext cx="0" cy="320040"/>
          </a:xfrm>
          <a:prstGeom prst="line">
            <a:avLst/>
          </a:prstGeom>
          <a:noFill/>
          <a:ln w="12700">
            <a:solidFill>
              <a:srgbClr val="3730A3"/>
            </a:solidFill>
            <a:prstDash val="solid"/>
            <a:tailEnd type="triangle" w="med" len="med"/>
          </a:ln>
        </p:spPr>
        <p:txBody>
          <a:bodyPr/>
          <a:lstStyle/>
          <a:p>
            <a:endParaRPr lang="en-US"/>
          </a:p>
        </p:txBody>
      </p:sp>
      <p:sp>
        <p:nvSpPr>
          <p:cNvPr id="9" name="Card frame">
            <a:extLst>
              <a:ext uri="{C183D7F6-B498-43B3-948B-1728B52AA6E4}">
                <adec:decorative xmlns:adec="http://schemas.microsoft.com/office/drawing/2017/decorative" val="1"/>
              </a:ext>
            </a:extLst>
          </p:cNvPr>
          <p:cNvSpPr/>
          <p:nvPr/>
        </p:nvSpPr>
        <p:spPr>
          <a:xfrm>
            <a:off x="1097280" y="2194560"/>
            <a:ext cx="2560320" cy="11887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0" name="Text"/>
          <p:cNvSpPr/>
          <p:nvPr/>
        </p:nvSpPr>
        <p:spPr>
          <a:xfrm>
            <a:off x="1097280" y="2286000"/>
            <a:ext cx="2560320" cy="320040"/>
          </a:xfrm>
          <a:prstGeom prst="rect">
            <a:avLst/>
          </a:prstGeom>
          <a:noFill/>
          <a:ln/>
        </p:spPr>
        <p:txBody>
          <a:bodyPr wrap="square" lIns="0" tIns="0" rIns="0" bIns="0" rtlCol="0" anchor="ctr">
            <a:normAutofit/>
          </a:bodyPr>
          <a:lstStyle/>
          <a:p>
            <a:pPr marL="0" indent="0" algn="ctr">
              <a:buNone/>
            </a:pPr>
            <a:r>
              <a:rPr lang="en-US" sz="1500" b="1" i="0">
                <a:solidFill>
                  <a:srgbClr val="3730A3"/>
                </a:solidFill>
                <a:latin typeface="Georgia" pitchFamily="34" charset="0"/>
                <a:ea typeface="Georgia" pitchFamily="34" charset="-122"/>
                <a:cs typeface="Georgia" pitchFamily="34" charset="-120"/>
              </a:rPr>
              <a:t>Alice</a:t>
            </a:r>
            <a:endParaRPr lang="en-US" sz="1500"/>
          </a:p>
        </p:txBody>
      </p:sp>
      <p:sp>
        <p:nvSpPr>
          <p:cNvPr id="11" name="Text"/>
          <p:cNvSpPr/>
          <p:nvPr/>
        </p:nvSpPr>
        <p:spPr>
          <a:xfrm>
            <a:off x="1097280" y="2651760"/>
            <a:ext cx="2560320" cy="251460"/>
          </a:xfrm>
          <a:prstGeom prst="rect">
            <a:avLst/>
          </a:prstGeom>
          <a:noFill/>
          <a:ln/>
        </p:spPr>
        <p:txBody>
          <a:bodyPr wrap="square" lIns="0" tIns="0" rIns="0" bIns="0" rtlCol="0" anchor="ctr">
            <a:normAutofit/>
          </a:bodyPr>
          <a:lstStyle/>
          <a:p>
            <a:pPr marL="0" indent="0" algn="ctr">
              <a:buNone/>
            </a:pPr>
            <a:r>
              <a:rPr lang="en-US" sz="1000" b="0" i="0">
                <a:solidFill>
                  <a:srgbClr val="6B7280"/>
                </a:solidFill>
                <a:latin typeface="Georgia" pitchFamily="34" charset="0"/>
                <a:ea typeface="Georgia" pitchFamily="34" charset="-122"/>
                <a:cs typeface="Georgia" pitchFamily="34" charset="-120"/>
              </a:rPr>
              <a:t>polarizer</a:t>
            </a:r>
            <a:endParaRPr lang="en-US" sz="1000"/>
          </a:p>
        </p:txBody>
      </p:sp>
      <p:sp>
        <p:nvSpPr>
          <p:cNvPr id="12" name="Text"/>
          <p:cNvSpPr/>
          <p:nvPr/>
        </p:nvSpPr>
        <p:spPr>
          <a:xfrm>
            <a:off x="1097280" y="2926080"/>
            <a:ext cx="2560320" cy="320040"/>
          </a:xfrm>
          <a:prstGeom prst="rect">
            <a:avLst/>
          </a:prstGeom>
          <a:noFill/>
          <a:ln/>
        </p:spPr>
        <p:txBody>
          <a:bodyPr wrap="square" lIns="0" tIns="0" rIns="0" bIns="0" rtlCol="0" anchor="ctr">
            <a:normAutofit/>
          </a:bodyPr>
          <a:lstStyle/>
          <a:p>
            <a:pPr marL="0" indent="0" algn="ctr">
              <a:buNone/>
            </a:pPr>
            <a:r>
              <a:rPr lang="en-US" sz="1300" b="1" i="0">
                <a:solidFill>
                  <a:srgbClr val="1A1A2E"/>
                </a:solidFill>
                <a:latin typeface="Georgia" pitchFamily="34" charset="0"/>
                <a:ea typeface="Georgia" pitchFamily="34" charset="-122"/>
                <a:cs typeface="Georgia" pitchFamily="34" charset="-120"/>
              </a:rPr>
              <a:t>θA</a:t>
            </a:r>
            <a:endParaRPr lang="en-US" sz="1300"/>
          </a:p>
        </p:txBody>
      </p:sp>
      <p:sp>
        <p:nvSpPr>
          <p:cNvPr id="13" name="Connector">
            <a:extLst>
              <a:ext uri="{C183D7F6-B498-43B3-948B-1728B52AA6E4}">
                <adec:decorative xmlns:adec="http://schemas.microsoft.com/office/drawing/2017/decorative" val="1"/>
              </a:ext>
            </a:extLst>
          </p:cNvPr>
          <p:cNvSpPr/>
          <p:nvPr/>
        </p:nvSpPr>
        <p:spPr>
          <a:xfrm>
            <a:off x="2377440" y="3383280"/>
            <a:ext cx="0" cy="274320"/>
          </a:xfrm>
          <a:prstGeom prst="line">
            <a:avLst/>
          </a:prstGeom>
          <a:noFill/>
          <a:ln w="12700">
            <a:solidFill>
              <a:srgbClr val="3730A3"/>
            </a:solidFill>
            <a:prstDash val="solid"/>
            <a:tailEnd type="triangle" w="med" len="med"/>
          </a:ln>
        </p:spPr>
        <p:txBody>
          <a:bodyPr/>
          <a:lstStyle/>
          <a:p>
            <a:endParaRPr lang="en-US"/>
          </a:p>
        </p:txBody>
      </p:sp>
      <p:sp>
        <p:nvSpPr>
          <p:cNvPr id="14" name="Text"/>
          <p:cNvSpPr/>
          <p:nvPr/>
        </p:nvSpPr>
        <p:spPr>
          <a:xfrm>
            <a:off x="1097280" y="3703320"/>
            <a:ext cx="2560320" cy="274320"/>
          </a:xfrm>
          <a:prstGeom prst="rect">
            <a:avLst/>
          </a:prstGeom>
          <a:noFill/>
          <a:ln/>
        </p:spPr>
        <p:txBody>
          <a:bodyPr wrap="square" lIns="0" tIns="0" rIns="0" bIns="0" rtlCol="0" anchor="ctr">
            <a:normAutofit/>
          </a:bodyPr>
          <a:lstStyle/>
          <a:p>
            <a:pPr marL="0" indent="0" algn="ctr">
              <a:buNone/>
            </a:pPr>
            <a:r>
              <a:rPr lang="en-US" sz="1100" b="1" i="0">
                <a:solidFill>
                  <a:srgbClr val="C0392B"/>
                </a:solidFill>
                <a:latin typeface="Georgia" pitchFamily="34" charset="0"/>
                <a:ea typeface="Georgia" pitchFamily="34" charset="-122"/>
                <a:cs typeface="Georgia" pitchFamily="34" charset="-120"/>
              </a:rPr>
              <a:t>outcome</a:t>
            </a:r>
            <a:endParaRPr lang="en-US" sz="1100"/>
          </a:p>
        </p:txBody>
      </p:sp>
      <p:sp>
        <p:nvSpPr>
          <p:cNvPr id="15" name="Card frame">
            <a:extLst>
              <a:ext uri="{C183D7F6-B498-43B3-948B-1728B52AA6E4}">
                <adec:decorative xmlns:adec="http://schemas.microsoft.com/office/drawing/2017/decorative" val="1"/>
              </a:ext>
            </a:extLst>
          </p:cNvPr>
          <p:cNvSpPr/>
          <p:nvPr/>
        </p:nvSpPr>
        <p:spPr>
          <a:xfrm>
            <a:off x="5486400" y="2194560"/>
            <a:ext cx="2560320" cy="11887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6" name="Text"/>
          <p:cNvSpPr/>
          <p:nvPr/>
        </p:nvSpPr>
        <p:spPr>
          <a:xfrm>
            <a:off x="5486400" y="2286000"/>
            <a:ext cx="2560320" cy="320040"/>
          </a:xfrm>
          <a:prstGeom prst="rect">
            <a:avLst/>
          </a:prstGeom>
          <a:noFill/>
          <a:ln/>
        </p:spPr>
        <p:txBody>
          <a:bodyPr wrap="square" lIns="0" tIns="0" rIns="0" bIns="0" rtlCol="0" anchor="ctr">
            <a:normAutofit/>
          </a:bodyPr>
          <a:lstStyle/>
          <a:p>
            <a:pPr marL="0" indent="0" algn="ctr">
              <a:buNone/>
            </a:pPr>
            <a:r>
              <a:rPr lang="en-US" sz="1500" b="1" i="0">
                <a:solidFill>
                  <a:srgbClr val="3730A3"/>
                </a:solidFill>
                <a:latin typeface="Georgia" pitchFamily="34" charset="0"/>
                <a:ea typeface="Georgia" pitchFamily="34" charset="-122"/>
                <a:cs typeface="Georgia" pitchFamily="34" charset="-120"/>
              </a:rPr>
              <a:t>Bob</a:t>
            </a:r>
            <a:endParaRPr lang="en-US" sz="1500"/>
          </a:p>
        </p:txBody>
      </p:sp>
      <p:sp>
        <p:nvSpPr>
          <p:cNvPr id="17" name="Text"/>
          <p:cNvSpPr/>
          <p:nvPr/>
        </p:nvSpPr>
        <p:spPr>
          <a:xfrm>
            <a:off x="5486400" y="2651760"/>
            <a:ext cx="2560320" cy="251460"/>
          </a:xfrm>
          <a:prstGeom prst="rect">
            <a:avLst/>
          </a:prstGeom>
          <a:noFill/>
          <a:ln/>
        </p:spPr>
        <p:txBody>
          <a:bodyPr wrap="square" lIns="0" tIns="0" rIns="0" bIns="0" rtlCol="0" anchor="ctr">
            <a:normAutofit/>
          </a:bodyPr>
          <a:lstStyle/>
          <a:p>
            <a:pPr marL="0" indent="0" algn="ctr">
              <a:buNone/>
            </a:pPr>
            <a:r>
              <a:rPr lang="en-US" sz="1000" b="0" i="0">
                <a:solidFill>
                  <a:srgbClr val="6B7280"/>
                </a:solidFill>
                <a:latin typeface="Georgia" pitchFamily="34" charset="0"/>
                <a:ea typeface="Georgia" pitchFamily="34" charset="-122"/>
                <a:cs typeface="Georgia" pitchFamily="34" charset="-120"/>
              </a:rPr>
              <a:t>polarizer</a:t>
            </a:r>
            <a:endParaRPr lang="en-US" sz="1000"/>
          </a:p>
        </p:txBody>
      </p:sp>
      <p:sp>
        <p:nvSpPr>
          <p:cNvPr id="18" name="Text"/>
          <p:cNvSpPr/>
          <p:nvPr/>
        </p:nvSpPr>
        <p:spPr>
          <a:xfrm>
            <a:off x="5486400" y="2926080"/>
            <a:ext cx="2560320" cy="320040"/>
          </a:xfrm>
          <a:prstGeom prst="rect">
            <a:avLst/>
          </a:prstGeom>
          <a:noFill/>
          <a:ln/>
        </p:spPr>
        <p:txBody>
          <a:bodyPr wrap="square" lIns="0" tIns="0" rIns="0" bIns="0" rtlCol="0" anchor="ctr">
            <a:normAutofit/>
          </a:bodyPr>
          <a:lstStyle/>
          <a:p>
            <a:pPr marL="0" indent="0" algn="ctr">
              <a:buNone/>
            </a:pPr>
            <a:r>
              <a:rPr lang="en-US" sz="1300" b="1" i="0">
                <a:solidFill>
                  <a:srgbClr val="1A1A2E"/>
                </a:solidFill>
                <a:latin typeface="Georgia" pitchFamily="34" charset="0"/>
                <a:ea typeface="Georgia" pitchFamily="34" charset="-122"/>
                <a:cs typeface="Georgia" pitchFamily="34" charset="-120"/>
              </a:rPr>
              <a:t>θB</a:t>
            </a:r>
            <a:endParaRPr lang="en-US" sz="1300"/>
          </a:p>
        </p:txBody>
      </p:sp>
      <p:sp>
        <p:nvSpPr>
          <p:cNvPr id="19" name="Connector">
            <a:extLst>
              <a:ext uri="{C183D7F6-B498-43B3-948B-1728B52AA6E4}">
                <adec:decorative xmlns:adec="http://schemas.microsoft.com/office/drawing/2017/decorative" val="1"/>
              </a:ext>
            </a:extLst>
          </p:cNvPr>
          <p:cNvSpPr/>
          <p:nvPr/>
        </p:nvSpPr>
        <p:spPr>
          <a:xfrm>
            <a:off x="6766560" y="3383280"/>
            <a:ext cx="0" cy="274320"/>
          </a:xfrm>
          <a:prstGeom prst="line">
            <a:avLst/>
          </a:prstGeom>
          <a:noFill/>
          <a:ln w="12700">
            <a:solidFill>
              <a:srgbClr val="3730A3"/>
            </a:solidFill>
            <a:prstDash val="solid"/>
            <a:tailEnd type="triangle" w="med" len="med"/>
          </a:ln>
        </p:spPr>
        <p:txBody>
          <a:bodyPr/>
          <a:lstStyle/>
          <a:p>
            <a:endParaRPr lang="en-US"/>
          </a:p>
        </p:txBody>
      </p:sp>
      <p:sp>
        <p:nvSpPr>
          <p:cNvPr id="20" name="Text"/>
          <p:cNvSpPr/>
          <p:nvPr/>
        </p:nvSpPr>
        <p:spPr>
          <a:xfrm>
            <a:off x="5486400" y="3703320"/>
            <a:ext cx="2560320" cy="274320"/>
          </a:xfrm>
          <a:prstGeom prst="rect">
            <a:avLst/>
          </a:prstGeom>
          <a:noFill/>
          <a:ln/>
        </p:spPr>
        <p:txBody>
          <a:bodyPr wrap="square" lIns="0" tIns="0" rIns="0" bIns="0" rtlCol="0" anchor="ctr">
            <a:normAutofit/>
          </a:bodyPr>
          <a:lstStyle/>
          <a:p>
            <a:pPr marL="0" indent="0" algn="ctr">
              <a:buNone/>
            </a:pPr>
            <a:r>
              <a:rPr lang="en-US" sz="1100" b="1" i="0">
                <a:solidFill>
                  <a:srgbClr val="C0392B"/>
                </a:solidFill>
                <a:latin typeface="Georgia" pitchFamily="34" charset="0"/>
                <a:ea typeface="Georgia" pitchFamily="34" charset="-122"/>
                <a:cs typeface="Georgia" pitchFamily="34" charset="-120"/>
              </a:rPr>
              <a:t>outcome</a:t>
            </a:r>
            <a:endParaRPr lang="en-US" sz="1100"/>
          </a:p>
        </p:txBody>
      </p:sp>
      <p:sp>
        <p:nvSpPr>
          <p:cNvPr id="21"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One shared pair, two independent settings, two outcomes — the whole Bell experiment.</a:t>
            </a:r>
            <a:endParaRPr lang="en-US" sz="125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Quantum prediction</a:t>
            </a:r>
            <a:endParaRPr lang="en-US" sz="2500"/>
          </a:p>
        </p:txBody>
      </p:sp>
      <p:sp>
        <p:nvSpPr>
          <p:cNvPr id="3" name="Card frame">
            <a:extLst>
              <a:ext uri="{C183D7F6-B498-43B3-948B-1728B52AA6E4}">
                <adec:decorative xmlns:adec="http://schemas.microsoft.com/office/drawing/2017/decorative" val="1"/>
              </a:ext>
            </a:extLst>
          </p:cNvPr>
          <p:cNvSpPr/>
          <p:nvPr/>
        </p:nvSpPr>
        <p:spPr>
          <a:xfrm>
            <a:off x="1600200" y="1097280"/>
            <a:ext cx="594360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1600200" y="1097280"/>
            <a:ext cx="5943600" cy="731520"/>
          </a:xfrm>
          <a:prstGeom prst="rect">
            <a:avLst/>
          </a:prstGeom>
          <a:noFill/>
          <a:ln/>
        </p:spPr>
        <p:txBody>
          <a:bodyPr wrap="square" lIns="0" tIns="0" rIns="0" bIns="0" rtlCol="0" anchor="ctr">
            <a:normAutofit/>
          </a:bodyPr>
          <a:lstStyle/>
          <a:p>
            <a:pPr marL="0" indent="0" algn="ctr">
              <a:buNone/>
            </a:pPr>
            <a:r>
              <a:rPr lang="en-US" sz="2000" b="1" i="0">
                <a:solidFill>
                  <a:srgbClr val="3730A3"/>
                </a:solidFill>
                <a:latin typeface="Georgia" pitchFamily="34" charset="0"/>
                <a:ea typeface="Georgia" pitchFamily="34" charset="-122"/>
                <a:cs typeface="Georgia" pitchFamily="34" charset="-120"/>
              </a:rPr>
              <a:t>P(same)  =  cos²(θ₁ − θ₂)</a:t>
            </a:r>
            <a:endParaRPr lang="en-US" sz="2000"/>
          </a:p>
        </p:txBody>
      </p:sp>
      <p:sp>
        <p:nvSpPr>
          <p:cNvPr id="5" name="Card frame">
            <a:extLst>
              <a:ext uri="{C183D7F6-B498-43B3-948B-1728B52AA6E4}">
                <adec:decorative xmlns:adec="http://schemas.microsoft.com/office/drawing/2017/decorative" val="1"/>
              </a:ext>
            </a:extLst>
          </p:cNvPr>
          <p:cNvSpPr/>
          <p:nvPr/>
        </p:nvSpPr>
        <p:spPr>
          <a:xfrm>
            <a:off x="777240" y="2194560"/>
            <a:ext cx="2377440" cy="1554480"/>
          </a:xfrm>
          <a:prstGeom prst="roundRect">
            <a:avLst>
              <a:gd name="adj" fmla="val 5000"/>
            </a:avLst>
          </a:prstGeom>
          <a:solidFill>
            <a:srgbClr val="FFFFFF"/>
          </a:solidFill>
          <a:ln w="17780">
            <a:solidFill>
              <a:srgbClr val="3730A3"/>
            </a:solidFill>
            <a:prstDash val="solid"/>
          </a:ln>
        </p:spPr>
        <p:txBody>
          <a:bodyPr/>
          <a:lstStyle/>
          <a:p>
            <a:endParaRPr lang="en-US"/>
          </a:p>
        </p:txBody>
      </p:sp>
      <p:sp>
        <p:nvSpPr>
          <p:cNvPr id="6" name="Text"/>
          <p:cNvSpPr/>
          <p:nvPr/>
        </p:nvSpPr>
        <p:spPr>
          <a:xfrm>
            <a:off x="777240" y="2331720"/>
            <a:ext cx="2377440" cy="25146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same angle</a:t>
            </a:r>
            <a:endParaRPr lang="en-US" sz="1100"/>
          </a:p>
        </p:txBody>
      </p:sp>
      <p:sp>
        <p:nvSpPr>
          <p:cNvPr id="7" name="Text"/>
          <p:cNvSpPr/>
          <p:nvPr/>
        </p:nvSpPr>
        <p:spPr>
          <a:xfrm>
            <a:off x="777240" y="2651760"/>
            <a:ext cx="2377440" cy="274320"/>
          </a:xfrm>
          <a:prstGeom prst="rect">
            <a:avLst/>
          </a:prstGeom>
          <a:noFill/>
          <a:ln/>
        </p:spPr>
        <p:txBody>
          <a:bodyPr wrap="square" lIns="0" tIns="0" rIns="0" bIns="0" rtlCol="0" anchor="ctr">
            <a:normAutofit/>
          </a:bodyPr>
          <a:lstStyle/>
          <a:p>
            <a:pPr marL="0" indent="0" algn="ctr">
              <a:buNone/>
            </a:pPr>
            <a:r>
              <a:rPr lang="en-US" sz="1000" b="0" i="0">
                <a:solidFill>
                  <a:srgbClr val="6B7280"/>
                </a:solidFill>
                <a:latin typeface="Georgia" pitchFamily="34" charset="0"/>
                <a:ea typeface="Georgia" pitchFamily="34" charset="-122"/>
                <a:cs typeface="Georgia" pitchFamily="34" charset="-120"/>
              </a:rPr>
              <a:t>θ₁ − θ₂ = 0°</a:t>
            </a:r>
            <a:endParaRPr lang="en-US" sz="1000"/>
          </a:p>
        </p:txBody>
      </p:sp>
      <p:sp>
        <p:nvSpPr>
          <p:cNvPr id="8" name="Text"/>
          <p:cNvSpPr/>
          <p:nvPr/>
        </p:nvSpPr>
        <p:spPr>
          <a:xfrm>
            <a:off x="777240" y="3017520"/>
            <a:ext cx="2377440" cy="548640"/>
          </a:xfrm>
          <a:prstGeom prst="rect">
            <a:avLst/>
          </a:prstGeom>
          <a:noFill/>
          <a:ln/>
        </p:spPr>
        <p:txBody>
          <a:bodyPr wrap="square" lIns="0" tIns="0" rIns="0" bIns="0" rtlCol="0" anchor="ctr">
            <a:normAutofit/>
          </a:bodyPr>
          <a:lstStyle/>
          <a:p>
            <a:pPr marL="0" indent="0" algn="ctr">
              <a:buNone/>
            </a:pPr>
            <a:r>
              <a:rPr lang="en-US" sz="2200" b="1" i="0">
                <a:solidFill>
                  <a:srgbClr val="3730A3"/>
                </a:solidFill>
                <a:latin typeface="Georgia" pitchFamily="34" charset="0"/>
                <a:ea typeface="Georgia" pitchFamily="34" charset="-122"/>
                <a:cs typeface="Georgia" pitchFamily="34" charset="-120"/>
              </a:rPr>
              <a:t>1</a:t>
            </a:r>
            <a:endParaRPr lang="en-US" sz="2200"/>
          </a:p>
        </p:txBody>
      </p:sp>
      <p:sp>
        <p:nvSpPr>
          <p:cNvPr id="9" name="Card frame">
            <a:extLst>
              <a:ext uri="{C183D7F6-B498-43B3-948B-1728B52AA6E4}">
                <adec:decorative xmlns:adec="http://schemas.microsoft.com/office/drawing/2017/decorative" val="1"/>
              </a:ext>
            </a:extLst>
          </p:cNvPr>
          <p:cNvSpPr/>
          <p:nvPr/>
        </p:nvSpPr>
        <p:spPr>
          <a:xfrm>
            <a:off x="3383280" y="2194560"/>
            <a:ext cx="2377440" cy="155448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10" name="Text"/>
          <p:cNvSpPr/>
          <p:nvPr/>
        </p:nvSpPr>
        <p:spPr>
          <a:xfrm>
            <a:off x="3383280" y="2331720"/>
            <a:ext cx="2377440" cy="251460"/>
          </a:xfrm>
          <a:prstGeom prst="rect">
            <a:avLst/>
          </a:prstGeom>
          <a:noFill/>
          <a:ln/>
        </p:spPr>
        <p:txBody>
          <a:bodyPr wrap="square" lIns="0" tIns="0" rIns="0" bIns="0" rtlCol="0" anchor="ctr">
            <a:normAutofit/>
          </a:bodyPr>
          <a:lstStyle/>
          <a:p>
            <a:pPr marL="0" indent="0" algn="ctr">
              <a:buNone/>
            </a:pPr>
            <a:r>
              <a:rPr lang="en-US" sz="1100" b="1" i="0">
                <a:solidFill>
                  <a:srgbClr val="C0392B"/>
                </a:solidFill>
                <a:latin typeface="Georgia" pitchFamily="34" charset="0"/>
                <a:ea typeface="Georgia" pitchFamily="34" charset="-122"/>
                <a:cs typeface="Georgia" pitchFamily="34" charset="-120"/>
              </a:rPr>
              <a:t>90° apart</a:t>
            </a:r>
            <a:endParaRPr lang="en-US" sz="1100"/>
          </a:p>
        </p:txBody>
      </p:sp>
      <p:sp>
        <p:nvSpPr>
          <p:cNvPr id="11" name="Text"/>
          <p:cNvSpPr/>
          <p:nvPr/>
        </p:nvSpPr>
        <p:spPr>
          <a:xfrm>
            <a:off x="3383280" y="2651760"/>
            <a:ext cx="2377440" cy="274320"/>
          </a:xfrm>
          <a:prstGeom prst="rect">
            <a:avLst/>
          </a:prstGeom>
          <a:noFill/>
          <a:ln/>
        </p:spPr>
        <p:txBody>
          <a:bodyPr wrap="square" lIns="0" tIns="0" rIns="0" bIns="0" rtlCol="0" anchor="ctr">
            <a:normAutofit/>
          </a:bodyPr>
          <a:lstStyle/>
          <a:p>
            <a:pPr marL="0" indent="0" algn="ctr">
              <a:buNone/>
            </a:pPr>
            <a:r>
              <a:rPr lang="en-US" sz="1000" b="0" i="0">
                <a:solidFill>
                  <a:srgbClr val="6B7280"/>
                </a:solidFill>
                <a:latin typeface="Georgia" pitchFamily="34" charset="0"/>
                <a:ea typeface="Georgia" pitchFamily="34" charset="-122"/>
                <a:cs typeface="Georgia" pitchFamily="34" charset="-120"/>
              </a:rPr>
              <a:t>θ₁ − θ₂ = 90°</a:t>
            </a:r>
            <a:endParaRPr lang="en-US" sz="1000"/>
          </a:p>
        </p:txBody>
      </p:sp>
      <p:sp>
        <p:nvSpPr>
          <p:cNvPr id="12" name="Text"/>
          <p:cNvSpPr/>
          <p:nvPr/>
        </p:nvSpPr>
        <p:spPr>
          <a:xfrm>
            <a:off x="3383280" y="3017520"/>
            <a:ext cx="2377440" cy="548640"/>
          </a:xfrm>
          <a:prstGeom prst="rect">
            <a:avLst/>
          </a:prstGeom>
          <a:noFill/>
          <a:ln/>
        </p:spPr>
        <p:txBody>
          <a:bodyPr wrap="square" lIns="0" tIns="0" rIns="0" bIns="0" rtlCol="0" anchor="ctr">
            <a:normAutofit/>
          </a:bodyPr>
          <a:lstStyle/>
          <a:p>
            <a:pPr marL="0" indent="0" algn="ctr">
              <a:buNone/>
            </a:pPr>
            <a:r>
              <a:rPr lang="en-US" sz="2200" b="1" i="0">
                <a:solidFill>
                  <a:srgbClr val="C0392B"/>
                </a:solidFill>
                <a:latin typeface="Georgia" pitchFamily="34" charset="0"/>
                <a:ea typeface="Georgia" pitchFamily="34" charset="-122"/>
                <a:cs typeface="Georgia" pitchFamily="34" charset="-120"/>
              </a:rPr>
              <a:t>0</a:t>
            </a:r>
            <a:endParaRPr lang="en-US" sz="2200"/>
          </a:p>
        </p:txBody>
      </p:sp>
      <p:sp>
        <p:nvSpPr>
          <p:cNvPr id="13" name="Card frame">
            <a:extLst>
              <a:ext uri="{C183D7F6-B498-43B3-948B-1728B52AA6E4}">
                <adec:decorative xmlns:adec="http://schemas.microsoft.com/office/drawing/2017/decorative" val="1"/>
              </a:ext>
            </a:extLst>
          </p:cNvPr>
          <p:cNvSpPr/>
          <p:nvPr/>
        </p:nvSpPr>
        <p:spPr>
          <a:xfrm>
            <a:off x="5989320" y="2194560"/>
            <a:ext cx="2377440" cy="1554480"/>
          </a:xfrm>
          <a:prstGeom prst="roundRect">
            <a:avLst>
              <a:gd name="adj" fmla="val 5000"/>
            </a:avLst>
          </a:prstGeom>
          <a:solidFill>
            <a:srgbClr val="FFFFFF"/>
          </a:solidFill>
          <a:ln w="17780">
            <a:solidFill>
              <a:srgbClr val="0F766E"/>
            </a:solidFill>
            <a:prstDash val="solid"/>
          </a:ln>
        </p:spPr>
        <p:txBody>
          <a:bodyPr/>
          <a:lstStyle/>
          <a:p>
            <a:endParaRPr lang="en-US"/>
          </a:p>
        </p:txBody>
      </p:sp>
      <p:sp>
        <p:nvSpPr>
          <p:cNvPr id="14" name="Text"/>
          <p:cNvSpPr/>
          <p:nvPr/>
        </p:nvSpPr>
        <p:spPr>
          <a:xfrm>
            <a:off x="5989320" y="2331720"/>
            <a:ext cx="2377440" cy="251460"/>
          </a:xfrm>
          <a:prstGeom prst="rect">
            <a:avLst/>
          </a:prstGeom>
          <a:noFill/>
          <a:ln/>
        </p:spPr>
        <p:txBody>
          <a:bodyPr wrap="square" lIns="0" tIns="0" rIns="0" bIns="0" rtlCol="0" anchor="ctr">
            <a:normAutofit/>
          </a:bodyPr>
          <a:lstStyle/>
          <a:p>
            <a:pPr marL="0" indent="0" algn="ctr">
              <a:buNone/>
            </a:pPr>
            <a:r>
              <a:rPr lang="en-US" sz="1100" b="1" i="0">
                <a:solidFill>
                  <a:srgbClr val="0F766E"/>
                </a:solidFill>
                <a:latin typeface="Georgia" pitchFamily="34" charset="0"/>
                <a:ea typeface="Georgia" pitchFamily="34" charset="-122"/>
                <a:cs typeface="Georgia" pitchFamily="34" charset="-120"/>
              </a:rPr>
              <a:t>60° apart</a:t>
            </a:r>
            <a:endParaRPr lang="en-US" sz="1100"/>
          </a:p>
        </p:txBody>
      </p:sp>
      <p:sp>
        <p:nvSpPr>
          <p:cNvPr id="15" name="Text"/>
          <p:cNvSpPr/>
          <p:nvPr/>
        </p:nvSpPr>
        <p:spPr>
          <a:xfrm>
            <a:off x="5989320" y="2651760"/>
            <a:ext cx="2377440" cy="274320"/>
          </a:xfrm>
          <a:prstGeom prst="rect">
            <a:avLst/>
          </a:prstGeom>
          <a:noFill/>
          <a:ln/>
        </p:spPr>
        <p:txBody>
          <a:bodyPr wrap="square" lIns="0" tIns="0" rIns="0" bIns="0" rtlCol="0" anchor="ctr">
            <a:normAutofit/>
          </a:bodyPr>
          <a:lstStyle/>
          <a:p>
            <a:pPr marL="0" indent="0" algn="ctr">
              <a:buNone/>
            </a:pPr>
            <a:r>
              <a:rPr lang="en-US" sz="1000" b="0" i="0">
                <a:solidFill>
                  <a:srgbClr val="6B7280"/>
                </a:solidFill>
                <a:latin typeface="Georgia" pitchFamily="34" charset="0"/>
                <a:ea typeface="Georgia" pitchFamily="34" charset="-122"/>
                <a:cs typeface="Georgia" pitchFamily="34" charset="-120"/>
              </a:rPr>
              <a:t>θ₁ − θ₂ = 60°</a:t>
            </a:r>
            <a:endParaRPr lang="en-US" sz="1000"/>
          </a:p>
        </p:txBody>
      </p:sp>
      <p:sp>
        <p:nvSpPr>
          <p:cNvPr id="16" name="Text"/>
          <p:cNvSpPr/>
          <p:nvPr/>
        </p:nvSpPr>
        <p:spPr>
          <a:xfrm>
            <a:off x="5989320" y="3017520"/>
            <a:ext cx="2377440" cy="548640"/>
          </a:xfrm>
          <a:prstGeom prst="rect">
            <a:avLst/>
          </a:prstGeom>
          <a:noFill/>
          <a:ln/>
        </p:spPr>
        <p:txBody>
          <a:bodyPr wrap="square" lIns="0" tIns="0" rIns="0" bIns="0" rtlCol="0" anchor="ctr">
            <a:normAutofit/>
          </a:bodyPr>
          <a:lstStyle/>
          <a:p>
            <a:pPr marL="0" indent="0" algn="ctr">
              <a:buNone/>
            </a:pPr>
            <a:r>
              <a:rPr lang="en-US" sz="2200" b="1" i="0">
                <a:solidFill>
                  <a:srgbClr val="0F766E"/>
                </a:solidFill>
                <a:latin typeface="Georgia" pitchFamily="34" charset="0"/>
                <a:ea typeface="Georgia" pitchFamily="34" charset="-122"/>
                <a:cs typeface="Georgia" pitchFamily="34" charset="-120"/>
              </a:rPr>
              <a:t>1/4</a:t>
            </a:r>
            <a:endParaRPr lang="en-US" sz="2200"/>
          </a:p>
        </p:txBody>
      </p:sp>
      <p:sp>
        <p:nvSpPr>
          <p:cNvPr id="17"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The same cosine-squared law covers perfect correlation, no correlation, and everything between.</a:t>
            </a:r>
            <a:endParaRPr lang="en-US" sz="125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Local hidden-variable assumption</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234440"/>
            <a:ext cx="3611880" cy="155448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960120" y="137160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3730A3"/>
                </a:solidFill>
                <a:latin typeface="Georgia" pitchFamily="34" charset="0"/>
                <a:ea typeface="Georgia" pitchFamily="34" charset="-122"/>
                <a:cs typeface="Georgia" pitchFamily="34" charset="-120"/>
              </a:rPr>
              <a:t>THREE SETTINGS</a:t>
            </a:r>
            <a:endParaRPr lang="en-US" sz="1000"/>
          </a:p>
        </p:txBody>
      </p:sp>
      <p:sp>
        <p:nvSpPr>
          <p:cNvPr id="5" name="Text"/>
          <p:cNvSpPr/>
          <p:nvPr/>
        </p:nvSpPr>
        <p:spPr>
          <a:xfrm>
            <a:off x="960120" y="1691640"/>
            <a:ext cx="3246120" cy="457200"/>
          </a:xfrm>
          <a:prstGeom prst="rect">
            <a:avLst/>
          </a:prstGeom>
          <a:noFill/>
          <a:ln/>
        </p:spPr>
        <p:txBody>
          <a:bodyPr wrap="square" lIns="0" tIns="0" rIns="0" bIns="0" rtlCol="0" anchor="ctr">
            <a:normAutofit/>
          </a:bodyPr>
          <a:lstStyle/>
          <a:p>
            <a:pPr marL="0" indent="0" algn="ctr">
              <a:buNone/>
            </a:pPr>
            <a:r>
              <a:rPr lang="en-US" sz="1800" b="1" i="0">
                <a:solidFill>
                  <a:srgbClr val="3730A3"/>
                </a:solidFill>
                <a:latin typeface="Georgia" pitchFamily="34" charset="0"/>
                <a:ea typeface="Georgia" pitchFamily="34" charset="-122"/>
                <a:cs typeface="Georgia" pitchFamily="34" charset="-120"/>
              </a:rPr>
              <a:t>a      b      c</a:t>
            </a:r>
            <a:endParaRPr lang="en-US" sz="1800"/>
          </a:p>
        </p:txBody>
      </p:sp>
      <p:sp>
        <p:nvSpPr>
          <p:cNvPr id="6" name="Text"/>
          <p:cNvSpPr/>
          <p:nvPr/>
        </p:nvSpPr>
        <p:spPr>
          <a:xfrm>
            <a:off x="960120" y="2240280"/>
            <a:ext cx="3246120" cy="457200"/>
          </a:xfrm>
          <a:prstGeom prst="rect">
            <a:avLst/>
          </a:prstGeom>
          <a:noFill/>
          <a:ln/>
        </p:spPr>
        <p:txBody>
          <a:bodyPr wrap="square" lIns="0" tIns="0" rIns="0" bIns="0" rtlCol="0" anchor="t">
            <a:normAutofit/>
          </a:bodyPr>
          <a:lstStyle/>
          <a:p>
            <a:pPr marL="0" indent="0" algn="ctr">
              <a:buNone/>
            </a:pPr>
            <a:r>
              <a:rPr lang="en-US" sz="1150" b="0" i="0">
                <a:solidFill>
                  <a:srgbClr val="1A1A2E"/>
                </a:solidFill>
                <a:latin typeface="Georgia" pitchFamily="34" charset="0"/>
                <a:ea typeface="Georgia" pitchFamily="34" charset="-122"/>
                <a:cs typeface="Georgia" pitchFamily="34" charset="-120"/>
              </a:rPr>
              <a:t>Each particle carries predetermined outcomes for every setting.</a:t>
            </a:r>
            <a:endParaRPr lang="en-US" sz="1150"/>
          </a:p>
        </p:txBody>
      </p:sp>
      <p:sp>
        <p:nvSpPr>
          <p:cNvPr id="7" name="Card frame">
            <a:extLst>
              <a:ext uri="{C183D7F6-B498-43B3-948B-1728B52AA6E4}">
                <adec:decorative xmlns:adec="http://schemas.microsoft.com/office/drawing/2017/decorative" val="1"/>
              </a:ext>
            </a:extLst>
          </p:cNvPr>
          <p:cNvSpPr/>
          <p:nvPr/>
        </p:nvSpPr>
        <p:spPr>
          <a:xfrm>
            <a:off x="4754400" y="1234440"/>
            <a:ext cx="3611880" cy="155448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8" name="Text"/>
          <p:cNvSpPr/>
          <p:nvPr/>
        </p:nvSpPr>
        <p:spPr>
          <a:xfrm>
            <a:off x="4937280" y="137160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C0392B"/>
                </a:solidFill>
                <a:latin typeface="Georgia" pitchFamily="34" charset="0"/>
                <a:ea typeface="Georgia" pitchFamily="34" charset="-122"/>
                <a:cs typeface="Georgia" pitchFamily="34" charset="-120"/>
              </a:rPr>
              <a:t>EACH SETTING</a:t>
            </a:r>
            <a:endParaRPr lang="en-US" sz="1000"/>
          </a:p>
        </p:txBody>
      </p:sp>
      <p:sp>
        <p:nvSpPr>
          <p:cNvPr id="9" name="Text"/>
          <p:cNvSpPr/>
          <p:nvPr/>
        </p:nvSpPr>
        <p:spPr>
          <a:xfrm>
            <a:off x="4937280" y="1691640"/>
            <a:ext cx="1554480" cy="457200"/>
          </a:xfrm>
          <a:prstGeom prst="rect">
            <a:avLst/>
          </a:prstGeom>
          <a:noFill/>
          <a:ln/>
        </p:spPr>
        <p:txBody>
          <a:bodyPr wrap="square" lIns="0" tIns="0" rIns="0" bIns="0" rtlCol="0" anchor="ctr">
            <a:normAutofit/>
          </a:bodyPr>
          <a:lstStyle/>
          <a:p>
            <a:pPr marL="0" indent="0" algn="ctr">
              <a:buNone/>
            </a:pPr>
            <a:r>
              <a:rPr lang="en-US" sz="1500" b="1" i="0">
                <a:solidFill>
                  <a:srgbClr val="3730A3"/>
                </a:solidFill>
                <a:latin typeface="Georgia" pitchFamily="34" charset="0"/>
                <a:ea typeface="Georgia" pitchFamily="34" charset="-122"/>
                <a:cs typeface="Georgia" pitchFamily="34" charset="-120"/>
              </a:rPr>
              <a:t>PASS</a:t>
            </a:r>
            <a:endParaRPr lang="en-US" sz="1500"/>
          </a:p>
        </p:txBody>
      </p:sp>
      <p:sp>
        <p:nvSpPr>
          <p:cNvPr id="10" name="Text"/>
          <p:cNvSpPr/>
          <p:nvPr/>
        </p:nvSpPr>
        <p:spPr>
          <a:xfrm>
            <a:off x="6583680" y="1691640"/>
            <a:ext cx="1600200" cy="457200"/>
          </a:xfrm>
          <a:prstGeom prst="rect">
            <a:avLst/>
          </a:prstGeom>
          <a:noFill/>
          <a:ln/>
        </p:spPr>
        <p:txBody>
          <a:bodyPr wrap="square" lIns="0" tIns="0" rIns="0" bIns="0" rtlCol="0" anchor="ctr">
            <a:normAutofit/>
          </a:bodyPr>
          <a:lstStyle/>
          <a:p>
            <a:pPr marL="0" indent="0" algn="ctr">
              <a:buNone/>
            </a:pPr>
            <a:r>
              <a:rPr lang="en-US" sz="1500" b="1" i="0">
                <a:solidFill>
                  <a:srgbClr val="C0392B"/>
                </a:solidFill>
                <a:latin typeface="Georgia" pitchFamily="34" charset="0"/>
                <a:ea typeface="Georgia" pitchFamily="34" charset="-122"/>
                <a:cs typeface="Georgia" pitchFamily="34" charset="-120"/>
              </a:rPr>
              <a:t>ABSORB</a:t>
            </a:r>
            <a:endParaRPr lang="en-US" sz="1500"/>
          </a:p>
        </p:txBody>
      </p:sp>
      <p:sp>
        <p:nvSpPr>
          <p:cNvPr id="11" name="Text"/>
          <p:cNvSpPr/>
          <p:nvPr/>
        </p:nvSpPr>
        <p:spPr>
          <a:xfrm>
            <a:off x="4937280" y="2240280"/>
            <a:ext cx="3246120" cy="457200"/>
          </a:xfrm>
          <a:prstGeom prst="rect">
            <a:avLst/>
          </a:prstGeom>
          <a:noFill/>
          <a:ln/>
        </p:spPr>
        <p:txBody>
          <a:bodyPr wrap="square" lIns="0" tIns="0" rIns="0" bIns="0" rtlCol="0" anchor="t">
            <a:normAutofit/>
          </a:bodyPr>
          <a:lstStyle/>
          <a:p>
            <a:pPr marL="0" indent="0" algn="ctr">
              <a:buNone/>
            </a:pPr>
            <a:r>
              <a:rPr lang="en-US" sz="1150" b="0" i="0">
                <a:solidFill>
                  <a:srgbClr val="1A1A2E"/>
                </a:solidFill>
                <a:latin typeface="Georgia" pitchFamily="34" charset="0"/>
                <a:ea typeface="Georgia" pitchFamily="34" charset="-122"/>
                <a:cs typeface="Georgia" pitchFamily="34" charset="-120"/>
              </a:rPr>
              <a:t>Two possible results at each of the three angles.</a:t>
            </a:r>
            <a:endParaRPr lang="en-US" sz="1150"/>
          </a:p>
        </p:txBody>
      </p:sp>
      <p:sp>
        <p:nvSpPr>
          <p:cNvPr id="12" name="Text"/>
          <p:cNvSpPr/>
          <p:nvPr/>
        </p:nvSpPr>
        <p:spPr>
          <a:xfrm>
            <a:off x="3931920" y="2743200"/>
            <a:ext cx="1280160" cy="274320"/>
          </a:xfrm>
          <a:prstGeom prst="rect">
            <a:avLst/>
          </a:prstGeom>
          <a:noFill/>
          <a:ln/>
        </p:spPr>
        <p:txBody>
          <a:bodyPr wrap="square" lIns="0" tIns="0" rIns="0" bIns="0" rtlCol="0" anchor="ctr">
            <a:normAutofit/>
          </a:bodyPr>
          <a:lstStyle/>
          <a:p>
            <a:pPr marL="0" indent="0" algn="ctr">
              <a:buNone/>
            </a:pPr>
            <a:r>
              <a:rPr lang="en-US" sz="1400" b="1" i="0">
                <a:solidFill>
                  <a:srgbClr val="3730A3"/>
                </a:solidFill>
                <a:latin typeface="Georgia" pitchFamily="34" charset="0"/>
                <a:ea typeface="Georgia" pitchFamily="34" charset="-122"/>
                <a:cs typeface="Georgia" pitchFamily="34" charset="-120"/>
              </a:rPr>
              <a:t>↓</a:t>
            </a:r>
            <a:endParaRPr lang="en-US" sz="1400"/>
          </a:p>
        </p:txBody>
      </p:sp>
      <p:sp>
        <p:nvSpPr>
          <p:cNvPr id="13" name="Card frame">
            <a:extLst>
              <a:ext uri="{C183D7F6-B498-43B3-948B-1728B52AA6E4}">
                <adec:decorative xmlns:adec="http://schemas.microsoft.com/office/drawing/2017/decorative" val="1"/>
              </a:ext>
            </a:extLst>
          </p:cNvPr>
          <p:cNvSpPr/>
          <p:nvPr/>
        </p:nvSpPr>
        <p:spPr>
          <a:xfrm>
            <a:off x="2377440" y="3063240"/>
            <a:ext cx="438912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4" name="Text"/>
          <p:cNvSpPr/>
          <p:nvPr/>
        </p:nvSpPr>
        <p:spPr>
          <a:xfrm>
            <a:off x="2560320" y="3063240"/>
            <a:ext cx="4023360" cy="731520"/>
          </a:xfrm>
          <a:prstGeom prst="rect">
            <a:avLst/>
          </a:prstGeom>
          <a:noFill/>
          <a:ln/>
        </p:spPr>
        <p:txBody>
          <a:bodyPr wrap="square" lIns="0" tIns="0" rIns="0" bIns="0" rtlCol="0" anchor="ctr">
            <a:normAutofit/>
          </a:bodyPr>
          <a:lstStyle/>
          <a:p>
            <a:pPr marL="0" indent="0" algn="ctr">
              <a:buNone/>
            </a:pPr>
            <a:r>
              <a:rPr lang="en-US" sz="1600" b="1" i="0">
                <a:solidFill>
                  <a:srgbClr val="3730A3"/>
                </a:solidFill>
                <a:latin typeface="Georgia" pitchFamily="34" charset="0"/>
                <a:ea typeface="Georgia" pitchFamily="34" charset="-122"/>
                <a:cs typeface="Georgia" pitchFamily="34" charset="-120"/>
              </a:rPr>
              <a:t>2³  =  8  deterministic assignments</a:t>
            </a:r>
            <a:endParaRPr lang="en-US" sz="1600"/>
          </a:p>
        </p:txBody>
      </p:sp>
      <p:sp>
        <p:nvSpPr>
          <p:cNvPr id="15"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Every local hidden-variable model is one of just eight instruction sets per particle.</a:t>
            </a:r>
            <a:endParaRPr lang="en-US" sz="125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Bell inequality</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234440"/>
            <a:ext cx="2194560" cy="914400"/>
          </a:xfrm>
          <a:prstGeom prst="roundRect">
            <a:avLst>
              <a:gd name="adj" fmla="val 5000"/>
            </a:avLst>
          </a:prstGeom>
          <a:solidFill>
            <a:srgbClr val="F4F5FB"/>
          </a:solidFill>
          <a:ln w="1524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4" name="Text"/>
              <p:cNvSpPr/>
              <p:nvPr/>
            </p:nvSpPr>
            <p:spPr>
              <a:xfrm>
                <a:off x="777240" y="1371600"/>
                <a:ext cx="2194560" cy="32004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
                      <m:sSub>
                        <m:sSubPr>
                          <m:ctrlPr>
                            <a:rPr lang="en-US" sz="1600" b="1" i="1" dirty="0" smtClean="0">
                              <a:solidFill>
                                <a:srgbClr val="3730A3"/>
                              </a:solidFill>
                              <a:latin typeface="Cambria Math" panose="02040503050406030204" pitchFamily="18" charset="0"/>
                              <a:ea typeface="Georgia" pitchFamily="34" charset="-122"/>
                              <a:cs typeface="Georgia" pitchFamily="34" charset="-120"/>
                            </a:rPr>
                          </m:ctrlPr>
                        </m:sSubPr>
                        <m:e>
                          <m:r>
                            <a:rPr lang="en-US" sz="1600" b="1" i="1" dirty="0" smtClean="0">
                              <a:solidFill>
                                <a:srgbClr val="3730A3"/>
                              </a:solidFill>
                              <a:latin typeface="Cambria Math" panose="02040503050406030204" pitchFamily="18" charset="0"/>
                              <a:ea typeface="Georgia" pitchFamily="34" charset="-122"/>
                              <a:cs typeface="Georgia" pitchFamily="34" charset="-120"/>
                            </a:rPr>
                            <m:t>𝑷</m:t>
                          </m:r>
                        </m:e>
                        <m:sub>
                          <m:r>
                            <a:rPr lang="en-US" sz="1600" b="1" i="1" dirty="0" smtClean="0">
                              <a:solidFill>
                                <a:srgbClr val="3730A3"/>
                              </a:solidFill>
                              <a:latin typeface="Cambria Math" panose="02040503050406030204" pitchFamily="18" charset="0"/>
                              <a:ea typeface="Georgia" pitchFamily="34" charset="-122"/>
                              <a:cs typeface="Georgia" pitchFamily="34" charset="-120"/>
                            </a:rPr>
                            <m:t>𝒂𝒃</m:t>
                          </m:r>
                        </m:sub>
                      </m:sSub>
                    </m:oMath>
                  </m:oMathPara>
                </a14:m>
                <a:endParaRPr lang="en-US" sz="1600" dirty="0"/>
              </a:p>
            </p:txBody>
          </p:sp>
        </mc:Choice>
        <mc:Fallback xmlns="">
          <p:sp>
            <p:nvSpPr>
              <p:cNvPr id="4" name="Text"/>
              <p:cNvSpPr>
                <a:spLocks noRot="1" noChangeAspect="1" noMove="1" noResize="1" noEditPoints="1" noAdjustHandles="1" noChangeArrowheads="1" noChangeShapeType="1" noTextEdit="1"/>
              </p:cNvSpPr>
              <p:nvPr/>
            </p:nvSpPr>
            <p:spPr>
              <a:xfrm>
                <a:off x="777240" y="1371600"/>
                <a:ext cx="2194560" cy="320040"/>
              </a:xfrm>
              <a:prstGeom prst="rect">
                <a:avLst/>
              </a:prstGeom>
              <a:blipFill>
                <a:blip r:embed="rId2"/>
                <a:stretch>
                  <a:fillRect b="-1887"/>
                </a:stretch>
              </a:blipFill>
              <a:ln/>
            </p:spPr>
            <p:txBody>
              <a:bodyPr/>
              <a:lstStyle/>
              <a:p>
                <a:r>
                  <a:rPr lang="en-US">
                    <a:noFill/>
                  </a:rPr>
                  <a:t> </a:t>
                </a:r>
              </a:p>
            </p:txBody>
          </p:sp>
        </mc:Fallback>
      </mc:AlternateContent>
      <p:sp>
        <p:nvSpPr>
          <p:cNvPr id="5" name="Text"/>
          <p:cNvSpPr/>
          <p:nvPr/>
        </p:nvSpPr>
        <p:spPr>
          <a:xfrm>
            <a:off x="777240" y="1737360"/>
            <a:ext cx="2194560" cy="274320"/>
          </a:xfrm>
          <a:prstGeom prst="rect">
            <a:avLst/>
          </a:prstGeom>
          <a:noFill/>
          <a:ln/>
        </p:spPr>
        <p:txBody>
          <a:bodyPr wrap="square" lIns="0" tIns="0" rIns="0" bIns="0" rtlCol="0" anchor="ctr">
            <a:normAutofit/>
          </a:bodyPr>
          <a:lstStyle/>
          <a:p>
            <a:pPr marL="0" indent="0" algn="ctr">
              <a:buNone/>
            </a:pPr>
            <a:r>
              <a:rPr lang="en-US" sz="950" b="0" i="0">
                <a:solidFill>
                  <a:srgbClr val="6B7280"/>
                </a:solidFill>
                <a:latin typeface="Georgia" pitchFamily="34" charset="0"/>
                <a:ea typeface="Georgia" pitchFamily="34" charset="-122"/>
                <a:cs typeface="Georgia" pitchFamily="34" charset="-120"/>
              </a:rPr>
              <a:t>settings a and b</a:t>
            </a:r>
            <a:endParaRPr lang="en-US" sz="950"/>
          </a:p>
        </p:txBody>
      </p:sp>
      <p:sp>
        <p:nvSpPr>
          <p:cNvPr id="6" name="Text"/>
          <p:cNvSpPr/>
          <p:nvPr/>
        </p:nvSpPr>
        <p:spPr>
          <a:xfrm>
            <a:off x="2971800" y="1234440"/>
            <a:ext cx="502920" cy="914400"/>
          </a:xfrm>
          <a:prstGeom prst="rect">
            <a:avLst/>
          </a:prstGeom>
          <a:noFill/>
          <a:ln/>
        </p:spPr>
        <p:txBody>
          <a:bodyPr wrap="square" lIns="0" tIns="0" rIns="0" bIns="0" rtlCol="0" anchor="ctr">
            <a:normAutofit/>
          </a:bodyPr>
          <a:lstStyle/>
          <a:p>
            <a:pPr marL="0" indent="0" algn="ctr">
              <a:buNone/>
            </a:pPr>
            <a:r>
              <a:rPr lang="en-US" sz="1600" b="1" i="0">
                <a:solidFill>
                  <a:srgbClr val="1A1A2E"/>
                </a:solidFill>
                <a:latin typeface="Georgia" pitchFamily="34" charset="0"/>
                <a:ea typeface="Georgia" pitchFamily="34" charset="-122"/>
                <a:cs typeface="Georgia" pitchFamily="34" charset="-120"/>
              </a:rPr>
              <a:t>+</a:t>
            </a:r>
            <a:endParaRPr lang="en-US" sz="1600"/>
          </a:p>
        </p:txBody>
      </p:sp>
      <p:sp>
        <p:nvSpPr>
          <p:cNvPr id="7" name="Card frame">
            <a:extLst>
              <a:ext uri="{C183D7F6-B498-43B3-948B-1728B52AA6E4}">
                <adec:decorative xmlns:adec="http://schemas.microsoft.com/office/drawing/2017/decorative" val="1"/>
              </a:ext>
            </a:extLst>
          </p:cNvPr>
          <p:cNvSpPr/>
          <p:nvPr/>
        </p:nvSpPr>
        <p:spPr>
          <a:xfrm>
            <a:off x="3474720" y="1242829"/>
            <a:ext cx="2194560" cy="914400"/>
          </a:xfrm>
          <a:prstGeom prst="roundRect">
            <a:avLst>
              <a:gd name="adj" fmla="val 5000"/>
            </a:avLst>
          </a:prstGeom>
          <a:solidFill>
            <a:srgbClr val="F4F5FB"/>
          </a:solidFill>
          <a:ln w="1524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8" name="Text"/>
              <p:cNvSpPr/>
              <p:nvPr/>
            </p:nvSpPr>
            <p:spPr>
              <a:xfrm>
                <a:off x="3474720" y="1371600"/>
                <a:ext cx="2194560" cy="32004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
                      <m:sSub>
                        <m:sSubPr>
                          <m:ctrlPr>
                            <a:rPr lang="en-US" sz="1600" b="1" i="1" dirty="0" smtClean="0">
                              <a:solidFill>
                                <a:srgbClr val="3730A3"/>
                              </a:solidFill>
                              <a:latin typeface="Cambria Math" panose="02040503050406030204" pitchFamily="18" charset="0"/>
                              <a:ea typeface="Georgia" pitchFamily="34" charset="-122"/>
                              <a:cs typeface="Georgia" pitchFamily="34" charset="-120"/>
                            </a:rPr>
                          </m:ctrlPr>
                        </m:sSubPr>
                        <m:e>
                          <m:r>
                            <a:rPr lang="en-US" sz="1600" b="1" i="1" dirty="0" smtClean="0">
                              <a:solidFill>
                                <a:srgbClr val="3730A3"/>
                              </a:solidFill>
                              <a:latin typeface="Cambria Math" panose="02040503050406030204" pitchFamily="18" charset="0"/>
                              <a:ea typeface="Georgia" pitchFamily="34" charset="-122"/>
                              <a:cs typeface="Georgia" pitchFamily="34" charset="-120"/>
                            </a:rPr>
                            <m:t>𝑷</m:t>
                          </m:r>
                        </m:e>
                        <m:sub>
                          <m:r>
                            <a:rPr lang="en-US" sz="1600" b="1" i="1" dirty="0" smtClean="0">
                              <a:solidFill>
                                <a:srgbClr val="3730A3"/>
                              </a:solidFill>
                              <a:latin typeface="Cambria Math" panose="02040503050406030204" pitchFamily="18" charset="0"/>
                              <a:ea typeface="Georgia" pitchFamily="34" charset="-122"/>
                              <a:cs typeface="Georgia" pitchFamily="34" charset="-120"/>
                            </a:rPr>
                            <m:t>𝒂𝒄</m:t>
                          </m:r>
                        </m:sub>
                      </m:sSub>
                    </m:oMath>
                  </m:oMathPara>
                </a14:m>
                <a:endParaRPr lang="en-US" sz="1600" dirty="0"/>
              </a:p>
            </p:txBody>
          </p:sp>
        </mc:Choice>
        <mc:Fallback xmlns="">
          <p:sp>
            <p:nvSpPr>
              <p:cNvPr id="8" name="Text"/>
              <p:cNvSpPr>
                <a:spLocks noRot="1" noChangeAspect="1" noMove="1" noResize="1" noEditPoints="1" noAdjustHandles="1" noChangeArrowheads="1" noChangeShapeType="1" noTextEdit="1"/>
              </p:cNvSpPr>
              <p:nvPr/>
            </p:nvSpPr>
            <p:spPr>
              <a:xfrm>
                <a:off x="3474720" y="1371600"/>
                <a:ext cx="2194560" cy="320040"/>
              </a:xfrm>
              <a:prstGeom prst="rect">
                <a:avLst/>
              </a:prstGeom>
              <a:blipFill>
                <a:blip r:embed="rId3"/>
                <a:stretch>
                  <a:fillRect/>
                </a:stretch>
              </a:blipFill>
              <a:ln/>
            </p:spPr>
            <p:txBody>
              <a:bodyPr/>
              <a:lstStyle/>
              <a:p>
                <a:r>
                  <a:rPr lang="en-US">
                    <a:noFill/>
                  </a:rPr>
                  <a:t> </a:t>
                </a:r>
              </a:p>
            </p:txBody>
          </p:sp>
        </mc:Fallback>
      </mc:AlternateContent>
      <p:sp>
        <p:nvSpPr>
          <p:cNvPr id="9" name="Text"/>
          <p:cNvSpPr/>
          <p:nvPr/>
        </p:nvSpPr>
        <p:spPr>
          <a:xfrm>
            <a:off x="3474720" y="1737360"/>
            <a:ext cx="2194560" cy="274320"/>
          </a:xfrm>
          <a:prstGeom prst="rect">
            <a:avLst/>
          </a:prstGeom>
          <a:noFill/>
          <a:ln/>
        </p:spPr>
        <p:txBody>
          <a:bodyPr wrap="square" lIns="0" tIns="0" rIns="0" bIns="0" rtlCol="0" anchor="ctr">
            <a:normAutofit/>
          </a:bodyPr>
          <a:lstStyle/>
          <a:p>
            <a:pPr marL="0" indent="0" algn="ctr">
              <a:buNone/>
            </a:pPr>
            <a:r>
              <a:rPr lang="en-US" sz="950" b="0" i="0">
                <a:solidFill>
                  <a:srgbClr val="6B7280"/>
                </a:solidFill>
                <a:latin typeface="Georgia" pitchFamily="34" charset="0"/>
                <a:ea typeface="Georgia" pitchFamily="34" charset="-122"/>
                <a:cs typeface="Georgia" pitchFamily="34" charset="-120"/>
              </a:rPr>
              <a:t>settings a and c</a:t>
            </a:r>
            <a:endParaRPr lang="en-US" sz="950"/>
          </a:p>
        </p:txBody>
      </p:sp>
      <p:sp>
        <p:nvSpPr>
          <p:cNvPr id="10" name="Text"/>
          <p:cNvSpPr/>
          <p:nvPr/>
        </p:nvSpPr>
        <p:spPr>
          <a:xfrm>
            <a:off x="5669280" y="1234440"/>
            <a:ext cx="502920" cy="914400"/>
          </a:xfrm>
          <a:prstGeom prst="rect">
            <a:avLst/>
          </a:prstGeom>
          <a:noFill/>
          <a:ln/>
        </p:spPr>
        <p:txBody>
          <a:bodyPr wrap="square" lIns="0" tIns="0" rIns="0" bIns="0" rtlCol="0" anchor="ctr">
            <a:normAutofit/>
          </a:bodyPr>
          <a:lstStyle/>
          <a:p>
            <a:pPr marL="0" indent="0" algn="ctr">
              <a:buNone/>
            </a:pPr>
            <a:r>
              <a:rPr lang="en-US" sz="1600" b="1" i="0">
                <a:solidFill>
                  <a:srgbClr val="1A1A2E"/>
                </a:solidFill>
                <a:latin typeface="Georgia" pitchFamily="34" charset="0"/>
                <a:ea typeface="Georgia" pitchFamily="34" charset="-122"/>
                <a:cs typeface="Georgia" pitchFamily="34" charset="-120"/>
              </a:rPr>
              <a:t>+</a:t>
            </a:r>
            <a:endParaRPr lang="en-US" sz="1600"/>
          </a:p>
        </p:txBody>
      </p:sp>
      <p:sp>
        <p:nvSpPr>
          <p:cNvPr id="11" name="Card frame">
            <a:extLst>
              <a:ext uri="{C183D7F6-B498-43B3-948B-1728B52AA6E4}">
                <adec:decorative xmlns:adec="http://schemas.microsoft.com/office/drawing/2017/decorative" val="1"/>
              </a:ext>
            </a:extLst>
          </p:cNvPr>
          <p:cNvSpPr/>
          <p:nvPr/>
        </p:nvSpPr>
        <p:spPr>
          <a:xfrm>
            <a:off x="6172200" y="1234440"/>
            <a:ext cx="2194560" cy="914400"/>
          </a:xfrm>
          <a:prstGeom prst="roundRect">
            <a:avLst>
              <a:gd name="adj" fmla="val 5000"/>
            </a:avLst>
          </a:prstGeom>
          <a:solidFill>
            <a:srgbClr val="F4F5FB"/>
          </a:solidFill>
          <a:ln w="1524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2" name="Text"/>
              <p:cNvSpPr/>
              <p:nvPr/>
            </p:nvSpPr>
            <p:spPr>
              <a:xfrm>
                <a:off x="6172200" y="1371600"/>
                <a:ext cx="2194560" cy="32004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
                      <m:sSub>
                        <m:sSubPr>
                          <m:ctrlPr>
                            <a:rPr lang="en-US" sz="1600" b="1" i="1" dirty="0" smtClean="0">
                              <a:solidFill>
                                <a:srgbClr val="3730A3"/>
                              </a:solidFill>
                              <a:latin typeface="Cambria Math" panose="02040503050406030204" pitchFamily="18" charset="0"/>
                              <a:ea typeface="Georgia" pitchFamily="34" charset="-122"/>
                              <a:cs typeface="Georgia" pitchFamily="34" charset="-120"/>
                            </a:rPr>
                          </m:ctrlPr>
                        </m:sSubPr>
                        <m:e>
                          <m:r>
                            <a:rPr lang="en-US" sz="1600" b="1" i="1" dirty="0" smtClean="0">
                              <a:solidFill>
                                <a:srgbClr val="3730A3"/>
                              </a:solidFill>
                              <a:latin typeface="Cambria Math" panose="02040503050406030204" pitchFamily="18" charset="0"/>
                              <a:ea typeface="Georgia" pitchFamily="34" charset="-122"/>
                              <a:cs typeface="Georgia" pitchFamily="34" charset="-120"/>
                            </a:rPr>
                            <m:t>𝑷</m:t>
                          </m:r>
                        </m:e>
                        <m:sub>
                          <m:r>
                            <a:rPr lang="en-US" sz="1600" b="1" i="1" dirty="0" smtClean="0">
                              <a:solidFill>
                                <a:srgbClr val="3730A3"/>
                              </a:solidFill>
                              <a:latin typeface="Cambria Math" panose="02040503050406030204" pitchFamily="18" charset="0"/>
                              <a:ea typeface="Georgia" pitchFamily="34" charset="-122"/>
                              <a:cs typeface="Georgia" pitchFamily="34" charset="-120"/>
                            </a:rPr>
                            <m:t>𝒃𝒄</m:t>
                          </m:r>
                        </m:sub>
                      </m:sSub>
                    </m:oMath>
                  </m:oMathPara>
                </a14:m>
                <a:endParaRPr lang="en-US" sz="1600" dirty="0"/>
              </a:p>
            </p:txBody>
          </p:sp>
        </mc:Choice>
        <mc:Fallback xmlns="">
          <p:sp>
            <p:nvSpPr>
              <p:cNvPr id="12" name="Text"/>
              <p:cNvSpPr>
                <a:spLocks noRot="1" noChangeAspect="1" noMove="1" noResize="1" noEditPoints="1" noAdjustHandles="1" noChangeArrowheads="1" noChangeShapeType="1" noTextEdit="1"/>
              </p:cNvSpPr>
              <p:nvPr/>
            </p:nvSpPr>
            <p:spPr>
              <a:xfrm>
                <a:off x="6172200" y="1371600"/>
                <a:ext cx="2194560" cy="320040"/>
              </a:xfrm>
              <a:prstGeom prst="rect">
                <a:avLst/>
              </a:prstGeom>
              <a:blipFill>
                <a:blip r:embed="rId4"/>
                <a:stretch>
                  <a:fillRect b="-1887"/>
                </a:stretch>
              </a:blipFill>
              <a:ln/>
            </p:spPr>
            <p:txBody>
              <a:bodyPr/>
              <a:lstStyle/>
              <a:p>
                <a:r>
                  <a:rPr lang="en-US">
                    <a:noFill/>
                  </a:rPr>
                  <a:t> </a:t>
                </a:r>
              </a:p>
            </p:txBody>
          </p:sp>
        </mc:Fallback>
      </mc:AlternateContent>
      <p:sp>
        <p:nvSpPr>
          <p:cNvPr id="13" name="Text"/>
          <p:cNvSpPr/>
          <p:nvPr/>
        </p:nvSpPr>
        <p:spPr>
          <a:xfrm>
            <a:off x="6172200" y="1737360"/>
            <a:ext cx="2194560" cy="274320"/>
          </a:xfrm>
          <a:prstGeom prst="rect">
            <a:avLst/>
          </a:prstGeom>
          <a:noFill/>
          <a:ln/>
        </p:spPr>
        <p:txBody>
          <a:bodyPr wrap="square" lIns="0" tIns="0" rIns="0" bIns="0" rtlCol="0" anchor="ctr">
            <a:normAutofit/>
          </a:bodyPr>
          <a:lstStyle/>
          <a:p>
            <a:pPr marL="0" indent="0" algn="ctr">
              <a:buNone/>
            </a:pPr>
            <a:r>
              <a:rPr lang="en-US" sz="950" b="0" i="0">
                <a:solidFill>
                  <a:srgbClr val="6B7280"/>
                </a:solidFill>
                <a:latin typeface="Georgia" pitchFamily="34" charset="0"/>
                <a:ea typeface="Georgia" pitchFamily="34" charset="-122"/>
                <a:cs typeface="Georgia" pitchFamily="34" charset="-120"/>
              </a:rPr>
              <a:t>settings b and c</a:t>
            </a:r>
            <a:endParaRPr lang="en-US" sz="950"/>
          </a:p>
        </p:txBody>
      </p:sp>
      <p:sp>
        <p:nvSpPr>
          <p:cNvPr id="14" name="Text"/>
          <p:cNvSpPr/>
          <p:nvPr/>
        </p:nvSpPr>
        <p:spPr>
          <a:xfrm>
            <a:off x="3931920" y="2194560"/>
            <a:ext cx="1280160" cy="274320"/>
          </a:xfrm>
          <a:prstGeom prst="rect">
            <a:avLst/>
          </a:prstGeom>
          <a:noFill/>
          <a:ln/>
        </p:spPr>
        <p:txBody>
          <a:bodyPr wrap="square" lIns="0" tIns="0" rIns="0" bIns="0" rtlCol="0" anchor="ctr">
            <a:normAutofit/>
          </a:bodyPr>
          <a:lstStyle/>
          <a:p>
            <a:pPr marL="0" indent="0" algn="ctr">
              <a:buNone/>
            </a:pPr>
            <a:r>
              <a:rPr lang="en-US" sz="1400" b="1" i="0">
                <a:solidFill>
                  <a:srgbClr val="3730A3"/>
                </a:solidFill>
                <a:latin typeface="Georgia" pitchFamily="34" charset="0"/>
                <a:ea typeface="Georgia" pitchFamily="34" charset="-122"/>
                <a:cs typeface="Georgia" pitchFamily="34" charset="-120"/>
              </a:rPr>
              <a:t>↓</a:t>
            </a:r>
            <a:endParaRPr lang="en-US" sz="1400"/>
          </a:p>
        </p:txBody>
      </p:sp>
      <p:sp>
        <p:nvSpPr>
          <p:cNvPr id="15" name="Card frame">
            <a:extLst>
              <a:ext uri="{C183D7F6-B498-43B3-948B-1728B52AA6E4}">
                <adec:decorative xmlns:adec="http://schemas.microsoft.com/office/drawing/2017/decorative" val="1"/>
              </a:ext>
            </a:extLst>
          </p:cNvPr>
          <p:cNvSpPr/>
          <p:nvPr/>
        </p:nvSpPr>
        <p:spPr>
          <a:xfrm>
            <a:off x="1600200" y="2514600"/>
            <a:ext cx="5943600" cy="731520"/>
          </a:xfrm>
          <a:prstGeom prst="roundRect">
            <a:avLst>
              <a:gd name="adj" fmla="val 5000"/>
            </a:avLst>
          </a:prstGeom>
          <a:solidFill>
            <a:srgbClr val="FFFFFF"/>
          </a:solidFill>
          <a:ln w="2286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6" name="Text"/>
              <p:cNvSpPr/>
              <p:nvPr/>
            </p:nvSpPr>
            <p:spPr>
              <a:xfrm>
                <a:off x="1783080" y="2514600"/>
                <a:ext cx="5577840" cy="731520"/>
              </a:xfrm>
              <a:prstGeom prst="rect">
                <a:avLst/>
              </a:prstGeom>
              <a:noFill/>
              <a:ln/>
            </p:spPr>
            <p:txBody>
              <a:bodyPr wrap="square" lIns="0" tIns="0" rIns="0" bIns="0" rtlCol="0" anchor="ctr">
                <a:normAutofit/>
              </a:bodyPr>
              <a:lstStyle/>
              <a:p>
                <a:pPr marL="0" indent="0" algn="ctr">
                  <a:buNone/>
                </a:pPr>
                <a14:m>
                  <m:oMath xmlns:m="http://schemas.openxmlformats.org/officeDocument/2006/math">
                    <m:sSub>
                      <m:sSubPr>
                        <m:ctrlPr>
                          <a:rPr lang="en-US" sz="2000" b="1" i="1" dirty="0" smtClean="0">
                            <a:solidFill>
                              <a:srgbClr val="3730A3"/>
                            </a:solidFill>
                            <a:latin typeface="Cambria Math" panose="02040503050406030204" pitchFamily="18" charset="0"/>
                            <a:ea typeface="Georgia" pitchFamily="34" charset="-122"/>
                            <a:cs typeface="Georgia" pitchFamily="34" charset="-120"/>
                          </a:rPr>
                        </m:ctrlPr>
                      </m:sSubPr>
                      <m:e>
                        <m:r>
                          <a:rPr lang="en-US" sz="2000" b="1" i="1" dirty="0" smtClean="0">
                            <a:solidFill>
                              <a:srgbClr val="3730A3"/>
                            </a:solidFill>
                            <a:latin typeface="Cambria Math" panose="02040503050406030204" pitchFamily="18" charset="0"/>
                            <a:ea typeface="Georgia" pitchFamily="34" charset="-122"/>
                            <a:cs typeface="Georgia" pitchFamily="34" charset="-120"/>
                          </a:rPr>
                          <m:t>𝑷</m:t>
                        </m:r>
                      </m:e>
                      <m:sub>
                        <m:r>
                          <a:rPr lang="en-US" sz="2000" b="1" i="1" dirty="0" smtClean="0">
                            <a:solidFill>
                              <a:srgbClr val="3730A3"/>
                            </a:solidFill>
                            <a:latin typeface="Cambria Math" panose="02040503050406030204" pitchFamily="18" charset="0"/>
                            <a:ea typeface="Georgia" pitchFamily="34" charset="-122"/>
                            <a:cs typeface="Georgia" pitchFamily="34" charset="-120"/>
                          </a:rPr>
                          <m:t>𝒂𝒃</m:t>
                        </m:r>
                      </m:sub>
                    </m:sSub>
                    <m:r>
                      <a:rPr lang="en-US" sz="2000" b="1" i="1" dirty="0">
                        <a:solidFill>
                          <a:srgbClr val="3730A3"/>
                        </a:solidFill>
                        <a:latin typeface="Cambria Math" panose="02040503050406030204" pitchFamily="18" charset="0"/>
                        <a:ea typeface="Georgia" pitchFamily="34" charset="-122"/>
                        <a:cs typeface="Georgia" pitchFamily="34" charset="-120"/>
                      </a:rPr>
                      <m:t>  +  </m:t>
                    </m:r>
                    <m:sSub>
                      <m:sSubPr>
                        <m:ctrlPr>
                          <a:rPr lang="en-US" sz="2000" b="1" i="1" dirty="0">
                            <a:solidFill>
                              <a:srgbClr val="3730A3"/>
                            </a:solidFill>
                            <a:latin typeface="Cambria Math" panose="02040503050406030204" pitchFamily="18" charset="0"/>
                            <a:ea typeface="Georgia" pitchFamily="34" charset="-122"/>
                            <a:cs typeface="Georgia" pitchFamily="34" charset="-120"/>
                          </a:rPr>
                        </m:ctrlPr>
                      </m:sSubPr>
                      <m:e>
                        <m:r>
                          <a:rPr lang="en-US" sz="2000" b="1" i="1" dirty="0">
                            <a:solidFill>
                              <a:srgbClr val="3730A3"/>
                            </a:solidFill>
                            <a:latin typeface="Cambria Math" panose="02040503050406030204" pitchFamily="18" charset="0"/>
                            <a:ea typeface="Georgia" pitchFamily="34" charset="-122"/>
                            <a:cs typeface="Georgia" pitchFamily="34" charset="-120"/>
                          </a:rPr>
                          <m:t>𝑷</m:t>
                        </m:r>
                      </m:e>
                      <m:sub>
                        <m:r>
                          <a:rPr lang="en-US" sz="2000" b="1" i="1" dirty="0">
                            <a:solidFill>
                              <a:srgbClr val="3730A3"/>
                            </a:solidFill>
                            <a:latin typeface="Cambria Math" panose="02040503050406030204" pitchFamily="18" charset="0"/>
                            <a:ea typeface="Georgia" pitchFamily="34" charset="-122"/>
                            <a:cs typeface="Georgia" pitchFamily="34" charset="-120"/>
                          </a:rPr>
                          <m:t>𝒂𝒄</m:t>
                        </m:r>
                      </m:sub>
                    </m:sSub>
                    <m:r>
                      <a:rPr lang="en-US" sz="2000" b="1" i="1" dirty="0">
                        <a:solidFill>
                          <a:srgbClr val="3730A3"/>
                        </a:solidFill>
                        <a:latin typeface="Cambria Math" panose="02040503050406030204" pitchFamily="18" charset="0"/>
                        <a:ea typeface="Georgia" pitchFamily="34" charset="-122"/>
                        <a:cs typeface="Georgia" pitchFamily="34" charset="-120"/>
                      </a:rPr>
                      <m:t>  +  </m:t>
                    </m:r>
                    <m:sSub>
                      <m:sSubPr>
                        <m:ctrlPr>
                          <a:rPr lang="en-US" sz="2000" b="1" i="1" dirty="0" err="1">
                            <a:solidFill>
                              <a:srgbClr val="3730A3"/>
                            </a:solidFill>
                            <a:latin typeface="Cambria Math" panose="02040503050406030204" pitchFamily="18" charset="0"/>
                            <a:ea typeface="Georgia" pitchFamily="34" charset="-122"/>
                            <a:cs typeface="Georgia" pitchFamily="34" charset="-120"/>
                          </a:rPr>
                        </m:ctrlPr>
                      </m:sSubPr>
                      <m:e>
                        <m:r>
                          <a:rPr lang="en-US" sz="2000" b="1" i="1" dirty="0" err="1">
                            <a:solidFill>
                              <a:srgbClr val="3730A3"/>
                            </a:solidFill>
                            <a:latin typeface="Cambria Math" panose="02040503050406030204" pitchFamily="18" charset="0"/>
                            <a:ea typeface="Georgia" pitchFamily="34" charset="-122"/>
                            <a:cs typeface="Georgia" pitchFamily="34" charset="-120"/>
                          </a:rPr>
                          <m:t>𝑷</m:t>
                        </m:r>
                      </m:e>
                      <m:sub>
                        <m:r>
                          <a:rPr lang="en-US" sz="2000" b="1" i="1" dirty="0" err="1">
                            <a:solidFill>
                              <a:srgbClr val="3730A3"/>
                            </a:solidFill>
                            <a:latin typeface="Cambria Math" panose="02040503050406030204" pitchFamily="18" charset="0"/>
                            <a:ea typeface="Georgia" pitchFamily="34" charset="-122"/>
                            <a:cs typeface="Georgia" pitchFamily="34" charset="-120"/>
                          </a:rPr>
                          <m:t>𝒃𝒄</m:t>
                        </m:r>
                      </m:sub>
                    </m:sSub>
                    <m:r>
                      <a:rPr lang="en-US" sz="2000" b="1" i="1" dirty="0">
                        <a:solidFill>
                          <a:srgbClr val="3730A3"/>
                        </a:solidFill>
                        <a:latin typeface="Cambria Math" panose="02040503050406030204" pitchFamily="18" charset="0"/>
                        <a:ea typeface="Georgia" pitchFamily="34" charset="-122"/>
                        <a:cs typeface="Georgia" pitchFamily="34" charset="-120"/>
                      </a:rPr>
                      <m:t>   </m:t>
                    </m:r>
                  </m:oMath>
                </a14:m>
                <a:r>
                  <a:rPr lang="en-US" sz="2000" b="1" i="0" dirty="0">
                    <a:solidFill>
                      <a:srgbClr val="3730A3"/>
                    </a:solidFill>
                    <a:latin typeface="Georgia" pitchFamily="34" charset="0"/>
                    <a:ea typeface="Georgia" pitchFamily="34" charset="-122"/>
                    <a:cs typeface="Georgia" pitchFamily="34" charset="-120"/>
                  </a:rPr>
                  <a:t>≥   1</a:t>
                </a:r>
                <a:endParaRPr lang="en-US" sz="2000" dirty="0"/>
              </a:p>
            </p:txBody>
          </p:sp>
        </mc:Choice>
        <mc:Fallback xmlns="">
          <p:sp>
            <p:nvSpPr>
              <p:cNvPr id="16" name="Text"/>
              <p:cNvSpPr>
                <a:spLocks noRot="1" noChangeAspect="1" noMove="1" noResize="1" noEditPoints="1" noAdjustHandles="1" noChangeArrowheads="1" noChangeShapeType="1" noTextEdit="1"/>
              </p:cNvSpPr>
              <p:nvPr/>
            </p:nvSpPr>
            <p:spPr>
              <a:xfrm>
                <a:off x="1783080" y="2514600"/>
                <a:ext cx="5577840" cy="731520"/>
              </a:xfrm>
              <a:prstGeom prst="rect">
                <a:avLst/>
              </a:prstGeom>
              <a:blipFill>
                <a:blip r:embed="rId5"/>
                <a:stretch>
                  <a:fillRect/>
                </a:stretch>
              </a:blipFill>
              <a:ln/>
            </p:spPr>
            <p:txBody>
              <a:bodyPr/>
              <a:lstStyle/>
              <a:p>
                <a:r>
                  <a:rPr lang="en-US">
                    <a:noFill/>
                  </a:rPr>
                  <a:t> </a:t>
                </a:r>
              </a:p>
            </p:txBody>
          </p:sp>
        </mc:Fallback>
      </mc:AlternateContent>
      <p:sp>
        <p:nvSpPr>
          <p:cNvPr id="17" name="Text"/>
          <p:cNvSpPr/>
          <p:nvPr/>
        </p:nvSpPr>
        <p:spPr>
          <a:xfrm>
            <a:off x="1600200" y="3383280"/>
            <a:ext cx="5943600" cy="320040"/>
          </a:xfrm>
          <a:prstGeom prst="rect">
            <a:avLst/>
          </a:prstGeom>
          <a:noFill/>
          <a:ln/>
        </p:spPr>
        <p:txBody>
          <a:bodyPr wrap="square" lIns="0" tIns="0" rIns="0" bIns="0" rtlCol="0" anchor="ctr">
            <a:normAutofit/>
          </a:bodyPr>
          <a:lstStyle/>
          <a:p>
            <a:pPr marL="0" indent="0" algn="ctr">
              <a:buNone/>
            </a:pPr>
            <a:r>
              <a:rPr lang="en-US" sz="1000" b="1" i="0" kern="0" spc="100">
                <a:solidFill>
                  <a:srgbClr val="C0392B"/>
                </a:solidFill>
                <a:latin typeface="Georgia" pitchFamily="34" charset="0"/>
                <a:ea typeface="Georgia" pitchFamily="34" charset="-122"/>
                <a:cs typeface="Georgia" pitchFamily="34" charset="-120"/>
              </a:rPr>
              <a:t>CLASSICAL / LOCAL HIDDEN-VARIABLE BOUND  =  1</a:t>
            </a:r>
            <a:endParaRPr lang="en-US" sz="1000"/>
          </a:p>
        </p:txBody>
      </p:sp>
      <p:sp>
        <p:nvSpPr>
          <p:cNvPr id="18"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Counting the eight assignments forces this inequality on any local hidden-variable theory.</a:t>
            </a:r>
            <a:endParaRPr lang="en-US" sz="125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Quantum challenge</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234440"/>
            <a:ext cx="2377440" cy="731520"/>
          </a:xfrm>
          <a:prstGeom prst="roundRect">
            <a:avLst>
              <a:gd name="adj" fmla="val 5000"/>
            </a:avLst>
          </a:prstGeom>
          <a:solidFill>
            <a:srgbClr val="F4F5FB"/>
          </a:solidFill>
          <a:ln w="1524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4" name="Text"/>
              <p:cNvSpPr/>
              <p:nvPr/>
            </p:nvSpPr>
            <p:spPr>
              <a:xfrm>
                <a:off x="777240" y="1234440"/>
                <a:ext cx="1188720" cy="731520"/>
              </a:xfrm>
              <a:prstGeom prst="rect">
                <a:avLst/>
              </a:prstGeom>
              <a:noFill/>
              <a:ln/>
            </p:spPr>
            <p:txBody>
              <a:bodyPr wrap="square" lIns="0" tIns="0" rIns="0" bIns="0" rtlCol="0" anchor="ctr">
                <a:normAutofit/>
              </a:bodyPr>
              <a:lstStyle/>
              <a:p>
                <a:pPr marL="0" indent="0" algn="r">
                  <a:buNone/>
                </a:pPr>
                <a14:m>
                  <m:oMathPara xmlns:m="http://schemas.openxmlformats.org/officeDocument/2006/math">
                    <m:oMath>
                      <m:sSub>
                        <m:sSubPr>
                          <m:ctrlPr>
                            <a:rPr lang="en-US" sz="1300" b="1" i="1" dirty="0" smtClean="0">
                              <a:solidFill>
                                <a:srgbClr val="6B7280"/>
                              </a:solidFill>
                              <a:latin typeface="Cambria Math" panose="02040503050406030204" pitchFamily="18" charset="0"/>
                              <a:ea typeface="Georgia" pitchFamily="34" charset="-122"/>
                              <a:cs typeface="Georgia" pitchFamily="34" charset="-120"/>
                            </a:rPr>
                          </m:ctrlPr>
                        </m:sSubPr>
                        <m:e>
                          <m:r>
                            <a:rPr lang="en-US" sz="1300" b="1" i="1" dirty="0" smtClean="0">
                              <a:solidFill>
                                <a:srgbClr val="6B7280"/>
                              </a:solidFill>
                              <a:latin typeface="Cambria Math" panose="02040503050406030204" pitchFamily="18" charset="0"/>
                              <a:ea typeface="Georgia" pitchFamily="34" charset="-122"/>
                              <a:cs typeface="Georgia" pitchFamily="34" charset="-120"/>
                            </a:rPr>
                            <m:t>𝜽</m:t>
                          </m:r>
                        </m:e>
                        <m:sub>
                          <m:r>
                            <a:rPr lang="en-US" sz="1300" b="1" i="1" dirty="0" smtClean="0">
                              <a:solidFill>
                                <a:srgbClr val="6B7280"/>
                              </a:solidFill>
                              <a:latin typeface="Cambria Math" panose="02040503050406030204" pitchFamily="18" charset="0"/>
                              <a:ea typeface="Georgia" pitchFamily="34" charset="-122"/>
                              <a:cs typeface="Georgia" pitchFamily="34" charset="-120"/>
                            </a:rPr>
                            <m:t>𝒂𝒃</m:t>
                          </m:r>
                        </m:sub>
                      </m:sSub>
                    </m:oMath>
                  </m:oMathPara>
                </a14:m>
                <a:endParaRPr lang="en-US" sz="1300" dirty="0"/>
              </a:p>
            </p:txBody>
          </p:sp>
        </mc:Choice>
        <mc:Fallback xmlns="">
          <p:sp>
            <p:nvSpPr>
              <p:cNvPr id="4" name="Text"/>
              <p:cNvSpPr>
                <a:spLocks noRot="1" noChangeAspect="1" noMove="1" noResize="1" noEditPoints="1" noAdjustHandles="1" noChangeArrowheads="1" noChangeShapeType="1" noTextEdit="1"/>
              </p:cNvSpPr>
              <p:nvPr/>
            </p:nvSpPr>
            <p:spPr>
              <a:xfrm>
                <a:off x="777240" y="1234440"/>
                <a:ext cx="1188720" cy="731520"/>
              </a:xfrm>
              <a:prstGeom prst="rect">
                <a:avLst/>
              </a:prstGeom>
              <a:blipFill>
                <a:blip r:embed="rId2"/>
                <a:stretch>
                  <a:fillRect/>
                </a:stretch>
              </a:blipFill>
              <a:ln/>
            </p:spPr>
            <p:txBody>
              <a:bodyPr/>
              <a:lstStyle/>
              <a:p>
                <a:r>
                  <a:rPr lang="en-US">
                    <a:noFill/>
                  </a:rPr>
                  <a:t> </a:t>
                </a:r>
              </a:p>
            </p:txBody>
          </p:sp>
        </mc:Fallback>
      </mc:AlternateContent>
      <p:sp>
        <p:nvSpPr>
          <p:cNvPr id="5" name="Text"/>
          <p:cNvSpPr/>
          <p:nvPr/>
        </p:nvSpPr>
        <p:spPr>
          <a:xfrm>
            <a:off x="2057400" y="1234440"/>
            <a:ext cx="914400" cy="731520"/>
          </a:xfrm>
          <a:prstGeom prst="rect">
            <a:avLst/>
          </a:prstGeom>
          <a:noFill/>
          <a:ln/>
        </p:spPr>
        <p:txBody>
          <a:bodyPr wrap="square" lIns="0" tIns="0" rIns="0" bIns="0" rtlCol="0" anchor="ctr">
            <a:normAutofit/>
          </a:bodyPr>
          <a:lstStyle/>
          <a:p>
            <a:pPr marL="0" indent="0" algn="l">
              <a:buNone/>
            </a:pPr>
            <a:r>
              <a:rPr lang="en-US" sz="1500" b="1" i="0">
                <a:solidFill>
                  <a:srgbClr val="3730A3"/>
                </a:solidFill>
                <a:latin typeface="Georgia" pitchFamily="34" charset="0"/>
                <a:ea typeface="Georgia" pitchFamily="34" charset="-122"/>
                <a:cs typeface="Georgia" pitchFamily="34" charset="-120"/>
              </a:rPr>
              <a:t>60°</a:t>
            </a:r>
            <a:endParaRPr lang="en-US" sz="1500"/>
          </a:p>
        </p:txBody>
      </p:sp>
      <p:sp>
        <p:nvSpPr>
          <p:cNvPr id="6" name="Card frame">
            <a:extLst>
              <a:ext uri="{C183D7F6-B498-43B3-948B-1728B52AA6E4}">
                <adec:decorative xmlns:adec="http://schemas.microsoft.com/office/drawing/2017/decorative" val="1"/>
              </a:ext>
            </a:extLst>
          </p:cNvPr>
          <p:cNvSpPr/>
          <p:nvPr/>
        </p:nvSpPr>
        <p:spPr>
          <a:xfrm>
            <a:off x="3383280" y="1234440"/>
            <a:ext cx="2377440" cy="731520"/>
          </a:xfrm>
          <a:prstGeom prst="roundRect">
            <a:avLst>
              <a:gd name="adj" fmla="val 5000"/>
            </a:avLst>
          </a:prstGeom>
          <a:solidFill>
            <a:srgbClr val="F4F5FB"/>
          </a:solidFill>
          <a:ln w="1524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7" name="Text"/>
              <p:cNvSpPr/>
              <p:nvPr/>
            </p:nvSpPr>
            <p:spPr>
              <a:xfrm>
                <a:off x="3383280" y="1234440"/>
                <a:ext cx="1188720" cy="731520"/>
              </a:xfrm>
              <a:prstGeom prst="rect">
                <a:avLst/>
              </a:prstGeom>
              <a:noFill/>
              <a:ln/>
            </p:spPr>
            <p:txBody>
              <a:bodyPr wrap="square" lIns="0" tIns="0" rIns="0" bIns="0" rtlCol="0" anchor="ctr">
                <a:normAutofit/>
              </a:bodyPr>
              <a:lstStyle/>
              <a:p>
                <a:pPr marL="0" indent="0" algn="r">
                  <a:buNone/>
                </a:pPr>
                <a14:m>
                  <m:oMathPara xmlns:m="http://schemas.openxmlformats.org/officeDocument/2006/math">
                    <m:oMath>
                      <m:sSub>
                        <m:sSubPr>
                          <m:ctrlPr>
                            <a:rPr lang="en-US" sz="1300" b="1" i="1" dirty="0" smtClean="0">
                              <a:solidFill>
                                <a:srgbClr val="6B7280"/>
                              </a:solidFill>
                              <a:latin typeface="Cambria Math" panose="02040503050406030204" pitchFamily="18" charset="0"/>
                              <a:ea typeface="Georgia" pitchFamily="34" charset="-122"/>
                              <a:cs typeface="Georgia" pitchFamily="34" charset="-120"/>
                            </a:rPr>
                          </m:ctrlPr>
                        </m:sSubPr>
                        <m:e>
                          <m:r>
                            <a:rPr lang="en-US" sz="1300" b="1" i="1" dirty="0" smtClean="0">
                              <a:solidFill>
                                <a:srgbClr val="6B7280"/>
                              </a:solidFill>
                              <a:latin typeface="Cambria Math" panose="02040503050406030204" pitchFamily="18" charset="0"/>
                              <a:ea typeface="Georgia" pitchFamily="34" charset="-122"/>
                              <a:cs typeface="Georgia" pitchFamily="34" charset="-120"/>
                            </a:rPr>
                            <m:t>𝜽</m:t>
                          </m:r>
                        </m:e>
                        <m:sub>
                          <m:r>
                            <a:rPr lang="en-US" sz="1300" b="1" i="1" dirty="0" smtClean="0">
                              <a:solidFill>
                                <a:srgbClr val="6B7280"/>
                              </a:solidFill>
                              <a:latin typeface="Cambria Math" panose="02040503050406030204" pitchFamily="18" charset="0"/>
                              <a:ea typeface="Georgia" pitchFamily="34" charset="-122"/>
                              <a:cs typeface="Georgia" pitchFamily="34" charset="-120"/>
                            </a:rPr>
                            <m:t>𝒃𝒄</m:t>
                          </m:r>
                        </m:sub>
                      </m:sSub>
                    </m:oMath>
                  </m:oMathPara>
                </a14:m>
                <a:endParaRPr lang="en-US" sz="1300" dirty="0"/>
              </a:p>
            </p:txBody>
          </p:sp>
        </mc:Choice>
        <mc:Fallback xmlns="">
          <p:sp>
            <p:nvSpPr>
              <p:cNvPr id="7" name="Text"/>
              <p:cNvSpPr>
                <a:spLocks noRot="1" noChangeAspect="1" noMove="1" noResize="1" noEditPoints="1" noAdjustHandles="1" noChangeArrowheads="1" noChangeShapeType="1" noTextEdit="1"/>
              </p:cNvSpPr>
              <p:nvPr/>
            </p:nvSpPr>
            <p:spPr>
              <a:xfrm>
                <a:off x="3383280" y="1234440"/>
                <a:ext cx="1188720" cy="731520"/>
              </a:xfrm>
              <a:prstGeom prst="rect">
                <a:avLst/>
              </a:prstGeom>
              <a:blipFill>
                <a:blip r:embed="rId3"/>
                <a:stretch>
                  <a:fillRect/>
                </a:stretch>
              </a:blipFill>
              <a:ln/>
            </p:spPr>
            <p:txBody>
              <a:bodyPr/>
              <a:lstStyle/>
              <a:p>
                <a:r>
                  <a:rPr lang="en-US">
                    <a:noFill/>
                  </a:rPr>
                  <a:t> </a:t>
                </a:r>
              </a:p>
            </p:txBody>
          </p:sp>
        </mc:Fallback>
      </mc:AlternateContent>
      <p:sp>
        <p:nvSpPr>
          <p:cNvPr id="8" name="Text"/>
          <p:cNvSpPr/>
          <p:nvPr/>
        </p:nvSpPr>
        <p:spPr>
          <a:xfrm>
            <a:off x="4663440" y="1234440"/>
            <a:ext cx="914400" cy="731520"/>
          </a:xfrm>
          <a:prstGeom prst="rect">
            <a:avLst/>
          </a:prstGeom>
          <a:noFill/>
          <a:ln/>
        </p:spPr>
        <p:txBody>
          <a:bodyPr wrap="square" lIns="0" tIns="0" rIns="0" bIns="0" rtlCol="0" anchor="ctr">
            <a:normAutofit/>
          </a:bodyPr>
          <a:lstStyle/>
          <a:p>
            <a:pPr marL="0" indent="0" algn="l">
              <a:buNone/>
            </a:pPr>
            <a:r>
              <a:rPr lang="en-US" sz="1500" b="1" i="0">
                <a:solidFill>
                  <a:srgbClr val="3730A3"/>
                </a:solidFill>
                <a:latin typeface="Georgia" pitchFamily="34" charset="0"/>
                <a:ea typeface="Georgia" pitchFamily="34" charset="-122"/>
                <a:cs typeface="Georgia" pitchFamily="34" charset="-120"/>
              </a:rPr>
              <a:t>60°</a:t>
            </a:r>
            <a:endParaRPr lang="en-US" sz="1500"/>
          </a:p>
        </p:txBody>
      </p:sp>
      <p:sp>
        <p:nvSpPr>
          <p:cNvPr id="9" name="Card frame">
            <a:extLst>
              <a:ext uri="{C183D7F6-B498-43B3-948B-1728B52AA6E4}">
                <adec:decorative xmlns:adec="http://schemas.microsoft.com/office/drawing/2017/decorative" val="1"/>
              </a:ext>
            </a:extLst>
          </p:cNvPr>
          <p:cNvSpPr/>
          <p:nvPr/>
        </p:nvSpPr>
        <p:spPr>
          <a:xfrm>
            <a:off x="5989320" y="1234440"/>
            <a:ext cx="2377440" cy="731520"/>
          </a:xfrm>
          <a:prstGeom prst="roundRect">
            <a:avLst>
              <a:gd name="adj" fmla="val 5000"/>
            </a:avLst>
          </a:prstGeom>
          <a:solidFill>
            <a:srgbClr val="F4F5FB"/>
          </a:solidFill>
          <a:ln w="1524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0" name="Text"/>
              <p:cNvSpPr/>
              <p:nvPr/>
            </p:nvSpPr>
            <p:spPr>
              <a:xfrm>
                <a:off x="5989320" y="1234440"/>
                <a:ext cx="1188720" cy="731520"/>
              </a:xfrm>
              <a:prstGeom prst="rect">
                <a:avLst/>
              </a:prstGeom>
              <a:noFill/>
              <a:ln/>
            </p:spPr>
            <p:txBody>
              <a:bodyPr wrap="square" lIns="0" tIns="0" rIns="0" bIns="0" rtlCol="0" anchor="ctr">
                <a:normAutofit/>
              </a:bodyPr>
              <a:lstStyle/>
              <a:p>
                <a:pPr marL="0" indent="0" algn="r">
                  <a:buNone/>
                </a:pPr>
                <a14:m>
                  <m:oMathPara xmlns:m="http://schemas.openxmlformats.org/officeDocument/2006/math">
                    <m:oMath>
                      <m:sSub>
                        <m:sSubPr>
                          <m:ctrlPr>
                            <a:rPr lang="en-US" sz="1300" b="1" i="1" dirty="0" smtClean="0">
                              <a:solidFill>
                                <a:srgbClr val="6B7280"/>
                              </a:solidFill>
                              <a:latin typeface="Cambria Math" panose="02040503050406030204" pitchFamily="18" charset="0"/>
                              <a:ea typeface="Georgia" pitchFamily="34" charset="-122"/>
                              <a:cs typeface="Georgia" pitchFamily="34" charset="-120"/>
                            </a:rPr>
                          </m:ctrlPr>
                        </m:sSubPr>
                        <m:e>
                          <m:r>
                            <a:rPr lang="en-US" sz="1300" b="1" i="1" dirty="0" smtClean="0">
                              <a:solidFill>
                                <a:srgbClr val="6B7280"/>
                              </a:solidFill>
                              <a:latin typeface="Cambria Math" panose="02040503050406030204" pitchFamily="18" charset="0"/>
                              <a:ea typeface="Georgia" pitchFamily="34" charset="-122"/>
                              <a:cs typeface="Georgia" pitchFamily="34" charset="-120"/>
                            </a:rPr>
                            <m:t>𝜽</m:t>
                          </m:r>
                        </m:e>
                        <m:sub>
                          <m:r>
                            <a:rPr lang="en-US" sz="1300" b="1" i="1" dirty="0" smtClean="0">
                              <a:solidFill>
                                <a:srgbClr val="6B7280"/>
                              </a:solidFill>
                              <a:latin typeface="Cambria Math" panose="02040503050406030204" pitchFamily="18" charset="0"/>
                              <a:ea typeface="Georgia" pitchFamily="34" charset="-122"/>
                              <a:cs typeface="Georgia" pitchFamily="34" charset="-120"/>
                            </a:rPr>
                            <m:t>𝒂𝒄</m:t>
                          </m:r>
                        </m:sub>
                      </m:sSub>
                    </m:oMath>
                  </m:oMathPara>
                </a14:m>
                <a:endParaRPr lang="en-US" sz="1300" dirty="0"/>
              </a:p>
            </p:txBody>
          </p:sp>
        </mc:Choice>
        <mc:Fallback xmlns="">
          <p:sp>
            <p:nvSpPr>
              <p:cNvPr id="10" name="Text"/>
              <p:cNvSpPr>
                <a:spLocks noRot="1" noChangeAspect="1" noMove="1" noResize="1" noEditPoints="1" noAdjustHandles="1" noChangeArrowheads="1" noChangeShapeType="1" noTextEdit="1"/>
              </p:cNvSpPr>
              <p:nvPr/>
            </p:nvSpPr>
            <p:spPr>
              <a:xfrm>
                <a:off x="5989320" y="1234440"/>
                <a:ext cx="1188720" cy="731520"/>
              </a:xfrm>
              <a:prstGeom prst="rect">
                <a:avLst/>
              </a:prstGeom>
              <a:blipFill>
                <a:blip r:embed="rId4"/>
                <a:stretch>
                  <a:fillRect/>
                </a:stretch>
              </a:blipFill>
              <a:ln/>
            </p:spPr>
            <p:txBody>
              <a:bodyPr/>
              <a:lstStyle/>
              <a:p>
                <a:r>
                  <a:rPr lang="en-US">
                    <a:noFill/>
                  </a:rPr>
                  <a:t> </a:t>
                </a:r>
              </a:p>
            </p:txBody>
          </p:sp>
        </mc:Fallback>
      </mc:AlternateContent>
      <p:sp>
        <p:nvSpPr>
          <p:cNvPr id="11" name="Text"/>
          <p:cNvSpPr/>
          <p:nvPr/>
        </p:nvSpPr>
        <p:spPr>
          <a:xfrm>
            <a:off x="7269480" y="1234440"/>
            <a:ext cx="914400" cy="731520"/>
          </a:xfrm>
          <a:prstGeom prst="rect">
            <a:avLst/>
          </a:prstGeom>
          <a:noFill/>
          <a:ln/>
        </p:spPr>
        <p:txBody>
          <a:bodyPr wrap="square" lIns="0" tIns="0" rIns="0" bIns="0" rtlCol="0" anchor="ctr">
            <a:normAutofit/>
          </a:bodyPr>
          <a:lstStyle/>
          <a:p>
            <a:pPr marL="0" indent="0" algn="l">
              <a:buNone/>
            </a:pPr>
            <a:r>
              <a:rPr lang="en-US" sz="1500" b="1" i="0">
                <a:solidFill>
                  <a:srgbClr val="3730A3"/>
                </a:solidFill>
                <a:latin typeface="Georgia" pitchFamily="34" charset="0"/>
                <a:ea typeface="Georgia" pitchFamily="34" charset="-122"/>
                <a:cs typeface="Georgia" pitchFamily="34" charset="-120"/>
              </a:rPr>
              <a:t>120°</a:t>
            </a:r>
            <a:endParaRPr lang="en-US" sz="1500"/>
          </a:p>
        </p:txBody>
      </p:sp>
      <p:sp>
        <p:nvSpPr>
          <p:cNvPr id="12" name="Card frame">
            <a:extLst>
              <a:ext uri="{C183D7F6-B498-43B3-948B-1728B52AA6E4}">
                <adec:decorative xmlns:adec="http://schemas.microsoft.com/office/drawing/2017/decorative" val="1"/>
              </a:ext>
            </a:extLst>
          </p:cNvPr>
          <p:cNvSpPr/>
          <p:nvPr/>
        </p:nvSpPr>
        <p:spPr>
          <a:xfrm>
            <a:off x="777240" y="2148840"/>
            <a:ext cx="7589520" cy="731520"/>
          </a:xfrm>
          <a:prstGeom prst="roundRect">
            <a:avLst>
              <a:gd name="adj" fmla="val 5000"/>
            </a:avLst>
          </a:prstGeom>
          <a:solidFill>
            <a:srgbClr val="FFFFFF"/>
          </a:solidFill>
          <a:ln w="15240">
            <a:solidFill>
              <a:srgbClr val="3730A3"/>
            </a:solidFill>
            <a:prstDash val="solid"/>
          </a:ln>
        </p:spPr>
        <p:txBody>
          <a:bodyPr/>
          <a:lstStyle/>
          <a:p>
            <a:endParaRPr lang="en-US"/>
          </a:p>
        </p:txBody>
      </p:sp>
      <mc:AlternateContent xmlns:mc="http://schemas.openxmlformats.org/markup-compatibility/2006" xmlns:a14="http://schemas.microsoft.com/office/drawing/2010/main">
        <mc:Choice Requires="a14">
          <p:sp>
            <p:nvSpPr>
              <p:cNvPr id="13" name="Text"/>
              <p:cNvSpPr/>
              <p:nvPr/>
            </p:nvSpPr>
            <p:spPr>
              <a:xfrm>
                <a:off x="960120" y="2148840"/>
                <a:ext cx="7223760" cy="731520"/>
              </a:xfrm>
              <a:prstGeom prst="rect">
                <a:avLst/>
              </a:prstGeom>
              <a:noFill/>
              <a:ln/>
            </p:spPr>
            <p:txBody>
              <a:bodyPr wrap="square" lIns="0" tIns="0" rIns="0" bIns="0" rtlCol="0" anchor="ctr">
                <a:normAutofit/>
              </a:bodyPr>
              <a:lstStyle/>
              <a:p>
                <a:pPr algn="ctr"/>
                <a14:m>
                  <m:oMathPara xmlns:m="http://schemas.openxmlformats.org/officeDocument/2006/math">
                    <m:oMath>
                      <m:sSub>
                        <m:sSubPr>
                          <m:ctrlPr>
                            <a:rPr lang="en-US" b="1" i="1" dirty="0" smtClean="0">
                              <a:solidFill>
                                <a:srgbClr val="3730A3"/>
                              </a:solidFill>
                              <a:latin typeface="Cambria Math" panose="02040503050406030204" pitchFamily="18" charset="0"/>
                              <a:ea typeface="Georgia" pitchFamily="34" charset="-122"/>
                              <a:cs typeface="Georgia" pitchFamily="34" charset="-120"/>
                            </a:rPr>
                          </m:ctrlPr>
                        </m:sSubPr>
                        <m:e>
                          <m:r>
                            <a:rPr lang="en-US" b="1" i="1" dirty="0" smtClean="0">
                              <a:solidFill>
                                <a:srgbClr val="3730A3"/>
                              </a:solidFill>
                              <a:latin typeface="Cambria Math" panose="02040503050406030204" pitchFamily="18" charset="0"/>
                              <a:ea typeface="Georgia" pitchFamily="34" charset="-122"/>
                              <a:cs typeface="Georgia" pitchFamily="34" charset="-120"/>
                            </a:rPr>
                            <m:t>𝑷</m:t>
                          </m:r>
                        </m:e>
                        <m:sub>
                          <m:r>
                            <a:rPr lang="en-US" b="1" i="1" dirty="0" smtClean="0">
                              <a:solidFill>
                                <a:srgbClr val="3730A3"/>
                              </a:solidFill>
                              <a:latin typeface="Cambria Math" panose="02040503050406030204" pitchFamily="18" charset="0"/>
                              <a:ea typeface="Georgia" pitchFamily="34" charset="-122"/>
                              <a:cs typeface="Georgia" pitchFamily="34" charset="-120"/>
                            </a:rPr>
                            <m:t>𝒂𝒃</m:t>
                          </m:r>
                        </m:sub>
                      </m:sSub>
                      <m:r>
                        <a:rPr lang="en-US" b="1" i="1" dirty="0" smtClean="0">
                          <a:solidFill>
                            <a:srgbClr val="3730A3"/>
                          </a:solidFill>
                          <a:latin typeface="Cambria Math" panose="02040503050406030204" pitchFamily="18" charset="0"/>
                          <a:ea typeface="Georgia" pitchFamily="34" charset="-122"/>
                          <a:cs typeface="Georgia" pitchFamily="34" charset="-120"/>
                        </a:rPr>
                        <m:t>  =  </m:t>
                      </m:r>
                      <m:sSub>
                        <m:sSubPr>
                          <m:ctrlPr>
                            <a:rPr lang="en-US" b="1" i="1" dirty="0" err="1">
                              <a:solidFill>
                                <a:srgbClr val="3730A3"/>
                              </a:solidFill>
                              <a:latin typeface="Cambria Math" panose="02040503050406030204" pitchFamily="18" charset="0"/>
                              <a:ea typeface="Georgia" pitchFamily="34" charset="-122"/>
                              <a:cs typeface="Georgia" pitchFamily="34" charset="-120"/>
                            </a:rPr>
                          </m:ctrlPr>
                        </m:sSubPr>
                        <m:e>
                          <m:r>
                            <a:rPr lang="en-US" b="1" i="1" dirty="0" err="1">
                              <a:solidFill>
                                <a:srgbClr val="3730A3"/>
                              </a:solidFill>
                              <a:latin typeface="Cambria Math" panose="02040503050406030204" pitchFamily="18" charset="0"/>
                              <a:ea typeface="Georgia" pitchFamily="34" charset="-122"/>
                              <a:cs typeface="Georgia" pitchFamily="34" charset="-120"/>
                            </a:rPr>
                            <m:t>𝑷</m:t>
                          </m:r>
                        </m:e>
                        <m:sub>
                          <m:r>
                            <a:rPr lang="en-US" b="1" i="1" dirty="0" err="1">
                              <a:solidFill>
                                <a:srgbClr val="3730A3"/>
                              </a:solidFill>
                              <a:latin typeface="Cambria Math" panose="02040503050406030204" pitchFamily="18" charset="0"/>
                              <a:ea typeface="Georgia" pitchFamily="34" charset="-122"/>
                              <a:cs typeface="Georgia" pitchFamily="34" charset="-120"/>
                            </a:rPr>
                            <m:t>𝒃𝒄</m:t>
                          </m:r>
                        </m:sub>
                      </m:sSub>
                      <m:r>
                        <a:rPr lang="en-US" b="1" i="1" dirty="0">
                          <a:solidFill>
                            <a:srgbClr val="3730A3"/>
                          </a:solidFill>
                          <a:latin typeface="Cambria Math" panose="02040503050406030204" pitchFamily="18" charset="0"/>
                          <a:ea typeface="Georgia" pitchFamily="34" charset="-122"/>
                          <a:cs typeface="Georgia" pitchFamily="34" charset="-120"/>
                        </a:rPr>
                        <m:t>  =  </m:t>
                      </m:r>
                      <m:sSub>
                        <m:sSubPr>
                          <m:ctrlPr>
                            <a:rPr lang="en-US" b="1" i="1" dirty="0">
                              <a:solidFill>
                                <a:srgbClr val="3730A3"/>
                              </a:solidFill>
                              <a:latin typeface="Cambria Math" panose="02040503050406030204" pitchFamily="18" charset="0"/>
                              <a:ea typeface="Georgia" pitchFamily="34" charset="-122"/>
                              <a:cs typeface="Georgia" pitchFamily="34" charset="-120"/>
                            </a:rPr>
                          </m:ctrlPr>
                        </m:sSubPr>
                        <m:e>
                          <m:r>
                            <a:rPr lang="en-US" b="1" i="1" dirty="0">
                              <a:solidFill>
                                <a:srgbClr val="3730A3"/>
                              </a:solidFill>
                              <a:latin typeface="Cambria Math" panose="02040503050406030204" pitchFamily="18" charset="0"/>
                              <a:ea typeface="Georgia" pitchFamily="34" charset="-122"/>
                              <a:cs typeface="Georgia" pitchFamily="34" charset="-120"/>
                            </a:rPr>
                            <m:t>𝑷</m:t>
                          </m:r>
                        </m:e>
                        <m:sub>
                          <m:r>
                            <a:rPr lang="en-US" b="1" i="1" dirty="0">
                              <a:solidFill>
                                <a:srgbClr val="3730A3"/>
                              </a:solidFill>
                              <a:latin typeface="Cambria Math" panose="02040503050406030204" pitchFamily="18" charset="0"/>
                              <a:ea typeface="Georgia" pitchFamily="34" charset="-122"/>
                              <a:cs typeface="Georgia" pitchFamily="34" charset="-120"/>
                            </a:rPr>
                            <m:t>𝒂𝒄</m:t>
                          </m:r>
                        </m:sub>
                      </m:sSub>
                      <m:r>
                        <a:rPr lang="en-US" b="1" i="1" dirty="0">
                          <a:solidFill>
                            <a:srgbClr val="3730A3"/>
                          </a:solidFill>
                          <a:latin typeface="Cambria Math" panose="02040503050406030204" pitchFamily="18" charset="0"/>
                          <a:ea typeface="Georgia" pitchFamily="34" charset="-122"/>
                          <a:cs typeface="Georgia" pitchFamily="34" charset="-120"/>
                        </a:rPr>
                        <m:t>  =  </m:t>
                      </m:r>
                      <m:r>
                        <a:rPr lang="en-US" b="1" i="1" dirty="0">
                          <a:solidFill>
                            <a:srgbClr val="3730A3"/>
                          </a:solidFill>
                          <a:latin typeface="Cambria Math" panose="02040503050406030204" pitchFamily="18" charset="0"/>
                          <a:ea typeface="Georgia" pitchFamily="34" charset="-122"/>
                          <a:cs typeface="Georgia" pitchFamily="34" charset="-120"/>
                        </a:rPr>
                        <m:t>𝟏</m:t>
                      </m:r>
                      <m:r>
                        <a:rPr lang="en-US" b="1" i="1" dirty="0">
                          <a:solidFill>
                            <a:srgbClr val="3730A3"/>
                          </a:solidFill>
                          <a:latin typeface="Cambria Math" panose="02040503050406030204" pitchFamily="18" charset="0"/>
                          <a:ea typeface="Georgia" pitchFamily="34" charset="-122"/>
                          <a:cs typeface="Georgia" pitchFamily="34" charset="-120"/>
                        </a:rPr>
                        <m:t>/</m:t>
                      </m:r>
                      <m:r>
                        <a:rPr lang="en-US" b="1" i="1" dirty="0">
                          <a:solidFill>
                            <a:srgbClr val="3730A3"/>
                          </a:solidFill>
                          <a:latin typeface="Cambria Math" panose="02040503050406030204" pitchFamily="18" charset="0"/>
                          <a:ea typeface="Georgia" pitchFamily="34" charset="-122"/>
                          <a:cs typeface="Georgia" pitchFamily="34" charset="-120"/>
                        </a:rPr>
                        <m:t>𝟒</m:t>
                      </m:r>
                    </m:oMath>
                  </m:oMathPara>
                </a14:m>
                <a:endParaRPr lang="en-US" dirty="0"/>
              </a:p>
            </p:txBody>
          </p:sp>
        </mc:Choice>
        <mc:Fallback xmlns="">
          <p:sp>
            <p:nvSpPr>
              <p:cNvPr id="13" name="Text"/>
              <p:cNvSpPr>
                <a:spLocks noRot="1" noChangeAspect="1" noMove="1" noResize="1" noEditPoints="1" noAdjustHandles="1" noChangeArrowheads="1" noChangeShapeType="1" noTextEdit="1"/>
              </p:cNvSpPr>
              <p:nvPr/>
            </p:nvSpPr>
            <p:spPr>
              <a:xfrm>
                <a:off x="960120" y="2148840"/>
                <a:ext cx="7223760" cy="731520"/>
              </a:xfrm>
              <a:prstGeom prst="rect">
                <a:avLst/>
              </a:prstGeom>
              <a:blipFill>
                <a:blip r:embed="rId5"/>
                <a:stretch>
                  <a:fillRect/>
                </a:stretch>
              </a:blipFill>
              <a:ln/>
            </p:spPr>
            <p:txBody>
              <a:bodyPr/>
              <a:lstStyle/>
              <a:p>
                <a:r>
                  <a:rPr lang="en-US">
                    <a:noFill/>
                  </a:rPr>
                  <a:t> </a:t>
                </a:r>
              </a:p>
            </p:txBody>
          </p:sp>
        </mc:Fallback>
      </mc:AlternateContent>
      <p:sp>
        <p:nvSpPr>
          <p:cNvPr id="14" name="Text"/>
          <p:cNvSpPr/>
          <p:nvPr/>
        </p:nvSpPr>
        <p:spPr>
          <a:xfrm>
            <a:off x="3931920" y="2971800"/>
            <a:ext cx="1280160" cy="274320"/>
          </a:xfrm>
          <a:prstGeom prst="rect">
            <a:avLst/>
          </a:prstGeom>
          <a:noFill/>
          <a:ln/>
        </p:spPr>
        <p:txBody>
          <a:bodyPr wrap="square" lIns="0" tIns="0" rIns="0" bIns="0" rtlCol="0" anchor="ctr">
            <a:normAutofit/>
          </a:bodyPr>
          <a:lstStyle/>
          <a:p>
            <a:pPr marL="0" indent="0" algn="ctr">
              <a:buNone/>
            </a:pPr>
            <a:r>
              <a:rPr lang="en-US" sz="1400" b="1" i="0">
                <a:solidFill>
                  <a:srgbClr val="C0392B"/>
                </a:solidFill>
                <a:latin typeface="Georgia" pitchFamily="34" charset="0"/>
                <a:ea typeface="Georgia" pitchFamily="34" charset="-122"/>
                <a:cs typeface="Georgia" pitchFamily="34" charset="-120"/>
              </a:rPr>
              <a:t>↓</a:t>
            </a:r>
            <a:endParaRPr lang="en-US" sz="1400"/>
          </a:p>
        </p:txBody>
      </p:sp>
      <p:sp>
        <p:nvSpPr>
          <p:cNvPr id="15" name="Card frame">
            <a:extLst>
              <a:ext uri="{C183D7F6-B498-43B3-948B-1728B52AA6E4}">
                <adec:decorative xmlns:adec="http://schemas.microsoft.com/office/drawing/2017/decorative" val="1"/>
              </a:ext>
            </a:extLst>
          </p:cNvPr>
          <p:cNvSpPr/>
          <p:nvPr/>
        </p:nvSpPr>
        <p:spPr>
          <a:xfrm>
            <a:off x="1600200" y="3337560"/>
            <a:ext cx="5943600" cy="731520"/>
          </a:xfrm>
          <a:prstGeom prst="roundRect">
            <a:avLst>
              <a:gd name="adj" fmla="val 5000"/>
            </a:avLst>
          </a:prstGeom>
          <a:solidFill>
            <a:srgbClr val="FFFFFF"/>
          </a:solidFill>
          <a:ln w="22860">
            <a:solidFill>
              <a:srgbClr val="C0392B"/>
            </a:solidFill>
            <a:prstDash val="solid"/>
          </a:ln>
        </p:spPr>
        <p:txBody>
          <a:bodyPr/>
          <a:lstStyle/>
          <a:p>
            <a:endParaRPr lang="en-US"/>
          </a:p>
        </p:txBody>
      </p:sp>
      <p:sp>
        <p:nvSpPr>
          <p:cNvPr id="16" name="Text"/>
          <p:cNvSpPr/>
          <p:nvPr/>
        </p:nvSpPr>
        <p:spPr>
          <a:xfrm>
            <a:off x="1783080" y="3337560"/>
            <a:ext cx="5577840" cy="731520"/>
          </a:xfrm>
          <a:prstGeom prst="rect">
            <a:avLst/>
          </a:prstGeom>
          <a:noFill/>
          <a:ln/>
        </p:spPr>
        <p:txBody>
          <a:bodyPr wrap="square" lIns="0" tIns="0" rIns="0" bIns="0" rtlCol="0" anchor="ctr">
            <a:normAutofit/>
          </a:bodyPr>
          <a:lstStyle/>
          <a:p>
            <a:pPr marL="0" indent="0" algn="ctr">
              <a:buNone/>
            </a:pPr>
            <a:r>
              <a:rPr lang="en-US" sz="1900" b="1" i="0">
                <a:solidFill>
                  <a:srgbClr val="C0392B"/>
                </a:solidFill>
                <a:latin typeface="Georgia" pitchFamily="34" charset="0"/>
                <a:ea typeface="Georgia" pitchFamily="34" charset="-122"/>
                <a:cs typeface="Georgia" pitchFamily="34" charset="-120"/>
              </a:rPr>
              <a:t>1/4 + 1/4 + 1/4  =  3/4   &lt;   1</a:t>
            </a:r>
            <a:endParaRPr lang="en-US" sz="1900"/>
          </a:p>
        </p:txBody>
      </p:sp>
      <p:sp>
        <p:nvSpPr>
          <p:cNvPr id="17"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The canonical violation: quantum mechanics falls below the classical bound.</a:t>
            </a:r>
            <a:endParaRPr lang="en-US" sz="125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Where quantum mechanics lands</a:t>
            </a:r>
            <a:endParaRPr lang="en-US" sz="2500"/>
          </a:p>
        </p:txBody>
      </p:sp>
      <p:sp>
        <p:nvSpPr>
          <p:cNvPr id="3" name="Rule">
            <a:extLst>
              <a:ext uri="{C183D7F6-B498-43B3-948B-1728B52AA6E4}">
                <adec:decorative xmlns:adec="http://schemas.microsoft.com/office/drawing/2017/decorative" val="1"/>
              </a:ext>
            </a:extLst>
          </p:cNvPr>
          <p:cNvSpPr/>
          <p:nvPr/>
        </p:nvSpPr>
        <p:spPr>
          <a:xfrm>
            <a:off x="1371600" y="2377440"/>
            <a:ext cx="6400800" cy="0"/>
          </a:xfrm>
          <a:prstGeom prst="line">
            <a:avLst/>
          </a:prstGeom>
          <a:noFill/>
          <a:ln w="19050">
            <a:solidFill>
              <a:srgbClr val="6B7280"/>
            </a:solidFill>
            <a:prstDash val="solid"/>
          </a:ln>
        </p:spPr>
        <p:txBody>
          <a:bodyPr/>
          <a:lstStyle/>
          <a:p>
            <a:endParaRPr lang="en-US"/>
          </a:p>
        </p:txBody>
      </p:sp>
      <p:sp>
        <p:nvSpPr>
          <p:cNvPr id="4" name="Tick">
            <a:extLst>
              <a:ext uri="{C183D7F6-B498-43B3-948B-1728B52AA6E4}">
                <adec:decorative xmlns:adec="http://schemas.microsoft.com/office/drawing/2017/decorative" val="1"/>
              </a:ext>
            </a:extLst>
          </p:cNvPr>
          <p:cNvSpPr/>
          <p:nvPr/>
        </p:nvSpPr>
        <p:spPr>
          <a:xfrm>
            <a:off x="1371600" y="2263140"/>
            <a:ext cx="0" cy="228600"/>
          </a:xfrm>
          <a:prstGeom prst="line">
            <a:avLst/>
          </a:prstGeom>
          <a:noFill/>
          <a:ln w="19050">
            <a:solidFill>
              <a:srgbClr val="6B7280"/>
            </a:solidFill>
            <a:prstDash val="solid"/>
          </a:ln>
        </p:spPr>
        <p:txBody>
          <a:bodyPr/>
          <a:lstStyle/>
          <a:p>
            <a:endParaRPr lang="en-US"/>
          </a:p>
        </p:txBody>
      </p:sp>
      <p:sp>
        <p:nvSpPr>
          <p:cNvPr id="5" name="Text"/>
          <p:cNvSpPr/>
          <p:nvPr/>
        </p:nvSpPr>
        <p:spPr>
          <a:xfrm>
            <a:off x="914400" y="2560320"/>
            <a:ext cx="914400" cy="274320"/>
          </a:xfrm>
          <a:prstGeom prst="rect">
            <a:avLst/>
          </a:prstGeom>
          <a:noFill/>
          <a:ln/>
        </p:spPr>
        <p:txBody>
          <a:bodyPr wrap="square" lIns="0" tIns="0" rIns="0" bIns="0" rtlCol="0" anchor="ctr">
            <a:normAutofit/>
          </a:bodyPr>
          <a:lstStyle/>
          <a:p>
            <a:pPr marL="0" indent="0" algn="ctr">
              <a:buNone/>
            </a:pPr>
            <a:r>
              <a:rPr lang="en-US" sz="1200" b="1" i="0">
                <a:solidFill>
                  <a:srgbClr val="6B7280"/>
                </a:solidFill>
                <a:latin typeface="Georgia" pitchFamily="34" charset="0"/>
                <a:ea typeface="Georgia" pitchFamily="34" charset="-122"/>
                <a:cs typeface="Georgia" pitchFamily="34" charset="-120"/>
              </a:rPr>
              <a:t>0</a:t>
            </a:r>
            <a:endParaRPr lang="en-US" sz="1200"/>
          </a:p>
        </p:txBody>
      </p:sp>
      <p:sp>
        <p:nvSpPr>
          <p:cNvPr id="6" name="Tick">
            <a:extLst>
              <a:ext uri="{C183D7F6-B498-43B3-948B-1728B52AA6E4}">
                <adec:decorative xmlns:adec="http://schemas.microsoft.com/office/drawing/2017/decorative" val="1"/>
              </a:ext>
            </a:extLst>
          </p:cNvPr>
          <p:cNvSpPr/>
          <p:nvPr/>
        </p:nvSpPr>
        <p:spPr>
          <a:xfrm>
            <a:off x="6172200" y="2263140"/>
            <a:ext cx="0" cy="228600"/>
          </a:xfrm>
          <a:prstGeom prst="line">
            <a:avLst/>
          </a:prstGeom>
          <a:noFill/>
          <a:ln w="19050">
            <a:solidFill>
              <a:srgbClr val="C0392B"/>
            </a:solidFill>
            <a:prstDash val="solid"/>
          </a:ln>
        </p:spPr>
        <p:txBody>
          <a:bodyPr/>
          <a:lstStyle/>
          <a:p>
            <a:endParaRPr lang="en-US"/>
          </a:p>
        </p:txBody>
      </p:sp>
      <p:sp>
        <p:nvSpPr>
          <p:cNvPr id="7" name="Text"/>
          <p:cNvSpPr/>
          <p:nvPr/>
        </p:nvSpPr>
        <p:spPr>
          <a:xfrm>
            <a:off x="5715000" y="2560320"/>
            <a:ext cx="914400" cy="274320"/>
          </a:xfrm>
          <a:prstGeom prst="rect">
            <a:avLst/>
          </a:prstGeom>
          <a:noFill/>
          <a:ln/>
        </p:spPr>
        <p:txBody>
          <a:bodyPr wrap="square" lIns="0" tIns="0" rIns="0" bIns="0" rtlCol="0" anchor="ctr">
            <a:normAutofit/>
          </a:bodyPr>
          <a:lstStyle/>
          <a:p>
            <a:pPr marL="0" indent="0" algn="ctr">
              <a:buNone/>
            </a:pPr>
            <a:r>
              <a:rPr lang="en-US" sz="1200" b="1" i="0">
                <a:solidFill>
                  <a:srgbClr val="C0392B"/>
                </a:solidFill>
                <a:latin typeface="Georgia" pitchFamily="34" charset="0"/>
                <a:ea typeface="Georgia" pitchFamily="34" charset="-122"/>
                <a:cs typeface="Georgia" pitchFamily="34" charset="-120"/>
              </a:rPr>
              <a:t>0.75</a:t>
            </a:r>
            <a:endParaRPr lang="en-US" sz="1200"/>
          </a:p>
        </p:txBody>
      </p:sp>
      <p:sp>
        <p:nvSpPr>
          <p:cNvPr id="8" name="Tick">
            <a:extLst>
              <a:ext uri="{C183D7F6-B498-43B3-948B-1728B52AA6E4}">
                <adec:decorative xmlns:adec="http://schemas.microsoft.com/office/drawing/2017/decorative" val="1"/>
              </a:ext>
            </a:extLst>
          </p:cNvPr>
          <p:cNvSpPr/>
          <p:nvPr/>
        </p:nvSpPr>
        <p:spPr>
          <a:xfrm>
            <a:off x="7772400" y="2263140"/>
            <a:ext cx="0" cy="228600"/>
          </a:xfrm>
          <a:prstGeom prst="line">
            <a:avLst/>
          </a:prstGeom>
          <a:noFill/>
          <a:ln w="19050">
            <a:solidFill>
              <a:srgbClr val="3730A3"/>
            </a:solidFill>
            <a:prstDash val="solid"/>
          </a:ln>
        </p:spPr>
        <p:txBody>
          <a:bodyPr/>
          <a:lstStyle/>
          <a:p>
            <a:endParaRPr lang="en-US"/>
          </a:p>
        </p:txBody>
      </p:sp>
      <p:sp>
        <p:nvSpPr>
          <p:cNvPr id="9" name="Text"/>
          <p:cNvSpPr/>
          <p:nvPr/>
        </p:nvSpPr>
        <p:spPr>
          <a:xfrm>
            <a:off x="7315200" y="2560320"/>
            <a:ext cx="914400" cy="274320"/>
          </a:xfrm>
          <a:prstGeom prst="rect">
            <a:avLst/>
          </a:prstGeom>
          <a:noFill/>
          <a:ln/>
        </p:spPr>
        <p:txBody>
          <a:bodyPr wrap="square" lIns="0" tIns="0" rIns="0" bIns="0" rtlCol="0" anchor="ctr">
            <a:normAutofit/>
          </a:bodyPr>
          <a:lstStyle/>
          <a:p>
            <a:pPr marL="0" indent="0" algn="ctr">
              <a:buNone/>
            </a:pPr>
            <a:r>
              <a:rPr lang="en-US" sz="1200" b="1" i="0">
                <a:solidFill>
                  <a:srgbClr val="3730A3"/>
                </a:solidFill>
                <a:latin typeface="Georgia" pitchFamily="34" charset="0"/>
                <a:ea typeface="Georgia" pitchFamily="34" charset="-122"/>
                <a:cs typeface="Georgia" pitchFamily="34" charset="-120"/>
              </a:rPr>
              <a:t>1</a:t>
            </a:r>
            <a:endParaRPr lang="en-US" sz="1200"/>
          </a:p>
        </p:txBody>
      </p:sp>
      <p:sp>
        <p:nvSpPr>
          <p:cNvPr id="10" name="Dot">
            <a:extLst>
              <a:ext uri="{C183D7F6-B498-43B3-948B-1728B52AA6E4}">
                <adec:decorative xmlns:adec="http://schemas.microsoft.com/office/drawing/2017/decorative" val="1"/>
              </a:ext>
            </a:extLst>
          </p:cNvPr>
          <p:cNvSpPr/>
          <p:nvPr/>
        </p:nvSpPr>
        <p:spPr>
          <a:xfrm>
            <a:off x="6035040" y="2240280"/>
            <a:ext cx="274320" cy="274320"/>
          </a:xfrm>
          <a:prstGeom prst="ellipse">
            <a:avLst/>
          </a:prstGeom>
          <a:solidFill>
            <a:srgbClr val="C0392B"/>
          </a:solidFill>
          <a:ln>
            <a:noFill/>
          </a:ln>
        </p:spPr>
        <p:txBody>
          <a:bodyPr/>
          <a:lstStyle/>
          <a:p>
            <a:endParaRPr lang="en-US"/>
          </a:p>
        </p:txBody>
      </p:sp>
      <p:sp>
        <p:nvSpPr>
          <p:cNvPr id="11" name="Text"/>
          <p:cNvSpPr/>
          <p:nvPr/>
        </p:nvSpPr>
        <p:spPr>
          <a:xfrm>
            <a:off x="5486400" y="1737360"/>
            <a:ext cx="1371600" cy="320040"/>
          </a:xfrm>
          <a:prstGeom prst="rect">
            <a:avLst/>
          </a:prstGeom>
          <a:noFill/>
          <a:ln/>
        </p:spPr>
        <p:txBody>
          <a:bodyPr wrap="square" lIns="0" tIns="0" rIns="0" bIns="0" rtlCol="0" anchor="ctr">
            <a:normAutofit/>
          </a:bodyPr>
          <a:lstStyle/>
          <a:p>
            <a:pPr marL="0" indent="0" algn="ctr">
              <a:buNone/>
            </a:pPr>
            <a:r>
              <a:rPr lang="en-US" sz="1300" b="1" i="0">
                <a:solidFill>
                  <a:srgbClr val="C0392B"/>
                </a:solidFill>
                <a:latin typeface="Georgia" pitchFamily="34" charset="0"/>
                <a:ea typeface="Georgia" pitchFamily="34" charset="-122"/>
                <a:cs typeface="Georgia" pitchFamily="34" charset="-120"/>
              </a:rPr>
              <a:t>QUANTUM  3/4</a:t>
            </a:r>
            <a:endParaRPr lang="en-US" sz="1300"/>
          </a:p>
        </p:txBody>
      </p:sp>
      <p:sp>
        <p:nvSpPr>
          <p:cNvPr id="12" name="Text"/>
          <p:cNvSpPr/>
          <p:nvPr/>
        </p:nvSpPr>
        <p:spPr>
          <a:xfrm>
            <a:off x="6217920" y="1234440"/>
            <a:ext cx="1554480" cy="320040"/>
          </a:xfrm>
          <a:prstGeom prst="rect">
            <a:avLst/>
          </a:prstGeom>
          <a:noFill/>
          <a:ln/>
        </p:spPr>
        <p:txBody>
          <a:bodyPr wrap="square" lIns="0" tIns="0" rIns="0" bIns="0" rtlCol="0" anchor="ctr">
            <a:normAutofit/>
          </a:bodyPr>
          <a:lstStyle/>
          <a:p>
            <a:pPr marL="0" indent="0" algn="r">
              <a:buNone/>
            </a:pPr>
            <a:r>
              <a:rPr lang="en-US" sz="1300" b="1" i="0">
                <a:solidFill>
                  <a:srgbClr val="3730A3"/>
                </a:solidFill>
                <a:latin typeface="Georgia" pitchFamily="34" charset="0"/>
                <a:ea typeface="Georgia" pitchFamily="34" charset="-122"/>
                <a:cs typeface="Georgia" pitchFamily="34" charset="-120"/>
              </a:rPr>
              <a:t>LHV BOUND  1</a:t>
            </a:r>
            <a:endParaRPr lang="en-US" sz="1300"/>
          </a:p>
        </p:txBody>
      </p:sp>
      <p:sp>
        <p:nvSpPr>
          <p:cNvPr id="13" name="Bracket">
            <a:extLst>
              <a:ext uri="{C183D7F6-B498-43B3-948B-1728B52AA6E4}">
                <adec:decorative xmlns:adec="http://schemas.microsoft.com/office/drawing/2017/decorative" val="1"/>
              </a:ext>
            </a:extLst>
          </p:cNvPr>
          <p:cNvSpPr/>
          <p:nvPr/>
        </p:nvSpPr>
        <p:spPr>
          <a:xfrm>
            <a:off x="1371600" y="3200400"/>
            <a:ext cx="4800600" cy="0"/>
          </a:xfrm>
          <a:prstGeom prst="line">
            <a:avLst/>
          </a:prstGeom>
          <a:noFill/>
          <a:ln w="12700">
            <a:solidFill>
              <a:srgbClr val="C0392B"/>
            </a:solidFill>
            <a:prstDash val="solid"/>
          </a:ln>
        </p:spPr>
        <p:txBody>
          <a:bodyPr/>
          <a:lstStyle/>
          <a:p>
            <a:endParaRPr lang="en-US"/>
          </a:p>
        </p:txBody>
      </p:sp>
      <p:sp>
        <p:nvSpPr>
          <p:cNvPr id="14" name="Text"/>
          <p:cNvSpPr/>
          <p:nvPr/>
        </p:nvSpPr>
        <p:spPr>
          <a:xfrm>
            <a:off x="1371600" y="3337560"/>
            <a:ext cx="4800600" cy="274320"/>
          </a:xfrm>
          <a:prstGeom prst="rect">
            <a:avLst/>
          </a:prstGeom>
          <a:noFill/>
          <a:ln/>
        </p:spPr>
        <p:txBody>
          <a:bodyPr wrap="square" lIns="0" tIns="0" rIns="0" bIns="0" rtlCol="0" anchor="ctr">
            <a:normAutofit/>
          </a:bodyPr>
          <a:lstStyle/>
          <a:p>
            <a:pPr marL="0" indent="0" algn="ctr">
              <a:buNone/>
            </a:pPr>
            <a:r>
              <a:rPr lang="en-US" sz="1050" b="0" i="1">
                <a:solidFill>
                  <a:srgbClr val="6B7280"/>
                </a:solidFill>
                <a:latin typeface="Georgia" pitchFamily="34" charset="0"/>
                <a:ea typeface="Georgia" pitchFamily="34" charset="-122"/>
                <a:cs typeface="Georgia" pitchFamily="34" charset="-120"/>
              </a:rPr>
              <a:t>violation region</a:t>
            </a:r>
            <a:endParaRPr lang="en-US" sz="1050"/>
          </a:p>
        </p:txBody>
      </p:sp>
      <p:sp>
        <p:nvSpPr>
          <p:cNvPr id="15"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The quantum value sits strictly below the bound every local theory must respect.</a:t>
            </a:r>
            <a:endParaRPr lang="en-US" sz="125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Exercise: the 45° configuration</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234440"/>
            <a:ext cx="3611880" cy="1554480"/>
          </a:xfrm>
          <a:prstGeom prst="roundRect">
            <a:avLst>
              <a:gd name="adj" fmla="val 5000"/>
            </a:avLst>
          </a:prstGeom>
          <a:solidFill>
            <a:srgbClr val="F4F5FB"/>
          </a:solidFill>
          <a:ln w="15240">
            <a:solidFill>
              <a:srgbClr val="3730A3"/>
            </a:solidFill>
            <a:prstDash val="solid"/>
          </a:ln>
        </p:spPr>
        <p:txBody>
          <a:bodyPr/>
          <a:lstStyle/>
          <a:p>
            <a:endParaRPr lang="en-US" dirty="0"/>
          </a:p>
        </p:txBody>
      </p:sp>
      <p:sp>
        <p:nvSpPr>
          <p:cNvPr id="4" name="Text"/>
          <p:cNvSpPr/>
          <p:nvPr/>
        </p:nvSpPr>
        <p:spPr>
          <a:xfrm>
            <a:off x="960120" y="137160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3730A3"/>
                </a:solidFill>
                <a:latin typeface="Georgia" pitchFamily="34" charset="0"/>
                <a:ea typeface="Georgia" pitchFamily="34" charset="-122"/>
                <a:cs typeface="Georgia" pitchFamily="34" charset="-120"/>
              </a:rPr>
              <a:t>SETTINGS</a:t>
            </a:r>
            <a:endParaRPr lang="en-US" sz="1000"/>
          </a:p>
        </p:txBody>
      </p:sp>
      <mc:AlternateContent xmlns:mc="http://schemas.openxmlformats.org/markup-compatibility/2006" xmlns:a14="http://schemas.microsoft.com/office/drawing/2010/main">
        <mc:Choice Requires="a14">
          <p:sp>
            <p:nvSpPr>
              <p:cNvPr id="5" name="Text"/>
              <p:cNvSpPr/>
              <p:nvPr/>
            </p:nvSpPr>
            <p:spPr>
              <a:xfrm>
                <a:off x="960120" y="1737360"/>
                <a:ext cx="1554480" cy="274320"/>
              </a:xfrm>
              <a:prstGeom prst="rect">
                <a:avLst/>
              </a:prstGeom>
              <a:noFill/>
              <a:ln/>
            </p:spPr>
            <p:txBody>
              <a:bodyPr wrap="square" lIns="0" tIns="0" rIns="0" bIns="0" rtlCol="0" anchor="ctr">
                <a:normAutofit/>
              </a:bodyPr>
              <a:lstStyle/>
              <a:p>
                <a:pPr marL="0" indent="0" algn="l">
                  <a:buNone/>
                </a:pPr>
                <a14:m>
                  <m:oMathPara xmlns:m="http://schemas.openxmlformats.org/officeDocument/2006/math">
                    <m:oMath>
                      <m:sSub>
                        <m:sSubPr>
                          <m:ctrlPr>
                            <a:rPr lang="en-US" sz="1250" b="0" i="1" dirty="0" smtClean="0">
                              <a:solidFill>
                                <a:srgbClr val="6B7280"/>
                              </a:solidFill>
                              <a:latin typeface="Cambria Math" panose="02040503050406030204" pitchFamily="18" charset="0"/>
                              <a:ea typeface="Georgia" pitchFamily="34" charset="-122"/>
                              <a:cs typeface="Georgia" pitchFamily="34" charset="-120"/>
                            </a:rPr>
                          </m:ctrlPr>
                        </m:sSubPr>
                        <m:e>
                          <m:r>
                            <a:rPr lang="en-US" sz="1250" b="0" i="1" dirty="0" smtClean="0">
                              <a:solidFill>
                                <a:srgbClr val="6B7280"/>
                              </a:solidFill>
                              <a:latin typeface="Cambria Math" panose="02040503050406030204" pitchFamily="18" charset="0"/>
                              <a:ea typeface="Georgia" pitchFamily="34" charset="-122"/>
                              <a:cs typeface="Georgia" pitchFamily="34" charset="-120"/>
                            </a:rPr>
                            <m:t>𝜃</m:t>
                          </m:r>
                        </m:e>
                        <m:sub>
                          <m:r>
                            <a:rPr lang="en-US" sz="1250" b="0" i="1" dirty="0" smtClean="0">
                              <a:solidFill>
                                <a:srgbClr val="6B7280"/>
                              </a:solidFill>
                              <a:latin typeface="Cambria Math" panose="02040503050406030204" pitchFamily="18" charset="0"/>
                              <a:ea typeface="Georgia" pitchFamily="34" charset="-122"/>
                              <a:cs typeface="Georgia" pitchFamily="34" charset="-120"/>
                            </a:rPr>
                            <m:t>𝑎𝑏</m:t>
                          </m:r>
                        </m:sub>
                      </m:sSub>
                    </m:oMath>
                  </m:oMathPara>
                </a14:m>
                <a:endParaRPr lang="en-US" sz="1250" dirty="0"/>
              </a:p>
            </p:txBody>
          </p:sp>
        </mc:Choice>
        <mc:Fallback xmlns="">
          <p:sp>
            <p:nvSpPr>
              <p:cNvPr id="5" name="Text"/>
              <p:cNvSpPr>
                <a:spLocks noRot="1" noChangeAspect="1" noMove="1" noResize="1" noEditPoints="1" noAdjustHandles="1" noChangeArrowheads="1" noChangeShapeType="1" noTextEdit="1"/>
              </p:cNvSpPr>
              <p:nvPr/>
            </p:nvSpPr>
            <p:spPr>
              <a:xfrm>
                <a:off x="960120" y="1737360"/>
                <a:ext cx="1554480" cy="274320"/>
              </a:xfrm>
              <a:prstGeom prst="rect">
                <a:avLst/>
              </a:prstGeom>
              <a:blipFill>
                <a:blip r:embed="rId3"/>
                <a:stretch>
                  <a:fillRect/>
                </a:stretch>
              </a:blipFill>
              <a:ln/>
            </p:spPr>
            <p:txBody>
              <a:bodyPr/>
              <a:lstStyle/>
              <a:p>
                <a:r>
                  <a:rPr lang="en-US">
                    <a:noFill/>
                  </a:rPr>
                  <a:t> </a:t>
                </a:r>
              </a:p>
            </p:txBody>
          </p:sp>
        </mc:Fallback>
      </mc:AlternateContent>
      <p:sp>
        <p:nvSpPr>
          <p:cNvPr id="6" name="Text"/>
          <p:cNvSpPr/>
          <p:nvPr/>
        </p:nvSpPr>
        <p:spPr>
          <a:xfrm>
            <a:off x="2651760" y="1737360"/>
            <a:ext cx="1554480" cy="274320"/>
          </a:xfrm>
          <a:prstGeom prst="rect">
            <a:avLst/>
          </a:prstGeom>
          <a:noFill/>
          <a:ln/>
        </p:spPr>
        <p:txBody>
          <a:bodyPr wrap="square" lIns="0" tIns="0" rIns="0" bIns="0" rtlCol="0" anchor="ctr">
            <a:normAutofit/>
          </a:bodyPr>
          <a:lstStyle/>
          <a:p>
            <a:pPr marL="0" indent="0" algn="r">
              <a:buNone/>
            </a:pPr>
            <a:r>
              <a:rPr lang="en-US" sz="1250" b="1" i="0">
                <a:solidFill>
                  <a:srgbClr val="3730A3"/>
                </a:solidFill>
                <a:latin typeface="Georgia" pitchFamily="34" charset="0"/>
                <a:ea typeface="Georgia" pitchFamily="34" charset="-122"/>
                <a:cs typeface="Georgia" pitchFamily="34" charset="-120"/>
              </a:rPr>
              <a:t>45°</a:t>
            </a:r>
            <a:endParaRPr lang="en-US" sz="1250"/>
          </a:p>
        </p:txBody>
      </p:sp>
      <mc:AlternateContent xmlns:mc="http://schemas.openxmlformats.org/markup-compatibility/2006" xmlns:a14="http://schemas.microsoft.com/office/drawing/2010/main">
        <mc:Choice Requires="a14">
          <p:sp>
            <p:nvSpPr>
              <p:cNvPr id="7" name="Text"/>
              <p:cNvSpPr/>
              <p:nvPr/>
            </p:nvSpPr>
            <p:spPr>
              <a:xfrm>
                <a:off x="960120" y="2057400"/>
                <a:ext cx="1554480" cy="274320"/>
              </a:xfrm>
              <a:prstGeom prst="rect">
                <a:avLst/>
              </a:prstGeom>
              <a:noFill/>
              <a:ln/>
            </p:spPr>
            <p:txBody>
              <a:bodyPr wrap="square" lIns="0" tIns="0" rIns="0" bIns="0" rtlCol="0" anchor="ctr">
                <a:normAutofit/>
              </a:bodyPr>
              <a:lstStyle/>
              <a:p>
                <a:pPr marL="0" indent="0" algn="l">
                  <a:buNone/>
                </a:pPr>
                <a14:m>
                  <m:oMathPara xmlns:m="http://schemas.openxmlformats.org/officeDocument/2006/math">
                    <m:oMath>
                      <m:sSub>
                        <m:sSubPr>
                          <m:ctrlPr>
                            <a:rPr lang="en-US" sz="1250" b="0" i="1" dirty="0" smtClean="0">
                              <a:solidFill>
                                <a:srgbClr val="6B7280"/>
                              </a:solidFill>
                              <a:latin typeface="Cambria Math" panose="02040503050406030204" pitchFamily="18" charset="0"/>
                              <a:ea typeface="Georgia" pitchFamily="34" charset="-122"/>
                              <a:cs typeface="Georgia" pitchFamily="34" charset="-120"/>
                            </a:rPr>
                          </m:ctrlPr>
                        </m:sSubPr>
                        <m:e>
                          <m:r>
                            <a:rPr lang="en-US" sz="1250" b="0" i="1" dirty="0" smtClean="0">
                              <a:solidFill>
                                <a:srgbClr val="6B7280"/>
                              </a:solidFill>
                              <a:latin typeface="Cambria Math" panose="02040503050406030204" pitchFamily="18" charset="0"/>
                              <a:ea typeface="Georgia" pitchFamily="34" charset="-122"/>
                              <a:cs typeface="Georgia" pitchFamily="34" charset="-120"/>
                            </a:rPr>
                            <m:t>𝜃</m:t>
                          </m:r>
                        </m:e>
                        <m:sub>
                          <m:r>
                            <a:rPr lang="en-US" sz="1250" b="0" i="1" dirty="0" smtClean="0">
                              <a:solidFill>
                                <a:srgbClr val="6B7280"/>
                              </a:solidFill>
                              <a:latin typeface="Cambria Math" panose="02040503050406030204" pitchFamily="18" charset="0"/>
                              <a:ea typeface="Georgia" pitchFamily="34" charset="-122"/>
                              <a:cs typeface="Georgia" pitchFamily="34" charset="-120"/>
                            </a:rPr>
                            <m:t>𝑏𝑐</m:t>
                          </m:r>
                        </m:sub>
                      </m:sSub>
                    </m:oMath>
                  </m:oMathPara>
                </a14:m>
                <a:endParaRPr lang="en-US" sz="1250" dirty="0"/>
              </a:p>
            </p:txBody>
          </p:sp>
        </mc:Choice>
        <mc:Fallback xmlns="">
          <p:sp>
            <p:nvSpPr>
              <p:cNvPr id="7" name="Text"/>
              <p:cNvSpPr>
                <a:spLocks noRot="1" noChangeAspect="1" noMove="1" noResize="1" noEditPoints="1" noAdjustHandles="1" noChangeArrowheads="1" noChangeShapeType="1" noTextEdit="1"/>
              </p:cNvSpPr>
              <p:nvPr/>
            </p:nvSpPr>
            <p:spPr>
              <a:xfrm>
                <a:off x="960120" y="2057400"/>
                <a:ext cx="1554480" cy="274320"/>
              </a:xfrm>
              <a:prstGeom prst="rect">
                <a:avLst/>
              </a:prstGeom>
              <a:blipFill>
                <a:blip r:embed="rId4"/>
                <a:stretch>
                  <a:fillRect/>
                </a:stretch>
              </a:blipFill>
              <a:ln/>
            </p:spPr>
            <p:txBody>
              <a:bodyPr/>
              <a:lstStyle/>
              <a:p>
                <a:r>
                  <a:rPr lang="en-US">
                    <a:noFill/>
                  </a:rPr>
                  <a:t> </a:t>
                </a:r>
              </a:p>
            </p:txBody>
          </p:sp>
        </mc:Fallback>
      </mc:AlternateContent>
      <p:sp>
        <p:nvSpPr>
          <p:cNvPr id="8" name="Text"/>
          <p:cNvSpPr/>
          <p:nvPr/>
        </p:nvSpPr>
        <p:spPr>
          <a:xfrm>
            <a:off x="2651760" y="2057400"/>
            <a:ext cx="1554480" cy="274320"/>
          </a:xfrm>
          <a:prstGeom prst="rect">
            <a:avLst/>
          </a:prstGeom>
          <a:noFill/>
          <a:ln/>
        </p:spPr>
        <p:txBody>
          <a:bodyPr wrap="square" lIns="0" tIns="0" rIns="0" bIns="0" rtlCol="0" anchor="ctr">
            <a:normAutofit/>
          </a:bodyPr>
          <a:lstStyle/>
          <a:p>
            <a:pPr marL="0" indent="0" algn="r">
              <a:buNone/>
            </a:pPr>
            <a:r>
              <a:rPr lang="en-US" sz="1250" b="1" i="0">
                <a:solidFill>
                  <a:srgbClr val="3730A3"/>
                </a:solidFill>
                <a:latin typeface="Georgia" pitchFamily="34" charset="0"/>
                <a:ea typeface="Georgia" pitchFamily="34" charset="-122"/>
                <a:cs typeface="Georgia" pitchFamily="34" charset="-120"/>
              </a:rPr>
              <a:t>45°</a:t>
            </a:r>
            <a:endParaRPr lang="en-US" sz="1250"/>
          </a:p>
        </p:txBody>
      </p:sp>
      <mc:AlternateContent xmlns:mc="http://schemas.openxmlformats.org/markup-compatibility/2006" xmlns:a14="http://schemas.microsoft.com/office/drawing/2010/main">
        <mc:Choice Requires="a14">
          <p:sp>
            <p:nvSpPr>
              <p:cNvPr id="9" name="Text"/>
              <p:cNvSpPr/>
              <p:nvPr/>
            </p:nvSpPr>
            <p:spPr>
              <a:xfrm>
                <a:off x="960120" y="2377440"/>
                <a:ext cx="1554480" cy="274320"/>
              </a:xfrm>
              <a:prstGeom prst="rect">
                <a:avLst/>
              </a:prstGeom>
              <a:noFill/>
              <a:ln/>
            </p:spPr>
            <p:txBody>
              <a:bodyPr wrap="square" lIns="0" tIns="0" rIns="0" bIns="0" rtlCol="0" anchor="ctr">
                <a:normAutofit/>
              </a:bodyPr>
              <a:lstStyle/>
              <a:p>
                <a:pPr marL="0" indent="0" algn="l">
                  <a:buNone/>
                </a:pPr>
                <a14:m>
                  <m:oMathPara xmlns:m="http://schemas.openxmlformats.org/officeDocument/2006/math">
                    <m:oMath>
                      <m:sSub>
                        <m:sSubPr>
                          <m:ctrlPr>
                            <a:rPr lang="en-US" sz="1250" b="0" i="1" dirty="0" smtClean="0">
                              <a:solidFill>
                                <a:srgbClr val="6B7280"/>
                              </a:solidFill>
                              <a:latin typeface="Cambria Math" panose="02040503050406030204" pitchFamily="18" charset="0"/>
                              <a:ea typeface="Georgia" pitchFamily="34" charset="-122"/>
                              <a:cs typeface="Georgia" pitchFamily="34" charset="-120"/>
                            </a:rPr>
                          </m:ctrlPr>
                        </m:sSubPr>
                        <m:e>
                          <m:r>
                            <a:rPr lang="en-US" sz="1250" b="0" i="1" dirty="0" smtClean="0">
                              <a:solidFill>
                                <a:srgbClr val="6B7280"/>
                              </a:solidFill>
                              <a:latin typeface="Cambria Math" panose="02040503050406030204" pitchFamily="18" charset="0"/>
                              <a:ea typeface="Georgia" pitchFamily="34" charset="-122"/>
                              <a:cs typeface="Georgia" pitchFamily="34" charset="-120"/>
                            </a:rPr>
                            <m:t>𝜃</m:t>
                          </m:r>
                        </m:e>
                        <m:sub>
                          <m:r>
                            <a:rPr lang="en-US" sz="1250" b="0" i="1" dirty="0" smtClean="0">
                              <a:solidFill>
                                <a:srgbClr val="6B7280"/>
                              </a:solidFill>
                              <a:latin typeface="Cambria Math" panose="02040503050406030204" pitchFamily="18" charset="0"/>
                              <a:ea typeface="Georgia" pitchFamily="34" charset="-122"/>
                              <a:cs typeface="Georgia" pitchFamily="34" charset="-120"/>
                            </a:rPr>
                            <m:t>𝑎𝑐</m:t>
                          </m:r>
                        </m:sub>
                      </m:sSub>
                    </m:oMath>
                  </m:oMathPara>
                </a14:m>
                <a:endParaRPr lang="en-US" sz="1250" dirty="0"/>
              </a:p>
            </p:txBody>
          </p:sp>
        </mc:Choice>
        <mc:Fallback xmlns="">
          <p:sp>
            <p:nvSpPr>
              <p:cNvPr id="9" name="Text"/>
              <p:cNvSpPr>
                <a:spLocks noRot="1" noChangeAspect="1" noMove="1" noResize="1" noEditPoints="1" noAdjustHandles="1" noChangeArrowheads="1" noChangeShapeType="1" noTextEdit="1"/>
              </p:cNvSpPr>
              <p:nvPr/>
            </p:nvSpPr>
            <p:spPr>
              <a:xfrm>
                <a:off x="960120" y="2377440"/>
                <a:ext cx="1554480" cy="274320"/>
              </a:xfrm>
              <a:prstGeom prst="rect">
                <a:avLst/>
              </a:prstGeom>
              <a:blipFill>
                <a:blip r:embed="rId5"/>
                <a:stretch>
                  <a:fillRect/>
                </a:stretch>
              </a:blipFill>
              <a:ln/>
            </p:spPr>
            <p:txBody>
              <a:bodyPr/>
              <a:lstStyle/>
              <a:p>
                <a:r>
                  <a:rPr lang="en-US">
                    <a:noFill/>
                  </a:rPr>
                  <a:t> </a:t>
                </a:r>
              </a:p>
            </p:txBody>
          </p:sp>
        </mc:Fallback>
      </mc:AlternateContent>
      <p:sp>
        <p:nvSpPr>
          <p:cNvPr id="10" name="Text"/>
          <p:cNvSpPr/>
          <p:nvPr/>
        </p:nvSpPr>
        <p:spPr>
          <a:xfrm>
            <a:off x="2651760" y="2377440"/>
            <a:ext cx="1554480" cy="274320"/>
          </a:xfrm>
          <a:prstGeom prst="rect">
            <a:avLst/>
          </a:prstGeom>
          <a:noFill/>
          <a:ln/>
        </p:spPr>
        <p:txBody>
          <a:bodyPr wrap="square" lIns="0" tIns="0" rIns="0" bIns="0" rtlCol="0" anchor="ctr">
            <a:normAutofit/>
          </a:bodyPr>
          <a:lstStyle/>
          <a:p>
            <a:pPr marL="0" indent="0" algn="r">
              <a:buNone/>
            </a:pPr>
            <a:r>
              <a:rPr lang="en-US" sz="1250" b="1" i="0">
                <a:solidFill>
                  <a:srgbClr val="3730A3"/>
                </a:solidFill>
                <a:latin typeface="Georgia" pitchFamily="34" charset="0"/>
                <a:ea typeface="Georgia" pitchFamily="34" charset="-122"/>
                <a:cs typeface="Georgia" pitchFamily="34" charset="-120"/>
              </a:rPr>
              <a:t>90°</a:t>
            </a:r>
            <a:endParaRPr lang="en-US" sz="1250"/>
          </a:p>
        </p:txBody>
      </p:sp>
      <p:sp>
        <p:nvSpPr>
          <p:cNvPr id="11" name="Card frame">
            <a:extLst>
              <a:ext uri="{C183D7F6-B498-43B3-948B-1728B52AA6E4}">
                <adec:decorative xmlns:adec="http://schemas.microsoft.com/office/drawing/2017/decorative" val="1"/>
              </a:ext>
            </a:extLst>
          </p:cNvPr>
          <p:cNvSpPr/>
          <p:nvPr/>
        </p:nvSpPr>
        <p:spPr>
          <a:xfrm>
            <a:off x="4754400" y="1234440"/>
            <a:ext cx="3611880" cy="155448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2" name="Text"/>
          <p:cNvSpPr/>
          <p:nvPr/>
        </p:nvSpPr>
        <p:spPr>
          <a:xfrm>
            <a:off x="4937280" y="137160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3730A3"/>
                </a:solidFill>
                <a:latin typeface="Georgia" pitchFamily="34" charset="0"/>
                <a:ea typeface="Georgia" pitchFamily="34" charset="-122"/>
                <a:cs typeface="Georgia" pitchFamily="34" charset="-120"/>
              </a:rPr>
              <a:t>CALCULATE</a:t>
            </a:r>
            <a:endParaRPr lang="en-US" sz="1000"/>
          </a:p>
        </p:txBody>
      </p:sp>
      <mc:AlternateContent xmlns:mc="http://schemas.openxmlformats.org/markup-compatibility/2006" xmlns:a14="http://schemas.microsoft.com/office/drawing/2010/main">
        <mc:Choice Requires="a14">
          <p:sp>
            <p:nvSpPr>
              <p:cNvPr id="13" name="Text"/>
              <p:cNvSpPr/>
              <p:nvPr/>
            </p:nvSpPr>
            <p:spPr>
              <a:xfrm>
                <a:off x="4937280" y="1783080"/>
                <a:ext cx="3246120" cy="457200"/>
              </a:xfrm>
              <a:prstGeom prst="rect">
                <a:avLst/>
              </a:prstGeom>
              <a:noFill/>
              <a:ln/>
            </p:spPr>
            <p:txBody>
              <a:bodyPr wrap="square" lIns="0" tIns="0" rIns="0" bIns="0" rtlCol="0" anchor="ctr">
                <a:normAutofit/>
              </a:bodyPr>
              <a:lstStyle/>
              <a:p>
                <a:pPr marL="0" indent="0" algn="ctr">
                  <a:buNone/>
                </a:pPr>
                <a14:m>
                  <m:oMathPara xmlns:m="http://schemas.openxmlformats.org/officeDocument/2006/math">
                    <m:oMath>
                      <m:sSub>
                        <m:sSubPr>
                          <m:ctrlPr>
                            <a:rPr lang="en-US" sz="1500" b="1" i="1" dirty="0" smtClean="0">
                              <a:solidFill>
                                <a:srgbClr val="1A1A2E"/>
                              </a:solidFill>
                              <a:latin typeface="Cambria Math" panose="02040503050406030204" pitchFamily="18" charset="0"/>
                              <a:ea typeface="Georgia" pitchFamily="34" charset="-122"/>
                              <a:cs typeface="Georgia" pitchFamily="34" charset="-120"/>
                            </a:rPr>
                          </m:ctrlPr>
                        </m:sSubPr>
                        <m:e>
                          <m:r>
                            <a:rPr lang="en-US" sz="1500" b="1" i="1" dirty="0" smtClean="0">
                              <a:solidFill>
                                <a:srgbClr val="1A1A2E"/>
                              </a:solidFill>
                              <a:latin typeface="Cambria Math" panose="02040503050406030204" pitchFamily="18" charset="0"/>
                              <a:ea typeface="Georgia" pitchFamily="34" charset="-122"/>
                              <a:cs typeface="Georgia" pitchFamily="34" charset="-120"/>
                            </a:rPr>
                            <m:t>𝑷</m:t>
                          </m:r>
                        </m:e>
                        <m:sub>
                          <m:r>
                            <a:rPr lang="en-US" sz="1500" b="1" i="1" dirty="0" smtClean="0">
                              <a:solidFill>
                                <a:srgbClr val="1A1A2E"/>
                              </a:solidFill>
                              <a:latin typeface="Cambria Math" panose="02040503050406030204" pitchFamily="18" charset="0"/>
                              <a:ea typeface="Georgia" pitchFamily="34" charset="-122"/>
                              <a:cs typeface="Georgia" pitchFamily="34" charset="-120"/>
                            </a:rPr>
                            <m:t>𝒂𝒃</m:t>
                          </m:r>
                        </m:sub>
                      </m:sSub>
                      <m:r>
                        <a:rPr lang="en-US" sz="1500" b="1" i="1" dirty="0">
                          <a:solidFill>
                            <a:srgbClr val="1A1A2E"/>
                          </a:solidFill>
                          <a:latin typeface="Cambria Math" panose="02040503050406030204" pitchFamily="18" charset="0"/>
                          <a:ea typeface="Georgia" pitchFamily="34" charset="-122"/>
                          <a:cs typeface="Georgia" pitchFamily="34" charset="-120"/>
                        </a:rPr>
                        <m:t> + </m:t>
                      </m:r>
                      <m:sSub>
                        <m:sSubPr>
                          <m:ctrlPr>
                            <a:rPr lang="en-US" sz="1500" b="1" i="1" dirty="0">
                              <a:solidFill>
                                <a:srgbClr val="1A1A2E"/>
                              </a:solidFill>
                              <a:latin typeface="Cambria Math" panose="02040503050406030204" pitchFamily="18" charset="0"/>
                              <a:ea typeface="Georgia" pitchFamily="34" charset="-122"/>
                              <a:cs typeface="Georgia" pitchFamily="34" charset="-120"/>
                            </a:rPr>
                          </m:ctrlPr>
                        </m:sSubPr>
                        <m:e>
                          <m:r>
                            <a:rPr lang="en-US" sz="1500" b="1" i="1" dirty="0">
                              <a:solidFill>
                                <a:srgbClr val="1A1A2E"/>
                              </a:solidFill>
                              <a:latin typeface="Cambria Math" panose="02040503050406030204" pitchFamily="18" charset="0"/>
                              <a:ea typeface="Georgia" pitchFamily="34" charset="-122"/>
                              <a:cs typeface="Georgia" pitchFamily="34" charset="-120"/>
                            </a:rPr>
                            <m:t>𝑷</m:t>
                          </m:r>
                        </m:e>
                        <m:sub>
                          <m:r>
                            <a:rPr lang="en-US" sz="1500" b="1" i="1" dirty="0">
                              <a:solidFill>
                                <a:srgbClr val="1A1A2E"/>
                              </a:solidFill>
                              <a:latin typeface="Cambria Math" panose="02040503050406030204" pitchFamily="18" charset="0"/>
                              <a:ea typeface="Georgia" pitchFamily="34" charset="-122"/>
                              <a:cs typeface="Georgia" pitchFamily="34" charset="-120"/>
                            </a:rPr>
                            <m:t>𝒂𝒄</m:t>
                          </m:r>
                        </m:sub>
                      </m:sSub>
                      <m:r>
                        <a:rPr lang="en-US" sz="1500" b="1" i="1" dirty="0">
                          <a:solidFill>
                            <a:srgbClr val="1A1A2E"/>
                          </a:solidFill>
                          <a:latin typeface="Cambria Math" panose="02040503050406030204" pitchFamily="18" charset="0"/>
                          <a:ea typeface="Georgia" pitchFamily="34" charset="-122"/>
                          <a:cs typeface="Georgia" pitchFamily="34" charset="-120"/>
                        </a:rPr>
                        <m:t> + </m:t>
                      </m:r>
                      <m:sSub>
                        <m:sSubPr>
                          <m:ctrlPr>
                            <a:rPr lang="en-US" sz="1500" b="1" i="1" dirty="0" err="1">
                              <a:solidFill>
                                <a:srgbClr val="1A1A2E"/>
                              </a:solidFill>
                              <a:latin typeface="Cambria Math" panose="02040503050406030204" pitchFamily="18" charset="0"/>
                              <a:ea typeface="Georgia" pitchFamily="34" charset="-122"/>
                              <a:cs typeface="Georgia" pitchFamily="34" charset="-120"/>
                            </a:rPr>
                          </m:ctrlPr>
                        </m:sSubPr>
                        <m:e>
                          <m:r>
                            <a:rPr lang="en-US" sz="1500" b="1" i="1" dirty="0" err="1">
                              <a:solidFill>
                                <a:srgbClr val="1A1A2E"/>
                              </a:solidFill>
                              <a:latin typeface="Cambria Math" panose="02040503050406030204" pitchFamily="18" charset="0"/>
                              <a:ea typeface="Georgia" pitchFamily="34" charset="-122"/>
                              <a:cs typeface="Georgia" pitchFamily="34" charset="-120"/>
                            </a:rPr>
                            <m:t>𝑷</m:t>
                          </m:r>
                        </m:e>
                        <m:sub>
                          <m:r>
                            <a:rPr lang="en-US" sz="1500" b="1" i="1" dirty="0" err="1">
                              <a:solidFill>
                                <a:srgbClr val="1A1A2E"/>
                              </a:solidFill>
                              <a:latin typeface="Cambria Math" panose="02040503050406030204" pitchFamily="18" charset="0"/>
                              <a:ea typeface="Georgia" pitchFamily="34" charset="-122"/>
                              <a:cs typeface="Georgia" pitchFamily="34" charset="-120"/>
                            </a:rPr>
                            <m:t>𝒃𝒄</m:t>
                          </m:r>
                        </m:sub>
                      </m:sSub>
                    </m:oMath>
                  </m:oMathPara>
                </a14:m>
                <a:endParaRPr lang="en-US" sz="1500" dirty="0"/>
              </a:p>
            </p:txBody>
          </p:sp>
        </mc:Choice>
        <mc:Fallback xmlns="">
          <p:sp>
            <p:nvSpPr>
              <p:cNvPr id="13" name="Text"/>
              <p:cNvSpPr>
                <a:spLocks noRot="1" noChangeAspect="1" noMove="1" noResize="1" noEditPoints="1" noAdjustHandles="1" noChangeArrowheads="1" noChangeShapeType="1" noTextEdit="1"/>
              </p:cNvSpPr>
              <p:nvPr/>
            </p:nvSpPr>
            <p:spPr>
              <a:xfrm>
                <a:off x="4937280" y="1783080"/>
                <a:ext cx="3246120" cy="457200"/>
              </a:xfrm>
              <a:prstGeom prst="rect">
                <a:avLst/>
              </a:prstGeom>
              <a:blipFill>
                <a:blip r:embed="rId6"/>
                <a:stretch>
                  <a:fillRect/>
                </a:stretch>
              </a:blipFill>
              <a:ln/>
            </p:spPr>
            <p:txBody>
              <a:bodyPr/>
              <a:lstStyle/>
              <a:p>
                <a:r>
                  <a:rPr lang="en-US">
                    <a:noFill/>
                  </a:rPr>
                  <a:t> </a:t>
                </a:r>
              </a:p>
            </p:txBody>
          </p:sp>
        </mc:Fallback>
      </mc:AlternateContent>
      <p:sp>
        <p:nvSpPr>
          <p:cNvPr id="14" name="Text"/>
          <p:cNvSpPr/>
          <p:nvPr/>
        </p:nvSpPr>
        <p:spPr>
          <a:xfrm>
            <a:off x="4937280" y="2331720"/>
            <a:ext cx="3246120" cy="320040"/>
          </a:xfrm>
          <a:prstGeom prst="rect">
            <a:avLst/>
          </a:prstGeom>
          <a:noFill/>
          <a:ln/>
        </p:spPr>
        <p:txBody>
          <a:bodyPr wrap="square" lIns="0" tIns="0" rIns="0" bIns="0" rtlCol="0" anchor="ctr">
            <a:normAutofit/>
          </a:bodyPr>
          <a:lstStyle/>
          <a:p>
            <a:pPr marL="0" indent="0" algn="ctr">
              <a:buNone/>
            </a:pPr>
            <a:r>
              <a:rPr lang="en-US" sz="1050" b="0" i="0">
                <a:solidFill>
                  <a:srgbClr val="6B7280"/>
                </a:solidFill>
                <a:latin typeface="Georgia" pitchFamily="34" charset="0"/>
                <a:ea typeface="Georgia" pitchFamily="34" charset="-122"/>
                <a:cs typeface="Georgia" pitchFamily="34" charset="-120"/>
              </a:rPr>
              <a:t>using P = cos²(θ)</a:t>
            </a:r>
            <a:endParaRPr lang="en-US" sz="1050"/>
          </a:p>
        </p:txBody>
      </p:sp>
      <p:sp>
        <p:nvSpPr>
          <p:cNvPr id="15" name="Text"/>
          <p:cNvSpPr/>
          <p:nvPr/>
        </p:nvSpPr>
        <p:spPr>
          <a:xfrm>
            <a:off x="3931920" y="2743200"/>
            <a:ext cx="1280160" cy="274320"/>
          </a:xfrm>
          <a:prstGeom prst="rect">
            <a:avLst/>
          </a:prstGeom>
          <a:noFill/>
          <a:ln/>
        </p:spPr>
        <p:txBody>
          <a:bodyPr wrap="square" lIns="0" tIns="0" rIns="0" bIns="0" rtlCol="0" anchor="ctr">
            <a:normAutofit/>
          </a:bodyPr>
          <a:lstStyle/>
          <a:p>
            <a:pPr marL="0" indent="0" algn="ctr">
              <a:buNone/>
            </a:pPr>
            <a:r>
              <a:rPr lang="en-US" sz="1400" b="1" i="0">
                <a:solidFill>
                  <a:srgbClr val="3730A3"/>
                </a:solidFill>
                <a:latin typeface="Georgia" pitchFamily="34" charset="0"/>
                <a:ea typeface="Georgia" pitchFamily="34" charset="-122"/>
                <a:cs typeface="Georgia" pitchFamily="34" charset="-120"/>
              </a:rPr>
              <a:t>↓</a:t>
            </a:r>
            <a:endParaRPr lang="en-US" sz="1400"/>
          </a:p>
        </p:txBody>
      </p:sp>
      <p:sp>
        <p:nvSpPr>
          <p:cNvPr id="16" name="Card frame">
            <a:extLst>
              <a:ext uri="{C183D7F6-B498-43B3-948B-1728B52AA6E4}">
                <adec:decorative xmlns:adec="http://schemas.microsoft.com/office/drawing/2017/decorative" val="1"/>
              </a:ext>
            </a:extLst>
          </p:cNvPr>
          <p:cNvSpPr/>
          <p:nvPr/>
        </p:nvSpPr>
        <p:spPr>
          <a:xfrm>
            <a:off x="1600200" y="3063240"/>
            <a:ext cx="5943600" cy="731520"/>
          </a:xfrm>
          <a:prstGeom prst="roundRect">
            <a:avLst>
              <a:gd name="adj" fmla="val 5000"/>
            </a:avLst>
          </a:prstGeom>
          <a:solidFill>
            <a:srgbClr val="FFFFFF"/>
          </a:solidFill>
          <a:ln w="22860">
            <a:solidFill>
              <a:srgbClr val="3730A3"/>
            </a:solidFill>
            <a:prstDash val="solid"/>
          </a:ln>
        </p:spPr>
        <p:txBody>
          <a:bodyPr/>
          <a:lstStyle/>
          <a:p>
            <a:endParaRPr lang="en-US"/>
          </a:p>
        </p:txBody>
      </p:sp>
      <p:sp>
        <p:nvSpPr>
          <p:cNvPr id="17" name="Text"/>
          <p:cNvSpPr/>
          <p:nvPr/>
        </p:nvSpPr>
        <p:spPr>
          <a:xfrm>
            <a:off x="1783080" y="3063240"/>
            <a:ext cx="5577840" cy="731520"/>
          </a:xfrm>
          <a:prstGeom prst="rect">
            <a:avLst/>
          </a:prstGeom>
          <a:noFill/>
          <a:ln/>
        </p:spPr>
        <p:txBody>
          <a:bodyPr wrap="square" lIns="0" tIns="0" rIns="0" bIns="0" rtlCol="0" anchor="ctr">
            <a:normAutofit/>
          </a:bodyPr>
          <a:lstStyle/>
          <a:p>
            <a:pPr marL="0" indent="0" algn="ctr">
              <a:buNone/>
            </a:pPr>
            <a:r>
              <a:rPr lang="en-US" sz="1800" b="1" i="0">
                <a:solidFill>
                  <a:srgbClr val="3730A3"/>
                </a:solidFill>
                <a:latin typeface="Georgia" pitchFamily="34" charset="0"/>
                <a:ea typeface="Georgia" pitchFamily="34" charset="-122"/>
                <a:cs typeface="Georgia" pitchFamily="34" charset="-120"/>
              </a:rPr>
              <a:t>1/2  +  0  +  1/2   =   1</a:t>
            </a:r>
            <a:endParaRPr lang="en-US" sz="1800"/>
          </a:p>
        </p:txBody>
      </p:sp>
      <p:sp>
        <p:nvSpPr>
          <p:cNvPr id="18"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The bound is saturated, not violated — this configuration shows no quantum advantage.</a:t>
            </a:r>
            <a:endParaRPr lang="en-US" sz="125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From Bell violation to security</a:t>
            </a:r>
            <a:endParaRPr lang="en-US" sz="2500"/>
          </a:p>
        </p:txBody>
      </p:sp>
      <p:sp>
        <p:nvSpPr>
          <p:cNvPr id="3" name="Card frame">
            <a:extLst>
              <a:ext uri="{C183D7F6-B498-43B3-948B-1728B52AA6E4}">
                <adec:decorative xmlns:adec="http://schemas.microsoft.com/office/drawing/2017/decorative" val="1"/>
              </a:ext>
            </a:extLst>
          </p:cNvPr>
          <p:cNvSpPr/>
          <p:nvPr/>
        </p:nvSpPr>
        <p:spPr>
          <a:xfrm>
            <a:off x="1005840" y="1188720"/>
            <a:ext cx="713232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1188720" y="1188720"/>
            <a:ext cx="2560320" cy="502920"/>
          </a:xfrm>
          <a:prstGeom prst="rect">
            <a:avLst/>
          </a:prstGeom>
          <a:noFill/>
          <a:ln/>
        </p:spPr>
        <p:txBody>
          <a:bodyPr wrap="square" lIns="0" tIns="0" rIns="0" bIns="0" rtlCol="0" anchor="ctr">
            <a:normAutofit/>
          </a:bodyPr>
          <a:lstStyle/>
          <a:p>
            <a:pPr marL="0" indent="0" algn="l">
              <a:buNone/>
            </a:pPr>
            <a:r>
              <a:rPr lang="en-US" sz="1300" b="1" i="0">
                <a:solidFill>
                  <a:srgbClr val="3730A3"/>
                </a:solidFill>
                <a:latin typeface="Georgia" pitchFamily="34" charset="0"/>
                <a:ea typeface="Georgia" pitchFamily="34" charset="-122"/>
                <a:cs typeface="Georgia" pitchFamily="34" charset="-120"/>
              </a:rPr>
              <a:t>Entanglement</a:t>
            </a:r>
            <a:endParaRPr lang="en-US" sz="1300"/>
          </a:p>
        </p:txBody>
      </p:sp>
      <p:sp>
        <p:nvSpPr>
          <p:cNvPr id="5" name="Text"/>
          <p:cNvSpPr/>
          <p:nvPr/>
        </p:nvSpPr>
        <p:spPr>
          <a:xfrm>
            <a:off x="3931920" y="1188720"/>
            <a:ext cx="4023360" cy="502920"/>
          </a:xfrm>
          <a:prstGeom prst="rect">
            <a:avLst/>
          </a:prstGeom>
          <a:noFill/>
          <a:ln/>
        </p:spPr>
        <p:txBody>
          <a:bodyPr wrap="square" lIns="0" tIns="0" rIns="0" bIns="0" rtlCol="0" anchor="ctr">
            <a:normAutofit/>
          </a:bodyPr>
          <a:lstStyle/>
          <a:p>
            <a:pPr marL="0" indent="0" algn="l">
              <a:buNone/>
            </a:pPr>
            <a:r>
              <a:rPr lang="en-US" sz="1050" b="0" i="0">
                <a:solidFill>
                  <a:srgbClr val="1A1A2E"/>
                </a:solidFill>
                <a:latin typeface="Georgia" pitchFamily="34" charset="0"/>
                <a:ea typeface="Georgia" pitchFamily="34" charset="-122"/>
                <a:cs typeface="Georgia" pitchFamily="34" charset="-120"/>
              </a:rPr>
              <a:t>a shared pair carries no local instruction set</a:t>
            </a:r>
            <a:endParaRPr lang="en-US" sz="1050"/>
          </a:p>
        </p:txBody>
      </p:sp>
      <p:sp>
        <p:nvSpPr>
          <p:cNvPr id="6" name="Connector">
            <a:extLst>
              <a:ext uri="{C183D7F6-B498-43B3-948B-1728B52AA6E4}">
                <adec:decorative xmlns:adec="http://schemas.microsoft.com/office/drawing/2017/decorative" val="1"/>
              </a:ext>
            </a:extLst>
          </p:cNvPr>
          <p:cNvSpPr/>
          <p:nvPr/>
        </p:nvSpPr>
        <p:spPr>
          <a:xfrm>
            <a:off x="4572000" y="1691640"/>
            <a:ext cx="0" cy="137160"/>
          </a:xfrm>
          <a:prstGeom prst="line">
            <a:avLst/>
          </a:prstGeom>
          <a:noFill/>
          <a:ln w="12700">
            <a:solidFill>
              <a:srgbClr val="3730A3"/>
            </a:solidFill>
            <a:prstDash val="solid"/>
            <a:tailEnd type="triangle" w="med" len="med"/>
          </a:ln>
        </p:spPr>
        <p:txBody>
          <a:bodyPr/>
          <a:lstStyle/>
          <a:p>
            <a:endParaRPr lang="en-US"/>
          </a:p>
        </p:txBody>
      </p:sp>
      <p:sp>
        <p:nvSpPr>
          <p:cNvPr id="7" name="Card frame">
            <a:extLst>
              <a:ext uri="{C183D7F6-B498-43B3-948B-1728B52AA6E4}">
                <adec:decorative xmlns:adec="http://schemas.microsoft.com/office/drawing/2017/decorative" val="1"/>
              </a:ext>
            </a:extLst>
          </p:cNvPr>
          <p:cNvSpPr/>
          <p:nvPr/>
        </p:nvSpPr>
        <p:spPr>
          <a:xfrm>
            <a:off x="1005840" y="1828800"/>
            <a:ext cx="713232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8" name="Text"/>
          <p:cNvSpPr/>
          <p:nvPr/>
        </p:nvSpPr>
        <p:spPr>
          <a:xfrm>
            <a:off x="1188720" y="1828800"/>
            <a:ext cx="2560320" cy="502920"/>
          </a:xfrm>
          <a:prstGeom prst="rect">
            <a:avLst/>
          </a:prstGeom>
          <a:noFill/>
          <a:ln/>
        </p:spPr>
        <p:txBody>
          <a:bodyPr wrap="square" lIns="0" tIns="0" rIns="0" bIns="0" rtlCol="0" anchor="ctr">
            <a:normAutofit/>
          </a:bodyPr>
          <a:lstStyle/>
          <a:p>
            <a:pPr marL="0" indent="0" algn="l">
              <a:buNone/>
            </a:pPr>
            <a:r>
              <a:rPr lang="en-US" sz="1300" b="1" i="0">
                <a:solidFill>
                  <a:srgbClr val="3730A3"/>
                </a:solidFill>
                <a:latin typeface="Georgia" pitchFamily="34" charset="0"/>
                <a:ea typeface="Georgia" pitchFamily="34" charset="-122"/>
                <a:cs typeface="Georgia" pitchFamily="34" charset="-120"/>
              </a:rPr>
              <a:t>Correlations</a:t>
            </a:r>
            <a:endParaRPr lang="en-US" sz="1300"/>
          </a:p>
        </p:txBody>
      </p:sp>
      <p:sp>
        <p:nvSpPr>
          <p:cNvPr id="9" name="Text"/>
          <p:cNvSpPr/>
          <p:nvPr/>
        </p:nvSpPr>
        <p:spPr>
          <a:xfrm>
            <a:off x="3931920" y="1828800"/>
            <a:ext cx="4023360" cy="502920"/>
          </a:xfrm>
          <a:prstGeom prst="rect">
            <a:avLst/>
          </a:prstGeom>
          <a:noFill/>
          <a:ln/>
        </p:spPr>
        <p:txBody>
          <a:bodyPr wrap="square" lIns="0" tIns="0" rIns="0" bIns="0" rtlCol="0" anchor="ctr">
            <a:normAutofit/>
          </a:bodyPr>
          <a:lstStyle/>
          <a:p>
            <a:pPr marL="0" indent="0" algn="l">
              <a:buNone/>
            </a:pPr>
            <a:r>
              <a:rPr lang="en-US" sz="1050" b="0" i="0">
                <a:solidFill>
                  <a:srgbClr val="1A1A2E"/>
                </a:solidFill>
                <a:latin typeface="Georgia" pitchFamily="34" charset="0"/>
                <a:ea typeface="Georgia" pitchFamily="34" charset="-122"/>
                <a:cs typeface="Georgia" pitchFamily="34" charset="-120"/>
              </a:rPr>
              <a:t>measurement results are linked at a distance</a:t>
            </a:r>
            <a:endParaRPr lang="en-US" sz="1050"/>
          </a:p>
        </p:txBody>
      </p:sp>
      <p:sp>
        <p:nvSpPr>
          <p:cNvPr id="10" name="Connector">
            <a:extLst>
              <a:ext uri="{C183D7F6-B498-43B3-948B-1728B52AA6E4}">
                <adec:decorative xmlns:adec="http://schemas.microsoft.com/office/drawing/2017/decorative" val="1"/>
              </a:ext>
            </a:extLst>
          </p:cNvPr>
          <p:cNvSpPr/>
          <p:nvPr/>
        </p:nvSpPr>
        <p:spPr>
          <a:xfrm>
            <a:off x="4572000" y="2331720"/>
            <a:ext cx="0" cy="137160"/>
          </a:xfrm>
          <a:prstGeom prst="line">
            <a:avLst/>
          </a:prstGeom>
          <a:noFill/>
          <a:ln w="12700">
            <a:solidFill>
              <a:srgbClr val="3730A3"/>
            </a:solidFill>
            <a:prstDash val="solid"/>
            <a:tailEnd type="triangle" w="med" len="med"/>
          </a:ln>
        </p:spPr>
        <p:txBody>
          <a:bodyPr/>
          <a:lstStyle/>
          <a:p>
            <a:endParaRPr lang="en-US"/>
          </a:p>
        </p:txBody>
      </p:sp>
      <p:sp>
        <p:nvSpPr>
          <p:cNvPr id="11" name="Card frame">
            <a:extLst>
              <a:ext uri="{C183D7F6-B498-43B3-948B-1728B52AA6E4}">
                <adec:decorative xmlns:adec="http://schemas.microsoft.com/office/drawing/2017/decorative" val="1"/>
              </a:ext>
            </a:extLst>
          </p:cNvPr>
          <p:cNvSpPr/>
          <p:nvPr/>
        </p:nvSpPr>
        <p:spPr>
          <a:xfrm>
            <a:off x="1005840" y="2468880"/>
            <a:ext cx="713232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2" name="Text"/>
          <p:cNvSpPr/>
          <p:nvPr/>
        </p:nvSpPr>
        <p:spPr>
          <a:xfrm>
            <a:off x="1188720" y="2468880"/>
            <a:ext cx="2560320" cy="502920"/>
          </a:xfrm>
          <a:prstGeom prst="rect">
            <a:avLst/>
          </a:prstGeom>
          <a:noFill/>
          <a:ln/>
        </p:spPr>
        <p:txBody>
          <a:bodyPr wrap="square" lIns="0" tIns="0" rIns="0" bIns="0" rtlCol="0" anchor="ctr">
            <a:normAutofit/>
          </a:bodyPr>
          <a:lstStyle/>
          <a:p>
            <a:pPr marL="0" indent="0" algn="l">
              <a:buNone/>
            </a:pPr>
            <a:r>
              <a:rPr lang="en-US" sz="1300" b="1" i="0">
                <a:solidFill>
                  <a:srgbClr val="3730A3"/>
                </a:solidFill>
                <a:latin typeface="Georgia" pitchFamily="34" charset="0"/>
                <a:ea typeface="Georgia" pitchFamily="34" charset="-122"/>
                <a:cs typeface="Georgia" pitchFamily="34" charset="-120"/>
              </a:rPr>
              <a:t>Bell test</a:t>
            </a:r>
            <a:endParaRPr lang="en-US" sz="1300"/>
          </a:p>
        </p:txBody>
      </p:sp>
      <p:sp>
        <p:nvSpPr>
          <p:cNvPr id="13" name="Text"/>
          <p:cNvSpPr/>
          <p:nvPr/>
        </p:nvSpPr>
        <p:spPr>
          <a:xfrm>
            <a:off x="3931920" y="2468880"/>
            <a:ext cx="4023360" cy="502920"/>
          </a:xfrm>
          <a:prstGeom prst="rect">
            <a:avLst/>
          </a:prstGeom>
          <a:noFill/>
          <a:ln/>
        </p:spPr>
        <p:txBody>
          <a:bodyPr wrap="square" lIns="0" tIns="0" rIns="0" bIns="0" rtlCol="0" anchor="ctr">
            <a:normAutofit/>
          </a:bodyPr>
          <a:lstStyle/>
          <a:p>
            <a:pPr marL="0" indent="0" algn="l">
              <a:buNone/>
            </a:pPr>
            <a:r>
              <a:rPr lang="en-US" sz="1050" b="0" i="0">
                <a:solidFill>
                  <a:srgbClr val="1A1A2E"/>
                </a:solidFill>
                <a:latin typeface="Georgia" pitchFamily="34" charset="0"/>
                <a:ea typeface="Georgia" pitchFamily="34" charset="-122"/>
                <a:cs typeface="Georgia" pitchFamily="34" charset="-120"/>
              </a:rPr>
              <a:t>the correlations exceed any classical bound</a:t>
            </a:r>
            <a:endParaRPr lang="en-US" sz="1050"/>
          </a:p>
        </p:txBody>
      </p:sp>
      <p:sp>
        <p:nvSpPr>
          <p:cNvPr id="14" name="Connector">
            <a:extLst>
              <a:ext uri="{C183D7F6-B498-43B3-948B-1728B52AA6E4}">
                <adec:decorative xmlns:adec="http://schemas.microsoft.com/office/drawing/2017/decorative" val="1"/>
              </a:ext>
            </a:extLst>
          </p:cNvPr>
          <p:cNvSpPr/>
          <p:nvPr/>
        </p:nvSpPr>
        <p:spPr>
          <a:xfrm>
            <a:off x="4572000" y="2971800"/>
            <a:ext cx="0" cy="137160"/>
          </a:xfrm>
          <a:prstGeom prst="line">
            <a:avLst/>
          </a:prstGeom>
          <a:noFill/>
          <a:ln w="12700">
            <a:solidFill>
              <a:srgbClr val="3730A3"/>
            </a:solidFill>
            <a:prstDash val="solid"/>
            <a:tailEnd type="triangle" w="med" len="med"/>
          </a:ln>
        </p:spPr>
        <p:txBody>
          <a:bodyPr/>
          <a:lstStyle/>
          <a:p>
            <a:endParaRPr lang="en-US"/>
          </a:p>
        </p:txBody>
      </p:sp>
      <p:sp>
        <p:nvSpPr>
          <p:cNvPr id="15" name="Card frame">
            <a:extLst>
              <a:ext uri="{C183D7F6-B498-43B3-948B-1728B52AA6E4}">
                <adec:decorative xmlns:adec="http://schemas.microsoft.com/office/drawing/2017/decorative" val="1"/>
              </a:ext>
            </a:extLst>
          </p:cNvPr>
          <p:cNvSpPr/>
          <p:nvPr/>
        </p:nvSpPr>
        <p:spPr>
          <a:xfrm>
            <a:off x="1005840" y="3108960"/>
            <a:ext cx="7132320" cy="50292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16" name="Text"/>
          <p:cNvSpPr/>
          <p:nvPr/>
        </p:nvSpPr>
        <p:spPr>
          <a:xfrm>
            <a:off x="1188720" y="3108960"/>
            <a:ext cx="2560320" cy="502920"/>
          </a:xfrm>
          <a:prstGeom prst="rect">
            <a:avLst/>
          </a:prstGeom>
          <a:noFill/>
          <a:ln/>
        </p:spPr>
        <p:txBody>
          <a:bodyPr wrap="square" lIns="0" tIns="0" rIns="0" bIns="0" rtlCol="0" anchor="ctr">
            <a:normAutofit/>
          </a:bodyPr>
          <a:lstStyle/>
          <a:p>
            <a:pPr marL="0" indent="0" algn="l">
              <a:buNone/>
            </a:pPr>
            <a:r>
              <a:rPr lang="en-US" sz="1300" b="1" i="0">
                <a:solidFill>
                  <a:srgbClr val="C0392B"/>
                </a:solidFill>
                <a:latin typeface="Georgia" pitchFamily="34" charset="0"/>
                <a:ea typeface="Georgia" pitchFamily="34" charset="-122"/>
                <a:cs typeface="Georgia" pitchFamily="34" charset="-120"/>
              </a:rPr>
              <a:t>Eavesdropper detection</a:t>
            </a:r>
            <a:endParaRPr lang="en-US" sz="1300"/>
          </a:p>
        </p:txBody>
      </p:sp>
      <p:sp>
        <p:nvSpPr>
          <p:cNvPr id="17" name="Text"/>
          <p:cNvSpPr/>
          <p:nvPr/>
        </p:nvSpPr>
        <p:spPr>
          <a:xfrm>
            <a:off x="3931920" y="3108960"/>
            <a:ext cx="4023360" cy="502920"/>
          </a:xfrm>
          <a:prstGeom prst="rect">
            <a:avLst/>
          </a:prstGeom>
          <a:noFill/>
          <a:ln/>
        </p:spPr>
        <p:txBody>
          <a:bodyPr wrap="square" lIns="0" tIns="0" rIns="0" bIns="0" rtlCol="0" anchor="ctr">
            <a:normAutofit/>
          </a:bodyPr>
          <a:lstStyle/>
          <a:p>
            <a:pPr marL="0" indent="0" algn="l">
              <a:buNone/>
            </a:pPr>
            <a:r>
              <a:rPr lang="en-US" sz="1050" b="0" i="0">
                <a:solidFill>
                  <a:srgbClr val="1A1A2E"/>
                </a:solidFill>
                <a:latin typeface="Georgia" pitchFamily="34" charset="0"/>
                <a:ea typeface="Georgia" pitchFamily="34" charset="-122"/>
                <a:cs typeface="Georgia" pitchFamily="34" charset="-120"/>
              </a:rPr>
              <a:t>interference weakens the violation</a:t>
            </a:r>
            <a:endParaRPr lang="en-US" sz="1050"/>
          </a:p>
        </p:txBody>
      </p:sp>
      <p:sp>
        <p:nvSpPr>
          <p:cNvPr id="18" name="Connector">
            <a:extLst>
              <a:ext uri="{C183D7F6-B498-43B3-948B-1728B52AA6E4}">
                <adec:decorative xmlns:adec="http://schemas.microsoft.com/office/drawing/2017/decorative" val="1"/>
              </a:ext>
            </a:extLst>
          </p:cNvPr>
          <p:cNvSpPr/>
          <p:nvPr/>
        </p:nvSpPr>
        <p:spPr>
          <a:xfrm>
            <a:off x="4572000" y="3611880"/>
            <a:ext cx="0" cy="137160"/>
          </a:xfrm>
          <a:prstGeom prst="line">
            <a:avLst/>
          </a:prstGeom>
          <a:noFill/>
          <a:ln w="12700">
            <a:solidFill>
              <a:srgbClr val="3730A3"/>
            </a:solidFill>
            <a:prstDash val="solid"/>
            <a:tailEnd type="triangle" w="med" len="med"/>
          </a:ln>
        </p:spPr>
        <p:txBody>
          <a:bodyPr/>
          <a:lstStyle/>
          <a:p>
            <a:endParaRPr lang="en-US"/>
          </a:p>
        </p:txBody>
      </p:sp>
      <p:sp>
        <p:nvSpPr>
          <p:cNvPr id="19" name="Card frame">
            <a:extLst>
              <a:ext uri="{C183D7F6-B498-43B3-948B-1728B52AA6E4}">
                <adec:decorative xmlns:adec="http://schemas.microsoft.com/office/drawing/2017/decorative" val="1"/>
              </a:ext>
            </a:extLst>
          </p:cNvPr>
          <p:cNvSpPr/>
          <p:nvPr/>
        </p:nvSpPr>
        <p:spPr>
          <a:xfrm>
            <a:off x="1005840" y="3749040"/>
            <a:ext cx="7132320" cy="502920"/>
          </a:xfrm>
          <a:prstGeom prst="roundRect">
            <a:avLst>
              <a:gd name="adj" fmla="val 5000"/>
            </a:avLst>
          </a:prstGeom>
          <a:solidFill>
            <a:srgbClr val="FFFFFF"/>
          </a:solidFill>
          <a:ln w="17780">
            <a:solidFill>
              <a:srgbClr val="0F766E"/>
            </a:solidFill>
            <a:prstDash val="solid"/>
          </a:ln>
        </p:spPr>
        <p:txBody>
          <a:bodyPr/>
          <a:lstStyle/>
          <a:p>
            <a:endParaRPr lang="en-US"/>
          </a:p>
        </p:txBody>
      </p:sp>
      <p:sp>
        <p:nvSpPr>
          <p:cNvPr id="20" name="Text"/>
          <p:cNvSpPr/>
          <p:nvPr/>
        </p:nvSpPr>
        <p:spPr>
          <a:xfrm>
            <a:off x="1188720" y="3749040"/>
            <a:ext cx="2560320" cy="502920"/>
          </a:xfrm>
          <a:prstGeom prst="rect">
            <a:avLst/>
          </a:prstGeom>
          <a:noFill/>
          <a:ln/>
        </p:spPr>
        <p:txBody>
          <a:bodyPr wrap="square" lIns="0" tIns="0" rIns="0" bIns="0" rtlCol="0" anchor="ctr">
            <a:normAutofit/>
          </a:bodyPr>
          <a:lstStyle/>
          <a:p>
            <a:pPr marL="0" indent="0" algn="l">
              <a:buNone/>
            </a:pPr>
            <a:r>
              <a:rPr lang="en-US" sz="1300" b="1" i="0">
                <a:solidFill>
                  <a:srgbClr val="0F766E"/>
                </a:solidFill>
                <a:latin typeface="Georgia" pitchFamily="34" charset="0"/>
                <a:ea typeface="Georgia" pitchFamily="34" charset="-122"/>
                <a:cs typeface="Georgia" pitchFamily="34" charset="-120"/>
              </a:rPr>
              <a:t>Secure key</a:t>
            </a:r>
            <a:endParaRPr lang="en-US" sz="1300"/>
          </a:p>
        </p:txBody>
      </p:sp>
      <p:sp>
        <p:nvSpPr>
          <p:cNvPr id="21" name="Text"/>
          <p:cNvSpPr/>
          <p:nvPr/>
        </p:nvSpPr>
        <p:spPr>
          <a:xfrm>
            <a:off x="3931920" y="3749040"/>
            <a:ext cx="4023360" cy="502920"/>
          </a:xfrm>
          <a:prstGeom prst="rect">
            <a:avLst/>
          </a:prstGeom>
          <a:noFill/>
          <a:ln/>
        </p:spPr>
        <p:txBody>
          <a:bodyPr wrap="square" lIns="0" tIns="0" rIns="0" bIns="0" rtlCol="0" anchor="ctr">
            <a:normAutofit/>
          </a:bodyPr>
          <a:lstStyle/>
          <a:p>
            <a:pPr marL="0" indent="0" algn="l">
              <a:buNone/>
            </a:pPr>
            <a:r>
              <a:rPr lang="en-US" sz="1050" b="0" i="0">
                <a:solidFill>
                  <a:srgbClr val="1A1A2E"/>
                </a:solidFill>
                <a:latin typeface="Georgia" pitchFamily="34" charset="0"/>
                <a:ea typeface="Georgia" pitchFamily="34" charset="-122"/>
                <a:cs typeface="Georgia" pitchFamily="34" charset="-120"/>
              </a:rPr>
              <a:t>only undisturbed rounds become key material</a:t>
            </a:r>
            <a:endParaRPr lang="en-US" sz="1050"/>
          </a:p>
        </p:txBody>
      </p:sp>
      <p:sp>
        <p:nvSpPr>
          <p:cNvPr id="22"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Security follows from physics: tampering shows up as a weakened Bell violation.</a:t>
            </a:r>
            <a:endParaRPr lang="en-US" sz="125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Ekert protocol overview</a:t>
            </a:r>
            <a:endParaRPr lang="en-US" sz="2500"/>
          </a:p>
        </p:txBody>
      </p:sp>
      <p:sp>
        <p:nvSpPr>
          <p:cNvPr id="3" name="Card frame">
            <a:extLst>
              <a:ext uri="{C183D7F6-B498-43B3-948B-1728B52AA6E4}">
                <adec:decorative xmlns:adec="http://schemas.microsoft.com/office/drawing/2017/decorative" val="1"/>
              </a:ext>
            </a:extLst>
          </p:cNvPr>
          <p:cNvSpPr/>
          <p:nvPr/>
        </p:nvSpPr>
        <p:spPr>
          <a:xfrm>
            <a:off x="3017520" y="1097280"/>
            <a:ext cx="310992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3017520" y="1097280"/>
            <a:ext cx="3109920" cy="457200"/>
          </a:xfrm>
          <a:prstGeom prst="rect">
            <a:avLst/>
          </a:prstGeom>
          <a:noFill/>
          <a:ln/>
        </p:spPr>
        <p:txBody>
          <a:bodyPr wrap="square" lIns="0" tIns="0" rIns="0" bIns="0" rtlCol="0" anchor="ctr">
            <a:normAutofit/>
          </a:bodyPr>
          <a:lstStyle/>
          <a:p>
            <a:pPr marL="0" indent="0" algn="ctr">
              <a:buNone/>
            </a:pPr>
            <a:r>
              <a:rPr lang="en-US" sz="1250" b="1" i="0">
                <a:solidFill>
                  <a:srgbClr val="3730A3"/>
                </a:solidFill>
                <a:latin typeface="Georgia" pitchFamily="34" charset="0"/>
                <a:ea typeface="Georgia" pitchFamily="34" charset="-122"/>
                <a:cs typeface="Georgia" pitchFamily="34" charset="-120"/>
              </a:rPr>
              <a:t>Entangled pair source</a:t>
            </a:r>
            <a:endParaRPr lang="en-US" sz="1250"/>
          </a:p>
        </p:txBody>
      </p:sp>
      <p:sp>
        <p:nvSpPr>
          <p:cNvPr id="5" name="Connector">
            <a:extLst>
              <a:ext uri="{C183D7F6-B498-43B3-948B-1728B52AA6E4}">
                <adec:decorative xmlns:adec="http://schemas.microsoft.com/office/drawing/2017/decorative" val="1"/>
              </a:ext>
            </a:extLst>
          </p:cNvPr>
          <p:cNvSpPr/>
          <p:nvPr/>
        </p:nvSpPr>
        <p:spPr>
          <a:xfrm>
            <a:off x="2103120" y="1737360"/>
            <a:ext cx="4937760" cy="0"/>
          </a:xfrm>
          <a:prstGeom prst="line">
            <a:avLst/>
          </a:prstGeom>
          <a:noFill/>
          <a:ln w="9525">
            <a:solidFill>
              <a:srgbClr val="6B7280"/>
            </a:solidFill>
            <a:prstDash val="solid"/>
          </a:ln>
        </p:spPr>
        <p:txBody>
          <a:bodyPr/>
          <a:lstStyle/>
          <a:p>
            <a:endParaRPr lang="en-US"/>
          </a:p>
        </p:txBody>
      </p:sp>
      <p:sp>
        <p:nvSpPr>
          <p:cNvPr id="6" name="Connector">
            <a:extLst>
              <a:ext uri="{C183D7F6-B498-43B3-948B-1728B52AA6E4}">
                <adec:decorative xmlns:adec="http://schemas.microsoft.com/office/drawing/2017/decorative" val="1"/>
              </a:ext>
            </a:extLst>
          </p:cNvPr>
          <p:cNvSpPr/>
          <p:nvPr/>
        </p:nvSpPr>
        <p:spPr>
          <a:xfrm>
            <a:off x="4572000" y="1554480"/>
            <a:ext cx="0" cy="182880"/>
          </a:xfrm>
          <a:prstGeom prst="line">
            <a:avLst/>
          </a:prstGeom>
          <a:noFill/>
          <a:ln w="12700">
            <a:solidFill>
              <a:srgbClr val="3730A3"/>
            </a:solidFill>
            <a:prstDash val="solid"/>
          </a:ln>
        </p:spPr>
        <p:txBody>
          <a:bodyPr/>
          <a:lstStyle/>
          <a:p>
            <a:endParaRPr lang="en-US"/>
          </a:p>
        </p:txBody>
      </p:sp>
      <p:sp>
        <p:nvSpPr>
          <p:cNvPr id="7" name="Connector">
            <a:extLst>
              <a:ext uri="{C183D7F6-B498-43B3-948B-1728B52AA6E4}">
                <adec:decorative xmlns:adec="http://schemas.microsoft.com/office/drawing/2017/decorative" val="1"/>
              </a:ext>
            </a:extLst>
          </p:cNvPr>
          <p:cNvSpPr/>
          <p:nvPr/>
        </p:nvSpPr>
        <p:spPr>
          <a:xfrm>
            <a:off x="2103120" y="1737360"/>
            <a:ext cx="0" cy="182880"/>
          </a:xfrm>
          <a:prstGeom prst="line">
            <a:avLst/>
          </a:prstGeom>
          <a:noFill/>
          <a:ln w="12700">
            <a:solidFill>
              <a:srgbClr val="3730A3"/>
            </a:solidFill>
            <a:prstDash val="solid"/>
            <a:tailEnd type="triangle" w="med" len="med"/>
          </a:ln>
        </p:spPr>
        <p:txBody>
          <a:bodyPr/>
          <a:lstStyle/>
          <a:p>
            <a:endParaRPr lang="en-US"/>
          </a:p>
        </p:txBody>
      </p:sp>
      <p:sp>
        <p:nvSpPr>
          <p:cNvPr id="8" name="Connector">
            <a:extLst>
              <a:ext uri="{C183D7F6-B498-43B3-948B-1728B52AA6E4}">
                <adec:decorative xmlns:adec="http://schemas.microsoft.com/office/drawing/2017/decorative" val="1"/>
              </a:ext>
            </a:extLst>
          </p:cNvPr>
          <p:cNvSpPr/>
          <p:nvPr/>
        </p:nvSpPr>
        <p:spPr>
          <a:xfrm>
            <a:off x="7040880" y="1737360"/>
            <a:ext cx="0" cy="182880"/>
          </a:xfrm>
          <a:prstGeom prst="line">
            <a:avLst/>
          </a:prstGeom>
          <a:noFill/>
          <a:ln w="12700">
            <a:solidFill>
              <a:srgbClr val="3730A3"/>
            </a:solidFill>
            <a:prstDash val="solid"/>
            <a:tailEnd type="triangle" w="med" len="med"/>
          </a:ln>
        </p:spPr>
        <p:txBody>
          <a:bodyPr/>
          <a:lstStyle/>
          <a:p>
            <a:endParaRPr lang="en-US"/>
          </a:p>
        </p:txBody>
      </p:sp>
      <p:sp>
        <p:nvSpPr>
          <p:cNvPr id="9" name="Card frame">
            <a:extLst>
              <a:ext uri="{C183D7F6-B498-43B3-948B-1728B52AA6E4}">
                <adec:decorative xmlns:adec="http://schemas.microsoft.com/office/drawing/2017/decorative" val="1"/>
              </a:ext>
            </a:extLst>
          </p:cNvPr>
          <p:cNvSpPr/>
          <p:nvPr/>
        </p:nvSpPr>
        <p:spPr>
          <a:xfrm>
            <a:off x="1005840" y="1920240"/>
            <a:ext cx="2194560" cy="45720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0" name="Text"/>
          <p:cNvSpPr/>
          <p:nvPr/>
        </p:nvSpPr>
        <p:spPr>
          <a:xfrm>
            <a:off x="1005840" y="1920240"/>
            <a:ext cx="2194560" cy="457200"/>
          </a:xfrm>
          <a:prstGeom prst="rect">
            <a:avLst/>
          </a:prstGeom>
          <a:noFill/>
          <a:ln/>
        </p:spPr>
        <p:txBody>
          <a:bodyPr wrap="square" lIns="0" tIns="0" rIns="0" bIns="0" rtlCol="0" anchor="ctr">
            <a:normAutofit/>
          </a:bodyPr>
          <a:lstStyle/>
          <a:p>
            <a:pPr marL="0" indent="0" algn="ctr">
              <a:buNone/>
            </a:pPr>
            <a:r>
              <a:rPr lang="en-US" sz="1050" b="1" i="0">
                <a:solidFill>
                  <a:srgbClr val="3730A3"/>
                </a:solidFill>
                <a:latin typeface="Georgia" pitchFamily="34" charset="0"/>
                <a:ea typeface="Georgia" pitchFamily="34" charset="-122"/>
                <a:cs typeface="Georgia" pitchFamily="34" charset="-120"/>
              </a:rPr>
              <a:t>Alice — random basis</a:t>
            </a:r>
            <a:endParaRPr lang="en-US" sz="1050"/>
          </a:p>
        </p:txBody>
      </p:sp>
      <p:sp>
        <p:nvSpPr>
          <p:cNvPr id="11" name="Connector">
            <a:extLst>
              <a:ext uri="{C183D7F6-B498-43B3-948B-1728B52AA6E4}">
                <adec:decorative xmlns:adec="http://schemas.microsoft.com/office/drawing/2017/decorative" val="1"/>
              </a:ext>
            </a:extLst>
          </p:cNvPr>
          <p:cNvSpPr/>
          <p:nvPr/>
        </p:nvSpPr>
        <p:spPr>
          <a:xfrm>
            <a:off x="2103120" y="2377440"/>
            <a:ext cx="0" cy="137160"/>
          </a:xfrm>
          <a:prstGeom prst="line">
            <a:avLst/>
          </a:prstGeom>
          <a:noFill/>
          <a:ln w="12700">
            <a:solidFill>
              <a:srgbClr val="3730A3"/>
            </a:solidFill>
            <a:prstDash val="solid"/>
            <a:tailEnd type="triangle" w="med" len="med"/>
          </a:ln>
        </p:spPr>
        <p:txBody>
          <a:bodyPr/>
          <a:lstStyle/>
          <a:p>
            <a:endParaRPr lang="en-US"/>
          </a:p>
        </p:txBody>
      </p:sp>
      <p:sp>
        <p:nvSpPr>
          <p:cNvPr id="12" name="Card frame">
            <a:extLst>
              <a:ext uri="{C183D7F6-B498-43B3-948B-1728B52AA6E4}">
                <adec:decorative xmlns:adec="http://schemas.microsoft.com/office/drawing/2017/decorative" val="1"/>
              </a:ext>
            </a:extLst>
          </p:cNvPr>
          <p:cNvSpPr/>
          <p:nvPr/>
        </p:nvSpPr>
        <p:spPr>
          <a:xfrm>
            <a:off x="1005840" y="2514600"/>
            <a:ext cx="2194560" cy="45720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3" name="Text"/>
          <p:cNvSpPr/>
          <p:nvPr/>
        </p:nvSpPr>
        <p:spPr>
          <a:xfrm>
            <a:off x="1005840" y="2514600"/>
            <a:ext cx="2194560" cy="457200"/>
          </a:xfrm>
          <a:prstGeom prst="rect">
            <a:avLst/>
          </a:prstGeom>
          <a:noFill/>
          <a:ln/>
        </p:spPr>
        <p:txBody>
          <a:bodyPr wrap="square" lIns="0" tIns="0" rIns="0" bIns="0" rtlCol="0" anchor="ctr">
            <a:normAutofit/>
          </a:bodyPr>
          <a:lstStyle/>
          <a:p>
            <a:pPr marL="0" indent="0" algn="ctr">
              <a:buNone/>
            </a:pPr>
            <a:r>
              <a:rPr lang="en-US" sz="1150" b="1" i="0">
                <a:solidFill>
                  <a:srgbClr val="3730A3"/>
                </a:solidFill>
                <a:latin typeface="Georgia" pitchFamily="34" charset="0"/>
                <a:ea typeface="Georgia" pitchFamily="34" charset="-122"/>
                <a:cs typeface="Georgia" pitchFamily="34" charset="-120"/>
              </a:rPr>
              <a:t>measurement</a:t>
            </a:r>
            <a:endParaRPr lang="en-US" sz="1150"/>
          </a:p>
        </p:txBody>
      </p:sp>
      <p:sp>
        <p:nvSpPr>
          <p:cNvPr id="14" name="Card frame">
            <a:extLst>
              <a:ext uri="{C183D7F6-B498-43B3-948B-1728B52AA6E4}">
                <adec:decorative xmlns:adec="http://schemas.microsoft.com/office/drawing/2017/decorative" val="1"/>
              </a:ext>
            </a:extLst>
          </p:cNvPr>
          <p:cNvSpPr/>
          <p:nvPr/>
        </p:nvSpPr>
        <p:spPr>
          <a:xfrm>
            <a:off x="5943600" y="1920240"/>
            <a:ext cx="2194560" cy="45720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5" name="Text"/>
          <p:cNvSpPr/>
          <p:nvPr/>
        </p:nvSpPr>
        <p:spPr>
          <a:xfrm>
            <a:off x="5943600" y="1920240"/>
            <a:ext cx="2194560" cy="457200"/>
          </a:xfrm>
          <a:prstGeom prst="rect">
            <a:avLst/>
          </a:prstGeom>
          <a:noFill/>
          <a:ln/>
        </p:spPr>
        <p:txBody>
          <a:bodyPr wrap="square" lIns="0" tIns="0" rIns="0" bIns="0" rtlCol="0" anchor="ctr">
            <a:normAutofit/>
          </a:bodyPr>
          <a:lstStyle/>
          <a:p>
            <a:pPr marL="0" indent="0" algn="ctr">
              <a:buNone/>
            </a:pPr>
            <a:r>
              <a:rPr lang="en-US" sz="1050" b="1" i="0">
                <a:solidFill>
                  <a:srgbClr val="3730A3"/>
                </a:solidFill>
                <a:latin typeface="Georgia" pitchFamily="34" charset="0"/>
                <a:ea typeface="Georgia" pitchFamily="34" charset="-122"/>
                <a:cs typeface="Georgia" pitchFamily="34" charset="-120"/>
              </a:rPr>
              <a:t>Bob — random basis</a:t>
            </a:r>
            <a:endParaRPr lang="en-US" sz="1050"/>
          </a:p>
        </p:txBody>
      </p:sp>
      <p:sp>
        <p:nvSpPr>
          <p:cNvPr id="16" name="Connector">
            <a:extLst>
              <a:ext uri="{C183D7F6-B498-43B3-948B-1728B52AA6E4}">
                <adec:decorative xmlns:adec="http://schemas.microsoft.com/office/drawing/2017/decorative" val="1"/>
              </a:ext>
            </a:extLst>
          </p:cNvPr>
          <p:cNvSpPr/>
          <p:nvPr/>
        </p:nvSpPr>
        <p:spPr>
          <a:xfrm>
            <a:off x="7040880" y="2377440"/>
            <a:ext cx="0" cy="137160"/>
          </a:xfrm>
          <a:prstGeom prst="line">
            <a:avLst/>
          </a:prstGeom>
          <a:noFill/>
          <a:ln w="12700">
            <a:solidFill>
              <a:srgbClr val="3730A3"/>
            </a:solidFill>
            <a:prstDash val="solid"/>
            <a:tailEnd type="triangle" w="med" len="med"/>
          </a:ln>
        </p:spPr>
        <p:txBody>
          <a:bodyPr/>
          <a:lstStyle/>
          <a:p>
            <a:endParaRPr lang="en-US"/>
          </a:p>
        </p:txBody>
      </p:sp>
      <p:sp>
        <p:nvSpPr>
          <p:cNvPr id="17" name="Card frame">
            <a:extLst>
              <a:ext uri="{C183D7F6-B498-43B3-948B-1728B52AA6E4}">
                <adec:decorative xmlns:adec="http://schemas.microsoft.com/office/drawing/2017/decorative" val="1"/>
              </a:ext>
            </a:extLst>
          </p:cNvPr>
          <p:cNvSpPr/>
          <p:nvPr/>
        </p:nvSpPr>
        <p:spPr>
          <a:xfrm>
            <a:off x="5943600" y="2514600"/>
            <a:ext cx="2194560" cy="45720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8" name="Text"/>
          <p:cNvSpPr/>
          <p:nvPr/>
        </p:nvSpPr>
        <p:spPr>
          <a:xfrm>
            <a:off x="5943600" y="2514600"/>
            <a:ext cx="2194560" cy="457200"/>
          </a:xfrm>
          <a:prstGeom prst="rect">
            <a:avLst/>
          </a:prstGeom>
          <a:noFill/>
          <a:ln/>
        </p:spPr>
        <p:txBody>
          <a:bodyPr wrap="square" lIns="0" tIns="0" rIns="0" bIns="0" rtlCol="0" anchor="ctr">
            <a:normAutofit/>
          </a:bodyPr>
          <a:lstStyle/>
          <a:p>
            <a:pPr marL="0" indent="0" algn="ctr">
              <a:buNone/>
            </a:pPr>
            <a:r>
              <a:rPr lang="en-US" sz="1150" b="1" i="0">
                <a:solidFill>
                  <a:srgbClr val="3730A3"/>
                </a:solidFill>
                <a:latin typeface="Georgia" pitchFamily="34" charset="0"/>
                <a:ea typeface="Georgia" pitchFamily="34" charset="-122"/>
                <a:cs typeface="Georgia" pitchFamily="34" charset="-120"/>
              </a:rPr>
              <a:t>measurement</a:t>
            </a:r>
            <a:endParaRPr lang="en-US" sz="1150"/>
          </a:p>
        </p:txBody>
      </p:sp>
      <p:sp>
        <p:nvSpPr>
          <p:cNvPr id="19" name="Connector">
            <a:extLst>
              <a:ext uri="{C183D7F6-B498-43B3-948B-1728B52AA6E4}">
                <adec:decorative xmlns:adec="http://schemas.microsoft.com/office/drawing/2017/decorative" val="1"/>
              </a:ext>
            </a:extLst>
          </p:cNvPr>
          <p:cNvSpPr/>
          <p:nvPr/>
        </p:nvSpPr>
        <p:spPr>
          <a:xfrm>
            <a:off x="2103120" y="3200400"/>
            <a:ext cx="4937760" cy="0"/>
          </a:xfrm>
          <a:prstGeom prst="line">
            <a:avLst/>
          </a:prstGeom>
          <a:noFill/>
          <a:ln w="9525">
            <a:solidFill>
              <a:srgbClr val="6B7280"/>
            </a:solidFill>
            <a:prstDash val="solid"/>
          </a:ln>
        </p:spPr>
        <p:txBody>
          <a:bodyPr/>
          <a:lstStyle/>
          <a:p>
            <a:endParaRPr lang="en-US"/>
          </a:p>
        </p:txBody>
      </p:sp>
      <p:sp>
        <p:nvSpPr>
          <p:cNvPr id="20" name="Connector">
            <a:extLst>
              <a:ext uri="{C183D7F6-B498-43B3-948B-1728B52AA6E4}">
                <adec:decorative xmlns:adec="http://schemas.microsoft.com/office/drawing/2017/decorative" val="1"/>
              </a:ext>
            </a:extLst>
          </p:cNvPr>
          <p:cNvSpPr/>
          <p:nvPr/>
        </p:nvSpPr>
        <p:spPr>
          <a:xfrm>
            <a:off x="2103120" y="3017520"/>
            <a:ext cx="0" cy="182880"/>
          </a:xfrm>
          <a:prstGeom prst="line">
            <a:avLst/>
          </a:prstGeom>
          <a:noFill/>
          <a:ln w="12700">
            <a:solidFill>
              <a:srgbClr val="3730A3"/>
            </a:solidFill>
            <a:prstDash val="solid"/>
          </a:ln>
        </p:spPr>
        <p:txBody>
          <a:bodyPr/>
          <a:lstStyle/>
          <a:p>
            <a:endParaRPr lang="en-US"/>
          </a:p>
        </p:txBody>
      </p:sp>
      <p:sp>
        <p:nvSpPr>
          <p:cNvPr id="21" name="Connector">
            <a:extLst>
              <a:ext uri="{C183D7F6-B498-43B3-948B-1728B52AA6E4}">
                <adec:decorative xmlns:adec="http://schemas.microsoft.com/office/drawing/2017/decorative" val="1"/>
              </a:ext>
            </a:extLst>
          </p:cNvPr>
          <p:cNvSpPr/>
          <p:nvPr/>
        </p:nvSpPr>
        <p:spPr>
          <a:xfrm>
            <a:off x="7040880" y="3017520"/>
            <a:ext cx="0" cy="182880"/>
          </a:xfrm>
          <a:prstGeom prst="line">
            <a:avLst/>
          </a:prstGeom>
          <a:noFill/>
          <a:ln w="12700">
            <a:solidFill>
              <a:srgbClr val="3730A3"/>
            </a:solidFill>
            <a:prstDash val="solid"/>
          </a:ln>
        </p:spPr>
        <p:txBody>
          <a:bodyPr/>
          <a:lstStyle/>
          <a:p>
            <a:endParaRPr lang="en-US"/>
          </a:p>
        </p:txBody>
      </p:sp>
      <p:sp>
        <p:nvSpPr>
          <p:cNvPr id="22" name="Connector">
            <a:extLst>
              <a:ext uri="{C183D7F6-B498-43B3-948B-1728B52AA6E4}">
                <adec:decorative xmlns:adec="http://schemas.microsoft.com/office/drawing/2017/decorative" val="1"/>
              </a:ext>
            </a:extLst>
          </p:cNvPr>
          <p:cNvSpPr/>
          <p:nvPr/>
        </p:nvSpPr>
        <p:spPr>
          <a:xfrm>
            <a:off x="4572000" y="3200400"/>
            <a:ext cx="0" cy="137160"/>
          </a:xfrm>
          <a:prstGeom prst="line">
            <a:avLst/>
          </a:prstGeom>
          <a:noFill/>
          <a:ln w="12700">
            <a:solidFill>
              <a:srgbClr val="3730A3"/>
            </a:solidFill>
            <a:prstDash val="solid"/>
            <a:tailEnd type="triangle" w="med" len="med"/>
          </a:ln>
        </p:spPr>
        <p:txBody>
          <a:bodyPr/>
          <a:lstStyle/>
          <a:p>
            <a:endParaRPr lang="en-US"/>
          </a:p>
        </p:txBody>
      </p:sp>
      <p:sp>
        <p:nvSpPr>
          <p:cNvPr id="23" name="Card frame">
            <a:extLst>
              <a:ext uri="{C183D7F6-B498-43B3-948B-1728B52AA6E4}">
                <adec:decorative xmlns:adec="http://schemas.microsoft.com/office/drawing/2017/decorative" val="1"/>
              </a:ext>
            </a:extLst>
          </p:cNvPr>
          <p:cNvSpPr/>
          <p:nvPr/>
        </p:nvSpPr>
        <p:spPr>
          <a:xfrm>
            <a:off x="1005840" y="3383280"/>
            <a:ext cx="219456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4" name="Text"/>
          <p:cNvSpPr/>
          <p:nvPr/>
        </p:nvSpPr>
        <p:spPr>
          <a:xfrm>
            <a:off x="1005840" y="3383280"/>
            <a:ext cx="2194560" cy="45720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public basis comparison</a:t>
            </a:r>
            <a:endParaRPr lang="en-US" sz="1100"/>
          </a:p>
        </p:txBody>
      </p:sp>
      <p:sp>
        <p:nvSpPr>
          <p:cNvPr id="25" name="Text"/>
          <p:cNvSpPr/>
          <p:nvPr/>
        </p:nvSpPr>
        <p:spPr>
          <a:xfrm>
            <a:off x="3200400" y="3383280"/>
            <a:ext cx="411480" cy="457200"/>
          </a:xfrm>
          <a:prstGeom prst="rect">
            <a:avLst/>
          </a:prstGeom>
          <a:noFill/>
          <a:ln/>
        </p:spPr>
        <p:txBody>
          <a:bodyPr wrap="square" lIns="0" tIns="0" rIns="0" bIns="0" rtlCol="0" anchor="ctr">
            <a:normAutofit/>
          </a:bodyPr>
          <a:lstStyle/>
          <a:p>
            <a:pPr marL="0" indent="0" algn="ctr">
              <a:buNone/>
            </a:pPr>
            <a:r>
              <a:rPr lang="en-US" sz="1200" b="1" i="0">
                <a:solidFill>
                  <a:srgbClr val="6B7280"/>
                </a:solidFill>
                <a:latin typeface="Georgia" pitchFamily="34" charset="0"/>
                <a:ea typeface="Georgia" pitchFamily="34" charset="-122"/>
                <a:cs typeface="Georgia" pitchFamily="34" charset="-120"/>
              </a:rPr>
              <a:t>→</a:t>
            </a:r>
            <a:endParaRPr lang="en-US" sz="1200"/>
          </a:p>
        </p:txBody>
      </p:sp>
      <p:sp>
        <p:nvSpPr>
          <p:cNvPr id="26" name="Card frame">
            <a:extLst>
              <a:ext uri="{C183D7F6-B498-43B3-948B-1728B52AA6E4}">
                <adec:decorative xmlns:adec="http://schemas.microsoft.com/office/drawing/2017/decorative" val="1"/>
              </a:ext>
            </a:extLst>
          </p:cNvPr>
          <p:cNvSpPr/>
          <p:nvPr/>
        </p:nvSpPr>
        <p:spPr>
          <a:xfrm>
            <a:off x="3611880" y="3383280"/>
            <a:ext cx="219456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7" name="Text"/>
          <p:cNvSpPr/>
          <p:nvPr/>
        </p:nvSpPr>
        <p:spPr>
          <a:xfrm>
            <a:off x="3611880" y="3383280"/>
            <a:ext cx="2194560" cy="45720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discard mismatches</a:t>
            </a:r>
            <a:endParaRPr lang="en-US" sz="1100"/>
          </a:p>
        </p:txBody>
      </p:sp>
      <p:sp>
        <p:nvSpPr>
          <p:cNvPr id="28" name="Text"/>
          <p:cNvSpPr/>
          <p:nvPr/>
        </p:nvSpPr>
        <p:spPr>
          <a:xfrm>
            <a:off x="5806440" y="3383280"/>
            <a:ext cx="411480" cy="457200"/>
          </a:xfrm>
          <a:prstGeom prst="rect">
            <a:avLst/>
          </a:prstGeom>
          <a:noFill/>
          <a:ln/>
        </p:spPr>
        <p:txBody>
          <a:bodyPr wrap="square" lIns="0" tIns="0" rIns="0" bIns="0" rtlCol="0" anchor="ctr">
            <a:normAutofit/>
          </a:bodyPr>
          <a:lstStyle/>
          <a:p>
            <a:pPr marL="0" indent="0" algn="ctr">
              <a:buNone/>
            </a:pPr>
            <a:r>
              <a:rPr lang="en-US" sz="1200" b="1" i="0">
                <a:solidFill>
                  <a:srgbClr val="6B7280"/>
                </a:solidFill>
                <a:latin typeface="Georgia" pitchFamily="34" charset="0"/>
                <a:ea typeface="Georgia" pitchFamily="34" charset="-122"/>
                <a:cs typeface="Georgia" pitchFamily="34" charset="-120"/>
              </a:rPr>
              <a:t>→</a:t>
            </a:r>
            <a:endParaRPr lang="en-US" sz="1200"/>
          </a:p>
        </p:txBody>
      </p:sp>
      <p:sp>
        <p:nvSpPr>
          <p:cNvPr id="29" name="Card frame">
            <a:extLst>
              <a:ext uri="{C183D7F6-B498-43B3-948B-1728B52AA6E4}">
                <adec:decorative xmlns:adec="http://schemas.microsoft.com/office/drawing/2017/decorative" val="1"/>
              </a:ext>
            </a:extLst>
          </p:cNvPr>
          <p:cNvSpPr/>
          <p:nvPr/>
        </p:nvSpPr>
        <p:spPr>
          <a:xfrm>
            <a:off x="6217920" y="3383280"/>
            <a:ext cx="2194560" cy="457200"/>
          </a:xfrm>
          <a:prstGeom prst="roundRect">
            <a:avLst>
              <a:gd name="adj" fmla="val 5000"/>
            </a:avLst>
          </a:prstGeom>
          <a:solidFill>
            <a:srgbClr val="FFFFFF"/>
          </a:solidFill>
          <a:ln w="17780">
            <a:solidFill>
              <a:srgbClr val="0F766E"/>
            </a:solidFill>
            <a:prstDash val="solid"/>
          </a:ln>
        </p:spPr>
        <p:txBody>
          <a:bodyPr/>
          <a:lstStyle/>
          <a:p>
            <a:endParaRPr lang="en-US"/>
          </a:p>
        </p:txBody>
      </p:sp>
      <p:sp>
        <p:nvSpPr>
          <p:cNvPr id="30" name="Text"/>
          <p:cNvSpPr/>
          <p:nvPr/>
        </p:nvSpPr>
        <p:spPr>
          <a:xfrm>
            <a:off x="6217920" y="3383280"/>
            <a:ext cx="2194560" cy="457200"/>
          </a:xfrm>
          <a:prstGeom prst="rect">
            <a:avLst/>
          </a:prstGeom>
          <a:noFill/>
          <a:ln/>
        </p:spPr>
        <p:txBody>
          <a:bodyPr wrap="square" lIns="0" tIns="0" rIns="0" bIns="0" rtlCol="0" anchor="ctr">
            <a:normAutofit/>
          </a:bodyPr>
          <a:lstStyle/>
          <a:p>
            <a:pPr marL="0" indent="0" algn="ctr">
              <a:buNone/>
            </a:pPr>
            <a:r>
              <a:rPr lang="en-US" sz="1100" b="1" i="0">
                <a:solidFill>
                  <a:srgbClr val="0F766E"/>
                </a:solidFill>
                <a:latin typeface="Georgia" pitchFamily="34" charset="0"/>
                <a:ea typeface="Georgia" pitchFamily="34" charset="-122"/>
                <a:cs typeface="Georgia" pitchFamily="34" charset="-120"/>
              </a:rPr>
              <a:t>shared key</a:t>
            </a:r>
            <a:endParaRPr lang="en-US" sz="1100"/>
          </a:p>
        </p:txBody>
      </p:sp>
      <p:sp>
        <p:nvSpPr>
          <p:cNvPr id="31"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Six steps: shared pairs, free basis choices, measurement, comparison, sifting, key.</a:t>
            </a:r>
            <a:endParaRPr lang="en-US" sz="125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The Bell test as an intrusion detector</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188720"/>
            <a:ext cx="3611880" cy="2377440"/>
          </a:xfrm>
          <a:prstGeom prst="roundRect">
            <a:avLst>
              <a:gd name="adj" fmla="val 5000"/>
            </a:avLst>
          </a:prstGeom>
          <a:solidFill>
            <a:srgbClr val="F4F5FB"/>
          </a:solidFill>
          <a:ln w="17780">
            <a:solidFill>
              <a:srgbClr val="3730A3"/>
            </a:solidFill>
            <a:prstDash val="solid"/>
          </a:ln>
        </p:spPr>
        <p:txBody>
          <a:bodyPr/>
          <a:lstStyle/>
          <a:p>
            <a:endParaRPr lang="en-US"/>
          </a:p>
        </p:txBody>
      </p:sp>
      <p:sp>
        <p:nvSpPr>
          <p:cNvPr id="4" name="Text"/>
          <p:cNvSpPr/>
          <p:nvPr/>
        </p:nvSpPr>
        <p:spPr>
          <a:xfrm>
            <a:off x="960120" y="132588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3730A3"/>
                </a:solidFill>
                <a:latin typeface="Georgia" pitchFamily="34" charset="0"/>
                <a:ea typeface="Georgia" pitchFamily="34" charset="-122"/>
                <a:cs typeface="Georgia" pitchFamily="34" charset="-120"/>
              </a:rPr>
              <a:t>NO EAVESDROPPER</a:t>
            </a:r>
            <a:endParaRPr lang="en-US" sz="1000"/>
          </a:p>
        </p:txBody>
      </p:sp>
      <p:sp>
        <p:nvSpPr>
          <p:cNvPr id="5" name="Text"/>
          <p:cNvSpPr/>
          <p:nvPr/>
        </p:nvSpPr>
        <p:spPr>
          <a:xfrm>
            <a:off x="960120" y="1737360"/>
            <a:ext cx="3246120" cy="320040"/>
          </a:xfrm>
          <a:prstGeom prst="rect">
            <a:avLst/>
          </a:prstGeom>
          <a:noFill/>
          <a:ln/>
        </p:spPr>
        <p:txBody>
          <a:bodyPr wrap="square" lIns="0" tIns="0" rIns="0" bIns="0" rtlCol="0" anchor="ctr">
            <a:normAutofit/>
          </a:bodyPr>
          <a:lstStyle/>
          <a:p>
            <a:pPr marL="0" indent="0" algn="ctr">
              <a:buNone/>
            </a:pPr>
            <a:r>
              <a:rPr lang="en-US" sz="1250" b="0" i="0">
                <a:solidFill>
                  <a:srgbClr val="1A1A2E"/>
                </a:solidFill>
                <a:latin typeface="Georgia" pitchFamily="34" charset="0"/>
                <a:ea typeface="Georgia" pitchFamily="34" charset="-122"/>
                <a:cs typeface="Georgia" pitchFamily="34" charset="-120"/>
              </a:rPr>
              <a:t>Entanglement intact</a:t>
            </a:r>
            <a:endParaRPr lang="en-US" sz="1250"/>
          </a:p>
        </p:txBody>
      </p:sp>
      <p:sp>
        <p:nvSpPr>
          <p:cNvPr id="6" name="Text"/>
          <p:cNvSpPr/>
          <p:nvPr/>
        </p:nvSpPr>
        <p:spPr>
          <a:xfrm>
            <a:off x="960120" y="2057400"/>
            <a:ext cx="3246120" cy="182880"/>
          </a:xfrm>
          <a:prstGeom prst="rect">
            <a:avLst/>
          </a:prstGeom>
          <a:noFill/>
          <a:ln/>
        </p:spPr>
        <p:txBody>
          <a:bodyPr wrap="square" lIns="0" tIns="0" rIns="0" bIns="0" rtlCol="0" anchor="ctr">
            <a:normAutofit/>
          </a:bodyPr>
          <a:lstStyle/>
          <a:p>
            <a:pPr marL="0" indent="0" algn="ctr">
              <a:buNone/>
            </a:pPr>
            <a:r>
              <a:rPr lang="en-US" sz="900" b="1" i="0">
                <a:solidFill>
                  <a:srgbClr val="3730A3"/>
                </a:solidFill>
                <a:latin typeface="Georgia" pitchFamily="34" charset="0"/>
                <a:ea typeface="Georgia" pitchFamily="34" charset="-122"/>
                <a:cs typeface="Georgia" pitchFamily="34" charset="-120"/>
              </a:rPr>
              <a:t>↓</a:t>
            </a:r>
            <a:endParaRPr lang="en-US" sz="900"/>
          </a:p>
        </p:txBody>
      </p:sp>
      <p:sp>
        <p:nvSpPr>
          <p:cNvPr id="7" name="Text"/>
          <p:cNvSpPr/>
          <p:nvPr/>
        </p:nvSpPr>
        <p:spPr>
          <a:xfrm>
            <a:off x="960120" y="2286000"/>
            <a:ext cx="3246120" cy="320040"/>
          </a:xfrm>
          <a:prstGeom prst="rect">
            <a:avLst/>
          </a:prstGeom>
          <a:noFill/>
          <a:ln/>
        </p:spPr>
        <p:txBody>
          <a:bodyPr wrap="square" lIns="0" tIns="0" rIns="0" bIns="0" rtlCol="0" anchor="ctr">
            <a:normAutofit/>
          </a:bodyPr>
          <a:lstStyle/>
          <a:p>
            <a:pPr marL="0" indent="0" algn="ctr">
              <a:buNone/>
            </a:pPr>
            <a:r>
              <a:rPr lang="en-US" sz="1250" b="0" i="0">
                <a:solidFill>
                  <a:srgbClr val="1A1A2E"/>
                </a:solidFill>
                <a:latin typeface="Georgia" pitchFamily="34" charset="0"/>
                <a:ea typeface="Georgia" pitchFamily="34" charset="-122"/>
                <a:cs typeface="Georgia" pitchFamily="34" charset="-120"/>
              </a:rPr>
              <a:t>Strong quantum correlation</a:t>
            </a:r>
            <a:endParaRPr lang="en-US" sz="1250"/>
          </a:p>
        </p:txBody>
      </p:sp>
      <p:sp>
        <p:nvSpPr>
          <p:cNvPr id="8" name="Text"/>
          <p:cNvSpPr/>
          <p:nvPr/>
        </p:nvSpPr>
        <p:spPr>
          <a:xfrm>
            <a:off x="960120" y="2606040"/>
            <a:ext cx="3246120" cy="182880"/>
          </a:xfrm>
          <a:prstGeom prst="rect">
            <a:avLst/>
          </a:prstGeom>
          <a:noFill/>
          <a:ln/>
        </p:spPr>
        <p:txBody>
          <a:bodyPr wrap="square" lIns="0" tIns="0" rIns="0" bIns="0" rtlCol="0" anchor="ctr">
            <a:normAutofit/>
          </a:bodyPr>
          <a:lstStyle/>
          <a:p>
            <a:pPr marL="0" indent="0" algn="ctr">
              <a:buNone/>
            </a:pPr>
            <a:r>
              <a:rPr lang="en-US" sz="900" b="1" i="0">
                <a:solidFill>
                  <a:srgbClr val="3730A3"/>
                </a:solidFill>
                <a:latin typeface="Georgia" pitchFamily="34" charset="0"/>
                <a:ea typeface="Georgia" pitchFamily="34" charset="-122"/>
                <a:cs typeface="Georgia" pitchFamily="34" charset="-120"/>
              </a:rPr>
              <a:t>↓</a:t>
            </a:r>
            <a:endParaRPr lang="en-US" sz="900"/>
          </a:p>
        </p:txBody>
      </p:sp>
      <p:sp>
        <p:nvSpPr>
          <p:cNvPr id="9" name="Text"/>
          <p:cNvSpPr/>
          <p:nvPr/>
        </p:nvSpPr>
        <p:spPr>
          <a:xfrm>
            <a:off x="960120" y="2834640"/>
            <a:ext cx="3246120" cy="320040"/>
          </a:xfrm>
          <a:prstGeom prst="rect">
            <a:avLst/>
          </a:prstGeom>
          <a:noFill/>
          <a:ln/>
        </p:spPr>
        <p:txBody>
          <a:bodyPr wrap="square" lIns="0" tIns="0" rIns="0" bIns="0" rtlCol="0" anchor="ctr">
            <a:normAutofit/>
          </a:bodyPr>
          <a:lstStyle/>
          <a:p>
            <a:pPr marL="0" indent="0" algn="ctr">
              <a:buNone/>
            </a:pPr>
            <a:r>
              <a:rPr lang="en-US" sz="1250" b="1" i="0">
                <a:solidFill>
                  <a:srgbClr val="3730A3"/>
                </a:solidFill>
                <a:latin typeface="Georgia" pitchFamily="34" charset="0"/>
                <a:ea typeface="Georgia" pitchFamily="34" charset="-122"/>
                <a:cs typeface="Georgia" pitchFamily="34" charset="-120"/>
              </a:rPr>
              <a:t>Full Bell violation</a:t>
            </a:r>
            <a:endParaRPr lang="en-US" sz="1250"/>
          </a:p>
        </p:txBody>
      </p:sp>
      <p:sp>
        <p:nvSpPr>
          <p:cNvPr id="10" name="Card frame">
            <a:extLst>
              <a:ext uri="{C183D7F6-B498-43B3-948B-1728B52AA6E4}">
                <adec:decorative xmlns:adec="http://schemas.microsoft.com/office/drawing/2017/decorative" val="1"/>
              </a:ext>
            </a:extLst>
          </p:cNvPr>
          <p:cNvSpPr/>
          <p:nvPr/>
        </p:nvSpPr>
        <p:spPr>
          <a:xfrm>
            <a:off x="4754400" y="1188720"/>
            <a:ext cx="3611880" cy="237744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11" name="Text"/>
          <p:cNvSpPr/>
          <p:nvPr/>
        </p:nvSpPr>
        <p:spPr>
          <a:xfrm>
            <a:off x="4937280" y="1325880"/>
            <a:ext cx="3246120" cy="228600"/>
          </a:xfrm>
          <a:prstGeom prst="rect">
            <a:avLst/>
          </a:prstGeom>
          <a:noFill/>
          <a:ln/>
        </p:spPr>
        <p:txBody>
          <a:bodyPr wrap="square" lIns="0" tIns="0" rIns="0" bIns="0" rtlCol="0" anchor="ctr">
            <a:normAutofit/>
          </a:bodyPr>
          <a:lstStyle/>
          <a:p>
            <a:pPr marL="0" indent="0" algn="ctr">
              <a:buNone/>
            </a:pPr>
            <a:r>
              <a:rPr lang="en-US" sz="1000" b="1" i="0" kern="0" spc="120">
                <a:solidFill>
                  <a:srgbClr val="C0392B"/>
                </a:solidFill>
                <a:latin typeface="Georgia" pitchFamily="34" charset="0"/>
                <a:ea typeface="Georgia" pitchFamily="34" charset="-122"/>
                <a:cs typeface="Georgia" pitchFamily="34" charset="-120"/>
              </a:rPr>
              <a:t>EVE INTERACTS</a:t>
            </a:r>
            <a:endParaRPr lang="en-US" sz="1000"/>
          </a:p>
        </p:txBody>
      </p:sp>
      <p:sp>
        <p:nvSpPr>
          <p:cNvPr id="12" name="Text"/>
          <p:cNvSpPr/>
          <p:nvPr/>
        </p:nvSpPr>
        <p:spPr>
          <a:xfrm>
            <a:off x="4937280" y="1737360"/>
            <a:ext cx="3246120" cy="320040"/>
          </a:xfrm>
          <a:prstGeom prst="rect">
            <a:avLst/>
          </a:prstGeom>
          <a:noFill/>
          <a:ln/>
        </p:spPr>
        <p:txBody>
          <a:bodyPr wrap="square" lIns="0" tIns="0" rIns="0" bIns="0" rtlCol="0" anchor="ctr">
            <a:normAutofit/>
          </a:bodyPr>
          <a:lstStyle/>
          <a:p>
            <a:pPr marL="0" indent="0" algn="ctr">
              <a:buNone/>
            </a:pPr>
            <a:r>
              <a:rPr lang="en-US" sz="1250" b="0" i="0">
                <a:solidFill>
                  <a:srgbClr val="1A1A2E"/>
                </a:solidFill>
                <a:latin typeface="Georgia" pitchFamily="34" charset="0"/>
                <a:ea typeface="Georgia" pitchFamily="34" charset="-122"/>
                <a:cs typeface="Georgia" pitchFamily="34" charset="-120"/>
              </a:rPr>
              <a:t>Intervention on the pair</a:t>
            </a:r>
            <a:endParaRPr lang="en-US" sz="1250"/>
          </a:p>
        </p:txBody>
      </p:sp>
      <p:sp>
        <p:nvSpPr>
          <p:cNvPr id="13" name="Text"/>
          <p:cNvSpPr/>
          <p:nvPr/>
        </p:nvSpPr>
        <p:spPr>
          <a:xfrm>
            <a:off x="4937280" y="2057400"/>
            <a:ext cx="3246120" cy="182880"/>
          </a:xfrm>
          <a:prstGeom prst="rect">
            <a:avLst/>
          </a:prstGeom>
          <a:noFill/>
          <a:ln/>
        </p:spPr>
        <p:txBody>
          <a:bodyPr wrap="square" lIns="0" tIns="0" rIns="0" bIns="0" rtlCol="0" anchor="ctr">
            <a:normAutofit/>
          </a:bodyPr>
          <a:lstStyle/>
          <a:p>
            <a:pPr marL="0" indent="0" algn="ctr">
              <a:buNone/>
            </a:pPr>
            <a:r>
              <a:rPr lang="en-US" sz="900" b="1" i="0">
                <a:solidFill>
                  <a:srgbClr val="C0392B"/>
                </a:solidFill>
                <a:latin typeface="Georgia" pitchFamily="34" charset="0"/>
                <a:ea typeface="Georgia" pitchFamily="34" charset="-122"/>
                <a:cs typeface="Georgia" pitchFamily="34" charset="-120"/>
              </a:rPr>
              <a:t>↓</a:t>
            </a:r>
            <a:endParaRPr lang="en-US" sz="900"/>
          </a:p>
        </p:txBody>
      </p:sp>
      <p:sp>
        <p:nvSpPr>
          <p:cNvPr id="14" name="Text"/>
          <p:cNvSpPr/>
          <p:nvPr/>
        </p:nvSpPr>
        <p:spPr>
          <a:xfrm>
            <a:off x="4937280" y="2286000"/>
            <a:ext cx="3246120" cy="320040"/>
          </a:xfrm>
          <a:prstGeom prst="rect">
            <a:avLst/>
          </a:prstGeom>
          <a:noFill/>
          <a:ln/>
        </p:spPr>
        <p:txBody>
          <a:bodyPr wrap="square" lIns="0" tIns="0" rIns="0" bIns="0" rtlCol="0" anchor="ctr">
            <a:normAutofit/>
          </a:bodyPr>
          <a:lstStyle/>
          <a:p>
            <a:pPr marL="0" indent="0" algn="ctr">
              <a:buNone/>
            </a:pPr>
            <a:r>
              <a:rPr lang="en-US" sz="1250" b="0" i="0">
                <a:solidFill>
                  <a:srgbClr val="1A1A2E"/>
                </a:solidFill>
                <a:latin typeface="Georgia" pitchFamily="34" charset="0"/>
                <a:ea typeface="Georgia" pitchFamily="34" charset="-122"/>
                <a:cs typeface="Georgia" pitchFamily="34" charset="-120"/>
              </a:rPr>
              <a:t>Degraded entanglement</a:t>
            </a:r>
            <a:endParaRPr lang="en-US" sz="1250"/>
          </a:p>
        </p:txBody>
      </p:sp>
      <p:sp>
        <p:nvSpPr>
          <p:cNvPr id="15" name="Text"/>
          <p:cNvSpPr/>
          <p:nvPr/>
        </p:nvSpPr>
        <p:spPr>
          <a:xfrm>
            <a:off x="4937280" y="2606040"/>
            <a:ext cx="3246120" cy="182880"/>
          </a:xfrm>
          <a:prstGeom prst="rect">
            <a:avLst/>
          </a:prstGeom>
          <a:noFill/>
          <a:ln/>
        </p:spPr>
        <p:txBody>
          <a:bodyPr wrap="square" lIns="0" tIns="0" rIns="0" bIns="0" rtlCol="0" anchor="ctr">
            <a:normAutofit/>
          </a:bodyPr>
          <a:lstStyle/>
          <a:p>
            <a:pPr marL="0" indent="0" algn="ctr">
              <a:buNone/>
            </a:pPr>
            <a:r>
              <a:rPr lang="en-US" sz="900" b="1" i="0">
                <a:solidFill>
                  <a:srgbClr val="C0392B"/>
                </a:solidFill>
                <a:latin typeface="Georgia" pitchFamily="34" charset="0"/>
                <a:ea typeface="Georgia" pitchFamily="34" charset="-122"/>
                <a:cs typeface="Georgia" pitchFamily="34" charset="-120"/>
              </a:rPr>
              <a:t>↓</a:t>
            </a:r>
            <a:endParaRPr lang="en-US" sz="900"/>
          </a:p>
        </p:txBody>
      </p:sp>
      <p:sp>
        <p:nvSpPr>
          <p:cNvPr id="16" name="Text"/>
          <p:cNvSpPr/>
          <p:nvPr/>
        </p:nvSpPr>
        <p:spPr>
          <a:xfrm>
            <a:off x="4937280" y="2834640"/>
            <a:ext cx="3246120" cy="320040"/>
          </a:xfrm>
          <a:prstGeom prst="rect">
            <a:avLst/>
          </a:prstGeom>
          <a:noFill/>
          <a:ln/>
        </p:spPr>
        <p:txBody>
          <a:bodyPr wrap="square" lIns="0" tIns="0" rIns="0" bIns="0" rtlCol="0" anchor="ctr">
            <a:normAutofit/>
          </a:bodyPr>
          <a:lstStyle/>
          <a:p>
            <a:pPr marL="0" indent="0" algn="ctr">
              <a:buNone/>
            </a:pPr>
            <a:r>
              <a:rPr lang="en-US" sz="1250" b="1" i="0">
                <a:solidFill>
                  <a:srgbClr val="C0392B"/>
                </a:solidFill>
                <a:latin typeface="Georgia" pitchFamily="34" charset="0"/>
                <a:ea typeface="Georgia" pitchFamily="34" charset="-122"/>
                <a:cs typeface="Georgia" pitchFamily="34" charset="-120"/>
              </a:rPr>
              <a:t>Reduced violation</a:t>
            </a:r>
            <a:endParaRPr lang="en-US" sz="1250"/>
          </a:p>
        </p:txBody>
      </p:sp>
      <p:sp>
        <p:nvSpPr>
          <p:cNvPr id="17"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The violation itself is the alarm: weaker correlations mean the channel was disturbed.</a:t>
            </a:r>
            <a:endParaRPr lang="en-US" sz="125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Ekert numerical example</a:t>
            </a:r>
            <a:endParaRPr lang="en-US" sz="2500"/>
          </a:p>
        </p:txBody>
      </p:sp>
      <p:sp>
        <p:nvSpPr>
          <p:cNvPr id="3" name="Card frame">
            <a:extLst>
              <a:ext uri="{C183D7F6-B498-43B3-948B-1728B52AA6E4}">
                <adec:decorative xmlns:adec="http://schemas.microsoft.com/office/drawing/2017/decorative" val="1"/>
              </a:ext>
            </a:extLst>
          </p:cNvPr>
          <p:cNvSpPr/>
          <p:nvPr/>
        </p:nvSpPr>
        <p:spPr>
          <a:xfrm>
            <a:off x="2377440" y="1097280"/>
            <a:ext cx="43891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2377440" y="1097280"/>
            <a:ext cx="4389120" cy="594360"/>
          </a:xfrm>
          <a:prstGeom prst="rect">
            <a:avLst/>
          </a:prstGeom>
          <a:noFill/>
          <a:ln/>
        </p:spPr>
        <p:txBody>
          <a:bodyPr wrap="square" lIns="0" tIns="0" rIns="0" bIns="0" rtlCol="0" anchor="ctr">
            <a:normAutofit/>
          </a:bodyPr>
          <a:lstStyle/>
          <a:p>
            <a:pPr marL="0" indent="0" algn="ctr">
              <a:buNone/>
            </a:pPr>
            <a:r>
              <a:rPr lang="en-US" sz="1400" b="1" i="0">
                <a:solidFill>
                  <a:srgbClr val="3730A3"/>
                </a:solidFill>
                <a:latin typeface="Georgia" pitchFamily="34" charset="0"/>
                <a:ea typeface="Georgia" pitchFamily="34" charset="-122"/>
                <a:cs typeface="Georgia" pitchFamily="34" charset="-120"/>
              </a:rPr>
              <a:t>settings   0°   and   60°</a:t>
            </a:r>
            <a:endParaRPr lang="en-US" sz="1400"/>
          </a:p>
        </p:txBody>
      </p:sp>
      <p:sp>
        <p:nvSpPr>
          <p:cNvPr id="5" name="Card frame">
            <a:extLst>
              <a:ext uri="{C183D7F6-B498-43B3-948B-1728B52AA6E4}">
                <adec:decorative xmlns:adec="http://schemas.microsoft.com/office/drawing/2017/decorative" val="1"/>
              </a:ext>
            </a:extLst>
          </p:cNvPr>
          <p:cNvSpPr/>
          <p:nvPr/>
        </p:nvSpPr>
        <p:spPr>
          <a:xfrm>
            <a:off x="777240" y="1874520"/>
            <a:ext cx="7589520" cy="7315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6" name="Text"/>
          <p:cNvSpPr/>
          <p:nvPr/>
        </p:nvSpPr>
        <p:spPr>
          <a:xfrm>
            <a:off x="960120" y="1874520"/>
            <a:ext cx="7223760" cy="731520"/>
          </a:xfrm>
          <a:prstGeom prst="rect">
            <a:avLst/>
          </a:prstGeom>
          <a:noFill/>
          <a:ln/>
        </p:spPr>
        <p:txBody>
          <a:bodyPr wrap="square" lIns="0" tIns="0" rIns="0" bIns="0" rtlCol="0" anchor="ctr">
            <a:normAutofit/>
          </a:bodyPr>
          <a:lstStyle/>
          <a:p>
            <a:pPr marL="0" indent="0" algn="ctr">
              <a:buNone/>
            </a:pPr>
            <a:r>
              <a:rPr lang="en-US" sz="1700" b="1" i="0">
                <a:solidFill>
                  <a:srgbClr val="3730A3"/>
                </a:solidFill>
                <a:latin typeface="Georgia" pitchFamily="34" charset="0"/>
                <a:ea typeface="Georgia" pitchFamily="34" charset="-122"/>
                <a:cs typeface="Georgia" pitchFamily="34" charset="-120"/>
              </a:rPr>
              <a:t>P(same)  =  cos²(60°)  =  1/4</a:t>
            </a:r>
            <a:endParaRPr lang="en-US" sz="1700"/>
          </a:p>
        </p:txBody>
      </p:sp>
      <p:sp>
        <p:nvSpPr>
          <p:cNvPr id="7" name="Text"/>
          <p:cNvSpPr/>
          <p:nvPr/>
        </p:nvSpPr>
        <p:spPr>
          <a:xfrm>
            <a:off x="3931920" y="2697480"/>
            <a:ext cx="1280160" cy="228600"/>
          </a:xfrm>
          <a:prstGeom prst="rect">
            <a:avLst/>
          </a:prstGeom>
          <a:noFill/>
          <a:ln/>
        </p:spPr>
        <p:txBody>
          <a:bodyPr wrap="square" lIns="0" tIns="0" rIns="0" bIns="0" rtlCol="0" anchor="ctr">
            <a:normAutofit/>
          </a:bodyPr>
          <a:lstStyle/>
          <a:p>
            <a:pPr marL="0" indent="0" algn="ctr">
              <a:buNone/>
            </a:pPr>
            <a:r>
              <a:rPr lang="en-US" sz="1200" b="1" i="0">
                <a:solidFill>
                  <a:srgbClr val="3730A3"/>
                </a:solidFill>
                <a:latin typeface="Georgia" pitchFamily="34" charset="0"/>
                <a:ea typeface="Georgia" pitchFamily="34" charset="-122"/>
                <a:cs typeface="Georgia" pitchFamily="34" charset="-120"/>
              </a:rPr>
              <a:t>↓</a:t>
            </a:r>
            <a:endParaRPr lang="en-US" sz="1200"/>
          </a:p>
        </p:txBody>
      </p:sp>
      <p:sp>
        <p:nvSpPr>
          <p:cNvPr id="8" name="Card frame">
            <a:extLst>
              <a:ext uri="{C183D7F6-B498-43B3-948B-1728B52AA6E4}">
                <adec:decorative xmlns:adec="http://schemas.microsoft.com/office/drawing/2017/decorative" val="1"/>
              </a:ext>
            </a:extLst>
          </p:cNvPr>
          <p:cNvSpPr/>
          <p:nvPr/>
        </p:nvSpPr>
        <p:spPr>
          <a:xfrm>
            <a:off x="777240" y="3017520"/>
            <a:ext cx="7589520" cy="731520"/>
          </a:xfrm>
          <a:prstGeom prst="roundRect">
            <a:avLst>
              <a:gd name="adj" fmla="val 5000"/>
            </a:avLst>
          </a:prstGeom>
          <a:solidFill>
            <a:srgbClr val="FFFFFF"/>
          </a:solidFill>
          <a:ln w="17780">
            <a:solidFill>
              <a:srgbClr val="0F766E"/>
            </a:solidFill>
            <a:prstDash val="solid"/>
          </a:ln>
        </p:spPr>
        <p:txBody>
          <a:bodyPr/>
          <a:lstStyle/>
          <a:p>
            <a:endParaRPr lang="en-US"/>
          </a:p>
        </p:txBody>
      </p:sp>
      <p:sp>
        <p:nvSpPr>
          <p:cNvPr id="9" name="Text"/>
          <p:cNvSpPr/>
          <p:nvPr/>
        </p:nvSpPr>
        <p:spPr>
          <a:xfrm>
            <a:off x="960120" y="3017520"/>
            <a:ext cx="7223760" cy="731520"/>
          </a:xfrm>
          <a:prstGeom prst="rect">
            <a:avLst/>
          </a:prstGeom>
          <a:noFill/>
          <a:ln/>
        </p:spPr>
        <p:txBody>
          <a:bodyPr wrap="square" lIns="0" tIns="0" rIns="0" bIns="0" rtlCol="0" anchor="ctr">
            <a:normAutofit/>
          </a:bodyPr>
          <a:lstStyle/>
          <a:p>
            <a:pPr marL="0" indent="0" algn="ctr">
              <a:buNone/>
            </a:pPr>
            <a:r>
              <a:rPr lang="en-US" sz="1500" b="1" i="0">
                <a:solidFill>
                  <a:srgbClr val="0F766E"/>
                </a:solidFill>
                <a:latin typeface="Georgia" pitchFamily="34" charset="0"/>
                <a:ea typeface="Georgia" pitchFamily="34" charset="-122"/>
                <a:cs typeface="Georgia" pitchFamily="34" charset="-120"/>
              </a:rPr>
              <a:t>E(a,b)  =  P(same) − P(different)  =  1/4 − 3/4  =  −1/2</a:t>
            </a:r>
            <a:endParaRPr lang="en-US" sz="1500"/>
          </a:p>
        </p:txBody>
      </p:sp>
      <p:sp>
        <p:nvSpPr>
          <p:cNvPr id="10"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A single pair of settings already shows correlation stronger than any classical model allows.</a:t>
            </a:r>
            <a:endParaRPr lang="en-US" sz="125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Concept map</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23444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891540" y="123444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Multiple qubits</a:t>
            </a:r>
            <a:endParaRPr lang="en-US" sz="1100"/>
          </a:p>
        </p:txBody>
      </p:sp>
      <p:sp>
        <p:nvSpPr>
          <p:cNvPr id="5" name="Connector">
            <a:extLst>
              <a:ext uri="{C183D7F6-B498-43B3-948B-1728B52AA6E4}">
                <adec:decorative xmlns:adec="http://schemas.microsoft.com/office/drawing/2017/decorative" val="1"/>
              </a:ext>
            </a:extLst>
          </p:cNvPr>
          <p:cNvSpPr/>
          <p:nvPr/>
        </p:nvSpPr>
        <p:spPr>
          <a:xfrm>
            <a:off x="1965960" y="1737360"/>
            <a:ext cx="0" cy="137160"/>
          </a:xfrm>
          <a:prstGeom prst="line">
            <a:avLst/>
          </a:prstGeom>
          <a:noFill/>
          <a:ln w="12700">
            <a:solidFill>
              <a:srgbClr val="3730A3"/>
            </a:solidFill>
            <a:prstDash val="solid"/>
            <a:tailEnd type="triangle" w="med" len="med"/>
          </a:ln>
        </p:spPr>
        <p:txBody>
          <a:bodyPr/>
          <a:lstStyle/>
          <a:p>
            <a:endParaRPr lang="en-US"/>
          </a:p>
        </p:txBody>
      </p:sp>
      <p:sp>
        <p:nvSpPr>
          <p:cNvPr id="6" name="Card frame">
            <a:extLst>
              <a:ext uri="{C183D7F6-B498-43B3-948B-1728B52AA6E4}">
                <adec:decorative xmlns:adec="http://schemas.microsoft.com/office/drawing/2017/decorative" val="1"/>
              </a:ext>
            </a:extLst>
          </p:cNvPr>
          <p:cNvSpPr/>
          <p:nvPr/>
        </p:nvSpPr>
        <p:spPr>
          <a:xfrm>
            <a:off x="777240" y="187452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7" name="Text"/>
          <p:cNvSpPr/>
          <p:nvPr/>
        </p:nvSpPr>
        <p:spPr>
          <a:xfrm>
            <a:off x="891540" y="187452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Tensor product</a:t>
            </a:r>
            <a:endParaRPr lang="en-US" sz="1100"/>
          </a:p>
        </p:txBody>
      </p:sp>
      <p:sp>
        <p:nvSpPr>
          <p:cNvPr id="8" name="Connector">
            <a:extLst>
              <a:ext uri="{C183D7F6-B498-43B3-948B-1728B52AA6E4}">
                <adec:decorative xmlns:adec="http://schemas.microsoft.com/office/drawing/2017/decorative" val="1"/>
              </a:ext>
            </a:extLst>
          </p:cNvPr>
          <p:cNvSpPr/>
          <p:nvPr/>
        </p:nvSpPr>
        <p:spPr>
          <a:xfrm>
            <a:off x="1965960" y="2377440"/>
            <a:ext cx="0" cy="137160"/>
          </a:xfrm>
          <a:prstGeom prst="line">
            <a:avLst/>
          </a:prstGeom>
          <a:noFill/>
          <a:ln w="12700">
            <a:solidFill>
              <a:srgbClr val="3730A3"/>
            </a:solidFill>
            <a:prstDash val="solid"/>
            <a:tailEnd type="triangle" w="med" len="med"/>
          </a:ln>
        </p:spPr>
        <p:txBody>
          <a:bodyPr/>
          <a:lstStyle/>
          <a:p>
            <a:endParaRPr lang="en-US"/>
          </a:p>
        </p:txBody>
      </p:sp>
      <p:sp>
        <p:nvSpPr>
          <p:cNvPr id="9" name="Card frame">
            <a:extLst>
              <a:ext uri="{C183D7F6-B498-43B3-948B-1728B52AA6E4}">
                <adec:decorative xmlns:adec="http://schemas.microsoft.com/office/drawing/2017/decorative" val="1"/>
              </a:ext>
            </a:extLst>
          </p:cNvPr>
          <p:cNvSpPr/>
          <p:nvPr/>
        </p:nvSpPr>
        <p:spPr>
          <a:xfrm>
            <a:off x="777240" y="251460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0" name="Text"/>
          <p:cNvSpPr/>
          <p:nvPr/>
        </p:nvSpPr>
        <p:spPr>
          <a:xfrm>
            <a:off x="891540" y="251460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2ⁿ-dimensional space</a:t>
            </a:r>
            <a:endParaRPr lang="en-US" sz="1100"/>
          </a:p>
        </p:txBody>
      </p:sp>
      <p:sp>
        <p:nvSpPr>
          <p:cNvPr id="11" name="Connector">
            <a:extLst>
              <a:ext uri="{C183D7F6-B498-43B3-948B-1728B52AA6E4}">
                <adec:decorative xmlns:adec="http://schemas.microsoft.com/office/drawing/2017/decorative" val="1"/>
              </a:ext>
            </a:extLst>
          </p:cNvPr>
          <p:cNvSpPr/>
          <p:nvPr/>
        </p:nvSpPr>
        <p:spPr>
          <a:xfrm>
            <a:off x="1965960" y="3017520"/>
            <a:ext cx="0" cy="137160"/>
          </a:xfrm>
          <a:prstGeom prst="line">
            <a:avLst/>
          </a:prstGeom>
          <a:noFill/>
          <a:ln w="12700">
            <a:solidFill>
              <a:srgbClr val="3730A3"/>
            </a:solidFill>
            <a:prstDash val="solid"/>
            <a:tailEnd type="triangle" w="med" len="med"/>
          </a:ln>
        </p:spPr>
        <p:txBody>
          <a:bodyPr/>
          <a:lstStyle/>
          <a:p>
            <a:endParaRPr lang="en-US"/>
          </a:p>
        </p:txBody>
      </p:sp>
      <p:sp>
        <p:nvSpPr>
          <p:cNvPr id="12" name="Card frame">
            <a:extLst>
              <a:ext uri="{C183D7F6-B498-43B3-948B-1728B52AA6E4}">
                <adec:decorative xmlns:adec="http://schemas.microsoft.com/office/drawing/2017/decorative" val="1"/>
              </a:ext>
            </a:extLst>
          </p:cNvPr>
          <p:cNvSpPr/>
          <p:nvPr/>
        </p:nvSpPr>
        <p:spPr>
          <a:xfrm>
            <a:off x="777240" y="315468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3" name="Text"/>
          <p:cNvSpPr/>
          <p:nvPr/>
        </p:nvSpPr>
        <p:spPr>
          <a:xfrm>
            <a:off x="891540" y="315468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Multi-qubit states</a:t>
            </a:r>
            <a:endParaRPr lang="en-US" sz="1100"/>
          </a:p>
        </p:txBody>
      </p:sp>
      <p:sp>
        <p:nvSpPr>
          <p:cNvPr id="14" name="Text"/>
          <p:cNvSpPr/>
          <p:nvPr/>
        </p:nvSpPr>
        <p:spPr>
          <a:xfrm>
            <a:off x="3154680" y="2377440"/>
            <a:ext cx="228600" cy="320040"/>
          </a:xfrm>
          <a:prstGeom prst="rect">
            <a:avLst/>
          </a:prstGeom>
          <a:noFill/>
          <a:ln/>
        </p:spPr>
        <p:txBody>
          <a:bodyPr wrap="square" lIns="0" tIns="0" rIns="0" bIns="0" rtlCol="0" anchor="ctr">
            <a:normAutofit/>
          </a:bodyPr>
          <a:lstStyle/>
          <a:p>
            <a:pPr marL="0" indent="0" algn="ctr">
              <a:buNone/>
            </a:pPr>
            <a:r>
              <a:rPr lang="en-US" sz="1200" b="1" i="0">
                <a:solidFill>
                  <a:srgbClr val="6B7280"/>
                </a:solidFill>
                <a:latin typeface="Georgia" pitchFamily="34" charset="0"/>
                <a:ea typeface="Georgia" pitchFamily="34" charset="-122"/>
                <a:cs typeface="Georgia" pitchFamily="34" charset="-120"/>
              </a:rPr>
              <a:t>→</a:t>
            </a:r>
            <a:endParaRPr lang="en-US" sz="1200"/>
          </a:p>
        </p:txBody>
      </p:sp>
      <p:sp>
        <p:nvSpPr>
          <p:cNvPr id="15" name="Card frame">
            <a:extLst>
              <a:ext uri="{C183D7F6-B498-43B3-948B-1728B52AA6E4}">
                <adec:decorative xmlns:adec="http://schemas.microsoft.com/office/drawing/2017/decorative" val="1"/>
              </a:ext>
            </a:extLst>
          </p:cNvPr>
          <p:cNvSpPr/>
          <p:nvPr/>
        </p:nvSpPr>
        <p:spPr>
          <a:xfrm>
            <a:off x="3383280" y="123444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6" name="Text"/>
          <p:cNvSpPr/>
          <p:nvPr/>
        </p:nvSpPr>
        <p:spPr>
          <a:xfrm>
            <a:off x="3497580" y="123444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Entanglement</a:t>
            </a:r>
            <a:endParaRPr lang="en-US" sz="1100"/>
          </a:p>
        </p:txBody>
      </p:sp>
      <p:sp>
        <p:nvSpPr>
          <p:cNvPr id="17" name="Connector">
            <a:extLst>
              <a:ext uri="{C183D7F6-B498-43B3-948B-1728B52AA6E4}">
                <adec:decorative xmlns:adec="http://schemas.microsoft.com/office/drawing/2017/decorative" val="1"/>
              </a:ext>
            </a:extLst>
          </p:cNvPr>
          <p:cNvSpPr/>
          <p:nvPr/>
        </p:nvSpPr>
        <p:spPr>
          <a:xfrm>
            <a:off x="4572000" y="1737360"/>
            <a:ext cx="0" cy="137160"/>
          </a:xfrm>
          <a:prstGeom prst="line">
            <a:avLst/>
          </a:prstGeom>
          <a:noFill/>
          <a:ln w="12700">
            <a:solidFill>
              <a:srgbClr val="3730A3"/>
            </a:solidFill>
            <a:prstDash val="solid"/>
            <a:tailEnd type="triangle" w="med" len="med"/>
          </a:ln>
        </p:spPr>
        <p:txBody>
          <a:bodyPr/>
          <a:lstStyle/>
          <a:p>
            <a:endParaRPr lang="en-US"/>
          </a:p>
        </p:txBody>
      </p:sp>
      <p:sp>
        <p:nvSpPr>
          <p:cNvPr id="18" name="Card frame">
            <a:extLst>
              <a:ext uri="{C183D7F6-B498-43B3-948B-1728B52AA6E4}">
                <adec:decorative xmlns:adec="http://schemas.microsoft.com/office/drawing/2017/decorative" val="1"/>
              </a:ext>
            </a:extLst>
          </p:cNvPr>
          <p:cNvSpPr/>
          <p:nvPr/>
        </p:nvSpPr>
        <p:spPr>
          <a:xfrm>
            <a:off x="3383280" y="187452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9" name="Text"/>
          <p:cNvSpPr/>
          <p:nvPr/>
        </p:nvSpPr>
        <p:spPr>
          <a:xfrm>
            <a:off x="3497580" y="187452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Measurement</a:t>
            </a:r>
            <a:endParaRPr lang="en-US" sz="1100"/>
          </a:p>
        </p:txBody>
      </p:sp>
      <p:sp>
        <p:nvSpPr>
          <p:cNvPr id="20" name="Connector">
            <a:extLst>
              <a:ext uri="{C183D7F6-B498-43B3-948B-1728B52AA6E4}">
                <adec:decorative xmlns:adec="http://schemas.microsoft.com/office/drawing/2017/decorative" val="1"/>
              </a:ext>
            </a:extLst>
          </p:cNvPr>
          <p:cNvSpPr/>
          <p:nvPr/>
        </p:nvSpPr>
        <p:spPr>
          <a:xfrm>
            <a:off x="4572000" y="2377440"/>
            <a:ext cx="0" cy="137160"/>
          </a:xfrm>
          <a:prstGeom prst="line">
            <a:avLst/>
          </a:prstGeom>
          <a:noFill/>
          <a:ln w="12700">
            <a:solidFill>
              <a:srgbClr val="3730A3"/>
            </a:solidFill>
            <a:prstDash val="solid"/>
            <a:tailEnd type="triangle" w="med" len="med"/>
          </a:ln>
        </p:spPr>
        <p:txBody>
          <a:bodyPr/>
          <a:lstStyle/>
          <a:p>
            <a:endParaRPr lang="en-US"/>
          </a:p>
        </p:txBody>
      </p:sp>
      <p:sp>
        <p:nvSpPr>
          <p:cNvPr id="21" name="Card frame">
            <a:extLst>
              <a:ext uri="{C183D7F6-B498-43B3-948B-1728B52AA6E4}">
                <adec:decorative xmlns:adec="http://schemas.microsoft.com/office/drawing/2017/decorative" val="1"/>
              </a:ext>
            </a:extLst>
          </p:cNvPr>
          <p:cNvSpPr/>
          <p:nvPr/>
        </p:nvSpPr>
        <p:spPr>
          <a:xfrm>
            <a:off x="3383280" y="251460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2" name="Text"/>
          <p:cNvSpPr/>
          <p:nvPr/>
        </p:nvSpPr>
        <p:spPr>
          <a:xfrm>
            <a:off x="3497580" y="251460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Projectors</a:t>
            </a:r>
            <a:endParaRPr lang="en-US" sz="1100"/>
          </a:p>
        </p:txBody>
      </p:sp>
      <p:sp>
        <p:nvSpPr>
          <p:cNvPr id="23" name="Connector">
            <a:extLst>
              <a:ext uri="{C183D7F6-B498-43B3-948B-1728B52AA6E4}">
                <adec:decorative xmlns:adec="http://schemas.microsoft.com/office/drawing/2017/decorative" val="1"/>
              </a:ext>
            </a:extLst>
          </p:cNvPr>
          <p:cNvSpPr/>
          <p:nvPr/>
        </p:nvSpPr>
        <p:spPr>
          <a:xfrm>
            <a:off x="4572000" y="3017520"/>
            <a:ext cx="0" cy="137160"/>
          </a:xfrm>
          <a:prstGeom prst="line">
            <a:avLst/>
          </a:prstGeom>
          <a:noFill/>
          <a:ln w="12700">
            <a:solidFill>
              <a:srgbClr val="3730A3"/>
            </a:solidFill>
            <a:prstDash val="solid"/>
            <a:tailEnd type="triangle" w="med" len="med"/>
          </a:ln>
        </p:spPr>
        <p:txBody>
          <a:bodyPr/>
          <a:lstStyle/>
          <a:p>
            <a:endParaRPr lang="en-US"/>
          </a:p>
        </p:txBody>
      </p:sp>
      <p:sp>
        <p:nvSpPr>
          <p:cNvPr id="24" name="Card frame">
            <a:extLst>
              <a:ext uri="{C183D7F6-B498-43B3-948B-1728B52AA6E4}">
                <adec:decorative xmlns:adec="http://schemas.microsoft.com/office/drawing/2017/decorative" val="1"/>
              </a:ext>
            </a:extLst>
          </p:cNvPr>
          <p:cNvSpPr/>
          <p:nvPr/>
        </p:nvSpPr>
        <p:spPr>
          <a:xfrm>
            <a:off x="3383280" y="315468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5" name="Text"/>
          <p:cNvSpPr/>
          <p:nvPr/>
        </p:nvSpPr>
        <p:spPr>
          <a:xfrm>
            <a:off x="3497580" y="315468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Hermitian observables</a:t>
            </a:r>
            <a:endParaRPr lang="en-US" sz="1100"/>
          </a:p>
        </p:txBody>
      </p:sp>
      <p:sp>
        <p:nvSpPr>
          <p:cNvPr id="26" name="Text"/>
          <p:cNvSpPr/>
          <p:nvPr/>
        </p:nvSpPr>
        <p:spPr>
          <a:xfrm>
            <a:off x="5760720" y="2377440"/>
            <a:ext cx="228600" cy="320040"/>
          </a:xfrm>
          <a:prstGeom prst="rect">
            <a:avLst/>
          </a:prstGeom>
          <a:noFill/>
          <a:ln/>
        </p:spPr>
        <p:txBody>
          <a:bodyPr wrap="square" lIns="0" tIns="0" rIns="0" bIns="0" rtlCol="0" anchor="ctr">
            <a:normAutofit/>
          </a:bodyPr>
          <a:lstStyle/>
          <a:p>
            <a:pPr marL="0" indent="0" algn="ctr">
              <a:buNone/>
            </a:pPr>
            <a:r>
              <a:rPr lang="en-US" sz="1200" b="1" i="0">
                <a:solidFill>
                  <a:srgbClr val="6B7280"/>
                </a:solidFill>
                <a:latin typeface="Georgia" pitchFamily="34" charset="0"/>
                <a:ea typeface="Georgia" pitchFamily="34" charset="-122"/>
                <a:cs typeface="Georgia" pitchFamily="34" charset="-120"/>
              </a:rPr>
              <a:t>→</a:t>
            </a:r>
            <a:endParaRPr lang="en-US" sz="1200"/>
          </a:p>
        </p:txBody>
      </p:sp>
      <p:sp>
        <p:nvSpPr>
          <p:cNvPr id="27" name="Card frame">
            <a:extLst>
              <a:ext uri="{C183D7F6-B498-43B3-948B-1728B52AA6E4}">
                <adec:decorative xmlns:adec="http://schemas.microsoft.com/office/drawing/2017/decorative" val="1"/>
              </a:ext>
            </a:extLst>
          </p:cNvPr>
          <p:cNvSpPr/>
          <p:nvPr/>
        </p:nvSpPr>
        <p:spPr>
          <a:xfrm>
            <a:off x="5989320" y="123444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8" name="Text"/>
          <p:cNvSpPr/>
          <p:nvPr/>
        </p:nvSpPr>
        <p:spPr>
          <a:xfrm>
            <a:off x="6103620" y="123444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Tensor-product operators</a:t>
            </a:r>
            <a:endParaRPr lang="en-US" sz="1100"/>
          </a:p>
        </p:txBody>
      </p:sp>
      <p:sp>
        <p:nvSpPr>
          <p:cNvPr id="29" name="Connector">
            <a:extLst>
              <a:ext uri="{C183D7F6-B498-43B3-948B-1728B52AA6E4}">
                <adec:decorative xmlns:adec="http://schemas.microsoft.com/office/drawing/2017/decorative" val="1"/>
              </a:ext>
            </a:extLst>
          </p:cNvPr>
          <p:cNvSpPr/>
          <p:nvPr/>
        </p:nvSpPr>
        <p:spPr>
          <a:xfrm>
            <a:off x="7178040" y="1737360"/>
            <a:ext cx="0" cy="137160"/>
          </a:xfrm>
          <a:prstGeom prst="line">
            <a:avLst/>
          </a:prstGeom>
          <a:noFill/>
          <a:ln w="12700">
            <a:solidFill>
              <a:srgbClr val="3730A3"/>
            </a:solidFill>
            <a:prstDash val="solid"/>
            <a:tailEnd type="triangle" w="med" len="med"/>
          </a:ln>
        </p:spPr>
        <p:txBody>
          <a:bodyPr/>
          <a:lstStyle/>
          <a:p>
            <a:endParaRPr lang="en-US"/>
          </a:p>
        </p:txBody>
      </p:sp>
      <p:sp>
        <p:nvSpPr>
          <p:cNvPr id="30" name="Card frame">
            <a:extLst>
              <a:ext uri="{C183D7F6-B498-43B3-948B-1728B52AA6E4}">
                <adec:decorative xmlns:adec="http://schemas.microsoft.com/office/drawing/2017/decorative" val="1"/>
              </a:ext>
            </a:extLst>
          </p:cNvPr>
          <p:cNvSpPr/>
          <p:nvPr/>
        </p:nvSpPr>
        <p:spPr>
          <a:xfrm>
            <a:off x="5989320" y="187452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31" name="Text"/>
          <p:cNvSpPr/>
          <p:nvPr/>
        </p:nvSpPr>
        <p:spPr>
          <a:xfrm>
            <a:off x="6103620" y="187452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Q-sphere</a:t>
            </a:r>
            <a:endParaRPr lang="en-US" sz="1100"/>
          </a:p>
        </p:txBody>
      </p:sp>
      <p:sp>
        <p:nvSpPr>
          <p:cNvPr id="32" name="Connector">
            <a:extLst>
              <a:ext uri="{C183D7F6-B498-43B3-948B-1728B52AA6E4}">
                <adec:decorative xmlns:adec="http://schemas.microsoft.com/office/drawing/2017/decorative" val="1"/>
              </a:ext>
            </a:extLst>
          </p:cNvPr>
          <p:cNvSpPr/>
          <p:nvPr/>
        </p:nvSpPr>
        <p:spPr>
          <a:xfrm>
            <a:off x="7178040" y="2377440"/>
            <a:ext cx="0" cy="137160"/>
          </a:xfrm>
          <a:prstGeom prst="line">
            <a:avLst/>
          </a:prstGeom>
          <a:noFill/>
          <a:ln w="12700">
            <a:solidFill>
              <a:srgbClr val="3730A3"/>
            </a:solidFill>
            <a:prstDash val="solid"/>
            <a:tailEnd type="triangle" w="med" len="med"/>
          </a:ln>
        </p:spPr>
        <p:txBody>
          <a:bodyPr/>
          <a:lstStyle/>
          <a:p>
            <a:endParaRPr lang="en-US"/>
          </a:p>
        </p:txBody>
      </p:sp>
      <p:sp>
        <p:nvSpPr>
          <p:cNvPr id="33" name="Card frame">
            <a:extLst>
              <a:ext uri="{C183D7F6-B498-43B3-948B-1728B52AA6E4}">
                <adec:decorative xmlns:adec="http://schemas.microsoft.com/office/drawing/2017/decorative" val="1"/>
              </a:ext>
            </a:extLst>
          </p:cNvPr>
          <p:cNvSpPr/>
          <p:nvPr/>
        </p:nvSpPr>
        <p:spPr>
          <a:xfrm>
            <a:off x="5989320" y="2514600"/>
            <a:ext cx="237744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34" name="Text"/>
          <p:cNvSpPr/>
          <p:nvPr/>
        </p:nvSpPr>
        <p:spPr>
          <a:xfrm>
            <a:off x="6103620" y="251460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3730A3"/>
                </a:solidFill>
                <a:latin typeface="Georgia" pitchFamily="34" charset="0"/>
                <a:ea typeface="Georgia" pitchFamily="34" charset="-122"/>
                <a:cs typeface="Georgia" pitchFamily="34" charset="-120"/>
              </a:rPr>
              <a:t>Bell theorem</a:t>
            </a:r>
            <a:endParaRPr lang="en-US" sz="1100"/>
          </a:p>
        </p:txBody>
      </p:sp>
      <p:sp>
        <p:nvSpPr>
          <p:cNvPr id="35" name="Connector">
            <a:extLst>
              <a:ext uri="{C183D7F6-B498-43B3-948B-1728B52AA6E4}">
                <adec:decorative xmlns:adec="http://schemas.microsoft.com/office/drawing/2017/decorative" val="1"/>
              </a:ext>
            </a:extLst>
          </p:cNvPr>
          <p:cNvSpPr/>
          <p:nvPr/>
        </p:nvSpPr>
        <p:spPr>
          <a:xfrm>
            <a:off x="7178040" y="3017520"/>
            <a:ext cx="0" cy="137160"/>
          </a:xfrm>
          <a:prstGeom prst="line">
            <a:avLst/>
          </a:prstGeom>
          <a:noFill/>
          <a:ln w="12700">
            <a:solidFill>
              <a:srgbClr val="3730A3"/>
            </a:solidFill>
            <a:prstDash val="solid"/>
            <a:tailEnd type="triangle" w="med" len="med"/>
          </a:ln>
        </p:spPr>
        <p:txBody>
          <a:bodyPr/>
          <a:lstStyle/>
          <a:p>
            <a:endParaRPr lang="en-US"/>
          </a:p>
        </p:txBody>
      </p:sp>
      <p:sp>
        <p:nvSpPr>
          <p:cNvPr id="36" name="Card frame">
            <a:extLst>
              <a:ext uri="{C183D7F6-B498-43B3-948B-1728B52AA6E4}">
                <adec:decorative xmlns:adec="http://schemas.microsoft.com/office/drawing/2017/decorative" val="1"/>
              </a:ext>
            </a:extLst>
          </p:cNvPr>
          <p:cNvSpPr/>
          <p:nvPr/>
        </p:nvSpPr>
        <p:spPr>
          <a:xfrm>
            <a:off x="5989320" y="3154680"/>
            <a:ext cx="2377440" cy="502920"/>
          </a:xfrm>
          <a:prstGeom prst="roundRect">
            <a:avLst>
              <a:gd name="adj" fmla="val 5000"/>
            </a:avLst>
          </a:prstGeom>
          <a:solidFill>
            <a:srgbClr val="FFFFFF"/>
          </a:solidFill>
          <a:ln w="17780">
            <a:solidFill>
              <a:srgbClr val="0F766E"/>
            </a:solidFill>
            <a:prstDash val="solid"/>
          </a:ln>
        </p:spPr>
        <p:txBody>
          <a:bodyPr/>
          <a:lstStyle/>
          <a:p>
            <a:endParaRPr lang="en-US"/>
          </a:p>
        </p:txBody>
      </p:sp>
      <p:sp>
        <p:nvSpPr>
          <p:cNvPr id="37" name="Text"/>
          <p:cNvSpPr/>
          <p:nvPr/>
        </p:nvSpPr>
        <p:spPr>
          <a:xfrm>
            <a:off x="6103620" y="3154680"/>
            <a:ext cx="2148840" cy="502920"/>
          </a:xfrm>
          <a:prstGeom prst="rect">
            <a:avLst/>
          </a:prstGeom>
          <a:noFill/>
          <a:ln/>
        </p:spPr>
        <p:txBody>
          <a:bodyPr wrap="square" lIns="0" tIns="0" rIns="0" bIns="0" rtlCol="0" anchor="ctr">
            <a:normAutofit/>
          </a:bodyPr>
          <a:lstStyle/>
          <a:p>
            <a:pPr marL="0" indent="0" algn="ctr">
              <a:buNone/>
            </a:pPr>
            <a:r>
              <a:rPr lang="en-US" sz="1100" b="1" i="0">
                <a:solidFill>
                  <a:srgbClr val="0F766E"/>
                </a:solidFill>
                <a:latin typeface="Georgia" pitchFamily="34" charset="0"/>
                <a:ea typeface="Georgia" pitchFamily="34" charset="-122"/>
                <a:cs typeface="Georgia" pitchFamily="34" charset="-120"/>
              </a:rPr>
              <a:t>Ekert QKD</a:t>
            </a:r>
            <a:endParaRPr lang="en-US" sz="1100"/>
          </a:p>
        </p:txBody>
      </p:sp>
      <p:sp>
        <p:nvSpPr>
          <p:cNvPr id="38"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One connected chain: structure, then states, then measurement, then the physics it enables.</a:t>
            </a:r>
            <a:endParaRPr lang="en-US" sz="125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Formula sheet</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18872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960120" y="118872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dim(V ⊗ W)  =  dim(V) · dim(W)</a:t>
            </a:r>
            <a:endParaRPr lang="en-US" sz="1150"/>
          </a:p>
        </p:txBody>
      </p:sp>
      <p:sp>
        <p:nvSpPr>
          <p:cNvPr id="5" name="Card frame">
            <a:extLst>
              <a:ext uri="{C183D7F6-B498-43B3-948B-1728B52AA6E4}">
                <adec:decorative xmlns:adec="http://schemas.microsoft.com/office/drawing/2017/decorative" val="1"/>
              </a:ext>
            </a:extLst>
          </p:cNvPr>
          <p:cNvSpPr/>
          <p:nvPr/>
        </p:nvSpPr>
        <p:spPr>
          <a:xfrm>
            <a:off x="777240" y="169164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6" name="Text"/>
          <p:cNvSpPr/>
          <p:nvPr/>
        </p:nvSpPr>
        <p:spPr>
          <a:xfrm>
            <a:off x="960120" y="169164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dim(Hₙ)  =  2ⁿ</a:t>
            </a:r>
            <a:endParaRPr lang="en-US" sz="1150"/>
          </a:p>
        </p:txBody>
      </p:sp>
      <p:sp>
        <p:nvSpPr>
          <p:cNvPr id="7" name="Card frame">
            <a:extLst>
              <a:ext uri="{C183D7F6-B498-43B3-948B-1728B52AA6E4}">
                <adec:decorative xmlns:adec="http://schemas.microsoft.com/office/drawing/2017/decorative" val="1"/>
              </a:ext>
            </a:extLst>
          </p:cNvPr>
          <p:cNvSpPr/>
          <p:nvPr/>
        </p:nvSpPr>
        <p:spPr>
          <a:xfrm>
            <a:off x="777240" y="219456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8" name="Text"/>
          <p:cNvSpPr/>
          <p:nvPr/>
        </p:nvSpPr>
        <p:spPr>
          <a:xfrm>
            <a:off x="960120" y="219456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|ψ⟩ = Σᵢ aᵢ |i⟩</a:t>
            </a:r>
            <a:endParaRPr lang="en-US" sz="1150"/>
          </a:p>
        </p:txBody>
      </p:sp>
      <p:sp>
        <p:nvSpPr>
          <p:cNvPr id="9" name="Card frame">
            <a:extLst>
              <a:ext uri="{C183D7F6-B498-43B3-948B-1728B52AA6E4}">
                <adec:decorative xmlns:adec="http://schemas.microsoft.com/office/drawing/2017/decorative" val="1"/>
              </a:ext>
            </a:extLst>
          </p:cNvPr>
          <p:cNvSpPr/>
          <p:nvPr/>
        </p:nvSpPr>
        <p:spPr>
          <a:xfrm>
            <a:off x="777240" y="269748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0" name="Text"/>
          <p:cNvSpPr/>
          <p:nvPr/>
        </p:nvSpPr>
        <p:spPr>
          <a:xfrm>
            <a:off x="960120" y="269748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Σᵢ |aᵢ|² = 1</a:t>
            </a:r>
            <a:endParaRPr lang="en-US" sz="1150"/>
          </a:p>
        </p:txBody>
      </p:sp>
      <p:sp>
        <p:nvSpPr>
          <p:cNvPr id="11" name="Card frame">
            <a:extLst>
              <a:ext uri="{C183D7F6-B498-43B3-948B-1728B52AA6E4}">
                <adec:decorative xmlns:adec="http://schemas.microsoft.com/office/drawing/2017/decorative" val="1"/>
              </a:ext>
            </a:extLst>
          </p:cNvPr>
          <p:cNvSpPr/>
          <p:nvPr/>
        </p:nvSpPr>
        <p:spPr>
          <a:xfrm>
            <a:off x="777240" y="320040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2" name="Text"/>
          <p:cNvSpPr/>
          <p:nvPr/>
        </p:nvSpPr>
        <p:spPr>
          <a:xfrm>
            <a:off x="960120" y="320040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P(i) = ⟨ψ| Pᵢ |ψ⟩</a:t>
            </a:r>
            <a:endParaRPr lang="en-US" sz="1150"/>
          </a:p>
        </p:txBody>
      </p:sp>
      <p:sp>
        <p:nvSpPr>
          <p:cNvPr id="13" name="Card frame">
            <a:extLst>
              <a:ext uri="{C183D7F6-B498-43B3-948B-1728B52AA6E4}">
                <adec:decorative xmlns:adec="http://schemas.microsoft.com/office/drawing/2017/decorative" val="1"/>
              </a:ext>
            </a:extLst>
          </p:cNvPr>
          <p:cNvSpPr/>
          <p:nvPr/>
        </p:nvSpPr>
        <p:spPr>
          <a:xfrm>
            <a:off x="777240" y="370332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4" name="Text"/>
          <p:cNvSpPr/>
          <p:nvPr/>
        </p:nvSpPr>
        <p:spPr>
          <a:xfrm>
            <a:off x="960120" y="370332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P² = P    P† = P</a:t>
            </a:r>
            <a:endParaRPr lang="en-US" sz="1150"/>
          </a:p>
        </p:txBody>
      </p:sp>
      <p:sp>
        <p:nvSpPr>
          <p:cNvPr id="15" name="Card frame">
            <a:extLst>
              <a:ext uri="{C183D7F6-B498-43B3-948B-1728B52AA6E4}">
                <adec:decorative xmlns:adec="http://schemas.microsoft.com/office/drawing/2017/decorative" val="1"/>
              </a:ext>
            </a:extLst>
          </p:cNvPr>
          <p:cNvSpPr/>
          <p:nvPr/>
        </p:nvSpPr>
        <p:spPr>
          <a:xfrm>
            <a:off x="4709160" y="118872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6" name="Text"/>
          <p:cNvSpPr/>
          <p:nvPr/>
        </p:nvSpPr>
        <p:spPr>
          <a:xfrm>
            <a:off x="4892040" y="118872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O = Σᵢ λᵢ Pᵢ</a:t>
            </a:r>
            <a:endParaRPr lang="en-US" sz="1150"/>
          </a:p>
        </p:txBody>
      </p:sp>
      <p:sp>
        <p:nvSpPr>
          <p:cNvPr id="17" name="Card frame">
            <a:extLst>
              <a:ext uri="{C183D7F6-B498-43B3-948B-1728B52AA6E4}">
                <adec:decorative xmlns:adec="http://schemas.microsoft.com/office/drawing/2017/decorative" val="1"/>
              </a:ext>
            </a:extLst>
          </p:cNvPr>
          <p:cNvSpPr/>
          <p:nvPr/>
        </p:nvSpPr>
        <p:spPr>
          <a:xfrm>
            <a:off x="4709160" y="169164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8" name="Text"/>
          <p:cNvSpPr/>
          <p:nvPr/>
        </p:nvSpPr>
        <p:spPr>
          <a:xfrm>
            <a:off x="4892040" y="169164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(A⊗B)(|v⟩⊗|w⟩) = (A|v⟩)⊗(B|w⟩)</a:t>
            </a:r>
            <a:endParaRPr lang="en-US" sz="1150"/>
          </a:p>
        </p:txBody>
      </p:sp>
      <p:sp>
        <p:nvSpPr>
          <p:cNvPr id="19" name="Card frame">
            <a:extLst>
              <a:ext uri="{C183D7F6-B498-43B3-948B-1728B52AA6E4}">
                <adec:decorative xmlns:adec="http://schemas.microsoft.com/office/drawing/2017/decorative" val="1"/>
              </a:ext>
            </a:extLst>
          </p:cNvPr>
          <p:cNvSpPr/>
          <p:nvPr/>
        </p:nvSpPr>
        <p:spPr>
          <a:xfrm>
            <a:off x="4709160" y="219456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0" name="Text"/>
          <p:cNvSpPr/>
          <p:nvPr/>
        </p:nvSpPr>
        <p:spPr>
          <a:xfrm>
            <a:off x="4892040" y="219456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P(same) = cos²θ</a:t>
            </a:r>
            <a:endParaRPr lang="en-US" sz="1150"/>
          </a:p>
        </p:txBody>
      </p:sp>
      <p:sp>
        <p:nvSpPr>
          <p:cNvPr id="21" name="Card frame">
            <a:extLst>
              <a:ext uri="{C183D7F6-B498-43B3-948B-1728B52AA6E4}">
                <adec:decorative xmlns:adec="http://schemas.microsoft.com/office/drawing/2017/decorative" val="1"/>
              </a:ext>
            </a:extLst>
          </p:cNvPr>
          <p:cNvSpPr/>
          <p:nvPr/>
        </p:nvSpPr>
        <p:spPr>
          <a:xfrm>
            <a:off x="4709160" y="269748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2" name="Text"/>
          <p:cNvSpPr/>
          <p:nvPr/>
        </p:nvSpPr>
        <p:spPr>
          <a:xfrm>
            <a:off x="4892040" y="269748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Pab + Pac + Pbc ≥ 1</a:t>
            </a:r>
            <a:endParaRPr lang="en-US" sz="1150"/>
          </a:p>
        </p:txBody>
      </p:sp>
      <p:sp>
        <p:nvSpPr>
          <p:cNvPr id="23" name="Card frame">
            <a:extLst>
              <a:ext uri="{C183D7F6-B498-43B3-948B-1728B52AA6E4}">
                <adec:decorative xmlns:adec="http://schemas.microsoft.com/office/drawing/2017/decorative" val="1"/>
              </a:ext>
            </a:extLst>
          </p:cNvPr>
          <p:cNvSpPr/>
          <p:nvPr/>
        </p:nvSpPr>
        <p:spPr>
          <a:xfrm>
            <a:off x="4709160" y="3200400"/>
            <a:ext cx="3657600" cy="45720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24" name="Text"/>
          <p:cNvSpPr/>
          <p:nvPr/>
        </p:nvSpPr>
        <p:spPr>
          <a:xfrm>
            <a:off x="4892040" y="3200400"/>
            <a:ext cx="3291840" cy="457200"/>
          </a:xfrm>
          <a:prstGeom prst="rect">
            <a:avLst/>
          </a:prstGeom>
          <a:noFill/>
          <a:ln/>
        </p:spPr>
        <p:txBody>
          <a:bodyPr wrap="square" lIns="0" tIns="0" rIns="0" bIns="0" rtlCol="0" anchor="ctr">
            <a:normAutofit/>
          </a:bodyPr>
          <a:lstStyle/>
          <a:p>
            <a:pPr marL="0" indent="0" algn="l">
              <a:buNone/>
            </a:pPr>
            <a:r>
              <a:rPr lang="en-US" sz="1150" b="1" i="0">
                <a:solidFill>
                  <a:srgbClr val="3730A3"/>
                </a:solidFill>
                <a:latin typeface="Georgia" pitchFamily="34" charset="0"/>
                <a:ea typeface="Georgia" pitchFamily="34" charset="-122"/>
                <a:cs typeface="Georgia" pitchFamily="34" charset="-120"/>
              </a:rPr>
              <a:t>3 cos²(60°) = 3/4 &lt; 1</a:t>
            </a:r>
            <a:endParaRPr lang="en-US" sz="1150"/>
          </a:p>
        </p:txBody>
      </p:sp>
      <p:sp>
        <p:nvSpPr>
          <p:cNvPr id="25"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Everything in this subunit condensed to eleven expressions.</a:t>
            </a:r>
            <a:endParaRPr lang="en-US" sz="125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Team challenge</a:t>
            </a:r>
            <a:endParaRPr lang="en-US" sz="2500"/>
          </a:p>
        </p:txBody>
      </p:sp>
      <p:sp>
        <p:nvSpPr>
          <p:cNvPr id="3" name="Card frame">
            <a:extLst>
              <a:ext uri="{C183D7F6-B498-43B3-948B-1728B52AA6E4}">
                <adec:decorative xmlns:adec="http://schemas.microsoft.com/office/drawing/2017/decorative" val="1"/>
              </a:ext>
            </a:extLst>
          </p:cNvPr>
          <p:cNvSpPr/>
          <p:nvPr/>
        </p:nvSpPr>
        <p:spPr>
          <a:xfrm>
            <a:off x="5067572" y="489857"/>
            <a:ext cx="1737360" cy="457200"/>
          </a:xfrm>
          <a:prstGeom prst="roundRect">
            <a:avLst>
              <a:gd name="adj" fmla="val 5000"/>
            </a:avLst>
          </a:prstGeom>
          <a:solidFill>
            <a:srgbClr val="FFFFFF"/>
          </a:solidFill>
          <a:ln w="17780">
            <a:solidFill>
              <a:srgbClr val="C0392B"/>
            </a:solidFill>
            <a:prstDash val="solid"/>
          </a:ln>
        </p:spPr>
        <p:txBody>
          <a:bodyPr/>
          <a:lstStyle/>
          <a:p>
            <a:endParaRPr lang="en-US"/>
          </a:p>
        </p:txBody>
      </p:sp>
      <p:sp>
        <p:nvSpPr>
          <p:cNvPr id="4" name="Text"/>
          <p:cNvSpPr/>
          <p:nvPr/>
        </p:nvSpPr>
        <p:spPr>
          <a:xfrm>
            <a:off x="5105944" y="489857"/>
            <a:ext cx="1737360" cy="457200"/>
          </a:xfrm>
          <a:prstGeom prst="rect">
            <a:avLst/>
          </a:prstGeom>
          <a:noFill/>
          <a:ln/>
        </p:spPr>
        <p:txBody>
          <a:bodyPr wrap="square" lIns="0" tIns="0" rIns="0" bIns="0" rtlCol="0" anchor="ctr">
            <a:normAutofit/>
          </a:bodyPr>
          <a:lstStyle/>
          <a:p>
            <a:pPr marL="0" indent="0" algn="ctr">
              <a:buNone/>
            </a:pPr>
            <a:r>
              <a:rPr lang="en-US" sz="1200" b="1" i="0" dirty="0">
                <a:solidFill>
                  <a:srgbClr val="C0392B"/>
                </a:solidFill>
                <a:latin typeface="Georgia" pitchFamily="34" charset="0"/>
                <a:ea typeface="Georgia" pitchFamily="34" charset="-122"/>
                <a:cs typeface="Georgia" pitchFamily="34" charset="-120"/>
              </a:rPr>
              <a:t>10 minutes</a:t>
            </a:r>
            <a:endParaRPr lang="en-US" sz="1200" dirty="0"/>
          </a:p>
        </p:txBody>
      </p:sp>
      <p:sp>
        <p:nvSpPr>
          <p:cNvPr id="5" name="Card frame">
            <a:extLst>
              <a:ext uri="{C183D7F6-B498-43B3-948B-1728B52AA6E4}">
                <adec:decorative xmlns:adec="http://schemas.microsoft.com/office/drawing/2017/decorative" val="1"/>
              </a:ext>
            </a:extLst>
          </p:cNvPr>
          <p:cNvSpPr/>
          <p:nvPr/>
        </p:nvSpPr>
        <p:spPr>
          <a:xfrm>
            <a:off x="777240" y="1188720"/>
            <a:ext cx="75895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6" name="Text"/>
          <p:cNvSpPr/>
          <p:nvPr/>
        </p:nvSpPr>
        <p:spPr>
          <a:xfrm>
            <a:off x="960120" y="1188720"/>
            <a:ext cx="7223760" cy="594360"/>
          </a:xfrm>
          <a:prstGeom prst="rect">
            <a:avLst/>
          </a:prstGeom>
          <a:noFill/>
          <a:ln/>
        </p:spPr>
        <p:txBody>
          <a:bodyPr wrap="square" lIns="0" tIns="0" rIns="0" bIns="0" rtlCol="0" anchor="ctr">
            <a:normAutofit/>
          </a:bodyPr>
          <a:lstStyle/>
          <a:p>
            <a:pPr marL="0" indent="0" algn="ctr">
              <a:buNone/>
            </a:pPr>
            <a:r>
              <a:rPr lang="en-US" sz="1600" b="1" i="0">
                <a:solidFill>
                  <a:srgbClr val="3730A3"/>
                </a:solidFill>
                <a:latin typeface="Georgia" pitchFamily="34" charset="0"/>
                <a:ea typeface="Georgia" pitchFamily="34" charset="-122"/>
                <a:cs typeface="Georgia" pitchFamily="34" charset="-120"/>
              </a:rPr>
              <a:t>|ψ⟩  =  (1/√3) ( |00⟩ + |01⟩ + |10⟩ )</a:t>
            </a:r>
            <a:endParaRPr lang="en-US" sz="1600"/>
          </a:p>
        </p:txBody>
      </p:sp>
      <p:sp>
        <p:nvSpPr>
          <p:cNvPr id="7" name="Text"/>
          <p:cNvSpPr/>
          <p:nvPr/>
        </p:nvSpPr>
        <p:spPr>
          <a:xfrm>
            <a:off x="1005840" y="1965960"/>
            <a:ext cx="320040" cy="411480"/>
          </a:xfrm>
          <a:prstGeom prst="rect">
            <a:avLst/>
          </a:prstGeom>
          <a:noFill/>
          <a:ln/>
        </p:spPr>
        <p:txBody>
          <a:bodyPr wrap="square" lIns="0" tIns="0" rIns="0" bIns="0" rtlCol="0" anchor="ctr">
            <a:normAutofit/>
          </a:bodyPr>
          <a:lstStyle/>
          <a:p>
            <a:pPr marL="0" indent="0" algn="ctr">
              <a:buNone/>
            </a:pPr>
            <a:r>
              <a:rPr lang="en-US" sz="1250" b="1" i="0">
                <a:solidFill>
                  <a:srgbClr val="3730A3"/>
                </a:solidFill>
                <a:latin typeface="Georgia" pitchFamily="34" charset="0"/>
                <a:ea typeface="Georgia" pitchFamily="34" charset="-122"/>
                <a:cs typeface="Georgia" pitchFamily="34" charset="-120"/>
              </a:rPr>
              <a:t>1</a:t>
            </a:r>
            <a:endParaRPr lang="en-US" sz="1250"/>
          </a:p>
        </p:txBody>
      </p:sp>
      <p:sp>
        <p:nvSpPr>
          <p:cNvPr id="8" name="Text"/>
          <p:cNvSpPr/>
          <p:nvPr/>
        </p:nvSpPr>
        <p:spPr>
          <a:xfrm>
            <a:off x="1417320" y="1965960"/>
            <a:ext cx="6858000" cy="41148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Is the state normalized?</a:t>
            </a:r>
            <a:endParaRPr lang="en-US" sz="1250"/>
          </a:p>
        </p:txBody>
      </p:sp>
      <p:sp>
        <p:nvSpPr>
          <p:cNvPr id="9" name="Text"/>
          <p:cNvSpPr/>
          <p:nvPr/>
        </p:nvSpPr>
        <p:spPr>
          <a:xfrm>
            <a:off x="1005840" y="2423160"/>
            <a:ext cx="320040" cy="411480"/>
          </a:xfrm>
          <a:prstGeom prst="rect">
            <a:avLst/>
          </a:prstGeom>
          <a:noFill/>
          <a:ln/>
        </p:spPr>
        <p:txBody>
          <a:bodyPr wrap="square" lIns="0" tIns="0" rIns="0" bIns="0" rtlCol="0" anchor="ctr">
            <a:normAutofit/>
          </a:bodyPr>
          <a:lstStyle/>
          <a:p>
            <a:pPr marL="0" indent="0" algn="ctr">
              <a:buNone/>
            </a:pPr>
            <a:r>
              <a:rPr lang="en-US" sz="1250" b="1" i="0">
                <a:solidFill>
                  <a:srgbClr val="3730A3"/>
                </a:solidFill>
                <a:latin typeface="Georgia" pitchFamily="34" charset="0"/>
                <a:ea typeface="Georgia" pitchFamily="34" charset="-122"/>
                <a:cs typeface="Georgia" pitchFamily="34" charset="-120"/>
              </a:rPr>
              <a:t>2</a:t>
            </a:r>
            <a:endParaRPr lang="en-US" sz="1250"/>
          </a:p>
        </p:txBody>
      </p:sp>
      <p:sp>
        <p:nvSpPr>
          <p:cNvPr id="10" name="Text"/>
          <p:cNvSpPr/>
          <p:nvPr/>
        </p:nvSpPr>
        <p:spPr>
          <a:xfrm>
            <a:off x="1417320" y="2423160"/>
            <a:ext cx="6858000" cy="41148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What is P(00)?</a:t>
            </a:r>
            <a:endParaRPr lang="en-US" sz="1250"/>
          </a:p>
        </p:txBody>
      </p:sp>
      <p:sp>
        <p:nvSpPr>
          <p:cNvPr id="11" name="Text"/>
          <p:cNvSpPr/>
          <p:nvPr/>
        </p:nvSpPr>
        <p:spPr>
          <a:xfrm>
            <a:off x="1005840" y="2880360"/>
            <a:ext cx="320040" cy="411480"/>
          </a:xfrm>
          <a:prstGeom prst="rect">
            <a:avLst/>
          </a:prstGeom>
          <a:noFill/>
          <a:ln/>
        </p:spPr>
        <p:txBody>
          <a:bodyPr wrap="square" lIns="0" tIns="0" rIns="0" bIns="0" rtlCol="0" anchor="ctr">
            <a:normAutofit/>
          </a:bodyPr>
          <a:lstStyle/>
          <a:p>
            <a:pPr marL="0" indent="0" algn="ctr">
              <a:buNone/>
            </a:pPr>
            <a:r>
              <a:rPr lang="en-US" sz="1250" b="1" i="0">
                <a:solidFill>
                  <a:srgbClr val="3730A3"/>
                </a:solidFill>
                <a:latin typeface="Georgia" pitchFamily="34" charset="0"/>
                <a:ea typeface="Georgia" pitchFamily="34" charset="-122"/>
                <a:cs typeface="Georgia" pitchFamily="34" charset="-120"/>
              </a:rPr>
              <a:t>3</a:t>
            </a:r>
            <a:endParaRPr lang="en-US" sz="1250"/>
          </a:p>
        </p:txBody>
      </p:sp>
      <p:sp>
        <p:nvSpPr>
          <p:cNvPr id="12" name="Text"/>
          <p:cNvSpPr/>
          <p:nvPr/>
        </p:nvSpPr>
        <p:spPr>
          <a:xfrm>
            <a:off x="1417320" y="2880360"/>
            <a:ext cx="6858000" cy="41148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Write the projector onto |00⟩.</a:t>
            </a:r>
            <a:endParaRPr lang="en-US" sz="1250"/>
          </a:p>
        </p:txBody>
      </p:sp>
      <p:sp>
        <p:nvSpPr>
          <p:cNvPr id="13" name="Text"/>
          <p:cNvSpPr/>
          <p:nvPr/>
        </p:nvSpPr>
        <p:spPr>
          <a:xfrm>
            <a:off x="1005840" y="3337560"/>
            <a:ext cx="320040" cy="411480"/>
          </a:xfrm>
          <a:prstGeom prst="rect">
            <a:avLst/>
          </a:prstGeom>
          <a:noFill/>
          <a:ln/>
        </p:spPr>
        <p:txBody>
          <a:bodyPr wrap="square" lIns="0" tIns="0" rIns="0" bIns="0" rtlCol="0" anchor="ctr">
            <a:normAutofit/>
          </a:bodyPr>
          <a:lstStyle/>
          <a:p>
            <a:pPr marL="0" indent="0" algn="ctr">
              <a:buNone/>
            </a:pPr>
            <a:r>
              <a:rPr lang="en-US" sz="1250" b="1" i="0">
                <a:solidFill>
                  <a:srgbClr val="3730A3"/>
                </a:solidFill>
                <a:latin typeface="Georgia" pitchFamily="34" charset="0"/>
                <a:ea typeface="Georgia" pitchFamily="34" charset="-122"/>
                <a:cs typeface="Georgia" pitchFamily="34" charset="-120"/>
              </a:rPr>
              <a:t>4</a:t>
            </a:r>
            <a:endParaRPr lang="en-US" sz="1250"/>
          </a:p>
        </p:txBody>
      </p:sp>
      <p:sp>
        <p:nvSpPr>
          <p:cNvPr id="14" name="Text"/>
          <p:cNvSpPr/>
          <p:nvPr/>
        </p:nvSpPr>
        <p:spPr>
          <a:xfrm>
            <a:off x="1417320" y="3337560"/>
            <a:ext cx="6858000" cy="41148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What is the probability that the two bits are equal?</a:t>
            </a:r>
            <a:endParaRPr lang="en-US" sz="1250"/>
          </a:p>
        </p:txBody>
      </p:sp>
      <p:sp>
        <p:nvSpPr>
          <p:cNvPr id="15" name="Text"/>
          <p:cNvSpPr/>
          <p:nvPr/>
        </p:nvSpPr>
        <p:spPr>
          <a:xfrm>
            <a:off x="1005840" y="3794760"/>
            <a:ext cx="320040" cy="411480"/>
          </a:xfrm>
          <a:prstGeom prst="rect">
            <a:avLst/>
          </a:prstGeom>
          <a:noFill/>
          <a:ln/>
        </p:spPr>
        <p:txBody>
          <a:bodyPr wrap="square" lIns="0" tIns="0" rIns="0" bIns="0" rtlCol="0" anchor="ctr">
            <a:normAutofit/>
          </a:bodyPr>
          <a:lstStyle/>
          <a:p>
            <a:pPr marL="0" indent="0" algn="ctr">
              <a:buNone/>
            </a:pPr>
            <a:r>
              <a:rPr lang="en-US" sz="1250" b="1" i="0">
                <a:solidFill>
                  <a:srgbClr val="3730A3"/>
                </a:solidFill>
                <a:latin typeface="Georgia" pitchFamily="34" charset="0"/>
                <a:ea typeface="Georgia" pitchFamily="34" charset="-122"/>
                <a:cs typeface="Georgia" pitchFamily="34" charset="-120"/>
              </a:rPr>
              <a:t>5</a:t>
            </a:r>
            <a:endParaRPr lang="en-US" sz="1250"/>
          </a:p>
        </p:txBody>
      </p:sp>
      <p:sp>
        <p:nvSpPr>
          <p:cNvPr id="16" name="Text"/>
          <p:cNvSpPr/>
          <p:nvPr/>
        </p:nvSpPr>
        <p:spPr>
          <a:xfrm>
            <a:off x="1417320" y="3794760"/>
            <a:ext cx="6858000" cy="41148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What happens under an equal / unequal measurement?</a:t>
            </a:r>
            <a:endParaRPr lang="en-US" sz="1250"/>
          </a:p>
        </p:txBody>
      </p:sp>
      <p:sp>
        <p:nvSpPr>
          <p:cNvPr id="17"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Work in groups, then compare answers before the class discussion.</a:t>
            </a:r>
            <a:endParaRPr lang="en-US" sz="125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Exit quiz</a:t>
            </a:r>
            <a:endParaRPr lang="en-US" sz="2500"/>
          </a:p>
        </p:txBody>
      </p:sp>
      <p:sp>
        <p:nvSpPr>
          <p:cNvPr id="3" name="Card frame">
            <a:extLst>
              <a:ext uri="{C183D7F6-B498-43B3-948B-1728B52AA6E4}">
                <adec:decorative xmlns:adec="http://schemas.microsoft.com/office/drawing/2017/decorative" val="1"/>
              </a:ext>
            </a:extLst>
          </p:cNvPr>
          <p:cNvSpPr/>
          <p:nvPr/>
        </p:nvSpPr>
        <p:spPr>
          <a:xfrm>
            <a:off x="1005840" y="1234440"/>
            <a:ext cx="713232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1188720" y="1234440"/>
            <a:ext cx="411480" cy="50292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1</a:t>
            </a:r>
            <a:endParaRPr lang="en-US" sz="1300"/>
          </a:p>
        </p:txBody>
      </p:sp>
      <p:sp>
        <p:nvSpPr>
          <p:cNvPr id="5" name="Text"/>
          <p:cNvSpPr/>
          <p:nvPr/>
        </p:nvSpPr>
        <p:spPr>
          <a:xfrm>
            <a:off x="1737360" y="1234440"/>
            <a:ext cx="6217920" cy="50292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Why is an n-qubit state 2ⁿ-dimensional?</a:t>
            </a:r>
            <a:endParaRPr lang="en-US" sz="1250"/>
          </a:p>
        </p:txBody>
      </p:sp>
      <p:sp>
        <p:nvSpPr>
          <p:cNvPr id="6" name="Card frame">
            <a:extLst>
              <a:ext uri="{C183D7F6-B498-43B3-948B-1728B52AA6E4}">
                <adec:decorative xmlns:adec="http://schemas.microsoft.com/office/drawing/2017/decorative" val="1"/>
              </a:ext>
            </a:extLst>
          </p:cNvPr>
          <p:cNvSpPr/>
          <p:nvPr/>
        </p:nvSpPr>
        <p:spPr>
          <a:xfrm>
            <a:off x="1005840" y="1828800"/>
            <a:ext cx="7132320" cy="5029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7" name="Text"/>
          <p:cNvSpPr/>
          <p:nvPr/>
        </p:nvSpPr>
        <p:spPr>
          <a:xfrm>
            <a:off x="1188720" y="1828800"/>
            <a:ext cx="411480" cy="50292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2</a:t>
            </a:r>
            <a:endParaRPr lang="en-US" sz="1300"/>
          </a:p>
        </p:txBody>
      </p:sp>
      <p:sp>
        <p:nvSpPr>
          <p:cNvPr id="8" name="Text"/>
          <p:cNvSpPr/>
          <p:nvPr/>
        </p:nvSpPr>
        <p:spPr>
          <a:xfrm>
            <a:off x="1737360" y="1828800"/>
            <a:ext cx="6217920" cy="50292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What distinguishes a separable state from an entangled state?</a:t>
            </a:r>
            <a:endParaRPr lang="en-US" sz="1250"/>
          </a:p>
        </p:txBody>
      </p:sp>
      <p:sp>
        <p:nvSpPr>
          <p:cNvPr id="9" name="Card frame">
            <a:extLst>
              <a:ext uri="{C183D7F6-B498-43B3-948B-1728B52AA6E4}">
                <adec:decorative xmlns:adec="http://schemas.microsoft.com/office/drawing/2017/decorative" val="1"/>
              </a:ext>
            </a:extLst>
          </p:cNvPr>
          <p:cNvSpPr/>
          <p:nvPr/>
        </p:nvSpPr>
        <p:spPr>
          <a:xfrm>
            <a:off x="1005840" y="2423160"/>
            <a:ext cx="713232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0" name="Text"/>
          <p:cNvSpPr/>
          <p:nvPr/>
        </p:nvSpPr>
        <p:spPr>
          <a:xfrm>
            <a:off x="1188720" y="2423160"/>
            <a:ext cx="411480" cy="50292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3</a:t>
            </a:r>
            <a:endParaRPr lang="en-US" sz="1300"/>
          </a:p>
        </p:txBody>
      </p:sp>
      <p:sp>
        <p:nvSpPr>
          <p:cNvPr id="11" name="Text"/>
          <p:cNvSpPr/>
          <p:nvPr/>
        </p:nvSpPr>
        <p:spPr>
          <a:xfrm>
            <a:off x="1737360" y="2423160"/>
            <a:ext cx="6217920" cy="50292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What does P² = P mean?</a:t>
            </a:r>
            <a:endParaRPr lang="en-US" sz="1250"/>
          </a:p>
        </p:txBody>
      </p:sp>
      <p:sp>
        <p:nvSpPr>
          <p:cNvPr id="12" name="Card frame">
            <a:extLst>
              <a:ext uri="{C183D7F6-B498-43B3-948B-1728B52AA6E4}">
                <adec:decorative xmlns:adec="http://schemas.microsoft.com/office/drawing/2017/decorative" val="1"/>
              </a:ext>
            </a:extLst>
          </p:cNvPr>
          <p:cNvSpPr/>
          <p:nvPr/>
        </p:nvSpPr>
        <p:spPr>
          <a:xfrm>
            <a:off x="1005840" y="3017520"/>
            <a:ext cx="7132320" cy="502920"/>
          </a:xfrm>
          <a:prstGeom prst="roundRect">
            <a:avLst>
              <a:gd name="adj" fmla="val 5000"/>
            </a:avLst>
          </a:prstGeom>
          <a:solidFill>
            <a:srgbClr val="FFFFFF"/>
          </a:solidFill>
          <a:ln w="15240">
            <a:solidFill>
              <a:srgbClr val="3730A3"/>
            </a:solidFill>
            <a:prstDash val="solid"/>
          </a:ln>
        </p:spPr>
        <p:txBody>
          <a:bodyPr/>
          <a:lstStyle/>
          <a:p>
            <a:endParaRPr lang="en-US"/>
          </a:p>
        </p:txBody>
      </p:sp>
      <p:sp>
        <p:nvSpPr>
          <p:cNvPr id="13" name="Text"/>
          <p:cNvSpPr/>
          <p:nvPr/>
        </p:nvSpPr>
        <p:spPr>
          <a:xfrm>
            <a:off x="1188720" y="3017520"/>
            <a:ext cx="411480" cy="50292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4</a:t>
            </a:r>
            <a:endParaRPr lang="en-US" sz="1300"/>
          </a:p>
        </p:txBody>
      </p:sp>
      <p:sp>
        <p:nvSpPr>
          <p:cNvPr id="14" name="Text"/>
          <p:cNvSpPr/>
          <p:nvPr/>
        </p:nvSpPr>
        <p:spPr>
          <a:xfrm>
            <a:off x="1737360" y="3017520"/>
            <a:ext cx="6217920" cy="50292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Why must an observable be Hermitian?</a:t>
            </a:r>
            <a:endParaRPr lang="en-US" sz="1250"/>
          </a:p>
        </p:txBody>
      </p:sp>
      <p:sp>
        <p:nvSpPr>
          <p:cNvPr id="15" name="Card frame">
            <a:extLst>
              <a:ext uri="{C183D7F6-B498-43B3-948B-1728B52AA6E4}">
                <adec:decorative xmlns:adec="http://schemas.microsoft.com/office/drawing/2017/decorative" val="1"/>
              </a:ext>
            </a:extLst>
          </p:cNvPr>
          <p:cNvSpPr/>
          <p:nvPr/>
        </p:nvSpPr>
        <p:spPr>
          <a:xfrm>
            <a:off x="1005840" y="3611880"/>
            <a:ext cx="7132320" cy="5029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6" name="Text"/>
          <p:cNvSpPr/>
          <p:nvPr/>
        </p:nvSpPr>
        <p:spPr>
          <a:xfrm>
            <a:off x="1188720" y="3611880"/>
            <a:ext cx="411480" cy="502920"/>
          </a:xfrm>
          <a:prstGeom prst="rect">
            <a:avLst/>
          </a:prstGeom>
          <a:noFill/>
          <a:ln/>
        </p:spPr>
        <p:txBody>
          <a:bodyPr wrap="square" lIns="0" tIns="0" rIns="0" bIns="0" rtlCol="0" anchor="ctr">
            <a:normAutofit/>
          </a:bodyPr>
          <a:lstStyle/>
          <a:p>
            <a:pPr marL="0" indent="0" algn="ctr">
              <a:buNone/>
            </a:pPr>
            <a:r>
              <a:rPr lang="en-US" sz="1300" b="1" i="0">
                <a:solidFill>
                  <a:srgbClr val="3730A3"/>
                </a:solidFill>
                <a:latin typeface="Georgia" pitchFamily="34" charset="0"/>
                <a:ea typeface="Georgia" pitchFamily="34" charset="-122"/>
                <a:cs typeface="Georgia" pitchFamily="34" charset="-120"/>
              </a:rPr>
              <a:t>5</a:t>
            </a:r>
            <a:endParaRPr lang="en-US" sz="1300"/>
          </a:p>
        </p:txBody>
      </p:sp>
      <p:sp>
        <p:nvSpPr>
          <p:cNvPr id="17" name="Text"/>
          <p:cNvSpPr/>
          <p:nvPr/>
        </p:nvSpPr>
        <p:spPr>
          <a:xfrm>
            <a:off x="1737360" y="3611880"/>
            <a:ext cx="6217920" cy="502920"/>
          </a:xfrm>
          <a:prstGeom prst="rect">
            <a:avLst/>
          </a:prstGeom>
          <a:noFill/>
          <a:ln/>
        </p:spPr>
        <p:txBody>
          <a:bodyPr wrap="square" lIns="0" tIns="0" rIns="0" bIns="0" rtlCol="0" anchor="ctr">
            <a:normAutofit/>
          </a:bodyPr>
          <a:lstStyle/>
          <a:p>
            <a:pPr marL="0" indent="0" algn="l">
              <a:buNone/>
            </a:pPr>
            <a:r>
              <a:rPr lang="en-US" sz="1250" b="0" i="0">
                <a:solidFill>
                  <a:srgbClr val="1A1A2E"/>
                </a:solidFill>
                <a:latin typeface="Georgia" pitchFamily="34" charset="0"/>
                <a:ea typeface="Georgia" pitchFamily="34" charset="-122"/>
                <a:cs typeface="Georgia" pitchFamily="34" charset="-120"/>
              </a:rPr>
              <a:t>What does a Bell violation tell us?</a:t>
            </a:r>
            <a:endParaRPr lang="en-US" sz="1250"/>
          </a:p>
        </p:txBody>
      </p:sp>
      <p:sp>
        <p:nvSpPr>
          <p:cNvPr id="18"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Five short answers — no formulas required, just the reasoning.</a:t>
            </a:r>
            <a:endParaRPr lang="en-US" sz="125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Final synthesis</a:t>
            </a:r>
            <a:endParaRPr lang="en-US" sz="2500"/>
          </a:p>
        </p:txBody>
      </p:sp>
      <p:sp>
        <p:nvSpPr>
          <p:cNvPr id="3" name="Card frame">
            <a:extLst>
              <a:ext uri="{C183D7F6-B498-43B3-948B-1728B52AA6E4}">
                <adec:decorative xmlns:adec="http://schemas.microsoft.com/office/drawing/2017/decorative" val="1"/>
              </a:ext>
            </a:extLst>
          </p:cNvPr>
          <p:cNvSpPr/>
          <p:nvPr/>
        </p:nvSpPr>
        <p:spPr>
          <a:xfrm>
            <a:off x="777240" y="1097280"/>
            <a:ext cx="7589520" cy="1188720"/>
          </a:xfrm>
          <a:prstGeom prst="roundRect">
            <a:avLst>
              <a:gd name="adj" fmla="val 5000"/>
            </a:avLst>
          </a:prstGeom>
          <a:solidFill>
            <a:srgbClr val="FFFFFF"/>
          </a:solidFill>
          <a:ln w="22860">
            <a:solidFill>
              <a:srgbClr val="3730A3"/>
            </a:solidFill>
            <a:prstDash val="solid"/>
          </a:ln>
        </p:spPr>
        <p:txBody>
          <a:bodyPr/>
          <a:lstStyle/>
          <a:p>
            <a:endParaRPr lang="en-US"/>
          </a:p>
        </p:txBody>
      </p:sp>
      <p:sp>
        <p:nvSpPr>
          <p:cNvPr id="4" name="Text"/>
          <p:cNvSpPr/>
          <p:nvPr/>
        </p:nvSpPr>
        <p:spPr>
          <a:xfrm>
            <a:off x="1005840" y="1097280"/>
            <a:ext cx="7132320" cy="1188720"/>
          </a:xfrm>
          <a:prstGeom prst="rect">
            <a:avLst/>
          </a:prstGeom>
          <a:noFill/>
          <a:ln/>
        </p:spPr>
        <p:txBody>
          <a:bodyPr wrap="square" lIns="0" tIns="0" rIns="0" bIns="0" rtlCol="0" anchor="ctr">
            <a:normAutofit/>
          </a:bodyPr>
          <a:lstStyle/>
          <a:p>
            <a:pPr marL="0" indent="0" algn="ctr">
              <a:buNone/>
            </a:pPr>
            <a:r>
              <a:rPr lang="en-US" sz="1700" b="1" i="0">
                <a:solidFill>
                  <a:srgbClr val="3730A3"/>
                </a:solidFill>
                <a:latin typeface="Georgia" pitchFamily="34" charset="0"/>
                <a:ea typeface="Georgia" pitchFamily="34" charset="-122"/>
                <a:cs typeface="Georgia" pitchFamily="34" charset="-120"/>
              </a:rPr>
              <a:t>Multiple qubits do not merely give us more bits — they give us a new mathematical structure.</a:t>
            </a:r>
            <a:endParaRPr lang="en-US" sz="1700"/>
          </a:p>
        </p:txBody>
      </p:sp>
      <p:sp>
        <p:nvSpPr>
          <p:cNvPr id="5" name="Card frame">
            <a:extLst>
              <a:ext uri="{C183D7F6-B498-43B3-948B-1728B52AA6E4}">
                <adec:decorative xmlns:adec="http://schemas.microsoft.com/office/drawing/2017/decorative" val="1"/>
              </a:ext>
            </a:extLst>
          </p:cNvPr>
          <p:cNvSpPr/>
          <p:nvPr/>
        </p:nvSpPr>
        <p:spPr>
          <a:xfrm>
            <a:off x="640080" y="2743200"/>
            <a:ext cx="141732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6" name="Text"/>
          <p:cNvSpPr/>
          <p:nvPr/>
        </p:nvSpPr>
        <p:spPr>
          <a:xfrm>
            <a:off x="731520" y="2743200"/>
            <a:ext cx="1234440" cy="731520"/>
          </a:xfrm>
          <a:prstGeom prst="rect">
            <a:avLst/>
          </a:prstGeom>
          <a:noFill/>
          <a:ln/>
        </p:spPr>
        <p:txBody>
          <a:bodyPr wrap="square" lIns="0" tIns="0" rIns="0" bIns="0" rtlCol="0" anchor="ctr">
            <a:normAutofit/>
          </a:bodyPr>
          <a:lstStyle/>
          <a:p>
            <a:pPr marL="0" indent="0" algn="ctr">
              <a:buNone/>
            </a:pPr>
            <a:r>
              <a:rPr lang="en-US" sz="900" b="1" i="0">
                <a:solidFill>
                  <a:srgbClr val="3730A3"/>
                </a:solidFill>
                <a:latin typeface="Georgia" pitchFamily="34" charset="0"/>
                <a:ea typeface="Georgia" pitchFamily="34" charset="-122"/>
                <a:cs typeface="Georgia" pitchFamily="34" charset="-120"/>
              </a:rPr>
              <a:t>Tensor products</a:t>
            </a:r>
            <a:endParaRPr lang="en-US" sz="900"/>
          </a:p>
        </p:txBody>
      </p:sp>
      <p:sp>
        <p:nvSpPr>
          <p:cNvPr id="7" name="Text"/>
          <p:cNvSpPr/>
          <p:nvPr/>
        </p:nvSpPr>
        <p:spPr>
          <a:xfrm>
            <a:off x="2057400" y="2743200"/>
            <a:ext cx="182880" cy="731520"/>
          </a:xfrm>
          <a:prstGeom prst="rect">
            <a:avLst/>
          </a:prstGeom>
          <a:noFill/>
          <a:ln/>
        </p:spPr>
        <p:txBody>
          <a:bodyPr wrap="square" lIns="0" tIns="0" rIns="0" bIns="0" rtlCol="0" anchor="ctr">
            <a:normAutofit/>
          </a:bodyPr>
          <a:lstStyle/>
          <a:p>
            <a:pPr marL="0" indent="0" algn="ctr">
              <a:buNone/>
            </a:pPr>
            <a:r>
              <a:rPr lang="en-US" sz="900" b="1" i="0">
                <a:solidFill>
                  <a:srgbClr val="6B7280"/>
                </a:solidFill>
                <a:latin typeface="Georgia" pitchFamily="34" charset="0"/>
                <a:ea typeface="Georgia" pitchFamily="34" charset="-122"/>
                <a:cs typeface="Georgia" pitchFamily="34" charset="-120"/>
              </a:rPr>
              <a:t>→</a:t>
            </a:r>
            <a:endParaRPr lang="en-US" sz="900"/>
          </a:p>
        </p:txBody>
      </p:sp>
      <p:sp>
        <p:nvSpPr>
          <p:cNvPr id="8" name="Card frame">
            <a:extLst>
              <a:ext uri="{C183D7F6-B498-43B3-948B-1728B52AA6E4}">
                <adec:decorative xmlns:adec="http://schemas.microsoft.com/office/drawing/2017/decorative" val="1"/>
              </a:ext>
            </a:extLst>
          </p:cNvPr>
          <p:cNvSpPr/>
          <p:nvPr/>
        </p:nvSpPr>
        <p:spPr>
          <a:xfrm>
            <a:off x="2240280" y="2743200"/>
            <a:ext cx="141732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9" name="Text"/>
          <p:cNvSpPr/>
          <p:nvPr/>
        </p:nvSpPr>
        <p:spPr>
          <a:xfrm>
            <a:off x="2331720" y="2743200"/>
            <a:ext cx="1234440" cy="731520"/>
          </a:xfrm>
          <a:prstGeom prst="rect">
            <a:avLst/>
          </a:prstGeom>
          <a:noFill/>
          <a:ln/>
        </p:spPr>
        <p:txBody>
          <a:bodyPr wrap="square" lIns="0" tIns="0" rIns="0" bIns="0" rtlCol="0" anchor="ctr">
            <a:normAutofit/>
          </a:bodyPr>
          <a:lstStyle/>
          <a:p>
            <a:pPr marL="0" indent="0" algn="ctr">
              <a:buNone/>
            </a:pPr>
            <a:r>
              <a:rPr lang="en-US" sz="900" b="1" i="0">
                <a:solidFill>
                  <a:srgbClr val="3730A3"/>
                </a:solidFill>
                <a:latin typeface="Georgia" pitchFamily="34" charset="0"/>
                <a:ea typeface="Georgia" pitchFamily="34" charset="-122"/>
                <a:cs typeface="Georgia" pitchFamily="34" charset="-120"/>
              </a:rPr>
              <a:t>Exponential state space</a:t>
            </a:r>
            <a:endParaRPr lang="en-US" sz="900"/>
          </a:p>
        </p:txBody>
      </p:sp>
      <p:sp>
        <p:nvSpPr>
          <p:cNvPr id="10" name="Text"/>
          <p:cNvSpPr/>
          <p:nvPr/>
        </p:nvSpPr>
        <p:spPr>
          <a:xfrm>
            <a:off x="3657600" y="2743200"/>
            <a:ext cx="182880" cy="731520"/>
          </a:xfrm>
          <a:prstGeom prst="rect">
            <a:avLst/>
          </a:prstGeom>
          <a:noFill/>
          <a:ln/>
        </p:spPr>
        <p:txBody>
          <a:bodyPr wrap="square" lIns="0" tIns="0" rIns="0" bIns="0" rtlCol="0" anchor="ctr">
            <a:normAutofit/>
          </a:bodyPr>
          <a:lstStyle/>
          <a:p>
            <a:pPr marL="0" indent="0" algn="ctr">
              <a:buNone/>
            </a:pPr>
            <a:r>
              <a:rPr lang="en-US" sz="900" b="1" i="0">
                <a:solidFill>
                  <a:srgbClr val="6B7280"/>
                </a:solidFill>
                <a:latin typeface="Georgia" pitchFamily="34" charset="0"/>
                <a:ea typeface="Georgia" pitchFamily="34" charset="-122"/>
                <a:cs typeface="Georgia" pitchFamily="34" charset="-120"/>
              </a:rPr>
              <a:t>→</a:t>
            </a:r>
            <a:endParaRPr lang="en-US" sz="900"/>
          </a:p>
        </p:txBody>
      </p:sp>
      <p:sp>
        <p:nvSpPr>
          <p:cNvPr id="11" name="Card frame">
            <a:extLst>
              <a:ext uri="{C183D7F6-B498-43B3-948B-1728B52AA6E4}">
                <adec:decorative xmlns:adec="http://schemas.microsoft.com/office/drawing/2017/decorative" val="1"/>
              </a:ext>
            </a:extLst>
          </p:cNvPr>
          <p:cNvSpPr/>
          <p:nvPr/>
        </p:nvSpPr>
        <p:spPr>
          <a:xfrm>
            <a:off x="3840480" y="2743200"/>
            <a:ext cx="141732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2" name="Text"/>
          <p:cNvSpPr/>
          <p:nvPr/>
        </p:nvSpPr>
        <p:spPr>
          <a:xfrm>
            <a:off x="3931920" y="2743200"/>
            <a:ext cx="1234440" cy="731520"/>
          </a:xfrm>
          <a:prstGeom prst="rect">
            <a:avLst/>
          </a:prstGeom>
          <a:noFill/>
          <a:ln/>
        </p:spPr>
        <p:txBody>
          <a:bodyPr wrap="square" lIns="0" tIns="0" rIns="0" bIns="0" rtlCol="0" anchor="ctr">
            <a:normAutofit/>
          </a:bodyPr>
          <a:lstStyle/>
          <a:p>
            <a:pPr marL="0" indent="0" algn="ctr">
              <a:buNone/>
            </a:pPr>
            <a:r>
              <a:rPr lang="en-US" sz="900" b="1" i="0">
                <a:solidFill>
                  <a:srgbClr val="3730A3"/>
                </a:solidFill>
                <a:latin typeface="Georgia" pitchFamily="34" charset="0"/>
                <a:ea typeface="Georgia" pitchFamily="34" charset="-122"/>
                <a:cs typeface="Georgia" pitchFamily="34" charset="-120"/>
              </a:rPr>
              <a:t>Entanglement</a:t>
            </a:r>
            <a:endParaRPr lang="en-US" sz="900"/>
          </a:p>
        </p:txBody>
      </p:sp>
      <p:sp>
        <p:nvSpPr>
          <p:cNvPr id="13" name="Text"/>
          <p:cNvSpPr/>
          <p:nvPr/>
        </p:nvSpPr>
        <p:spPr>
          <a:xfrm>
            <a:off x="5257800" y="2743200"/>
            <a:ext cx="182880" cy="731520"/>
          </a:xfrm>
          <a:prstGeom prst="rect">
            <a:avLst/>
          </a:prstGeom>
          <a:noFill/>
          <a:ln/>
        </p:spPr>
        <p:txBody>
          <a:bodyPr wrap="square" lIns="0" tIns="0" rIns="0" bIns="0" rtlCol="0" anchor="ctr">
            <a:normAutofit/>
          </a:bodyPr>
          <a:lstStyle/>
          <a:p>
            <a:pPr marL="0" indent="0" algn="ctr">
              <a:buNone/>
            </a:pPr>
            <a:r>
              <a:rPr lang="en-US" sz="900" b="1" i="0">
                <a:solidFill>
                  <a:srgbClr val="6B7280"/>
                </a:solidFill>
                <a:latin typeface="Georgia" pitchFamily="34" charset="0"/>
                <a:ea typeface="Georgia" pitchFamily="34" charset="-122"/>
                <a:cs typeface="Georgia" pitchFamily="34" charset="-120"/>
              </a:rPr>
              <a:t>→</a:t>
            </a:r>
            <a:endParaRPr lang="en-US" sz="900"/>
          </a:p>
        </p:txBody>
      </p:sp>
      <p:sp>
        <p:nvSpPr>
          <p:cNvPr id="14" name="Card frame">
            <a:extLst>
              <a:ext uri="{C183D7F6-B498-43B3-948B-1728B52AA6E4}">
                <adec:decorative xmlns:adec="http://schemas.microsoft.com/office/drawing/2017/decorative" val="1"/>
              </a:ext>
            </a:extLst>
          </p:cNvPr>
          <p:cNvSpPr/>
          <p:nvPr/>
        </p:nvSpPr>
        <p:spPr>
          <a:xfrm>
            <a:off x="5440680" y="2743200"/>
            <a:ext cx="141732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5" name="Text"/>
          <p:cNvSpPr/>
          <p:nvPr/>
        </p:nvSpPr>
        <p:spPr>
          <a:xfrm>
            <a:off x="5532120" y="2743200"/>
            <a:ext cx="1234440" cy="731520"/>
          </a:xfrm>
          <a:prstGeom prst="rect">
            <a:avLst/>
          </a:prstGeom>
          <a:noFill/>
          <a:ln/>
        </p:spPr>
        <p:txBody>
          <a:bodyPr wrap="square" lIns="0" tIns="0" rIns="0" bIns="0" rtlCol="0" anchor="ctr">
            <a:normAutofit/>
          </a:bodyPr>
          <a:lstStyle/>
          <a:p>
            <a:pPr marL="0" indent="0" algn="ctr">
              <a:buNone/>
            </a:pPr>
            <a:r>
              <a:rPr lang="en-US" sz="900" b="1" i="0">
                <a:solidFill>
                  <a:srgbClr val="3730A3"/>
                </a:solidFill>
                <a:latin typeface="Georgia" pitchFamily="34" charset="0"/>
                <a:ea typeface="Georgia" pitchFamily="34" charset="-122"/>
                <a:cs typeface="Georgia" pitchFamily="34" charset="-120"/>
              </a:rPr>
              <a:t>Generalized measurement</a:t>
            </a:r>
            <a:endParaRPr lang="en-US" sz="900"/>
          </a:p>
        </p:txBody>
      </p:sp>
      <p:sp>
        <p:nvSpPr>
          <p:cNvPr id="16" name="Text"/>
          <p:cNvSpPr/>
          <p:nvPr/>
        </p:nvSpPr>
        <p:spPr>
          <a:xfrm>
            <a:off x="6858000" y="2743200"/>
            <a:ext cx="182880" cy="731520"/>
          </a:xfrm>
          <a:prstGeom prst="rect">
            <a:avLst/>
          </a:prstGeom>
          <a:noFill/>
          <a:ln/>
        </p:spPr>
        <p:txBody>
          <a:bodyPr wrap="square" lIns="0" tIns="0" rIns="0" bIns="0" rtlCol="0" anchor="ctr">
            <a:normAutofit/>
          </a:bodyPr>
          <a:lstStyle/>
          <a:p>
            <a:pPr marL="0" indent="0" algn="ctr">
              <a:buNone/>
            </a:pPr>
            <a:r>
              <a:rPr lang="en-US" sz="900" b="1" i="0">
                <a:solidFill>
                  <a:srgbClr val="6B7280"/>
                </a:solidFill>
                <a:latin typeface="Georgia" pitchFamily="34" charset="0"/>
                <a:ea typeface="Georgia" pitchFamily="34" charset="-122"/>
                <a:cs typeface="Georgia" pitchFamily="34" charset="-120"/>
              </a:rPr>
              <a:t>→</a:t>
            </a:r>
            <a:endParaRPr lang="en-US" sz="900"/>
          </a:p>
        </p:txBody>
      </p:sp>
      <p:sp>
        <p:nvSpPr>
          <p:cNvPr id="17" name="Card frame">
            <a:extLst>
              <a:ext uri="{C183D7F6-B498-43B3-948B-1728B52AA6E4}">
                <adec:decorative xmlns:adec="http://schemas.microsoft.com/office/drawing/2017/decorative" val="1"/>
              </a:ext>
            </a:extLst>
          </p:cNvPr>
          <p:cNvSpPr/>
          <p:nvPr/>
        </p:nvSpPr>
        <p:spPr>
          <a:xfrm>
            <a:off x="7040880" y="2743200"/>
            <a:ext cx="1417320" cy="73152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8" name="Text"/>
          <p:cNvSpPr/>
          <p:nvPr/>
        </p:nvSpPr>
        <p:spPr>
          <a:xfrm>
            <a:off x="7132320" y="2743200"/>
            <a:ext cx="1234440" cy="731520"/>
          </a:xfrm>
          <a:prstGeom prst="rect">
            <a:avLst/>
          </a:prstGeom>
          <a:noFill/>
          <a:ln/>
        </p:spPr>
        <p:txBody>
          <a:bodyPr wrap="square" lIns="0" tIns="0" rIns="0" bIns="0" rtlCol="0" anchor="ctr">
            <a:normAutofit/>
          </a:bodyPr>
          <a:lstStyle/>
          <a:p>
            <a:pPr marL="0" indent="0" algn="ctr">
              <a:buNone/>
            </a:pPr>
            <a:r>
              <a:rPr lang="en-US" sz="900" b="1" i="0">
                <a:solidFill>
                  <a:srgbClr val="3730A3"/>
                </a:solidFill>
                <a:latin typeface="Georgia" pitchFamily="34" charset="0"/>
                <a:ea typeface="Georgia" pitchFamily="34" charset="-122"/>
                <a:cs typeface="Georgia" pitchFamily="34" charset="-120"/>
              </a:rPr>
              <a:t>Non-classical correlations</a:t>
            </a:r>
            <a:endParaRPr lang="en-US" sz="900"/>
          </a:p>
        </p:txBody>
      </p:sp>
      <p:sp>
        <p:nvSpPr>
          <p:cNvPr id="19"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From a bigger register to a genuinely different kind of physics.</a:t>
            </a:r>
            <a:endParaRPr lang="en-US" sz="125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itle"/>
          <p:cNvSpPr>
            <a:spLocks noGrp="1"/>
          </p:cNvSpPr>
          <p:nvPr>
            <p:ph type="title" idx="102" hasCustomPrompt="1"/>
          </p:nvPr>
        </p:nvSpPr>
        <p:spPr>
          <a:xfrm>
            <a:off x="640080" y="548640"/>
            <a:ext cx="7863840" cy="457200"/>
          </a:xfrm>
          <a:prstGeom prst="rect">
            <a:avLst/>
          </a:prstGeom>
          <a:noFill/>
          <a:ln/>
        </p:spPr>
        <p:txBody>
          <a:bodyPr wrap="square" lIns="0" tIns="0" rIns="0" bIns="0" rtlCol="0"/>
          <a:lstStyle/>
          <a:p>
            <a:pPr marL="0" indent="0" algn="l">
              <a:buNone/>
            </a:pPr>
            <a:r>
              <a:rPr lang="en-US" sz="2500" b="1">
                <a:solidFill>
                  <a:srgbClr val="1A1A2E"/>
                </a:solidFill>
                <a:latin typeface="Georgia" pitchFamily="34" charset="0"/>
                <a:ea typeface="Georgia" pitchFamily="34" charset="-122"/>
                <a:cs typeface="Georgia" pitchFamily="34" charset="-120"/>
              </a:rPr>
              <a:t>References and further study</a:t>
            </a:r>
            <a:endParaRPr lang="en-US" sz="2500"/>
          </a:p>
        </p:txBody>
      </p:sp>
      <p:sp>
        <p:nvSpPr>
          <p:cNvPr id="3" name="Card frame">
            <a:extLst>
              <a:ext uri="{C183D7F6-B498-43B3-948B-1728B52AA6E4}">
                <adec:decorative xmlns:adec="http://schemas.microsoft.com/office/drawing/2017/decorative" val="1"/>
              </a:ext>
            </a:extLst>
          </p:cNvPr>
          <p:cNvSpPr/>
          <p:nvPr/>
        </p:nvSpPr>
        <p:spPr>
          <a:xfrm>
            <a:off x="1005840" y="1188720"/>
            <a:ext cx="71323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4" name="Text"/>
          <p:cNvSpPr/>
          <p:nvPr/>
        </p:nvSpPr>
        <p:spPr>
          <a:xfrm>
            <a:off x="1188720" y="1188720"/>
            <a:ext cx="2377440" cy="594360"/>
          </a:xfrm>
          <a:prstGeom prst="rect">
            <a:avLst/>
          </a:prstGeom>
          <a:noFill/>
          <a:ln/>
        </p:spPr>
        <p:txBody>
          <a:bodyPr wrap="square" lIns="0" tIns="0" rIns="0" bIns="0" rtlCol="0" anchor="ctr">
            <a:normAutofit/>
          </a:bodyPr>
          <a:lstStyle/>
          <a:p>
            <a:pPr marL="0" indent="0" algn="l">
              <a:buNone/>
            </a:pPr>
            <a:r>
              <a:rPr lang="en-US" sz="1200" b="1" i="0">
                <a:solidFill>
                  <a:srgbClr val="3730A3"/>
                </a:solidFill>
                <a:latin typeface="Georgia" pitchFamily="34" charset="0"/>
                <a:ea typeface="Georgia" pitchFamily="34" charset="-122"/>
                <a:cs typeface="Georgia" pitchFamily="34" charset="-120"/>
              </a:rPr>
              <a:t>Rieffel &amp; Polak</a:t>
            </a:r>
            <a:endParaRPr lang="en-US" sz="1200"/>
          </a:p>
        </p:txBody>
      </p:sp>
      <p:sp>
        <p:nvSpPr>
          <p:cNvPr id="5" name="Text"/>
          <p:cNvSpPr/>
          <p:nvPr/>
        </p:nvSpPr>
        <p:spPr>
          <a:xfrm>
            <a:off x="3657600" y="1188720"/>
            <a:ext cx="2560320" cy="594360"/>
          </a:xfrm>
          <a:prstGeom prst="rect">
            <a:avLst/>
          </a:prstGeom>
          <a:noFill/>
          <a:ln/>
        </p:spPr>
        <p:txBody>
          <a:bodyPr wrap="square" lIns="0" tIns="0" rIns="0" bIns="0" rtlCol="0" anchor="ctr">
            <a:normAutofit/>
          </a:bodyPr>
          <a:lstStyle/>
          <a:p>
            <a:pPr marL="0" indent="0" algn="l">
              <a:buNone/>
            </a:pPr>
            <a:r>
              <a:rPr lang="en-US" sz="1000" b="0" i="0">
                <a:solidFill>
                  <a:srgbClr val="1A1A2E"/>
                </a:solidFill>
                <a:latin typeface="Georgia" pitchFamily="34" charset="0"/>
                <a:ea typeface="Georgia" pitchFamily="34" charset="-122"/>
                <a:cs typeface="Georgia" pitchFamily="34" charset="-120"/>
              </a:rPr>
              <a:t>Quantum Computing: A Gentle Introduction</a:t>
            </a:r>
            <a:endParaRPr lang="en-US" sz="1000"/>
          </a:p>
        </p:txBody>
      </p:sp>
      <p:sp>
        <p:nvSpPr>
          <p:cNvPr id="6" name="Text"/>
          <p:cNvSpPr/>
          <p:nvPr/>
        </p:nvSpPr>
        <p:spPr>
          <a:xfrm>
            <a:off x="6217920" y="1188720"/>
            <a:ext cx="1737360" cy="594360"/>
          </a:xfrm>
          <a:prstGeom prst="rect">
            <a:avLst/>
          </a:prstGeom>
          <a:noFill/>
          <a:ln/>
        </p:spPr>
        <p:txBody>
          <a:bodyPr wrap="square" lIns="0" tIns="0" rIns="0" bIns="0" rtlCol="0" anchor="ctr">
            <a:normAutofit/>
          </a:bodyPr>
          <a:lstStyle/>
          <a:p>
            <a:pPr marL="0" indent="0" algn="l">
              <a:buNone/>
            </a:pPr>
            <a:r>
              <a:rPr lang="en-US" sz="900" b="0" i="0">
                <a:solidFill>
                  <a:srgbClr val="4B5563"/>
                </a:solidFill>
                <a:latin typeface="Georgia" pitchFamily="34" charset="0"/>
                <a:ea typeface="Georgia" pitchFamily="34" charset="-122"/>
                <a:cs typeface="Georgia" pitchFamily="34" charset="-120"/>
              </a:rPr>
              <a:t>gentle first pass</a:t>
            </a:r>
            <a:endParaRPr lang="en-US" sz="900"/>
          </a:p>
        </p:txBody>
      </p:sp>
      <p:sp>
        <p:nvSpPr>
          <p:cNvPr id="7" name="Card frame">
            <a:extLst>
              <a:ext uri="{C183D7F6-B498-43B3-948B-1728B52AA6E4}">
                <adec:decorative xmlns:adec="http://schemas.microsoft.com/office/drawing/2017/decorative" val="1"/>
              </a:ext>
            </a:extLst>
          </p:cNvPr>
          <p:cNvSpPr/>
          <p:nvPr/>
        </p:nvSpPr>
        <p:spPr>
          <a:xfrm>
            <a:off x="1005840" y="1874520"/>
            <a:ext cx="71323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8" name="Text"/>
          <p:cNvSpPr/>
          <p:nvPr/>
        </p:nvSpPr>
        <p:spPr>
          <a:xfrm>
            <a:off x="1188720" y="1874520"/>
            <a:ext cx="2377440" cy="594360"/>
          </a:xfrm>
          <a:prstGeom prst="rect">
            <a:avLst/>
          </a:prstGeom>
          <a:noFill/>
          <a:ln/>
        </p:spPr>
        <p:txBody>
          <a:bodyPr wrap="square" lIns="0" tIns="0" rIns="0" bIns="0" rtlCol="0" anchor="ctr">
            <a:normAutofit/>
          </a:bodyPr>
          <a:lstStyle/>
          <a:p>
            <a:pPr marL="0" indent="0" algn="l">
              <a:buNone/>
            </a:pPr>
            <a:r>
              <a:rPr lang="en-US" sz="1200" b="1" i="0">
                <a:solidFill>
                  <a:srgbClr val="3730A3"/>
                </a:solidFill>
                <a:latin typeface="Georgia" pitchFamily="34" charset="0"/>
                <a:ea typeface="Georgia" pitchFamily="34" charset="-122"/>
                <a:cs typeface="Georgia" pitchFamily="34" charset="-120"/>
              </a:rPr>
              <a:t>Nielsen &amp; Chuang</a:t>
            </a:r>
            <a:endParaRPr lang="en-US" sz="1200"/>
          </a:p>
        </p:txBody>
      </p:sp>
      <p:sp>
        <p:nvSpPr>
          <p:cNvPr id="9" name="Text"/>
          <p:cNvSpPr/>
          <p:nvPr/>
        </p:nvSpPr>
        <p:spPr>
          <a:xfrm>
            <a:off x="3657600" y="1874520"/>
            <a:ext cx="2560320" cy="594360"/>
          </a:xfrm>
          <a:prstGeom prst="rect">
            <a:avLst/>
          </a:prstGeom>
          <a:noFill/>
          <a:ln/>
        </p:spPr>
        <p:txBody>
          <a:bodyPr wrap="square" lIns="0" tIns="0" rIns="0" bIns="0" rtlCol="0" anchor="ctr">
            <a:normAutofit/>
          </a:bodyPr>
          <a:lstStyle/>
          <a:p>
            <a:pPr marL="0" indent="0" algn="l">
              <a:buNone/>
            </a:pPr>
            <a:r>
              <a:rPr lang="en-US" sz="1000" b="0" i="0">
                <a:solidFill>
                  <a:srgbClr val="1A1A2E"/>
                </a:solidFill>
                <a:latin typeface="Georgia" pitchFamily="34" charset="0"/>
                <a:ea typeface="Georgia" pitchFamily="34" charset="-122"/>
                <a:cs typeface="Georgia" pitchFamily="34" charset="-120"/>
              </a:rPr>
              <a:t>Quantum Computation and Quantum Information</a:t>
            </a:r>
            <a:endParaRPr lang="en-US" sz="1000"/>
          </a:p>
        </p:txBody>
      </p:sp>
      <p:sp>
        <p:nvSpPr>
          <p:cNvPr id="10" name="Text"/>
          <p:cNvSpPr/>
          <p:nvPr/>
        </p:nvSpPr>
        <p:spPr>
          <a:xfrm>
            <a:off x="6217920" y="1874520"/>
            <a:ext cx="1737360" cy="594360"/>
          </a:xfrm>
          <a:prstGeom prst="rect">
            <a:avLst/>
          </a:prstGeom>
          <a:noFill/>
          <a:ln/>
        </p:spPr>
        <p:txBody>
          <a:bodyPr wrap="square" lIns="0" tIns="0" rIns="0" bIns="0" rtlCol="0" anchor="ctr">
            <a:normAutofit/>
          </a:bodyPr>
          <a:lstStyle/>
          <a:p>
            <a:pPr marL="0" indent="0" algn="l">
              <a:buNone/>
            </a:pPr>
            <a:r>
              <a:rPr lang="en-US" sz="900" b="0" i="0">
                <a:solidFill>
                  <a:srgbClr val="4B5563"/>
                </a:solidFill>
                <a:latin typeface="Georgia" pitchFamily="34" charset="0"/>
                <a:ea typeface="Georgia" pitchFamily="34" charset="-122"/>
                <a:cs typeface="Georgia" pitchFamily="34" charset="-120"/>
              </a:rPr>
              <a:t>standard reference</a:t>
            </a:r>
            <a:endParaRPr lang="en-US" sz="900"/>
          </a:p>
        </p:txBody>
      </p:sp>
      <p:sp>
        <p:nvSpPr>
          <p:cNvPr id="11" name="Card frame">
            <a:extLst>
              <a:ext uri="{C183D7F6-B498-43B3-948B-1728B52AA6E4}">
                <adec:decorative xmlns:adec="http://schemas.microsoft.com/office/drawing/2017/decorative" val="1"/>
              </a:ext>
            </a:extLst>
          </p:cNvPr>
          <p:cNvSpPr/>
          <p:nvPr/>
        </p:nvSpPr>
        <p:spPr>
          <a:xfrm>
            <a:off x="1005840" y="2560320"/>
            <a:ext cx="71323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2" name="Text"/>
          <p:cNvSpPr/>
          <p:nvPr/>
        </p:nvSpPr>
        <p:spPr>
          <a:xfrm>
            <a:off x="1188720" y="2560320"/>
            <a:ext cx="2377440" cy="594360"/>
          </a:xfrm>
          <a:prstGeom prst="rect">
            <a:avLst/>
          </a:prstGeom>
          <a:noFill/>
          <a:ln/>
        </p:spPr>
        <p:txBody>
          <a:bodyPr wrap="square" lIns="0" tIns="0" rIns="0" bIns="0" rtlCol="0" anchor="ctr">
            <a:normAutofit/>
          </a:bodyPr>
          <a:lstStyle/>
          <a:p>
            <a:pPr marL="0" indent="0" algn="l">
              <a:buNone/>
            </a:pPr>
            <a:r>
              <a:rPr lang="en-US" sz="1200" b="1" i="0">
                <a:solidFill>
                  <a:srgbClr val="3730A3"/>
                </a:solidFill>
                <a:latin typeface="Georgia" pitchFamily="34" charset="0"/>
                <a:ea typeface="Georgia" pitchFamily="34" charset="-122"/>
                <a:cs typeface="Georgia" pitchFamily="34" charset="-120"/>
              </a:rPr>
              <a:t>Kaye, Laflamme &amp; Mosca</a:t>
            </a:r>
            <a:endParaRPr lang="en-US" sz="1200"/>
          </a:p>
        </p:txBody>
      </p:sp>
      <p:sp>
        <p:nvSpPr>
          <p:cNvPr id="13" name="Text"/>
          <p:cNvSpPr/>
          <p:nvPr/>
        </p:nvSpPr>
        <p:spPr>
          <a:xfrm>
            <a:off x="3657600" y="2560320"/>
            <a:ext cx="2560320" cy="594360"/>
          </a:xfrm>
          <a:prstGeom prst="rect">
            <a:avLst/>
          </a:prstGeom>
          <a:noFill/>
          <a:ln/>
        </p:spPr>
        <p:txBody>
          <a:bodyPr wrap="square" lIns="0" tIns="0" rIns="0" bIns="0" rtlCol="0" anchor="ctr">
            <a:normAutofit/>
          </a:bodyPr>
          <a:lstStyle/>
          <a:p>
            <a:pPr marL="0" indent="0" algn="l">
              <a:buNone/>
            </a:pPr>
            <a:r>
              <a:rPr lang="en-US" sz="1000" b="0" i="0">
                <a:solidFill>
                  <a:srgbClr val="1A1A2E"/>
                </a:solidFill>
                <a:latin typeface="Georgia" pitchFamily="34" charset="0"/>
                <a:ea typeface="Georgia" pitchFamily="34" charset="-122"/>
                <a:cs typeface="Georgia" pitchFamily="34" charset="-120"/>
              </a:rPr>
              <a:t>An Introduction to Quantum Computing</a:t>
            </a:r>
            <a:endParaRPr lang="en-US" sz="1000"/>
          </a:p>
        </p:txBody>
      </p:sp>
      <p:sp>
        <p:nvSpPr>
          <p:cNvPr id="14" name="Text"/>
          <p:cNvSpPr/>
          <p:nvPr/>
        </p:nvSpPr>
        <p:spPr>
          <a:xfrm>
            <a:off x="6217920" y="2560320"/>
            <a:ext cx="1737360" cy="594360"/>
          </a:xfrm>
          <a:prstGeom prst="rect">
            <a:avLst/>
          </a:prstGeom>
          <a:noFill/>
          <a:ln/>
        </p:spPr>
        <p:txBody>
          <a:bodyPr wrap="square" lIns="0" tIns="0" rIns="0" bIns="0" rtlCol="0" anchor="ctr">
            <a:normAutofit/>
          </a:bodyPr>
          <a:lstStyle/>
          <a:p>
            <a:pPr marL="0" indent="0" algn="l">
              <a:buNone/>
            </a:pPr>
            <a:r>
              <a:rPr lang="en-US" sz="900" b="0" i="0">
                <a:solidFill>
                  <a:srgbClr val="4B5563"/>
                </a:solidFill>
                <a:latin typeface="Georgia" pitchFamily="34" charset="0"/>
                <a:ea typeface="Georgia" pitchFamily="34" charset="-122"/>
                <a:cs typeface="Georgia" pitchFamily="34" charset="-120"/>
              </a:rPr>
              <a:t>concise formalism</a:t>
            </a:r>
            <a:endParaRPr lang="en-US" sz="900"/>
          </a:p>
        </p:txBody>
      </p:sp>
      <p:sp>
        <p:nvSpPr>
          <p:cNvPr id="15" name="Card frame">
            <a:extLst>
              <a:ext uri="{C183D7F6-B498-43B3-948B-1728B52AA6E4}">
                <adec:decorative xmlns:adec="http://schemas.microsoft.com/office/drawing/2017/decorative" val="1"/>
              </a:ext>
            </a:extLst>
          </p:cNvPr>
          <p:cNvSpPr/>
          <p:nvPr/>
        </p:nvSpPr>
        <p:spPr>
          <a:xfrm>
            <a:off x="1005840" y="3246120"/>
            <a:ext cx="7132320" cy="594360"/>
          </a:xfrm>
          <a:prstGeom prst="roundRect">
            <a:avLst>
              <a:gd name="adj" fmla="val 5000"/>
            </a:avLst>
          </a:prstGeom>
          <a:solidFill>
            <a:srgbClr val="F4F5FB"/>
          </a:solidFill>
          <a:ln w="15240">
            <a:solidFill>
              <a:srgbClr val="3730A3"/>
            </a:solidFill>
            <a:prstDash val="solid"/>
          </a:ln>
        </p:spPr>
        <p:txBody>
          <a:bodyPr/>
          <a:lstStyle/>
          <a:p>
            <a:endParaRPr lang="en-US"/>
          </a:p>
        </p:txBody>
      </p:sp>
      <p:sp>
        <p:nvSpPr>
          <p:cNvPr id="16" name="Text"/>
          <p:cNvSpPr/>
          <p:nvPr/>
        </p:nvSpPr>
        <p:spPr>
          <a:xfrm>
            <a:off x="1188720" y="3246120"/>
            <a:ext cx="2377440" cy="594360"/>
          </a:xfrm>
          <a:prstGeom prst="rect">
            <a:avLst/>
          </a:prstGeom>
          <a:noFill/>
          <a:ln/>
        </p:spPr>
        <p:txBody>
          <a:bodyPr wrap="square" lIns="0" tIns="0" rIns="0" bIns="0" rtlCol="0" anchor="ctr">
            <a:normAutofit/>
          </a:bodyPr>
          <a:lstStyle/>
          <a:p>
            <a:pPr marL="0" indent="0" algn="l">
              <a:buNone/>
            </a:pPr>
            <a:r>
              <a:rPr lang="en-US" sz="1200" b="1" i="0">
                <a:solidFill>
                  <a:srgbClr val="3730A3"/>
                </a:solidFill>
                <a:latin typeface="Georgia" pitchFamily="34" charset="0"/>
                <a:ea typeface="Georgia" pitchFamily="34" charset="-122"/>
                <a:cs typeface="Georgia" pitchFamily="34" charset="-120"/>
              </a:rPr>
              <a:t>PennyLane Codebook</a:t>
            </a:r>
            <a:endParaRPr lang="en-US" sz="1200"/>
          </a:p>
        </p:txBody>
      </p:sp>
      <p:sp>
        <p:nvSpPr>
          <p:cNvPr id="17" name="Text"/>
          <p:cNvSpPr/>
          <p:nvPr/>
        </p:nvSpPr>
        <p:spPr>
          <a:xfrm>
            <a:off x="3657600" y="3246120"/>
            <a:ext cx="2560320" cy="594360"/>
          </a:xfrm>
          <a:prstGeom prst="rect">
            <a:avLst/>
          </a:prstGeom>
          <a:noFill/>
          <a:ln/>
        </p:spPr>
        <p:txBody>
          <a:bodyPr wrap="square" lIns="0" tIns="0" rIns="0" bIns="0" rtlCol="0" anchor="ctr">
            <a:normAutofit/>
          </a:bodyPr>
          <a:lstStyle/>
          <a:p>
            <a:pPr marL="0" indent="0" algn="l">
              <a:buNone/>
            </a:pPr>
            <a:r>
              <a:rPr lang="en-US" sz="1000" b="0" i="0">
                <a:solidFill>
                  <a:srgbClr val="1A1A2E"/>
                </a:solidFill>
                <a:latin typeface="Georgia" pitchFamily="34" charset="0"/>
                <a:ea typeface="Georgia" pitchFamily="34" charset="-122"/>
                <a:cs typeface="Georgia" pitchFamily="34" charset="-120"/>
              </a:rPr>
              <a:t>Interactive exercises</a:t>
            </a:r>
            <a:endParaRPr lang="en-US" sz="1000"/>
          </a:p>
        </p:txBody>
      </p:sp>
      <p:sp>
        <p:nvSpPr>
          <p:cNvPr id="18" name="Text"/>
          <p:cNvSpPr/>
          <p:nvPr/>
        </p:nvSpPr>
        <p:spPr>
          <a:xfrm>
            <a:off x="6217920" y="3246120"/>
            <a:ext cx="1737360" cy="594360"/>
          </a:xfrm>
          <a:prstGeom prst="rect">
            <a:avLst/>
          </a:prstGeom>
          <a:noFill/>
          <a:ln/>
        </p:spPr>
        <p:txBody>
          <a:bodyPr wrap="square" lIns="0" tIns="0" rIns="0" bIns="0" rtlCol="0" anchor="ctr">
            <a:normAutofit/>
          </a:bodyPr>
          <a:lstStyle/>
          <a:p>
            <a:pPr marL="0" indent="0" algn="l">
              <a:buNone/>
            </a:pPr>
            <a:r>
              <a:rPr lang="en-US" sz="900" b="0" i="0">
                <a:solidFill>
                  <a:srgbClr val="4B5563"/>
                </a:solidFill>
                <a:latin typeface="Georgia" pitchFamily="34" charset="0"/>
                <a:ea typeface="Georgia" pitchFamily="34" charset="-122"/>
                <a:cs typeface="Georgia" pitchFamily="34" charset="-120"/>
              </a:rPr>
              <a:t>hands-on practice</a:t>
            </a:r>
            <a:endParaRPr lang="en-US" sz="900"/>
          </a:p>
        </p:txBody>
      </p:sp>
      <p:sp>
        <p:nvSpPr>
          <p:cNvPr id="19" name="Text"/>
          <p:cNvSpPr/>
          <p:nvPr/>
        </p:nvSpPr>
        <p:spPr>
          <a:xfrm>
            <a:off x="640080" y="4023360"/>
            <a:ext cx="7863840" cy="182880"/>
          </a:xfrm>
          <a:prstGeom prst="rect">
            <a:avLst/>
          </a:prstGeom>
          <a:noFill/>
          <a:ln/>
        </p:spPr>
        <p:txBody>
          <a:bodyPr wrap="square" lIns="0" tIns="0" rIns="0" bIns="0" rtlCol="0" anchor="ctr">
            <a:normAutofit/>
          </a:bodyPr>
          <a:lstStyle/>
          <a:p>
            <a:pPr marL="0" indent="0" algn="ctr">
              <a:buNone/>
            </a:pPr>
            <a:r>
              <a:rPr lang="en-US" sz="800" b="0" i="0">
                <a:solidFill>
                  <a:srgbClr val="6B7280"/>
                </a:solidFill>
                <a:latin typeface="Georgia" pitchFamily="34" charset="0"/>
                <a:ea typeface="Georgia" pitchFamily="34" charset="-122"/>
                <a:cs typeface="Georgia" pitchFamily="34" charset="-120"/>
              </a:rPr>
              <a:t>pennylane.ai/codebook</a:t>
            </a:r>
            <a:endParaRPr lang="en-US" sz="800"/>
          </a:p>
        </p:txBody>
      </p:sp>
      <p:sp>
        <p:nvSpPr>
          <p:cNvPr id="20" name="Text"/>
          <p:cNvSpPr/>
          <p:nvPr/>
        </p:nvSpPr>
        <p:spPr>
          <a:xfrm>
            <a:off x="640080" y="4315968"/>
            <a:ext cx="7863840" cy="365760"/>
          </a:xfrm>
          <a:prstGeom prst="rect">
            <a:avLst/>
          </a:prstGeom>
          <a:noFill/>
          <a:ln/>
        </p:spPr>
        <p:txBody>
          <a:bodyPr wrap="square" lIns="0" tIns="0" rIns="0" bIns="0" rtlCol="0" anchor="ctr">
            <a:normAutofit/>
          </a:bodyPr>
          <a:lstStyle/>
          <a:p>
            <a:pPr marL="0" indent="0" algn="ctr">
              <a:buNone/>
            </a:pPr>
            <a:r>
              <a:rPr lang="en-US" sz="1250" b="0" i="1">
                <a:solidFill>
                  <a:srgbClr val="6B7280"/>
                </a:solidFill>
                <a:latin typeface="Georgia" pitchFamily="34" charset="0"/>
                <a:ea typeface="Georgia" pitchFamily="34" charset="-122"/>
                <a:cs typeface="Georgia" pitchFamily="34" charset="-120"/>
              </a:rPr>
              <a:t>Sources for the material in this subunit and for deeper study.</a:t>
            </a:r>
            <a:endParaRPr lang="en-US" sz="12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6473</Words>
  <Application>Microsoft Office PowerPoint</Application>
  <PresentationFormat>On-screen Show (16:9)</PresentationFormat>
  <Paragraphs>969</Paragraphs>
  <Slides>75</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75</vt:i4>
      </vt:variant>
    </vt:vector>
  </HeadingPairs>
  <TitlesOfParts>
    <vt:vector size="80" baseType="lpstr">
      <vt:lpstr>Arial</vt:lpstr>
      <vt:lpstr>Calibri</vt:lpstr>
      <vt:lpstr>Cambria Math</vt:lpstr>
      <vt:lpstr>Georgia</vt:lpstr>
      <vt:lpstr>Office Theme</vt:lpstr>
      <vt:lpstr>PowerPoint Presentation</vt:lpstr>
      <vt:lpstr>Multiple Qubit Systems</vt:lpstr>
      <vt:lpstr>Learning objectives</vt:lpstr>
      <vt:lpstr>The big question: why multiple qubits?</vt:lpstr>
      <vt:lpstr>Classical versus quantum scaling</vt:lpstr>
      <vt:lpstr>State-space scaling:</vt:lpstr>
      <vt:lpstr>Direct sum: classical combination</vt:lpstr>
      <vt:lpstr>Tensor product: quantum combination</vt:lpstr>
      <vt:lpstr>Direct sum versus tensor product</vt:lpstr>
      <vt:lpstr>Tensor-product distributivity</vt:lpstr>
      <vt:lpstr>Building the two-qubit basis</vt:lpstr>
      <vt:lpstr>The 3-qubit basis tree</vt:lpstr>
      <vt:lpstr>Section checkpoint</vt:lpstr>
      <vt:lpstr>One state, three representations</vt:lpstr>
      <vt:lpstr>The general two-qubit state</vt:lpstr>
      <vt:lpstr>Amplitude versus probability</vt:lpstr>
      <vt:lpstr>Worked example:  |+⟩ ⊗ |−⟩</vt:lpstr>
      <vt:lpstr>Normalization check</vt:lpstr>
      <vt:lpstr>Matrix representation</vt:lpstr>
      <vt:lpstr>The Bell basis</vt:lpstr>
      <vt:lpstr>Why Bell states matter</vt:lpstr>
      <vt:lpstr>Global phase versus relative phase</vt:lpstr>
      <vt:lpstr>Phase intuition: the complex plane</vt:lpstr>
      <vt:lpstr>Mini activity: classify the states</vt:lpstr>
      <vt:lpstr>What is a separable state?</vt:lpstr>
      <vt:lpstr>What is an entangled state?</vt:lpstr>
      <vt:lpstr>The Bell state as the canonical example</vt:lpstr>
      <vt:lpstr>Entanglement: decomposition-based</vt:lpstr>
      <vt:lpstr>Entanglement is not basis dependent</vt:lpstr>
      <vt:lpstr>The EPR pair</vt:lpstr>
      <vt:lpstr>Section summary: entanglement</vt:lpstr>
      <vt:lpstr>Measurement as subspace selection</vt:lpstr>
      <vt:lpstr>Measurement probability</vt:lpstr>
      <vt:lpstr>Partial measurement</vt:lpstr>
      <vt:lpstr>Partial-measurement probabilities</vt:lpstr>
      <vt:lpstr>Post-measurement state</vt:lpstr>
      <vt:lpstr>Measurement need not reveal every bit</vt:lpstr>
      <vt:lpstr>Equality projectors</vt:lpstr>
      <vt:lpstr>Guided problem: E3</vt:lpstr>
      <vt:lpstr>Outer product intuition</vt:lpstr>
      <vt:lpstr>Outer products as matrices</vt:lpstr>
      <vt:lpstr>Pauli-X from outer products</vt:lpstr>
      <vt:lpstr>The projection operator</vt:lpstr>
      <vt:lpstr>Two properties every projector satisfies</vt:lpstr>
      <vt:lpstr>Trace equals dimension</vt:lpstr>
      <vt:lpstr>Observable  =  Hermitian operator</vt:lpstr>
      <vt:lpstr>Spectral decomposition</vt:lpstr>
      <vt:lpstr>The measurement postulate</vt:lpstr>
      <vt:lpstr>A misconception worth naming</vt:lpstr>
      <vt:lpstr>Operators on composite systems</vt:lpstr>
      <vt:lpstr>Eigenvalues multiply</vt:lpstr>
      <vt:lpstr>Decomposable vs non-decomposable</vt:lpstr>
      <vt:lpstr>Important example:  ZZ</vt:lpstr>
      <vt:lpstr>Worked example: measuring Z⊗Z</vt:lpstr>
      <vt:lpstr>Why not just use the Bloch sphere?</vt:lpstr>
      <vt:lpstr>Anatomy of a Q-sphere</vt:lpstr>
      <vt:lpstr>Read a Q-sphere</vt:lpstr>
      <vt:lpstr>From entanglement to Bell's theorem</vt:lpstr>
      <vt:lpstr>Alice and Bob</vt:lpstr>
      <vt:lpstr>Quantum prediction</vt:lpstr>
      <vt:lpstr>Local hidden-variable assumption</vt:lpstr>
      <vt:lpstr>Bell inequality</vt:lpstr>
      <vt:lpstr>Quantum challenge</vt:lpstr>
      <vt:lpstr>Where quantum mechanics lands</vt:lpstr>
      <vt:lpstr>Exercise: the 45° configuration</vt:lpstr>
      <vt:lpstr>From Bell violation to security</vt:lpstr>
      <vt:lpstr>Ekert protocol overview</vt:lpstr>
      <vt:lpstr>The Bell test as an intrusion detector</vt:lpstr>
      <vt:lpstr>Ekert numerical example</vt:lpstr>
      <vt:lpstr>Concept map</vt:lpstr>
      <vt:lpstr>Formula sheet</vt:lpstr>
      <vt:lpstr>Team challenge</vt:lpstr>
      <vt:lpstr>Exit quiz</vt:lpstr>
      <vt:lpstr>Final synthesis</vt:lpstr>
      <vt:lpstr>References and further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Amrit Raj K</dc:creator>
  <cp:lastModifiedBy>Amrit Raj K</cp:lastModifiedBy>
  <cp:revision>3</cp:revision>
  <dcterms:created xsi:type="dcterms:W3CDTF">2026-08-14T11:09:19Z</dcterms:created>
  <dcterms:modified xsi:type="dcterms:W3CDTF">2026-09-08T09:44:50Z</dcterms:modified>
</cp:coreProperties>
</file>