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311" r:id="rId32"/>
    <p:sldId id="312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261" r:id="rId57"/>
    <p:sldId id="262" r:id="rId5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rit Raj K" userId="e4c3bcef-5252-4fb0-89b9-2d79c5779c3d" providerId="ADAL" clId="{F33D235A-E94E-40D7-9E6C-4A1BCF14868E}"/>
    <pc:docChg chg="undo redo custSel addSld modSld sldOrd modMainMaster">
      <pc:chgData name="Amrit Raj K" userId="e4c3bcef-5252-4fb0-89b9-2d79c5779c3d" providerId="ADAL" clId="{F33D235A-E94E-40D7-9E6C-4A1BCF14868E}" dt="2026-09-11T11:58:53.891" v="479" actId="21"/>
      <pc:docMkLst>
        <pc:docMk/>
      </pc:docMkLst>
      <pc:sldMasterChg chg="addSp delSp modSp mod">
        <pc:chgData name="Amrit Raj K" userId="e4c3bcef-5252-4fb0-89b9-2d79c5779c3d" providerId="ADAL" clId="{F33D235A-E94E-40D7-9E6C-4A1BCF14868E}" dt="2026-09-11T11:58:53.891" v="479" actId="21"/>
        <pc:sldMasterMkLst>
          <pc:docMk/>
          <pc:sldMasterMk cId="2190567906" sldId="2147483648"/>
        </pc:sldMasterMkLst>
        <pc:picChg chg="add del mod">
          <ac:chgData name="Amrit Raj K" userId="e4c3bcef-5252-4fb0-89b9-2d79c5779c3d" providerId="ADAL" clId="{F33D235A-E94E-40D7-9E6C-4A1BCF14868E}" dt="2026-09-11T11:58:53.891" v="479" actId="21"/>
          <ac:picMkLst>
            <pc:docMk/>
            <pc:sldMasterMk cId="2190567906" sldId="2147483648"/>
            <ac:picMk id="3" creationId="{A88D68E9-E4DB-AB59-2E2B-638946D0E43C}"/>
          </ac:picMkLst>
        </pc:pic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students. This unit (2.6) is an 8-hour deep dive into quantum error correction, the bridge between today's noisy qubits and tomorrow's fault-tolerant machines. Frame the journey: we start from a question — 'why can't we just copy a qubit three times?' — and end at the surface code that real hardware (Google, IBM) is building today. Set expectations: heavy use of circuit diagrams, a think-pair-share every 20 minutes, and a recap at the end of each 2-hour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class through the arc of the day. Emphasise that each 2-hour block is self-contained but builds on the last: Block 1 establishes why QEC is hard and introduces the simplest code; Block 2 handles phase errors and the first full code (Shor); Block 3 gives the algebraic machinery (stabilizers, CSS); Block 4 reaches the modern topological codes used in real hardware. Tell students the 'Motivate → Define → Demonstrate → Practice' rhythm so they know to expect hands-on moments, not just lecture.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a question to the room: 'If a classical bit is unreliable, what do we do?' (Answer: copy it — majority vote.) Then drop the bombshell: the no-cloning theorem forbids copying an unknown qubit, so that classical trick is off the table. Use the three numbers as anchors — coherence in microseconds, gate errors around a percent, and the no-cloning wall. The tension this sets up (we need redundancy but can't copy) is exactly what QEC resolves through entanglement and syndrome measurement. Think-pair-share: 'Why can't we just measure the qubit to check it?'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heart of Block 1. Contrast the two columns line by line. The two biggest surprises for students: (1) quantum errors are continuous, not just flips — yet we'll show next block that measuring the syndrome *discretizes* them into X and Z; (2) we never measure the data qubit itself, only parity checks (syndromes) between qubits. Use the bottom strip as the takeaway they should write down. Demonstrate on the board: measuring Z₁Z₂ tells you whether qubits 1 and 2 agree, without revealing whether they're both 0 or both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circuit on the board live: two CNOTs entangle the data qubit with two ancillas to create |000⟩ or |111⟩ — stress this is NOT cloning, it's entanglement. Then inject an X error on the middle qubit and walk through measuring the two parity checks Z₁Z₂ and Z₂Z₃. The syndrome (which parities are violated) points to the flipped qubit without revealing the logical value. Hammer the limitation: this code is blind to phase-flip (Z) errors — which motivates the next demonstration and ultimately the Shor code. Practice: ask students to work out the syndrome table for an error on qubit 1 vs qubit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Welcome students. Set expectations: 8 hours, hands-on circuits, no prior QEC needed. Mention QEC is the most practically important topic — without it, no large-scale quantum computer exists. Icebreaker: 'Who has heard of quantum decoherence?'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Read quickly. Emphasize the progression: classical → simple quantum → sophisticated → practical. By the end, students will understand how Google and IBM protect their quantum processors.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Tell the skepticism story. The breakthrough: error correction does not require measuring the quantum state directly. Analogy: a whispered message in a noisy room — you cannot hear the message, but you CAN hear that someone is talking.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 important conceptual slide of Block 1. No-Cloning is the fundamental roadblock. Ask: 'If I cannot copy, how do I create redundancy?' Answer: entanglement creates correlations without cloning. The state α|000⟩+β|111⟩ is NOT three copies — it is one entangled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the proof slowly — for many students this is their first formal proof. The contradiction arises because linearity (superposition) is incompatible with copying. The Bell state (|00⟩+|11⟩)/√2 has NO classical analogue.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Review for engineering students — majority voting comes from digital logic. Emphasize the threshold: the code only helps when p&lt;0.5. For quantum, the threshold is MUCH lower (~1-3%). Ask: 'Why can't we use this directly for quantum?' Lead into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Draw the circuit LIVE or animate it. The output cannot be written as a tensor product of three separate states. Students confuse |000⟩ as 'three zeros' — clarify: all three qubits are in |0⟩ simultaneously, in superposition with |111⟩.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Heart of the 3-qubit code. Ancilla qubits are 'ears' that listen for errors without 'looking' at the data. Walk through each case: no error, qubit 1, qubit 2, qubit 3. Use a live demo (Qiskit / Quirk / whiteboard). Emphasize: the syndrome tells you WHERE, not WHAT.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Story-like slide. Use a concrete example: α=β=1/√2 (the |+⟩ state). Trace the amplitudes. α and β are NEVER measured — only the syndrome is. The magic of QEC: learn about the error without learning about the data. Ask: 'Could we do this classically?'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 honest about limitations — it builds credibility. The double-error example is crucial: the syndrome misidentifies the error. Phase-flip blindness is the bigger problem: Z-errors are completely invisible. Analogy: a security camera sees intruders (X) but not ghosts (Z).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Structured recap — NOT just reading bullets. Ask students to explain each point to a neighbor (think-pair-share). The poll tests the core concept: syndrome-to-error mapping. If fewer than 70% are correct, spend three more minutes on the syndrome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Announce the break. Put a 10:00 countdown on screen. The return prompt primes Block 2 (phase flips). Loop a quantum-processor video silently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Pivotal moment of Block 2. The 3-qubit bit-flip code is completely blind to phase flips. Analogy: security guard checks for broken windows (X) but cannot see graffiti (Z). Ask: 'How would YOU design a code that detects phase flips?' Let students brainstorm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 elegant trick in quantum computing. Emphasize: NOT changing physical error (Z still acts as Z), but changing CODE so Z looks like X-error to syndrome. Analogy: changing coordinate systems in linear algebra. Live demo: show HZH = X on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through full circuit: H⊗H⊗H, then CNOTs for X-parities, then H⊗H⊗H again. Show equivalent to measuring Z-parities in original basis. Syndrome table is 'dual' of bit-flip table — X and Z swap roles. Ask students to verify one row themselves (2 minutes).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Natural progression. Students feel tension: two codes, each solving half the problem. Solution is concatenation — don't reveal yet. Let them guess. Some suggest 6 qubits (3 for each). Acknowledge close, but not enough — need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Shor code combines two simple ideas into one powerful code. Draw tree diagram on board — most intuitive representation. Emphasize: NOT 9 independent copies. State is highly entangled superposition of 512 basis states, but only 2 are 'legitimate.' Mention Peter Shor's 1995 paper — convinced field QEC was possible.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Most complex circuit in course. Break down carefully. First correct X-errors in each block independently — three copies of 3-qubit bit-flip code. Then for Z-errors, decode each block to single qubit (|+⟩ or |−⟩), measure phase-flip syndrome, re-encode. Independence crucial: X and Z corrections commute (up to global phase), so order doesn't matter.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Y-error example is climax of Shor code section. Shows code corrects not just X and Z separately, but ANY linear combination. Walk through math: Y = iXZ, so correcting X then Z (or Z then X) removes error. Anti-commutation (XZ = −ZX) only introduces global phase, no physical consequence. First time students see quantum codes handle continuous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Threshold comparison shocking — quantum information 15× more delicate than classical! But this was proof of principle. Modern codes (surface codes) achieve ~1% threshold with much better overhead. Mention Google's 2023 result: distance-5 surface code outperformed distance-3, proving below-threshold operation. Bridges to next topic: need better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Foundation of all QEC. Continuous errors → discrete corrections. Key is syndrome measurement, which acts as projective measurement in Pauli basis. Analogy: spinning coin can land at any angle, but when caught, collapses to heads or tails. 'Catching' = syndrome measurement; 'heads/tails' = Pauli errors.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Extend discretization to multiple qubits. For 9-qubit Shor code: 4⁹ = 262,144 possible Pauli errors, but only 2⁸ = 256 syndromes. Each syndrome corrects 262,144/256 = 1,024 errors — power of degeneracy.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Recap journey: from code correcting one error type, to code correcting any single-qubit error, to theorem saying ALL errors correctable. Poll is simple but tests attention. If students struggle, revisit encoding formula.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Standard break. Return prompt sets up stabilizer formalism — the 'systematic way' to describe codes.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Transition from specific examples to general theory. Ask: 'We've seen three codes. What do they have in common?' Answer: all use commuting Pauli operators to define valid states. This is the stabilizer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first of two primer slides easing students into group theory before the Pauli group. Walk through the four axioms (closure, associativity, identity, inverse) with a concrete check on matrix multiplication. Define Abelian, subgroup (H ≤ G), and order |G| plainly — these three terms recur throughout the stabilizer discussion. Close on the single-qubit Pauli group of order 16 so the abstract axioms land on something they already recognize.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Second primer: the payoff. Stress that a small set of independent generators specifies a whole group — k generators give 2ᵏ elements — which is exactly why stabilizer codes are compact to describe. Then connect commutation to shared +1 eigenstates: only commuting operators can be simultaneously fixed. Land the bridge explicitly: a stabilizer group is an Abelian subgroup of the Pauli group that excludes −I, and its simultaneous +1 eigenspace is the code space. This sets up the Pauli Group Essentials slide that follows.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Pauli algebra quickly — students have seen this in Unit 1. Emphasize anti-commutation: this is why stabilizers must commute (to have simultaneous +1 eigenstates). Weight concept crucial for understanding code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condition carefully. Condition 1 (commutation) ensures simultaneous eigenstates exist. Condition 2 prevents redundancy. Condition 3 ensures code space is non-trivial (not empty). Use analogy: stabilizers like 'conservation laws' — valid states are those that satisfy all constraints.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students verify commutativity for 3-qubit code (2 minutes). Point out 5-qubit code is special — minimum qubits for [[n,1,3]], but NOT a CSS code (requires Y-type stabilizers). This motivates why CSS codes are a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Case 2 is subtle — undetected errors that are NOT stabilizers. These are the 'logical operators' that can corrupt encoded information. Distance is minimum weight of such operator. Use 3-qubit code example: XXX commutes with all stabilizers but is NOT in stabilizer → logical X operator.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Emphasize [[n,m,d]] is quantum analogue of classical [n,k,d]. The ⌊(d−1)/2⌋ formula is same as classical coding theory. For d=3, can correct 1 error. For d=5, can correct 2 errors. Ask: 'Why not just maximize d?' Answer: trade-off with n (overhead) and m (encoding rate).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Review for engineering students — linear algebra over 𝔽₂. Emphasize generator doubles code space, parity check halves it: n = m + r. This duality is key to CSS construction. Use concrete Hamming code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CSS construction is the bridge between classical and quantum coding. The condition C₂ ⊂ C₁ is crucial — it ensures Z-stabilizers (from C₁) commute with X-stabilizers (from C₂⊥). Use Steane code as worked example: C₁ = C₂⊥ = [7,4,3] Hamming code, so C₂ ⊂ C₁ is satisfied.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Steane code is the 'gold standard' for small codes. Point out that Steane and Shor both correct 1 error, but Steane uses fewer qubits. However, Shor's construction is more intuitive (concatenation). Modern preference: Steane for small systems, surface codes for large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Important clarification: Gottesman-Knill says stabilizer codes are classically simulable, but this does NOT make them useless. They are essential for QEC — the 'scaffolding' that protects quantum computation. The quantum advantage comes from non-Clifford operations (e.g., T-gates) acting on logical qubits.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Recap emphasizes the 'upgrade': from ad-hoc codes to systematic framework. Poll tests attention to Steane code parameters. If students miss it, revisit Slide 33.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Return prompt primes Block 4 on topological codes. Mention that surface codes are what Google and IBM actually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Open Block 4 by reframing everything so far: small codes (Shor, Steane, 5-qubit) are conceptually beautiful but do not scale — their stabilizers are global and fault-tolerant thresholds are hard. Topological codes change the game: information is stored in global, non-local properties of a 2D lattice, while every check is strictly local (nearest-neighbour). This locality is exactly what real hardware can do. Tell students this is why Google, IBM, and the National Quantum Mission all bet on this family.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Kitaev's 1997 toric code as the founding example. Draw the L×L square lattice on the board: qubits live on EDGES, not vertices. Two operator types: plaquette operators (product of Z around a face) and vertex/star operators (product of X around a vertex). Stress that each acts on only 4 qubits — locality. The 'toric' name comes from periodic boundary conditions wrapping the square into a torus. Spend time on the geometry; everything later depends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 make the parameters precise: n = 2L² physical qubits, with L² plaquette and L² vertex stabilizers, but two of them are dependent (product of all plaquettes = identity, same for vertices). That leaves 2L²−2 independent checks, encoding k = 2 logical qubits with distance d = L. So the toric code is [[2L²,2,L]]. The torus picture matters: the two logical qubits correspond to the two independent non-contractible loops around the torus.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Error detection is the heart of the intuition. A single qubit error flips the eigenvalue of the stabilizers that touch it, producing a pair of −1 'defects' (syndromes) at the endpoints of the error chain. Errors form strings; only their endpoints are visible. Walk through the diagram: a chain of X errors lights up two plaquette defects. Emphasise that the interior of the chain is invisible — only endpoints register — which is precisely why decoding is a matching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is the conceptually deepest slide: logical operators are non-contractible loops that wrap the torus. A contractible loop is a product of stabilizers — it acts trivially on the code space. A non-contractible loop commutes with every stabilizer but is NOT a product of them: it is a logical operator. Degeneracy means many physical errors correspond to the same logical effect. Connect distance d=L to the shortest non-contractible loop. Use the coffee-mug/torus analogy for contractible vs non-contractible.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Error correction = pairing up the defects. Given the syndrome (a set of −1 defects), the decoder must guess an error chain consistent with it. The standard tool is minimum-weight perfect matching (Edmonds' Blossom algorithm, 1965), which pairs defects with the shortest total connecting paths. Stress the failure mode: if the guessed correction plus the real error together form a non-contractible loop, you have applied a logical error. Correction succeeds when they form only contractible loops.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Bridge from toric to surface codes. The torus is mathematically clean but physically impossible — you cannot wire qubits on a doughnut. Surface codes keep the same local checks but use a planar patch with OPEN boundaries. Introduce rough vs smooth boundaries: they terminate X-type and Z-type chains differently, and this is what creates a single logical qubit on a planar sheet. Parameters become [[d²,1,d]]. This is the practical, chip-friendly descendant of the toric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Rotated surface codes are an efficiency optimisation, not a new idea. By rotating the lattice 45° and trimming, you achieve the same distance d with roughly half the qubits — about 2d²−1 instead of ~d²+(d−1)². Give the concrete number: a distance-5 code drops from roughly 49 to about 37 physical qubits. This is why every modern experimental surface code (Google's Willow included) uses the rotated layout. The checkerboard of X and Z plaquettes is the visual signature.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Color codes are the third topological family. They live on a 3-colorable trivalent lattice (e.g., hexagonal) where each face carries BOTH an X and a Z stabilizer. The payoff is transversal Clifford gates — all of them, including the Hadamard and S gates, which surface codes cannot do transversally. The cost is higher-weight stabilizers and harder decoding. Quote the small [[19,1,5]] color code. Frame it as a trade: richer gate set versus harder hardware and decoding.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Ground the theory in 2023–2025 reality. Google 2023: first demonstration that a larger code (d=5) has a lower logical error rate than a smaller one (d=3) — crossing the threshold, below-threshold operation. Google Willow 2024: distance-7 surface code, error suppression scaling as expected. IBM pursues heavy-hex layouts and LDPC codes for lower overhead. Mention India's National Quantum Mission funding this area. Be honest: we are still in the era of a few logical qubits, not thousands.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Course summary slide — zoom all the way out. Walk the journey chips left to right: classical error correction → quantum no-cloning challenge → the three conditions of stabilizer formalism → CSS and small codes → topological codes → surface codes on real hardware. The arc is from impossibility (no-cloning, continuous errors) to engineering reality (below-threshold chips). Invite students to name which milestone surprised them most. This is the emotional payoff of the unit.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Q&amp;A and exercise wrap-up. Budget time for the worked solutions: verifying toric code stabilizer commutation, counting independent generators to get k=2, and a minimum-weight matching example on a small lattice. Encourage students to attempt the distance counting themselves before revealing answers. Close by pointing to next steps: fault-tolerant logical gates, magic state distillation, and the LDPC codes that may eventually beat the surface code on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payoff of Block 2. Explain concatenation as a code-within-a-code: first encode against phase flips (the three blocks, in the |000⟩±|111⟩ basis), then encode each of those qubits against bit flips (the three qubits inside each block). The result, the [[9,1,3]] Shor code from 1995, corrects an ARBITRARY single-qubit error. Connect back to the discretization argument: because syndrome measurement collapses any small continuous error onto the discrete Pauli operators {I, X, Y, Z}, fixing X and Z is enough. This is the 'aha' that makes digital quantum error correction possible. Recap the block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the starter deck by pointing forward. The surface code is where the whole course is heading: a topological code on a 2D grid that needs only local parity checks, tolerates roughly a 1% physical error rate, and scales its protection with the square of the code distance. Tell students this is not theoretical — it's the architecture Google and IBM are actually building. Bridge to Block 3: before they can decode a surface code, they need the stabilizer formalism, which is the next block. End with the exercise prompt: hand-decode a small surface-code syndrome.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056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520440" cy="51435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3520440" y="0"/>
            <a:ext cx="54864" cy="514350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81328" y="1828800"/>
            <a:ext cx="457200" cy="457200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2276856" y="1828800"/>
            <a:ext cx="457200" cy="457200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81328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76856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2395728"/>
            <a:ext cx="1591056" cy="0"/>
          </a:xfrm>
          <a:prstGeom prst="line">
            <a:avLst/>
          </a:prstGeom>
          <a:noFill/>
          <a:ln w="1905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487168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logical qubit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4526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kern="0" spc="10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DELIVERY GUIDE  ·  v1.0  ·  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886200" y="10515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2.6  ·  QUANTUM COMPUTING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858768" y="137160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Error</a:t>
            </a:r>
            <a:endParaRPr lang="en-US" sz="41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41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Correction</a:t>
            </a:r>
            <a:endParaRPr lang="en-US" sz="4100" dirty="0"/>
          </a:p>
        </p:txBody>
      </p:sp>
      <p:sp>
        <p:nvSpPr>
          <p:cNvPr id="15" name="Text 13"/>
          <p:cNvSpPr/>
          <p:nvPr/>
        </p:nvSpPr>
        <p:spPr>
          <a:xfrm>
            <a:off x="3886200" y="27889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classical repetition codes to fault-tolerant surface codes.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3886200" y="3611880"/>
            <a:ext cx="4800600" cy="10973"/>
          </a:xfrm>
          <a:prstGeom prst="rect">
            <a:avLst/>
          </a:prstGeom>
          <a:solidFill>
            <a:srgbClr val="D4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886200" y="374904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  </a:t>
            </a:r>
            <a:r>
              <a:rPr lang="en-US" sz="12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— Basics of Quantum Computing
</a:t>
            </a:r>
            <a:endParaRPr lang="en-US" sz="1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DAY IS STRUCTURED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Session Overview 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0537459"/>
              </p:ext>
            </p:extLst>
          </p:nvPr>
        </p:nvGraphicFramePr>
        <p:xfrm>
          <a:off x="457200" y="1463039"/>
          <a:ext cx="8164286" cy="2504802"/>
        </p:xfrm>
        <a:graphic>
          <a:graphicData uri="http://schemas.openxmlformats.org/drawingml/2006/table">
            <a:tbl>
              <a:tblPr/>
              <a:tblGrid>
                <a:gridCol w="1378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44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14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535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D4F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1–2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4F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Motivation &amp; classical foundations → 3-qubit bit-flip code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8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D4F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3–4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4F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Phase-flip errors → 9-qubit Shor code → error discretization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8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3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D4F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5–6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4F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Stabilizer formalism → CSS codes → classical linear codes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86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B3A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 4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3D4F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Hours 7–8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3D4F5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Toric code → surface codes → color codes → summary &amp; exercises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160520"/>
            <a:ext cx="8229600" cy="566928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457200" y="4160520"/>
            <a:ext cx="64008" cy="566928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58368" y="41605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Pedagogical rhythm   </a:t>
            </a:r>
            <a:r>
              <a:rPr lang="en-US" sz="105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block follows </a:t>
            </a:r>
            <a:r>
              <a:rPr lang="en-US" sz="105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 → Define → Demonstrate → Practice</a:t>
            </a:r>
            <a:r>
              <a:rPr lang="en-US" sz="105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classical analogy first, then quantum, with a 2-minute think-pair-share every 20 minutes.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 · BLOCK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Quantum Error Correction?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are exquisitely fragile. Before we can compute, we must keep quantum information alive long enough — and classical tricks don't transfer directly.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57200" y="2057400"/>
            <a:ext cx="2606040" cy="2286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260604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23134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 µs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502920" y="3081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COHERENCE TIME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33832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T₂ for superconducting qubits — information decays in microseconds.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2057400"/>
            <a:ext cx="2606040" cy="2286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337560" y="2057400"/>
            <a:ext cx="260604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0" y="23134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0.1–1%</a:t>
            </a:r>
            <a:endParaRPr lang="en-US" sz="3300" dirty="0"/>
          </a:p>
        </p:txBody>
      </p:sp>
      <p:sp>
        <p:nvSpPr>
          <p:cNvPr id="13" name="Text 11"/>
          <p:cNvSpPr/>
          <p:nvPr/>
        </p:nvSpPr>
        <p:spPr>
          <a:xfrm>
            <a:off x="3383280" y="3081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PER-GATE ERROR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3832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error rates are far too high for long algorithms unaided.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057400"/>
            <a:ext cx="2606040" cy="2286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260604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231343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No-cloning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6263640" y="3081528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WALL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46520" y="33832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unknown qubit can't be copied — so naïve repetition is impossible.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· BLOCK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vs. Quantum Errors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502920"/>
          </a:xfrm>
          <a:prstGeom prst="rect">
            <a:avLst/>
          </a:prstGeom>
          <a:solidFill>
            <a:srgbClr val="3D4F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023360" cy="25146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 mode: the bit flips 0 ↔ 1.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discrete — a bit is either right or wrong.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freely copy a bit (repetition code, majority vote).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value to check it does no harm.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63440" y="1508760"/>
            <a:ext cx="4023360" cy="50292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63440" y="1508760"/>
            <a:ext cx="4023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QUBITS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2011680"/>
            <a:ext cx="4023360" cy="25146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219456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 modes: bit-flip (X) and phase-flip (Z).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continuous — any tiny rotation can creep in.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No-cloning forbids copying the state directly.</a:t>
            </a:r>
            <a:endParaRPr lang="en-US" sz="1400" dirty="0"/>
          </a:p>
          <a:p>
            <a:pPr marL="342900" indent="-342900" algn="l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data destroys the superposition.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5491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 </a:t>
            </a:r>
            <a:r>
              <a:rPr lang="en-US" sz="12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QEC measures </a:t>
            </a:r>
            <a:r>
              <a:rPr lang="en-US" sz="12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syndromes</a:t>
            </a:r>
            <a:r>
              <a:rPr lang="en-US" sz="12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parities of qubits — which reveal the error without ever reading the protected data.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· BLOCK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3-Qubit Bit-Flip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one logical qubit across three physical qubits, then use parity checks to vote out a single bit-flip error.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8229600" cy="105156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2121408"/>
            <a:ext cx="23774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100" b="1" kern="0" spc="100" dirty="0">
                <a:solidFill>
                  <a:srgbClr val="1F6FB2"/>
                </a:solidFill>
              </a:rPr>
              <a:t>ENCODE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|0⟩ → |000⟩</a:t>
            </a:r>
            <a:endParaRPr lang="en-US" sz="11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|1⟩ → |111⟩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840480" y="2304288"/>
            <a:ext cx="457200" cy="457200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26280" y="2304288"/>
            <a:ext cx="457200" cy="457200"/>
          </a:xfrm>
          <a:prstGeom prst="ellipse">
            <a:avLst/>
          </a:prstGeom>
          <a:solidFill>
            <a:srgbClr val="E08A1E"/>
          </a:solidFill>
          <a:ln w="15875">
            <a:solidFill>
              <a:srgbClr val="B5710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2628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212080" y="2304288"/>
            <a:ext cx="457200" cy="457200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212080" y="2304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280720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bit-flip (X) on qubit 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89320" y="2532888"/>
            <a:ext cx="640080" cy="0"/>
          </a:xfrm>
          <a:prstGeom prst="line">
            <a:avLst/>
          </a:prstGeom>
          <a:noFill/>
          <a:ln w="19050">
            <a:solidFill>
              <a:srgbClr val="3D4F5D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720840" y="2176272"/>
            <a:ext cx="1783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B3A5B"/>
                </a:solidFill>
              </a:rPr>
              <a:t>Syndrome  </a:t>
            </a:r>
            <a:r>
              <a:rPr lang="en-US" sz="1150" dirty="0">
                <a:solidFill>
                  <a:srgbClr val="3D4F5D"/>
                </a:solidFill>
              </a:rPr>
              <a:t>Z₁Z₂, Z₂Z₃ flag the odd qubit → flip it back. Majority vote restores the state.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383280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383280"/>
            <a:ext cx="64008" cy="105156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58368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bit-flip (X) error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3383280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337560" y="3383280"/>
            <a:ext cx="64008" cy="105156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538728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FIX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538728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phase-flip (Z) errors — yet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3383280"/>
            <a:ext cx="26060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217920" y="3383280"/>
            <a:ext cx="64008" cy="105156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19088" y="351129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19088" y="37947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distance-3 repetition code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bar"/>
          <p:cNvSpPr/>
          <p:nvPr/>
        </p:nvSpPr>
        <p:spPr>
          <a:xfrm>
            <a:off x="0" y="0"/>
            <a:ext cx="80000" cy="514350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q0"/>
          <p:cNvSpPr/>
          <p:nvPr/>
        </p:nvSpPr>
        <p:spPr>
          <a:xfrm>
            <a:off x="3547872" y="1140000"/>
            <a:ext cx="457200" cy="457200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qn0"/>
          <p:cNvSpPr/>
          <p:nvPr/>
        </p:nvSpPr>
        <p:spPr>
          <a:xfrm>
            <a:off x="3547872" y="1140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</a:p>
        </p:txBody>
      </p:sp>
      <p:sp>
        <p:nvSpPr>
          <p:cNvPr id="5" name="q1"/>
          <p:cNvSpPr/>
          <p:nvPr/>
        </p:nvSpPr>
        <p:spPr>
          <a:xfrm>
            <a:off x="4343400" y="1140000"/>
            <a:ext cx="457200" cy="457200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qn1"/>
          <p:cNvSpPr/>
          <p:nvPr/>
        </p:nvSpPr>
        <p:spPr>
          <a:xfrm>
            <a:off x="4343400" y="1140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</a:p>
        </p:txBody>
      </p:sp>
      <p:sp>
        <p:nvSpPr>
          <p:cNvPr id="7" name="q2"/>
          <p:cNvSpPr/>
          <p:nvPr/>
        </p:nvSpPr>
        <p:spPr>
          <a:xfrm>
            <a:off x="5138928" y="1140000"/>
            <a:ext cx="457200" cy="457200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qn2"/>
          <p:cNvSpPr/>
          <p:nvPr/>
        </p:nvSpPr>
        <p:spPr>
          <a:xfrm>
            <a:off x="5138928" y="1140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</a:p>
        </p:txBody>
      </p:sp>
      <p:sp>
        <p:nvSpPr>
          <p:cNvPr id="9" name="qline"/>
          <p:cNvSpPr/>
          <p:nvPr/>
        </p:nvSpPr>
        <p:spPr>
          <a:xfrm>
            <a:off x="4005072" y="1368600"/>
            <a:ext cx="1133856" cy="0"/>
          </a:xfrm>
          <a:prstGeom prst="line">
            <a:avLst/>
          </a:prstGeom>
          <a:noFill/>
          <a:ln w="1905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qcap"/>
          <p:cNvSpPr/>
          <p:nvPr/>
        </p:nvSpPr>
        <p:spPr>
          <a:xfrm>
            <a:off x="457200" y="1660000"/>
            <a:ext cx="8229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logical qubit</a:t>
            </a:r>
          </a:p>
        </p:txBody>
      </p:sp>
      <p:sp>
        <p:nvSpPr>
          <p:cNvPr id="11" name="eb"/>
          <p:cNvSpPr/>
          <p:nvPr/>
        </p:nvSpPr>
        <p:spPr>
          <a:xfrm>
            <a:off x="457200" y="2080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kern="0" spc="20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 ·  HOURS 1–2  ·  MOTIVATION &amp; FOUNDATIONS</a:t>
            </a:r>
          </a:p>
        </p:txBody>
      </p:sp>
      <p:sp>
        <p:nvSpPr>
          <p:cNvPr id="12" name="t1"/>
          <p:cNvSpPr/>
          <p:nvPr/>
        </p:nvSpPr>
        <p:spPr>
          <a:xfrm>
            <a:off x="457200" y="2420000"/>
            <a:ext cx="822960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Quantum Error Correction</a:t>
            </a:r>
          </a:p>
        </p:txBody>
      </p:sp>
      <p:sp>
        <p:nvSpPr>
          <p:cNvPr id="13" name="sub"/>
          <p:cNvSpPr/>
          <p:nvPr/>
        </p:nvSpPr>
        <p:spPr>
          <a:xfrm>
            <a:off x="457200" y="3320000"/>
            <a:ext cx="82296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Protecting Fragile Quantum Information</a:t>
            </a:r>
          </a:p>
        </p:txBody>
      </p:sp>
      <p:sp>
        <p:nvSpPr>
          <p:cNvPr id="14" name="div"/>
          <p:cNvSpPr/>
          <p:nvPr/>
        </p:nvSpPr>
        <p:spPr>
          <a:xfrm>
            <a:off x="3072000" y="3920000"/>
            <a:ext cx="3000000" cy="9144"/>
          </a:xfrm>
          <a:prstGeom prst="rect">
            <a:avLst/>
          </a:prstGeom>
          <a:solidFill>
            <a:srgbClr val="D4DEE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ft"/>
          <p:cNvSpPr/>
          <p:nvPr/>
        </p:nvSpPr>
        <p:spPr>
          <a:xfrm>
            <a:off x="457200" y="4520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2.6  ·  QUANTUM COMPUTING   ·   SME DELIVERY GUIDE  ·  v1.0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 ·  ROADMAP</a:t>
            </a:r>
          </a:p>
        </p:txBody>
      </p:sp>
      <p:sp>
        <p:nvSpPr>
          <p:cNvPr id="17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</a:p>
        </p:txBody>
      </p:sp>
      <p:sp>
        <p:nvSpPr>
          <p:cNvPr id="18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objectives across the four blocks — color-coded by the block where you will master each.</a:t>
            </a:r>
          </a:p>
        </p:txBody>
      </p:sp>
      <p:sp>
        <p:nvSpPr>
          <p:cNvPr id="19" name="chip"/>
          <p:cNvSpPr/>
          <p:nvPr/>
        </p:nvSpPr>
        <p:spPr>
          <a:xfrm>
            <a:off x="457200" y="1820000"/>
            <a:ext cx="380000" cy="38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chipn"/>
          <p:cNvSpPr/>
          <p:nvPr/>
        </p:nvSpPr>
        <p:spPr>
          <a:xfrm>
            <a:off x="457200" y="182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1" name="o"/>
          <p:cNvSpPr/>
          <p:nvPr/>
        </p:nvSpPr>
        <p:spPr>
          <a:xfrm>
            <a:off x="1037200" y="1800000"/>
            <a:ext cx="347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quantum information is fragile and error-prone</a:t>
            </a:r>
          </a:p>
        </p:txBody>
      </p:sp>
      <p:sp>
        <p:nvSpPr>
          <p:cNvPr id="22" name="chip"/>
          <p:cNvSpPr/>
          <p:nvPr/>
        </p:nvSpPr>
        <p:spPr>
          <a:xfrm>
            <a:off x="457200" y="2365000"/>
            <a:ext cx="380000" cy="38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chipn"/>
          <p:cNvSpPr/>
          <p:nvPr/>
        </p:nvSpPr>
        <p:spPr>
          <a:xfrm>
            <a:off x="457200" y="2365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24" name="o"/>
          <p:cNvSpPr/>
          <p:nvPr/>
        </p:nvSpPr>
        <p:spPr>
          <a:xfrm>
            <a:off x="1037200" y="2345000"/>
            <a:ext cx="347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classical repetition codes and majority voting</a:t>
            </a:r>
          </a:p>
        </p:txBody>
      </p:sp>
      <p:sp>
        <p:nvSpPr>
          <p:cNvPr id="25" name="chip"/>
          <p:cNvSpPr/>
          <p:nvPr/>
        </p:nvSpPr>
        <p:spPr>
          <a:xfrm>
            <a:off x="457200" y="2910000"/>
            <a:ext cx="380000" cy="38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chipn"/>
          <p:cNvSpPr/>
          <p:nvPr/>
        </p:nvSpPr>
        <p:spPr>
          <a:xfrm>
            <a:off x="457200" y="291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7" name="o"/>
          <p:cNvSpPr/>
          <p:nvPr/>
        </p:nvSpPr>
        <p:spPr>
          <a:xfrm>
            <a:off x="1037200" y="2890000"/>
            <a:ext cx="347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3-qubit bit-flip code using entanglement</a:t>
            </a:r>
          </a:p>
        </p:txBody>
      </p:sp>
      <p:sp>
        <p:nvSpPr>
          <p:cNvPr id="28" name="chip"/>
          <p:cNvSpPr/>
          <p:nvPr/>
        </p:nvSpPr>
        <p:spPr>
          <a:xfrm>
            <a:off x="457200" y="3455000"/>
            <a:ext cx="380000" cy="38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chipn"/>
          <p:cNvSpPr/>
          <p:nvPr/>
        </p:nvSpPr>
        <p:spPr>
          <a:xfrm>
            <a:off x="457200" y="3455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30" name="o"/>
          <p:cNvSpPr/>
          <p:nvPr/>
        </p:nvSpPr>
        <p:spPr>
          <a:xfrm>
            <a:off x="1037200" y="3435000"/>
            <a:ext cx="347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syndrome measurement with ancilla qubits</a:t>
            </a:r>
          </a:p>
        </p:txBody>
      </p:sp>
      <p:sp>
        <p:nvSpPr>
          <p:cNvPr id="31" name="chip"/>
          <p:cNvSpPr/>
          <p:nvPr/>
        </p:nvSpPr>
        <p:spPr>
          <a:xfrm>
            <a:off x="457200" y="4000000"/>
            <a:ext cx="380000" cy="38000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chipn"/>
          <p:cNvSpPr/>
          <p:nvPr/>
        </p:nvSpPr>
        <p:spPr>
          <a:xfrm>
            <a:off x="457200" y="40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33" name="o"/>
          <p:cNvSpPr/>
          <p:nvPr/>
        </p:nvSpPr>
        <p:spPr>
          <a:xfrm>
            <a:off x="1037200" y="3980000"/>
            <a:ext cx="347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phase-flip errors with the dual code</a:t>
            </a:r>
          </a:p>
        </p:txBody>
      </p:sp>
      <p:sp>
        <p:nvSpPr>
          <p:cNvPr id="34" name="chip"/>
          <p:cNvSpPr/>
          <p:nvPr/>
        </p:nvSpPr>
        <p:spPr>
          <a:xfrm>
            <a:off x="4663440" y="1820000"/>
            <a:ext cx="380000" cy="38000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chipn"/>
          <p:cNvSpPr/>
          <p:nvPr/>
        </p:nvSpPr>
        <p:spPr>
          <a:xfrm>
            <a:off x="4663440" y="182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</a:p>
        </p:txBody>
      </p:sp>
      <p:sp>
        <p:nvSpPr>
          <p:cNvPr id="36" name="o"/>
          <p:cNvSpPr/>
          <p:nvPr/>
        </p:nvSpPr>
        <p:spPr>
          <a:xfrm>
            <a:off x="5243440" y="1800000"/>
            <a:ext cx="347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 the 9-qubit Shor code</a:t>
            </a:r>
          </a:p>
        </p:txBody>
      </p:sp>
      <p:sp>
        <p:nvSpPr>
          <p:cNvPr id="37" name="chip"/>
          <p:cNvSpPr/>
          <p:nvPr/>
        </p:nvSpPr>
        <p:spPr>
          <a:xfrm>
            <a:off x="4663440" y="2365000"/>
            <a:ext cx="380000" cy="38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chipn"/>
          <p:cNvSpPr/>
          <p:nvPr/>
        </p:nvSpPr>
        <p:spPr>
          <a:xfrm>
            <a:off x="4663440" y="2365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39" name="o"/>
          <p:cNvSpPr/>
          <p:nvPr/>
        </p:nvSpPr>
        <p:spPr>
          <a:xfrm>
            <a:off x="5243440" y="2345000"/>
            <a:ext cx="347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stabilizer formalism to describe codes</a:t>
            </a:r>
          </a:p>
        </p:txBody>
      </p:sp>
      <p:sp>
        <p:nvSpPr>
          <p:cNvPr id="40" name="chip"/>
          <p:cNvSpPr/>
          <p:nvPr/>
        </p:nvSpPr>
        <p:spPr>
          <a:xfrm>
            <a:off x="4663440" y="2910000"/>
            <a:ext cx="380000" cy="38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chipn"/>
          <p:cNvSpPr/>
          <p:nvPr/>
        </p:nvSpPr>
        <p:spPr>
          <a:xfrm>
            <a:off x="4663440" y="291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  <p:sp>
        <p:nvSpPr>
          <p:cNvPr id="42" name="o"/>
          <p:cNvSpPr/>
          <p:nvPr/>
        </p:nvSpPr>
        <p:spPr>
          <a:xfrm>
            <a:off x="5243440" y="2890000"/>
            <a:ext cx="347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CSS codes to classical linear codes</a:t>
            </a:r>
          </a:p>
        </p:txBody>
      </p:sp>
      <p:sp>
        <p:nvSpPr>
          <p:cNvPr id="43" name="chip"/>
          <p:cNvSpPr/>
          <p:nvPr/>
        </p:nvSpPr>
        <p:spPr>
          <a:xfrm>
            <a:off x="4663440" y="3455000"/>
            <a:ext cx="380000" cy="380000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chipn"/>
          <p:cNvSpPr/>
          <p:nvPr/>
        </p:nvSpPr>
        <p:spPr>
          <a:xfrm>
            <a:off x="4663440" y="3455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</a:p>
        </p:txBody>
      </p:sp>
      <p:sp>
        <p:nvSpPr>
          <p:cNvPr id="45" name="o"/>
          <p:cNvSpPr/>
          <p:nvPr/>
        </p:nvSpPr>
        <p:spPr>
          <a:xfrm>
            <a:off x="5243440" y="3435000"/>
            <a:ext cx="347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the toric and surface codes</a:t>
            </a:r>
          </a:p>
        </p:txBody>
      </p:sp>
      <p:sp>
        <p:nvSpPr>
          <p:cNvPr id="46" name="chip"/>
          <p:cNvSpPr/>
          <p:nvPr/>
        </p:nvSpPr>
        <p:spPr>
          <a:xfrm>
            <a:off x="4663440" y="4000000"/>
            <a:ext cx="380000" cy="380000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chipn"/>
          <p:cNvSpPr/>
          <p:nvPr/>
        </p:nvSpPr>
        <p:spPr>
          <a:xfrm>
            <a:off x="4663440" y="40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</a:p>
        </p:txBody>
      </p:sp>
      <p:sp>
        <p:nvSpPr>
          <p:cNvPr id="48" name="o"/>
          <p:cNvSpPr/>
          <p:nvPr/>
        </p:nvSpPr>
        <p:spPr>
          <a:xfrm>
            <a:off x="5243440" y="3980000"/>
            <a:ext cx="347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code distance to fault-tolerance thresholds</a:t>
            </a:r>
          </a:p>
        </p:txBody>
      </p:sp>
      <p:sp>
        <p:nvSpPr>
          <p:cNvPr id="49" name="lg"/>
          <p:cNvSpPr/>
          <p:nvPr/>
        </p:nvSpPr>
        <p:spPr>
          <a:xfrm>
            <a:off x="457200" y="4580000"/>
            <a:ext cx="150000" cy="15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lgt"/>
          <p:cNvSpPr/>
          <p:nvPr/>
        </p:nvSpPr>
        <p:spPr>
          <a:xfrm>
            <a:off x="677200" y="4540000"/>
            <a:ext cx="1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</a:t>
            </a:r>
          </a:p>
        </p:txBody>
      </p:sp>
      <p:sp>
        <p:nvSpPr>
          <p:cNvPr id="51" name="lg"/>
          <p:cNvSpPr/>
          <p:nvPr/>
        </p:nvSpPr>
        <p:spPr>
          <a:xfrm>
            <a:off x="2157200" y="4580000"/>
            <a:ext cx="150000" cy="15000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lgt"/>
          <p:cNvSpPr/>
          <p:nvPr/>
        </p:nvSpPr>
        <p:spPr>
          <a:xfrm>
            <a:off x="2377200" y="4540000"/>
            <a:ext cx="1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</a:t>
            </a:r>
          </a:p>
        </p:txBody>
      </p:sp>
      <p:sp>
        <p:nvSpPr>
          <p:cNvPr id="53" name="lg"/>
          <p:cNvSpPr/>
          <p:nvPr/>
        </p:nvSpPr>
        <p:spPr>
          <a:xfrm>
            <a:off x="3857200" y="4580000"/>
            <a:ext cx="150000" cy="15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lgt"/>
          <p:cNvSpPr/>
          <p:nvPr/>
        </p:nvSpPr>
        <p:spPr>
          <a:xfrm>
            <a:off x="4077200" y="4540000"/>
            <a:ext cx="1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</a:t>
            </a:r>
          </a:p>
        </p:txBody>
      </p:sp>
      <p:sp>
        <p:nvSpPr>
          <p:cNvPr id="55" name="lg"/>
          <p:cNvSpPr/>
          <p:nvPr/>
        </p:nvSpPr>
        <p:spPr>
          <a:xfrm>
            <a:off x="5557200" y="4580000"/>
            <a:ext cx="150000" cy="150000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lgt"/>
          <p:cNvSpPr/>
          <p:nvPr/>
        </p:nvSpPr>
        <p:spPr>
          <a:xfrm>
            <a:off x="5777200" y="4540000"/>
            <a:ext cx="1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4</a:t>
            </a:r>
          </a:p>
        </p:txBody>
      </p:sp>
      <p:sp>
        <p:nvSpPr>
          <p:cNvPr id="57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58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  ·  BLOCK 1</a:t>
            </a:r>
          </a:p>
        </p:txBody>
      </p:sp>
      <p:sp>
        <p:nvSpPr>
          <p:cNvPr id="60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Quantum Fragility Problem</a:t>
            </a:r>
          </a:p>
        </p:txBody>
      </p:sp>
      <p:sp>
        <p:nvSpPr>
          <p:cNvPr id="61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states are exquisitely delicate — yet a 1995 breakthrough showed errors can be fixed without ever reading the data.</a:t>
            </a:r>
          </a:p>
        </p:txBody>
      </p:sp>
      <p:sp>
        <p:nvSpPr>
          <p:cNvPr id="62" name="lc"/>
          <p:cNvSpPr/>
          <p:nvPr/>
        </p:nvSpPr>
        <p:spPr>
          <a:xfrm>
            <a:off x="457200" y="1727449"/>
            <a:ext cx="4480000" cy="188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lct"/>
          <p:cNvSpPr/>
          <p:nvPr/>
        </p:nvSpPr>
        <p:spPr>
          <a:xfrm>
            <a:off x="717200" y="1800000"/>
            <a:ext cx="4000000" cy="1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20000" indent="-320000" algn="l">
              <a:spcAft>
                <a:spcPts val="70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states decohere in microseconds</a:t>
            </a:r>
          </a:p>
          <a:p>
            <a:pPr marL="320000" indent="-320000" algn="l">
              <a:spcAft>
                <a:spcPts val="70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noise: thermal motion, stray EM fields, even cosmic rays</a:t>
            </a:r>
          </a:p>
          <a:p>
            <a:pPr marL="320000" indent="-320000" algn="l">
              <a:spcAft>
                <a:spcPts val="70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belief: large-scale quantum computing is impossible</a:t>
            </a:r>
          </a:p>
          <a:p>
            <a:pPr marL="320000" indent="-320000" algn="l">
              <a:spcAft>
                <a:spcPts val="70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1995–96: Shor, Steane and Calderbank prove QEC works</a:t>
            </a:r>
          </a:p>
        </p:txBody>
      </p:sp>
      <p:sp>
        <p:nvSpPr>
          <p:cNvPr id="64" name="rc"/>
          <p:cNvSpPr/>
          <p:nvPr/>
        </p:nvSpPr>
        <p:spPr>
          <a:xfrm>
            <a:off x="5120000" y="1640000"/>
            <a:ext cx="3566800" cy="188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c_acc"/>
          <p:cNvSpPr/>
          <p:nvPr/>
        </p:nvSpPr>
        <p:spPr>
          <a:xfrm>
            <a:off x="5120000" y="1640000"/>
            <a:ext cx="356680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rch"/>
          <p:cNvSpPr/>
          <p:nvPr/>
        </p:nvSpPr>
        <p:spPr>
          <a:xfrm>
            <a:off x="5360000" y="1780000"/>
            <a:ext cx="3086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</a:t>
            </a:r>
          </a:p>
        </p:txBody>
      </p:sp>
      <p:sp>
        <p:nvSpPr>
          <p:cNvPr id="67" name="rcb"/>
          <p:cNvSpPr/>
          <p:nvPr/>
        </p:nvSpPr>
        <p:spPr>
          <a:xfrm>
            <a:off x="5360000" y="2080000"/>
            <a:ext cx="3086800" cy="13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correction never measures the quantum state directly. Like hearing that someone is speaking in a noisy room without making out the words — we learn that an error occurred without learning the data.</a:t>
            </a:r>
          </a:p>
        </p:txBody>
      </p:sp>
      <p:sp>
        <p:nvSpPr>
          <p:cNvPr id="68" name="tl"/>
          <p:cNvSpPr/>
          <p:nvPr/>
        </p:nvSpPr>
        <p:spPr>
          <a:xfrm>
            <a:off x="900000" y="3950000"/>
            <a:ext cx="7150000" cy="0"/>
          </a:xfrm>
          <a:prstGeom prst="line">
            <a:avLst/>
          </a:prstGeom>
          <a:noFill/>
          <a:ln w="15875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d"/>
          <p:cNvSpPr/>
          <p:nvPr/>
        </p:nvSpPr>
        <p:spPr>
          <a:xfrm>
            <a:off x="880000" y="3880000"/>
            <a:ext cx="140000" cy="14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ty"/>
          <p:cNvSpPr/>
          <p:nvPr/>
        </p:nvSpPr>
        <p:spPr>
          <a:xfrm>
            <a:off x="250000" y="4070000"/>
            <a:ext cx="1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</a:p>
        </p:txBody>
      </p:sp>
      <p:sp>
        <p:nvSpPr>
          <p:cNvPr id="71" name="tt"/>
          <p:cNvSpPr/>
          <p:nvPr/>
        </p:nvSpPr>
        <p:spPr>
          <a:xfrm>
            <a:off x="200000" y="4310000"/>
            <a:ext cx="1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algorithm</a:t>
            </a:r>
          </a:p>
        </p:txBody>
      </p:sp>
      <p:sp>
        <p:nvSpPr>
          <p:cNvPr id="72" name="td"/>
          <p:cNvSpPr/>
          <p:nvPr/>
        </p:nvSpPr>
        <p:spPr>
          <a:xfrm>
            <a:off x="2667500" y="3880000"/>
            <a:ext cx="140000" cy="14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3" name="ty"/>
          <p:cNvSpPr/>
          <p:nvPr/>
        </p:nvSpPr>
        <p:spPr>
          <a:xfrm>
            <a:off x="2037500" y="4070000"/>
            <a:ext cx="1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</a:p>
        </p:txBody>
      </p:sp>
      <p:sp>
        <p:nvSpPr>
          <p:cNvPr id="74" name="tt"/>
          <p:cNvSpPr/>
          <p:nvPr/>
        </p:nvSpPr>
        <p:spPr>
          <a:xfrm>
            <a:off x="1987500" y="4310000"/>
            <a:ext cx="1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code</a:t>
            </a:r>
          </a:p>
        </p:txBody>
      </p:sp>
      <p:sp>
        <p:nvSpPr>
          <p:cNvPr id="75" name="td"/>
          <p:cNvSpPr/>
          <p:nvPr/>
        </p:nvSpPr>
        <p:spPr>
          <a:xfrm>
            <a:off x="4455000" y="3880000"/>
            <a:ext cx="140000" cy="14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y"/>
          <p:cNvSpPr/>
          <p:nvPr/>
        </p:nvSpPr>
        <p:spPr>
          <a:xfrm>
            <a:off x="3825000" y="4070000"/>
            <a:ext cx="1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1996</a:t>
            </a:r>
          </a:p>
        </p:txBody>
      </p:sp>
      <p:sp>
        <p:nvSpPr>
          <p:cNvPr id="77" name="tt"/>
          <p:cNvSpPr/>
          <p:nvPr/>
        </p:nvSpPr>
        <p:spPr>
          <a:xfrm>
            <a:off x="3775000" y="4310000"/>
            <a:ext cx="1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Steane code</a:t>
            </a:r>
          </a:p>
        </p:txBody>
      </p:sp>
      <p:sp>
        <p:nvSpPr>
          <p:cNvPr id="78" name="td"/>
          <p:cNvSpPr/>
          <p:nvPr/>
        </p:nvSpPr>
        <p:spPr>
          <a:xfrm>
            <a:off x="6242500" y="3880000"/>
            <a:ext cx="140000" cy="14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9" name="ty"/>
          <p:cNvSpPr/>
          <p:nvPr/>
        </p:nvSpPr>
        <p:spPr>
          <a:xfrm>
            <a:off x="5612500" y="4070000"/>
            <a:ext cx="1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</a:p>
        </p:txBody>
      </p:sp>
      <p:sp>
        <p:nvSpPr>
          <p:cNvPr id="80" name="tt"/>
          <p:cNvSpPr/>
          <p:nvPr/>
        </p:nvSpPr>
        <p:spPr>
          <a:xfrm>
            <a:off x="5562500" y="4310000"/>
            <a:ext cx="1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Kitaev toric</a:t>
            </a:r>
          </a:p>
        </p:txBody>
      </p:sp>
      <p:sp>
        <p:nvSpPr>
          <p:cNvPr id="81" name="td"/>
          <p:cNvSpPr/>
          <p:nvPr/>
        </p:nvSpPr>
        <p:spPr>
          <a:xfrm>
            <a:off x="7850000" y="3880000"/>
            <a:ext cx="140000" cy="14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2" name="ty"/>
          <p:cNvSpPr/>
          <p:nvPr/>
        </p:nvSpPr>
        <p:spPr>
          <a:xfrm>
            <a:off x="7220000" y="4070000"/>
            <a:ext cx="1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</a:p>
        </p:txBody>
      </p:sp>
      <p:sp>
        <p:nvSpPr>
          <p:cNvPr id="83" name="tt"/>
          <p:cNvSpPr/>
          <p:nvPr/>
        </p:nvSpPr>
        <p:spPr>
          <a:xfrm>
            <a:off x="7170000" y="4310000"/>
            <a:ext cx="15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below-threshold</a:t>
            </a:r>
          </a:p>
        </p:txBody>
      </p:sp>
      <p:sp>
        <p:nvSpPr>
          <p:cNvPr id="84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85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1</a:t>
            </a:r>
          </a:p>
        </p:txBody>
      </p:sp>
      <p:sp>
        <p:nvSpPr>
          <p:cNvPr id="87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vs. Quantum Error Correction</a:t>
            </a:r>
          </a:p>
        </p:txBody>
      </p:sp>
      <p:sp>
        <p:nvSpPr>
          <p:cNvPr id="88" name="lh"/>
          <p:cNvSpPr/>
          <p:nvPr/>
        </p:nvSpPr>
        <p:spPr>
          <a:xfrm>
            <a:off x="457200" y="1520000"/>
            <a:ext cx="4023360" cy="470000"/>
          </a:xfrm>
          <a:prstGeom prst="rect">
            <a:avLst/>
          </a:prstGeom>
          <a:solidFill>
            <a:srgbClr val="3D4F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lht"/>
          <p:cNvSpPr/>
          <p:nvPr/>
        </p:nvSpPr>
        <p:spPr>
          <a:xfrm>
            <a:off x="457200" y="1520000"/>
            <a:ext cx="402336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</a:t>
            </a:r>
          </a:p>
        </p:txBody>
      </p:sp>
      <p:sp>
        <p:nvSpPr>
          <p:cNvPr id="90" name="rh"/>
          <p:cNvSpPr/>
          <p:nvPr/>
        </p:nvSpPr>
        <p:spPr>
          <a:xfrm>
            <a:off x="4663440" y="1520000"/>
            <a:ext cx="4023360" cy="470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1" name="rht"/>
          <p:cNvSpPr/>
          <p:nvPr/>
        </p:nvSpPr>
        <p:spPr>
          <a:xfrm>
            <a:off x="4663440" y="1520000"/>
            <a:ext cx="402336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</a:t>
            </a:r>
          </a:p>
        </p:txBody>
      </p:sp>
      <p:sp>
        <p:nvSpPr>
          <p:cNvPr id="92" name="lb"/>
          <p:cNvSpPr/>
          <p:nvPr/>
        </p:nvSpPr>
        <p:spPr>
          <a:xfrm>
            <a:off x="457200" y="2010000"/>
            <a:ext cx="4023360" cy="18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rb"/>
          <p:cNvSpPr/>
          <p:nvPr/>
        </p:nvSpPr>
        <p:spPr>
          <a:xfrm>
            <a:off x="4663440" y="2010000"/>
            <a:ext cx="4023360" cy="18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4" name="lbt"/>
          <p:cNvSpPr/>
          <p:nvPr/>
        </p:nvSpPr>
        <p:spPr>
          <a:xfrm>
            <a:off x="717200" y="2190000"/>
            <a:ext cx="3523360" cy="1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30000" indent="-330000" algn="l">
              <a:spcAft>
                <a:spcPts val="800"/>
              </a:spcAft>
              <a:buSzPct val="90000"/>
              <a:buChar char="•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bits freely to add redundancy</a:t>
            </a:r>
          </a:p>
          <a:p>
            <a:pPr marL="330000" indent="-330000" algn="l">
              <a:spcAft>
                <a:spcPts val="800"/>
              </a:spcAft>
              <a:buSzPct val="90000"/>
              <a:buChar char="•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discrete: 0 flips to 1</a:t>
            </a:r>
          </a:p>
          <a:p>
            <a:pPr marL="330000" indent="-330000" algn="l">
              <a:spcAft>
                <a:spcPts val="800"/>
              </a:spcAft>
              <a:buSzPct val="90000"/>
              <a:buChar char="•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in transmission and storage</a:t>
            </a:r>
          </a:p>
          <a:p>
            <a:pPr marL="330000" indent="-330000" algn="l">
              <a:spcAft>
                <a:spcPts val="800"/>
              </a:spcAft>
              <a:buSzPct val="90000"/>
              <a:buChar char="•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 = a direct parity check</a:t>
            </a:r>
          </a:p>
        </p:txBody>
      </p:sp>
      <p:sp>
        <p:nvSpPr>
          <p:cNvPr id="95" name="rbt"/>
          <p:cNvSpPr/>
          <p:nvPr/>
        </p:nvSpPr>
        <p:spPr>
          <a:xfrm>
            <a:off x="4923440" y="2190000"/>
            <a:ext cx="3523360" cy="1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30000" indent="-330000" algn="l">
              <a:spcAft>
                <a:spcPts val="800"/>
              </a:spcAft>
              <a:buSzPct val="90000"/>
              <a:buChar char="•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No-Cloning forbids copying the state</a:t>
            </a:r>
          </a:p>
          <a:p>
            <a:pPr marL="330000" indent="-330000" algn="l">
              <a:spcAft>
                <a:spcPts val="800"/>
              </a:spcAft>
              <a:buSzPct val="90000"/>
              <a:buChar char="•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are continuous: any small rotation</a:t>
            </a:r>
          </a:p>
          <a:p>
            <a:pPr marL="330000" indent="-330000" algn="l">
              <a:spcAft>
                <a:spcPts val="800"/>
              </a:spcAft>
              <a:buSzPct val="90000"/>
              <a:buChar char="•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is needed at every step</a:t>
            </a:r>
          </a:p>
          <a:p>
            <a:pPr marL="330000" indent="-330000" algn="l">
              <a:spcAft>
                <a:spcPts val="800"/>
              </a:spcAft>
              <a:buSzPct val="90000"/>
              <a:buChar char="•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 = indirect measurement via ancilla</a:t>
            </a:r>
          </a:p>
        </p:txBody>
      </p:sp>
      <p:sp>
        <p:nvSpPr>
          <p:cNvPr id="96" name="bs"/>
          <p:cNvSpPr/>
          <p:nvPr/>
        </p:nvSpPr>
        <p:spPr>
          <a:xfrm>
            <a:off x="457200" y="3990000"/>
            <a:ext cx="8229600" cy="5200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7" name="bsa"/>
          <p:cNvSpPr/>
          <p:nvPr/>
        </p:nvSpPr>
        <p:spPr>
          <a:xfrm>
            <a:off x="457200" y="3990000"/>
            <a:ext cx="73152" cy="52000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8" name="bst"/>
          <p:cNvSpPr/>
          <p:nvPr/>
        </p:nvSpPr>
        <p:spPr>
          <a:xfrm>
            <a:off x="657200" y="3990000"/>
            <a:ext cx="782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   </a:t>
            </a: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is the workaround — α|000⟩+β|111⟩ is one entangled state, not three copies.</a:t>
            </a:r>
          </a:p>
        </p:txBody>
      </p:sp>
      <p:sp>
        <p:nvSpPr>
          <p:cNvPr id="99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00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1</a:t>
            </a:r>
          </a:p>
        </p:txBody>
      </p:sp>
      <p:sp>
        <p:nvSpPr>
          <p:cNvPr id="102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No-Cloning Theorem</a:t>
            </a:r>
          </a:p>
        </p:txBody>
      </p:sp>
      <p:sp>
        <p:nvSpPr>
          <p:cNvPr id="103" name="stmt"/>
          <p:cNvSpPr/>
          <p:nvPr/>
        </p:nvSpPr>
        <p:spPr>
          <a:xfrm>
            <a:off x="457200" y="1450000"/>
            <a:ext cx="8229600" cy="52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4" name="stmtt"/>
          <p:cNvSpPr/>
          <p:nvPr/>
        </p:nvSpPr>
        <p:spPr>
          <a:xfrm>
            <a:off x="657200" y="1450000"/>
            <a:ext cx="782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unitary U satisfies  U|ψ⟩|0⟩ = |ψ⟩|ψ⟩  for an arbitrary state |ψ⟩.</a:t>
            </a:r>
          </a:p>
        </p:txBody>
      </p:sp>
      <p:sp>
        <p:nvSpPr>
          <p:cNvPr id="105" name="pc"/>
          <p:cNvSpPr/>
          <p:nvPr/>
        </p:nvSpPr>
        <p:spPr>
          <a:xfrm>
            <a:off x="457200" y="2120000"/>
            <a:ext cx="4900000" cy="20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pch"/>
          <p:cNvSpPr/>
          <p:nvPr/>
        </p:nvSpPr>
        <p:spPr>
          <a:xfrm>
            <a:off x="717200" y="2270000"/>
            <a:ext cx="438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BY CONTRADICTION</a:t>
            </a:r>
          </a:p>
        </p:txBody>
      </p:sp>
      <p:sp>
        <p:nvSpPr>
          <p:cNvPr id="107" name="pcb"/>
          <p:cNvSpPr/>
          <p:nvPr/>
        </p:nvSpPr>
        <p:spPr>
          <a:xfrm>
            <a:off x="717200" y="2600000"/>
            <a:ext cx="4380000" cy="1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Suppose such a U exists.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250" b="1" kern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U|0⟩|0⟩ = |0⟩|0⟩   ✓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250" b="1" kern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U|1⟩|0⟩ = |1⟩|1⟩   ✓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2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Linearity → U|+⟩|0⟩ = (|00⟩+|11⟩)/√2</a:t>
            </a:r>
          </a:p>
          <a:p>
            <a:pPr marL="0" indent="0" algn="l">
              <a:spcAft>
                <a:spcPts val="600"/>
              </a:spcAft>
              <a:buNone/>
            </a:pPr>
            <a:r>
              <a:rPr lang="en-US" sz="1250" b="1" kern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But |+⟩|+⟩ = (|00⟩+|01⟩+|10⟩+|11⟩)/2   ✗</a:t>
            </a:r>
          </a:p>
        </p:txBody>
      </p:sp>
      <p:sp>
        <p:nvSpPr>
          <p:cNvPr id="108" name="wc"/>
          <p:cNvSpPr/>
          <p:nvPr/>
        </p:nvSpPr>
        <p:spPr>
          <a:xfrm>
            <a:off x="5550000" y="2120000"/>
            <a:ext cx="3136800" cy="202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wc_acc"/>
          <p:cNvSpPr/>
          <p:nvPr/>
        </p:nvSpPr>
        <p:spPr>
          <a:xfrm>
            <a:off x="5550000" y="2120000"/>
            <a:ext cx="313680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0" name="wch"/>
          <p:cNvSpPr/>
          <p:nvPr/>
        </p:nvSpPr>
        <p:spPr>
          <a:xfrm>
            <a:off x="5790000" y="2270000"/>
            <a:ext cx="2656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</a:p>
        </p:txBody>
      </p:sp>
      <p:sp>
        <p:nvSpPr>
          <p:cNvPr id="111" name="wcb"/>
          <p:cNvSpPr/>
          <p:nvPr/>
        </p:nvSpPr>
        <p:spPr>
          <a:xfrm>
            <a:off x="5790000" y="2600000"/>
            <a:ext cx="2656800" cy="1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Copying is incompatible with superposition. The Bell state (|00⟩+|11⟩)/√2 has no classical analogue — so a qubit cannot be protected by making copies of it.</a:t>
            </a:r>
          </a:p>
        </p:txBody>
      </p:sp>
      <p:sp>
        <p:nvSpPr>
          <p:cNvPr id="112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13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1</a:t>
            </a:r>
          </a:p>
        </p:txBody>
      </p:sp>
      <p:sp>
        <p:nvSpPr>
          <p:cNvPr id="115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Repetition Codes</a:t>
            </a:r>
          </a:p>
        </p:txBody>
      </p:sp>
      <p:sp>
        <p:nvSpPr>
          <p:cNvPr id="116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one bit across three, then decode by majority vote — the classical blueprint QEC will adapt.</a:t>
            </a:r>
          </a:p>
        </p:txBody>
      </p:sp>
      <p:sp>
        <p:nvSpPr>
          <p:cNvPr id="117" name="inlbl"/>
          <p:cNvSpPr/>
          <p:nvPr/>
        </p:nvSpPr>
        <p:spPr>
          <a:xfrm>
            <a:off x="520000" y="2120000"/>
            <a:ext cx="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</a:p>
        </p:txBody>
      </p:sp>
      <p:sp>
        <p:nvSpPr>
          <p:cNvPr id="118" name="chip"/>
          <p:cNvSpPr/>
          <p:nvPr/>
        </p:nvSpPr>
        <p:spPr>
          <a:xfrm>
            <a:off x="560000" y="2520000"/>
            <a:ext cx="360000" cy="36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chipn"/>
          <p:cNvSpPr/>
          <p:nvPr/>
        </p:nvSpPr>
        <p:spPr>
          <a:xfrm>
            <a:off x="560000" y="2520000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20" name="chip"/>
          <p:cNvSpPr/>
          <p:nvPr/>
        </p:nvSpPr>
        <p:spPr>
          <a:xfrm>
            <a:off x="1450000" y="2110000"/>
            <a:ext cx="360000" cy="36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1" name="chipn"/>
          <p:cNvSpPr/>
          <p:nvPr/>
        </p:nvSpPr>
        <p:spPr>
          <a:xfrm>
            <a:off x="1450000" y="2110000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22" name="chip"/>
          <p:cNvSpPr/>
          <p:nvPr/>
        </p:nvSpPr>
        <p:spPr>
          <a:xfrm>
            <a:off x="1450000" y="2520000"/>
            <a:ext cx="360000" cy="36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3" name="chipn"/>
          <p:cNvSpPr/>
          <p:nvPr/>
        </p:nvSpPr>
        <p:spPr>
          <a:xfrm>
            <a:off x="1450000" y="2520000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24" name="chip"/>
          <p:cNvSpPr/>
          <p:nvPr/>
        </p:nvSpPr>
        <p:spPr>
          <a:xfrm>
            <a:off x="1450000" y="2930000"/>
            <a:ext cx="360000" cy="36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5" name="chipn"/>
          <p:cNvSpPr/>
          <p:nvPr/>
        </p:nvSpPr>
        <p:spPr>
          <a:xfrm>
            <a:off x="1450000" y="2930000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26" name="e1"/>
          <p:cNvSpPr/>
          <p:nvPr/>
        </p:nvSpPr>
        <p:spPr>
          <a:xfrm>
            <a:off x="920000" y="2700000"/>
            <a:ext cx="530000" cy="0"/>
          </a:xfrm>
          <a:prstGeom prst="line">
            <a:avLst/>
          </a:prstGeom>
          <a:noFill/>
          <a:ln w="12700">
            <a:solidFill>
              <a:srgbClr val="3D4F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e2"/>
          <p:cNvSpPr/>
          <p:nvPr/>
        </p:nvSpPr>
        <p:spPr>
          <a:xfrm>
            <a:off x="920000" y="2700000"/>
            <a:ext cx="530000" cy="0"/>
          </a:xfrm>
          <a:prstGeom prst="line">
            <a:avLst/>
          </a:prstGeom>
          <a:noFill/>
          <a:ln w="9525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e2"/>
          <p:cNvSpPr/>
          <p:nvPr/>
        </p:nvSpPr>
        <p:spPr>
          <a:xfrm>
            <a:off x="920000" y="2700000"/>
            <a:ext cx="530000" cy="0"/>
          </a:xfrm>
          <a:prstGeom prst="line">
            <a:avLst/>
          </a:prstGeom>
          <a:noFill/>
          <a:ln w="9525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e2"/>
          <p:cNvSpPr/>
          <p:nvPr/>
        </p:nvSpPr>
        <p:spPr>
          <a:xfrm>
            <a:off x="920000" y="2700000"/>
            <a:ext cx="530000" cy="0"/>
          </a:xfrm>
          <a:prstGeom prst="line">
            <a:avLst/>
          </a:prstGeom>
          <a:noFill/>
          <a:ln w="9525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vote"/>
          <p:cNvSpPr/>
          <p:nvPr/>
        </p:nvSpPr>
        <p:spPr>
          <a:xfrm>
            <a:off x="2520000" y="2480000"/>
            <a:ext cx="1300000" cy="46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votet"/>
          <p:cNvSpPr/>
          <p:nvPr/>
        </p:nvSpPr>
        <p:spPr>
          <a:xfrm>
            <a:off x="2520000" y="2480000"/>
            <a:ext cx="13000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 VOTE</a:t>
            </a:r>
          </a:p>
        </p:txBody>
      </p:sp>
      <p:sp>
        <p:nvSpPr>
          <p:cNvPr id="132" name="e3"/>
          <p:cNvSpPr/>
          <p:nvPr/>
        </p:nvSpPr>
        <p:spPr>
          <a:xfrm>
            <a:off x="1810000" y="2700000"/>
            <a:ext cx="710000" cy="0"/>
          </a:xfrm>
          <a:prstGeom prst="line">
            <a:avLst/>
          </a:prstGeom>
          <a:noFill/>
          <a:ln w="12700">
            <a:solidFill>
              <a:srgbClr val="3D4F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chip"/>
          <p:cNvSpPr/>
          <p:nvPr/>
        </p:nvSpPr>
        <p:spPr>
          <a:xfrm>
            <a:off x="4050000" y="2520000"/>
            <a:ext cx="360000" cy="36000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4" name="chipn"/>
          <p:cNvSpPr/>
          <p:nvPr/>
        </p:nvSpPr>
        <p:spPr>
          <a:xfrm>
            <a:off x="4050000" y="2520000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35" name="e4"/>
          <p:cNvSpPr/>
          <p:nvPr/>
        </p:nvSpPr>
        <p:spPr>
          <a:xfrm>
            <a:off x="3820000" y="2700000"/>
            <a:ext cx="230000" cy="0"/>
          </a:xfrm>
          <a:prstGeom prst="line">
            <a:avLst/>
          </a:prstGeom>
          <a:noFill/>
          <a:ln w="12700">
            <a:solidFill>
              <a:srgbClr val="3D4F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outlbl"/>
          <p:cNvSpPr/>
          <p:nvPr/>
        </p:nvSpPr>
        <p:spPr>
          <a:xfrm>
            <a:off x="4020000" y="2120000"/>
            <a:ext cx="90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</a:p>
        </p:txBody>
      </p:sp>
      <p:sp>
        <p:nvSpPr>
          <p:cNvPr id="137" name="enc"/>
          <p:cNvSpPr/>
          <p:nvPr/>
        </p:nvSpPr>
        <p:spPr>
          <a:xfrm>
            <a:off x="520000" y="3520000"/>
            <a:ext cx="39000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Encoding:  </a:t>
            </a:r>
            <a:r>
              <a:rPr lang="en-US" sz="11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000,   1 → 111</a:t>
            </a:r>
          </a:p>
        </p:txBody>
      </p:sp>
      <p:sp>
        <p:nvSpPr>
          <p:cNvPr id="138" name="fc"/>
          <p:cNvSpPr/>
          <p:nvPr/>
        </p:nvSpPr>
        <p:spPr>
          <a:xfrm>
            <a:off x="4650000" y="1980000"/>
            <a:ext cx="4036800" cy="108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9" name="fc_acc"/>
          <p:cNvSpPr/>
          <p:nvPr/>
        </p:nvSpPr>
        <p:spPr>
          <a:xfrm>
            <a:off x="4650000" y="1980000"/>
            <a:ext cx="403680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fch"/>
          <p:cNvSpPr/>
          <p:nvPr/>
        </p:nvSpPr>
        <p:spPr>
          <a:xfrm>
            <a:off x="4890000" y="2100000"/>
            <a:ext cx="355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PROBABILITY</a:t>
            </a:r>
          </a:p>
        </p:txBody>
      </p:sp>
      <p:sp>
        <p:nvSpPr>
          <p:cNvPr id="141" name="fcb"/>
          <p:cNvSpPr/>
          <p:nvPr/>
        </p:nvSpPr>
        <p:spPr>
          <a:xfrm>
            <a:off x="4890000" y="2400000"/>
            <a:ext cx="35568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P(error) = 3p²(1−p) + p³ = 3p² − 2p³</a:t>
            </a:r>
          </a:p>
          <a:p>
            <a:pPr marL="0" indent="0" algn="l">
              <a:buNone/>
            </a:pPr>
            <a:r>
              <a:rPr lang="en-US" sz="10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copies fail only if two or three flip.</a:t>
            </a:r>
          </a:p>
        </p:txBody>
      </p:sp>
      <p:sp>
        <p:nvSpPr>
          <p:cNvPr id="142" name="bc"/>
          <p:cNvSpPr/>
          <p:nvPr/>
        </p:nvSpPr>
        <p:spPr>
          <a:xfrm>
            <a:off x="4650000" y="3200000"/>
            <a:ext cx="4036800" cy="94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3" name="bc_acc"/>
          <p:cNvSpPr/>
          <p:nvPr/>
        </p:nvSpPr>
        <p:spPr>
          <a:xfrm>
            <a:off x="4650000" y="3200000"/>
            <a:ext cx="403680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bch"/>
          <p:cNvSpPr/>
          <p:nvPr/>
        </p:nvSpPr>
        <p:spPr>
          <a:xfrm>
            <a:off x="4890000" y="3320000"/>
            <a:ext cx="355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</a:p>
        </p:txBody>
      </p:sp>
      <p:sp>
        <p:nvSpPr>
          <p:cNvPr id="145" name="bcb"/>
          <p:cNvSpPr/>
          <p:nvPr/>
        </p:nvSpPr>
        <p:spPr>
          <a:xfrm>
            <a:off x="4890000" y="3600000"/>
            <a:ext cx="35568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only when p &lt; 0.5. For quantum codes the threshold is far stricter — around 1%.</a:t>
            </a:r>
          </a:p>
        </p:txBody>
      </p:sp>
      <p:sp>
        <p:nvSpPr>
          <p:cNvPr id="146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47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1</a:t>
            </a:r>
          </a:p>
        </p:txBody>
      </p:sp>
      <p:sp>
        <p:nvSpPr>
          <p:cNvPr id="149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Quantum Bit-Flip Encoding</a:t>
            </a:r>
          </a:p>
        </p:txBody>
      </p:sp>
      <p:sp>
        <p:nvSpPr>
          <p:cNvPr id="150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CNOT gates spread the logical qubit across three — entanglement, not copying.</a:t>
            </a:r>
          </a:p>
        </p:txBody>
      </p:sp>
      <p:sp>
        <p:nvSpPr>
          <p:cNvPr id="151" name="w"/>
          <p:cNvSpPr/>
          <p:nvPr/>
        </p:nvSpPr>
        <p:spPr>
          <a:xfrm>
            <a:off x="1450000" y="2080000"/>
            <a:ext cx="2900000" cy="0"/>
          </a:xfrm>
          <a:prstGeom prst="line">
            <a:avLst/>
          </a:prstGeom>
          <a:noFill/>
          <a:ln w="12700">
            <a:solidFill>
              <a:srgbClr val="3D4F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wl"/>
          <p:cNvSpPr/>
          <p:nvPr/>
        </p:nvSpPr>
        <p:spPr>
          <a:xfrm>
            <a:off x="900000" y="1930000"/>
            <a:ext cx="46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</a:t>
            </a:r>
          </a:p>
        </p:txBody>
      </p:sp>
      <p:sp>
        <p:nvSpPr>
          <p:cNvPr id="153" name="w"/>
          <p:cNvSpPr/>
          <p:nvPr/>
        </p:nvSpPr>
        <p:spPr>
          <a:xfrm>
            <a:off x="1450000" y="2530000"/>
            <a:ext cx="2900000" cy="0"/>
          </a:xfrm>
          <a:prstGeom prst="line">
            <a:avLst/>
          </a:prstGeom>
          <a:noFill/>
          <a:ln w="12700">
            <a:solidFill>
              <a:srgbClr val="3D4F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wl"/>
          <p:cNvSpPr/>
          <p:nvPr/>
        </p:nvSpPr>
        <p:spPr>
          <a:xfrm>
            <a:off x="900000" y="2380000"/>
            <a:ext cx="46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</a:p>
        </p:txBody>
      </p:sp>
      <p:sp>
        <p:nvSpPr>
          <p:cNvPr id="155" name="w"/>
          <p:cNvSpPr/>
          <p:nvPr/>
        </p:nvSpPr>
        <p:spPr>
          <a:xfrm>
            <a:off x="1450000" y="2980000"/>
            <a:ext cx="2900000" cy="0"/>
          </a:xfrm>
          <a:prstGeom prst="line">
            <a:avLst/>
          </a:prstGeom>
          <a:noFill/>
          <a:ln w="12700">
            <a:solidFill>
              <a:srgbClr val="3D4F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wl"/>
          <p:cNvSpPr/>
          <p:nvPr/>
        </p:nvSpPr>
        <p:spPr>
          <a:xfrm>
            <a:off x="900000" y="2830000"/>
            <a:ext cx="46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</a:t>
            </a:r>
          </a:p>
        </p:txBody>
      </p:sp>
      <p:sp>
        <p:nvSpPr>
          <p:cNvPr id="157" name="ctl"/>
          <p:cNvSpPr/>
          <p:nvPr/>
        </p:nvSpPr>
        <p:spPr>
          <a:xfrm>
            <a:off x="2285000" y="2015000"/>
            <a:ext cx="130000" cy="13000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cv"/>
          <p:cNvSpPr/>
          <p:nvPr/>
        </p:nvSpPr>
        <p:spPr>
          <a:xfrm>
            <a:off x="2350000" y="2080000"/>
            <a:ext cx="0" cy="450000"/>
          </a:xfrm>
          <a:prstGeom prst="line">
            <a:avLst/>
          </a:prstGeom>
          <a:noFill/>
          <a:ln w="12700">
            <a:solidFill>
              <a:srgbClr val="1B3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tg"/>
          <p:cNvSpPr/>
          <p:nvPr/>
        </p:nvSpPr>
        <p:spPr>
          <a:xfrm>
            <a:off x="2170000" y="2350000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</a:p>
        </p:txBody>
      </p:sp>
      <p:sp>
        <p:nvSpPr>
          <p:cNvPr id="160" name="ctl"/>
          <p:cNvSpPr/>
          <p:nvPr/>
        </p:nvSpPr>
        <p:spPr>
          <a:xfrm>
            <a:off x="3135000" y="2015000"/>
            <a:ext cx="130000" cy="13000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1" name="cv"/>
          <p:cNvSpPr/>
          <p:nvPr/>
        </p:nvSpPr>
        <p:spPr>
          <a:xfrm>
            <a:off x="3200000" y="2080000"/>
            <a:ext cx="0" cy="900000"/>
          </a:xfrm>
          <a:prstGeom prst="line">
            <a:avLst/>
          </a:prstGeom>
          <a:noFill/>
          <a:ln w="12700">
            <a:solidFill>
              <a:srgbClr val="1B3A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2" name="tg"/>
          <p:cNvSpPr/>
          <p:nvPr/>
        </p:nvSpPr>
        <p:spPr>
          <a:xfrm>
            <a:off x="3020000" y="2800000"/>
            <a:ext cx="3600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⊕</a:t>
            </a:r>
          </a:p>
        </p:txBody>
      </p:sp>
      <p:sp>
        <p:nvSpPr>
          <p:cNvPr id="163" name="clbl"/>
          <p:cNvSpPr/>
          <p:nvPr/>
        </p:nvSpPr>
        <p:spPr>
          <a:xfrm>
            <a:off x="1450000" y="3300000"/>
            <a:ext cx="29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kern="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circuit</a:t>
            </a:r>
          </a:p>
        </p:txBody>
      </p:sp>
      <p:sp>
        <p:nvSpPr>
          <p:cNvPr id="164" name="wn"/>
          <p:cNvSpPr/>
          <p:nvPr/>
        </p:nvSpPr>
        <p:spPr>
          <a:xfrm>
            <a:off x="900000" y="3560000"/>
            <a:ext cx="3700000" cy="520000"/>
          </a:xfrm>
          <a:prstGeom prst="rect">
            <a:avLst/>
          </a:prstGeom>
          <a:solidFill>
            <a:srgbClr val="FCF3CF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65" name="wnt"/>
          <p:cNvSpPr/>
          <p:nvPr/>
        </p:nvSpPr>
        <p:spPr>
          <a:xfrm>
            <a:off x="1080000" y="3560000"/>
            <a:ext cx="35200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cloning — </a:t>
            </a:r>
            <a:r>
              <a:rPr lang="en-US" sz="1400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entangled superposition.</a:t>
            </a:r>
          </a:p>
        </p:txBody>
      </p:sp>
      <p:sp>
        <p:nvSpPr>
          <p:cNvPr id="166" name="mc"/>
          <p:cNvSpPr/>
          <p:nvPr/>
        </p:nvSpPr>
        <p:spPr>
          <a:xfrm>
            <a:off x="5000000" y="1900000"/>
            <a:ext cx="3686800" cy="15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mch"/>
          <p:cNvSpPr/>
          <p:nvPr/>
        </p:nvSpPr>
        <p:spPr>
          <a:xfrm>
            <a:off x="5240000" y="2020000"/>
            <a:ext cx="320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 MAP</a:t>
            </a:r>
          </a:p>
        </p:txBody>
      </p:sp>
      <p:sp>
        <p:nvSpPr>
          <p:cNvPr id="168" name="mcb"/>
          <p:cNvSpPr/>
          <p:nvPr/>
        </p:nvSpPr>
        <p:spPr>
          <a:xfrm>
            <a:off x="5240000" y="2360000"/>
            <a:ext cx="32068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500"/>
              </a:spcAft>
              <a:buNone/>
            </a:pPr>
            <a:r>
              <a:rPr lang="en-US" sz="135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→ |000⟩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35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|1⟩ → |111⟩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35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α|0⟩+β|1⟩ → α|000⟩+β|111⟩</a:t>
            </a:r>
          </a:p>
        </p:txBody>
      </p:sp>
      <p:sp>
        <p:nvSpPr>
          <p:cNvPr id="169" name="nc"/>
          <p:cNvSpPr/>
          <p:nvPr/>
        </p:nvSpPr>
        <p:spPr>
          <a:xfrm>
            <a:off x="5000000" y="3560000"/>
            <a:ext cx="3686800" cy="52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nc_acc"/>
          <p:cNvSpPr/>
          <p:nvPr/>
        </p:nvSpPr>
        <p:spPr>
          <a:xfrm>
            <a:off x="5000000" y="3560000"/>
            <a:ext cx="368680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1" name="nct"/>
          <p:cNvSpPr/>
          <p:nvPr/>
        </p:nvSpPr>
        <p:spPr>
          <a:xfrm>
            <a:off x="5240000" y="3560000"/>
            <a:ext cx="32068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qubits share one state — |000⟩ and |111⟩ in superposition.</a:t>
            </a:r>
          </a:p>
        </p:txBody>
      </p:sp>
      <p:sp>
        <p:nvSpPr>
          <p:cNvPr id="172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73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1</a:t>
            </a:r>
          </a:p>
        </p:txBody>
      </p:sp>
      <p:sp>
        <p:nvSpPr>
          <p:cNvPr id="175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Detection: The Syndrome</a:t>
            </a:r>
          </a:p>
        </p:txBody>
      </p:sp>
      <p:sp>
        <p:nvSpPr>
          <p:cNvPr id="176" name="warn"/>
          <p:cNvSpPr/>
          <p:nvPr/>
        </p:nvSpPr>
        <p:spPr>
          <a:xfrm>
            <a:off x="457200" y="1430000"/>
            <a:ext cx="8229600" cy="470000"/>
          </a:xfrm>
          <a:prstGeom prst="rect">
            <a:avLst/>
          </a:prstGeom>
          <a:solidFill>
            <a:srgbClr val="FCF3CF"/>
          </a:solidFill>
          <a:ln w="12700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7" name="warnt"/>
          <p:cNvSpPr/>
          <p:nvPr/>
        </p:nvSpPr>
        <p:spPr>
          <a:xfrm>
            <a:off x="657200" y="1430000"/>
            <a:ext cx="78296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look?   </a:t>
            </a:r>
            <a:r>
              <a:rPr lang="en-US" sz="1200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data qubits destroys the superposition — so ancilla qubits measure parity instead.</a:t>
            </a:r>
          </a:p>
        </p:txBody>
      </p:sp>
      <p:sp>
        <p:nvSpPr>
          <p:cNvPr id="178" name="th"/>
          <p:cNvSpPr/>
          <p:nvPr/>
        </p:nvSpPr>
        <p:spPr>
          <a:xfrm>
            <a:off x="457200" y="2070000"/>
            <a:ext cx="2500000" cy="43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79" name="tht"/>
          <p:cNvSpPr/>
          <p:nvPr/>
        </p:nvSpPr>
        <p:spPr>
          <a:xfrm>
            <a:off x="577200" y="2070000"/>
            <a:ext cx="226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</a:p>
        </p:txBody>
      </p:sp>
      <p:sp>
        <p:nvSpPr>
          <p:cNvPr id="180" name="th"/>
          <p:cNvSpPr/>
          <p:nvPr/>
        </p:nvSpPr>
        <p:spPr>
          <a:xfrm>
            <a:off x="2957200" y="2070000"/>
            <a:ext cx="3300000" cy="43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81" name="tht"/>
          <p:cNvSpPr/>
          <p:nvPr/>
        </p:nvSpPr>
        <p:spPr>
          <a:xfrm>
            <a:off x="3077200" y="2070000"/>
            <a:ext cx="306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  (Z₁Z₂ , Z₂Z₃)</a:t>
            </a:r>
          </a:p>
        </p:txBody>
      </p:sp>
      <p:sp>
        <p:nvSpPr>
          <p:cNvPr id="182" name="th"/>
          <p:cNvSpPr/>
          <p:nvPr/>
        </p:nvSpPr>
        <p:spPr>
          <a:xfrm>
            <a:off x="6257200" y="2070000"/>
            <a:ext cx="2429600" cy="43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83" name="tht"/>
          <p:cNvSpPr/>
          <p:nvPr/>
        </p:nvSpPr>
        <p:spPr>
          <a:xfrm>
            <a:off x="6377200" y="2070000"/>
            <a:ext cx="21896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</a:p>
        </p:txBody>
      </p:sp>
      <p:sp>
        <p:nvSpPr>
          <p:cNvPr id="184" name="td"/>
          <p:cNvSpPr/>
          <p:nvPr/>
        </p:nvSpPr>
        <p:spPr>
          <a:xfrm>
            <a:off x="457200" y="2500000"/>
            <a:ext cx="25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5" name="tdt"/>
          <p:cNvSpPr/>
          <p:nvPr/>
        </p:nvSpPr>
        <p:spPr>
          <a:xfrm>
            <a:off x="607200" y="2500000"/>
            <a:ext cx="224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</a:p>
        </p:txBody>
      </p:sp>
      <p:sp>
        <p:nvSpPr>
          <p:cNvPr id="186" name="td"/>
          <p:cNvSpPr/>
          <p:nvPr/>
        </p:nvSpPr>
        <p:spPr>
          <a:xfrm>
            <a:off x="2957200" y="2500000"/>
            <a:ext cx="33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7" name="tdt"/>
          <p:cNvSpPr/>
          <p:nvPr/>
        </p:nvSpPr>
        <p:spPr>
          <a:xfrm>
            <a:off x="3107200" y="2500000"/>
            <a:ext cx="304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0    0</a:t>
            </a:r>
          </a:p>
        </p:txBody>
      </p:sp>
      <p:sp>
        <p:nvSpPr>
          <p:cNvPr id="188" name="td"/>
          <p:cNvSpPr/>
          <p:nvPr/>
        </p:nvSpPr>
        <p:spPr>
          <a:xfrm>
            <a:off x="6257200" y="2500000"/>
            <a:ext cx="24296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89" name="tdt"/>
          <p:cNvSpPr/>
          <p:nvPr/>
        </p:nvSpPr>
        <p:spPr>
          <a:xfrm>
            <a:off x="6407200" y="2500000"/>
            <a:ext cx="21696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(no action)</a:t>
            </a:r>
          </a:p>
        </p:txBody>
      </p:sp>
      <p:sp>
        <p:nvSpPr>
          <p:cNvPr id="190" name="td"/>
          <p:cNvSpPr/>
          <p:nvPr/>
        </p:nvSpPr>
        <p:spPr>
          <a:xfrm>
            <a:off x="457200" y="2930000"/>
            <a:ext cx="2500000" cy="43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1" name="tdt"/>
          <p:cNvSpPr/>
          <p:nvPr/>
        </p:nvSpPr>
        <p:spPr>
          <a:xfrm>
            <a:off x="607200" y="2930000"/>
            <a:ext cx="224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1 flips</a:t>
            </a:r>
          </a:p>
        </p:txBody>
      </p:sp>
      <p:sp>
        <p:nvSpPr>
          <p:cNvPr id="192" name="td"/>
          <p:cNvSpPr/>
          <p:nvPr/>
        </p:nvSpPr>
        <p:spPr>
          <a:xfrm>
            <a:off x="2957200" y="2930000"/>
            <a:ext cx="3300000" cy="43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3" name="tdt"/>
          <p:cNvSpPr/>
          <p:nvPr/>
        </p:nvSpPr>
        <p:spPr>
          <a:xfrm>
            <a:off x="3107200" y="2930000"/>
            <a:ext cx="304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1    0</a:t>
            </a:r>
          </a:p>
        </p:txBody>
      </p:sp>
      <p:sp>
        <p:nvSpPr>
          <p:cNvPr id="194" name="td"/>
          <p:cNvSpPr/>
          <p:nvPr/>
        </p:nvSpPr>
        <p:spPr>
          <a:xfrm>
            <a:off x="6257200" y="2930000"/>
            <a:ext cx="2429600" cy="43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5" name="tdt"/>
          <p:cNvSpPr/>
          <p:nvPr/>
        </p:nvSpPr>
        <p:spPr>
          <a:xfrm>
            <a:off x="6407200" y="2930000"/>
            <a:ext cx="21696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X₁</a:t>
            </a:r>
          </a:p>
        </p:txBody>
      </p:sp>
      <p:sp>
        <p:nvSpPr>
          <p:cNvPr id="196" name="td"/>
          <p:cNvSpPr/>
          <p:nvPr/>
        </p:nvSpPr>
        <p:spPr>
          <a:xfrm>
            <a:off x="457200" y="3360000"/>
            <a:ext cx="25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7" name="tdt"/>
          <p:cNvSpPr/>
          <p:nvPr/>
        </p:nvSpPr>
        <p:spPr>
          <a:xfrm>
            <a:off x="607200" y="3360000"/>
            <a:ext cx="224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2 flips</a:t>
            </a:r>
          </a:p>
        </p:txBody>
      </p:sp>
      <p:sp>
        <p:nvSpPr>
          <p:cNvPr id="198" name="td"/>
          <p:cNvSpPr/>
          <p:nvPr/>
        </p:nvSpPr>
        <p:spPr>
          <a:xfrm>
            <a:off x="2957200" y="3360000"/>
            <a:ext cx="33000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99" name="tdt"/>
          <p:cNvSpPr/>
          <p:nvPr/>
        </p:nvSpPr>
        <p:spPr>
          <a:xfrm>
            <a:off x="3107200" y="3360000"/>
            <a:ext cx="304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1    1</a:t>
            </a:r>
          </a:p>
        </p:txBody>
      </p:sp>
      <p:sp>
        <p:nvSpPr>
          <p:cNvPr id="200" name="td"/>
          <p:cNvSpPr/>
          <p:nvPr/>
        </p:nvSpPr>
        <p:spPr>
          <a:xfrm>
            <a:off x="6257200" y="3360000"/>
            <a:ext cx="2429600" cy="4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1" name="tdt"/>
          <p:cNvSpPr/>
          <p:nvPr/>
        </p:nvSpPr>
        <p:spPr>
          <a:xfrm>
            <a:off x="6407200" y="3360000"/>
            <a:ext cx="21696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X₂</a:t>
            </a:r>
          </a:p>
        </p:txBody>
      </p:sp>
      <p:sp>
        <p:nvSpPr>
          <p:cNvPr id="202" name="td"/>
          <p:cNvSpPr/>
          <p:nvPr/>
        </p:nvSpPr>
        <p:spPr>
          <a:xfrm>
            <a:off x="457200" y="3790000"/>
            <a:ext cx="2500000" cy="43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3" name="tdt"/>
          <p:cNvSpPr/>
          <p:nvPr/>
        </p:nvSpPr>
        <p:spPr>
          <a:xfrm>
            <a:off x="607200" y="3790000"/>
            <a:ext cx="224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3 flips</a:t>
            </a:r>
          </a:p>
        </p:txBody>
      </p:sp>
      <p:sp>
        <p:nvSpPr>
          <p:cNvPr id="204" name="td"/>
          <p:cNvSpPr/>
          <p:nvPr/>
        </p:nvSpPr>
        <p:spPr>
          <a:xfrm>
            <a:off x="2957200" y="3790000"/>
            <a:ext cx="3300000" cy="43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5" name="tdt"/>
          <p:cNvSpPr/>
          <p:nvPr/>
        </p:nvSpPr>
        <p:spPr>
          <a:xfrm>
            <a:off x="3107200" y="3790000"/>
            <a:ext cx="30400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0    1</a:t>
            </a:r>
          </a:p>
        </p:txBody>
      </p:sp>
      <p:sp>
        <p:nvSpPr>
          <p:cNvPr id="206" name="td"/>
          <p:cNvSpPr/>
          <p:nvPr/>
        </p:nvSpPr>
        <p:spPr>
          <a:xfrm>
            <a:off x="6257200" y="3790000"/>
            <a:ext cx="2429600" cy="43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07" name="tdt"/>
          <p:cNvSpPr/>
          <p:nvPr/>
        </p:nvSpPr>
        <p:spPr>
          <a:xfrm>
            <a:off x="6407200" y="3790000"/>
            <a:ext cx="2169600" cy="4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X₃</a:t>
            </a:r>
          </a:p>
        </p:txBody>
      </p:sp>
      <p:sp>
        <p:nvSpPr>
          <p:cNvPr id="208" name="snote"/>
          <p:cNvSpPr/>
          <p:nvPr/>
        </p:nvSpPr>
        <p:spPr>
          <a:xfrm>
            <a:off x="457200" y="4280000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Remember: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syndrome reveals where the error is — never the logical value α, β.</a:t>
            </a:r>
          </a:p>
        </p:txBody>
      </p:sp>
      <p:sp>
        <p:nvSpPr>
          <p:cNvPr id="209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10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1</a:t>
            </a:r>
          </a:p>
        </p:txBody>
      </p:sp>
      <p:sp>
        <p:nvSpPr>
          <p:cNvPr id="212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Example: Correcting a Superposition</a:t>
            </a:r>
          </a:p>
        </p:txBody>
      </p:sp>
      <p:sp>
        <p:nvSpPr>
          <p:cNvPr id="213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one bit-flip from encoding to recovery — the amplitudes are never measured.</a:t>
            </a:r>
          </a:p>
        </p:txBody>
      </p:sp>
      <p:sp>
        <p:nvSpPr>
          <p:cNvPr id="214" name="p0"/>
          <p:cNvSpPr/>
          <p:nvPr/>
        </p:nvSpPr>
        <p:spPr>
          <a:xfrm>
            <a:off x="457200" y="1960000"/>
            <a:ext cx="1525920" cy="21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5" name="p0_acc"/>
          <p:cNvSpPr/>
          <p:nvPr/>
        </p:nvSpPr>
        <p:spPr>
          <a:xfrm>
            <a:off x="457200" y="1960000"/>
            <a:ext cx="152592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6" name="chip"/>
          <p:cNvSpPr/>
          <p:nvPr/>
        </p:nvSpPr>
        <p:spPr>
          <a:xfrm>
            <a:off x="1070160" y="214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7" name="chipn"/>
          <p:cNvSpPr/>
          <p:nvPr/>
        </p:nvSpPr>
        <p:spPr>
          <a:xfrm>
            <a:off x="1070160" y="214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18" name="pl0"/>
          <p:cNvSpPr/>
          <p:nvPr/>
        </p:nvSpPr>
        <p:spPr>
          <a:xfrm>
            <a:off x="537200" y="2520000"/>
            <a:ext cx="13659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</a:p>
        </p:txBody>
      </p:sp>
      <p:sp>
        <p:nvSpPr>
          <p:cNvPr id="219" name="pt0"/>
          <p:cNvSpPr/>
          <p:nvPr/>
        </p:nvSpPr>
        <p:spPr>
          <a:xfrm>
            <a:off x="577200" y="2820000"/>
            <a:ext cx="1285920" cy="11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|ψ⟩ = α|0⟩+β|1⟩   →   α|000⟩+β|111⟩</a:t>
            </a:r>
          </a:p>
        </p:txBody>
      </p:sp>
      <p:sp>
        <p:nvSpPr>
          <p:cNvPr id="220" name="ar0"/>
          <p:cNvSpPr/>
          <p:nvPr/>
        </p:nvSpPr>
        <p:spPr>
          <a:xfrm>
            <a:off x="1993120" y="2915000"/>
            <a:ext cx="13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221" name="p1"/>
          <p:cNvSpPr/>
          <p:nvPr/>
        </p:nvSpPr>
        <p:spPr>
          <a:xfrm>
            <a:off x="2133120" y="1960000"/>
            <a:ext cx="1525920" cy="21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p1_acc"/>
          <p:cNvSpPr/>
          <p:nvPr/>
        </p:nvSpPr>
        <p:spPr>
          <a:xfrm>
            <a:off x="2133120" y="1960000"/>
            <a:ext cx="1525920" cy="822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3" name="chip"/>
          <p:cNvSpPr/>
          <p:nvPr/>
        </p:nvSpPr>
        <p:spPr>
          <a:xfrm>
            <a:off x="2746080" y="2140000"/>
            <a:ext cx="300000" cy="3000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4" name="chipn"/>
          <p:cNvSpPr/>
          <p:nvPr/>
        </p:nvSpPr>
        <p:spPr>
          <a:xfrm>
            <a:off x="2746080" y="214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225" name="pl1"/>
          <p:cNvSpPr/>
          <p:nvPr/>
        </p:nvSpPr>
        <p:spPr>
          <a:xfrm>
            <a:off x="2213120" y="2520000"/>
            <a:ext cx="13659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</a:p>
        </p:txBody>
      </p:sp>
      <p:sp>
        <p:nvSpPr>
          <p:cNvPr id="226" name="pt1"/>
          <p:cNvSpPr/>
          <p:nvPr/>
        </p:nvSpPr>
        <p:spPr>
          <a:xfrm>
            <a:off x="2253120" y="2820000"/>
            <a:ext cx="1285920" cy="11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Bit-flip on qubit 2:   α|010⟩+β|101⟩</a:t>
            </a:r>
          </a:p>
        </p:txBody>
      </p:sp>
      <p:sp>
        <p:nvSpPr>
          <p:cNvPr id="227" name="ar1"/>
          <p:cNvSpPr/>
          <p:nvPr/>
        </p:nvSpPr>
        <p:spPr>
          <a:xfrm>
            <a:off x="3669040" y="2915000"/>
            <a:ext cx="13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228" name="p2"/>
          <p:cNvSpPr/>
          <p:nvPr/>
        </p:nvSpPr>
        <p:spPr>
          <a:xfrm>
            <a:off x="3809040" y="1960000"/>
            <a:ext cx="1525920" cy="21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9" name="p2_acc"/>
          <p:cNvSpPr/>
          <p:nvPr/>
        </p:nvSpPr>
        <p:spPr>
          <a:xfrm>
            <a:off x="3809040" y="1960000"/>
            <a:ext cx="152592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0" name="chip"/>
          <p:cNvSpPr/>
          <p:nvPr/>
        </p:nvSpPr>
        <p:spPr>
          <a:xfrm>
            <a:off x="4422000" y="214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1" name="chipn"/>
          <p:cNvSpPr/>
          <p:nvPr/>
        </p:nvSpPr>
        <p:spPr>
          <a:xfrm>
            <a:off x="4422000" y="214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32" name="pl2"/>
          <p:cNvSpPr/>
          <p:nvPr/>
        </p:nvSpPr>
        <p:spPr>
          <a:xfrm>
            <a:off x="3889040" y="2520000"/>
            <a:ext cx="13659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</a:p>
        </p:txBody>
      </p:sp>
      <p:sp>
        <p:nvSpPr>
          <p:cNvPr id="233" name="pt2"/>
          <p:cNvSpPr/>
          <p:nvPr/>
        </p:nvSpPr>
        <p:spPr>
          <a:xfrm>
            <a:off x="3929040" y="2820000"/>
            <a:ext cx="1285920" cy="11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 parity gives syndrome  (1, 1)</a:t>
            </a:r>
          </a:p>
        </p:txBody>
      </p:sp>
      <p:sp>
        <p:nvSpPr>
          <p:cNvPr id="234" name="ar2"/>
          <p:cNvSpPr/>
          <p:nvPr/>
        </p:nvSpPr>
        <p:spPr>
          <a:xfrm>
            <a:off x="5344960" y="2915000"/>
            <a:ext cx="13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235" name="p3"/>
          <p:cNvSpPr/>
          <p:nvPr/>
        </p:nvSpPr>
        <p:spPr>
          <a:xfrm>
            <a:off x="5484960" y="1960000"/>
            <a:ext cx="1525920" cy="21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6" name="p3_acc"/>
          <p:cNvSpPr/>
          <p:nvPr/>
        </p:nvSpPr>
        <p:spPr>
          <a:xfrm>
            <a:off x="5484960" y="1960000"/>
            <a:ext cx="152592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7" name="chip"/>
          <p:cNvSpPr/>
          <p:nvPr/>
        </p:nvSpPr>
        <p:spPr>
          <a:xfrm>
            <a:off x="6097920" y="214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8" name="chipn"/>
          <p:cNvSpPr/>
          <p:nvPr/>
        </p:nvSpPr>
        <p:spPr>
          <a:xfrm>
            <a:off x="6097920" y="214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39" name="pl3"/>
          <p:cNvSpPr/>
          <p:nvPr/>
        </p:nvSpPr>
        <p:spPr>
          <a:xfrm>
            <a:off x="5564960" y="2520000"/>
            <a:ext cx="13659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</a:p>
        </p:txBody>
      </p:sp>
      <p:sp>
        <p:nvSpPr>
          <p:cNvPr id="240" name="pt3"/>
          <p:cNvSpPr/>
          <p:nvPr/>
        </p:nvSpPr>
        <p:spPr>
          <a:xfrm>
            <a:off x="5604960" y="2820000"/>
            <a:ext cx="1285920" cy="11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 points to qubit 2</a:t>
            </a:r>
          </a:p>
        </p:txBody>
      </p:sp>
      <p:sp>
        <p:nvSpPr>
          <p:cNvPr id="241" name="ar3"/>
          <p:cNvSpPr/>
          <p:nvPr/>
        </p:nvSpPr>
        <p:spPr>
          <a:xfrm>
            <a:off x="7020880" y="2915000"/>
            <a:ext cx="13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242" name="p4"/>
          <p:cNvSpPr/>
          <p:nvPr/>
        </p:nvSpPr>
        <p:spPr>
          <a:xfrm>
            <a:off x="7160880" y="1960000"/>
            <a:ext cx="1525920" cy="21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3" name="p4_acc"/>
          <p:cNvSpPr/>
          <p:nvPr/>
        </p:nvSpPr>
        <p:spPr>
          <a:xfrm>
            <a:off x="7160880" y="1960000"/>
            <a:ext cx="1525920" cy="822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4" name="chip"/>
          <p:cNvSpPr/>
          <p:nvPr/>
        </p:nvSpPr>
        <p:spPr>
          <a:xfrm>
            <a:off x="7773840" y="2140000"/>
            <a:ext cx="300000" cy="30000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5" name="chipn"/>
          <p:cNvSpPr/>
          <p:nvPr/>
        </p:nvSpPr>
        <p:spPr>
          <a:xfrm>
            <a:off x="7773840" y="214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46" name="pl4"/>
          <p:cNvSpPr/>
          <p:nvPr/>
        </p:nvSpPr>
        <p:spPr>
          <a:xfrm>
            <a:off x="7240880" y="2520000"/>
            <a:ext cx="136592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6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</a:p>
        </p:txBody>
      </p:sp>
      <p:sp>
        <p:nvSpPr>
          <p:cNvPr id="247" name="pt4"/>
          <p:cNvSpPr/>
          <p:nvPr/>
        </p:nvSpPr>
        <p:spPr>
          <a:xfrm>
            <a:off x="7280880" y="2820000"/>
            <a:ext cx="1285920" cy="11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100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X₂  →  α|000⟩+β|111⟩</a:t>
            </a:r>
          </a:p>
        </p:txBody>
      </p:sp>
      <p:sp>
        <p:nvSpPr>
          <p:cNvPr id="248" name="nstr"/>
          <p:cNvSpPr/>
          <p:nvPr/>
        </p:nvSpPr>
        <p:spPr>
          <a:xfrm>
            <a:off x="457200" y="4260000"/>
            <a:ext cx="8229600" cy="4000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nstra"/>
          <p:cNvSpPr/>
          <p:nvPr/>
        </p:nvSpPr>
        <p:spPr>
          <a:xfrm>
            <a:off x="457200" y="4260000"/>
            <a:ext cx="73152" cy="40000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0" name="nstrt"/>
          <p:cNvSpPr/>
          <p:nvPr/>
        </p:nvSpPr>
        <p:spPr>
          <a:xfrm>
            <a:off x="657200" y="4260000"/>
            <a:ext cx="78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magic: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 and β are never observed — only the syndrome is measured.</a:t>
            </a:r>
          </a:p>
        </p:txBody>
      </p:sp>
      <p:sp>
        <p:nvSpPr>
          <p:cNvPr id="251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52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1</a:t>
            </a:r>
          </a:p>
        </p:txBody>
      </p:sp>
      <p:sp>
        <p:nvSpPr>
          <p:cNvPr id="254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of the 3-Qubit Code</a:t>
            </a:r>
          </a:p>
        </p:txBody>
      </p:sp>
      <p:sp>
        <p:nvSpPr>
          <p:cNvPr id="255" name="lh"/>
          <p:cNvSpPr/>
          <p:nvPr/>
        </p:nvSpPr>
        <p:spPr>
          <a:xfrm>
            <a:off x="457200" y="1520000"/>
            <a:ext cx="4023360" cy="47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6" name="lht"/>
          <p:cNvSpPr/>
          <p:nvPr/>
        </p:nvSpPr>
        <p:spPr>
          <a:xfrm>
            <a:off x="457200" y="1520000"/>
            <a:ext cx="402336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 DO</a:t>
            </a:r>
          </a:p>
        </p:txBody>
      </p:sp>
      <p:sp>
        <p:nvSpPr>
          <p:cNvPr id="257" name="rh"/>
          <p:cNvSpPr/>
          <p:nvPr/>
        </p:nvSpPr>
        <p:spPr>
          <a:xfrm>
            <a:off x="4663440" y="1520000"/>
            <a:ext cx="4023360" cy="470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8" name="rht"/>
          <p:cNvSpPr/>
          <p:nvPr/>
        </p:nvSpPr>
        <p:spPr>
          <a:xfrm>
            <a:off x="4663440" y="1520000"/>
            <a:ext cx="402336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CANNOT DO</a:t>
            </a:r>
          </a:p>
        </p:txBody>
      </p:sp>
      <p:sp>
        <p:nvSpPr>
          <p:cNvPr id="259" name="lb"/>
          <p:cNvSpPr/>
          <p:nvPr/>
        </p:nvSpPr>
        <p:spPr>
          <a:xfrm>
            <a:off x="457200" y="2010000"/>
            <a:ext cx="4023360" cy="17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0" name="rb"/>
          <p:cNvSpPr/>
          <p:nvPr/>
        </p:nvSpPr>
        <p:spPr>
          <a:xfrm>
            <a:off x="4663440" y="2010000"/>
            <a:ext cx="4023360" cy="17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lbt"/>
          <p:cNvSpPr/>
          <p:nvPr/>
        </p:nvSpPr>
        <p:spPr>
          <a:xfrm>
            <a:off x="717200" y="2190000"/>
            <a:ext cx="352336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60000" indent="-360000" algn="l">
              <a:spcAft>
                <a:spcPts val="900"/>
              </a:spcAft>
              <a:buFont typeface="Arial"/>
              <a:buChar char="✓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any single bit-flip (X₁, X₂, X₃)</a:t>
            </a:r>
          </a:p>
          <a:p>
            <a:pPr marL="360000" indent="-360000" algn="l">
              <a:spcAft>
                <a:spcPts val="900"/>
              </a:spcAft>
              <a:buFont typeface="Arial"/>
              <a:buChar char="✓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the amplitudes α and β</a:t>
            </a:r>
          </a:p>
          <a:p>
            <a:pPr marL="360000" indent="-360000" algn="l">
              <a:spcAft>
                <a:spcPts val="900"/>
              </a:spcAft>
              <a:buFont typeface="Arial"/>
              <a:buChar char="✓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 error without collapsing the data</a:t>
            </a:r>
          </a:p>
        </p:txBody>
      </p:sp>
      <p:sp>
        <p:nvSpPr>
          <p:cNvPr id="262" name="rbt"/>
          <p:cNvSpPr/>
          <p:nvPr/>
        </p:nvSpPr>
        <p:spPr>
          <a:xfrm>
            <a:off x="4923440" y="2190000"/>
            <a:ext cx="352336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60000" indent="-360000" algn="l">
              <a:spcAft>
                <a:spcPts val="900"/>
              </a:spcAft>
              <a:buFont typeface="Arial"/>
              <a:buChar char="✗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two or more simultaneous flips</a:t>
            </a:r>
          </a:p>
          <a:p>
            <a:pPr marL="360000" indent="-360000" algn="l">
              <a:spcAft>
                <a:spcPts val="900"/>
              </a:spcAft>
              <a:buFont typeface="Arial"/>
              <a:buChar char="✗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phase-flip (Z) errors at all</a:t>
            </a:r>
          </a:p>
          <a:p>
            <a:pPr marL="360000" indent="-360000" algn="l">
              <a:spcAft>
                <a:spcPts val="900"/>
              </a:spcAft>
              <a:buFont typeface="Arial"/>
              <a:buChar char="✗"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arbitrary errors (Y = iXZ)</a:t>
            </a:r>
          </a:p>
        </p:txBody>
      </p:sp>
      <p:sp>
        <p:nvSpPr>
          <p:cNvPr id="263" name="teas"/>
          <p:cNvSpPr/>
          <p:nvPr/>
        </p:nvSpPr>
        <p:spPr>
          <a:xfrm>
            <a:off x="457200" y="3830000"/>
            <a:ext cx="8229600" cy="56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4" name="teast"/>
          <p:cNvSpPr/>
          <p:nvPr/>
        </p:nvSpPr>
        <p:spPr>
          <a:xfrm>
            <a:off x="697200" y="3830000"/>
            <a:ext cx="774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ker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Next:  The Phase-Flip Code   </a:t>
            </a:r>
            <a:r>
              <a:rPr lang="en-US" sz="1250" kern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protecting the sign as well as the bit.</a:t>
            </a:r>
          </a:p>
        </p:txBody>
      </p:sp>
      <p:sp>
        <p:nvSpPr>
          <p:cNvPr id="265" name="decap"/>
          <p:cNvSpPr/>
          <p:nvPr/>
        </p:nvSpPr>
        <p:spPr>
          <a:xfrm>
            <a:off x="457200" y="4450000"/>
            <a:ext cx="82296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out: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X₁X₂ produces syndrome (0, 1) — the decoder wrongly flips qubit 3.</a:t>
            </a:r>
          </a:p>
        </p:txBody>
      </p:sp>
      <p:sp>
        <p:nvSpPr>
          <p:cNvPr id="266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67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·  BLOCK 1</a:t>
            </a:r>
          </a:p>
        </p:txBody>
      </p:sp>
      <p:sp>
        <p:nvSpPr>
          <p:cNvPr id="269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1 Recap &amp; Check-in</a:t>
            </a:r>
          </a:p>
        </p:txBody>
      </p:sp>
      <p:sp>
        <p:nvSpPr>
          <p:cNvPr id="270" name="chip"/>
          <p:cNvSpPr/>
          <p:nvPr/>
        </p:nvSpPr>
        <p:spPr>
          <a:xfrm>
            <a:off x="457200" y="1640000"/>
            <a:ext cx="380000" cy="38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71" name="chipn"/>
          <p:cNvSpPr/>
          <p:nvPr/>
        </p:nvSpPr>
        <p:spPr>
          <a:xfrm>
            <a:off x="457200" y="164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72" name="tk"/>
          <p:cNvSpPr/>
          <p:nvPr/>
        </p:nvSpPr>
        <p:spPr>
          <a:xfrm>
            <a:off x="1057200" y="1610000"/>
            <a:ext cx="367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states are fragile — QEC is essential.</a:t>
            </a:r>
          </a:p>
        </p:txBody>
      </p:sp>
      <p:sp>
        <p:nvSpPr>
          <p:cNvPr id="273" name="chip"/>
          <p:cNvSpPr/>
          <p:nvPr/>
        </p:nvSpPr>
        <p:spPr>
          <a:xfrm>
            <a:off x="457200" y="2200000"/>
            <a:ext cx="380000" cy="38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74" name="chipn"/>
          <p:cNvSpPr/>
          <p:nvPr/>
        </p:nvSpPr>
        <p:spPr>
          <a:xfrm>
            <a:off x="457200" y="22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275" name="tk"/>
          <p:cNvSpPr/>
          <p:nvPr/>
        </p:nvSpPr>
        <p:spPr>
          <a:xfrm>
            <a:off x="1057200" y="2170000"/>
            <a:ext cx="367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No-Cloning rules out classical-style copying.</a:t>
            </a:r>
          </a:p>
        </p:txBody>
      </p:sp>
      <p:sp>
        <p:nvSpPr>
          <p:cNvPr id="276" name="chip"/>
          <p:cNvSpPr/>
          <p:nvPr/>
        </p:nvSpPr>
        <p:spPr>
          <a:xfrm>
            <a:off x="457200" y="2760000"/>
            <a:ext cx="380000" cy="38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77" name="chipn"/>
          <p:cNvSpPr/>
          <p:nvPr/>
        </p:nvSpPr>
        <p:spPr>
          <a:xfrm>
            <a:off x="457200" y="276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78" name="tk"/>
          <p:cNvSpPr/>
          <p:nvPr/>
        </p:nvSpPr>
        <p:spPr>
          <a:xfrm>
            <a:off x="1057200" y="2730000"/>
            <a:ext cx="367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Entanglement gives redundancy: α|000⟩+β|111⟩.</a:t>
            </a:r>
          </a:p>
        </p:txBody>
      </p:sp>
      <p:sp>
        <p:nvSpPr>
          <p:cNvPr id="279" name="chip"/>
          <p:cNvSpPr/>
          <p:nvPr/>
        </p:nvSpPr>
        <p:spPr>
          <a:xfrm>
            <a:off x="457200" y="3320000"/>
            <a:ext cx="380000" cy="38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80" name="chipn"/>
          <p:cNvSpPr/>
          <p:nvPr/>
        </p:nvSpPr>
        <p:spPr>
          <a:xfrm>
            <a:off x="457200" y="332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281" name="tk"/>
          <p:cNvSpPr/>
          <p:nvPr/>
        </p:nvSpPr>
        <p:spPr>
          <a:xfrm>
            <a:off x="1057200" y="3290000"/>
            <a:ext cx="367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Ancilla qubits detect errors without collapse.</a:t>
            </a:r>
          </a:p>
        </p:txBody>
      </p:sp>
      <p:sp>
        <p:nvSpPr>
          <p:cNvPr id="282" name="chip"/>
          <p:cNvSpPr/>
          <p:nvPr/>
        </p:nvSpPr>
        <p:spPr>
          <a:xfrm>
            <a:off x="457200" y="3880000"/>
            <a:ext cx="380000" cy="38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83" name="chipn"/>
          <p:cNvSpPr/>
          <p:nvPr/>
        </p:nvSpPr>
        <p:spPr>
          <a:xfrm>
            <a:off x="457200" y="388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84" name="tk"/>
          <p:cNvSpPr/>
          <p:nvPr/>
        </p:nvSpPr>
        <p:spPr>
          <a:xfrm>
            <a:off x="1057200" y="3850000"/>
            <a:ext cx="367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syndrome tells you where, not what.</a:t>
            </a:r>
          </a:p>
        </p:txBody>
      </p:sp>
      <p:sp>
        <p:nvSpPr>
          <p:cNvPr id="285" name="poll"/>
          <p:cNvSpPr/>
          <p:nvPr/>
        </p:nvSpPr>
        <p:spPr>
          <a:xfrm>
            <a:off x="5250000" y="1620000"/>
            <a:ext cx="3436800" cy="256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86" name="poll_acc"/>
          <p:cNvSpPr/>
          <p:nvPr/>
        </p:nvSpPr>
        <p:spPr>
          <a:xfrm>
            <a:off x="5250000" y="1620000"/>
            <a:ext cx="343680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87" name="ph"/>
          <p:cNvSpPr/>
          <p:nvPr/>
        </p:nvSpPr>
        <p:spPr>
          <a:xfrm>
            <a:off x="5510000" y="1780000"/>
            <a:ext cx="2916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12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</a:t>
            </a:r>
          </a:p>
        </p:txBody>
      </p:sp>
      <p:sp>
        <p:nvSpPr>
          <p:cNvPr id="288" name="pq"/>
          <p:cNvSpPr/>
          <p:nvPr/>
        </p:nvSpPr>
        <p:spPr>
          <a:xfrm>
            <a:off x="5510000" y="2090000"/>
            <a:ext cx="29168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ancilla reads (1, 0), which qubit flipped?</a:t>
            </a:r>
          </a:p>
        </p:txBody>
      </p:sp>
      <p:sp>
        <p:nvSpPr>
          <p:cNvPr id="289" name="po"/>
          <p:cNvSpPr/>
          <p:nvPr/>
        </p:nvSpPr>
        <p:spPr>
          <a:xfrm>
            <a:off x="5550000" y="2740000"/>
            <a:ext cx="287680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 Qubit 1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 Qubit 2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 Qubit 3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 No error</a:t>
            </a:r>
          </a:p>
        </p:txBody>
      </p:sp>
      <p:sp>
        <p:nvSpPr>
          <p:cNvPr id="290" name="pn"/>
          <p:cNvSpPr/>
          <p:nvPr/>
        </p:nvSpPr>
        <p:spPr>
          <a:xfrm>
            <a:off x="5510000" y="3820000"/>
            <a:ext cx="2916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i="1" kern="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Think-pair-share, then vote.</a:t>
            </a:r>
          </a:p>
        </p:txBody>
      </p:sp>
      <p:sp>
        <p:nvSpPr>
          <p:cNvPr id="291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92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lbar"/>
          <p:cNvSpPr/>
          <p:nvPr/>
        </p:nvSpPr>
        <p:spPr>
          <a:xfrm>
            <a:off x="0" y="0"/>
            <a:ext cx="80000" cy="514350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4" name="eb"/>
          <p:cNvSpPr/>
          <p:nvPr/>
        </p:nvSpPr>
        <p:spPr>
          <a:xfrm>
            <a:off x="457200" y="1450000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1 COMPLETE</a:t>
            </a:r>
          </a:p>
        </p:txBody>
      </p:sp>
      <p:sp>
        <p:nvSpPr>
          <p:cNvPr id="295" name="bt"/>
          <p:cNvSpPr/>
          <p:nvPr/>
        </p:nvSpPr>
        <p:spPr>
          <a:xfrm>
            <a:off x="457200" y="1820000"/>
            <a:ext cx="82296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— 10 Minutes</a:t>
            </a:r>
          </a:p>
        </p:txBody>
      </p:sp>
      <p:sp>
        <p:nvSpPr>
          <p:cNvPr id="296" name="bs"/>
          <p:cNvSpPr/>
          <p:nvPr/>
        </p:nvSpPr>
        <p:spPr>
          <a:xfrm>
            <a:off x="457200" y="272000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Stretch, hydrate, and return ready for phase-flip errors.</a:t>
            </a:r>
          </a:p>
        </p:txBody>
      </p:sp>
      <p:sp>
        <p:nvSpPr>
          <p:cNvPr id="297" name="pcd"/>
          <p:cNvSpPr/>
          <p:nvPr/>
        </p:nvSpPr>
        <p:spPr>
          <a:xfrm>
            <a:off x="2072000" y="3350000"/>
            <a:ext cx="5000000" cy="640000"/>
          </a:xfrm>
          <a:prstGeom prst="rect">
            <a:avLst/>
          </a:prstGeom>
          <a:solidFill>
            <a:srgbClr val="234A6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8" name="pct"/>
          <p:cNvSpPr/>
          <p:nvPr/>
        </p:nvSpPr>
        <p:spPr>
          <a:xfrm>
            <a:off x="2272000" y="3350000"/>
            <a:ext cx="46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prompt:   </a:t>
            </a:r>
            <a:r>
              <a:rPr lang="en-US" sz="12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would you detect a phase flip?</a:t>
            </a:r>
          </a:p>
        </p:txBody>
      </p:sp>
      <p:sp>
        <p:nvSpPr>
          <p:cNvPr id="299" name="bf"/>
          <p:cNvSpPr/>
          <p:nvPr/>
        </p:nvSpPr>
        <p:spPr>
          <a:xfrm>
            <a:off x="457200" y="4520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2.6  ·  Quantum Error Correction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  ·  BLOCK 2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Phase-Flip Problem</a:t>
            </a:r>
          </a:p>
        </p:txBody>
      </p:sp>
      <p:sp>
        <p:nvSpPr>
          <p:cNvPr id="4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enemy hides in plain sight: the 3-qubit bit-flip code is completely blind to phase errors.</a:t>
            </a:r>
          </a:p>
        </p:txBody>
      </p:sp>
      <p:sp>
        <p:nvSpPr>
          <p:cNvPr id="5" name="lc"/>
          <p:cNvSpPr/>
          <p:nvPr/>
        </p:nvSpPr>
        <p:spPr>
          <a:xfrm>
            <a:off x="457200" y="1720000"/>
            <a:ext cx="4480000" cy="228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lc_acc"/>
          <p:cNvSpPr/>
          <p:nvPr/>
        </p:nvSpPr>
        <p:spPr>
          <a:xfrm>
            <a:off x="457200" y="1720000"/>
            <a:ext cx="44800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lch"/>
          <p:cNvSpPr/>
          <p:nvPr/>
        </p:nvSpPr>
        <p:spPr>
          <a:xfrm>
            <a:off x="717200" y="1870000"/>
            <a:ext cx="39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FLIP (Z)</a:t>
            </a:r>
          </a:p>
        </p:txBody>
      </p:sp>
      <p:sp>
        <p:nvSpPr>
          <p:cNvPr id="8" name="lcm"/>
          <p:cNvSpPr/>
          <p:nvPr/>
        </p:nvSpPr>
        <p:spPr>
          <a:xfrm>
            <a:off x="717200" y="2190000"/>
            <a:ext cx="396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Z|0⟩ = |0⟩ ,   Z|1⟩ = −|1⟩</a:t>
            </a:r>
          </a:p>
          <a:p>
            <a:pPr marL="0" indent="0" algn="l">
              <a:buNone/>
            </a:pPr>
            <a:r>
              <a:rPr lang="en-US" sz="13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Z(α|0⟩+β|1⟩) = α|0⟩ − β|1⟩</a:t>
            </a:r>
          </a:p>
        </p:txBody>
      </p:sp>
      <p:sp>
        <p:nvSpPr>
          <p:cNvPr id="9" name="lcdiv"/>
          <p:cNvSpPr/>
          <p:nvPr/>
        </p:nvSpPr>
        <p:spPr>
          <a:xfrm>
            <a:off x="717200" y="2900000"/>
            <a:ext cx="3960000" cy="0"/>
          </a:xfrm>
          <a:prstGeom prst="line">
            <a:avLst/>
          </a:prstGeom>
          <a:noFill/>
          <a:ln w="9525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lc2"/>
          <p:cNvSpPr/>
          <p:nvPr/>
        </p:nvSpPr>
        <p:spPr>
          <a:xfrm>
            <a:off x="717200" y="3020000"/>
            <a:ext cx="396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encoded logical state: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(I⊗Z⊗I)(α|000⟩+β|111⟩) = α|000⟩ − β|111⟩</a:t>
            </a:r>
          </a:p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Bit-flip syndrome Z₁Z₂, Z₂Z₃  →  </a:t>
            </a:r>
            <a:r>
              <a:rPr lang="en-US" sz="1600" b="1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(0, 0)</a:t>
            </a:r>
          </a:p>
        </p:txBody>
      </p:sp>
      <p:sp>
        <p:nvSpPr>
          <p:cNvPr id="11" name="ra"/>
          <p:cNvSpPr/>
          <p:nvPr/>
        </p:nvSpPr>
        <p:spPr>
          <a:xfrm>
            <a:off x="5120000" y="1720000"/>
            <a:ext cx="3566800" cy="108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a_acc"/>
          <p:cNvSpPr/>
          <p:nvPr/>
        </p:nvSpPr>
        <p:spPr>
          <a:xfrm>
            <a:off x="5120000" y="1720000"/>
            <a:ext cx="356680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rae"/>
          <p:cNvSpPr/>
          <p:nvPr/>
        </p:nvSpPr>
        <p:spPr>
          <a:xfrm>
            <a:off x="5300000" y="1850000"/>
            <a:ext cx="560000" cy="560000"/>
          </a:xfrm>
          <a:prstGeom prst="ellipse">
            <a:avLst/>
          </a:prstGeom>
          <a:noFill/>
          <a:ln w="1905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aeq"/>
          <p:cNvSpPr/>
          <p:nvPr/>
        </p:nvSpPr>
        <p:spPr>
          <a:xfrm>
            <a:off x="5300000" y="2130000"/>
            <a:ext cx="560000" cy="0"/>
          </a:xfrm>
          <a:prstGeom prst="line">
            <a:avLst/>
          </a:prstGeom>
          <a:noFill/>
          <a:ln w="9525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al"/>
          <p:cNvSpPr/>
          <p:nvPr/>
        </p:nvSpPr>
        <p:spPr>
          <a:xfrm>
            <a:off x="5300000" y="1850000"/>
            <a:ext cx="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</a:p>
        </p:txBody>
      </p:sp>
      <p:sp>
        <p:nvSpPr>
          <p:cNvPr id="16" name="rat"/>
          <p:cNvSpPr/>
          <p:nvPr/>
        </p:nvSpPr>
        <p:spPr>
          <a:xfrm>
            <a:off x="5960000" y="1820000"/>
            <a:ext cx="25668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50"/>
              </a:spcAft>
              <a:buNone/>
            </a:pPr>
            <a:r>
              <a:rPr lang="en-US" sz="16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Bit-flip</a:t>
            </a:r>
          </a:p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the qubit — caught by the code</a:t>
            </a:r>
          </a:p>
        </p:txBody>
      </p:sp>
      <p:sp>
        <p:nvSpPr>
          <p:cNvPr id="17" name="rb"/>
          <p:cNvSpPr/>
          <p:nvPr/>
        </p:nvSpPr>
        <p:spPr>
          <a:xfrm>
            <a:off x="5120000" y="2920000"/>
            <a:ext cx="3566800" cy="108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b_acc"/>
          <p:cNvSpPr/>
          <p:nvPr/>
        </p:nvSpPr>
        <p:spPr>
          <a:xfrm>
            <a:off x="5120000" y="2920000"/>
            <a:ext cx="35668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be"/>
          <p:cNvSpPr/>
          <p:nvPr/>
        </p:nvSpPr>
        <p:spPr>
          <a:xfrm>
            <a:off x="5300000" y="3050000"/>
            <a:ext cx="560000" cy="560000"/>
          </a:xfrm>
          <a:prstGeom prst="ellipse">
            <a:avLst/>
          </a:prstGeom>
          <a:noFill/>
          <a:ln w="1905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beq"/>
          <p:cNvSpPr/>
          <p:nvPr/>
        </p:nvSpPr>
        <p:spPr>
          <a:xfrm>
            <a:off x="5580000" y="3050000"/>
            <a:ext cx="0" cy="560000"/>
          </a:xfrm>
          <a:prstGeom prst="line">
            <a:avLst/>
          </a:prstGeom>
          <a:noFill/>
          <a:ln w="9525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bl"/>
          <p:cNvSpPr/>
          <p:nvPr/>
        </p:nvSpPr>
        <p:spPr>
          <a:xfrm>
            <a:off x="5300000" y="3050000"/>
            <a:ext cx="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kern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</a:p>
        </p:txBody>
      </p:sp>
      <p:sp>
        <p:nvSpPr>
          <p:cNvPr id="22" name="rbt"/>
          <p:cNvSpPr/>
          <p:nvPr/>
        </p:nvSpPr>
        <p:spPr>
          <a:xfrm>
            <a:off x="5960000" y="3020000"/>
            <a:ext cx="25668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50"/>
              </a:spcAft>
              <a:buNone/>
            </a:pPr>
            <a:r>
              <a:rPr lang="en-US" sz="16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Phase-flip</a:t>
            </a:r>
          </a:p>
          <a:p>
            <a:pPr marL="0" indent="0" algn="l">
              <a:buNone/>
            </a:pP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flips the sign of |1⟩ — invisible</a:t>
            </a:r>
          </a:p>
        </p:txBody>
      </p:sp>
      <p:sp>
        <p:nvSpPr>
          <p:cNvPr id="23" name="fb"/>
          <p:cNvSpPr/>
          <p:nvPr/>
        </p:nvSpPr>
        <p:spPr>
          <a:xfrm>
            <a:off x="457200" y="4120000"/>
            <a:ext cx="8229600" cy="560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fbx"/>
          <p:cNvSpPr/>
          <p:nvPr/>
        </p:nvSpPr>
        <p:spPr>
          <a:xfrm>
            <a:off x="597200" y="4120000"/>
            <a:ext cx="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</a:p>
        </p:txBody>
      </p:sp>
      <p:sp>
        <p:nvSpPr>
          <p:cNvPr id="25" name="fbt"/>
          <p:cNvSpPr/>
          <p:nvPr/>
        </p:nvSpPr>
        <p:spPr>
          <a:xfrm>
            <a:off x="1217200" y="4120000"/>
            <a:ext cx="732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 error detected.”   </a:t>
            </a:r>
            <a:r>
              <a:rPr lang="en-US" sz="12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bit-flip code cannot see a phase flip at all.</a:t>
            </a:r>
          </a:p>
        </p:txBody>
      </p:sp>
      <p:sp>
        <p:nvSpPr>
          <p:cNvPr id="26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7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2</a:t>
            </a:r>
          </a:p>
        </p:txBody>
      </p:sp>
      <p:sp>
        <p:nvSpPr>
          <p:cNvPr id="29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Hadamard Basis Trick</a:t>
            </a:r>
          </a:p>
        </p:txBody>
      </p:sp>
      <p:sp>
        <p:nvSpPr>
          <p:cNvPr id="30" name="hb"/>
          <p:cNvSpPr/>
          <p:nvPr/>
        </p:nvSpPr>
        <p:spPr>
          <a:xfrm>
            <a:off x="457200" y="1410000"/>
            <a:ext cx="8229600" cy="56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hbt"/>
          <p:cNvSpPr/>
          <p:nvPr/>
        </p:nvSpPr>
        <p:spPr>
          <a:xfrm>
            <a:off x="717200" y="1410000"/>
            <a:ext cx="770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E08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 Z H = X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 phase flip becomes an ordinary bit flip in the |+⟩, |−⟩ basis</a:t>
            </a:r>
          </a:p>
        </p:txBody>
      </p:sp>
      <p:sp>
        <p:nvSpPr>
          <p:cNvPr id="32" name="lc"/>
          <p:cNvSpPr/>
          <p:nvPr/>
        </p:nvSpPr>
        <p:spPr>
          <a:xfrm>
            <a:off x="457200" y="2160000"/>
            <a:ext cx="4023360" cy="18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lc_acc"/>
          <p:cNvSpPr/>
          <p:nvPr/>
        </p:nvSpPr>
        <p:spPr>
          <a:xfrm>
            <a:off x="457200" y="2160000"/>
            <a:ext cx="402336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lch"/>
          <p:cNvSpPr/>
          <p:nvPr/>
        </p:nvSpPr>
        <p:spPr>
          <a:xfrm>
            <a:off x="717200" y="2310000"/>
            <a:ext cx="350336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± BASIS</a:t>
            </a:r>
          </a:p>
        </p:txBody>
      </p:sp>
      <p:sp>
        <p:nvSpPr>
          <p:cNvPr id="35" name="lcb"/>
          <p:cNvSpPr/>
          <p:nvPr/>
        </p:nvSpPr>
        <p:spPr>
          <a:xfrm>
            <a:off x="717200" y="2630000"/>
            <a:ext cx="3503360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50"/>
              </a:spcAft>
              <a:buNone/>
            </a:pPr>
            <a:r>
              <a:rPr lang="en-US" sz="16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|+⟩ = H|0⟩ = (|0⟩+|1⟩)/√2</a:t>
            </a:r>
          </a:p>
          <a:p>
            <a:pPr marL="0" indent="0" algn="l">
              <a:spcAft>
                <a:spcPts val="500"/>
              </a:spcAft>
              <a:buNone/>
            </a:pPr>
            <a:r>
              <a:rPr lang="en-US" sz="16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|−⟩ = H|1⟩ = (|0⟩−|1⟩)/√2</a:t>
            </a:r>
          </a:p>
          <a:p>
            <a:pPr marL="0" indent="0" algn="l">
              <a:spcAft>
                <a:spcPts val="400"/>
              </a:spcAft>
              <a:buNone/>
            </a:pPr>
            <a:r>
              <a:rPr lang="en-US" sz="1600" b="1" kern="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Z|+⟩ = |−⟩      Z|−⟩ = |+⟩</a:t>
            </a:r>
          </a:p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swaps |+⟩ ↔ |−⟩ — just as X swaps |0⟩ ↔ |1⟩.</a:t>
            </a:r>
          </a:p>
        </p:txBody>
      </p:sp>
      <p:sp>
        <p:nvSpPr>
          <p:cNvPr id="36" name="rc"/>
          <p:cNvSpPr/>
          <p:nvPr/>
        </p:nvSpPr>
        <p:spPr>
          <a:xfrm>
            <a:off x="4663440" y="2160000"/>
            <a:ext cx="4023360" cy="182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c_acc"/>
          <p:cNvSpPr/>
          <p:nvPr/>
        </p:nvSpPr>
        <p:spPr>
          <a:xfrm>
            <a:off x="4663440" y="2160000"/>
            <a:ext cx="402336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rch"/>
          <p:cNvSpPr/>
          <p:nvPr/>
        </p:nvSpPr>
        <p:spPr>
          <a:xfrm>
            <a:off x="4923440" y="2310000"/>
            <a:ext cx="350336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PHASE-FLIP ENCODING</a:t>
            </a:r>
          </a:p>
        </p:txBody>
      </p:sp>
      <p:sp>
        <p:nvSpPr>
          <p:cNvPr id="39" name="rcb"/>
          <p:cNvSpPr/>
          <p:nvPr/>
        </p:nvSpPr>
        <p:spPr>
          <a:xfrm>
            <a:off x="4923440" y="2630000"/>
            <a:ext cx="3503360" cy="1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50"/>
              </a:spcAft>
              <a:buNone/>
            </a:pPr>
            <a:r>
              <a:rPr lang="en-US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→ |+++⟩</a:t>
            </a:r>
          </a:p>
          <a:p>
            <a:pPr marL="0" indent="0" algn="l">
              <a:spcAft>
                <a:spcPts val="450"/>
              </a:spcAft>
              <a:buNone/>
            </a:pPr>
            <a:r>
              <a:rPr lang="en-US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|1⟩ → |−−−⟩</a:t>
            </a:r>
          </a:p>
          <a:p>
            <a:pPr marL="0" indent="0" algn="l">
              <a:spcAft>
                <a:spcPts val="350"/>
              </a:spcAft>
              <a:buNone/>
            </a:pPr>
            <a:r>
              <a:rPr lang="en-US" sz="16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Stabilizers:  </a:t>
            </a:r>
            <a:r>
              <a:rPr lang="en-US" sz="1600" b="1" kern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X⊗X⊗I ,  I⊗X⊗X</a:t>
            </a:r>
          </a:p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Z-errors now show up as bit-flips in the |±⟩ basis.</a:t>
            </a:r>
          </a:p>
        </p:txBody>
      </p:sp>
      <p:sp>
        <p:nvSpPr>
          <p:cNvPr id="40" name="ks"/>
          <p:cNvSpPr/>
          <p:nvPr/>
        </p:nvSpPr>
        <p:spPr>
          <a:xfrm>
            <a:off x="457200" y="4080000"/>
            <a:ext cx="8229600" cy="5600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ksa"/>
          <p:cNvSpPr/>
          <p:nvPr/>
        </p:nvSpPr>
        <p:spPr>
          <a:xfrm>
            <a:off x="457200" y="4080000"/>
            <a:ext cx="73152" cy="56000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kst"/>
          <p:cNvSpPr/>
          <p:nvPr/>
        </p:nvSpPr>
        <p:spPr>
          <a:xfrm>
            <a:off x="657200" y="4080000"/>
            <a:ext cx="782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error, new code: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never change Z — we change the basis so Z behaves like X.</a:t>
            </a:r>
          </a:p>
        </p:txBody>
      </p:sp>
      <p:sp>
        <p:nvSpPr>
          <p:cNvPr id="43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44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2</a:t>
            </a:r>
          </a:p>
        </p:txBody>
      </p:sp>
      <p:sp>
        <p:nvSpPr>
          <p:cNvPr id="46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Phase-Flip Code: Syndrome &amp; Correction</a:t>
            </a:r>
          </a:p>
        </p:txBody>
      </p:sp>
      <p:sp>
        <p:nvSpPr>
          <p:cNvPr id="47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bit-flip machinery in </a:t>
            </a:r>
            <a:r>
              <a:rPr lang="en-US" sz="1400" kern="0" dirty="0" err="1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Hadamards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same parity checks now catch phase flips.</a:t>
            </a:r>
          </a:p>
        </p:txBody>
      </p:sp>
      <p:sp>
        <p:nvSpPr>
          <p:cNvPr id="48" name="w"/>
          <p:cNvSpPr/>
          <p:nvPr/>
        </p:nvSpPr>
        <p:spPr>
          <a:xfrm>
            <a:off x="860000" y="2060000"/>
            <a:ext cx="3320000" cy="0"/>
          </a:xfrm>
          <a:prstGeom prst="line">
            <a:avLst/>
          </a:prstGeom>
          <a:noFill/>
          <a:ln w="12700">
            <a:solidFill>
              <a:srgbClr val="3D4F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wl"/>
          <p:cNvSpPr/>
          <p:nvPr/>
        </p:nvSpPr>
        <p:spPr>
          <a:xfrm>
            <a:off x="430000" y="1910000"/>
            <a:ext cx="3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|±⟩</a:t>
            </a:r>
          </a:p>
        </p:txBody>
      </p:sp>
      <p:sp>
        <p:nvSpPr>
          <p:cNvPr id="50" name="w"/>
          <p:cNvSpPr/>
          <p:nvPr/>
        </p:nvSpPr>
        <p:spPr>
          <a:xfrm>
            <a:off x="860000" y="2440000"/>
            <a:ext cx="3320000" cy="0"/>
          </a:xfrm>
          <a:prstGeom prst="line">
            <a:avLst/>
          </a:prstGeom>
          <a:noFill/>
          <a:ln w="12700">
            <a:solidFill>
              <a:srgbClr val="3D4F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wl"/>
          <p:cNvSpPr/>
          <p:nvPr/>
        </p:nvSpPr>
        <p:spPr>
          <a:xfrm>
            <a:off x="430000" y="2290000"/>
            <a:ext cx="3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|±⟩</a:t>
            </a:r>
          </a:p>
        </p:txBody>
      </p:sp>
      <p:sp>
        <p:nvSpPr>
          <p:cNvPr id="52" name="w"/>
          <p:cNvSpPr/>
          <p:nvPr/>
        </p:nvSpPr>
        <p:spPr>
          <a:xfrm>
            <a:off x="860000" y="2820000"/>
            <a:ext cx="3320000" cy="0"/>
          </a:xfrm>
          <a:prstGeom prst="line">
            <a:avLst/>
          </a:prstGeom>
          <a:noFill/>
          <a:ln w="12700">
            <a:solidFill>
              <a:srgbClr val="3D4F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wl"/>
          <p:cNvSpPr/>
          <p:nvPr/>
        </p:nvSpPr>
        <p:spPr>
          <a:xfrm>
            <a:off x="430000" y="2670000"/>
            <a:ext cx="3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|±⟩</a:t>
            </a:r>
          </a:p>
        </p:txBody>
      </p:sp>
      <p:sp>
        <p:nvSpPr>
          <p:cNvPr id="54" name="h"/>
          <p:cNvSpPr/>
          <p:nvPr/>
        </p:nvSpPr>
        <p:spPr>
          <a:xfrm>
            <a:off x="1050000" y="1930000"/>
            <a:ext cx="260000" cy="26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ht"/>
          <p:cNvSpPr/>
          <p:nvPr/>
        </p:nvSpPr>
        <p:spPr>
          <a:xfrm>
            <a:off x="1050000" y="1930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</a:p>
        </p:txBody>
      </p:sp>
      <p:sp>
        <p:nvSpPr>
          <p:cNvPr id="56" name="h"/>
          <p:cNvSpPr/>
          <p:nvPr/>
        </p:nvSpPr>
        <p:spPr>
          <a:xfrm>
            <a:off x="1050000" y="2310000"/>
            <a:ext cx="260000" cy="26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ht"/>
          <p:cNvSpPr/>
          <p:nvPr/>
        </p:nvSpPr>
        <p:spPr>
          <a:xfrm>
            <a:off x="1050000" y="2310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</a:p>
        </p:txBody>
      </p:sp>
      <p:sp>
        <p:nvSpPr>
          <p:cNvPr id="58" name="h"/>
          <p:cNvSpPr/>
          <p:nvPr/>
        </p:nvSpPr>
        <p:spPr>
          <a:xfrm>
            <a:off x="1050000" y="2690000"/>
            <a:ext cx="260000" cy="26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ht"/>
          <p:cNvSpPr/>
          <p:nvPr/>
        </p:nvSpPr>
        <p:spPr>
          <a:xfrm>
            <a:off x="1050000" y="2690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</a:p>
        </p:txBody>
      </p:sp>
      <p:sp>
        <p:nvSpPr>
          <p:cNvPr id="60" name="h"/>
          <p:cNvSpPr/>
          <p:nvPr/>
        </p:nvSpPr>
        <p:spPr>
          <a:xfrm>
            <a:off x="3730000" y="1930000"/>
            <a:ext cx="260000" cy="26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ht"/>
          <p:cNvSpPr/>
          <p:nvPr/>
        </p:nvSpPr>
        <p:spPr>
          <a:xfrm>
            <a:off x="3730000" y="1930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</a:p>
        </p:txBody>
      </p:sp>
      <p:sp>
        <p:nvSpPr>
          <p:cNvPr id="62" name="h"/>
          <p:cNvSpPr/>
          <p:nvPr/>
        </p:nvSpPr>
        <p:spPr>
          <a:xfrm>
            <a:off x="3730000" y="2310000"/>
            <a:ext cx="260000" cy="26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ht"/>
          <p:cNvSpPr/>
          <p:nvPr/>
        </p:nvSpPr>
        <p:spPr>
          <a:xfrm>
            <a:off x="3730000" y="2310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</a:p>
        </p:txBody>
      </p:sp>
      <p:sp>
        <p:nvSpPr>
          <p:cNvPr id="64" name="h"/>
          <p:cNvSpPr/>
          <p:nvPr/>
        </p:nvSpPr>
        <p:spPr>
          <a:xfrm>
            <a:off x="3730000" y="2690000"/>
            <a:ext cx="260000" cy="26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ht"/>
          <p:cNvSpPr/>
          <p:nvPr/>
        </p:nvSpPr>
        <p:spPr>
          <a:xfrm>
            <a:off x="3730000" y="2690000"/>
            <a:ext cx="26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</a:p>
        </p:txBody>
      </p:sp>
      <p:sp>
        <p:nvSpPr>
          <p:cNvPr id="66" name="cd"/>
          <p:cNvSpPr/>
          <p:nvPr/>
        </p:nvSpPr>
        <p:spPr>
          <a:xfrm>
            <a:off x="2090000" y="2000000"/>
            <a:ext cx="120000" cy="12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cv"/>
          <p:cNvSpPr/>
          <p:nvPr/>
        </p:nvSpPr>
        <p:spPr>
          <a:xfrm>
            <a:off x="2150000" y="2060000"/>
            <a:ext cx="0" cy="380000"/>
          </a:xfrm>
          <a:prstGeom prst="line">
            <a:avLst/>
          </a:prstGeom>
          <a:noFill/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cd2"/>
          <p:cNvSpPr/>
          <p:nvPr/>
        </p:nvSpPr>
        <p:spPr>
          <a:xfrm>
            <a:off x="2090000" y="2380000"/>
            <a:ext cx="120000" cy="12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cd"/>
          <p:cNvSpPr/>
          <p:nvPr/>
        </p:nvSpPr>
        <p:spPr>
          <a:xfrm>
            <a:off x="2760000" y="2380000"/>
            <a:ext cx="120000" cy="12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cv"/>
          <p:cNvSpPr/>
          <p:nvPr/>
        </p:nvSpPr>
        <p:spPr>
          <a:xfrm>
            <a:off x="2820000" y="2440000"/>
            <a:ext cx="0" cy="380000"/>
          </a:xfrm>
          <a:prstGeom prst="line">
            <a:avLst/>
          </a:prstGeom>
          <a:noFill/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cd2"/>
          <p:cNvSpPr/>
          <p:nvPr/>
        </p:nvSpPr>
        <p:spPr>
          <a:xfrm>
            <a:off x="2760000" y="2760000"/>
            <a:ext cx="120000" cy="12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clbl"/>
          <p:cNvSpPr/>
          <p:nvPr/>
        </p:nvSpPr>
        <p:spPr>
          <a:xfrm>
            <a:off x="760000" y="3040000"/>
            <a:ext cx="34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 →  X-parity checks  →  H</a:t>
            </a:r>
          </a:p>
        </p:txBody>
      </p:sp>
      <p:sp>
        <p:nvSpPr>
          <p:cNvPr id="73" name="th"/>
          <p:cNvSpPr/>
          <p:nvPr/>
        </p:nvSpPr>
        <p:spPr>
          <a:xfrm>
            <a:off x="4520000" y="1900000"/>
            <a:ext cx="1500000" cy="38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4" name="tht"/>
          <p:cNvSpPr/>
          <p:nvPr/>
        </p:nvSpPr>
        <p:spPr>
          <a:xfrm>
            <a:off x="4610000" y="1900000"/>
            <a:ext cx="132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</a:t>
            </a:r>
          </a:p>
        </p:txBody>
      </p:sp>
      <p:sp>
        <p:nvSpPr>
          <p:cNvPr id="75" name="th"/>
          <p:cNvSpPr/>
          <p:nvPr/>
        </p:nvSpPr>
        <p:spPr>
          <a:xfrm>
            <a:off x="6020000" y="1900000"/>
            <a:ext cx="1280000" cy="38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6" name="tht"/>
          <p:cNvSpPr/>
          <p:nvPr/>
        </p:nvSpPr>
        <p:spPr>
          <a:xfrm>
            <a:off x="6110000" y="1900000"/>
            <a:ext cx="11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</a:t>
            </a:r>
          </a:p>
        </p:txBody>
      </p:sp>
      <p:sp>
        <p:nvSpPr>
          <p:cNvPr id="77" name="th"/>
          <p:cNvSpPr/>
          <p:nvPr/>
        </p:nvSpPr>
        <p:spPr>
          <a:xfrm>
            <a:off x="7300000" y="1900000"/>
            <a:ext cx="1386800" cy="38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8" name="tht"/>
          <p:cNvSpPr/>
          <p:nvPr/>
        </p:nvSpPr>
        <p:spPr>
          <a:xfrm>
            <a:off x="7390000" y="1900000"/>
            <a:ext cx="12068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</a:p>
        </p:txBody>
      </p:sp>
      <p:sp>
        <p:nvSpPr>
          <p:cNvPr id="79" name="td"/>
          <p:cNvSpPr/>
          <p:nvPr/>
        </p:nvSpPr>
        <p:spPr>
          <a:xfrm>
            <a:off x="4520000" y="2280000"/>
            <a:ext cx="1500000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0" name="tdt"/>
          <p:cNvSpPr/>
          <p:nvPr/>
        </p:nvSpPr>
        <p:spPr>
          <a:xfrm>
            <a:off x="4630000" y="228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</a:p>
        </p:txBody>
      </p:sp>
      <p:sp>
        <p:nvSpPr>
          <p:cNvPr id="81" name="td"/>
          <p:cNvSpPr/>
          <p:nvPr/>
        </p:nvSpPr>
        <p:spPr>
          <a:xfrm>
            <a:off x="6020000" y="2280000"/>
            <a:ext cx="1280000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2" name="tdt"/>
          <p:cNvSpPr/>
          <p:nvPr/>
        </p:nvSpPr>
        <p:spPr>
          <a:xfrm>
            <a:off x="6130000" y="2280000"/>
            <a:ext cx="10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0  0</a:t>
            </a:r>
          </a:p>
        </p:txBody>
      </p:sp>
      <p:sp>
        <p:nvSpPr>
          <p:cNvPr id="83" name="td"/>
          <p:cNvSpPr/>
          <p:nvPr/>
        </p:nvSpPr>
        <p:spPr>
          <a:xfrm>
            <a:off x="7300000" y="2280000"/>
            <a:ext cx="1386800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4" name="tdt"/>
          <p:cNvSpPr/>
          <p:nvPr/>
        </p:nvSpPr>
        <p:spPr>
          <a:xfrm>
            <a:off x="7410000" y="2280000"/>
            <a:ext cx="11868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</a:p>
        </p:txBody>
      </p:sp>
      <p:sp>
        <p:nvSpPr>
          <p:cNvPr id="85" name="td"/>
          <p:cNvSpPr/>
          <p:nvPr/>
        </p:nvSpPr>
        <p:spPr>
          <a:xfrm>
            <a:off x="4520000" y="2660000"/>
            <a:ext cx="1500000" cy="38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6" name="tdt"/>
          <p:cNvSpPr/>
          <p:nvPr/>
        </p:nvSpPr>
        <p:spPr>
          <a:xfrm>
            <a:off x="4630000" y="266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on qubit 1</a:t>
            </a:r>
          </a:p>
        </p:txBody>
      </p:sp>
      <p:sp>
        <p:nvSpPr>
          <p:cNvPr id="87" name="td"/>
          <p:cNvSpPr/>
          <p:nvPr/>
        </p:nvSpPr>
        <p:spPr>
          <a:xfrm>
            <a:off x="6020000" y="2660000"/>
            <a:ext cx="1280000" cy="38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8" name="tdt"/>
          <p:cNvSpPr/>
          <p:nvPr/>
        </p:nvSpPr>
        <p:spPr>
          <a:xfrm>
            <a:off x="6130000" y="2660000"/>
            <a:ext cx="10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1  0</a:t>
            </a:r>
          </a:p>
        </p:txBody>
      </p:sp>
      <p:sp>
        <p:nvSpPr>
          <p:cNvPr id="89" name="td"/>
          <p:cNvSpPr/>
          <p:nvPr/>
        </p:nvSpPr>
        <p:spPr>
          <a:xfrm>
            <a:off x="7300000" y="2660000"/>
            <a:ext cx="1386800" cy="38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0" name="tdt"/>
          <p:cNvSpPr/>
          <p:nvPr/>
        </p:nvSpPr>
        <p:spPr>
          <a:xfrm>
            <a:off x="7410000" y="2660000"/>
            <a:ext cx="11868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Z₁</a:t>
            </a:r>
          </a:p>
        </p:txBody>
      </p:sp>
      <p:sp>
        <p:nvSpPr>
          <p:cNvPr id="91" name="td"/>
          <p:cNvSpPr/>
          <p:nvPr/>
        </p:nvSpPr>
        <p:spPr>
          <a:xfrm>
            <a:off x="4520000" y="3040000"/>
            <a:ext cx="1500000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2" name="tdt"/>
          <p:cNvSpPr/>
          <p:nvPr/>
        </p:nvSpPr>
        <p:spPr>
          <a:xfrm>
            <a:off x="4630000" y="304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on qubit 2</a:t>
            </a:r>
          </a:p>
        </p:txBody>
      </p:sp>
      <p:sp>
        <p:nvSpPr>
          <p:cNvPr id="93" name="td"/>
          <p:cNvSpPr/>
          <p:nvPr/>
        </p:nvSpPr>
        <p:spPr>
          <a:xfrm>
            <a:off x="6020000" y="3040000"/>
            <a:ext cx="1280000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4" name="tdt"/>
          <p:cNvSpPr/>
          <p:nvPr/>
        </p:nvSpPr>
        <p:spPr>
          <a:xfrm>
            <a:off x="6130000" y="3040000"/>
            <a:ext cx="10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1  1</a:t>
            </a:r>
          </a:p>
        </p:txBody>
      </p:sp>
      <p:sp>
        <p:nvSpPr>
          <p:cNvPr id="95" name="td"/>
          <p:cNvSpPr/>
          <p:nvPr/>
        </p:nvSpPr>
        <p:spPr>
          <a:xfrm>
            <a:off x="7300000" y="3040000"/>
            <a:ext cx="1386800" cy="38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6" name="tdt"/>
          <p:cNvSpPr/>
          <p:nvPr/>
        </p:nvSpPr>
        <p:spPr>
          <a:xfrm>
            <a:off x="7410000" y="3040000"/>
            <a:ext cx="11868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Z₂</a:t>
            </a:r>
          </a:p>
        </p:txBody>
      </p:sp>
      <p:sp>
        <p:nvSpPr>
          <p:cNvPr id="97" name="td"/>
          <p:cNvSpPr/>
          <p:nvPr/>
        </p:nvSpPr>
        <p:spPr>
          <a:xfrm>
            <a:off x="4520000" y="3420000"/>
            <a:ext cx="1500000" cy="38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8" name="tdt"/>
          <p:cNvSpPr/>
          <p:nvPr/>
        </p:nvSpPr>
        <p:spPr>
          <a:xfrm>
            <a:off x="4630000" y="3420000"/>
            <a:ext cx="130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on qubit 3</a:t>
            </a:r>
          </a:p>
        </p:txBody>
      </p:sp>
      <p:sp>
        <p:nvSpPr>
          <p:cNvPr id="99" name="td"/>
          <p:cNvSpPr/>
          <p:nvPr/>
        </p:nvSpPr>
        <p:spPr>
          <a:xfrm>
            <a:off x="6020000" y="3420000"/>
            <a:ext cx="1280000" cy="38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0" name="tdt"/>
          <p:cNvSpPr/>
          <p:nvPr/>
        </p:nvSpPr>
        <p:spPr>
          <a:xfrm>
            <a:off x="6130000" y="3420000"/>
            <a:ext cx="10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0  1</a:t>
            </a:r>
          </a:p>
        </p:txBody>
      </p:sp>
      <p:sp>
        <p:nvSpPr>
          <p:cNvPr id="101" name="td"/>
          <p:cNvSpPr/>
          <p:nvPr/>
        </p:nvSpPr>
        <p:spPr>
          <a:xfrm>
            <a:off x="7300000" y="3420000"/>
            <a:ext cx="1386800" cy="38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2" name="tdt"/>
          <p:cNvSpPr/>
          <p:nvPr/>
        </p:nvSpPr>
        <p:spPr>
          <a:xfrm>
            <a:off x="7410000" y="3420000"/>
            <a:ext cx="11868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Z₃</a:t>
            </a:r>
          </a:p>
        </p:txBody>
      </p:sp>
      <p:sp>
        <p:nvSpPr>
          <p:cNvPr id="103" name="thsub"/>
          <p:cNvSpPr/>
          <p:nvPr/>
        </p:nvSpPr>
        <p:spPr>
          <a:xfrm>
            <a:off x="4520000" y="1620000"/>
            <a:ext cx="416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X-stabilizers:  X₁X₂ , X₂X₃</a:t>
            </a:r>
          </a:p>
        </p:txBody>
      </p:sp>
      <p:sp>
        <p:nvSpPr>
          <p:cNvPr id="104" name="vs"/>
          <p:cNvSpPr/>
          <p:nvPr/>
        </p:nvSpPr>
        <p:spPr>
          <a:xfrm>
            <a:off x="457200" y="4080000"/>
            <a:ext cx="8229600" cy="56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5" name="vst"/>
          <p:cNvSpPr/>
          <p:nvPr/>
        </p:nvSpPr>
        <p:spPr>
          <a:xfrm>
            <a:off x="697200" y="4080000"/>
            <a:ext cx="774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Verification:   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· (Z-parity) · H = X-parity — the </a:t>
            </a:r>
            <a:r>
              <a:rPr lang="en-US" sz="1400" kern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Hadamards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turn each phase check into a measurable parity check.</a:t>
            </a:r>
          </a:p>
        </p:txBody>
      </p:sp>
      <p:sp>
        <p:nvSpPr>
          <p:cNvPr id="106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07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2</a:t>
            </a:r>
          </a:p>
        </p:txBody>
      </p:sp>
      <p:sp>
        <p:nvSpPr>
          <p:cNvPr id="109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Trade-off: Bit-Flip vs. Phase-Flip</a:t>
            </a:r>
          </a:p>
        </p:txBody>
      </p:sp>
      <p:sp>
        <p:nvSpPr>
          <p:cNvPr id="110" name="lh"/>
          <p:cNvSpPr/>
          <p:nvPr/>
        </p:nvSpPr>
        <p:spPr>
          <a:xfrm>
            <a:off x="457200" y="1520000"/>
            <a:ext cx="4023360" cy="470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1" name="lht"/>
          <p:cNvSpPr/>
          <p:nvPr/>
        </p:nvSpPr>
        <p:spPr>
          <a:xfrm>
            <a:off x="457200" y="1520000"/>
            <a:ext cx="402336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BIT-FLIP CODE</a:t>
            </a:r>
          </a:p>
        </p:txBody>
      </p:sp>
      <p:sp>
        <p:nvSpPr>
          <p:cNvPr id="112" name="rh"/>
          <p:cNvSpPr/>
          <p:nvPr/>
        </p:nvSpPr>
        <p:spPr>
          <a:xfrm>
            <a:off x="4663440" y="1520000"/>
            <a:ext cx="4023360" cy="47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rht"/>
          <p:cNvSpPr/>
          <p:nvPr/>
        </p:nvSpPr>
        <p:spPr>
          <a:xfrm>
            <a:off x="4663440" y="1520000"/>
            <a:ext cx="402336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PHASE-FLIP CODE</a:t>
            </a:r>
          </a:p>
        </p:txBody>
      </p:sp>
      <p:sp>
        <p:nvSpPr>
          <p:cNvPr id="114" name="lb"/>
          <p:cNvSpPr/>
          <p:nvPr/>
        </p:nvSpPr>
        <p:spPr>
          <a:xfrm>
            <a:off x="457200" y="2010000"/>
            <a:ext cx="4023360" cy="18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rb"/>
          <p:cNvSpPr/>
          <p:nvPr/>
        </p:nvSpPr>
        <p:spPr>
          <a:xfrm>
            <a:off x="4663440" y="2010000"/>
            <a:ext cx="4023360" cy="185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lbt"/>
          <p:cNvSpPr/>
          <p:nvPr/>
        </p:nvSpPr>
        <p:spPr>
          <a:xfrm>
            <a:off x="717200" y="2210000"/>
            <a:ext cx="3523360" cy="14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60000" indent="-360000" algn="l">
              <a:spcAft>
                <a:spcPts val="850"/>
              </a:spcAft>
              <a:buFont typeface="Arial"/>
              <a:buChar char="✓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X (bit-flip) errors</a:t>
            </a:r>
          </a:p>
          <a:p>
            <a:pPr marL="360000" indent="-360000" algn="l">
              <a:spcAft>
                <a:spcPts val="850"/>
              </a:spcAft>
              <a:buFont typeface="Arial"/>
              <a:buChar char="✗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Z (phase-flip) errors</a:t>
            </a:r>
          </a:p>
          <a:p>
            <a:pPr marL="360000" indent="-360000" algn="l">
              <a:spcAft>
                <a:spcPts val="850"/>
              </a:spcAft>
              <a:buSzPct val="90000"/>
              <a:buChar char="•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Stabilizers:  Z⊗Z⊗I ,  I⊗Z⊗Z</a:t>
            </a:r>
          </a:p>
          <a:p>
            <a:pPr marL="360000" indent="-360000" algn="l">
              <a:spcAft>
                <a:spcPts val="850"/>
              </a:spcAft>
              <a:buSzPct val="90000"/>
              <a:buChar char="•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the |0⟩, |1⟩ basis</a:t>
            </a:r>
          </a:p>
        </p:txBody>
      </p:sp>
      <p:sp>
        <p:nvSpPr>
          <p:cNvPr id="117" name="rbt"/>
          <p:cNvSpPr/>
          <p:nvPr/>
        </p:nvSpPr>
        <p:spPr>
          <a:xfrm>
            <a:off x="4923440" y="2210000"/>
            <a:ext cx="3523360" cy="149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60000" indent="-360000" algn="l">
              <a:spcAft>
                <a:spcPts val="850"/>
              </a:spcAft>
              <a:buFont typeface="Arial"/>
              <a:buChar char="✓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Z (phase-flip) errors</a:t>
            </a:r>
          </a:p>
          <a:p>
            <a:pPr marL="360000" indent="-360000" algn="l">
              <a:spcAft>
                <a:spcPts val="850"/>
              </a:spcAft>
              <a:buFont typeface="Arial"/>
              <a:buChar char="✗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 to X (bit-flip) errors</a:t>
            </a:r>
          </a:p>
          <a:p>
            <a:pPr marL="360000" indent="-360000" algn="l">
              <a:spcAft>
                <a:spcPts val="850"/>
              </a:spcAft>
              <a:buSzPct val="90000"/>
              <a:buChar char="•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Stabilizers:  X⊗X⊗I ,  I⊗X⊗X</a:t>
            </a:r>
          </a:p>
          <a:p>
            <a:pPr marL="360000" indent="-360000" algn="l">
              <a:spcAft>
                <a:spcPts val="850"/>
              </a:spcAft>
              <a:buSzPct val="90000"/>
              <a:buChar char="•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in the |+⟩, |−⟩ basis</a:t>
            </a:r>
          </a:p>
        </p:txBody>
      </p:sp>
      <p:sp>
        <p:nvSpPr>
          <p:cNvPr id="118" name="qs"/>
          <p:cNvSpPr/>
          <p:nvPr/>
        </p:nvSpPr>
        <p:spPr>
          <a:xfrm>
            <a:off x="457200" y="3990000"/>
            <a:ext cx="8229600" cy="56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9" name="qst"/>
          <p:cNvSpPr/>
          <p:nvPr/>
        </p:nvSpPr>
        <p:spPr>
          <a:xfrm>
            <a:off x="697200" y="3990000"/>
            <a:ext cx="774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E08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we have BOTH?   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code fixes only half the problem — combining them takes nine qubits.</a:t>
            </a:r>
          </a:p>
        </p:txBody>
      </p:sp>
      <p:sp>
        <p:nvSpPr>
          <p:cNvPr id="120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21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2</a:t>
            </a:r>
          </a:p>
        </p:txBody>
      </p:sp>
      <p:sp>
        <p:nvSpPr>
          <p:cNvPr id="123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9-Qubit Shor Code: Concatenation</a:t>
            </a:r>
          </a:p>
        </p:txBody>
      </p:sp>
      <p:sp>
        <p:nvSpPr>
          <p:cNvPr id="124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two codes — a phase-flip code on the outside, a bit-flip code on the inside.</a:t>
            </a:r>
          </a:p>
        </p:txBody>
      </p:sp>
      <p:sp>
        <p:nvSpPr>
          <p:cNvPr id="125" name="chip"/>
          <p:cNvSpPr/>
          <p:nvPr/>
        </p:nvSpPr>
        <p:spPr>
          <a:xfrm>
            <a:off x="4372000" y="1700000"/>
            <a:ext cx="400000" cy="400000"/>
          </a:xfrm>
          <a:prstGeom prst="ellipse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6" name="chipn"/>
          <p:cNvSpPr/>
          <p:nvPr/>
        </p:nvSpPr>
        <p:spPr>
          <a:xfrm>
            <a:off x="4372000" y="1700000"/>
            <a:ext cx="4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</a:t>
            </a:r>
          </a:p>
        </p:txBody>
      </p:sp>
      <p:sp>
        <p:nvSpPr>
          <p:cNvPr id="127" name="rs"/>
          <p:cNvSpPr/>
          <p:nvPr/>
        </p:nvSpPr>
        <p:spPr>
          <a:xfrm>
            <a:off x="4572000" y="2100000"/>
            <a:ext cx="0" cy="15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b1"/>
          <p:cNvSpPr/>
          <p:nvPr/>
        </p:nvSpPr>
        <p:spPr>
          <a:xfrm>
            <a:off x="1828800" y="2250000"/>
            <a:ext cx="54864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os"/>
          <p:cNvSpPr/>
          <p:nvPr/>
        </p:nvSpPr>
        <p:spPr>
          <a:xfrm>
            <a:off x="1828800" y="2250000"/>
            <a:ext cx="0" cy="13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oc"/>
          <p:cNvSpPr/>
          <p:nvPr/>
        </p:nvSpPr>
        <p:spPr>
          <a:xfrm>
            <a:off x="1648800" y="2380000"/>
            <a:ext cx="360000" cy="36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1" name="os"/>
          <p:cNvSpPr/>
          <p:nvPr/>
        </p:nvSpPr>
        <p:spPr>
          <a:xfrm>
            <a:off x="4572000" y="2250000"/>
            <a:ext cx="0" cy="13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oc"/>
          <p:cNvSpPr/>
          <p:nvPr/>
        </p:nvSpPr>
        <p:spPr>
          <a:xfrm>
            <a:off x="4392000" y="2380000"/>
            <a:ext cx="360000" cy="36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3" name="os"/>
          <p:cNvSpPr/>
          <p:nvPr/>
        </p:nvSpPr>
        <p:spPr>
          <a:xfrm>
            <a:off x="7315200" y="2250000"/>
            <a:ext cx="0" cy="13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oc"/>
          <p:cNvSpPr/>
          <p:nvPr/>
        </p:nvSpPr>
        <p:spPr>
          <a:xfrm>
            <a:off x="7135200" y="2380000"/>
            <a:ext cx="360000" cy="36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os2"/>
          <p:cNvSpPr/>
          <p:nvPr/>
        </p:nvSpPr>
        <p:spPr>
          <a:xfrm>
            <a:off x="1828800" y="2740000"/>
            <a:ext cx="0" cy="13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6" name="b2"/>
          <p:cNvSpPr/>
          <p:nvPr/>
        </p:nvSpPr>
        <p:spPr>
          <a:xfrm>
            <a:off x="1308800" y="2870000"/>
            <a:ext cx="104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7" name="ls"/>
          <p:cNvSpPr/>
          <p:nvPr/>
        </p:nvSpPr>
        <p:spPr>
          <a:xfrm>
            <a:off x="1308800" y="2870000"/>
            <a:ext cx="0" cy="12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8" name="lf"/>
          <p:cNvSpPr/>
          <p:nvPr/>
        </p:nvSpPr>
        <p:spPr>
          <a:xfrm>
            <a:off x="1158800" y="299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ls"/>
          <p:cNvSpPr/>
          <p:nvPr/>
        </p:nvSpPr>
        <p:spPr>
          <a:xfrm>
            <a:off x="1828800" y="2870000"/>
            <a:ext cx="0" cy="12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0" name="lf"/>
          <p:cNvSpPr/>
          <p:nvPr/>
        </p:nvSpPr>
        <p:spPr>
          <a:xfrm>
            <a:off x="1678800" y="299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ls"/>
          <p:cNvSpPr/>
          <p:nvPr/>
        </p:nvSpPr>
        <p:spPr>
          <a:xfrm>
            <a:off x="2348800" y="2870000"/>
            <a:ext cx="0" cy="12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2" name="lf"/>
          <p:cNvSpPr/>
          <p:nvPr/>
        </p:nvSpPr>
        <p:spPr>
          <a:xfrm>
            <a:off x="2198800" y="299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os2"/>
          <p:cNvSpPr/>
          <p:nvPr/>
        </p:nvSpPr>
        <p:spPr>
          <a:xfrm>
            <a:off x="4572000" y="2740000"/>
            <a:ext cx="0" cy="13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4" name="b2"/>
          <p:cNvSpPr/>
          <p:nvPr/>
        </p:nvSpPr>
        <p:spPr>
          <a:xfrm>
            <a:off x="4052000" y="2870000"/>
            <a:ext cx="104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5" name="ls"/>
          <p:cNvSpPr/>
          <p:nvPr/>
        </p:nvSpPr>
        <p:spPr>
          <a:xfrm>
            <a:off x="4052000" y="2870000"/>
            <a:ext cx="0" cy="12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6" name="lf"/>
          <p:cNvSpPr/>
          <p:nvPr/>
        </p:nvSpPr>
        <p:spPr>
          <a:xfrm>
            <a:off x="3902000" y="299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ls"/>
          <p:cNvSpPr/>
          <p:nvPr/>
        </p:nvSpPr>
        <p:spPr>
          <a:xfrm>
            <a:off x="4572000" y="2870000"/>
            <a:ext cx="0" cy="12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8" name="lf"/>
          <p:cNvSpPr/>
          <p:nvPr/>
        </p:nvSpPr>
        <p:spPr>
          <a:xfrm>
            <a:off x="4422000" y="299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ls"/>
          <p:cNvSpPr/>
          <p:nvPr/>
        </p:nvSpPr>
        <p:spPr>
          <a:xfrm>
            <a:off x="5092000" y="2870000"/>
            <a:ext cx="0" cy="12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0" name="lf"/>
          <p:cNvSpPr/>
          <p:nvPr/>
        </p:nvSpPr>
        <p:spPr>
          <a:xfrm>
            <a:off x="4942000" y="299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os2"/>
          <p:cNvSpPr/>
          <p:nvPr/>
        </p:nvSpPr>
        <p:spPr>
          <a:xfrm>
            <a:off x="7315200" y="2740000"/>
            <a:ext cx="0" cy="13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2" name="b2"/>
          <p:cNvSpPr/>
          <p:nvPr/>
        </p:nvSpPr>
        <p:spPr>
          <a:xfrm>
            <a:off x="6795200" y="2870000"/>
            <a:ext cx="104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3" name="ls"/>
          <p:cNvSpPr/>
          <p:nvPr/>
        </p:nvSpPr>
        <p:spPr>
          <a:xfrm>
            <a:off x="6795200" y="2870000"/>
            <a:ext cx="0" cy="12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4" name="lf"/>
          <p:cNvSpPr/>
          <p:nvPr/>
        </p:nvSpPr>
        <p:spPr>
          <a:xfrm>
            <a:off x="6645200" y="299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ls"/>
          <p:cNvSpPr/>
          <p:nvPr/>
        </p:nvSpPr>
        <p:spPr>
          <a:xfrm>
            <a:off x="7315200" y="2870000"/>
            <a:ext cx="0" cy="12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6" name="lf"/>
          <p:cNvSpPr/>
          <p:nvPr/>
        </p:nvSpPr>
        <p:spPr>
          <a:xfrm>
            <a:off x="7165200" y="299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ls"/>
          <p:cNvSpPr/>
          <p:nvPr/>
        </p:nvSpPr>
        <p:spPr>
          <a:xfrm>
            <a:off x="7835200" y="2870000"/>
            <a:ext cx="0" cy="12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8" name="lf"/>
          <p:cNvSpPr/>
          <p:nvPr/>
        </p:nvSpPr>
        <p:spPr>
          <a:xfrm>
            <a:off x="7685200" y="299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9" name="leg"/>
          <p:cNvSpPr/>
          <p:nvPr/>
        </p:nvSpPr>
        <p:spPr>
          <a:xfrm>
            <a:off x="457200" y="3430000"/>
            <a:ext cx="8229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logical qubit</a:t>
            </a:r>
            <a:r>
              <a:rPr lang="en-US" sz="1400" kern="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</a:t>
            </a:r>
            <a:r>
              <a:rPr lang="en-US" sz="1400" b="1" kern="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phase-flip blocks</a:t>
            </a:r>
            <a:r>
              <a:rPr lang="en-US" sz="1400" kern="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</a:t>
            </a:r>
            <a:r>
              <a:rPr lang="en-US" sz="1400" b="1" kern="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bit-flip qubits</a:t>
            </a:r>
          </a:p>
        </p:txBody>
      </p:sp>
      <p:sp>
        <p:nvSpPr>
          <p:cNvPr id="160" name="fbnd"/>
          <p:cNvSpPr/>
          <p:nvPr/>
        </p:nvSpPr>
        <p:spPr>
          <a:xfrm>
            <a:off x="457200" y="3700000"/>
            <a:ext cx="8229600" cy="9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ftxt"/>
          <p:cNvSpPr/>
          <p:nvPr/>
        </p:nvSpPr>
        <p:spPr>
          <a:xfrm>
            <a:off x="657200" y="3700000"/>
            <a:ext cx="78296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 →  (1/2√2) (|000⟩+|111⟩) ⊗ (|000⟩+|111⟩) ⊗ (|000⟩+|111⟩)</a:t>
            </a:r>
          </a:p>
          <a:p>
            <a:pPr marL="0" indent="0" algn="ctr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|1⟩  →  (1/2√2) (|000⟩−|111⟩) ⊗ (|000⟩−|111⟩) ⊗ (|000⟩−|111⟩)</a:t>
            </a:r>
          </a:p>
        </p:txBody>
      </p:sp>
      <p:sp>
        <p:nvSpPr>
          <p:cNvPr id="162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63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2</a:t>
            </a:r>
          </a:p>
        </p:txBody>
      </p:sp>
      <p:sp>
        <p:nvSpPr>
          <p:cNvPr id="165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 Code: Error-Correction Strategy</a:t>
            </a:r>
          </a:p>
        </p:txBody>
      </p:sp>
      <p:sp>
        <p:nvSpPr>
          <p:cNvPr id="166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Z errors are corrected independently — six ancillas for bit-flips, two for phase-flips.</a:t>
            </a:r>
          </a:p>
        </p:txBody>
      </p:sp>
      <p:sp>
        <p:nvSpPr>
          <p:cNvPr id="167" name="xch"/>
          <p:cNvSpPr/>
          <p:nvPr/>
        </p:nvSpPr>
        <p:spPr>
          <a:xfrm>
            <a:off x="457200" y="1880000"/>
            <a:ext cx="4023360" cy="440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8" name="xcht"/>
          <p:cNvSpPr/>
          <p:nvPr/>
        </p:nvSpPr>
        <p:spPr>
          <a:xfrm>
            <a:off x="457200" y="1880000"/>
            <a:ext cx="40233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X-ERRORS  ·  BIT-FLIPS</a:t>
            </a:r>
          </a:p>
        </p:txBody>
      </p:sp>
      <p:sp>
        <p:nvSpPr>
          <p:cNvPr id="169" name="xcb"/>
          <p:cNvSpPr/>
          <p:nvPr/>
        </p:nvSpPr>
        <p:spPr>
          <a:xfrm>
            <a:off x="457200" y="2320000"/>
            <a:ext cx="4023360" cy="16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0" name="xcb"/>
          <p:cNvSpPr/>
          <p:nvPr/>
        </p:nvSpPr>
        <p:spPr>
          <a:xfrm>
            <a:off x="717200" y="2440000"/>
            <a:ext cx="350336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20000" indent="-320000" algn="l">
              <a:spcAft>
                <a:spcPts val="55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by the inner code inside each of the three blocks</a:t>
            </a:r>
          </a:p>
          <a:p>
            <a:pPr marL="320000" indent="-320000" algn="l">
              <a:spcAft>
                <a:spcPts val="55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checks — 2 ancillas each</a:t>
            </a:r>
          </a:p>
        </p:txBody>
      </p:sp>
      <p:sp>
        <p:nvSpPr>
          <p:cNvPr id="171" name="xcn"/>
          <p:cNvSpPr/>
          <p:nvPr/>
        </p:nvSpPr>
        <p:spPr>
          <a:xfrm>
            <a:off x="717200" y="3490000"/>
            <a:ext cx="350336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6 ancillas</a:t>
            </a:r>
            <a:r>
              <a:rPr lang="en-US" sz="11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X-syndrome</a:t>
            </a:r>
          </a:p>
        </p:txBody>
      </p:sp>
      <p:sp>
        <p:nvSpPr>
          <p:cNvPr id="172" name="zch"/>
          <p:cNvSpPr/>
          <p:nvPr/>
        </p:nvSpPr>
        <p:spPr>
          <a:xfrm>
            <a:off x="4663440" y="1880000"/>
            <a:ext cx="4023360" cy="44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3" name="zcht"/>
          <p:cNvSpPr/>
          <p:nvPr/>
        </p:nvSpPr>
        <p:spPr>
          <a:xfrm>
            <a:off x="4663440" y="1880000"/>
            <a:ext cx="402336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Z-ERRORS  ·  PHASE-FLIPS</a:t>
            </a:r>
          </a:p>
        </p:txBody>
      </p:sp>
      <p:sp>
        <p:nvSpPr>
          <p:cNvPr id="174" name="zcb"/>
          <p:cNvSpPr/>
          <p:nvPr/>
        </p:nvSpPr>
        <p:spPr>
          <a:xfrm>
            <a:off x="4663440" y="2320000"/>
            <a:ext cx="4023360" cy="16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5" name="zcb"/>
          <p:cNvSpPr/>
          <p:nvPr/>
        </p:nvSpPr>
        <p:spPr>
          <a:xfrm>
            <a:off x="4923440" y="2440000"/>
            <a:ext cx="350336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20000" indent="-320000" algn="l">
              <a:spcAft>
                <a:spcPts val="55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 each block → measure the outer syndrome → re-encode</a:t>
            </a:r>
          </a:p>
          <a:p>
            <a:pPr marL="320000" indent="-320000" algn="l">
              <a:spcAft>
                <a:spcPts val="55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check across the blocks — 2 ancillas</a:t>
            </a:r>
          </a:p>
        </p:txBody>
      </p:sp>
      <p:sp>
        <p:nvSpPr>
          <p:cNvPr id="176" name="zcn"/>
          <p:cNvSpPr/>
          <p:nvPr/>
        </p:nvSpPr>
        <p:spPr>
          <a:xfrm>
            <a:off x="4923440" y="3490000"/>
            <a:ext cx="350336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 ancillas</a:t>
            </a:r>
            <a:r>
              <a:rPr lang="en-US" sz="11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for Z-syndrome</a:t>
            </a:r>
          </a:p>
        </p:txBody>
      </p:sp>
      <p:sp>
        <p:nvSpPr>
          <p:cNvPr id="177" name="ind"/>
          <p:cNvSpPr/>
          <p:nvPr/>
        </p:nvSpPr>
        <p:spPr>
          <a:xfrm>
            <a:off x="457200" y="4080000"/>
            <a:ext cx="8229600" cy="56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8" name="indt"/>
          <p:cNvSpPr/>
          <p:nvPr/>
        </p:nvSpPr>
        <p:spPr>
          <a:xfrm>
            <a:off x="697200" y="4080000"/>
            <a:ext cx="774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Independence:   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and Z corrections commute (XZ = −ZX) — order doesn’t matter, and the global phase is unobservable.  Total: 8 syndrome bits.</a:t>
            </a:r>
          </a:p>
        </p:txBody>
      </p:sp>
      <p:sp>
        <p:nvSpPr>
          <p:cNvPr id="179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80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2</a:t>
            </a:r>
          </a:p>
        </p:txBody>
      </p:sp>
      <p:sp>
        <p:nvSpPr>
          <p:cNvPr id="182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Shor Code: Correcting Y-Errors</a:t>
            </a:r>
          </a:p>
        </p:txBody>
      </p:sp>
      <p:sp>
        <p:nvSpPr>
          <p:cNvPr id="183" name="yb"/>
          <p:cNvSpPr/>
          <p:nvPr/>
        </p:nvSpPr>
        <p:spPr>
          <a:xfrm>
            <a:off x="457200" y="1410000"/>
            <a:ext cx="8229600" cy="52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4" name="ybt"/>
          <p:cNvSpPr/>
          <p:nvPr/>
        </p:nvSpPr>
        <p:spPr>
          <a:xfrm>
            <a:off x="717200" y="1410000"/>
            <a:ext cx="770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kern="0" dirty="0">
                <a:solidFill>
                  <a:srgbClr val="E08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 = </a:t>
            </a:r>
            <a:r>
              <a:rPr lang="en-US" sz="2000" b="1" kern="0" dirty="0" err="1">
                <a:solidFill>
                  <a:srgbClr val="E08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  <a:r>
              <a:rPr lang="en-US" sz="2000" b="1" kern="0" dirty="0">
                <a:solidFill>
                  <a:srgbClr val="E08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· X · Z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a simultaneous bit-flip and phase-flip on one qubit</a:t>
            </a:r>
          </a:p>
        </p:txBody>
      </p:sp>
      <p:sp>
        <p:nvSpPr>
          <p:cNvPr id="185" name="s0"/>
          <p:cNvSpPr/>
          <p:nvPr/>
        </p:nvSpPr>
        <p:spPr>
          <a:xfrm>
            <a:off x="457200" y="2120000"/>
            <a:ext cx="2576533" cy="156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6" name="s0_acc"/>
          <p:cNvSpPr/>
          <p:nvPr/>
        </p:nvSpPr>
        <p:spPr>
          <a:xfrm>
            <a:off x="457200" y="2120000"/>
            <a:ext cx="2576533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7" name="chip"/>
          <p:cNvSpPr/>
          <p:nvPr/>
        </p:nvSpPr>
        <p:spPr>
          <a:xfrm>
            <a:off x="1595466" y="2290000"/>
            <a:ext cx="300000" cy="30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8" name="chipn"/>
          <p:cNvSpPr/>
          <p:nvPr/>
        </p:nvSpPr>
        <p:spPr>
          <a:xfrm>
            <a:off x="1595466" y="229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89" name="sl0"/>
          <p:cNvSpPr/>
          <p:nvPr/>
        </p:nvSpPr>
        <p:spPr>
          <a:xfrm>
            <a:off x="537200" y="2660000"/>
            <a:ext cx="2416533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X</a:t>
            </a:r>
          </a:p>
        </p:txBody>
      </p:sp>
      <p:sp>
        <p:nvSpPr>
          <p:cNvPr id="190" name="st0"/>
          <p:cNvSpPr/>
          <p:nvPr/>
        </p:nvSpPr>
        <p:spPr>
          <a:xfrm>
            <a:off x="607200" y="2960000"/>
            <a:ext cx="2276533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350"/>
              </a:spcAft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syndrome flags the bit-flip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X₄</a:t>
            </a:r>
          </a:p>
        </p:txBody>
      </p:sp>
      <p:sp>
        <p:nvSpPr>
          <p:cNvPr id="191" name="ar0"/>
          <p:cNvSpPr/>
          <p:nvPr/>
        </p:nvSpPr>
        <p:spPr>
          <a:xfrm>
            <a:off x="3043733" y="2780000"/>
            <a:ext cx="13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192" name="s1"/>
          <p:cNvSpPr/>
          <p:nvPr/>
        </p:nvSpPr>
        <p:spPr>
          <a:xfrm>
            <a:off x="3183733" y="2120000"/>
            <a:ext cx="2576533" cy="156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3" name="s1_acc"/>
          <p:cNvSpPr/>
          <p:nvPr/>
        </p:nvSpPr>
        <p:spPr>
          <a:xfrm>
            <a:off x="3183733" y="2120000"/>
            <a:ext cx="2576533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4" name="chip"/>
          <p:cNvSpPr/>
          <p:nvPr/>
        </p:nvSpPr>
        <p:spPr>
          <a:xfrm>
            <a:off x="4321999" y="2290000"/>
            <a:ext cx="300000" cy="30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5" name="chipn"/>
          <p:cNvSpPr/>
          <p:nvPr/>
        </p:nvSpPr>
        <p:spPr>
          <a:xfrm>
            <a:off x="4321999" y="229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96" name="sl1"/>
          <p:cNvSpPr/>
          <p:nvPr/>
        </p:nvSpPr>
        <p:spPr>
          <a:xfrm>
            <a:off x="3263733" y="2660000"/>
            <a:ext cx="2416533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Z</a:t>
            </a:r>
          </a:p>
        </p:txBody>
      </p:sp>
      <p:sp>
        <p:nvSpPr>
          <p:cNvPr id="197" name="st1"/>
          <p:cNvSpPr/>
          <p:nvPr/>
        </p:nvSpPr>
        <p:spPr>
          <a:xfrm>
            <a:off x="3333733" y="2960000"/>
            <a:ext cx="2276533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350"/>
              </a:spcAft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Outer syndrome flags the phase-flip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Z₄</a:t>
            </a:r>
          </a:p>
        </p:txBody>
      </p:sp>
      <p:sp>
        <p:nvSpPr>
          <p:cNvPr id="198" name="ar1"/>
          <p:cNvSpPr/>
          <p:nvPr/>
        </p:nvSpPr>
        <p:spPr>
          <a:xfrm>
            <a:off x="5770266" y="2780000"/>
            <a:ext cx="13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199" name="s2"/>
          <p:cNvSpPr/>
          <p:nvPr/>
        </p:nvSpPr>
        <p:spPr>
          <a:xfrm>
            <a:off x="5910266" y="2120000"/>
            <a:ext cx="2576533" cy="156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0" name="s2_acc"/>
          <p:cNvSpPr/>
          <p:nvPr/>
        </p:nvSpPr>
        <p:spPr>
          <a:xfrm>
            <a:off x="5910266" y="2120000"/>
            <a:ext cx="2576533" cy="822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1" name="chip"/>
          <p:cNvSpPr/>
          <p:nvPr/>
        </p:nvSpPr>
        <p:spPr>
          <a:xfrm>
            <a:off x="7048532" y="2290000"/>
            <a:ext cx="300000" cy="30000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2" name="chipn"/>
          <p:cNvSpPr/>
          <p:nvPr/>
        </p:nvSpPr>
        <p:spPr>
          <a:xfrm>
            <a:off x="7048532" y="229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03" name="sl2"/>
          <p:cNvSpPr/>
          <p:nvPr/>
        </p:nvSpPr>
        <p:spPr>
          <a:xfrm>
            <a:off x="5990266" y="2660000"/>
            <a:ext cx="2416533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</a:t>
            </a:r>
          </a:p>
        </p:txBody>
      </p:sp>
      <p:sp>
        <p:nvSpPr>
          <p:cNvPr id="204" name="st2"/>
          <p:cNvSpPr/>
          <p:nvPr/>
        </p:nvSpPr>
        <p:spPr>
          <a:xfrm>
            <a:off x="6060266" y="2960000"/>
            <a:ext cx="2276533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spcAft>
                <a:spcPts val="350"/>
              </a:spcAft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X₄Z₄ = −i·Y₄ removes the error</a:t>
            </a:r>
          </a:p>
          <a:p>
            <a:pPr marL="0" indent="0" algn="ctr">
              <a:lnSpc>
                <a:spcPct val="108000"/>
              </a:lnSpc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phase −i is unobservable</a:t>
            </a:r>
          </a:p>
        </p:txBody>
      </p:sp>
      <p:sp>
        <p:nvSpPr>
          <p:cNvPr id="205" name="res"/>
          <p:cNvSpPr/>
          <p:nvPr/>
        </p:nvSpPr>
        <p:spPr>
          <a:xfrm>
            <a:off x="457200" y="3880000"/>
            <a:ext cx="8229600" cy="5200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6" name="resa"/>
          <p:cNvSpPr/>
          <p:nvPr/>
        </p:nvSpPr>
        <p:spPr>
          <a:xfrm>
            <a:off x="457200" y="3880000"/>
            <a:ext cx="73152" cy="52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rest"/>
          <p:cNvSpPr/>
          <p:nvPr/>
        </p:nvSpPr>
        <p:spPr>
          <a:xfrm>
            <a:off x="657200" y="3880000"/>
            <a:ext cx="782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single-qubit error — X, Z, or Y — on one qubit is fully corrected.</a:t>
            </a:r>
          </a:p>
        </p:txBody>
      </p:sp>
      <p:sp>
        <p:nvSpPr>
          <p:cNvPr id="208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09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 ·  BLOCK 2</a:t>
            </a:r>
          </a:p>
        </p:txBody>
      </p:sp>
      <p:sp>
        <p:nvSpPr>
          <p:cNvPr id="211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Threshold &amp; Practicality</a:t>
            </a:r>
          </a:p>
        </p:txBody>
      </p:sp>
      <p:sp>
        <p:nvSpPr>
          <p:cNvPr id="212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 code helps only below a strict error rate — a proof of principle, not yet practical.</a:t>
            </a:r>
          </a:p>
        </p:txBody>
      </p:sp>
      <p:sp>
        <p:nvSpPr>
          <p:cNvPr id="213" name="ta"/>
          <p:cNvSpPr/>
          <p:nvPr/>
        </p:nvSpPr>
        <p:spPr>
          <a:xfrm>
            <a:off x="457200" y="1850000"/>
            <a:ext cx="3900000" cy="95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4" name="ta_acc"/>
          <p:cNvSpPr/>
          <p:nvPr/>
        </p:nvSpPr>
        <p:spPr>
          <a:xfrm>
            <a:off x="457200" y="1850000"/>
            <a:ext cx="39000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5" name="tav"/>
          <p:cNvSpPr/>
          <p:nvPr/>
        </p:nvSpPr>
        <p:spPr>
          <a:xfrm>
            <a:off x="717200" y="1880000"/>
            <a:ext cx="338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>
                <a:solidFill>
                  <a:srgbClr val="7D3C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3.23%</a:t>
            </a:r>
          </a:p>
        </p:txBody>
      </p:sp>
      <p:sp>
        <p:nvSpPr>
          <p:cNvPr id="216" name="tal"/>
          <p:cNvSpPr/>
          <p:nvPr/>
        </p:nvSpPr>
        <p:spPr>
          <a:xfrm>
            <a:off x="717200" y="2470000"/>
            <a:ext cx="33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break-even — 9-qubit Shor</a:t>
            </a:r>
          </a:p>
        </p:txBody>
      </p:sp>
      <p:sp>
        <p:nvSpPr>
          <p:cNvPr id="217" name="tb"/>
          <p:cNvSpPr/>
          <p:nvPr/>
        </p:nvSpPr>
        <p:spPr>
          <a:xfrm>
            <a:off x="457200" y="2900000"/>
            <a:ext cx="3900000" cy="95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8" name="tb_acc"/>
          <p:cNvSpPr/>
          <p:nvPr/>
        </p:nvSpPr>
        <p:spPr>
          <a:xfrm>
            <a:off x="457200" y="2900000"/>
            <a:ext cx="390000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9" name="tbv"/>
          <p:cNvSpPr/>
          <p:nvPr/>
        </p:nvSpPr>
        <p:spPr>
          <a:xfrm>
            <a:off x="717200" y="2930000"/>
            <a:ext cx="338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kern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50%</a:t>
            </a:r>
          </a:p>
        </p:txBody>
      </p:sp>
      <p:sp>
        <p:nvSpPr>
          <p:cNvPr id="220" name="tbl"/>
          <p:cNvSpPr/>
          <p:nvPr/>
        </p:nvSpPr>
        <p:spPr>
          <a:xfrm>
            <a:off x="717200" y="3520000"/>
            <a:ext cx="338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break-even — 3-bit repetition</a:t>
            </a:r>
          </a:p>
        </p:txBody>
      </p:sp>
      <p:sp>
        <p:nvSpPr>
          <p:cNvPr id="221" name="th"/>
          <p:cNvSpPr/>
          <p:nvPr/>
        </p:nvSpPr>
        <p:spPr>
          <a:xfrm>
            <a:off x="4560000" y="1850000"/>
            <a:ext cx="1700000" cy="40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2" name="tht"/>
          <p:cNvSpPr/>
          <p:nvPr/>
        </p:nvSpPr>
        <p:spPr>
          <a:xfrm>
            <a:off x="4650000" y="1850000"/>
            <a:ext cx="152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</a:p>
        </p:txBody>
      </p:sp>
      <p:sp>
        <p:nvSpPr>
          <p:cNvPr id="223" name="th"/>
          <p:cNvSpPr/>
          <p:nvPr/>
        </p:nvSpPr>
        <p:spPr>
          <a:xfrm>
            <a:off x="6260000" y="1850000"/>
            <a:ext cx="1280000" cy="40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4" name="tht"/>
          <p:cNvSpPr/>
          <p:nvPr/>
        </p:nvSpPr>
        <p:spPr>
          <a:xfrm>
            <a:off x="6350000" y="1850000"/>
            <a:ext cx="11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</a:t>
            </a:r>
          </a:p>
        </p:txBody>
      </p:sp>
      <p:sp>
        <p:nvSpPr>
          <p:cNvPr id="225" name="th"/>
          <p:cNvSpPr/>
          <p:nvPr/>
        </p:nvSpPr>
        <p:spPr>
          <a:xfrm>
            <a:off x="7540000" y="1850000"/>
            <a:ext cx="1146800" cy="40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6" name="tht"/>
          <p:cNvSpPr/>
          <p:nvPr/>
        </p:nvSpPr>
        <p:spPr>
          <a:xfrm>
            <a:off x="7630000" y="1850000"/>
            <a:ext cx="9668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</a:t>
            </a:r>
          </a:p>
        </p:txBody>
      </p:sp>
      <p:sp>
        <p:nvSpPr>
          <p:cNvPr id="227" name="td"/>
          <p:cNvSpPr/>
          <p:nvPr/>
        </p:nvSpPr>
        <p:spPr>
          <a:xfrm>
            <a:off x="4560000" y="2250000"/>
            <a:ext cx="170000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28" name="tdt"/>
          <p:cNvSpPr/>
          <p:nvPr/>
        </p:nvSpPr>
        <p:spPr>
          <a:xfrm>
            <a:off x="4670000" y="2250000"/>
            <a:ext cx="15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Uncoded</a:t>
            </a:r>
          </a:p>
        </p:txBody>
      </p:sp>
      <p:sp>
        <p:nvSpPr>
          <p:cNvPr id="229" name="td"/>
          <p:cNvSpPr/>
          <p:nvPr/>
        </p:nvSpPr>
        <p:spPr>
          <a:xfrm>
            <a:off x="6260000" y="2250000"/>
            <a:ext cx="128000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0" name="tdt"/>
          <p:cNvSpPr/>
          <p:nvPr/>
        </p:nvSpPr>
        <p:spPr>
          <a:xfrm>
            <a:off x="6370000" y="2250000"/>
            <a:ext cx="10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</a:p>
        </p:txBody>
      </p:sp>
      <p:sp>
        <p:nvSpPr>
          <p:cNvPr id="231" name="td"/>
          <p:cNvSpPr/>
          <p:nvPr/>
        </p:nvSpPr>
        <p:spPr>
          <a:xfrm>
            <a:off x="7540000" y="2250000"/>
            <a:ext cx="114680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2" name="tdt"/>
          <p:cNvSpPr/>
          <p:nvPr/>
        </p:nvSpPr>
        <p:spPr>
          <a:xfrm>
            <a:off x="7650000" y="2250000"/>
            <a:ext cx="9468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1</a:t>
            </a:r>
          </a:p>
        </p:txBody>
      </p:sp>
      <p:sp>
        <p:nvSpPr>
          <p:cNvPr id="233" name="td"/>
          <p:cNvSpPr/>
          <p:nvPr/>
        </p:nvSpPr>
        <p:spPr>
          <a:xfrm>
            <a:off x="4560000" y="2650000"/>
            <a:ext cx="1700000" cy="40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4" name="tdt"/>
          <p:cNvSpPr/>
          <p:nvPr/>
        </p:nvSpPr>
        <p:spPr>
          <a:xfrm>
            <a:off x="4670000" y="2650000"/>
            <a:ext cx="15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3-bit</a:t>
            </a:r>
          </a:p>
        </p:txBody>
      </p:sp>
      <p:sp>
        <p:nvSpPr>
          <p:cNvPr id="235" name="td"/>
          <p:cNvSpPr/>
          <p:nvPr/>
        </p:nvSpPr>
        <p:spPr>
          <a:xfrm>
            <a:off x="6260000" y="2650000"/>
            <a:ext cx="1280000" cy="40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6" name="tdt"/>
          <p:cNvSpPr/>
          <p:nvPr/>
        </p:nvSpPr>
        <p:spPr>
          <a:xfrm>
            <a:off x="6370000" y="2650000"/>
            <a:ext cx="10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50%</a:t>
            </a:r>
          </a:p>
        </p:txBody>
      </p:sp>
      <p:sp>
        <p:nvSpPr>
          <p:cNvPr id="237" name="td"/>
          <p:cNvSpPr/>
          <p:nvPr/>
        </p:nvSpPr>
        <p:spPr>
          <a:xfrm>
            <a:off x="7540000" y="2650000"/>
            <a:ext cx="1146800" cy="40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38" name="tdt"/>
          <p:cNvSpPr/>
          <p:nvPr/>
        </p:nvSpPr>
        <p:spPr>
          <a:xfrm>
            <a:off x="7650000" y="2650000"/>
            <a:ext cx="9468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: 1</a:t>
            </a:r>
          </a:p>
        </p:txBody>
      </p:sp>
      <p:sp>
        <p:nvSpPr>
          <p:cNvPr id="239" name="td"/>
          <p:cNvSpPr/>
          <p:nvPr/>
        </p:nvSpPr>
        <p:spPr>
          <a:xfrm>
            <a:off x="4560000" y="3050000"/>
            <a:ext cx="170000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0" name="tdt"/>
          <p:cNvSpPr/>
          <p:nvPr/>
        </p:nvSpPr>
        <p:spPr>
          <a:xfrm>
            <a:off x="4670000" y="3050000"/>
            <a:ext cx="15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9-bit</a:t>
            </a:r>
          </a:p>
        </p:txBody>
      </p:sp>
      <p:sp>
        <p:nvSpPr>
          <p:cNvPr id="241" name="td"/>
          <p:cNvSpPr/>
          <p:nvPr/>
        </p:nvSpPr>
        <p:spPr>
          <a:xfrm>
            <a:off x="6260000" y="3050000"/>
            <a:ext cx="128000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2" name="tdt"/>
          <p:cNvSpPr/>
          <p:nvPr/>
        </p:nvSpPr>
        <p:spPr>
          <a:xfrm>
            <a:off x="6370000" y="3050000"/>
            <a:ext cx="108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3.23%</a:t>
            </a:r>
          </a:p>
        </p:txBody>
      </p:sp>
      <p:sp>
        <p:nvSpPr>
          <p:cNvPr id="243" name="td"/>
          <p:cNvSpPr/>
          <p:nvPr/>
        </p:nvSpPr>
        <p:spPr>
          <a:xfrm>
            <a:off x="7540000" y="3050000"/>
            <a:ext cx="1146800" cy="4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44" name="tdt"/>
          <p:cNvSpPr/>
          <p:nvPr/>
        </p:nvSpPr>
        <p:spPr>
          <a:xfrm>
            <a:off x="7650000" y="3050000"/>
            <a:ext cx="9468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: 1</a:t>
            </a:r>
          </a:p>
        </p:txBody>
      </p:sp>
      <p:sp>
        <p:nvSpPr>
          <p:cNvPr id="245" name="tnote"/>
          <p:cNvSpPr/>
          <p:nvPr/>
        </p:nvSpPr>
        <p:spPr>
          <a:xfrm>
            <a:off x="4572000" y="3616732"/>
            <a:ext cx="4126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information is ~15× more delicate than classical.</a:t>
            </a:r>
          </a:p>
        </p:txBody>
      </p:sp>
      <p:sp>
        <p:nvSpPr>
          <p:cNvPr id="246" name="cv"/>
          <p:cNvSpPr/>
          <p:nvPr/>
        </p:nvSpPr>
        <p:spPr>
          <a:xfrm>
            <a:off x="457200" y="4080000"/>
            <a:ext cx="8229600" cy="56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7" name="cvt"/>
          <p:cNvSpPr/>
          <p:nvPr/>
        </p:nvSpPr>
        <p:spPr>
          <a:xfrm>
            <a:off x="697200" y="4080000"/>
            <a:ext cx="774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 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 proves QEC is possible (9:1)   →   </a:t>
            </a: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runs a surface code below threshold — more qubits, fewer errors.</a:t>
            </a:r>
          </a:p>
        </p:txBody>
      </p:sp>
      <p:sp>
        <p:nvSpPr>
          <p:cNvPr id="248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49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2</a:t>
            </a:r>
          </a:p>
        </p:txBody>
      </p:sp>
      <p:sp>
        <p:nvSpPr>
          <p:cNvPr id="251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Discretization of Errors</a:t>
            </a:r>
          </a:p>
        </p:txBody>
      </p:sp>
      <p:sp>
        <p:nvSpPr>
          <p:cNvPr id="252" name="thm"/>
          <p:cNvSpPr/>
          <p:nvPr/>
        </p:nvSpPr>
        <p:spPr>
          <a:xfrm>
            <a:off x="457200" y="1380000"/>
            <a:ext cx="8229600" cy="60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3" name="thmt"/>
          <p:cNvSpPr/>
          <p:nvPr/>
        </p:nvSpPr>
        <p:spPr>
          <a:xfrm>
            <a:off x="697200" y="1380000"/>
            <a:ext cx="77496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6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   </a:t>
            </a: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single-qubit error  U = </a:t>
            </a:r>
            <a:r>
              <a:rPr lang="en-US" sz="1600" b="1" kern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a·I</a:t>
            </a: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600" b="1" kern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b·X</a:t>
            </a: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600" b="1" kern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c·Y</a:t>
            </a:r>
            <a:r>
              <a:rPr lang="en-US" sz="16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600" b="1" kern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d·Z</a:t>
            </a:r>
            <a:endParaRPr lang="en-US" sz="1600" b="1" kern="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buNone/>
            </a:pPr>
            <a:r>
              <a:rPr lang="en-US" sz="140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 |a|² + |b|² + |c|² + |d|² = 1.</a:t>
            </a:r>
          </a:p>
        </p:txBody>
      </p:sp>
      <p:sp>
        <p:nvSpPr>
          <p:cNvPr id="254" name="pf"/>
          <p:cNvSpPr/>
          <p:nvPr/>
        </p:nvSpPr>
        <p:spPr>
          <a:xfrm>
            <a:off x="457200" y="2150000"/>
            <a:ext cx="4023360" cy="11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pf_acc"/>
          <p:cNvSpPr/>
          <p:nvPr/>
        </p:nvSpPr>
        <p:spPr>
          <a:xfrm>
            <a:off x="457200" y="2150000"/>
            <a:ext cx="4023360" cy="822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6" name="pfh"/>
          <p:cNvSpPr/>
          <p:nvPr/>
        </p:nvSpPr>
        <p:spPr>
          <a:xfrm>
            <a:off x="717200" y="2290000"/>
            <a:ext cx="3503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SKETCH</a:t>
            </a:r>
          </a:p>
        </p:txBody>
      </p:sp>
      <p:sp>
        <p:nvSpPr>
          <p:cNvPr id="257" name="pfb"/>
          <p:cNvSpPr/>
          <p:nvPr/>
        </p:nvSpPr>
        <p:spPr>
          <a:xfrm>
            <a:off x="717200" y="2580000"/>
            <a:ext cx="35033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0000" indent="-300000" algn="l">
              <a:spcAft>
                <a:spcPts val="300"/>
              </a:spcAft>
              <a:buSzPct val="90000"/>
              <a:buChar char="•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{I, X, Y, Z} form a basis for all 2×2 matrices</a:t>
            </a:r>
          </a:p>
          <a:p>
            <a:pPr marL="300000" indent="-300000" algn="l">
              <a:spcAft>
                <a:spcPts val="300"/>
              </a:spcAft>
              <a:buSzPct val="90000"/>
              <a:buChar char="•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unitary U is a 2×2 matrix</a:t>
            </a:r>
          </a:p>
          <a:p>
            <a:pPr marL="300000" indent="-300000" algn="l">
              <a:buSzPct val="90000"/>
              <a:buChar char="•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U is a linear combination of Paulis</a:t>
            </a:r>
          </a:p>
        </p:txBody>
      </p:sp>
      <p:sp>
        <p:nvSpPr>
          <p:cNvPr id="258" name="cl"/>
          <p:cNvSpPr/>
          <p:nvPr/>
        </p:nvSpPr>
        <p:spPr>
          <a:xfrm>
            <a:off x="4663440" y="2150000"/>
            <a:ext cx="4023360" cy="112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9" name="cl_acc"/>
          <p:cNvSpPr/>
          <p:nvPr/>
        </p:nvSpPr>
        <p:spPr>
          <a:xfrm>
            <a:off x="4663440" y="2150000"/>
            <a:ext cx="402336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0" name="clh"/>
          <p:cNvSpPr/>
          <p:nvPr/>
        </p:nvSpPr>
        <p:spPr>
          <a:xfrm>
            <a:off x="4923440" y="2290000"/>
            <a:ext cx="3503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b="1" kern="0" spc="10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COLLAPSE</a:t>
            </a:r>
          </a:p>
        </p:txBody>
      </p:sp>
      <p:sp>
        <p:nvSpPr>
          <p:cNvPr id="261" name="clb"/>
          <p:cNvSpPr/>
          <p:nvPr/>
        </p:nvSpPr>
        <p:spPr>
          <a:xfrm>
            <a:off x="4923440" y="2580000"/>
            <a:ext cx="350336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syndrome projects a continuous error onto a single Pauli — like a spinning coin caught as heads or tails.</a:t>
            </a:r>
          </a:p>
        </p:txBody>
      </p:sp>
      <p:sp>
        <p:nvSpPr>
          <p:cNvPr id="262" name="o0"/>
          <p:cNvSpPr/>
          <p:nvPr/>
        </p:nvSpPr>
        <p:spPr>
          <a:xfrm>
            <a:off x="457200" y="3470000"/>
            <a:ext cx="1967400" cy="10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3" name="o0_acc"/>
          <p:cNvSpPr/>
          <p:nvPr/>
        </p:nvSpPr>
        <p:spPr>
          <a:xfrm>
            <a:off x="457200" y="3470000"/>
            <a:ext cx="1967400" cy="82296"/>
          </a:xfrm>
          <a:prstGeom prst="rect">
            <a:avLst/>
          </a:prstGeom>
          <a:solidFill>
            <a:srgbClr val="3D4F5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4" name="op0"/>
          <p:cNvSpPr/>
          <p:nvPr/>
        </p:nvSpPr>
        <p:spPr>
          <a:xfrm>
            <a:off x="457200" y="3620000"/>
            <a:ext cx="19674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>
                <a:solidFill>
                  <a:srgbClr val="3D4F5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</a:t>
            </a:r>
          </a:p>
        </p:txBody>
      </p:sp>
      <p:sp>
        <p:nvSpPr>
          <p:cNvPr id="265" name="opr0"/>
          <p:cNvSpPr/>
          <p:nvPr/>
        </p:nvSpPr>
        <p:spPr>
          <a:xfrm>
            <a:off x="537200" y="4110000"/>
            <a:ext cx="18074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  |a|²</a:t>
            </a:r>
          </a:p>
        </p:txBody>
      </p:sp>
      <p:sp>
        <p:nvSpPr>
          <p:cNvPr id="266" name="oa0"/>
          <p:cNvSpPr/>
          <p:nvPr/>
        </p:nvSpPr>
        <p:spPr>
          <a:xfrm>
            <a:off x="537200" y="4320000"/>
            <a:ext cx="1807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— do nothing</a:t>
            </a:r>
          </a:p>
        </p:txBody>
      </p:sp>
      <p:sp>
        <p:nvSpPr>
          <p:cNvPr id="267" name="o1"/>
          <p:cNvSpPr/>
          <p:nvPr/>
        </p:nvSpPr>
        <p:spPr>
          <a:xfrm>
            <a:off x="2544600" y="3470000"/>
            <a:ext cx="1967400" cy="10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8" name="o1_acc"/>
          <p:cNvSpPr/>
          <p:nvPr/>
        </p:nvSpPr>
        <p:spPr>
          <a:xfrm>
            <a:off x="2544600" y="3470000"/>
            <a:ext cx="196740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9" name="op1"/>
          <p:cNvSpPr/>
          <p:nvPr/>
        </p:nvSpPr>
        <p:spPr>
          <a:xfrm>
            <a:off x="2544600" y="3620000"/>
            <a:ext cx="19674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</a:t>
            </a:r>
          </a:p>
        </p:txBody>
      </p:sp>
      <p:sp>
        <p:nvSpPr>
          <p:cNvPr id="270" name="opr1"/>
          <p:cNvSpPr/>
          <p:nvPr/>
        </p:nvSpPr>
        <p:spPr>
          <a:xfrm>
            <a:off x="2624600" y="4110000"/>
            <a:ext cx="18074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  |b|²</a:t>
            </a:r>
          </a:p>
        </p:txBody>
      </p:sp>
      <p:sp>
        <p:nvSpPr>
          <p:cNvPr id="271" name="oa1"/>
          <p:cNvSpPr/>
          <p:nvPr/>
        </p:nvSpPr>
        <p:spPr>
          <a:xfrm>
            <a:off x="2624600" y="4320000"/>
            <a:ext cx="1807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X</a:t>
            </a:r>
          </a:p>
        </p:txBody>
      </p:sp>
      <p:sp>
        <p:nvSpPr>
          <p:cNvPr id="272" name="o2"/>
          <p:cNvSpPr/>
          <p:nvPr/>
        </p:nvSpPr>
        <p:spPr>
          <a:xfrm>
            <a:off x="4632000" y="3470000"/>
            <a:ext cx="1967400" cy="10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3" name="o2_acc"/>
          <p:cNvSpPr/>
          <p:nvPr/>
        </p:nvSpPr>
        <p:spPr>
          <a:xfrm>
            <a:off x="4632000" y="3470000"/>
            <a:ext cx="196740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4" name="op2"/>
          <p:cNvSpPr/>
          <p:nvPr/>
        </p:nvSpPr>
        <p:spPr>
          <a:xfrm>
            <a:off x="4632000" y="3620000"/>
            <a:ext cx="19674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>
                <a:solidFill>
                  <a:srgbClr val="E08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</a:t>
            </a:r>
          </a:p>
        </p:txBody>
      </p:sp>
      <p:sp>
        <p:nvSpPr>
          <p:cNvPr id="275" name="opr2"/>
          <p:cNvSpPr/>
          <p:nvPr/>
        </p:nvSpPr>
        <p:spPr>
          <a:xfrm>
            <a:off x="4712000" y="4110000"/>
            <a:ext cx="18074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  |c|²</a:t>
            </a:r>
          </a:p>
        </p:txBody>
      </p:sp>
      <p:sp>
        <p:nvSpPr>
          <p:cNvPr id="276" name="oa2"/>
          <p:cNvSpPr/>
          <p:nvPr/>
        </p:nvSpPr>
        <p:spPr>
          <a:xfrm>
            <a:off x="4712000" y="4320000"/>
            <a:ext cx="1807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Y</a:t>
            </a:r>
          </a:p>
        </p:txBody>
      </p:sp>
      <p:sp>
        <p:nvSpPr>
          <p:cNvPr id="277" name="o3"/>
          <p:cNvSpPr/>
          <p:nvPr/>
        </p:nvSpPr>
        <p:spPr>
          <a:xfrm>
            <a:off x="6719400" y="3470000"/>
            <a:ext cx="1967400" cy="10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o3_acc"/>
          <p:cNvSpPr/>
          <p:nvPr/>
        </p:nvSpPr>
        <p:spPr>
          <a:xfrm>
            <a:off x="6719400" y="3470000"/>
            <a:ext cx="19674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9" name="op3"/>
          <p:cNvSpPr/>
          <p:nvPr/>
        </p:nvSpPr>
        <p:spPr>
          <a:xfrm>
            <a:off x="6719400" y="3620000"/>
            <a:ext cx="196740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kern="0">
                <a:solidFill>
                  <a:srgbClr val="7D3C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</a:p>
        </p:txBody>
      </p:sp>
      <p:sp>
        <p:nvSpPr>
          <p:cNvPr id="280" name="opr3"/>
          <p:cNvSpPr/>
          <p:nvPr/>
        </p:nvSpPr>
        <p:spPr>
          <a:xfrm>
            <a:off x="6799400" y="4110000"/>
            <a:ext cx="18074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  |d|²</a:t>
            </a:r>
          </a:p>
        </p:txBody>
      </p:sp>
      <p:sp>
        <p:nvSpPr>
          <p:cNvPr id="281" name="oa3"/>
          <p:cNvSpPr/>
          <p:nvPr/>
        </p:nvSpPr>
        <p:spPr>
          <a:xfrm>
            <a:off x="6799400" y="4320000"/>
            <a:ext cx="18074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Z</a:t>
            </a:r>
          </a:p>
        </p:txBody>
      </p:sp>
      <p:sp>
        <p:nvSpPr>
          <p:cNvPr id="282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83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2</a:t>
            </a:r>
          </a:p>
        </p:txBody>
      </p:sp>
      <p:sp>
        <p:nvSpPr>
          <p:cNvPr id="285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Multi-Qubit Generalization</a:t>
            </a:r>
          </a:p>
        </p:txBody>
      </p:sp>
      <p:sp>
        <p:nvSpPr>
          <p:cNvPr id="286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the Pauli picture to n qubits — syndromes sort every possible error into correctable buckets.</a:t>
            </a:r>
          </a:p>
        </p:txBody>
      </p:sp>
      <p:sp>
        <p:nvSpPr>
          <p:cNvPr id="287" name="fc"/>
          <p:cNvSpPr/>
          <p:nvPr/>
        </p:nvSpPr>
        <p:spPr>
          <a:xfrm>
            <a:off x="457200" y="1640000"/>
            <a:ext cx="4023360" cy="8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8" name="fc_acc"/>
          <p:cNvSpPr/>
          <p:nvPr/>
        </p:nvSpPr>
        <p:spPr>
          <a:xfrm>
            <a:off x="457200" y="1640000"/>
            <a:ext cx="402336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9" name="fch"/>
          <p:cNvSpPr/>
          <p:nvPr/>
        </p:nvSpPr>
        <p:spPr>
          <a:xfrm>
            <a:off x="717200" y="1770000"/>
            <a:ext cx="3503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n-QUBIT PAULIS</a:t>
            </a:r>
          </a:p>
        </p:txBody>
      </p:sp>
      <p:sp>
        <p:nvSpPr>
          <p:cNvPr id="290" name="fcb"/>
          <p:cNvSpPr/>
          <p:nvPr/>
        </p:nvSpPr>
        <p:spPr>
          <a:xfrm>
            <a:off x="717200" y="2000000"/>
            <a:ext cx="3503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5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P₁ ⊗ P₂ ⊗ … ⊗ Pₙ ,   Pᵢ ∈ {I, X, Y, Z}</a:t>
            </a:r>
          </a:p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  </a:t>
            </a:r>
            <a:r>
              <a:rPr lang="en-US" sz="16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⊗ I ⊗ Z</a:t>
            </a:r>
          </a:p>
        </p:txBody>
      </p:sp>
      <p:sp>
        <p:nvSpPr>
          <p:cNvPr id="291" name="cc"/>
          <p:cNvSpPr/>
          <p:nvPr/>
        </p:nvSpPr>
        <p:spPr>
          <a:xfrm>
            <a:off x="4663440" y="1640000"/>
            <a:ext cx="4023360" cy="82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2" name="cc_acc"/>
          <p:cNvSpPr/>
          <p:nvPr/>
        </p:nvSpPr>
        <p:spPr>
          <a:xfrm>
            <a:off x="4663440" y="1640000"/>
            <a:ext cx="4023360" cy="822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3" name="cch"/>
          <p:cNvSpPr/>
          <p:nvPr/>
        </p:nvSpPr>
        <p:spPr>
          <a:xfrm>
            <a:off x="4923440" y="1770000"/>
            <a:ext cx="3503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</a:t>
            </a:r>
          </a:p>
        </p:txBody>
      </p:sp>
      <p:sp>
        <p:nvSpPr>
          <p:cNvPr id="294" name="ccb"/>
          <p:cNvSpPr/>
          <p:nvPr/>
        </p:nvSpPr>
        <p:spPr>
          <a:xfrm>
            <a:off x="4923440" y="1966148"/>
            <a:ext cx="350336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5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4ⁿ possible Pauli errors</a:t>
            </a:r>
          </a:p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2ʳ syndromes  →  4ⁿ ⁄ 2ʳ errors per syndrome</a:t>
            </a:r>
          </a:p>
        </p:txBody>
      </p:sp>
      <p:sp>
        <p:nvSpPr>
          <p:cNvPr id="295" name="st0"/>
          <p:cNvSpPr/>
          <p:nvPr/>
        </p:nvSpPr>
        <p:spPr>
          <a:xfrm>
            <a:off x="457200" y="2640000"/>
            <a:ext cx="2643200" cy="9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6" name="st0_acc"/>
          <p:cNvSpPr/>
          <p:nvPr/>
        </p:nvSpPr>
        <p:spPr>
          <a:xfrm>
            <a:off x="457200" y="2640000"/>
            <a:ext cx="2643200" cy="822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7" name="stv0"/>
          <p:cNvSpPr/>
          <p:nvPr/>
        </p:nvSpPr>
        <p:spPr>
          <a:xfrm>
            <a:off x="517200" y="2790000"/>
            <a:ext cx="25232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4⁹ = 262,144</a:t>
            </a:r>
          </a:p>
        </p:txBody>
      </p:sp>
      <p:sp>
        <p:nvSpPr>
          <p:cNvPr id="298" name="stl0"/>
          <p:cNvSpPr/>
          <p:nvPr/>
        </p:nvSpPr>
        <p:spPr>
          <a:xfrm>
            <a:off x="517200" y="3280000"/>
            <a:ext cx="25232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Pauli errors</a:t>
            </a:r>
          </a:p>
        </p:txBody>
      </p:sp>
      <p:sp>
        <p:nvSpPr>
          <p:cNvPr id="299" name="st1"/>
          <p:cNvSpPr/>
          <p:nvPr/>
        </p:nvSpPr>
        <p:spPr>
          <a:xfrm>
            <a:off x="3250400" y="2640000"/>
            <a:ext cx="2643200" cy="9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0" name="st1_acc"/>
          <p:cNvSpPr/>
          <p:nvPr/>
        </p:nvSpPr>
        <p:spPr>
          <a:xfrm>
            <a:off x="3250400" y="2640000"/>
            <a:ext cx="264320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1" name="stv1"/>
          <p:cNvSpPr/>
          <p:nvPr/>
        </p:nvSpPr>
        <p:spPr>
          <a:xfrm>
            <a:off x="3310400" y="2790000"/>
            <a:ext cx="25232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2⁸ = 256</a:t>
            </a:r>
          </a:p>
        </p:txBody>
      </p:sp>
      <p:sp>
        <p:nvSpPr>
          <p:cNvPr id="302" name="stl1"/>
          <p:cNvSpPr/>
          <p:nvPr/>
        </p:nvSpPr>
        <p:spPr>
          <a:xfrm>
            <a:off x="3310400" y="3280000"/>
            <a:ext cx="25232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syndromes</a:t>
            </a:r>
          </a:p>
        </p:txBody>
      </p:sp>
      <p:sp>
        <p:nvSpPr>
          <p:cNvPr id="303" name="st2"/>
          <p:cNvSpPr/>
          <p:nvPr/>
        </p:nvSpPr>
        <p:spPr>
          <a:xfrm>
            <a:off x="6043600" y="2640000"/>
            <a:ext cx="2643200" cy="9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4" name="st2_acc"/>
          <p:cNvSpPr/>
          <p:nvPr/>
        </p:nvSpPr>
        <p:spPr>
          <a:xfrm>
            <a:off x="6043600" y="2640000"/>
            <a:ext cx="2643200" cy="822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5" name="stv2"/>
          <p:cNvSpPr/>
          <p:nvPr/>
        </p:nvSpPr>
        <p:spPr>
          <a:xfrm>
            <a:off x="6103600" y="2790000"/>
            <a:ext cx="25232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kern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1,024</a:t>
            </a:r>
          </a:p>
        </p:txBody>
      </p:sp>
      <p:sp>
        <p:nvSpPr>
          <p:cNvPr id="306" name="stl2"/>
          <p:cNvSpPr/>
          <p:nvPr/>
        </p:nvSpPr>
        <p:spPr>
          <a:xfrm>
            <a:off x="6103600" y="3280000"/>
            <a:ext cx="25232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per syndrome</a:t>
            </a:r>
          </a:p>
        </p:txBody>
      </p:sp>
      <p:sp>
        <p:nvSpPr>
          <p:cNvPr id="307" name="exlab"/>
          <p:cNvSpPr/>
          <p:nvPr/>
        </p:nvSpPr>
        <p:spPr>
          <a:xfrm>
            <a:off x="457200" y="3650000"/>
            <a:ext cx="82296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9-qubit Shor code — the power of degeneracy</a:t>
            </a:r>
          </a:p>
        </p:txBody>
      </p:sp>
      <p:sp>
        <p:nvSpPr>
          <p:cNvPr id="308" name="dist"/>
          <p:cNvSpPr/>
          <p:nvPr/>
        </p:nvSpPr>
        <p:spPr>
          <a:xfrm>
            <a:off x="457200" y="3960000"/>
            <a:ext cx="8229600" cy="60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9" name="distt"/>
          <p:cNvSpPr/>
          <p:nvPr/>
        </p:nvSpPr>
        <p:spPr>
          <a:xfrm>
            <a:off x="697200" y="3960000"/>
            <a:ext cx="7749600" cy="6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Distance-d code:   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minimum-weight Pauli correction fixes every error of weight ≤ ⌊(d−1)/2⌋.</a:t>
            </a:r>
          </a:p>
        </p:txBody>
      </p:sp>
      <p:sp>
        <p:nvSpPr>
          <p:cNvPr id="310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311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·  BLOCK 2</a:t>
            </a:r>
          </a:p>
        </p:txBody>
      </p:sp>
      <p:sp>
        <p:nvSpPr>
          <p:cNvPr id="313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2 Recap &amp; Check-in</a:t>
            </a:r>
          </a:p>
        </p:txBody>
      </p:sp>
      <p:sp>
        <p:nvSpPr>
          <p:cNvPr id="314" name="chip"/>
          <p:cNvSpPr/>
          <p:nvPr/>
        </p:nvSpPr>
        <p:spPr>
          <a:xfrm>
            <a:off x="457200" y="1640000"/>
            <a:ext cx="380000" cy="38000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15" name="chipn"/>
          <p:cNvSpPr/>
          <p:nvPr/>
        </p:nvSpPr>
        <p:spPr>
          <a:xfrm>
            <a:off x="457200" y="164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316" name="tk"/>
          <p:cNvSpPr/>
          <p:nvPr/>
        </p:nvSpPr>
        <p:spPr>
          <a:xfrm>
            <a:off x="1057200" y="1610000"/>
            <a:ext cx="367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Bit-flip codes are blind to phase flips.</a:t>
            </a:r>
          </a:p>
        </p:txBody>
      </p:sp>
      <p:sp>
        <p:nvSpPr>
          <p:cNvPr id="317" name="chip"/>
          <p:cNvSpPr/>
          <p:nvPr/>
        </p:nvSpPr>
        <p:spPr>
          <a:xfrm>
            <a:off x="457200" y="2200000"/>
            <a:ext cx="380000" cy="38000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18" name="chipn"/>
          <p:cNvSpPr/>
          <p:nvPr/>
        </p:nvSpPr>
        <p:spPr>
          <a:xfrm>
            <a:off x="457200" y="220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319" name="tk"/>
          <p:cNvSpPr/>
          <p:nvPr/>
        </p:nvSpPr>
        <p:spPr>
          <a:xfrm>
            <a:off x="1057200" y="2170000"/>
            <a:ext cx="367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Hadamard basis change makes Z look like X.</a:t>
            </a:r>
          </a:p>
        </p:txBody>
      </p:sp>
      <p:sp>
        <p:nvSpPr>
          <p:cNvPr id="320" name="chip"/>
          <p:cNvSpPr/>
          <p:nvPr/>
        </p:nvSpPr>
        <p:spPr>
          <a:xfrm>
            <a:off x="457200" y="2760000"/>
            <a:ext cx="380000" cy="38000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21" name="chipn"/>
          <p:cNvSpPr/>
          <p:nvPr/>
        </p:nvSpPr>
        <p:spPr>
          <a:xfrm>
            <a:off x="457200" y="276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322" name="tk"/>
          <p:cNvSpPr/>
          <p:nvPr/>
        </p:nvSpPr>
        <p:spPr>
          <a:xfrm>
            <a:off x="1057200" y="2730000"/>
            <a:ext cx="367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Shor code concatenates both — 9 qubits, any single-qubit error.</a:t>
            </a:r>
          </a:p>
        </p:txBody>
      </p:sp>
      <p:sp>
        <p:nvSpPr>
          <p:cNvPr id="323" name="chip"/>
          <p:cNvSpPr/>
          <p:nvPr/>
        </p:nvSpPr>
        <p:spPr>
          <a:xfrm>
            <a:off x="457200" y="3320000"/>
            <a:ext cx="380000" cy="38000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24" name="chipn"/>
          <p:cNvSpPr/>
          <p:nvPr/>
        </p:nvSpPr>
        <p:spPr>
          <a:xfrm>
            <a:off x="457200" y="332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325" name="tk"/>
          <p:cNvSpPr/>
          <p:nvPr/>
        </p:nvSpPr>
        <p:spPr>
          <a:xfrm>
            <a:off x="1057200" y="3290000"/>
            <a:ext cx="367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 measurement collapses any error onto a Pauli.</a:t>
            </a:r>
          </a:p>
        </p:txBody>
      </p:sp>
      <p:sp>
        <p:nvSpPr>
          <p:cNvPr id="326" name="chip"/>
          <p:cNvSpPr/>
          <p:nvPr/>
        </p:nvSpPr>
        <p:spPr>
          <a:xfrm>
            <a:off x="457200" y="3880000"/>
            <a:ext cx="380000" cy="380000"/>
          </a:xfrm>
          <a:prstGeom prst="ellipse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27" name="chipn"/>
          <p:cNvSpPr/>
          <p:nvPr/>
        </p:nvSpPr>
        <p:spPr>
          <a:xfrm>
            <a:off x="457200" y="3880000"/>
            <a:ext cx="380000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328" name="tk"/>
          <p:cNvSpPr/>
          <p:nvPr/>
        </p:nvSpPr>
        <p:spPr>
          <a:xfrm>
            <a:off x="1057200" y="3850000"/>
            <a:ext cx="367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partition by syndrome — fix the minimum-weight one.</a:t>
            </a:r>
          </a:p>
        </p:txBody>
      </p:sp>
      <p:sp>
        <p:nvSpPr>
          <p:cNvPr id="329" name="poll"/>
          <p:cNvSpPr/>
          <p:nvPr/>
        </p:nvSpPr>
        <p:spPr>
          <a:xfrm>
            <a:off x="5250000" y="1620000"/>
            <a:ext cx="3436800" cy="256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0" name="poll_acc"/>
          <p:cNvSpPr/>
          <p:nvPr/>
        </p:nvSpPr>
        <p:spPr>
          <a:xfrm>
            <a:off x="5250000" y="1620000"/>
            <a:ext cx="3436800" cy="822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1" name="ph"/>
          <p:cNvSpPr/>
          <p:nvPr/>
        </p:nvSpPr>
        <p:spPr>
          <a:xfrm>
            <a:off x="5510000" y="1780000"/>
            <a:ext cx="2916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2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</a:t>
            </a:r>
          </a:p>
        </p:txBody>
      </p:sp>
      <p:sp>
        <p:nvSpPr>
          <p:cNvPr id="332" name="pq"/>
          <p:cNvSpPr/>
          <p:nvPr/>
        </p:nvSpPr>
        <p:spPr>
          <a:xfrm>
            <a:off x="5510000" y="2090000"/>
            <a:ext cx="29168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physical qubits does the Shor code use to encode one logical qubit?</a:t>
            </a:r>
          </a:p>
        </p:txBody>
      </p:sp>
      <p:sp>
        <p:nvSpPr>
          <p:cNvPr id="333" name="po"/>
          <p:cNvSpPr/>
          <p:nvPr/>
        </p:nvSpPr>
        <p:spPr>
          <a:xfrm>
            <a:off x="5550000" y="2940000"/>
            <a:ext cx="28768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80"/>
              </a:spcAft>
              <a:buNone/>
            </a:pPr>
            <a:r>
              <a:rPr lang="en-US" sz="12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 3</a:t>
            </a:r>
          </a:p>
          <a:p>
            <a:pPr marL="0" indent="0" algn="l">
              <a:spcAft>
                <a:spcPts val="380"/>
              </a:spcAft>
              <a:buNone/>
            </a:pPr>
            <a:r>
              <a:rPr lang="en-US" sz="12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 6</a:t>
            </a:r>
          </a:p>
          <a:p>
            <a:pPr marL="0" indent="0" algn="l">
              <a:spcAft>
                <a:spcPts val="380"/>
              </a:spcAft>
              <a:buNone/>
            </a:pPr>
            <a:r>
              <a:rPr lang="en-US" sz="12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 9</a:t>
            </a:r>
          </a:p>
          <a:p>
            <a:pPr marL="0" indent="0" algn="l">
              <a:spcAft>
                <a:spcPts val="380"/>
              </a:spcAft>
              <a:buNone/>
            </a:pPr>
            <a:r>
              <a:rPr lang="en-US" sz="12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 12</a:t>
            </a:r>
          </a:p>
        </p:txBody>
      </p:sp>
      <p:sp>
        <p:nvSpPr>
          <p:cNvPr id="334" name="pn"/>
          <p:cNvSpPr/>
          <p:nvPr/>
        </p:nvSpPr>
        <p:spPr>
          <a:xfrm>
            <a:off x="5510000" y="3820000"/>
            <a:ext cx="2916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Think-pair-share, then vote.</a:t>
            </a:r>
          </a:p>
        </p:txBody>
      </p:sp>
      <p:sp>
        <p:nvSpPr>
          <p:cNvPr id="335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336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lbar"/>
          <p:cNvSpPr/>
          <p:nvPr/>
        </p:nvSpPr>
        <p:spPr>
          <a:xfrm>
            <a:off x="0" y="0"/>
            <a:ext cx="80000" cy="51435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8" name="eb"/>
          <p:cNvSpPr/>
          <p:nvPr/>
        </p:nvSpPr>
        <p:spPr>
          <a:xfrm>
            <a:off x="457200" y="1450000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2 COMPLETE</a:t>
            </a:r>
          </a:p>
        </p:txBody>
      </p:sp>
      <p:sp>
        <p:nvSpPr>
          <p:cNvPr id="339" name="bt"/>
          <p:cNvSpPr/>
          <p:nvPr/>
        </p:nvSpPr>
        <p:spPr>
          <a:xfrm>
            <a:off x="457200" y="1820000"/>
            <a:ext cx="82296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— 10 Minutes</a:t>
            </a:r>
          </a:p>
        </p:txBody>
      </p:sp>
      <p:sp>
        <p:nvSpPr>
          <p:cNvPr id="340" name="bs"/>
          <p:cNvSpPr/>
          <p:nvPr/>
        </p:nvSpPr>
        <p:spPr>
          <a:xfrm>
            <a:off x="457200" y="272000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and reset — next we build the algebra behind every code.</a:t>
            </a:r>
          </a:p>
        </p:txBody>
      </p:sp>
      <p:sp>
        <p:nvSpPr>
          <p:cNvPr id="341" name="pcd"/>
          <p:cNvSpPr/>
          <p:nvPr/>
        </p:nvSpPr>
        <p:spPr>
          <a:xfrm>
            <a:off x="1772000" y="3350000"/>
            <a:ext cx="5600000" cy="640000"/>
          </a:xfrm>
          <a:prstGeom prst="rect">
            <a:avLst/>
          </a:prstGeom>
          <a:solidFill>
            <a:srgbClr val="234A6E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pct"/>
          <p:cNvSpPr/>
          <p:nvPr/>
        </p:nvSpPr>
        <p:spPr>
          <a:xfrm>
            <a:off x="1972000" y="3350000"/>
            <a:ext cx="52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prompt:   </a:t>
            </a:r>
            <a:r>
              <a:rPr lang="en-US" sz="12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 we had a systematic way to describe ALL quantum codes?</a:t>
            </a:r>
          </a:p>
        </p:txBody>
      </p:sp>
      <p:sp>
        <p:nvSpPr>
          <p:cNvPr id="343" name="bf"/>
          <p:cNvSpPr/>
          <p:nvPr/>
        </p:nvSpPr>
        <p:spPr>
          <a:xfrm>
            <a:off x="457200" y="4520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2.6  ·  Quantum Error Correction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  ·  BLOCK 3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Need for a General Framework</a:t>
            </a:r>
          </a:p>
        </p:txBody>
      </p:sp>
      <p:sp>
        <p:nvSpPr>
          <p:cNvPr id="4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codes, one idea — a single framework to discover, analyze, and compare every quantum code.</a:t>
            </a:r>
          </a:p>
        </p:txBody>
      </p:sp>
      <p:sp>
        <p:nvSpPr>
          <p:cNvPr id="5" name="cc0"/>
          <p:cNvSpPr/>
          <p:nvPr/>
        </p:nvSpPr>
        <p:spPr>
          <a:xfrm>
            <a:off x="457200" y="1760000"/>
            <a:ext cx="3500000" cy="6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cc0_b"/>
          <p:cNvSpPr/>
          <p:nvPr/>
        </p:nvSpPr>
        <p:spPr>
          <a:xfrm>
            <a:off x="457200" y="1760000"/>
            <a:ext cx="64000" cy="600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cct0"/>
          <p:cNvSpPr/>
          <p:nvPr/>
        </p:nvSpPr>
        <p:spPr>
          <a:xfrm>
            <a:off x="657200" y="1855000"/>
            <a:ext cx="32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3-Qubit Bit-Flip   </a:t>
            </a:r>
            <a:r>
              <a:rPr lang="en-US" sz="16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[[3,1,1]]</a:t>
            </a:r>
          </a:p>
        </p:txBody>
      </p:sp>
      <p:sp>
        <p:nvSpPr>
          <p:cNvPr id="8" name="ccg0"/>
          <p:cNvSpPr/>
          <p:nvPr/>
        </p:nvSpPr>
        <p:spPr>
          <a:xfrm>
            <a:off x="657200" y="2120000"/>
            <a:ext cx="32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Z⊗Z⊗I , I⊗Z⊗Z</a:t>
            </a:r>
          </a:p>
        </p:txBody>
      </p:sp>
      <p:sp>
        <p:nvSpPr>
          <p:cNvPr id="9" name="cc1"/>
          <p:cNvSpPr/>
          <p:nvPr/>
        </p:nvSpPr>
        <p:spPr>
          <a:xfrm>
            <a:off x="457200" y="2480000"/>
            <a:ext cx="3500000" cy="6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cc1_b"/>
          <p:cNvSpPr/>
          <p:nvPr/>
        </p:nvSpPr>
        <p:spPr>
          <a:xfrm>
            <a:off x="457200" y="2480000"/>
            <a:ext cx="64000" cy="60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cct1"/>
          <p:cNvSpPr/>
          <p:nvPr/>
        </p:nvSpPr>
        <p:spPr>
          <a:xfrm>
            <a:off x="657200" y="2575000"/>
            <a:ext cx="32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7-Qubit Steane   </a:t>
            </a:r>
            <a:r>
              <a:rPr lang="en-US" sz="1600" b="1" kern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[[7,1,3]]</a:t>
            </a:r>
          </a:p>
        </p:txBody>
      </p:sp>
      <p:sp>
        <p:nvSpPr>
          <p:cNvPr id="12" name="ccg1"/>
          <p:cNvSpPr/>
          <p:nvPr/>
        </p:nvSpPr>
        <p:spPr>
          <a:xfrm>
            <a:off x="657200" y="2840000"/>
            <a:ext cx="32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Pauli generators</a:t>
            </a:r>
          </a:p>
        </p:txBody>
      </p:sp>
      <p:sp>
        <p:nvSpPr>
          <p:cNvPr id="13" name="cc2"/>
          <p:cNvSpPr/>
          <p:nvPr/>
        </p:nvSpPr>
        <p:spPr>
          <a:xfrm>
            <a:off x="457200" y="3200000"/>
            <a:ext cx="3500000" cy="6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cc2_b"/>
          <p:cNvSpPr/>
          <p:nvPr/>
        </p:nvSpPr>
        <p:spPr>
          <a:xfrm>
            <a:off x="457200" y="3200000"/>
            <a:ext cx="64000" cy="60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cct2"/>
          <p:cNvSpPr/>
          <p:nvPr/>
        </p:nvSpPr>
        <p:spPr>
          <a:xfrm>
            <a:off x="657200" y="3295000"/>
            <a:ext cx="322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9-Qubit Shor   </a:t>
            </a:r>
            <a:r>
              <a:rPr lang="en-US" sz="1600" b="1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[[9,1,3]]</a:t>
            </a:r>
          </a:p>
        </p:txBody>
      </p:sp>
      <p:sp>
        <p:nvSpPr>
          <p:cNvPr id="16" name="ccg2"/>
          <p:cNvSpPr/>
          <p:nvPr/>
        </p:nvSpPr>
        <p:spPr>
          <a:xfrm>
            <a:off x="657200" y="3560000"/>
            <a:ext cx="322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Pauli generators</a:t>
            </a:r>
          </a:p>
        </p:txBody>
      </p:sp>
      <p:sp>
        <p:nvSpPr>
          <p:cNvPr id="17" name="rc"/>
          <p:cNvSpPr/>
          <p:nvPr/>
        </p:nvSpPr>
        <p:spPr>
          <a:xfrm>
            <a:off x="4180000" y="1760000"/>
            <a:ext cx="4506800" cy="132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c_acc"/>
          <p:cNvSpPr/>
          <p:nvPr/>
        </p:nvSpPr>
        <p:spPr>
          <a:xfrm>
            <a:off x="4180000" y="1760000"/>
            <a:ext cx="45068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rch"/>
          <p:cNvSpPr/>
          <p:nvPr/>
        </p:nvSpPr>
        <p:spPr>
          <a:xfrm>
            <a:off x="4440000" y="1910000"/>
            <a:ext cx="3986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b="1" kern="0" spc="1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COMMON THREAD</a:t>
            </a:r>
          </a:p>
        </p:txBody>
      </p:sp>
      <p:sp>
        <p:nvSpPr>
          <p:cNvPr id="20" name="rcq"/>
          <p:cNvSpPr/>
          <p:nvPr/>
        </p:nvSpPr>
        <p:spPr>
          <a:xfrm>
            <a:off x="4440000" y="2210000"/>
            <a:ext cx="3986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these three codes share?</a:t>
            </a:r>
          </a:p>
        </p:txBody>
      </p:sp>
      <p:sp>
        <p:nvSpPr>
          <p:cNvPr id="21" name="rca"/>
          <p:cNvSpPr/>
          <p:nvPr/>
        </p:nvSpPr>
        <p:spPr>
          <a:xfrm>
            <a:off x="4440000" y="2520000"/>
            <a:ext cx="39868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is defined by </a:t>
            </a:r>
            <a:r>
              <a:rPr lang="en-US" sz="1400" b="1" kern="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commuting Pauli operators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fix the valid states.</a:t>
            </a:r>
          </a:p>
        </p:txBody>
      </p:sp>
      <p:sp>
        <p:nvSpPr>
          <p:cNvPr id="22" name="rcp"/>
          <p:cNvSpPr/>
          <p:nvPr/>
        </p:nvSpPr>
        <p:spPr>
          <a:xfrm>
            <a:off x="4440000" y="3110000"/>
            <a:ext cx="39868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0000" indent="-300000" algn="l">
              <a:spcAft>
                <a:spcPts val="26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Specifies a broad class of codes via group theory</a:t>
            </a:r>
          </a:p>
          <a:p>
            <a:pPr marL="300000" indent="-300000" algn="l">
              <a:spcAft>
                <a:spcPts val="26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efficient classical simulation</a:t>
            </a:r>
          </a:p>
          <a:p>
            <a:pPr marL="300000" indent="-300000" algn="l">
              <a:spcAft>
                <a:spcPts val="26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design principles for new codes</a:t>
            </a:r>
          </a:p>
        </p:txBody>
      </p:sp>
      <p:sp>
        <p:nvSpPr>
          <p:cNvPr id="23" name="fb"/>
          <p:cNvSpPr/>
          <p:nvPr/>
        </p:nvSpPr>
        <p:spPr>
          <a:xfrm>
            <a:off x="457200" y="4030000"/>
            <a:ext cx="8229600" cy="56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fbt"/>
          <p:cNvSpPr/>
          <p:nvPr/>
        </p:nvSpPr>
        <p:spPr>
          <a:xfrm>
            <a:off x="697200" y="4030000"/>
            <a:ext cx="774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  Stabilizer Formalism</a:t>
            </a:r>
            <a:r>
              <a:rPr lang="en-US" sz="140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(Gottesman, 1997)  —  the systematic language of quantum codes.</a:t>
            </a:r>
          </a:p>
        </p:txBody>
      </p:sp>
      <p:sp>
        <p:nvSpPr>
          <p:cNvPr id="25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6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 ·  BLOCK 3</a:t>
            </a:r>
          </a:p>
        </p:txBody>
      </p:sp>
      <p:sp>
        <p:nvSpPr>
          <p:cNvPr id="28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Group Theory Primer</a:t>
            </a:r>
          </a:p>
        </p:txBody>
      </p:sp>
      <p:sp>
        <p:nvSpPr>
          <p:cNvPr id="29" name="lead"/>
          <p:cNvSpPr/>
          <p:nvPr/>
        </p:nvSpPr>
        <p:spPr>
          <a:xfrm>
            <a:off x="457200" y="1310000"/>
            <a:ext cx="8229600" cy="27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minimal algebra you need before the Pauli group and stabilizer formalism.</a:t>
            </a:r>
          </a:p>
        </p:txBody>
      </p:sp>
      <p:sp>
        <p:nvSpPr>
          <p:cNvPr id="30" name="leftcard"/>
          <p:cNvSpPr/>
          <p:nvPr/>
        </p:nvSpPr>
        <p:spPr>
          <a:xfrm>
            <a:off x="457200" y="1700000"/>
            <a:ext cx="3960000" cy="228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1" name="leftcard_acc"/>
          <p:cNvSpPr/>
          <p:nvPr/>
        </p:nvSpPr>
        <p:spPr>
          <a:xfrm>
            <a:off x="457200" y="1700000"/>
            <a:ext cx="3960000" cy="82296"/>
          </a:xfrm>
          <a:prstGeom prst="rect">
            <a:avLst/>
          </a:prstGeom>
          <a:solidFill>
            <a:srgbClr val="17807A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2" name="leftcard_h"/>
          <p:cNvSpPr/>
          <p:nvPr/>
        </p:nvSpPr>
        <p:spPr>
          <a:xfrm>
            <a:off x="697200" y="1850000"/>
            <a:ext cx="34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80">
                <a:solidFill>
                  <a:srgbClr val="1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A GROUP</a:t>
            </a:r>
          </a:p>
        </p:txBody>
      </p:sp>
      <p:sp>
        <p:nvSpPr>
          <p:cNvPr id="33" name="leftcard_b"/>
          <p:cNvSpPr/>
          <p:nvPr/>
        </p:nvSpPr>
        <p:spPr>
          <a:xfrm>
            <a:off x="697200" y="2180000"/>
            <a:ext cx="348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0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combining any two members stays in the set.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Associativity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(</a:t>
            </a:r>
            <a:r>
              <a:rPr lang="en-US" sz="1400" kern="0" dirty="0" err="1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a·b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)·c = a·(</a:t>
            </a:r>
            <a:r>
              <a:rPr lang="en-US" sz="1400" kern="0" dirty="0" err="1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b·c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</a:p>
          <a:p>
            <a:pPr marL="0" indent="0" algn="l">
              <a:spcAft>
                <a:spcPts val="70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 element e with </a:t>
            </a:r>
            <a:r>
              <a:rPr lang="en-US" sz="1400" kern="0" dirty="0" err="1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e·a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a.</a:t>
            </a:r>
          </a:p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a has a⁻¹ with a·a⁻¹ = e.</a:t>
            </a:r>
          </a:p>
        </p:txBody>
      </p:sp>
      <p:sp>
        <p:nvSpPr>
          <p:cNvPr id="34" name="rightcard"/>
          <p:cNvSpPr/>
          <p:nvPr/>
        </p:nvSpPr>
        <p:spPr>
          <a:xfrm>
            <a:off x="4727200" y="1700000"/>
            <a:ext cx="3960000" cy="228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35" name="rightcard_acc"/>
          <p:cNvSpPr/>
          <p:nvPr/>
        </p:nvSpPr>
        <p:spPr>
          <a:xfrm>
            <a:off x="4727200" y="1700000"/>
            <a:ext cx="39600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36" name="rightcard_h"/>
          <p:cNvSpPr/>
          <p:nvPr/>
        </p:nvSpPr>
        <p:spPr>
          <a:xfrm>
            <a:off x="4967200" y="1850000"/>
            <a:ext cx="34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8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TERMS TO KNOW</a:t>
            </a:r>
          </a:p>
        </p:txBody>
      </p:sp>
      <p:sp>
        <p:nvSpPr>
          <p:cNvPr id="37" name="rightcard_b"/>
          <p:cNvSpPr/>
          <p:nvPr/>
        </p:nvSpPr>
        <p:spPr>
          <a:xfrm>
            <a:off x="4967200" y="2180000"/>
            <a:ext cx="348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Abelian  </a:t>
            </a: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order never matters: a·b = b·a.</a:t>
            </a:r>
          </a:p>
          <a:p>
            <a:pPr marL="0" indent="0" algn="l">
              <a:spcAft>
                <a:spcPts val="900"/>
              </a:spcAft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Subgroup (H ≤ G)  </a:t>
            </a: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 subset that is itself a group.</a:t>
            </a:r>
          </a:p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|G|  </a:t>
            </a: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how many elements the group holds.</a:t>
            </a:r>
          </a:p>
        </p:txBody>
      </p:sp>
      <p:sp>
        <p:nvSpPr>
          <p:cNvPr id="38" name="ws"/>
          <p:cNvSpPr/>
          <p:nvPr/>
        </p:nvSpPr>
        <p:spPr>
          <a:xfrm>
            <a:off x="457200" y="4120000"/>
            <a:ext cx="8229600" cy="5600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wsa"/>
          <p:cNvSpPr/>
          <p:nvPr/>
        </p:nvSpPr>
        <p:spPr>
          <a:xfrm>
            <a:off x="457200" y="4120000"/>
            <a:ext cx="73152" cy="56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0" name="wst"/>
          <p:cNvSpPr/>
          <p:nvPr/>
        </p:nvSpPr>
        <p:spPr>
          <a:xfrm>
            <a:off x="677200" y="4120000"/>
            <a:ext cx="778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Familiar example: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single-qubit Pauli group {±I, ±</a:t>
            </a:r>
            <a:r>
              <a:rPr lang="en-US" sz="1400" kern="0" dirty="0" err="1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±X, ±</a:t>
            </a:r>
            <a:r>
              <a:rPr lang="en-US" sz="1400" kern="0" dirty="0" err="1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±Y, ±</a:t>
            </a:r>
            <a:r>
              <a:rPr lang="en-US" sz="1400" kern="0" dirty="0" err="1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±Z, ±</a:t>
            </a:r>
            <a:r>
              <a:rPr lang="en-US" sz="1400" kern="0" dirty="0" err="1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} is a group of order 16 under matrix multiplication.</a:t>
            </a:r>
          </a:p>
        </p:txBody>
      </p:sp>
      <p:sp>
        <p:nvSpPr>
          <p:cNvPr id="91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92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 ·  BLOCK 3</a:t>
            </a:r>
          </a:p>
        </p:txBody>
      </p:sp>
      <p:sp>
        <p:nvSpPr>
          <p:cNvPr id="28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Generators &amp; the Stabilizer Bridge</a:t>
            </a:r>
          </a:p>
        </p:txBody>
      </p:sp>
      <p:sp>
        <p:nvSpPr>
          <p:cNvPr id="29" name="lead"/>
          <p:cNvSpPr/>
          <p:nvPr/>
        </p:nvSpPr>
        <p:spPr>
          <a:xfrm>
            <a:off x="457200" y="1310000"/>
            <a:ext cx="8229600" cy="27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handful of generators specifies an entire group — and a code space.</a:t>
            </a:r>
          </a:p>
        </p:txBody>
      </p:sp>
      <p:sp>
        <p:nvSpPr>
          <p:cNvPr id="30" name="leftcard"/>
          <p:cNvSpPr/>
          <p:nvPr/>
        </p:nvSpPr>
        <p:spPr>
          <a:xfrm>
            <a:off x="457200" y="1700000"/>
            <a:ext cx="3960000" cy="228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1" name="leftcard_acc"/>
          <p:cNvSpPr/>
          <p:nvPr/>
        </p:nvSpPr>
        <p:spPr>
          <a:xfrm>
            <a:off x="457200" y="1700000"/>
            <a:ext cx="3960000" cy="82296"/>
          </a:xfrm>
          <a:prstGeom prst="rect">
            <a:avLst/>
          </a:prstGeom>
          <a:solidFill>
            <a:srgbClr val="17807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leftcard_h"/>
          <p:cNvSpPr/>
          <p:nvPr/>
        </p:nvSpPr>
        <p:spPr>
          <a:xfrm>
            <a:off x="697200" y="1850000"/>
            <a:ext cx="34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80">
                <a:solidFill>
                  <a:srgbClr val="1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</a:p>
        </p:txBody>
      </p:sp>
      <p:sp>
        <p:nvSpPr>
          <p:cNvPr id="33" name="leftcard_b"/>
          <p:cNvSpPr/>
          <p:nvPr/>
        </p:nvSpPr>
        <p:spPr>
          <a:xfrm>
            <a:off x="697200" y="2180000"/>
            <a:ext cx="348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80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⟨g₁,…,gₖ⟩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every element is a product of these few generators.</a:t>
            </a:r>
          </a:p>
          <a:p>
            <a:pPr marL="0" indent="0" algn="l">
              <a:spcAft>
                <a:spcPts val="80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generator is a product of the others.</a:t>
            </a:r>
          </a:p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generators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 group of 2ᵏ elements from binary on/off choices.</a:t>
            </a:r>
          </a:p>
        </p:txBody>
      </p:sp>
      <p:sp>
        <p:nvSpPr>
          <p:cNvPr id="34" name="rightcard"/>
          <p:cNvSpPr/>
          <p:nvPr/>
        </p:nvSpPr>
        <p:spPr>
          <a:xfrm>
            <a:off x="4727200" y="1700000"/>
            <a:ext cx="3960000" cy="228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5" name="rightcard_acc"/>
          <p:cNvSpPr/>
          <p:nvPr/>
        </p:nvSpPr>
        <p:spPr>
          <a:xfrm>
            <a:off x="4727200" y="1700000"/>
            <a:ext cx="39600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rightcard_h"/>
          <p:cNvSpPr/>
          <p:nvPr/>
        </p:nvSpPr>
        <p:spPr>
          <a:xfrm>
            <a:off x="4967200" y="1850000"/>
            <a:ext cx="34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8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ABELIAN MATTERS</a:t>
            </a:r>
          </a:p>
        </p:txBody>
      </p:sp>
      <p:sp>
        <p:nvSpPr>
          <p:cNvPr id="37" name="rightcard_b"/>
          <p:cNvSpPr/>
          <p:nvPr/>
        </p:nvSpPr>
        <p:spPr>
          <a:xfrm>
            <a:off x="4967200" y="2180000"/>
            <a:ext cx="3480000" cy="1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Commuting operators  </a:t>
            </a: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measured together and share a common set of eigenstates.</a:t>
            </a:r>
          </a:p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+1 eigenvalues  </a:t>
            </a: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generator pins down one shared subspace.</a:t>
            </a:r>
          </a:p>
        </p:txBody>
      </p:sp>
      <p:sp>
        <p:nvSpPr>
          <p:cNvPr id="38" name="ws"/>
          <p:cNvSpPr/>
          <p:nvPr/>
        </p:nvSpPr>
        <p:spPr>
          <a:xfrm>
            <a:off x="457200" y="4120000"/>
            <a:ext cx="8229600" cy="5600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" name="wsa"/>
          <p:cNvSpPr/>
          <p:nvPr/>
        </p:nvSpPr>
        <p:spPr>
          <a:xfrm>
            <a:off x="457200" y="4120000"/>
            <a:ext cx="73152" cy="56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0" name="wst"/>
          <p:cNvSpPr/>
          <p:nvPr/>
        </p:nvSpPr>
        <p:spPr>
          <a:xfrm>
            <a:off x="677200" y="4120000"/>
            <a:ext cx="778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bridge: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stabilizer group S = ⟨g₁,…,</a:t>
            </a:r>
            <a:r>
              <a:rPr lang="en-US" sz="1400" kern="0" dirty="0" err="1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g_r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⟩ is an Abelian subgroup of the Pauli group with −I ∉ S; its simultaneous +1 eigenspace is the code space.</a:t>
            </a:r>
          </a:p>
        </p:txBody>
      </p:sp>
      <p:sp>
        <p:nvSpPr>
          <p:cNvPr id="91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92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3</a:t>
            </a:r>
          </a:p>
        </p:txBody>
      </p:sp>
      <p:sp>
        <p:nvSpPr>
          <p:cNvPr id="28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Pauli Group Essentials</a:t>
            </a:r>
          </a:p>
        </p:txBody>
      </p:sp>
      <p:sp>
        <p:nvSpPr>
          <p:cNvPr id="29" name="mtcap"/>
          <p:cNvSpPr/>
          <p:nvPr/>
        </p:nvSpPr>
        <p:spPr>
          <a:xfrm>
            <a:off x="457199" y="1350000"/>
            <a:ext cx="3279941" cy="27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6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PAULI MULTIPLICATION  (row · column)</a:t>
            </a:r>
          </a:p>
        </p:txBody>
      </p:sp>
      <p:sp>
        <p:nvSpPr>
          <p:cNvPr id="30" name="mc"/>
          <p:cNvSpPr/>
          <p:nvPr/>
        </p:nvSpPr>
        <p:spPr>
          <a:xfrm>
            <a:off x="457200" y="1640000"/>
            <a:ext cx="560000" cy="330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1" name="mh0"/>
          <p:cNvSpPr/>
          <p:nvPr/>
        </p:nvSpPr>
        <p:spPr>
          <a:xfrm>
            <a:off x="1017200" y="1640000"/>
            <a:ext cx="600000" cy="330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" name="mht0"/>
          <p:cNvSpPr/>
          <p:nvPr/>
        </p:nvSpPr>
        <p:spPr>
          <a:xfrm>
            <a:off x="1017200" y="164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</a:p>
        </p:txBody>
      </p:sp>
      <p:sp>
        <p:nvSpPr>
          <p:cNvPr id="33" name="mh1"/>
          <p:cNvSpPr/>
          <p:nvPr/>
        </p:nvSpPr>
        <p:spPr>
          <a:xfrm>
            <a:off x="1617200" y="1640000"/>
            <a:ext cx="600000" cy="330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4" name="mht1"/>
          <p:cNvSpPr/>
          <p:nvPr/>
        </p:nvSpPr>
        <p:spPr>
          <a:xfrm>
            <a:off x="1617200" y="164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</a:p>
        </p:txBody>
      </p:sp>
      <p:sp>
        <p:nvSpPr>
          <p:cNvPr id="35" name="mh2"/>
          <p:cNvSpPr/>
          <p:nvPr/>
        </p:nvSpPr>
        <p:spPr>
          <a:xfrm>
            <a:off x="2217200" y="1640000"/>
            <a:ext cx="600000" cy="330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6" name="mht2"/>
          <p:cNvSpPr/>
          <p:nvPr/>
        </p:nvSpPr>
        <p:spPr>
          <a:xfrm>
            <a:off x="2217200" y="164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</a:p>
        </p:txBody>
      </p:sp>
      <p:sp>
        <p:nvSpPr>
          <p:cNvPr id="37" name="mh3"/>
          <p:cNvSpPr/>
          <p:nvPr/>
        </p:nvSpPr>
        <p:spPr>
          <a:xfrm>
            <a:off x="2817200" y="1640000"/>
            <a:ext cx="600000" cy="330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8" name="mht3"/>
          <p:cNvSpPr/>
          <p:nvPr/>
        </p:nvSpPr>
        <p:spPr>
          <a:xfrm>
            <a:off x="2817200" y="164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</a:p>
        </p:txBody>
      </p:sp>
      <p:sp>
        <p:nvSpPr>
          <p:cNvPr id="39" name="mr0"/>
          <p:cNvSpPr/>
          <p:nvPr/>
        </p:nvSpPr>
        <p:spPr>
          <a:xfrm>
            <a:off x="457200" y="1970000"/>
            <a:ext cx="560000" cy="330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0" name="mrt0"/>
          <p:cNvSpPr/>
          <p:nvPr/>
        </p:nvSpPr>
        <p:spPr>
          <a:xfrm>
            <a:off x="457200" y="1970000"/>
            <a:ext cx="56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</a:p>
        </p:txBody>
      </p:sp>
      <p:sp>
        <p:nvSpPr>
          <p:cNvPr id="41" name="md0_0"/>
          <p:cNvSpPr/>
          <p:nvPr/>
        </p:nvSpPr>
        <p:spPr>
          <a:xfrm>
            <a:off x="1017200" y="1970000"/>
            <a:ext cx="600000" cy="3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2" name="mdt0_0"/>
          <p:cNvSpPr/>
          <p:nvPr/>
        </p:nvSpPr>
        <p:spPr>
          <a:xfrm>
            <a:off x="1017200" y="197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</a:p>
        </p:txBody>
      </p:sp>
      <p:sp>
        <p:nvSpPr>
          <p:cNvPr id="43" name="md0_1"/>
          <p:cNvSpPr/>
          <p:nvPr/>
        </p:nvSpPr>
        <p:spPr>
          <a:xfrm>
            <a:off x="1617200" y="1970000"/>
            <a:ext cx="600000" cy="33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4" name="mdt0_1"/>
          <p:cNvSpPr/>
          <p:nvPr/>
        </p:nvSpPr>
        <p:spPr>
          <a:xfrm>
            <a:off x="1617200" y="197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</a:p>
        </p:txBody>
      </p:sp>
      <p:sp>
        <p:nvSpPr>
          <p:cNvPr id="45" name="md0_2"/>
          <p:cNvSpPr/>
          <p:nvPr/>
        </p:nvSpPr>
        <p:spPr>
          <a:xfrm>
            <a:off x="2217200" y="1970000"/>
            <a:ext cx="600000" cy="3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" name="mdt0_2"/>
          <p:cNvSpPr/>
          <p:nvPr/>
        </p:nvSpPr>
        <p:spPr>
          <a:xfrm>
            <a:off x="2217200" y="197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</a:p>
        </p:txBody>
      </p:sp>
      <p:sp>
        <p:nvSpPr>
          <p:cNvPr id="47" name="md0_3"/>
          <p:cNvSpPr/>
          <p:nvPr/>
        </p:nvSpPr>
        <p:spPr>
          <a:xfrm>
            <a:off x="2817200" y="1970000"/>
            <a:ext cx="600000" cy="33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8" name="mdt0_3"/>
          <p:cNvSpPr/>
          <p:nvPr/>
        </p:nvSpPr>
        <p:spPr>
          <a:xfrm>
            <a:off x="2817200" y="197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</a:p>
        </p:txBody>
      </p:sp>
      <p:sp>
        <p:nvSpPr>
          <p:cNvPr id="49" name="mr1"/>
          <p:cNvSpPr/>
          <p:nvPr/>
        </p:nvSpPr>
        <p:spPr>
          <a:xfrm>
            <a:off x="457200" y="2300000"/>
            <a:ext cx="560000" cy="330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0" name="mrt1"/>
          <p:cNvSpPr/>
          <p:nvPr/>
        </p:nvSpPr>
        <p:spPr>
          <a:xfrm>
            <a:off x="457200" y="2300000"/>
            <a:ext cx="56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</a:p>
        </p:txBody>
      </p:sp>
      <p:sp>
        <p:nvSpPr>
          <p:cNvPr id="51" name="md1_0"/>
          <p:cNvSpPr/>
          <p:nvPr/>
        </p:nvSpPr>
        <p:spPr>
          <a:xfrm>
            <a:off x="1017200" y="2300000"/>
            <a:ext cx="600000" cy="33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2" name="mdt1_0"/>
          <p:cNvSpPr/>
          <p:nvPr/>
        </p:nvSpPr>
        <p:spPr>
          <a:xfrm>
            <a:off x="1017200" y="230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</a:p>
        </p:txBody>
      </p:sp>
      <p:sp>
        <p:nvSpPr>
          <p:cNvPr id="53" name="md1_1"/>
          <p:cNvSpPr/>
          <p:nvPr/>
        </p:nvSpPr>
        <p:spPr>
          <a:xfrm>
            <a:off x="1617200" y="2300000"/>
            <a:ext cx="600000" cy="3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4" name="mdt1_1"/>
          <p:cNvSpPr/>
          <p:nvPr/>
        </p:nvSpPr>
        <p:spPr>
          <a:xfrm>
            <a:off x="1617200" y="230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</a:p>
        </p:txBody>
      </p:sp>
      <p:sp>
        <p:nvSpPr>
          <p:cNvPr id="55" name="md1_2"/>
          <p:cNvSpPr/>
          <p:nvPr/>
        </p:nvSpPr>
        <p:spPr>
          <a:xfrm>
            <a:off x="2217200" y="2300000"/>
            <a:ext cx="600000" cy="33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6" name="mdt1_2"/>
          <p:cNvSpPr/>
          <p:nvPr/>
        </p:nvSpPr>
        <p:spPr>
          <a:xfrm>
            <a:off x="2217200" y="230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</a:t>
            </a:r>
          </a:p>
        </p:txBody>
      </p:sp>
      <p:sp>
        <p:nvSpPr>
          <p:cNvPr id="57" name="md1_3"/>
          <p:cNvSpPr/>
          <p:nvPr/>
        </p:nvSpPr>
        <p:spPr>
          <a:xfrm>
            <a:off x="2817200" y="2300000"/>
            <a:ext cx="600000" cy="3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8" name="mdt1_3"/>
          <p:cNvSpPr/>
          <p:nvPr/>
        </p:nvSpPr>
        <p:spPr>
          <a:xfrm>
            <a:off x="2817200" y="230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-iY</a:t>
            </a:r>
          </a:p>
        </p:txBody>
      </p:sp>
      <p:sp>
        <p:nvSpPr>
          <p:cNvPr id="59" name="mr2"/>
          <p:cNvSpPr/>
          <p:nvPr/>
        </p:nvSpPr>
        <p:spPr>
          <a:xfrm>
            <a:off x="457200" y="2630000"/>
            <a:ext cx="560000" cy="330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60" name="mrt2"/>
          <p:cNvSpPr/>
          <p:nvPr/>
        </p:nvSpPr>
        <p:spPr>
          <a:xfrm>
            <a:off x="457200" y="2630000"/>
            <a:ext cx="56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</a:p>
        </p:txBody>
      </p:sp>
      <p:sp>
        <p:nvSpPr>
          <p:cNvPr id="61" name="md2_0"/>
          <p:cNvSpPr/>
          <p:nvPr/>
        </p:nvSpPr>
        <p:spPr>
          <a:xfrm>
            <a:off x="1017200" y="2630000"/>
            <a:ext cx="600000" cy="3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2" name="mdt2_0"/>
          <p:cNvSpPr/>
          <p:nvPr/>
        </p:nvSpPr>
        <p:spPr>
          <a:xfrm>
            <a:off x="1017200" y="263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</a:p>
        </p:txBody>
      </p:sp>
      <p:sp>
        <p:nvSpPr>
          <p:cNvPr id="63" name="md2_1"/>
          <p:cNvSpPr/>
          <p:nvPr/>
        </p:nvSpPr>
        <p:spPr>
          <a:xfrm>
            <a:off x="1617200" y="2630000"/>
            <a:ext cx="600000" cy="33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4" name="mdt2_1"/>
          <p:cNvSpPr/>
          <p:nvPr/>
        </p:nvSpPr>
        <p:spPr>
          <a:xfrm>
            <a:off x="1617200" y="263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-iZ</a:t>
            </a:r>
          </a:p>
        </p:txBody>
      </p:sp>
      <p:sp>
        <p:nvSpPr>
          <p:cNvPr id="65" name="md2_2"/>
          <p:cNvSpPr/>
          <p:nvPr/>
        </p:nvSpPr>
        <p:spPr>
          <a:xfrm>
            <a:off x="2217200" y="2630000"/>
            <a:ext cx="600000" cy="3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6" name="mdt2_2"/>
          <p:cNvSpPr/>
          <p:nvPr/>
        </p:nvSpPr>
        <p:spPr>
          <a:xfrm>
            <a:off x="2217200" y="263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</a:p>
        </p:txBody>
      </p:sp>
      <p:sp>
        <p:nvSpPr>
          <p:cNvPr id="67" name="md2_3"/>
          <p:cNvSpPr/>
          <p:nvPr/>
        </p:nvSpPr>
        <p:spPr>
          <a:xfrm>
            <a:off x="2817200" y="2630000"/>
            <a:ext cx="600000" cy="33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8" name="mdt2_3"/>
          <p:cNvSpPr/>
          <p:nvPr/>
        </p:nvSpPr>
        <p:spPr>
          <a:xfrm>
            <a:off x="2817200" y="263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</a:t>
            </a:r>
          </a:p>
        </p:txBody>
      </p:sp>
      <p:sp>
        <p:nvSpPr>
          <p:cNvPr id="69" name="mr3"/>
          <p:cNvSpPr/>
          <p:nvPr/>
        </p:nvSpPr>
        <p:spPr>
          <a:xfrm>
            <a:off x="457200" y="2960000"/>
            <a:ext cx="560000" cy="330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0" name="mrt3"/>
          <p:cNvSpPr/>
          <p:nvPr/>
        </p:nvSpPr>
        <p:spPr>
          <a:xfrm>
            <a:off x="457200" y="2960000"/>
            <a:ext cx="56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</a:p>
        </p:txBody>
      </p:sp>
      <p:sp>
        <p:nvSpPr>
          <p:cNvPr id="71" name="md3_0"/>
          <p:cNvSpPr/>
          <p:nvPr/>
        </p:nvSpPr>
        <p:spPr>
          <a:xfrm>
            <a:off x="1017200" y="2960000"/>
            <a:ext cx="600000" cy="33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2" name="mdt3_0"/>
          <p:cNvSpPr/>
          <p:nvPr/>
        </p:nvSpPr>
        <p:spPr>
          <a:xfrm>
            <a:off x="1017200" y="296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</a:p>
        </p:txBody>
      </p:sp>
      <p:sp>
        <p:nvSpPr>
          <p:cNvPr id="73" name="md3_1"/>
          <p:cNvSpPr/>
          <p:nvPr/>
        </p:nvSpPr>
        <p:spPr>
          <a:xfrm>
            <a:off x="1617200" y="2960000"/>
            <a:ext cx="600000" cy="3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4" name="mdt3_1"/>
          <p:cNvSpPr/>
          <p:nvPr/>
        </p:nvSpPr>
        <p:spPr>
          <a:xfrm>
            <a:off x="1617200" y="296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</a:t>
            </a:r>
          </a:p>
        </p:txBody>
      </p:sp>
      <p:sp>
        <p:nvSpPr>
          <p:cNvPr id="75" name="md3_2"/>
          <p:cNvSpPr/>
          <p:nvPr/>
        </p:nvSpPr>
        <p:spPr>
          <a:xfrm>
            <a:off x="2217200" y="2960000"/>
            <a:ext cx="600000" cy="33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6" name="mdt3_2"/>
          <p:cNvSpPr/>
          <p:nvPr/>
        </p:nvSpPr>
        <p:spPr>
          <a:xfrm>
            <a:off x="2217200" y="296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-iX</a:t>
            </a:r>
          </a:p>
        </p:txBody>
      </p:sp>
      <p:sp>
        <p:nvSpPr>
          <p:cNvPr id="77" name="md3_3"/>
          <p:cNvSpPr/>
          <p:nvPr/>
        </p:nvSpPr>
        <p:spPr>
          <a:xfrm>
            <a:off x="2817200" y="2960000"/>
            <a:ext cx="600000" cy="33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8" name="mdt3_3"/>
          <p:cNvSpPr/>
          <p:nvPr/>
        </p:nvSpPr>
        <p:spPr>
          <a:xfrm>
            <a:off x="2817200" y="2960000"/>
            <a:ext cx="60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</a:p>
        </p:txBody>
      </p:sp>
      <p:sp>
        <p:nvSpPr>
          <p:cNvPr id="79" name="ka"/>
          <p:cNvSpPr/>
          <p:nvPr/>
        </p:nvSpPr>
        <p:spPr>
          <a:xfrm>
            <a:off x="3760000" y="1640000"/>
            <a:ext cx="4926800" cy="9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0" name="ka_acc"/>
          <p:cNvSpPr/>
          <p:nvPr/>
        </p:nvSpPr>
        <p:spPr>
          <a:xfrm>
            <a:off x="3760000" y="1640000"/>
            <a:ext cx="4926800" cy="82296"/>
          </a:xfrm>
          <a:prstGeom prst="rect">
            <a:avLst/>
          </a:prstGeom>
          <a:solidFill>
            <a:srgbClr val="17807A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1" name="kah"/>
          <p:cNvSpPr/>
          <p:nvPr/>
        </p:nvSpPr>
        <p:spPr>
          <a:xfrm>
            <a:off x="4000000" y="1770000"/>
            <a:ext cx="444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80">
                <a:solidFill>
                  <a:srgbClr val="1780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SQUARES &amp; CYCLE</a:t>
            </a:r>
          </a:p>
        </p:txBody>
      </p:sp>
      <p:sp>
        <p:nvSpPr>
          <p:cNvPr id="82" name="kab"/>
          <p:cNvSpPr/>
          <p:nvPr/>
        </p:nvSpPr>
        <p:spPr>
          <a:xfrm>
            <a:off x="4000000" y="2060000"/>
            <a:ext cx="44468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20"/>
              </a:spcAft>
              <a:buNone/>
            </a:pPr>
            <a:r>
              <a:rPr lang="en-US" sz="16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X² = Y² = Z² = I</a:t>
            </a:r>
          </a:p>
          <a:p>
            <a:pPr marL="0" indent="0" algn="l">
              <a:buNone/>
            </a:pPr>
            <a:r>
              <a:rPr lang="en-US" sz="16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 = </a:t>
            </a:r>
            <a:r>
              <a:rPr lang="en-US" sz="1600" b="1" kern="0" dirty="0" err="1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</a:t>
            </a:r>
            <a:r>
              <a:rPr lang="en-US" sz="16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  YZ = </a:t>
            </a:r>
            <a:r>
              <a:rPr lang="en-US" sz="1600" b="1" kern="0" dirty="0" err="1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</a:t>
            </a:r>
            <a:r>
              <a:rPr lang="en-US" sz="16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,   ZX = </a:t>
            </a:r>
            <a:r>
              <a:rPr lang="en-US" sz="1600" b="1" kern="0" dirty="0" err="1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iY</a:t>
            </a:r>
            <a:endParaRPr lang="en-US" sz="1600" b="1" kern="0" dirty="0">
              <a:solidFill>
                <a:srgbClr val="1B3A5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83" name="ac"/>
          <p:cNvSpPr/>
          <p:nvPr/>
        </p:nvSpPr>
        <p:spPr>
          <a:xfrm>
            <a:off x="3737141" y="2660000"/>
            <a:ext cx="4926800" cy="85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4" name="ac_acc"/>
          <p:cNvSpPr/>
          <p:nvPr/>
        </p:nvSpPr>
        <p:spPr>
          <a:xfrm>
            <a:off x="3737141" y="2607704"/>
            <a:ext cx="4926800" cy="822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5" name="ach"/>
          <p:cNvSpPr/>
          <p:nvPr/>
        </p:nvSpPr>
        <p:spPr>
          <a:xfrm>
            <a:off x="4000000" y="2660000"/>
            <a:ext cx="444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8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ANTI-COMMUTATION</a:t>
            </a:r>
          </a:p>
        </p:txBody>
      </p:sp>
      <p:sp>
        <p:nvSpPr>
          <p:cNvPr id="86" name="acb"/>
          <p:cNvSpPr/>
          <p:nvPr/>
        </p:nvSpPr>
        <p:spPr>
          <a:xfrm>
            <a:off x="4000000" y="2940000"/>
            <a:ext cx="4446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 = −YX ,   YZ = −ZY ,   ZX = −XZ</a:t>
            </a:r>
          </a:p>
        </p:txBody>
      </p:sp>
      <p:sp>
        <p:nvSpPr>
          <p:cNvPr id="87" name="acn"/>
          <p:cNvSpPr/>
          <p:nvPr/>
        </p:nvSpPr>
        <p:spPr>
          <a:xfrm>
            <a:off x="4000000" y="3198032"/>
            <a:ext cx="44468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i="1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stabilizers must commute to share +1 eigenstates.</a:t>
            </a:r>
          </a:p>
        </p:txBody>
      </p:sp>
      <p:sp>
        <p:nvSpPr>
          <p:cNvPr id="88" name="ws"/>
          <p:cNvSpPr/>
          <p:nvPr/>
        </p:nvSpPr>
        <p:spPr>
          <a:xfrm>
            <a:off x="457200" y="3560000"/>
            <a:ext cx="8229600" cy="5600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9" name="wsa"/>
          <p:cNvSpPr/>
          <p:nvPr/>
        </p:nvSpPr>
        <p:spPr>
          <a:xfrm>
            <a:off x="457200" y="3560000"/>
            <a:ext cx="73152" cy="56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0" name="wst"/>
          <p:cNvSpPr/>
          <p:nvPr/>
        </p:nvSpPr>
        <p:spPr>
          <a:xfrm>
            <a:off x="677200" y="3560000"/>
            <a:ext cx="778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number of non-identity factors.    Example:   </a:t>
            </a:r>
            <a:r>
              <a:rPr lang="en-US" sz="1400" b="1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⊗</a:t>
            </a:r>
            <a:r>
              <a:rPr lang="en-US" sz="1400" b="1" kern="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⊗</a:t>
            </a:r>
            <a:r>
              <a:rPr lang="en-US" sz="1400" b="1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⊗</a:t>
            </a:r>
            <a:r>
              <a:rPr lang="en-US" sz="1400" b="1" kern="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→   weight 2</a:t>
            </a:r>
          </a:p>
        </p:txBody>
      </p:sp>
      <p:sp>
        <p:nvSpPr>
          <p:cNvPr id="91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92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3</a:t>
            </a:r>
          </a:p>
        </p:txBody>
      </p:sp>
      <p:sp>
        <p:nvSpPr>
          <p:cNvPr id="94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Stabilizer Generators: Definition</a:t>
            </a:r>
          </a:p>
        </p:txBody>
      </p:sp>
      <p:sp>
        <p:nvSpPr>
          <p:cNvPr id="95" name="def"/>
          <p:cNvSpPr/>
          <p:nvPr/>
        </p:nvSpPr>
        <p:spPr>
          <a:xfrm>
            <a:off x="457200" y="1380000"/>
            <a:ext cx="8229600" cy="47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6" name="deft"/>
          <p:cNvSpPr/>
          <p:nvPr/>
        </p:nvSpPr>
        <p:spPr>
          <a:xfrm>
            <a:off x="697200" y="1380000"/>
            <a:ext cx="77496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stabilizer code is fixed by Pauli generators  </a:t>
            </a:r>
            <a:r>
              <a:rPr lang="en-US" sz="14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P₁, … , Pᵣ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obeying three conditions.</a:t>
            </a:r>
          </a:p>
        </p:txBody>
      </p:sp>
      <p:sp>
        <p:nvSpPr>
          <p:cNvPr id="97" name="cd0"/>
          <p:cNvSpPr/>
          <p:nvPr/>
        </p:nvSpPr>
        <p:spPr>
          <a:xfrm>
            <a:off x="457200" y="1980000"/>
            <a:ext cx="2643200" cy="15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8" name="cd0_acc"/>
          <p:cNvSpPr/>
          <p:nvPr/>
        </p:nvSpPr>
        <p:spPr>
          <a:xfrm>
            <a:off x="457200" y="1980000"/>
            <a:ext cx="2643200" cy="82296"/>
          </a:xfrm>
          <a:prstGeom prst="rect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9" name="chip"/>
          <p:cNvSpPr/>
          <p:nvPr/>
        </p:nvSpPr>
        <p:spPr>
          <a:xfrm>
            <a:off x="1628800" y="2130000"/>
            <a:ext cx="300000" cy="30000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0" name="chipn"/>
          <p:cNvSpPr/>
          <p:nvPr/>
        </p:nvSpPr>
        <p:spPr>
          <a:xfrm>
            <a:off x="1628800" y="213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101" name="cdt0"/>
          <p:cNvSpPr/>
          <p:nvPr/>
        </p:nvSpPr>
        <p:spPr>
          <a:xfrm>
            <a:off x="577200" y="2500000"/>
            <a:ext cx="2403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commute</a:t>
            </a:r>
          </a:p>
        </p:txBody>
      </p:sp>
      <p:sp>
        <p:nvSpPr>
          <p:cNvPr id="102" name="cdd0"/>
          <p:cNvSpPr/>
          <p:nvPr/>
        </p:nvSpPr>
        <p:spPr>
          <a:xfrm>
            <a:off x="607200" y="2840000"/>
            <a:ext cx="23432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PⱼPₖ = PₖPⱼ for all j, k — so simultaneous +1 eigenstates exist.</a:t>
            </a:r>
          </a:p>
        </p:txBody>
      </p:sp>
      <p:sp>
        <p:nvSpPr>
          <p:cNvPr id="103" name="cd1"/>
          <p:cNvSpPr/>
          <p:nvPr/>
        </p:nvSpPr>
        <p:spPr>
          <a:xfrm>
            <a:off x="3250400" y="1980000"/>
            <a:ext cx="2643200" cy="15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4" name="cd1_acc"/>
          <p:cNvSpPr/>
          <p:nvPr/>
        </p:nvSpPr>
        <p:spPr>
          <a:xfrm>
            <a:off x="3250400" y="1980000"/>
            <a:ext cx="26432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5" name="chip"/>
          <p:cNvSpPr/>
          <p:nvPr/>
        </p:nvSpPr>
        <p:spPr>
          <a:xfrm>
            <a:off x="4422000" y="2130000"/>
            <a:ext cx="300000" cy="30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06" name="chipn"/>
          <p:cNvSpPr/>
          <p:nvPr/>
        </p:nvSpPr>
        <p:spPr>
          <a:xfrm>
            <a:off x="4422000" y="213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07" name="cdt1"/>
          <p:cNvSpPr/>
          <p:nvPr/>
        </p:nvSpPr>
        <p:spPr>
          <a:xfrm>
            <a:off x="3370400" y="2500000"/>
            <a:ext cx="2403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set</a:t>
            </a:r>
          </a:p>
        </p:txBody>
      </p:sp>
      <p:sp>
        <p:nvSpPr>
          <p:cNvPr id="108" name="cdd1"/>
          <p:cNvSpPr/>
          <p:nvPr/>
        </p:nvSpPr>
        <p:spPr>
          <a:xfrm>
            <a:off x="3400400" y="2840000"/>
            <a:ext cx="23432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generator is a product of the others — no redundancy.</a:t>
            </a:r>
          </a:p>
        </p:txBody>
      </p:sp>
      <p:sp>
        <p:nvSpPr>
          <p:cNvPr id="109" name="cd2"/>
          <p:cNvSpPr/>
          <p:nvPr/>
        </p:nvSpPr>
        <p:spPr>
          <a:xfrm>
            <a:off x="6043600" y="1980000"/>
            <a:ext cx="2643200" cy="15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10" name="cd2_acc"/>
          <p:cNvSpPr/>
          <p:nvPr/>
        </p:nvSpPr>
        <p:spPr>
          <a:xfrm>
            <a:off x="6043600" y="1980000"/>
            <a:ext cx="2643200" cy="82296"/>
          </a:xfrm>
          <a:prstGeom prst="rect">
            <a:avLst/>
          </a:prstGeom>
          <a:solidFill>
            <a:srgbClr val="5B2C6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1" name="chip"/>
          <p:cNvSpPr/>
          <p:nvPr/>
        </p:nvSpPr>
        <p:spPr>
          <a:xfrm>
            <a:off x="7215200" y="2130000"/>
            <a:ext cx="300000" cy="300000"/>
          </a:xfrm>
          <a:prstGeom prst="ellipse">
            <a:avLst/>
          </a:prstGeom>
          <a:solidFill>
            <a:srgbClr val="5B2C6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2" name="chipn"/>
          <p:cNvSpPr/>
          <p:nvPr/>
        </p:nvSpPr>
        <p:spPr>
          <a:xfrm>
            <a:off x="7215200" y="2130000"/>
            <a:ext cx="3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113" name="cdt2"/>
          <p:cNvSpPr/>
          <p:nvPr/>
        </p:nvSpPr>
        <p:spPr>
          <a:xfrm>
            <a:off x="6163600" y="2500000"/>
            <a:ext cx="2403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−I ∉ ⟨P⟩</a:t>
            </a:r>
          </a:p>
        </p:txBody>
      </p:sp>
      <p:sp>
        <p:nvSpPr>
          <p:cNvPr id="114" name="cdd2"/>
          <p:cNvSpPr/>
          <p:nvPr/>
        </p:nvSpPr>
        <p:spPr>
          <a:xfrm>
            <a:off x="6193600" y="2840000"/>
            <a:ext cx="23432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−I⊗ⁿ is excluded — at least one state is fixed by all.</a:t>
            </a:r>
          </a:p>
        </p:txBody>
      </p:sp>
      <p:sp>
        <p:nvSpPr>
          <p:cNvPr id="115" name="cs"/>
          <p:cNvSpPr/>
          <p:nvPr/>
        </p:nvSpPr>
        <p:spPr>
          <a:xfrm>
            <a:off x="457200" y="3620000"/>
            <a:ext cx="4039800" cy="56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cs_acc"/>
          <p:cNvSpPr/>
          <p:nvPr/>
        </p:nvSpPr>
        <p:spPr>
          <a:xfrm>
            <a:off x="457200" y="3620000"/>
            <a:ext cx="40398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7" name="cst"/>
          <p:cNvSpPr/>
          <p:nvPr/>
        </p:nvSpPr>
        <p:spPr>
          <a:xfrm>
            <a:off x="677200" y="3620000"/>
            <a:ext cx="35998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space   </a:t>
            </a: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= { |ψ⟩ : Pⱼ|ψ⟩ = |ψ⟩  ∀ j }</a:t>
            </a:r>
          </a:p>
        </p:txBody>
      </p:sp>
      <p:sp>
        <p:nvSpPr>
          <p:cNvPr id="118" name="gs"/>
          <p:cNvSpPr/>
          <p:nvPr/>
        </p:nvSpPr>
        <p:spPr>
          <a:xfrm>
            <a:off x="4647000" y="3620000"/>
            <a:ext cx="4039800" cy="56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gs_acc"/>
          <p:cNvSpPr/>
          <p:nvPr/>
        </p:nvSpPr>
        <p:spPr>
          <a:xfrm>
            <a:off x="4647000" y="3620000"/>
            <a:ext cx="40398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gst"/>
          <p:cNvSpPr/>
          <p:nvPr/>
        </p:nvSpPr>
        <p:spPr>
          <a:xfrm>
            <a:off x="4867000" y="3620000"/>
            <a:ext cx="35998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Stabilizer group   </a:t>
            </a: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= ⟨ P₁, … , Pᵣ ⟩</a:t>
            </a:r>
          </a:p>
        </p:txBody>
      </p:sp>
      <p:sp>
        <p:nvSpPr>
          <p:cNvPr id="121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22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3</a:t>
            </a:r>
          </a:p>
        </p:txBody>
      </p:sp>
      <p:sp>
        <p:nvSpPr>
          <p:cNvPr id="124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Examples of Stabilizer Codes</a:t>
            </a:r>
          </a:p>
        </p:txBody>
      </p:sp>
      <p:sp>
        <p:nvSpPr>
          <p:cNvPr id="125" name="intro"/>
          <p:cNvSpPr/>
          <p:nvPr/>
        </p:nvSpPr>
        <p:spPr>
          <a:xfrm>
            <a:off x="457200" y="129008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language, many codes — each specified by a handful of commuting Pauli generators.</a:t>
            </a:r>
          </a:p>
        </p:txBody>
      </p:sp>
      <p:sp>
        <p:nvSpPr>
          <p:cNvPr id="126" name="th"/>
          <p:cNvSpPr/>
          <p:nvPr/>
        </p:nvSpPr>
        <p:spPr>
          <a:xfrm>
            <a:off x="457200" y="1680000"/>
            <a:ext cx="1740000" cy="44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27" name="tht"/>
          <p:cNvSpPr/>
          <p:nvPr/>
        </p:nvSpPr>
        <p:spPr>
          <a:xfrm>
            <a:off x="547200" y="1680000"/>
            <a:ext cx="15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</a:p>
        </p:txBody>
      </p:sp>
      <p:sp>
        <p:nvSpPr>
          <p:cNvPr id="128" name="th"/>
          <p:cNvSpPr/>
          <p:nvPr/>
        </p:nvSpPr>
        <p:spPr>
          <a:xfrm>
            <a:off x="2197200" y="1680000"/>
            <a:ext cx="3560000" cy="44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129" name="tht"/>
          <p:cNvSpPr/>
          <p:nvPr/>
        </p:nvSpPr>
        <p:spPr>
          <a:xfrm>
            <a:off x="2287200" y="1680000"/>
            <a:ext cx="338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GENERATORS</a:t>
            </a:r>
          </a:p>
        </p:txBody>
      </p:sp>
      <p:sp>
        <p:nvSpPr>
          <p:cNvPr id="130" name="th"/>
          <p:cNvSpPr/>
          <p:nvPr/>
        </p:nvSpPr>
        <p:spPr>
          <a:xfrm>
            <a:off x="5757200" y="1680000"/>
            <a:ext cx="1280000" cy="44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31" name="tht"/>
          <p:cNvSpPr/>
          <p:nvPr/>
        </p:nvSpPr>
        <p:spPr>
          <a:xfrm>
            <a:off x="5847200" y="1680000"/>
            <a:ext cx="110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</a:p>
        </p:txBody>
      </p:sp>
      <p:sp>
        <p:nvSpPr>
          <p:cNvPr id="132" name="th"/>
          <p:cNvSpPr/>
          <p:nvPr/>
        </p:nvSpPr>
        <p:spPr>
          <a:xfrm>
            <a:off x="7037200" y="1680000"/>
            <a:ext cx="1649600" cy="44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33" name="tht"/>
          <p:cNvSpPr/>
          <p:nvPr/>
        </p:nvSpPr>
        <p:spPr>
          <a:xfrm>
            <a:off x="7127200" y="1680000"/>
            <a:ext cx="14696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6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</a:p>
        </p:txBody>
      </p:sp>
      <p:sp>
        <p:nvSpPr>
          <p:cNvPr id="134" name="td"/>
          <p:cNvSpPr/>
          <p:nvPr/>
        </p:nvSpPr>
        <p:spPr>
          <a:xfrm>
            <a:off x="457200" y="2120000"/>
            <a:ext cx="1740000" cy="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35" name="tdt"/>
          <p:cNvSpPr/>
          <p:nvPr/>
        </p:nvSpPr>
        <p:spPr>
          <a:xfrm>
            <a:off x="567200" y="2120000"/>
            <a:ext cx="15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3-Qubit Bit-Flip</a:t>
            </a:r>
          </a:p>
        </p:txBody>
      </p:sp>
      <p:sp>
        <p:nvSpPr>
          <p:cNvPr id="136" name="td"/>
          <p:cNvSpPr/>
          <p:nvPr/>
        </p:nvSpPr>
        <p:spPr>
          <a:xfrm>
            <a:off x="2197200" y="2120000"/>
            <a:ext cx="3560000" cy="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6000"/>
          </a:p>
        </p:txBody>
      </p:sp>
      <p:sp>
        <p:nvSpPr>
          <p:cNvPr id="137" name="tdt"/>
          <p:cNvSpPr/>
          <p:nvPr/>
        </p:nvSpPr>
        <p:spPr>
          <a:xfrm>
            <a:off x="2307200" y="2120000"/>
            <a:ext cx="33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Z⊗Z⊗I ,  I⊗Z⊗Z</a:t>
            </a:r>
          </a:p>
        </p:txBody>
      </p:sp>
      <p:sp>
        <p:nvSpPr>
          <p:cNvPr id="138" name="td"/>
          <p:cNvSpPr/>
          <p:nvPr/>
        </p:nvSpPr>
        <p:spPr>
          <a:xfrm>
            <a:off x="5757200" y="2120000"/>
            <a:ext cx="1280000" cy="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39" name="tdt"/>
          <p:cNvSpPr/>
          <p:nvPr/>
        </p:nvSpPr>
        <p:spPr>
          <a:xfrm>
            <a:off x="5817200" y="2120000"/>
            <a:ext cx="11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[[3,1,1]]</a:t>
            </a:r>
          </a:p>
        </p:txBody>
      </p:sp>
      <p:sp>
        <p:nvSpPr>
          <p:cNvPr id="140" name="td"/>
          <p:cNvSpPr/>
          <p:nvPr/>
        </p:nvSpPr>
        <p:spPr>
          <a:xfrm>
            <a:off x="7037200" y="2120000"/>
            <a:ext cx="1649600" cy="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1" name="tdt"/>
          <p:cNvSpPr/>
          <p:nvPr/>
        </p:nvSpPr>
        <p:spPr>
          <a:xfrm>
            <a:off x="7097200" y="2120000"/>
            <a:ext cx="15296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</a:p>
        </p:txBody>
      </p:sp>
      <p:sp>
        <p:nvSpPr>
          <p:cNvPr id="142" name="td"/>
          <p:cNvSpPr/>
          <p:nvPr/>
        </p:nvSpPr>
        <p:spPr>
          <a:xfrm>
            <a:off x="457200" y="2560000"/>
            <a:ext cx="1740000" cy="4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3" name="tdt"/>
          <p:cNvSpPr/>
          <p:nvPr/>
        </p:nvSpPr>
        <p:spPr>
          <a:xfrm>
            <a:off x="567200" y="2560000"/>
            <a:ext cx="15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Phase-Flip</a:t>
            </a:r>
          </a:p>
        </p:txBody>
      </p:sp>
      <p:sp>
        <p:nvSpPr>
          <p:cNvPr id="144" name="td"/>
          <p:cNvSpPr/>
          <p:nvPr/>
        </p:nvSpPr>
        <p:spPr>
          <a:xfrm>
            <a:off x="2197200" y="2560000"/>
            <a:ext cx="3560000" cy="4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6000"/>
          </a:p>
        </p:txBody>
      </p:sp>
      <p:sp>
        <p:nvSpPr>
          <p:cNvPr id="145" name="tdt"/>
          <p:cNvSpPr/>
          <p:nvPr/>
        </p:nvSpPr>
        <p:spPr>
          <a:xfrm>
            <a:off x="2307200" y="2560000"/>
            <a:ext cx="33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X⊗X⊗I ,  I⊗X⊗X</a:t>
            </a:r>
          </a:p>
        </p:txBody>
      </p:sp>
      <p:sp>
        <p:nvSpPr>
          <p:cNvPr id="146" name="td"/>
          <p:cNvSpPr/>
          <p:nvPr/>
        </p:nvSpPr>
        <p:spPr>
          <a:xfrm>
            <a:off x="5757200" y="2560000"/>
            <a:ext cx="1280000" cy="4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7" name="tdt"/>
          <p:cNvSpPr/>
          <p:nvPr/>
        </p:nvSpPr>
        <p:spPr>
          <a:xfrm>
            <a:off x="5817200" y="2560000"/>
            <a:ext cx="11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[[3,1,1]]</a:t>
            </a:r>
          </a:p>
        </p:txBody>
      </p:sp>
      <p:sp>
        <p:nvSpPr>
          <p:cNvPr id="148" name="td"/>
          <p:cNvSpPr/>
          <p:nvPr/>
        </p:nvSpPr>
        <p:spPr>
          <a:xfrm>
            <a:off x="7037200" y="2560000"/>
            <a:ext cx="1649600" cy="4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49" name="tdt"/>
          <p:cNvSpPr/>
          <p:nvPr/>
        </p:nvSpPr>
        <p:spPr>
          <a:xfrm>
            <a:off x="7097200" y="2560000"/>
            <a:ext cx="15296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</a:p>
        </p:txBody>
      </p:sp>
      <p:sp>
        <p:nvSpPr>
          <p:cNvPr id="150" name="td"/>
          <p:cNvSpPr/>
          <p:nvPr/>
        </p:nvSpPr>
        <p:spPr>
          <a:xfrm>
            <a:off x="457200" y="3000000"/>
            <a:ext cx="1740000" cy="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1" name="tdt"/>
          <p:cNvSpPr/>
          <p:nvPr/>
        </p:nvSpPr>
        <p:spPr>
          <a:xfrm>
            <a:off x="567200" y="3000000"/>
            <a:ext cx="15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9-Qubit Shor</a:t>
            </a:r>
          </a:p>
        </p:txBody>
      </p:sp>
      <p:sp>
        <p:nvSpPr>
          <p:cNvPr id="152" name="td"/>
          <p:cNvSpPr/>
          <p:nvPr/>
        </p:nvSpPr>
        <p:spPr>
          <a:xfrm>
            <a:off x="2197200" y="3000000"/>
            <a:ext cx="3560000" cy="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6000"/>
          </a:p>
        </p:txBody>
      </p:sp>
      <p:sp>
        <p:nvSpPr>
          <p:cNvPr id="153" name="tdt"/>
          <p:cNvSpPr/>
          <p:nvPr/>
        </p:nvSpPr>
        <p:spPr>
          <a:xfrm>
            <a:off x="2307200" y="3000000"/>
            <a:ext cx="33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Z-type  +  2 X-type</a:t>
            </a:r>
          </a:p>
        </p:txBody>
      </p:sp>
      <p:sp>
        <p:nvSpPr>
          <p:cNvPr id="154" name="td"/>
          <p:cNvSpPr/>
          <p:nvPr/>
        </p:nvSpPr>
        <p:spPr>
          <a:xfrm>
            <a:off x="5757200" y="3000000"/>
            <a:ext cx="1280000" cy="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5" name="tdt"/>
          <p:cNvSpPr/>
          <p:nvPr/>
        </p:nvSpPr>
        <p:spPr>
          <a:xfrm>
            <a:off x="5817200" y="3000000"/>
            <a:ext cx="11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[[9,1,3]]</a:t>
            </a:r>
          </a:p>
        </p:txBody>
      </p:sp>
      <p:sp>
        <p:nvSpPr>
          <p:cNvPr id="156" name="td"/>
          <p:cNvSpPr/>
          <p:nvPr/>
        </p:nvSpPr>
        <p:spPr>
          <a:xfrm>
            <a:off x="7037200" y="3000000"/>
            <a:ext cx="1649600" cy="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57" name="tdt"/>
          <p:cNvSpPr/>
          <p:nvPr/>
        </p:nvSpPr>
        <p:spPr>
          <a:xfrm>
            <a:off x="7097200" y="3000000"/>
            <a:ext cx="15296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</a:p>
        </p:txBody>
      </p:sp>
      <p:sp>
        <p:nvSpPr>
          <p:cNvPr id="158" name="td"/>
          <p:cNvSpPr/>
          <p:nvPr/>
        </p:nvSpPr>
        <p:spPr>
          <a:xfrm>
            <a:off x="457200" y="3440000"/>
            <a:ext cx="1740000" cy="4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59" name="tdt"/>
          <p:cNvSpPr/>
          <p:nvPr/>
        </p:nvSpPr>
        <p:spPr>
          <a:xfrm>
            <a:off x="567200" y="3440000"/>
            <a:ext cx="15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7-Qubit Steane</a:t>
            </a:r>
          </a:p>
        </p:txBody>
      </p:sp>
      <p:sp>
        <p:nvSpPr>
          <p:cNvPr id="160" name="td"/>
          <p:cNvSpPr/>
          <p:nvPr/>
        </p:nvSpPr>
        <p:spPr>
          <a:xfrm>
            <a:off x="2197200" y="3440000"/>
            <a:ext cx="3560000" cy="4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6000"/>
          </a:p>
        </p:txBody>
      </p:sp>
      <p:sp>
        <p:nvSpPr>
          <p:cNvPr id="161" name="tdt"/>
          <p:cNvSpPr/>
          <p:nvPr/>
        </p:nvSpPr>
        <p:spPr>
          <a:xfrm>
            <a:off x="2307200" y="3440000"/>
            <a:ext cx="33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ZZZZIII, ZZIIZZI, ZIZIZIZ  +  3 X-type</a:t>
            </a:r>
          </a:p>
        </p:txBody>
      </p:sp>
      <p:sp>
        <p:nvSpPr>
          <p:cNvPr id="162" name="td"/>
          <p:cNvSpPr/>
          <p:nvPr/>
        </p:nvSpPr>
        <p:spPr>
          <a:xfrm>
            <a:off x="5757200" y="3440000"/>
            <a:ext cx="1280000" cy="4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3" name="tdt"/>
          <p:cNvSpPr/>
          <p:nvPr/>
        </p:nvSpPr>
        <p:spPr>
          <a:xfrm>
            <a:off x="5817200" y="3440000"/>
            <a:ext cx="11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[[7,1,3]]</a:t>
            </a:r>
          </a:p>
        </p:txBody>
      </p:sp>
      <p:sp>
        <p:nvSpPr>
          <p:cNvPr id="164" name="td"/>
          <p:cNvSpPr/>
          <p:nvPr/>
        </p:nvSpPr>
        <p:spPr>
          <a:xfrm>
            <a:off x="7037200" y="3440000"/>
            <a:ext cx="1649600" cy="4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65" name="tdt"/>
          <p:cNvSpPr/>
          <p:nvPr/>
        </p:nvSpPr>
        <p:spPr>
          <a:xfrm>
            <a:off x="7097200" y="3440000"/>
            <a:ext cx="15296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</a:p>
        </p:txBody>
      </p:sp>
      <p:sp>
        <p:nvSpPr>
          <p:cNvPr id="166" name="td"/>
          <p:cNvSpPr/>
          <p:nvPr/>
        </p:nvSpPr>
        <p:spPr>
          <a:xfrm>
            <a:off x="457200" y="3880000"/>
            <a:ext cx="1740000" cy="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7" name="tdt"/>
          <p:cNvSpPr/>
          <p:nvPr/>
        </p:nvSpPr>
        <p:spPr>
          <a:xfrm>
            <a:off x="567200" y="3880000"/>
            <a:ext cx="15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5-Qubit Code</a:t>
            </a:r>
          </a:p>
        </p:txBody>
      </p:sp>
      <p:sp>
        <p:nvSpPr>
          <p:cNvPr id="168" name="td"/>
          <p:cNvSpPr/>
          <p:nvPr/>
        </p:nvSpPr>
        <p:spPr>
          <a:xfrm>
            <a:off x="2197200" y="3880000"/>
            <a:ext cx="3560000" cy="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6000"/>
          </a:p>
        </p:txBody>
      </p:sp>
      <p:sp>
        <p:nvSpPr>
          <p:cNvPr id="169" name="tdt"/>
          <p:cNvSpPr/>
          <p:nvPr/>
        </p:nvSpPr>
        <p:spPr>
          <a:xfrm>
            <a:off x="2307200" y="3880000"/>
            <a:ext cx="33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XZZXI, IXZZX, XIXZZ, ZXIXZ</a:t>
            </a:r>
          </a:p>
        </p:txBody>
      </p:sp>
      <p:sp>
        <p:nvSpPr>
          <p:cNvPr id="170" name="td"/>
          <p:cNvSpPr/>
          <p:nvPr/>
        </p:nvSpPr>
        <p:spPr>
          <a:xfrm>
            <a:off x="5757200" y="3880000"/>
            <a:ext cx="1280000" cy="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1" name="tdt"/>
          <p:cNvSpPr/>
          <p:nvPr/>
        </p:nvSpPr>
        <p:spPr>
          <a:xfrm>
            <a:off x="5817200" y="3880000"/>
            <a:ext cx="11600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[[5,1,3]]</a:t>
            </a:r>
          </a:p>
        </p:txBody>
      </p:sp>
      <p:sp>
        <p:nvSpPr>
          <p:cNvPr id="172" name="td"/>
          <p:cNvSpPr/>
          <p:nvPr/>
        </p:nvSpPr>
        <p:spPr>
          <a:xfrm>
            <a:off x="7037200" y="3880000"/>
            <a:ext cx="1649600" cy="44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173" name="tdt"/>
          <p:cNvSpPr/>
          <p:nvPr/>
        </p:nvSpPr>
        <p:spPr>
          <a:xfrm>
            <a:off x="7097200" y="3880000"/>
            <a:ext cx="15296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non-CSS</a:t>
            </a:r>
          </a:p>
        </p:txBody>
      </p:sp>
      <p:sp>
        <p:nvSpPr>
          <p:cNvPr id="174" name="note"/>
          <p:cNvSpPr/>
          <p:nvPr/>
        </p:nvSpPr>
        <p:spPr>
          <a:xfrm>
            <a:off x="457200" y="4360000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1400" b="1" kern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5-qubit code</a:t>
            </a: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smallest [[n,1,3]] code — but needs Y-type generators, so it is </a:t>
            </a:r>
            <a:r>
              <a:rPr lang="en-US" sz="1400" b="1" kern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CSS.</a:t>
            </a:r>
          </a:p>
        </p:txBody>
      </p:sp>
      <p:sp>
        <p:nvSpPr>
          <p:cNvPr id="175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76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3</a:t>
            </a:r>
          </a:p>
        </p:txBody>
      </p:sp>
      <p:sp>
        <p:nvSpPr>
          <p:cNvPr id="178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Detection via Stabilizers</a:t>
            </a:r>
          </a:p>
        </p:txBody>
      </p:sp>
      <p:sp>
        <p:nvSpPr>
          <p:cNvPr id="179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E meets the stabilizers in one of three ways — measure the generators to tell which.</a:t>
            </a:r>
          </a:p>
        </p:txBody>
      </p:sp>
      <p:sp>
        <p:nvSpPr>
          <p:cNvPr id="180" name="cs0h"/>
          <p:cNvSpPr/>
          <p:nvPr/>
        </p:nvSpPr>
        <p:spPr>
          <a:xfrm>
            <a:off x="457200" y="1820000"/>
            <a:ext cx="2643200" cy="40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1" name="cs0ht"/>
          <p:cNvSpPr/>
          <p:nvPr/>
        </p:nvSpPr>
        <p:spPr>
          <a:xfrm>
            <a:off x="457200" y="1820000"/>
            <a:ext cx="2643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1</a:t>
            </a:r>
          </a:p>
        </p:txBody>
      </p:sp>
      <p:sp>
        <p:nvSpPr>
          <p:cNvPr id="182" name="cs0b"/>
          <p:cNvSpPr/>
          <p:nvPr/>
        </p:nvSpPr>
        <p:spPr>
          <a:xfrm>
            <a:off x="457200" y="2220000"/>
            <a:ext cx="2643200" cy="12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3" name="csc0"/>
          <p:cNvSpPr/>
          <p:nvPr/>
        </p:nvSpPr>
        <p:spPr>
          <a:xfrm>
            <a:off x="587200" y="2310000"/>
            <a:ext cx="23832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∈ S</a:t>
            </a:r>
          </a:p>
        </p:txBody>
      </p:sp>
      <p:sp>
        <p:nvSpPr>
          <p:cNvPr id="184" name="csd0"/>
          <p:cNvSpPr/>
          <p:nvPr/>
        </p:nvSpPr>
        <p:spPr>
          <a:xfrm>
            <a:off x="607200" y="2700000"/>
            <a:ext cx="234320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acts trivially on the code space.</a:t>
            </a:r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2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 (+1, … , +1) — harmless.</a:t>
            </a:r>
          </a:p>
        </p:txBody>
      </p:sp>
      <p:sp>
        <p:nvSpPr>
          <p:cNvPr id="185" name="cs1h"/>
          <p:cNvSpPr/>
          <p:nvPr/>
        </p:nvSpPr>
        <p:spPr>
          <a:xfrm>
            <a:off x="3250400" y="1820000"/>
            <a:ext cx="2643200" cy="400000"/>
          </a:xfrm>
          <a:prstGeom prst="rect">
            <a:avLst/>
          </a:prstGeom>
          <a:solidFill>
            <a:srgbClr val="E0A80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6" name="cs1ht"/>
          <p:cNvSpPr/>
          <p:nvPr/>
        </p:nvSpPr>
        <p:spPr>
          <a:xfrm>
            <a:off x="3250400" y="1820000"/>
            <a:ext cx="2643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2</a:t>
            </a:r>
          </a:p>
        </p:txBody>
      </p:sp>
      <p:sp>
        <p:nvSpPr>
          <p:cNvPr id="187" name="cs1b"/>
          <p:cNvSpPr/>
          <p:nvPr/>
        </p:nvSpPr>
        <p:spPr>
          <a:xfrm>
            <a:off x="3250400" y="2220000"/>
            <a:ext cx="2643200" cy="12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8" name="csc1"/>
          <p:cNvSpPr/>
          <p:nvPr/>
        </p:nvSpPr>
        <p:spPr>
          <a:xfrm>
            <a:off x="3380400" y="2310000"/>
            <a:ext cx="23832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>
                <a:solidFill>
                  <a:srgbClr val="E0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∉ S, but commutes</a:t>
            </a:r>
          </a:p>
        </p:txBody>
      </p:sp>
      <p:sp>
        <p:nvSpPr>
          <p:cNvPr id="189" name="csd1"/>
          <p:cNvSpPr/>
          <p:nvPr/>
        </p:nvSpPr>
        <p:spPr>
          <a:xfrm>
            <a:off x="3400400" y="2700000"/>
            <a:ext cx="234320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Slips past every check, yet corrupts the data.</a:t>
            </a:r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logical operator — its weight sets the distance.</a:t>
            </a:r>
          </a:p>
        </p:txBody>
      </p:sp>
      <p:sp>
        <p:nvSpPr>
          <p:cNvPr id="190" name="cs2h"/>
          <p:cNvSpPr/>
          <p:nvPr/>
        </p:nvSpPr>
        <p:spPr>
          <a:xfrm>
            <a:off x="6043600" y="1820000"/>
            <a:ext cx="2643200" cy="400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1" name="cs2ht"/>
          <p:cNvSpPr/>
          <p:nvPr/>
        </p:nvSpPr>
        <p:spPr>
          <a:xfrm>
            <a:off x="6043600" y="1820000"/>
            <a:ext cx="2643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3</a:t>
            </a:r>
          </a:p>
        </p:txBody>
      </p:sp>
      <p:sp>
        <p:nvSpPr>
          <p:cNvPr id="192" name="cs2b"/>
          <p:cNvSpPr/>
          <p:nvPr/>
        </p:nvSpPr>
        <p:spPr>
          <a:xfrm>
            <a:off x="6043600" y="2220000"/>
            <a:ext cx="2643200" cy="12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3" name="csc2"/>
          <p:cNvSpPr/>
          <p:nvPr/>
        </p:nvSpPr>
        <p:spPr>
          <a:xfrm>
            <a:off x="6173600" y="2310000"/>
            <a:ext cx="23832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anti-commutes</a:t>
            </a:r>
          </a:p>
        </p:txBody>
      </p:sp>
      <p:sp>
        <p:nvSpPr>
          <p:cNvPr id="194" name="csd2"/>
          <p:cNvSpPr/>
          <p:nvPr/>
        </p:nvSpPr>
        <p:spPr>
          <a:xfrm>
            <a:off x="6193600" y="2700000"/>
            <a:ext cx="234320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6000"/>
              </a:lnSpc>
              <a:spcAft>
                <a:spcPts val="300"/>
              </a:spcAft>
              <a:buNone/>
            </a:pP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one generator flips sign.</a:t>
            </a:r>
          </a:p>
          <a:p>
            <a:pPr marL="0" indent="0" algn="ctr">
              <a:lnSpc>
                <a:spcPct val="106000"/>
              </a:lnSpc>
              <a:buNone/>
            </a:pPr>
            <a:r>
              <a:rPr lang="en-US" sz="12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— the syndrome names the fix.</a:t>
            </a:r>
          </a:p>
        </p:txBody>
      </p:sp>
      <p:sp>
        <p:nvSpPr>
          <p:cNvPr id="195" name="fl"/>
          <p:cNvSpPr/>
          <p:nvPr/>
        </p:nvSpPr>
        <p:spPr>
          <a:xfrm>
            <a:off x="457200" y="3650000"/>
            <a:ext cx="8229600" cy="52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6" name="flt"/>
          <p:cNvSpPr/>
          <p:nvPr/>
        </p:nvSpPr>
        <p:spPr>
          <a:xfrm>
            <a:off x="697200" y="3650000"/>
            <a:ext cx="774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E  →  </a:t>
            </a: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anti-commutes? </a:t>
            </a:r>
            <a:r>
              <a:rPr lang="en-US" sz="120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yes → </a:t>
            </a:r>
            <a:r>
              <a:rPr lang="en-US" sz="1400" b="1" kern="0" dirty="0">
                <a:solidFill>
                  <a:srgbClr val="7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&amp; corrected</a:t>
            </a: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no → in S? </a:t>
            </a:r>
            <a:r>
              <a:rPr lang="en-US" sz="120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yes → </a:t>
            </a:r>
            <a:r>
              <a:rPr lang="en-US" sz="1400" b="1" kern="0" dirty="0">
                <a:solidFill>
                  <a:srgbClr val="6FCF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</a:t>
            </a:r>
            <a:r>
              <a:rPr lang="en-US" sz="120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/  no → </a:t>
            </a:r>
            <a:r>
              <a:rPr lang="en-US" sz="1400" b="1" kern="0" dirty="0">
                <a:solidFill>
                  <a:srgbClr val="F4C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error</a:t>
            </a:r>
          </a:p>
        </p:txBody>
      </p:sp>
      <p:sp>
        <p:nvSpPr>
          <p:cNvPr id="197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98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3</a:t>
            </a:r>
          </a:p>
        </p:txBody>
      </p:sp>
      <p:sp>
        <p:nvSpPr>
          <p:cNvPr id="200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Code Distance &amp; Parameters</a:t>
            </a:r>
          </a:p>
        </p:txBody>
      </p:sp>
      <p:sp>
        <p:nvSpPr>
          <p:cNvPr id="201" name="db"/>
          <p:cNvSpPr/>
          <p:nvPr/>
        </p:nvSpPr>
        <p:spPr>
          <a:xfrm>
            <a:off x="457200" y="1360000"/>
            <a:ext cx="8229600" cy="52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2" name="dbt"/>
          <p:cNvSpPr/>
          <p:nvPr/>
        </p:nvSpPr>
        <p:spPr>
          <a:xfrm>
            <a:off x="697200" y="1360000"/>
            <a:ext cx="774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 d  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the minimum weight of an error that commutes with all stabilizers but is </a:t>
            </a:r>
            <a:r>
              <a:rPr lang="en-US" sz="1400" i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S.</a:t>
            </a:r>
          </a:p>
        </p:txBody>
      </p:sp>
      <p:sp>
        <p:nvSpPr>
          <p:cNvPr id="203" name="nt"/>
          <p:cNvSpPr/>
          <p:nvPr/>
        </p:nvSpPr>
        <p:spPr>
          <a:xfrm>
            <a:off x="457200" y="2000000"/>
            <a:ext cx="4023360" cy="5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4" name="nt_acc"/>
          <p:cNvSpPr/>
          <p:nvPr/>
        </p:nvSpPr>
        <p:spPr>
          <a:xfrm>
            <a:off x="457200" y="2000000"/>
            <a:ext cx="402336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5" name="ntt"/>
          <p:cNvSpPr/>
          <p:nvPr/>
        </p:nvSpPr>
        <p:spPr>
          <a:xfrm>
            <a:off x="657200" y="2000000"/>
            <a:ext cx="374702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 n , m , d ]]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n physical · m logical · d distance</a:t>
            </a:r>
          </a:p>
        </p:txBody>
      </p:sp>
      <p:sp>
        <p:nvSpPr>
          <p:cNvPr id="206" name="fm"/>
          <p:cNvSpPr/>
          <p:nvPr/>
        </p:nvSpPr>
        <p:spPr>
          <a:xfrm>
            <a:off x="4630560" y="2000000"/>
            <a:ext cx="4056240" cy="52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7" name="fmt"/>
          <p:cNvSpPr/>
          <p:nvPr/>
        </p:nvSpPr>
        <p:spPr>
          <a:xfrm>
            <a:off x="4630560" y="2000000"/>
            <a:ext cx="405624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 t = ⌊(d−1)/2⌋  errors</a:t>
            </a:r>
          </a:p>
        </p:txBody>
      </p:sp>
      <p:sp>
        <p:nvSpPr>
          <p:cNvPr id="208" name="ch"/>
          <p:cNvSpPr/>
          <p:nvPr/>
        </p:nvSpPr>
        <p:spPr>
          <a:xfrm>
            <a:off x="457200" y="2600000"/>
            <a:ext cx="2050000" cy="362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09" name="cht"/>
          <p:cNvSpPr/>
          <p:nvPr/>
        </p:nvSpPr>
        <p:spPr>
          <a:xfrm>
            <a:off x="547200" y="2600000"/>
            <a:ext cx="187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</a:p>
        </p:txBody>
      </p:sp>
      <p:sp>
        <p:nvSpPr>
          <p:cNvPr id="210" name="ch"/>
          <p:cNvSpPr/>
          <p:nvPr/>
        </p:nvSpPr>
        <p:spPr>
          <a:xfrm>
            <a:off x="2507200" y="2600000"/>
            <a:ext cx="1450000" cy="362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11" name="cht"/>
          <p:cNvSpPr/>
          <p:nvPr/>
        </p:nvSpPr>
        <p:spPr>
          <a:xfrm>
            <a:off x="2507200" y="2600000"/>
            <a:ext cx="145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[[n, m, d]]</a:t>
            </a:r>
          </a:p>
        </p:txBody>
      </p:sp>
      <p:sp>
        <p:nvSpPr>
          <p:cNvPr id="212" name="ch"/>
          <p:cNvSpPr/>
          <p:nvPr/>
        </p:nvSpPr>
        <p:spPr>
          <a:xfrm>
            <a:off x="3957200" y="2600000"/>
            <a:ext cx="1150000" cy="362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13" name="cht"/>
          <p:cNvSpPr/>
          <p:nvPr/>
        </p:nvSpPr>
        <p:spPr>
          <a:xfrm>
            <a:off x="3957200" y="2600000"/>
            <a:ext cx="115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t</a:t>
            </a:r>
          </a:p>
        </p:txBody>
      </p:sp>
      <p:sp>
        <p:nvSpPr>
          <p:cNvPr id="214" name="ch"/>
          <p:cNvSpPr/>
          <p:nvPr/>
        </p:nvSpPr>
        <p:spPr>
          <a:xfrm>
            <a:off x="5107200" y="2600000"/>
            <a:ext cx="3579600" cy="362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15" name="cht"/>
          <p:cNvSpPr/>
          <p:nvPr/>
        </p:nvSpPr>
        <p:spPr>
          <a:xfrm>
            <a:off x="5197200" y="2600000"/>
            <a:ext cx="33996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4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QUBITS n</a:t>
            </a:r>
          </a:p>
        </p:txBody>
      </p:sp>
      <p:sp>
        <p:nvSpPr>
          <p:cNvPr id="216" name="cdd"/>
          <p:cNvSpPr/>
          <p:nvPr/>
        </p:nvSpPr>
        <p:spPr>
          <a:xfrm>
            <a:off x="457200" y="2962000"/>
            <a:ext cx="2050000" cy="3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7" name="cdd"/>
          <p:cNvSpPr/>
          <p:nvPr/>
        </p:nvSpPr>
        <p:spPr>
          <a:xfrm>
            <a:off x="2507200" y="2962000"/>
            <a:ext cx="1450000" cy="3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8" name="cdd"/>
          <p:cNvSpPr/>
          <p:nvPr/>
        </p:nvSpPr>
        <p:spPr>
          <a:xfrm>
            <a:off x="3957200" y="2962000"/>
            <a:ext cx="1150000" cy="3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19" name="cdd"/>
          <p:cNvSpPr/>
          <p:nvPr/>
        </p:nvSpPr>
        <p:spPr>
          <a:xfrm>
            <a:off x="5107200" y="2962000"/>
            <a:ext cx="3579600" cy="3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0" name="c0"/>
          <p:cNvSpPr/>
          <p:nvPr/>
        </p:nvSpPr>
        <p:spPr>
          <a:xfrm>
            <a:off x="567200" y="2962000"/>
            <a:ext cx="187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3-Qubit Bit-Flip</a:t>
            </a:r>
          </a:p>
        </p:txBody>
      </p:sp>
      <p:sp>
        <p:nvSpPr>
          <p:cNvPr id="221" name="c1"/>
          <p:cNvSpPr/>
          <p:nvPr/>
        </p:nvSpPr>
        <p:spPr>
          <a:xfrm>
            <a:off x="2507200" y="2962000"/>
            <a:ext cx="145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[[3,1,1]]</a:t>
            </a:r>
          </a:p>
        </p:txBody>
      </p:sp>
      <p:sp>
        <p:nvSpPr>
          <p:cNvPr id="222" name="c2"/>
          <p:cNvSpPr/>
          <p:nvPr/>
        </p:nvSpPr>
        <p:spPr>
          <a:xfrm>
            <a:off x="3957200" y="2962000"/>
            <a:ext cx="115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</a:p>
        </p:txBody>
      </p:sp>
      <p:sp>
        <p:nvSpPr>
          <p:cNvPr id="223" name="bar"/>
          <p:cNvSpPr/>
          <p:nvPr/>
        </p:nvSpPr>
        <p:spPr>
          <a:xfrm>
            <a:off x="5217200" y="3063000"/>
            <a:ext cx="1019866" cy="160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24" name="bn"/>
          <p:cNvSpPr/>
          <p:nvPr/>
        </p:nvSpPr>
        <p:spPr>
          <a:xfrm>
            <a:off x="6307066" y="2962000"/>
            <a:ext cx="30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225" name="cdd"/>
          <p:cNvSpPr/>
          <p:nvPr/>
        </p:nvSpPr>
        <p:spPr>
          <a:xfrm>
            <a:off x="457200" y="3324000"/>
            <a:ext cx="2050000" cy="362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6" name="cdd"/>
          <p:cNvSpPr/>
          <p:nvPr/>
        </p:nvSpPr>
        <p:spPr>
          <a:xfrm>
            <a:off x="2507200" y="3324000"/>
            <a:ext cx="1450000" cy="362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7" name="cdd"/>
          <p:cNvSpPr/>
          <p:nvPr/>
        </p:nvSpPr>
        <p:spPr>
          <a:xfrm>
            <a:off x="3957200" y="3324000"/>
            <a:ext cx="1150000" cy="362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8" name="cdd"/>
          <p:cNvSpPr/>
          <p:nvPr/>
        </p:nvSpPr>
        <p:spPr>
          <a:xfrm>
            <a:off x="5107200" y="3324000"/>
            <a:ext cx="3579600" cy="362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29" name="c0"/>
          <p:cNvSpPr/>
          <p:nvPr/>
        </p:nvSpPr>
        <p:spPr>
          <a:xfrm>
            <a:off x="567200" y="3324000"/>
            <a:ext cx="187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5-Qubit Code</a:t>
            </a:r>
          </a:p>
        </p:txBody>
      </p:sp>
      <p:sp>
        <p:nvSpPr>
          <p:cNvPr id="230" name="c1"/>
          <p:cNvSpPr/>
          <p:nvPr/>
        </p:nvSpPr>
        <p:spPr>
          <a:xfrm>
            <a:off x="2507200" y="3324000"/>
            <a:ext cx="145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[[5,1,3]]</a:t>
            </a:r>
          </a:p>
        </p:txBody>
      </p:sp>
      <p:sp>
        <p:nvSpPr>
          <p:cNvPr id="231" name="c2"/>
          <p:cNvSpPr/>
          <p:nvPr/>
        </p:nvSpPr>
        <p:spPr>
          <a:xfrm>
            <a:off x="3957200" y="3324000"/>
            <a:ext cx="115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32" name="bar"/>
          <p:cNvSpPr/>
          <p:nvPr/>
        </p:nvSpPr>
        <p:spPr>
          <a:xfrm>
            <a:off x="5217200" y="3425000"/>
            <a:ext cx="1699777" cy="16000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33" name="bn"/>
          <p:cNvSpPr/>
          <p:nvPr/>
        </p:nvSpPr>
        <p:spPr>
          <a:xfrm>
            <a:off x="6986977" y="3324000"/>
            <a:ext cx="30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234" name="cdd"/>
          <p:cNvSpPr/>
          <p:nvPr/>
        </p:nvSpPr>
        <p:spPr>
          <a:xfrm>
            <a:off x="457200" y="3686000"/>
            <a:ext cx="2050000" cy="3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5" name="cdd"/>
          <p:cNvSpPr/>
          <p:nvPr/>
        </p:nvSpPr>
        <p:spPr>
          <a:xfrm>
            <a:off x="2507200" y="3686000"/>
            <a:ext cx="1450000" cy="3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6" name="cdd"/>
          <p:cNvSpPr/>
          <p:nvPr/>
        </p:nvSpPr>
        <p:spPr>
          <a:xfrm>
            <a:off x="3957200" y="3686000"/>
            <a:ext cx="1150000" cy="3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7" name="cdd"/>
          <p:cNvSpPr/>
          <p:nvPr/>
        </p:nvSpPr>
        <p:spPr>
          <a:xfrm>
            <a:off x="5107200" y="3686000"/>
            <a:ext cx="3579600" cy="3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38" name="c0"/>
          <p:cNvSpPr/>
          <p:nvPr/>
        </p:nvSpPr>
        <p:spPr>
          <a:xfrm>
            <a:off x="567200" y="3686000"/>
            <a:ext cx="187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7-Qubit Steane</a:t>
            </a:r>
          </a:p>
        </p:txBody>
      </p:sp>
      <p:sp>
        <p:nvSpPr>
          <p:cNvPr id="239" name="c1"/>
          <p:cNvSpPr/>
          <p:nvPr/>
        </p:nvSpPr>
        <p:spPr>
          <a:xfrm>
            <a:off x="2507200" y="3686000"/>
            <a:ext cx="145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[[7,1,3]]</a:t>
            </a:r>
          </a:p>
        </p:txBody>
      </p:sp>
      <p:sp>
        <p:nvSpPr>
          <p:cNvPr id="240" name="c2"/>
          <p:cNvSpPr/>
          <p:nvPr/>
        </p:nvSpPr>
        <p:spPr>
          <a:xfrm>
            <a:off x="3957200" y="3686000"/>
            <a:ext cx="115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41" name="bar"/>
          <p:cNvSpPr/>
          <p:nvPr/>
        </p:nvSpPr>
        <p:spPr>
          <a:xfrm>
            <a:off x="5217200" y="3787000"/>
            <a:ext cx="2379688" cy="16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42" name="bn"/>
          <p:cNvSpPr/>
          <p:nvPr/>
        </p:nvSpPr>
        <p:spPr>
          <a:xfrm>
            <a:off x="7666888" y="3686000"/>
            <a:ext cx="30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</a:p>
        </p:txBody>
      </p:sp>
      <p:sp>
        <p:nvSpPr>
          <p:cNvPr id="243" name="cdd"/>
          <p:cNvSpPr/>
          <p:nvPr/>
        </p:nvSpPr>
        <p:spPr>
          <a:xfrm>
            <a:off x="457200" y="4048000"/>
            <a:ext cx="2050000" cy="362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4" name="cdd"/>
          <p:cNvSpPr/>
          <p:nvPr/>
        </p:nvSpPr>
        <p:spPr>
          <a:xfrm>
            <a:off x="2507200" y="4048000"/>
            <a:ext cx="1450000" cy="362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5" name="cdd"/>
          <p:cNvSpPr/>
          <p:nvPr/>
        </p:nvSpPr>
        <p:spPr>
          <a:xfrm>
            <a:off x="3957200" y="4048000"/>
            <a:ext cx="1150000" cy="362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6" name="cdd"/>
          <p:cNvSpPr/>
          <p:nvPr/>
        </p:nvSpPr>
        <p:spPr>
          <a:xfrm>
            <a:off x="5107200" y="4048000"/>
            <a:ext cx="3579600" cy="362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47" name="c0"/>
          <p:cNvSpPr/>
          <p:nvPr/>
        </p:nvSpPr>
        <p:spPr>
          <a:xfrm>
            <a:off x="567200" y="4048000"/>
            <a:ext cx="187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9-Qubit Shor</a:t>
            </a:r>
          </a:p>
        </p:txBody>
      </p:sp>
      <p:sp>
        <p:nvSpPr>
          <p:cNvPr id="248" name="c1"/>
          <p:cNvSpPr/>
          <p:nvPr/>
        </p:nvSpPr>
        <p:spPr>
          <a:xfrm>
            <a:off x="2507200" y="4048000"/>
            <a:ext cx="145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[[9,1,3]]</a:t>
            </a:r>
          </a:p>
        </p:txBody>
      </p:sp>
      <p:sp>
        <p:nvSpPr>
          <p:cNvPr id="249" name="c2"/>
          <p:cNvSpPr/>
          <p:nvPr/>
        </p:nvSpPr>
        <p:spPr>
          <a:xfrm>
            <a:off x="3957200" y="4048000"/>
            <a:ext cx="115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250" name="bar"/>
          <p:cNvSpPr/>
          <p:nvPr/>
        </p:nvSpPr>
        <p:spPr>
          <a:xfrm>
            <a:off x="5217200" y="4149000"/>
            <a:ext cx="3059600" cy="16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51" name="bn"/>
          <p:cNvSpPr/>
          <p:nvPr/>
        </p:nvSpPr>
        <p:spPr>
          <a:xfrm>
            <a:off x="8346800" y="4048000"/>
            <a:ext cx="300000" cy="3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</a:p>
        </p:txBody>
      </p:sp>
      <p:sp>
        <p:nvSpPr>
          <p:cNvPr id="252" name="mn"/>
          <p:cNvSpPr/>
          <p:nvPr/>
        </p:nvSpPr>
        <p:spPr>
          <a:xfrm>
            <a:off x="457200" y="4440000"/>
            <a:ext cx="82296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distance corrects more errors — but costs more physical qubits and lowers the encoding rate.</a:t>
            </a:r>
          </a:p>
        </p:txBody>
      </p:sp>
      <p:sp>
        <p:nvSpPr>
          <p:cNvPr id="253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54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3</a:t>
            </a:r>
          </a:p>
        </p:txBody>
      </p:sp>
      <p:sp>
        <p:nvSpPr>
          <p:cNvPr id="256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Classical Linear Codes</a:t>
            </a:r>
          </a:p>
        </p:txBody>
      </p:sp>
      <p:sp>
        <p:nvSpPr>
          <p:cNvPr id="257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groundwork CSS codes build on — generator and parity-check matrices over 𝔽₂.</a:t>
            </a:r>
          </a:p>
        </p:txBody>
      </p:sp>
      <p:sp>
        <p:nvSpPr>
          <p:cNvPr id="258" name="gc"/>
          <p:cNvSpPr/>
          <p:nvPr/>
        </p:nvSpPr>
        <p:spPr>
          <a:xfrm>
            <a:off x="457200" y="1760000"/>
            <a:ext cx="4023360" cy="190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59" name="gc_acc"/>
          <p:cNvSpPr/>
          <p:nvPr/>
        </p:nvSpPr>
        <p:spPr>
          <a:xfrm>
            <a:off x="457200" y="1760000"/>
            <a:ext cx="402336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60" name="gch"/>
          <p:cNvSpPr/>
          <p:nvPr/>
        </p:nvSpPr>
        <p:spPr>
          <a:xfrm>
            <a:off x="697200" y="1900000"/>
            <a:ext cx="354336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6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 MATRIX  G</a:t>
            </a: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(4 × 7)</a:t>
            </a:r>
          </a:p>
        </p:txBody>
      </p:sp>
      <p:sp>
        <p:nvSpPr>
          <p:cNvPr id="261" name="gcs"/>
          <p:cNvSpPr/>
          <p:nvPr/>
        </p:nvSpPr>
        <p:spPr>
          <a:xfrm>
            <a:off x="697200" y="2200000"/>
            <a:ext cx="3543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span the code — encode 4 bits → 7</a:t>
            </a:r>
          </a:p>
        </p:txBody>
      </p:sp>
      <p:sp>
        <p:nvSpPr>
          <p:cNvPr id="262" name="gcm"/>
          <p:cNvSpPr/>
          <p:nvPr/>
        </p:nvSpPr>
        <p:spPr>
          <a:xfrm>
            <a:off x="697200" y="2520000"/>
            <a:ext cx="3543360" cy="10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1 0 0 0  0 1 1</a:t>
            </a:r>
          </a:p>
          <a:p>
            <a:pPr marL="0" indent="0" algn="ctr">
              <a:spcAft>
                <a:spcPts val="16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0 1 0 0  1 0 1</a:t>
            </a:r>
          </a:p>
          <a:p>
            <a:pPr marL="0" indent="0" algn="ctr">
              <a:spcAft>
                <a:spcPts val="16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0 0 1 0  1 1 0</a:t>
            </a:r>
          </a:p>
          <a:p>
            <a:pPr marL="0" indent="0" algn="ctr">
              <a:spcAft>
                <a:spcPts val="16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0 0 0 1  1 1 1</a:t>
            </a:r>
          </a:p>
        </p:txBody>
      </p:sp>
      <p:sp>
        <p:nvSpPr>
          <p:cNvPr id="263" name="hc"/>
          <p:cNvSpPr/>
          <p:nvPr/>
        </p:nvSpPr>
        <p:spPr>
          <a:xfrm>
            <a:off x="4663440" y="1760000"/>
            <a:ext cx="4023360" cy="19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64" name="hc_acc"/>
          <p:cNvSpPr/>
          <p:nvPr/>
        </p:nvSpPr>
        <p:spPr>
          <a:xfrm>
            <a:off x="4663440" y="1760000"/>
            <a:ext cx="4023360" cy="822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65" name="hch"/>
          <p:cNvSpPr/>
          <p:nvPr/>
        </p:nvSpPr>
        <p:spPr>
          <a:xfrm>
            <a:off x="4903440" y="1900000"/>
            <a:ext cx="354336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 spc="6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PARITY-CHECK MATRIX  H</a:t>
            </a: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(3 × 7)</a:t>
            </a:r>
          </a:p>
        </p:txBody>
      </p:sp>
      <p:sp>
        <p:nvSpPr>
          <p:cNvPr id="266" name="hcs"/>
          <p:cNvSpPr/>
          <p:nvPr/>
        </p:nvSpPr>
        <p:spPr>
          <a:xfrm>
            <a:off x="4903440" y="2200000"/>
            <a:ext cx="3543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codeword c satisfies  </a:t>
            </a:r>
            <a:r>
              <a:rPr lang="en-US" sz="1400" kern="0" dirty="0" err="1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H·c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ᵀ = 0</a:t>
            </a:r>
          </a:p>
        </p:txBody>
      </p:sp>
      <p:sp>
        <p:nvSpPr>
          <p:cNvPr id="267" name="hcm"/>
          <p:cNvSpPr/>
          <p:nvPr/>
        </p:nvSpPr>
        <p:spPr>
          <a:xfrm>
            <a:off x="4903440" y="2580000"/>
            <a:ext cx="3543360" cy="8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6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0 1 1 1  1 0 0</a:t>
            </a:r>
          </a:p>
          <a:p>
            <a:pPr marL="0" indent="0" algn="ctr">
              <a:spcAft>
                <a:spcPts val="16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1 0 1 1  0 1 0</a:t>
            </a:r>
          </a:p>
          <a:p>
            <a:pPr marL="0" indent="0" algn="ctr">
              <a:spcAft>
                <a:spcPts val="160"/>
              </a:spcAft>
              <a:buNone/>
            </a:pPr>
            <a:r>
              <a:rPr lang="en-US" sz="1400" b="1" kern="0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1 1 0 1  0 0 1</a:t>
            </a:r>
          </a:p>
        </p:txBody>
      </p:sp>
      <p:sp>
        <p:nvSpPr>
          <p:cNvPr id="268" name="rs"/>
          <p:cNvSpPr/>
          <p:nvPr/>
        </p:nvSpPr>
        <p:spPr>
          <a:xfrm>
            <a:off x="457200" y="3780000"/>
            <a:ext cx="8229600" cy="56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rst"/>
              <p:cNvSpPr/>
              <p:nvPr/>
            </p:nvSpPr>
            <p:spPr>
              <a:xfrm>
                <a:off x="624598" y="3780000"/>
                <a:ext cx="8077684" cy="560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b="1" kern="0" dirty="0">
                    <a:solidFill>
                      <a:srgbClr val="E08A1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 · Hᵀ = 0</a:t>
                </a:r>
                <a:r>
                  <a:rPr lang="en-US" sz="1400" kern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   The  [7,4,3] Hamming code:  16 codewords, distance 3.   Dual code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kern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r>
                          <a:rPr lang="en-US" sz="1400" i="1" kern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𝐶</m:t>
                        </m:r>
                      </m:e>
                      <m:sub>
                        <m:r>
                          <a:rPr lang="en-US" sz="1400" i="1" kern="0" dirty="0" smtClean="0">
                            <a:solidFill>
                              <a:srgbClr val="FFFFFF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⊥</m:t>
                        </m:r>
                      </m:sub>
                    </m:sSub>
                  </m:oMath>
                </a14:m>
                <a:r>
                  <a:rPr lang="en-US" sz="1400" kern="0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swaps the roles of G and H.</a:t>
                </a:r>
              </a:p>
            </p:txBody>
          </p:sp>
        </mc:Choice>
        <mc:Fallback xmlns="">
          <p:sp>
            <p:nvSpPr>
              <p:cNvPr id="269" name="rst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598" y="3780000"/>
                <a:ext cx="8077684" cy="560000"/>
              </a:xfrm>
              <a:prstGeom prst="rect">
                <a:avLst/>
              </a:prstGeom>
              <a:blipFill>
                <a:blip r:embed="rId3"/>
                <a:stretch>
                  <a:fillRect l="-1508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0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71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3</a:t>
            </a:r>
          </a:p>
        </p:txBody>
      </p:sp>
      <p:sp>
        <p:nvSpPr>
          <p:cNvPr id="273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Code Construction</a:t>
            </a:r>
          </a:p>
        </p:txBody>
      </p:sp>
      <p:sp>
        <p:nvSpPr>
          <p:cNvPr id="274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Calderbank–Shor–Steane: glue two nested classical codes into one quantum code.</a:t>
            </a:r>
          </a:p>
        </p:txBody>
      </p:sp>
      <p:sp>
        <p:nvSpPr>
          <p:cNvPr id="275" name="ic0"/>
          <p:cNvSpPr/>
          <p:nvPr/>
        </p:nvSpPr>
        <p:spPr>
          <a:xfrm>
            <a:off x="457200" y="1700000"/>
            <a:ext cx="2200000" cy="6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6" name="ic0_acc"/>
          <p:cNvSpPr/>
          <p:nvPr/>
        </p:nvSpPr>
        <p:spPr>
          <a:xfrm>
            <a:off x="457200" y="1700000"/>
            <a:ext cx="2200000" cy="822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7" name="ict0"/>
          <p:cNvSpPr/>
          <p:nvPr/>
        </p:nvSpPr>
        <p:spPr>
          <a:xfrm>
            <a:off x="457200" y="1790000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C₂</a:t>
            </a:r>
          </a:p>
        </p:txBody>
      </p:sp>
      <p:sp>
        <p:nvSpPr>
          <p:cNvPr id="278" name="ics0"/>
          <p:cNvSpPr/>
          <p:nvPr/>
        </p:nvSpPr>
        <p:spPr>
          <a:xfrm>
            <a:off x="457200" y="2090000"/>
            <a:ext cx="2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k₂ logical bits</a:t>
            </a:r>
          </a:p>
        </p:txBody>
      </p:sp>
      <p:sp>
        <p:nvSpPr>
          <p:cNvPr id="279" name="iar0"/>
          <p:cNvSpPr/>
          <p:nvPr/>
        </p:nvSpPr>
        <p:spPr>
          <a:xfrm>
            <a:off x="2667200" y="1880000"/>
            <a:ext cx="794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⊃</a:t>
            </a:r>
          </a:p>
        </p:txBody>
      </p:sp>
      <p:sp>
        <p:nvSpPr>
          <p:cNvPr id="280" name="ic1"/>
          <p:cNvSpPr/>
          <p:nvPr/>
        </p:nvSpPr>
        <p:spPr>
          <a:xfrm>
            <a:off x="3472000" y="1700000"/>
            <a:ext cx="2200000" cy="6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ic1_acc"/>
          <p:cNvSpPr/>
          <p:nvPr/>
        </p:nvSpPr>
        <p:spPr>
          <a:xfrm>
            <a:off x="3472000" y="1700000"/>
            <a:ext cx="220000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2" name="ict1"/>
          <p:cNvSpPr/>
          <p:nvPr/>
        </p:nvSpPr>
        <p:spPr>
          <a:xfrm>
            <a:off x="3472000" y="1790000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C₁</a:t>
            </a:r>
          </a:p>
        </p:txBody>
      </p:sp>
      <p:sp>
        <p:nvSpPr>
          <p:cNvPr id="283" name="ics1"/>
          <p:cNvSpPr/>
          <p:nvPr/>
        </p:nvSpPr>
        <p:spPr>
          <a:xfrm>
            <a:off x="3472000" y="2090000"/>
            <a:ext cx="2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 ⊂ C₁</a:t>
            </a:r>
          </a:p>
        </p:txBody>
      </p:sp>
      <p:sp>
        <p:nvSpPr>
          <p:cNvPr id="284" name="iar1"/>
          <p:cNvSpPr/>
          <p:nvPr/>
        </p:nvSpPr>
        <p:spPr>
          <a:xfrm>
            <a:off x="5682000" y="1880000"/>
            <a:ext cx="794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</a:p>
        </p:txBody>
      </p:sp>
      <p:sp>
        <p:nvSpPr>
          <p:cNvPr id="285" name="ic2"/>
          <p:cNvSpPr/>
          <p:nvPr/>
        </p:nvSpPr>
        <p:spPr>
          <a:xfrm>
            <a:off x="6486800" y="1700000"/>
            <a:ext cx="2200000" cy="6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ic2_acc"/>
          <p:cNvSpPr/>
          <p:nvPr/>
        </p:nvSpPr>
        <p:spPr>
          <a:xfrm>
            <a:off x="6486800" y="1700000"/>
            <a:ext cx="22000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7" name="ict2"/>
          <p:cNvSpPr/>
          <p:nvPr/>
        </p:nvSpPr>
        <p:spPr>
          <a:xfrm>
            <a:off x="6486800" y="1790000"/>
            <a:ext cx="220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7D3C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CSS(C₁, C₂)</a:t>
            </a:r>
          </a:p>
        </p:txBody>
      </p:sp>
      <p:sp>
        <p:nvSpPr>
          <p:cNvPr id="288" name="ics2"/>
          <p:cNvSpPr/>
          <p:nvPr/>
        </p:nvSpPr>
        <p:spPr>
          <a:xfrm>
            <a:off x="6486800" y="2090000"/>
            <a:ext cx="2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 n , k₁−k₂ , d ]]</a:t>
            </a:r>
          </a:p>
        </p:txBody>
      </p:sp>
      <p:sp>
        <p:nvSpPr>
          <p:cNvPr id="289" name="zc"/>
          <p:cNvSpPr/>
          <p:nvPr/>
        </p:nvSpPr>
        <p:spPr>
          <a:xfrm>
            <a:off x="457200" y="2560000"/>
            <a:ext cx="4023360" cy="108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0" name="zc_acc"/>
          <p:cNvSpPr/>
          <p:nvPr/>
        </p:nvSpPr>
        <p:spPr>
          <a:xfrm>
            <a:off x="457200" y="2560000"/>
            <a:ext cx="402336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1" name="zch"/>
          <p:cNvSpPr/>
          <p:nvPr/>
        </p:nvSpPr>
        <p:spPr>
          <a:xfrm>
            <a:off x="697200" y="2700000"/>
            <a:ext cx="3543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8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Z-STABILIZERS</a:t>
            </a:r>
          </a:p>
        </p:txBody>
      </p:sp>
      <p:sp>
        <p:nvSpPr>
          <p:cNvPr id="292" name="zcb"/>
          <p:cNvSpPr/>
          <p:nvPr/>
        </p:nvSpPr>
        <p:spPr>
          <a:xfrm>
            <a:off x="697200" y="2990000"/>
            <a:ext cx="354336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the parity-check matrix of  </a:t>
            </a:r>
            <a:r>
              <a:rPr lang="en-US" sz="16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</a:t>
            </a:r>
          </a:p>
        </p:txBody>
      </p:sp>
      <p:sp>
        <p:nvSpPr>
          <p:cNvPr id="293" name="xc"/>
          <p:cNvSpPr/>
          <p:nvPr/>
        </p:nvSpPr>
        <p:spPr>
          <a:xfrm>
            <a:off x="4663440" y="2560000"/>
            <a:ext cx="4023360" cy="108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4" name="xc_acc"/>
          <p:cNvSpPr/>
          <p:nvPr/>
        </p:nvSpPr>
        <p:spPr>
          <a:xfrm>
            <a:off x="4663440" y="2560000"/>
            <a:ext cx="402336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5" name="xch"/>
          <p:cNvSpPr/>
          <p:nvPr/>
        </p:nvSpPr>
        <p:spPr>
          <a:xfrm>
            <a:off x="4903440" y="2700000"/>
            <a:ext cx="3543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8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X-STABILIZERS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6" name="xcb"/>
              <p:cNvSpPr/>
              <p:nvPr/>
            </p:nvSpPr>
            <p:spPr>
              <a:xfrm>
                <a:off x="4903440" y="2990000"/>
                <a:ext cx="3543360" cy="560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ct val="108000"/>
                  </a:lnSpc>
                  <a:buNone/>
                </a:pPr>
                <a:r>
                  <a:rPr lang="en-US" sz="1400" kern="0" dirty="0">
                    <a:solidFill>
                      <a:srgbClr val="3D4F5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rows of the parity-check matrix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kern="0" dirty="0" smtClean="0">
                            <a:solidFill>
                              <a:srgbClr val="7D3C9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b="1" i="1" kern="0" dirty="0" smtClean="0">
                                <a:solidFill>
                                  <a:srgbClr val="7D3C9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</m:ctrlPr>
                          </m:sSubPr>
                          <m:e>
                            <m:r>
                              <a:rPr lang="en-US" sz="1600" b="1" i="1" kern="0" dirty="0" smtClean="0">
                                <a:solidFill>
                                  <a:srgbClr val="7D3C9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𝑪</m:t>
                            </m:r>
                          </m:e>
                          <m:sub>
                            <m:r>
                              <a:rPr lang="en-US" sz="1600" b="1" i="1" kern="0" dirty="0" smtClean="0">
                                <a:solidFill>
                                  <a:srgbClr val="7D3C98"/>
                                </a:solidFill>
                                <a:latin typeface="Cambria Math" panose="02040503050406030204" pitchFamily="18" charset="0"/>
                                <a:ea typeface="Calibri" pitchFamily="34" charset="-122"/>
                                <a:cs typeface="Calibri" pitchFamily="34" charset="-120"/>
                              </a:rPr>
                              <m:t>𝟐</m:t>
                            </m:r>
                          </m:sub>
                        </m:sSub>
                      </m:e>
                      <m:sub>
                        <m:r>
                          <a:rPr lang="en-US" sz="1600" b="1" i="1" kern="0" dirty="0" smtClean="0">
                            <a:solidFill>
                              <a:srgbClr val="7D3C98"/>
                            </a:solidFill>
                            <a:latin typeface="Cambria Math" panose="02040503050406030204" pitchFamily="18" charset="0"/>
                            <a:ea typeface="Calibri" pitchFamily="34" charset="-122"/>
                            <a:cs typeface="Calibri" pitchFamily="34" charset="-120"/>
                          </a:rPr>
                          <m:t>⊥</m:t>
                        </m:r>
                      </m:sub>
                    </m:sSub>
                  </m:oMath>
                </a14:m>
                <a:endParaRPr lang="en-US" sz="1600" b="1" kern="0" dirty="0">
                  <a:solidFill>
                    <a:srgbClr val="7D3C98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</p:txBody>
          </p:sp>
        </mc:Choice>
        <mc:Fallback xmlns="">
          <p:sp>
            <p:nvSpPr>
              <p:cNvPr id="296" name="xc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3440" y="2990000"/>
                <a:ext cx="3543360" cy="560000"/>
              </a:xfrm>
              <a:prstGeom prst="rect">
                <a:avLst/>
              </a:prstGeom>
              <a:blipFill>
                <a:blip r:embed="rId3"/>
                <a:stretch>
                  <a:fillRect l="-3093" t="-108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7" name="cm"/>
          <p:cNvSpPr/>
          <p:nvPr/>
        </p:nvSpPr>
        <p:spPr>
          <a:xfrm>
            <a:off x="457200" y="3800000"/>
            <a:ext cx="8229600" cy="56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8" name="cmt"/>
          <p:cNvSpPr/>
          <p:nvPr/>
        </p:nvSpPr>
        <p:spPr>
          <a:xfrm>
            <a:off x="697200" y="3800000"/>
            <a:ext cx="774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  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 ⊂ C₁ makes every Z- and X-generator overlap on an even number of positions — so all stabilizers commute.</a:t>
            </a:r>
          </a:p>
        </p:txBody>
      </p:sp>
      <p:sp>
        <p:nvSpPr>
          <p:cNvPr id="299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300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3</a:t>
            </a:r>
          </a:p>
        </p:txBody>
      </p:sp>
      <p:sp>
        <p:nvSpPr>
          <p:cNvPr id="302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CSS Examples: Steane &amp; Shor</a:t>
            </a:r>
          </a:p>
        </p:txBody>
      </p:sp>
      <p:sp>
        <p:nvSpPr>
          <p:cNvPr id="303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CSS codes that both correct one error — built from different classical ingredients.</a:t>
            </a:r>
          </a:p>
        </p:txBody>
      </p:sp>
      <p:sp>
        <p:nvSpPr>
          <p:cNvPr id="304" name="sth"/>
          <p:cNvSpPr/>
          <p:nvPr/>
        </p:nvSpPr>
        <p:spPr>
          <a:xfrm>
            <a:off x="457200" y="1760000"/>
            <a:ext cx="4023360" cy="420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05" name="stht"/>
          <p:cNvSpPr/>
          <p:nvPr/>
        </p:nvSpPr>
        <p:spPr>
          <a:xfrm>
            <a:off x="457200" y="1760000"/>
            <a:ext cx="40233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7-QUBIT STEANE   ·   [[7,1,3]]</a:t>
            </a:r>
          </a:p>
        </p:txBody>
      </p:sp>
      <p:sp>
        <p:nvSpPr>
          <p:cNvPr id="306" name="stb"/>
          <p:cNvSpPr/>
          <p:nvPr/>
        </p:nvSpPr>
        <p:spPr>
          <a:xfrm>
            <a:off x="457200" y="2180000"/>
            <a:ext cx="4023360" cy="15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07" name="stb"/>
          <p:cNvSpPr/>
          <p:nvPr/>
        </p:nvSpPr>
        <p:spPr>
          <a:xfrm>
            <a:off x="697200" y="2280000"/>
            <a:ext cx="354336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40"/>
              </a:spcAft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  </a:t>
            </a: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 = [7,4,3] Hamming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 </a:t>
            </a: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 = [7,3,4] even subcode</a:t>
            </a:r>
          </a:p>
          <a:p>
            <a:pPr marL="0" indent="0" algn="l">
              <a:spcAft>
                <a:spcPts val="240"/>
              </a:spcAft>
              <a:buNone/>
            </a:pPr>
            <a:r>
              <a:rPr lang="en-US" sz="1600" b="1" kern="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stabilizers 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 Z-type + 3 X-type)</a:t>
            </a:r>
          </a:p>
          <a:p>
            <a:pPr marL="0" indent="0" algn="l">
              <a:buNone/>
            </a:pPr>
            <a:r>
              <a:rPr lang="en-US" sz="1400" i="1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efficient CSS [[n,1,3]] code.</a:t>
            </a:r>
          </a:p>
        </p:txBody>
      </p:sp>
      <p:sp>
        <p:nvSpPr>
          <p:cNvPr id="308" name="shh"/>
          <p:cNvSpPr/>
          <p:nvPr/>
        </p:nvSpPr>
        <p:spPr>
          <a:xfrm>
            <a:off x="4663440" y="1760000"/>
            <a:ext cx="4023360" cy="42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09" name="shht"/>
          <p:cNvSpPr/>
          <p:nvPr/>
        </p:nvSpPr>
        <p:spPr>
          <a:xfrm>
            <a:off x="4663440" y="1760000"/>
            <a:ext cx="4023360" cy="4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9-QUBIT SHOR   ·   [[9,1,3]]</a:t>
            </a:r>
          </a:p>
        </p:txBody>
      </p:sp>
      <p:sp>
        <p:nvSpPr>
          <p:cNvPr id="310" name="shb"/>
          <p:cNvSpPr/>
          <p:nvPr/>
        </p:nvSpPr>
        <p:spPr>
          <a:xfrm>
            <a:off x="4663440" y="2180000"/>
            <a:ext cx="4023360" cy="154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311" name="shb"/>
          <p:cNvSpPr/>
          <p:nvPr/>
        </p:nvSpPr>
        <p:spPr>
          <a:xfrm>
            <a:off x="4903440" y="2280000"/>
            <a:ext cx="354336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40"/>
              </a:spcAft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  </a:t>
            </a: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C₁ = [9,1,9] repetition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  </a:t>
            </a: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C₂ = [9,8,2] parity code</a:t>
            </a:r>
          </a:p>
          <a:p>
            <a:pPr marL="0" indent="0" algn="l">
              <a:spcAft>
                <a:spcPts val="240"/>
              </a:spcAft>
              <a:buNone/>
            </a:pPr>
            <a:r>
              <a:rPr lang="en-US" sz="1600" b="1" kern="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stabilizers 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 Z-type + 2 X-type)</a:t>
            </a:r>
          </a:p>
          <a:p>
            <a:pPr marL="0" indent="0" algn="l">
              <a:buNone/>
            </a:pPr>
            <a:r>
              <a:rPr lang="en-US" sz="1400" i="1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CSS — intuitive, but heavier.</a:t>
            </a:r>
          </a:p>
        </p:txBody>
      </p:sp>
      <p:sp>
        <p:nvSpPr>
          <p:cNvPr id="312" name="cb"/>
          <p:cNvSpPr/>
          <p:nvPr/>
        </p:nvSpPr>
        <p:spPr>
          <a:xfrm>
            <a:off x="457200" y="3820000"/>
            <a:ext cx="8229600" cy="54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3" name="cbt"/>
          <p:cNvSpPr/>
          <p:nvPr/>
        </p:nvSpPr>
        <p:spPr>
          <a:xfrm>
            <a:off x="697199" y="3820000"/>
            <a:ext cx="7926683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protection, fewer qubits:   </a:t>
            </a:r>
            <a:r>
              <a:rPr lang="en-US" sz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Steane corrects one error with 7 qubits and 6 checks; Shor needs 9 qubits and 8 checks.</a:t>
            </a:r>
          </a:p>
        </p:txBody>
      </p:sp>
      <p:sp>
        <p:nvSpPr>
          <p:cNvPr id="314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315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3</a:t>
            </a:r>
          </a:p>
        </p:txBody>
      </p:sp>
      <p:sp>
        <p:nvSpPr>
          <p:cNvPr id="317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Gottesman–Knill Theorem</a:t>
            </a:r>
          </a:p>
        </p:txBody>
      </p:sp>
      <p:sp>
        <p:nvSpPr>
          <p:cNvPr id="318" name="tb"/>
          <p:cNvSpPr/>
          <p:nvPr/>
        </p:nvSpPr>
        <p:spPr>
          <a:xfrm>
            <a:off x="457200" y="1360000"/>
            <a:ext cx="8229600" cy="56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9" name="tbt"/>
          <p:cNvSpPr/>
          <p:nvPr/>
        </p:nvSpPr>
        <p:spPr>
          <a:xfrm>
            <a:off x="457200" y="1360000"/>
            <a:ext cx="822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40"/>
              </a:spcAft>
              <a:buNone/>
            </a:pPr>
            <a:r>
              <a:rPr lang="en-US" sz="14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   </a:t>
            </a: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Clifford circuits — and every stabilizer code — can be simulated efficiently on a classical computer.</a:t>
            </a:r>
          </a:p>
          <a:p>
            <a:pPr marL="0" indent="0" algn="l">
              <a:buNone/>
            </a:pPr>
            <a:r>
              <a:rPr lang="en-US" sz="1200" kern="0" dirty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≈ O(n² / log n) for n qubits.</a:t>
            </a:r>
          </a:p>
        </p:txBody>
      </p:sp>
      <p:sp>
        <p:nvSpPr>
          <p:cNvPr id="320" name="gc"/>
          <p:cNvSpPr/>
          <p:nvPr/>
        </p:nvSpPr>
        <p:spPr>
          <a:xfrm>
            <a:off x="457200" y="2010000"/>
            <a:ext cx="4023360" cy="16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1" name="gc_acc"/>
          <p:cNvSpPr/>
          <p:nvPr/>
        </p:nvSpPr>
        <p:spPr>
          <a:xfrm>
            <a:off x="457200" y="2010000"/>
            <a:ext cx="4023360" cy="82296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22" name="gch"/>
          <p:cNvSpPr/>
          <p:nvPr/>
        </p:nvSpPr>
        <p:spPr>
          <a:xfrm>
            <a:off x="697200" y="2160000"/>
            <a:ext cx="3543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8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CLIFFORD GATE SET</a:t>
            </a:r>
          </a:p>
        </p:txBody>
      </p:sp>
      <p:sp>
        <p:nvSpPr>
          <p:cNvPr id="323" name="g0"/>
          <p:cNvSpPr/>
          <p:nvPr/>
        </p:nvSpPr>
        <p:spPr>
          <a:xfrm>
            <a:off x="717200" y="2500000"/>
            <a:ext cx="520000" cy="3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4" name="gt0"/>
          <p:cNvSpPr/>
          <p:nvPr/>
        </p:nvSpPr>
        <p:spPr>
          <a:xfrm>
            <a:off x="717200" y="2500000"/>
            <a:ext cx="52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</a:p>
        </p:txBody>
      </p:sp>
      <p:sp>
        <p:nvSpPr>
          <p:cNvPr id="325" name="g1"/>
          <p:cNvSpPr/>
          <p:nvPr/>
        </p:nvSpPr>
        <p:spPr>
          <a:xfrm>
            <a:off x="1347200" y="2500000"/>
            <a:ext cx="520000" cy="3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6" name="gt1"/>
          <p:cNvSpPr/>
          <p:nvPr/>
        </p:nvSpPr>
        <p:spPr>
          <a:xfrm>
            <a:off x="1347200" y="2500000"/>
            <a:ext cx="52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</a:p>
        </p:txBody>
      </p:sp>
      <p:sp>
        <p:nvSpPr>
          <p:cNvPr id="327" name="g2"/>
          <p:cNvSpPr/>
          <p:nvPr/>
        </p:nvSpPr>
        <p:spPr>
          <a:xfrm>
            <a:off x="1977200" y="2500000"/>
            <a:ext cx="520000" cy="3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28" name="gt2"/>
          <p:cNvSpPr/>
          <p:nvPr/>
        </p:nvSpPr>
        <p:spPr>
          <a:xfrm>
            <a:off x="1977200" y="2500000"/>
            <a:ext cx="52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CNOT</a:t>
            </a:r>
          </a:p>
        </p:txBody>
      </p:sp>
      <p:sp>
        <p:nvSpPr>
          <p:cNvPr id="329" name="g3"/>
          <p:cNvSpPr/>
          <p:nvPr/>
        </p:nvSpPr>
        <p:spPr>
          <a:xfrm>
            <a:off x="2607200" y="2500000"/>
            <a:ext cx="520000" cy="3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0" name="gt3"/>
          <p:cNvSpPr/>
          <p:nvPr/>
        </p:nvSpPr>
        <p:spPr>
          <a:xfrm>
            <a:off x="2607200" y="2500000"/>
            <a:ext cx="52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</a:p>
        </p:txBody>
      </p:sp>
      <p:sp>
        <p:nvSpPr>
          <p:cNvPr id="331" name="g4"/>
          <p:cNvSpPr/>
          <p:nvPr/>
        </p:nvSpPr>
        <p:spPr>
          <a:xfrm>
            <a:off x="717200" y="2900000"/>
            <a:ext cx="520000" cy="3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2" name="gt4"/>
          <p:cNvSpPr/>
          <p:nvPr/>
        </p:nvSpPr>
        <p:spPr>
          <a:xfrm>
            <a:off x="717200" y="2900000"/>
            <a:ext cx="52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</a:p>
        </p:txBody>
      </p:sp>
      <p:sp>
        <p:nvSpPr>
          <p:cNvPr id="333" name="g5"/>
          <p:cNvSpPr/>
          <p:nvPr/>
        </p:nvSpPr>
        <p:spPr>
          <a:xfrm>
            <a:off x="1347200" y="2900000"/>
            <a:ext cx="520000" cy="3300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4" name="gt5"/>
          <p:cNvSpPr/>
          <p:nvPr/>
        </p:nvSpPr>
        <p:spPr>
          <a:xfrm>
            <a:off x="1347200" y="2900000"/>
            <a:ext cx="520000" cy="33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</a:p>
        </p:txBody>
      </p:sp>
      <p:sp>
        <p:nvSpPr>
          <p:cNvPr id="335" name="gn"/>
          <p:cNvSpPr/>
          <p:nvPr/>
        </p:nvSpPr>
        <p:spPr>
          <a:xfrm>
            <a:off x="697200" y="3370000"/>
            <a:ext cx="3543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H, S and CNOT.</a:t>
            </a:r>
          </a:p>
        </p:txBody>
      </p:sp>
      <p:sp>
        <p:nvSpPr>
          <p:cNvPr id="336" name="wc"/>
          <p:cNvSpPr/>
          <p:nvPr/>
        </p:nvSpPr>
        <p:spPr>
          <a:xfrm>
            <a:off x="4663440" y="2010000"/>
            <a:ext cx="4023360" cy="162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37" name="wc_acc"/>
          <p:cNvSpPr/>
          <p:nvPr/>
        </p:nvSpPr>
        <p:spPr>
          <a:xfrm>
            <a:off x="4663440" y="2010000"/>
            <a:ext cx="402336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38" name="wch"/>
          <p:cNvSpPr/>
          <p:nvPr/>
        </p:nvSpPr>
        <p:spPr>
          <a:xfrm>
            <a:off x="4903440" y="2160000"/>
            <a:ext cx="354336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8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</a:p>
        </p:txBody>
      </p:sp>
      <p:sp>
        <p:nvSpPr>
          <p:cNvPr id="339" name="wcb"/>
          <p:cNvSpPr/>
          <p:nvPr/>
        </p:nvSpPr>
        <p:spPr>
          <a:xfrm>
            <a:off x="4903440" y="2460000"/>
            <a:ext cx="378336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0000" indent="-300000" algn="l">
              <a:lnSpc>
                <a:spcPct val="104000"/>
              </a:lnSpc>
              <a:spcAft>
                <a:spcPts val="260"/>
              </a:spcAft>
              <a:buSzPct val="90000"/>
              <a:buChar char="•"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speed-up alone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 quantum advantage on their own.</a:t>
            </a:r>
          </a:p>
          <a:p>
            <a:pPr marL="300000" indent="-300000" algn="l">
              <a:lnSpc>
                <a:spcPct val="104000"/>
              </a:lnSpc>
              <a:buSzPct val="90000"/>
              <a:buChar char="•"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QEC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makes syndrome decoding efficient.</a:t>
            </a:r>
          </a:p>
        </p:txBody>
      </p:sp>
      <p:sp>
        <p:nvSpPr>
          <p:cNvPr id="340" name="tg"/>
          <p:cNvSpPr/>
          <p:nvPr/>
        </p:nvSpPr>
        <p:spPr>
          <a:xfrm>
            <a:off x="4903440" y="3330000"/>
            <a:ext cx="3543360" cy="250000"/>
          </a:xfrm>
          <a:prstGeom prst="rect">
            <a:avLst/>
          </a:prstGeom>
          <a:solidFill>
            <a:srgbClr val="F3EAF6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41" name="tgt"/>
          <p:cNvSpPr/>
          <p:nvPr/>
        </p:nvSpPr>
        <p:spPr>
          <a:xfrm>
            <a:off x="4903440" y="3330000"/>
            <a:ext cx="354336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comes from non-Clifford gates  (e.g. T).</a:t>
            </a:r>
          </a:p>
        </p:txBody>
      </p:sp>
      <p:sp>
        <p:nvSpPr>
          <p:cNvPr id="342" name="nb"/>
          <p:cNvSpPr/>
          <p:nvPr/>
        </p:nvSpPr>
        <p:spPr>
          <a:xfrm>
            <a:off x="457200" y="3760000"/>
            <a:ext cx="8229600" cy="50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3" name="nbt"/>
          <p:cNvSpPr/>
          <p:nvPr/>
        </p:nvSpPr>
        <p:spPr>
          <a:xfrm>
            <a:off x="697200" y="3760000"/>
            <a:ext cx="79896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useless — it is the scaffolding of fault tolerance: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cheap to track, indispensable for protecting the logical qubits.</a:t>
            </a:r>
          </a:p>
        </p:txBody>
      </p:sp>
      <p:sp>
        <p:nvSpPr>
          <p:cNvPr id="344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345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·  BLOCK 3</a:t>
            </a:r>
          </a:p>
        </p:txBody>
      </p:sp>
      <p:sp>
        <p:nvSpPr>
          <p:cNvPr id="347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 3 Recap &amp; Check-in</a:t>
            </a:r>
          </a:p>
        </p:txBody>
      </p:sp>
      <p:sp>
        <p:nvSpPr>
          <p:cNvPr id="348" name="chip"/>
          <p:cNvSpPr/>
          <p:nvPr/>
        </p:nvSpPr>
        <p:spPr>
          <a:xfrm>
            <a:off x="457199" y="1640000"/>
            <a:ext cx="407211" cy="38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49" name="chipn"/>
          <p:cNvSpPr/>
          <p:nvPr/>
        </p:nvSpPr>
        <p:spPr>
          <a:xfrm>
            <a:off x="457199" y="1640000"/>
            <a:ext cx="407211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</a:p>
        </p:txBody>
      </p:sp>
      <p:sp>
        <p:nvSpPr>
          <p:cNvPr id="350" name="tk"/>
          <p:cNvSpPr/>
          <p:nvPr/>
        </p:nvSpPr>
        <p:spPr>
          <a:xfrm>
            <a:off x="1057200" y="1610000"/>
            <a:ext cx="3932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stabilizer formalism unifies every quantum code.</a:t>
            </a:r>
          </a:p>
        </p:txBody>
      </p:sp>
      <p:sp>
        <p:nvSpPr>
          <p:cNvPr id="351" name="chip"/>
          <p:cNvSpPr/>
          <p:nvPr/>
        </p:nvSpPr>
        <p:spPr>
          <a:xfrm>
            <a:off x="457199" y="2200000"/>
            <a:ext cx="407211" cy="38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52" name="chipn"/>
          <p:cNvSpPr/>
          <p:nvPr/>
        </p:nvSpPr>
        <p:spPr>
          <a:xfrm>
            <a:off x="457199" y="2200000"/>
            <a:ext cx="407211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353" name="tk"/>
          <p:cNvSpPr/>
          <p:nvPr/>
        </p:nvSpPr>
        <p:spPr>
          <a:xfrm>
            <a:off x="1057200" y="2170000"/>
            <a:ext cx="3932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Commuting Pauli generators define the code space.</a:t>
            </a:r>
          </a:p>
        </p:txBody>
      </p:sp>
      <p:sp>
        <p:nvSpPr>
          <p:cNvPr id="354" name="chip"/>
          <p:cNvSpPr/>
          <p:nvPr/>
        </p:nvSpPr>
        <p:spPr>
          <a:xfrm>
            <a:off x="457199" y="2760000"/>
            <a:ext cx="407211" cy="38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55" name="chipn"/>
          <p:cNvSpPr/>
          <p:nvPr/>
        </p:nvSpPr>
        <p:spPr>
          <a:xfrm>
            <a:off x="457199" y="2760000"/>
            <a:ext cx="407211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</a:p>
        </p:txBody>
      </p:sp>
      <p:sp>
        <p:nvSpPr>
          <p:cNvPr id="356" name="tk"/>
          <p:cNvSpPr/>
          <p:nvPr/>
        </p:nvSpPr>
        <p:spPr>
          <a:xfrm>
            <a:off x="1057200" y="2730000"/>
            <a:ext cx="3932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= the minimum weight of an undetected error.</a:t>
            </a:r>
          </a:p>
        </p:txBody>
      </p:sp>
      <p:sp>
        <p:nvSpPr>
          <p:cNvPr id="357" name="chip"/>
          <p:cNvSpPr/>
          <p:nvPr/>
        </p:nvSpPr>
        <p:spPr>
          <a:xfrm>
            <a:off x="457199" y="3320000"/>
            <a:ext cx="407211" cy="38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58" name="chipn"/>
          <p:cNvSpPr/>
          <p:nvPr/>
        </p:nvSpPr>
        <p:spPr>
          <a:xfrm>
            <a:off x="457199" y="3320000"/>
            <a:ext cx="407211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</a:p>
        </p:txBody>
      </p:sp>
      <p:sp>
        <p:nvSpPr>
          <p:cNvPr id="359" name="tk"/>
          <p:cNvSpPr/>
          <p:nvPr/>
        </p:nvSpPr>
        <p:spPr>
          <a:xfrm>
            <a:off x="1057200" y="3290000"/>
            <a:ext cx="3932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codes bridge classical and quantum coding.</a:t>
            </a:r>
          </a:p>
        </p:txBody>
      </p:sp>
      <p:sp>
        <p:nvSpPr>
          <p:cNvPr id="360" name="chip"/>
          <p:cNvSpPr/>
          <p:nvPr/>
        </p:nvSpPr>
        <p:spPr>
          <a:xfrm>
            <a:off x="457199" y="3880000"/>
            <a:ext cx="407211" cy="380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61" name="chipn"/>
          <p:cNvSpPr/>
          <p:nvPr/>
        </p:nvSpPr>
        <p:spPr>
          <a:xfrm>
            <a:off x="457199" y="3880000"/>
            <a:ext cx="407211" cy="3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</a:p>
        </p:txBody>
      </p:sp>
      <p:sp>
        <p:nvSpPr>
          <p:cNvPr id="362" name="tk"/>
          <p:cNvSpPr/>
          <p:nvPr/>
        </p:nvSpPr>
        <p:spPr>
          <a:xfrm>
            <a:off x="1057200" y="3850000"/>
            <a:ext cx="3932800" cy="4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Gottesman–Knill enables efficient classical simulation.</a:t>
            </a:r>
          </a:p>
        </p:txBody>
      </p:sp>
      <p:sp>
        <p:nvSpPr>
          <p:cNvPr id="363" name="poll"/>
          <p:cNvSpPr/>
          <p:nvPr/>
        </p:nvSpPr>
        <p:spPr>
          <a:xfrm>
            <a:off x="5250000" y="1620000"/>
            <a:ext cx="3436800" cy="274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4" name="poll_acc"/>
          <p:cNvSpPr/>
          <p:nvPr/>
        </p:nvSpPr>
        <p:spPr>
          <a:xfrm>
            <a:off x="5250000" y="1620000"/>
            <a:ext cx="34368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5" name="ph"/>
          <p:cNvSpPr/>
          <p:nvPr/>
        </p:nvSpPr>
        <p:spPr>
          <a:xfrm>
            <a:off x="5510000" y="1780000"/>
            <a:ext cx="29168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kern="0" spc="12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POLL</a:t>
            </a:r>
          </a:p>
        </p:txBody>
      </p:sp>
      <p:sp>
        <p:nvSpPr>
          <p:cNvPr id="366" name="pq"/>
          <p:cNvSpPr/>
          <p:nvPr/>
        </p:nvSpPr>
        <p:spPr>
          <a:xfrm>
            <a:off x="5510000" y="2090000"/>
            <a:ext cx="29168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stabilizer generators does the 7-qubit Steane code have?</a:t>
            </a:r>
          </a:p>
        </p:txBody>
      </p:sp>
      <p:sp>
        <p:nvSpPr>
          <p:cNvPr id="367" name="po"/>
          <p:cNvSpPr/>
          <p:nvPr/>
        </p:nvSpPr>
        <p:spPr>
          <a:xfrm>
            <a:off x="5550000" y="2920000"/>
            <a:ext cx="28768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2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  4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  6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  8</a:t>
            </a:r>
          </a:p>
          <a:p>
            <a:pPr marL="0" indent="0" algn="l">
              <a:spcAft>
                <a:spcPts val="300"/>
              </a:spcAft>
              <a:buNone/>
            </a:pPr>
            <a:r>
              <a:rPr lang="en-US" sz="12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   9</a:t>
            </a:r>
          </a:p>
        </p:txBody>
      </p:sp>
      <p:sp>
        <p:nvSpPr>
          <p:cNvPr id="368" name="pn"/>
          <p:cNvSpPr/>
          <p:nvPr/>
        </p:nvSpPr>
        <p:spPr>
          <a:xfrm>
            <a:off x="5510000" y="4060000"/>
            <a:ext cx="2916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i="1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Think-pair-share, then vote.</a:t>
            </a:r>
          </a:p>
        </p:txBody>
      </p:sp>
      <p:sp>
        <p:nvSpPr>
          <p:cNvPr id="369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370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lbar"/>
          <p:cNvSpPr/>
          <p:nvPr/>
        </p:nvSpPr>
        <p:spPr>
          <a:xfrm>
            <a:off x="0" y="0"/>
            <a:ext cx="80000" cy="51435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2" name="eb"/>
          <p:cNvSpPr/>
          <p:nvPr/>
        </p:nvSpPr>
        <p:spPr>
          <a:xfrm>
            <a:off x="457200" y="1450000"/>
            <a:ext cx="82296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30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3 COMPLETE</a:t>
            </a:r>
          </a:p>
        </p:txBody>
      </p:sp>
      <p:sp>
        <p:nvSpPr>
          <p:cNvPr id="373" name="bt"/>
          <p:cNvSpPr/>
          <p:nvPr/>
        </p:nvSpPr>
        <p:spPr>
          <a:xfrm>
            <a:off x="457200" y="1820000"/>
            <a:ext cx="8229600" cy="7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 — 10 Minutes</a:t>
            </a:r>
          </a:p>
        </p:txBody>
      </p:sp>
      <p:sp>
        <p:nvSpPr>
          <p:cNvPr id="374" name="bs"/>
          <p:cNvSpPr/>
          <p:nvPr/>
        </p:nvSpPr>
        <p:spPr>
          <a:xfrm>
            <a:off x="457200" y="2720000"/>
            <a:ext cx="82296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kern="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Stretch and reset — next we protect quantum information with geometry.</a:t>
            </a:r>
          </a:p>
        </p:txBody>
      </p:sp>
      <p:sp>
        <p:nvSpPr>
          <p:cNvPr id="375" name="pcd"/>
          <p:cNvSpPr/>
          <p:nvPr/>
        </p:nvSpPr>
        <p:spPr>
          <a:xfrm>
            <a:off x="1572000" y="3350000"/>
            <a:ext cx="6000000" cy="640000"/>
          </a:xfrm>
          <a:prstGeom prst="rect">
            <a:avLst/>
          </a:prstGeom>
          <a:solidFill>
            <a:srgbClr val="234A6E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6" name="pct"/>
          <p:cNvSpPr/>
          <p:nvPr/>
        </p:nvSpPr>
        <p:spPr>
          <a:xfrm>
            <a:off x="1772000" y="3350000"/>
            <a:ext cx="56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prompt:   </a:t>
            </a:r>
            <a:r>
              <a:rPr lang="en-US" sz="1250" ker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we protect quantum information using geometry?</a:t>
            </a:r>
          </a:p>
        </p:txBody>
      </p:sp>
      <p:sp>
        <p:nvSpPr>
          <p:cNvPr id="377" name="bf"/>
          <p:cNvSpPr/>
          <p:nvPr/>
        </p:nvSpPr>
        <p:spPr>
          <a:xfrm>
            <a:off x="457200" y="4520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100">
                <a:solidFill>
                  <a:srgbClr val="AFC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2.6  ·  Quantum Error Correction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  ·  BLOCK 4</a:t>
            </a:r>
          </a:p>
        </p:txBody>
      </p:sp>
      <p:sp>
        <p:nvSpPr>
          <p:cNvPr id="3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 to Topological Codes</a:t>
            </a:r>
          </a:p>
        </p:txBody>
      </p:sp>
      <p:sp>
        <p:nvSpPr>
          <p:cNvPr id="4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Stabilizer codes ignore geometry. Topological codes place qubits on a 2D lattice — local checks, high thresholds, and a layout real hardware can build.</a:t>
            </a:r>
          </a:p>
        </p:txBody>
      </p:sp>
      <p:sp>
        <p:nvSpPr>
          <p:cNvPr id="5" name="lim"/>
          <p:cNvSpPr/>
          <p:nvPr/>
        </p:nvSpPr>
        <p:spPr>
          <a:xfrm>
            <a:off x="457200" y="1740000"/>
            <a:ext cx="3760000" cy="206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6" name="lim_acc"/>
          <p:cNvSpPr/>
          <p:nvPr/>
        </p:nvSpPr>
        <p:spPr>
          <a:xfrm>
            <a:off x="457200" y="1740000"/>
            <a:ext cx="3760000" cy="8229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limh"/>
          <p:cNvSpPr/>
          <p:nvPr/>
        </p:nvSpPr>
        <p:spPr>
          <a:xfrm>
            <a:off x="697200" y="1900000"/>
            <a:ext cx="3280000" cy="2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8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LIMITATION SO FAR</a:t>
            </a:r>
          </a:p>
        </p:txBody>
      </p:sp>
      <p:sp>
        <p:nvSpPr>
          <p:cNvPr id="8" name="limb"/>
          <p:cNvSpPr/>
          <p:nvPr/>
        </p:nvSpPr>
        <p:spPr>
          <a:xfrm>
            <a:off x="697200" y="2260000"/>
            <a:ext cx="32800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0000" indent="-300000" algn="l">
              <a:lnSpc>
                <a:spcPct val="104000"/>
              </a:lnSpc>
              <a:spcAft>
                <a:spcPts val="52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Stabilizer generators can act on far-apart qubits.</a:t>
            </a:r>
          </a:p>
          <a:p>
            <a:pPr marL="300000" indent="-300000" algn="l">
              <a:lnSpc>
                <a:spcPct val="104000"/>
              </a:lnSpc>
              <a:spcAft>
                <a:spcPts val="52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connectivity is hard to wire on a real chip.</a:t>
            </a:r>
          </a:p>
          <a:p>
            <a:pPr marL="300000" indent="-300000" algn="l">
              <a:lnSpc>
                <a:spcPct val="104000"/>
              </a:lnSpc>
              <a:spcAft>
                <a:spcPts val="52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non-local parities is slow and noisy.</a:t>
            </a:r>
          </a:p>
        </p:txBody>
      </p:sp>
      <p:sp>
        <p:nvSpPr>
          <p:cNvPr id="9" name="pp0"/>
          <p:cNvSpPr/>
          <p:nvPr/>
        </p:nvSpPr>
        <p:spPr>
          <a:xfrm>
            <a:off x="4360000" y="1740000"/>
            <a:ext cx="4326800" cy="6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" name="pp0_b"/>
          <p:cNvSpPr/>
          <p:nvPr/>
        </p:nvSpPr>
        <p:spPr>
          <a:xfrm>
            <a:off x="4360000" y="1740000"/>
            <a:ext cx="64000" cy="62000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1" name="ppt0"/>
          <p:cNvSpPr/>
          <p:nvPr/>
        </p:nvSpPr>
        <p:spPr>
          <a:xfrm>
            <a:off x="4580000" y="1850000"/>
            <a:ext cx="39668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locality</a:t>
            </a:r>
          </a:p>
        </p:txBody>
      </p:sp>
      <p:sp>
        <p:nvSpPr>
          <p:cNvPr id="12" name="ppd0"/>
          <p:cNvSpPr/>
          <p:nvPr/>
        </p:nvSpPr>
        <p:spPr>
          <a:xfrm>
            <a:off x="4580000" y="2120000"/>
            <a:ext cx="3966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touch only neighbouring qubits.</a:t>
            </a:r>
          </a:p>
        </p:txBody>
      </p:sp>
      <p:sp>
        <p:nvSpPr>
          <p:cNvPr id="13" name="pp1"/>
          <p:cNvSpPr/>
          <p:nvPr/>
        </p:nvSpPr>
        <p:spPr>
          <a:xfrm>
            <a:off x="4360000" y="2460000"/>
            <a:ext cx="4326800" cy="6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4" name="pp1_b"/>
          <p:cNvSpPr/>
          <p:nvPr/>
        </p:nvSpPr>
        <p:spPr>
          <a:xfrm>
            <a:off x="4360000" y="2460000"/>
            <a:ext cx="64000" cy="62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5" name="ppt1"/>
          <p:cNvSpPr/>
          <p:nvPr/>
        </p:nvSpPr>
        <p:spPr>
          <a:xfrm>
            <a:off x="4580000" y="2570000"/>
            <a:ext cx="39668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threshold</a:t>
            </a:r>
          </a:p>
        </p:txBody>
      </p:sp>
      <p:sp>
        <p:nvSpPr>
          <p:cNvPr id="16" name="ppd1"/>
          <p:cNvSpPr/>
          <p:nvPr/>
        </p:nvSpPr>
        <p:spPr>
          <a:xfrm>
            <a:off x="4580000" y="2840000"/>
            <a:ext cx="3966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Tolerates roughly a 1% physical error rate.</a:t>
            </a:r>
          </a:p>
        </p:txBody>
      </p:sp>
      <p:sp>
        <p:nvSpPr>
          <p:cNvPr id="17" name="pp2"/>
          <p:cNvSpPr/>
          <p:nvPr/>
        </p:nvSpPr>
        <p:spPr>
          <a:xfrm>
            <a:off x="4360000" y="3180000"/>
            <a:ext cx="4326800" cy="6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8" name="pp2_b"/>
          <p:cNvSpPr/>
          <p:nvPr/>
        </p:nvSpPr>
        <p:spPr>
          <a:xfrm>
            <a:off x="4360000" y="3180000"/>
            <a:ext cx="64000" cy="620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ppt2"/>
          <p:cNvSpPr/>
          <p:nvPr/>
        </p:nvSpPr>
        <p:spPr>
          <a:xfrm>
            <a:off x="4580000" y="3290000"/>
            <a:ext cx="39668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by design</a:t>
            </a:r>
          </a:p>
        </p:txBody>
      </p:sp>
      <p:sp>
        <p:nvSpPr>
          <p:cNvPr id="20" name="ppd2"/>
          <p:cNvSpPr/>
          <p:nvPr/>
        </p:nvSpPr>
        <p:spPr>
          <a:xfrm>
            <a:off x="4580000" y="3560000"/>
            <a:ext cx="3966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more by tiling a larger 2D patch.</a:t>
            </a:r>
          </a:p>
        </p:txBody>
      </p:sp>
      <p:sp>
        <p:nvSpPr>
          <p:cNvPr id="21" name="kb"/>
          <p:cNvSpPr/>
          <p:nvPr/>
        </p:nvSpPr>
        <p:spPr>
          <a:xfrm>
            <a:off x="457200" y="3990000"/>
            <a:ext cx="8229600" cy="56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kbt"/>
          <p:cNvSpPr/>
          <p:nvPr/>
        </p:nvSpPr>
        <p:spPr>
          <a:xfrm>
            <a:off x="697200" y="3990000"/>
            <a:ext cx="774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 Alexei </a:t>
            </a:r>
            <a:r>
              <a:rPr lang="en-US" sz="1400" b="1" kern="0" dirty="0" err="1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Kitaev</a:t>
            </a:r>
            <a:r>
              <a:rPr lang="en-US" sz="14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(1997):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</a:t>
            </a:r>
            <a:r>
              <a:rPr lang="en-US" sz="1400" kern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toric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code — the first topological quantum code, born from the physics of the torus.</a:t>
            </a:r>
          </a:p>
        </p:txBody>
      </p:sp>
      <p:sp>
        <p:nvSpPr>
          <p:cNvPr id="23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4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4</a:t>
            </a:r>
          </a:p>
        </p:txBody>
      </p:sp>
      <p:sp>
        <p:nvSpPr>
          <p:cNvPr id="26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Toric Code: Geometry</a:t>
            </a:r>
          </a:p>
        </p:txBody>
      </p:sp>
      <p:sp>
        <p:nvSpPr>
          <p:cNvPr id="27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live on the edges of an L×L grid wrapped into a torus — every stabilizer is a local, four-qubit check.</a:t>
            </a:r>
          </a:p>
        </p:txBody>
      </p:sp>
      <p:sp>
        <p:nvSpPr>
          <p:cNvPr id="28" name="e"/>
          <p:cNvSpPr/>
          <p:nvPr/>
        </p:nvSpPr>
        <p:spPr>
          <a:xfrm>
            <a:off x="607200" y="1900000"/>
            <a:ext cx="186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e"/>
          <p:cNvSpPr/>
          <p:nvPr/>
        </p:nvSpPr>
        <p:spPr>
          <a:xfrm>
            <a:off x="607200" y="1900000"/>
            <a:ext cx="0" cy="186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e"/>
          <p:cNvSpPr/>
          <p:nvPr/>
        </p:nvSpPr>
        <p:spPr>
          <a:xfrm>
            <a:off x="607200" y="2520000"/>
            <a:ext cx="186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e"/>
          <p:cNvSpPr/>
          <p:nvPr/>
        </p:nvSpPr>
        <p:spPr>
          <a:xfrm>
            <a:off x="1227200" y="1900000"/>
            <a:ext cx="0" cy="186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e"/>
          <p:cNvSpPr/>
          <p:nvPr/>
        </p:nvSpPr>
        <p:spPr>
          <a:xfrm>
            <a:off x="607200" y="3140000"/>
            <a:ext cx="186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e"/>
          <p:cNvSpPr/>
          <p:nvPr/>
        </p:nvSpPr>
        <p:spPr>
          <a:xfrm>
            <a:off x="1847200" y="1900000"/>
            <a:ext cx="0" cy="186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e"/>
          <p:cNvSpPr/>
          <p:nvPr/>
        </p:nvSpPr>
        <p:spPr>
          <a:xfrm>
            <a:off x="607200" y="3760000"/>
            <a:ext cx="186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e"/>
          <p:cNvSpPr/>
          <p:nvPr/>
        </p:nvSpPr>
        <p:spPr>
          <a:xfrm>
            <a:off x="2467200" y="1900000"/>
            <a:ext cx="0" cy="186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q"/>
          <p:cNvSpPr/>
          <p:nvPr/>
        </p:nvSpPr>
        <p:spPr>
          <a:xfrm>
            <a:off x="871200" y="18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q"/>
          <p:cNvSpPr/>
          <p:nvPr/>
        </p:nvSpPr>
        <p:spPr>
          <a:xfrm>
            <a:off x="871200" y="247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q"/>
          <p:cNvSpPr/>
          <p:nvPr/>
        </p:nvSpPr>
        <p:spPr>
          <a:xfrm>
            <a:off x="871200" y="309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q"/>
          <p:cNvSpPr/>
          <p:nvPr/>
        </p:nvSpPr>
        <p:spPr>
          <a:xfrm>
            <a:off x="871200" y="37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q"/>
          <p:cNvSpPr/>
          <p:nvPr/>
        </p:nvSpPr>
        <p:spPr>
          <a:xfrm>
            <a:off x="1491200" y="18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q"/>
          <p:cNvSpPr/>
          <p:nvPr/>
        </p:nvSpPr>
        <p:spPr>
          <a:xfrm>
            <a:off x="1491200" y="247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q"/>
          <p:cNvSpPr/>
          <p:nvPr/>
        </p:nvSpPr>
        <p:spPr>
          <a:xfrm>
            <a:off x="1491200" y="309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q"/>
          <p:cNvSpPr/>
          <p:nvPr/>
        </p:nvSpPr>
        <p:spPr>
          <a:xfrm>
            <a:off x="1491200" y="37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q"/>
          <p:cNvSpPr/>
          <p:nvPr/>
        </p:nvSpPr>
        <p:spPr>
          <a:xfrm>
            <a:off x="2111200" y="18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q"/>
          <p:cNvSpPr/>
          <p:nvPr/>
        </p:nvSpPr>
        <p:spPr>
          <a:xfrm>
            <a:off x="2111200" y="247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q"/>
          <p:cNvSpPr/>
          <p:nvPr/>
        </p:nvSpPr>
        <p:spPr>
          <a:xfrm>
            <a:off x="2111200" y="309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q"/>
          <p:cNvSpPr/>
          <p:nvPr/>
        </p:nvSpPr>
        <p:spPr>
          <a:xfrm>
            <a:off x="2111200" y="37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q"/>
          <p:cNvSpPr/>
          <p:nvPr/>
        </p:nvSpPr>
        <p:spPr>
          <a:xfrm>
            <a:off x="561200" y="216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q"/>
          <p:cNvSpPr/>
          <p:nvPr/>
        </p:nvSpPr>
        <p:spPr>
          <a:xfrm>
            <a:off x="561200" y="278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q"/>
          <p:cNvSpPr/>
          <p:nvPr/>
        </p:nvSpPr>
        <p:spPr>
          <a:xfrm>
            <a:off x="561200" y="340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q"/>
          <p:cNvSpPr/>
          <p:nvPr/>
        </p:nvSpPr>
        <p:spPr>
          <a:xfrm>
            <a:off x="1181200" y="216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q"/>
          <p:cNvSpPr/>
          <p:nvPr/>
        </p:nvSpPr>
        <p:spPr>
          <a:xfrm>
            <a:off x="1181200" y="278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q"/>
          <p:cNvSpPr/>
          <p:nvPr/>
        </p:nvSpPr>
        <p:spPr>
          <a:xfrm>
            <a:off x="1181200" y="340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q"/>
          <p:cNvSpPr/>
          <p:nvPr/>
        </p:nvSpPr>
        <p:spPr>
          <a:xfrm>
            <a:off x="1801200" y="216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q"/>
          <p:cNvSpPr/>
          <p:nvPr/>
        </p:nvSpPr>
        <p:spPr>
          <a:xfrm>
            <a:off x="1801200" y="278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q"/>
          <p:cNvSpPr/>
          <p:nvPr/>
        </p:nvSpPr>
        <p:spPr>
          <a:xfrm>
            <a:off x="1801200" y="340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q"/>
          <p:cNvSpPr/>
          <p:nvPr/>
        </p:nvSpPr>
        <p:spPr>
          <a:xfrm>
            <a:off x="2421200" y="216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q"/>
          <p:cNvSpPr/>
          <p:nvPr/>
        </p:nvSpPr>
        <p:spPr>
          <a:xfrm>
            <a:off x="2421200" y="278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q"/>
          <p:cNvSpPr/>
          <p:nvPr/>
        </p:nvSpPr>
        <p:spPr>
          <a:xfrm>
            <a:off x="2421200" y="340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plq"/>
          <p:cNvSpPr/>
          <p:nvPr/>
        </p:nvSpPr>
        <p:spPr>
          <a:xfrm>
            <a:off x="1297200" y="2590000"/>
            <a:ext cx="480000" cy="480000"/>
          </a:xfrm>
          <a:prstGeom prst="rect">
            <a:avLst/>
          </a:prstGeom>
          <a:noFill/>
          <a:ln w="28575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plqz"/>
          <p:cNvSpPr/>
          <p:nvPr/>
        </p:nvSpPr>
        <p:spPr>
          <a:xfrm>
            <a:off x="1227200" y="2520000"/>
            <a:ext cx="620000" cy="6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</a:p>
        </p:txBody>
      </p:sp>
      <p:sp>
        <p:nvSpPr>
          <p:cNvPr id="62" name="q"/>
          <p:cNvSpPr/>
          <p:nvPr/>
        </p:nvSpPr>
        <p:spPr>
          <a:xfrm>
            <a:off x="1485200" y="2468000"/>
            <a:ext cx="104000" cy="104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q"/>
          <p:cNvSpPr/>
          <p:nvPr/>
        </p:nvSpPr>
        <p:spPr>
          <a:xfrm>
            <a:off x="1485200" y="3088000"/>
            <a:ext cx="104000" cy="104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q"/>
          <p:cNvSpPr/>
          <p:nvPr/>
        </p:nvSpPr>
        <p:spPr>
          <a:xfrm>
            <a:off x="1175200" y="2778000"/>
            <a:ext cx="104000" cy="104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q"/>
          <p:cNvSpPr/>
          <p:nvPr/>
        </p:nvSpPr>
        <p:spPr>
          <a:xfrm>
            <a:off x="1795200" y="2778000"/>
            <a:ext cx="104000" cy="104000"/>
          </a:xfrm>
          <a:prstGeom prst="ellipse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q"/>
          <p:cNvSpPr/>
          <p:nvPr/>
        </p:nvSpPr>
        <p:spPr>
          <a:xfrm>
            <a:off x="1781200" y="2454000"/>
            <a:ext cx="132000" cy="132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7" name="q"/>
          <p:cNvSpPr/>
          <p:nvPr/>
        </p:nvSpPr>
        <p:spPr>
          <a:xfrm>
            <a:off x="1485200" y="2468000"/>
            <a:ext cx="104000" cy="104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q"/>
          <p:cNvSpPr/>
          <p:nvPr/>
        </p:nvSpPr>
        <p:spPr>
          <a:xfrm>
            <a:off x="2105200" y="2468000"/>
            <a:ext cx="104000" cy="104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q"/>
          <p:cNvSpPr/>
          <p:nvPr/>
        </p:nvSpPr>
        <p:spPr>
          <a:xfrm>
            <a:off x="1795200" y="2158000"/>
            <a:ext cx="104000" cy="104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q"/>
          <p:cNvSpPr/>
          <p:nvPr/>
        </p:nvSpPr>
        <p:spPr>
          <a:xfrm>
            <a:off x="1795200" y="2778000"/>
            <a:ext cx="104000" cy="104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vxx"/>
          <p:cNvSpPr/>
          <p:nvPr/>
        </p:nvSpPr>
        <p:spPr>
          <a:xfrm>
            <a:off x="1925200" y="2220000"/>
            <a:ext cx="36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</a:p>
        </p:txBody>
      </p:sp>
      <p:sp>
        <p:nvSpPr>
          <p:cNvPr id="72" name="zc"/>
          <p:cNvSpPr/>
          <p:nvPr/>
        </p:nvSpPr>
        <p:spPr>
          <a:xfrm>
            <a:off x="3560000" y="1820000"/>
            <a:ext cx="5126800" cy="64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3" name="zc_acc"/>
          <p:cNvSpPr/>
          <p:nvPr/>
        </p:nvSpPr>
        <p:spPr>
          <a:xfrm>
            <a:off x="3560000" y="1820000"/>
            <a:ext cx="51268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4" name="zch"/>
          <p:cNvSpPr/>
          <p:nvPr/>
        </p:nvSpPr>
        <p:spPr>
          <a:xfrm>
            <a:off x="3780000" y="1940000"/>
            <a:ext cx="468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4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PLAQUETTE OPERATOR  (Z-type)</a:t>
            </a:r>
          </a:p>
        </p:txBody>
      </p:sp>
      <p:sp>
        <p:nvSpPr>
          <p:cNvPr id="75" name="zcb"/>
          <p:cNvSpPr/>
          <p:nvPr/>
        </p:nvSpPr>
        <p:spPr>
          <a:xfrm>
            <a:off x="3780000" y="2220000"/>
            <a:ext cx="4686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on the four edges around a face.</a:t>
            </a:r>
          </a:p>
        </p:txBody>
      </p:sp>
      <p:sp>
        <p:nvSpPr>
          <p:cNvPr id="76" name="xc"/>
          <p:cNvSpPr/>
          <p:nvPr/>
        </p:nvSpPr>
        <p:spPr>
          <a:xfrm>
            <a:off x="3560000" y="2560000"/>
            <a:ext cx="5126800" cy="64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77" name="xc_acc"/>
          <p:cNvSpPr/>
          <p:nvPr/>
        </p:nvSpPr>
        <p:spPr>
          <a:xfrm>
            <a:off x="3560000" y="2560000"/>
            <a:ext cx="512680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8" name="xch"/>
          <p:cNvSpPr/>
          <p:nvPr/>
        </p:nvSpPr>
        <p:spPr>
          <a:xfrm>
            <a:off x="3780000" y="2680000"/>
            <a:ext cx="468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4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VERTEX OPERATOR  (X-type)</a:t>
            </a:r>
          </a:p>
        </p:txBody>
      </p:sp>
      <p:sp>
        <p:nvSpPr>
          <p:cNvPr id="79" name="xcb"/>
          <p:cNvSpPr/>
          <p:nvPr/>
        </p:nvSpPr>
        <p:spPr>
          <a:xfrm>
            <a:off x="3780000" y="2960000"/>
            <a:ext cx="4686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on the four edges meeting a vertex.</a:t>
            </a:r>
          </a:p>
        </p:txBody>
      </p:sp>
      <p:sp>
        <p:nvSpPr>
          <p:cNvPr id="80" name="nc"/>
          <p:cNvSpPr/>
          <p:nvPr/>
        </p:nvSpPr>
        <p:spPr>
          <a:xfrm>
            <a:off x="3560000" y="3300000"/>
            <a:ext cx="5126800" cy="56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81" name="nc_acc"/>
          <p:cNvSpPr/>
          <p:nvPr/>
        </p:nvSpPr>
        <p:spPr>
          <a:xfrm>
            <a:off x="3560000" y="3300000"/>
            <a:ext cx="512680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2" name="ncb"/>
          <p:cNvSpPr/>
          <p:nvPr/>
        </p:nvSpPr>
        <p:spPr>
          <a:xfrm>
            <a:off x="3780000" y="3300000"/>
            <a:ext cx="46868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6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2L² qubits. 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 and X-checks overlap on 0 or 2 qubits, so all stabilizers commute.</a:t>
            </a:r>
          </a:p>
        </p:txBody>
      </p:sp>
      <p:sp>
        <p:nvSpPr>
          <p:cNvPr id="83" name="tb"/>
          <p:cNvSpPr/>
          <p:nvPr/>
        </p:nvSpPr>
        <p:spPr>
          <a:xfrm>
            <a:off x="457200" y="3980000"/>
            <a:ext cx="8229600" cy="52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4" name="tbt"/>
          <p:cNvSpPr/>
          <p:nvPr/>
        </p:nvSpPr>
        <p:spPr>
          <a:xfrm>
            <a:off x="697200" y="3980000"/>
            <a:ext cx="774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 boundaries:  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meets bottom and left meets right — the grid becomes the surface of a doughnut (a torus).</a:t>
            </a:r>
          </a:p>
        </p:txBody>
      </p:sp>
      <p:sp>
        <p:nvSpPr>
          <p:cNvPr id="85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86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4</a:t>
            </a:r>
          </a:p>
        </p:txBody>
      </p:sp>
      <p:sp>
        <p:nvSpPr>
          <p:cNvPr id="88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Toric Code: Stabilizers &amp; Parameters</a:t>
            </a:r>
          </a:p>
        </p:txBody>
      </p:sp>
      <p:sp>
        <p:nvSpPr>
          <p:cNvPr id="89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Counting the independent checks reveals exactly two logical qubits — protected by loops that wrap the torus.</a:t>
            </a:r>
          </a:p>
        </p:txBody>
      </p:sp>
      <p:sp>
        <p:nvSpPr>
          <p:cNvPr id="90" name="th"/>
          <p:cNvSpPr/>
          <p:nvPr/>
        </p:nvSpPr>
        <p:spPr>
          <a:xfrm>
            <a:off x="457200" y="1760000"/>
            <a:ext cx="4360000" cy="350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91" name="thl"/>
          <p:cNvSpPr/>
          <p:nvPr/>
        </p:nvSpPr>
        <p:spPr>
          <a:xfrm>
            <a:off x="607200" y="1760000"/>
            <a:ext cx="2906666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</a:t>
            </a:r>
          </a:p>
        </p:txBody>
      </p:sp>
      <p:sp>
        <p:nvSpPr>
          <p:cNvPr id="92" name="thr"/>
          <p:cNvSpPr/>
          <p:nvPr/>
        </p:nvSpPr>
        <p:spPr>
          <a:xfrm>
            <a:off x="3363866" y="1760000"/>
            <a:ext cx="1453333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</a:p>
        </p:txBody>
      </p:sp>
      <p:sp>
        <p:nvSpPr>
          <p:cNvPr id="93" name="rr0"/>
          <p:cNvSpPr/>
          <p:nvPr/>
        </p:nvSpPr>
        <p:spPr>
          <a:xfrm>
            <a:off x="457200" y="2110000"/>
            <a:ext cx="4360000" cy="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4" name="rq0"/>
          <p:cNvSpPr/>
          <p:nvPr/>
        </p:nvSpPr>
        <p:spPr>
          <a:xfrm>
            <a:off x="607200" y="2110000"/>
            <a:ext cx="2756666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Plaquettes (faces)</a:t>
            </a:r>
          </a:p>
        </p:txBody>
      </p:sp>
      <p:sp>
        <p:nvSpPr>
          <p:cNvPr id="95" name="rv0"/>
          <p:cNvSpPr/>
          <p:nvPr/>
        </p:nvSpPr>
        <p:spPr>
          <a:xfrm>
            <a:off x="3363866" y="2110000"/>
            <a:ext cx="1453333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</a:t>
            </a:r>
          </a:p>
        </p:txBody>
      </p:sp>
      <p:sp>
        <p:nvSpPr>
          <p:cNvPr id="96" name="rr1"/>
          <p:cNvSpPr/>
          <p:nvPr/>
        </p:nvSpPr>
        <p:spPr>
          <a:xfrm>
            <a:off x="457200" y="2460000"/>
            <a:ext cx="4360000" cy="3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97" name="rq1"/>
          <p:cNvSpPr/>
          <p:nvPr/>
        </p:nvSpPr>
        <p:spPr>
          <a:xfrm>
            <a:off x="607200" y="2460000"/>
            <a:ext cx="2756666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Vertices</a:t>
            </a:r>
          </a:p>
        </p:txBody>
      </p:sp>
      <p:sp>
        <p:nvSpPr>
          <p:cNvPr id="98" name="rv1"/>
          <p:cNvSpPr/>
          <p:nvPr/>
        </p:nvSpPr>
        <p:spPr>
          <a:xfrm>
            <a:off x="3363866" y="2460000"/>
            <a:ext cx="1453333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L²</a:t>
            </a:r>
          </a:p>
        </p:txBody>
      </p:sp>
      <p:sp>
        <p:nvSpPr>
          <p:cNvPr id="99" name="rr2"/>
          <p:cNvSpPr/>
          <p:nvPr/>
        </p:nvSpPr>
        <p:spPr>
          <a:xfrm>
            <a:off x="457200" y="2810000"/>
            <a:ext cx="4360000" cy="35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0" name="rq2"/>
          <p:cNvSpPr/>
          <p:nvPr/>
        </p:nvSpPr>
        <p:spPr>
          <a:xfrm>
            <a:off x="607200" y="2810000"/>
            <a:ext cx="2756666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(∏ all = I)</a:t>
            </a:r>
          </a:p>
        </p:txBody>
      </p:sp>
      <p:sp>
        <p:nvSpPr>
          <p:cNvPr id="101" name="rv2"/>
          <p:cNvSpPr/>
          <p:nvPr/>
        </p:nvSpPr>
        <p:spPr>
          <a:xfrm>
            <a:off x="3363866" y="2810000"/>
            <a:ext cx="1453333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redundant</a:t>
            </a:r>
          </a:p>
        </p:txBody>
      </p:sp>
      <p:sp>
        <p:nvSpPr>
          <p:cNvPr id="102" name="rr3"/>
          <p:cNvSpPr/>
          <p:nvPr/>
        </p:nvSpPr>
        <p:spPr>
          <a:xfrm>
            <a:off x="457200" y="3160000"/>
            <a:ext cx="4360000" cy="35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3" name="rq3"/>
          <p:cNvSpPr/>
          <p:nvPr/>
        </p:nvSpPr>
        <p:spPr>
          <a:xfrm>
            <a:off x="607200" y="3160000"/>
            <a:ext cx="2756666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stabilizers  r</a:t>
            </a:r>
          </a:p>
        </p:txBody>
      </p:sp>
      <p:sp>
        <p:nvSpPr>
          <p:cNvPr id="104" name="rv3"/>
          <p:cNvSpPr/>
          <p:nvPr/>
        </p:nvSpPr>
        <p:spPr>
          <a:xfrm>
            <a:off x="3363866" y="3160000"/>
            <a:ext cx="1453333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2(L² − 1)</a:t>
            </a:r>
          </a:p>
        </p:txBody>
      </p:sp>
      <p:sp>
        <p:nvSpPr>
          <p:cNvPr id="105" name="rr4"/>
          <p:cNvSpPr/>
          <p:nvPr/>
        </p:nvSpPr>
        <p:spPr>
          <a:xfrm>
            <a:off x="457200" y="3510000"/>
            <a:ext cx="4360000" cy="350000"/>
          </a:xfrm>
          <a:prstGeom prst="rect">
            <a:avLst/>
          </a:prstGeom>
          <a:solidFill>
            <a:srgbClr val="FDF0DD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06" name="rq4"/>
          <p:cNvSpPr/>
          <p:nvPr/>
        </p:nvSpPr>
        <p:spPr>
          <a:xfrm>
            <a:off x="607200" y="3510000"/>
            <a:ext cx="2756666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qubits  k = n − r</a:t>
            </a:r>
          </a:p>
        </p:txBody>
      </p:sp>
      <p:sp>
        <p:nvSpPr>
          <p:cNvPr id="107" name="rv4"/>
          <p:cNvSpPr/>
          <p:nvPr/>
        </p:nvSpPr>
        <p:spPr>
          <a:xfrm>
            <a:off x="3363866" y="3510000"/>
            <a:ext cx="1453333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B56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</a:p>
        </p:txBody>
      </p:sp>
      <p:sp>
        <p:nvSpPr>
          <p:cNvPr id="108" name="rr5"/>
          <p:cNvSpPr/>
          <p:nvPr/>
        </p:nvSpPr>
        <p:spPr>
          <a:xfrm>
            <a:off x="457200" y="3860000"/>
            <a:ext cx="4360000" cy="350000"/>
          </a:xfrm>
          <a:prstGeom prst="rect">
            <a:avLst/>
          </a:prstGeom>
          <a:solidFill>
            <a:srgbClr val="FDF0DD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rq5"/>
          <p:cNvSpPr/>
          <p:nvPr/>
        </p:nvSpPr>
        <p:spPr>
          <a:xfrm>
            <a:off x="607200" y="3860000"/>
            <a:ext cx="2756666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8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distance  d</a:t>
            </a:r>
          </a:p>
        </p:txBody>
      </p:sp>
      <p:sp>
        <p:nvSpPr>
          <p:cNvPr id="110" name="rv5"/>
          <p:cNvSpPr/>
          <p:nvPr/>
        </p:nvSpPr>
        <p:spPr>
          <a:xfrm>
            <a:off x="3363866" y="3860000"/>
            <a:ext cx="1453333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>
                <a:solidFill>
                  <a:srgbClr val="B56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</a:p>
        </p:txBody>
      </p:sp>
      <p:sp>
        <p:nvSpPr>
          <p:cNvPr id="111" name="lp"/>
          <p:cNvSpPr/>
          <p:nvPr/>
        </p:nvSpPr>
        <p:spPr>
          <a:xfrm>
            <a:off x="5060000" y="1760000"/>
            <a:ext cx="3626800" cy="210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2" name="lp_acc"/>
          <p:cNvSpPr/>
          <p:nvPr/>
        </p:nvSpPr>
        <p:spPr>
          <a:xfrm>
            <a:off x="5060000" y="1760000"/>
            <a:ext cx="362680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3" name="lph"/>
          <p:cNvSpPr/>
          <p:nvPr/>
        </p:nvSpPr>
        <p:spPr>
          <a:xfrm>
            <a:off x="5280000" y="1910000"/>
            <a:ext cx="31868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kern="0" spc="60">
                <a:solidFill>
                  <a:srgbClr val="B56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LOGICAL LOOPS</a:t>
            </a:r>
          </a:p>
        </p:txBody>
      </p:sp>
      <p:sp>
        <p:nvSpPr>
          <p:cNvPr id="114" name="to"/>
          <p:cNvSpPr/>
          <p:nvPr/>
        </p:nvSpPr>
        <p:spPr>
          <a:xfrm>
            <a:off x="6053400" y="2340000"/>
            <a:ext cx="1640000" cy="1120000"/>
          </a:xfrm>
          <a:prstGeom prst="ellipse">
            <a:avLst/>
          </a:prstGeom>
          <a:noFill/>
          <a:ln w="222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i"/>
          <p:cNvSpPr/>
          <p:nvPr/>
        </p:nvSpPr>
        <p:spPr>
          <a:xfrm>
            <a:off x="6573400" y="2720000"/>
            <a:ext cx="600000" cy="360000"/>
          </a:xfrm>
          <a:prstGeom prst="ellipse">
            <a:avLst/>
          </a:prstGeom>
          <a:noFill/>
          <a:ln w="19050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6" name="lx"/>
          <p:cNvSpPr/>
          <p:nvPr/>
        </p:nvSpPr>
        <p:spPr>
          <a:xfrm>
            <a:off x="6313400" y="2600000"/>
            <a:ext cx="1120000" cy="600000"/>
          </a:xfrm>
          <a:prstGeom prst="ellipse">
            <a:avLst/>
          </a:prstGeom>
          <a:noFill/>
          <a:ln w="285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e"/>
          <p:cNvSpPr/>
          <p:nvPr/>
        </p:nvSpPr>
        <p:spPr>
          <a:xfrm flipH="1">
            <a:off x="6873400" y="3080000"/>
            <a:ext cx="5572" cy="380000"/>
          </a:xfrm>
          <a:prstGeom prst="line">
            <a:avLst/>
          </a:prstGeom>
          <a:noFill/>
          <a:ln w="28575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8" name="llx"/>
          <p:cNvSpPr/>
          <p:nvPr/>
        </p:nvSpPr>
        <p:spPr>
          <a:xfrm>
            <a:off x="5196110" y="3447588"/>
            <a:ext cx="3490690" cy="340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kern="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Z</a:t>
            </a: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loop around the hole;  </a:t>
            </a:r>
            <a:r>
              <a:rPr lang="en-US" sz="1400" b="1" kern="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X</a:t>
            </a: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loop around the body.</a:t>
            </a:r>
          </a:p>
        </p:txBody>
      </p:sp>
      <p:sp>
        <p:nvSpPr>
          <p:cNvPr id="119" name="pb"/>
          <p:cNvSpPr/>
          <p:nvPr/>
        </p:nvSpPr>
        <p:spPr>
          <a:xfrm>
            <a:off x="457200" y="3980000"/>
            <a:ext cx="8229600" cy="52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0" name="pbt"/>
          <p:cNvSpPr/>
          <p:nvPr/>
        </p:nvSpPr>
        <p:spPr>
          <a:xfrm>
            <a:off x="697200" y="3980000"/>
            <a:ext cx="798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E08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[[ 2L² , 2 , L ]]</a:t>
            </a:r>
            <a:r>
              <a:rPr lang="en-US" sz="1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is stored in topology — only a loop wrapping the whole torus can corrupt it.</a:t>
            </a:r>
            <a:endParaRPr lang="en-US" sz="1200" kern="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1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22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4</a:t>
            </a:r>
          </a:p>
        </p:txBody>
      </p:sp>
      <p:sp>
        <p:nvSpPr>
          <p:cNvPr id="124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Toric Code: Error Detection</a:t>
            </a:r>
          </a:p>
        </p:txBody>
      </p:sp>
      <p:sp>
        <p:nvSpPr>
          <p:cNvPr id="125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error chain lights up the lattice only at its endpoints — like field lines that end on charges.</a:t>
            </a:r>
          </a:p>
        </p:txBody>
      </p:sp>
      <p:sp>
        <p:nvSpPr>
          <p:cNvPr id="126" name="e"/>
          <p:cNvSpPr/>
          <p:nvPr/>
        </p:nvSpPr>
        <p:spPr>
          <a:xfrm>
            <a:off x="607200" y="1880000"/>
            <a:ext cx="168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7" name="e"/>
          <p:cNvSpPr/>
          <p:nvPr/>
        </p:nvSpPr>
        <p:spPr>
          <a:xfrm>
            <a:off x="607200" y="1880000"/>
            <a:ext cx="0" cy="168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8" name="e"/>
          <p:cNvSpPr/>
          <p:nvPr/>
        </p:nvSpPr>
        <p:spPr>
          <a:xfrm>
            <a:off x="607200" y="2440000"/>
            <a:ext cx="168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9" name="e"/>
          <p:cNvSpPr/>
          <p:nvPr/>
        </p:nvSpPr>
        <p:spPr>
          <a:xfrm>
            <a:off x="1167200" y="1880000"/>
            <a:ext cx="0" cy="168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0" name="e"/>
          <p:cNvSpPr/>
          <p:nvPr/>
        </p:nvSpPr>
        <p:spPr>
          <a:xfrm>
            <a:off x="607200" y="3000000"/>
            <a:ext cx="168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1" name="e"/>
          <p:cNvSpPr/>
          <p:nvPr/>
        </p:nvSpPr>
        <p:spPr>
          <a:xfrm>
            <a:off x="1727200" y="1880000"/>
            <a:ext cx="0" cy="168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2" name="e"/>
          <p:cNvSpPr/>
          <p:nvPr/>
        </p:nvSpPr>
        <p:spPr>
          <a:xfrm>
            <a:off x="607200" y="3560000"/>
            <a:ext cx="168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3" name="e"/>
          <p:cNvSpPr/>
          <p:nvPr/>
        </p:nvSpPr>
        <p:spPr>
          <a:xfrm>
            <a:off x="2287200" y="1880000"/>
            <a:ext cx="0" cy="168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4" name="q"/>
          <p:cNvSpPr/>
          <p:nvPr/>
        </p:nvSpPr>
        <p:spPr>
          <a:xfrm>
            <a:off x="841200" y="18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5" name="q"/>
          <p:cNvSpPr/>
          <p:nvPr/>
        </p:nvSpPr>
        <p:spPr>
          <a:xfrm>
            <a:off x="841200" y="239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6" name="q"/>
          <p:cNvSpPr/>
          <p:nvPr/>
        </p:nvSpPr>
        <p:spPr>
          <a:xfrm>
            <a:off x="841200" y="29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7" name="q"/>
          <p:cNvSpPr/>
          <p:nvPr/>
        </p:nvSpPr>
        <p:spPr>
          <a:xfrm>
            <a:off x="841200" y="35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8" name="q"/>
          <p:cNvSpPr/>
          <p:nvPr/>
        </p:nvSpPr>
        <p:spPr>
          <a:xfrm>
            <a:off x="1401200" y="18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9" name="q"/>
          <p:cNvSpPr/>
          <p:nvPr/>
        </p:nvSpPr>
        <p:spPr>
          <a:xfrm>
            <a:off x="1401200" y="239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0" name="q"/>
          <p:cNvSpPr/>
          <p:nvPr/>
        </p:nvSpPr>
        <p:spPr>
          <a:xfrm>
            <a:off x="1401200" y="29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1" name="q"/>
          <p:cNvSpPr/>
          <p:nvPr/>
        </p:nvSpPr>
        <p:spPr>
          <a:xfrm>
            <a:off x="1401200" y="35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2" name="q"/>
          <p:cNvSpPr/>
          <p:nvPr/>
        </p:nvSpPr>
        <p:spPr>
          <a:xfrm>
            <a:off x="1961200" y="18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3" name="q"/>
          <p:cNvSpPr/>
          <p:nvPr/>
        </p:nvSpPr>
        <p:spPr>
          <a:xfrm>
            <a:off x="1961200" y="239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4" name="q"/>
          <p:cNvSpPr/>
          <p:nvPr/>
        </p:nvSpPr>
        <p:spPr>
          <a:xfrm>
            <a:off x="1961200" y="29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5" name="q"/>
          <p:cNvSpPr/>
          <p:nvPr/>
        </p:nvSpPr>
        <p:spPr>
          <a:xfrm>
            <a:off x="1961200" y="35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6" name="q"/>
          <p:cNvSpPr/>
          <p:nvPr/>
        </p:nvSpPr>
        <p:spPr>
          <a:xfrm>
            <a:off x="561200" y="21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7" name="q"/>
          <p:cNvSpPr/>
          <p:nvPr/>
        </p:nvSpPr>
        <p:spPr>
          <a:xfrm>
            <a:off x="561200" y="267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8" name="q"/>
          <p:cNvSpPr/>
          <p:nvPr/>
        </p:nvSpPr>
        <p:spPr>
          <a:xfrm>
            <a:off x="561200" y="32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9" name="q"/>
          <p:cNvSpPr/>
          <p:nvPr/>
        </p:nvSpPr>
        <p:spPr>
          <a:xfrm>
            <a:off x="1121200" y="21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0" name="q"/>
          <p:cNvSpPr/>
          <p:nvPr/>
        </p:nvSpPr>
        <p:spPr>
          <a:xfrm>
            <a:off x="1121200" y="267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1" name="q"/>
          <p:cNvSpPr/>
          <p:nvPr/>
        </p:nvSpPr>
        <p:spPr>
          <a:xfrm>
            <a:off x="1121200" y="32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2" name="q"/>
          <p:cNvSpPr/>
          <p:nvPr/>
        </p:nvSpPr>
        <p:spPr>
          <a:xfrm>
            <a:off x="1681200" y="21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3" name="q"/>
          <p:cNvSpPr/>
          <p:nvPr/>
        </p:nvSpPr>
        <p:spPr>
          <a:xfrm>
            <a:off x="1681200" y="267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4" name="q"/>
          <p:cNvSpPr/>
          <p:nvPr/>
        </p:nvSpPr>
        <p:spPr>
          <a:xfrm>
            <a:off x="1681200" y="32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5" name="q"/>
          <p:cNvSpPr/>
          <p:nvPr/>
        </p:nvSpPr>
        <p:spPr>
          <a:xfrm>
            <a:off x="2241200" y="21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6" name="q"/>
          <p:cNvSpPr/>
          <p:nvPr/>
        </p:nvSpPr>
        <p:spPr>
          <a:xfrm>
            <a:off x="2241200" y="267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7" name="q"/>
          <p:cNvSpPr/>
          <p:nvPr/>
        </p:nvSpPr>
        <p:spPr>
          <a:xfrm>
            <a:off x="2241200" y="32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8" name="e"/>
          <p:cNvSpPr/>
          <p:nvPr/>
        </p:nvSpPr>
        <p:spPr>
          <a:xfrm>
            <a:off x="607200" y="2440000"/>
            <a:ext cx="560000" cy="0"/>
          </a:xfrm>
          <a:prstGeom prst="line">
            <a:avLst/>
          </a:prstGeom>
          <a:noFill/>
          <a:ln w="349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9" name="q"/>
          <p:cNvSpPr/>
          <p:nvPr/>
        </p:nvSpPr>
        <p:spPr>
          <a:xfrm>
            <a:off x="837200" y="2390000"/>
            <a:ext cx="100000" cy="1000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0" name="e"/>
          <p:cNvSpPr/>
          <p:nvPr/>
        </p:nvSpPr>
        <p:spPr>
          <a:xfrm>
            <a:off x="1167200" y="2440000"/>
            <a:ext cx="560000" cy="0"/>
          </a:xfrm>
          <a:prstGeom prst="line">
            <a:avLst/>
          </a:prstGeom>
          <a:noFill/>
          <a:ln w="349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1" name="q"/>
          <p:cNvSpPr/>
          <p:nvPr/>
        </p:nvSpPr>
        <p:spPr>
          <a:xfrm>
            <a:off x="1397200" y="2390000"/>
            <a:ext cx="100000" cy="1000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2" name="e"/>
          <p:cNvSpPr/>
          <p:nvPr/>
        </p:nvSpPr>
        <p:spPr>
          <a:xfrm>
            <a:off x="1727200" y="2440000"/>
            <a:ext cx="560000" cy="0"/>
          </a:xfrm>
          <a:prstGeom prst="line">
            <a:avLst/>
          </a:prstGeom>
          <a:noFill/>
          <a:ln w="3492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3" name="q"/>
          <p:cNvSpPr/>
          <p:nvPr/>
        </p:nvSpPr>
        <p:spPr>
          <a:xfrm>
            <a:off x="1957200" y="2390000"/>
            <a:ext cx="100000" cy="1000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4" name="df0"/>
          <p:cNvSpPr/>
          <p:nvPr/>
        </p:nvSpPr>
        <p:spPr>
          <a:xfrm>
            <a:off x="667200" y="1940000"/>
            <a:ext cx="440000" cy="440000"/>
          </a:xfrm>
          <a:prstGeom prst="rect">
            <a:avLst/>
          </a:prstGeom>
          <a:solidFill>
            <a:srgbClr val="FCF3CF"/>
          </a:solidFill>
          <a:ln w="22225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5" name="dft0"/>
          <p:cNvSpPr/>
          <p:nvPr/>
        </p:nvSpPr>
        <p:spPr>
          <a:xfrm>
            <a:off x="607200" y="1880000"/>
            <a:ext cx="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>
                <a:solidFill>
                  <a:srgbClr val="B56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</a:p>
        </p:txBody>
      </p:sp>
      <p:sp>
        <p:nvSpPr>
          <p:cNvPr id="166" name="df2"/>
          <p:cNvSpPr/>
          <p:nvPr/>
        </p:nvSpPr>
        <p:spPr>
          <a:xfrm>
            <a:off x="1787200" y="1940000"/>
            <a:ext cx="440000" cy="440000"/>
          </a:xfrm>
          <a:prstGeom prst="rect">
            <a:avLst/>
          </a:prstGeom>
          <a:solidFill>
            <a:srgbClr val="FCF3CF"/>
          </a:solidFill>
          <a:ln w="22225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7" name="dft2"/>
          <p:cNvSpPr/>
          <p:nvPr/>
        </p:nvSpPr>
        <p:spPr>
          <a:xfrm>
            <a:off x="1727200" y="1880000"/>
            <a:ext cx="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>
                <a:solidFill>
                  <a:srgbClr val="B56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</a:p>
        </p:txBody>
      </p:sp>
      <p:sp>
        <p:nvSpPr>
          <p:cNvPr id="168" name="cs0"/>
          <p:cNvSpPr/>
          <p:nvPr/>
        </p:nvSpPr>
        <p:spPr>
          <a:xfrm>
            <a:off x="3520000" y="1820000"/>
            <a:ext cx="5166800" cy="6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69" name="cs0_b"/>
          <p:cNvSpPr/>
          <p:nvPr/>
        </p:nvSpPr>
        <p:spPr>
          <a:xfrm>
            <a:off x="3520000" y="1820000"/>
            <a:ext cx="64000" cy="600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0" name="cst0"/>
          <p:cNvSpPr/>
          <p:nvPr/>
        </p:nvSpPr>
        <p:spPr>
          <a:xfrm>
            <a:off x="3740000" y="1930000"/>
            <a:ext cx="480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error</a:t>
            </a:r>
          </a:p>
        </p:txBody>
      </p:sp>
      <p:sp>
        <p:nvSpPr>
          <p:cNvPr id="171" name="csd0"/>
          <p:cNvSpPr/>
          <p:nvPr/>
        </p:nvSpPr>
        <p:spPr>
          <a:xfrm>
            <a:off x="3740000" y="2180000"/>
            <a:ext cx="4806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adjacent plaquettes flip to −1.</a:t>
            </a:r>
          </a:p>
        </p:txBody>
      </p:sp>
      <p:sp>
        <p:nvSpPr>
          <p:cNvPr id="172" name="cs1"/>
          <p:cNvSpPr/>
          <p:nvPr/>
        </p:nvSpPr>
        <p:spPr>
          <a:xfrm>
            <a:off x="3520000" y="2500000"/>
            <a:ext cx="5166800" cy="6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3" name="cs1_b"/>
          <p:cNvSpPr/>
          <p:nvPr/>
        </p:nvSpPr>
        <p:spPr>
          <a:xfrm>
            <a:off x="3520000" y="2500000"/>
            <a:ext cx="64000" cy="60000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4" name="cst1"/>
          <p:cNvSpPr/>
          <p:nvPr/>
        </p:nvSpPr>
        <p:spPr>
          <a:xfrm>
            <a:off x="3740000" y="2610000"/>
            <a:ext cx="480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chain</a:t>
            </a:r>
          </a:p>
        </p:txBody>
      </p:sp>
      <p:sp>
        <p:nvSpPr>
          <p:cNvPr id="175" name="csd1"/>
          <p:cNvSpPr/>
          <p:nvPr/>
        </p:nvSpPr>
        <p:spPr>
          <a:xfrm>
            <a:off x="3740000" y="2860000"/>
            <a:ext cx="4806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two endpoints show −1.</a:t>
            </a:r>
          </a:p>
        </p:txBody>
      </p:sp>
      <p:sp>
        <p:nvSpPr>
          <p:cNvPr id="176" name="cs2"/>
          <p:cNvSpPr/>
          <p:nvPr/>
        </p:nvSpPr>
        <p:spPr>
          <a:xfrm>
            <a:off x="3520000" y="3180000"/>
            <a:ext cx="5166800" cy="6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77" name="cs2_b"/>
          <p:cNvSpPr/>
          <p:nvPr/>
        </p:nvSpPr>
        <p:spPr>
          <a:xfrm>
            <a:off x="3520000" y="3180000"/>
            <a:ext cx="64000" cy="60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8" name="cst2"/>
          <p:cNvSpPr/>
          <p:nvPr/>
        </p:nvSpPr>
        <p:spPr>
          <a:xfrm>
            <a:off x="3740000" y="3290000"/>
            <a:ext cx="480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loop</a:t>
            </a:r>
          </a:p>
        </p:txBody>
      </p:sp>
      <p:sp>
        <p:nvSpPr>
          <p:cNvPr id="179" name="csd2"/>
          <p:cNvSpPr/>
          <p:nvPr/>
        </p:nvSpPr>
        <p:spPr>
          <a:xfrm>
            <a:off x="3740000" y="3540000"/>
            <a:ext cx="48068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defects — it is a stabilizer.</a:t>
            </a:r>
          </a:p>
        </p:txBody>
      </p:sp>
      <p:sp>
        <p:nvSpPr>
          <p:cNvPr id="180" name="eb"/>
          <p:cNvSpPr/>
          <p:nvPr/>
        </p:nvSpPr>
        <p:spPr>
          <a:xfrm>
            <a:off x="457200" y="3990000"/>
            <a:ext cx="8229600" cy="54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1" name="ebt"/>
          <p:cNvSpPr/>
          <p:nvPr/>
        </p:nvSpPr>
        <p:spPr>
          <a:xfrm>
            <a:off x="697200" y="3990000"/>
            <a:ext cx="774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Syndrome = the defect locations.  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 number of errors on a plaquette stays +1; an odd number flips it to −1.</a:t>
            </a:r>
          </a:p>
        </p:txBody>
      </p:sp>
      <p:sp>
        <p:nvSpPr>
          <p:cNvPr id="182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183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 ·  BLOCK 4</a:t>
            </a:r>
          </a:p>
        </p:txBody>
      </p:sp>
      <p:sp>
        <p:nvSpPr>
          <p:cNvPr id="185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Logical Operators &amp; Degeneracy</a:t>
            </a:r>
          </a:p>
        </p:txBody>
      </p:sp>
      <p:sp>
        <p:nvSpPr>
          <p:cNvPr id="186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Topology decides what is harmless and what is fatal: loops you can shrink are stabilizers; loops that wrap the torus are logical operators.</a:t>
            </a:r>
          </a:p>
        </p:txBody>
      </p:sp>
      <p:sp>
        <p:nvSpPr>
          <p:cNvPr id="187" name="lo0h"/>
          <p:cNvSpPr/>
          <p:nvPr/>
        </p:nvSpPr>
        <p:spPr>
          <a:xfrm>
            <a:off x="457200" y="1760000"/>
            <a:ext cx="2623200" cy="400000"/>
          </a:xfrm>
          <a:prstGeom prst="rect">
            <a:avLst/>
          </a:prstGeom>
          <a:solidFill>
            <a:srgbClr val="1E8449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8" name="lo0ht"/>
          <p:cNvSpPr/>
          <p:nvPr/>
        </p:nvSpPr>
        <p:spPr>
          <a:xfrm>
            <a:off x="457200" y="1760000"/>
            <a:ext cx="2623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CONTRACTIBLE LOOP</a:t>
            </a:r>
          </a:p>
        </p:txBody>
      </p:sp>
      <p:sp>
        <p:nvSpPr>
          <p:cNvPr id="189" name="lo0b"/>
          <p:cNvSpPr/>
          <p:nvPr/>
        </p:nvSpPr>
        <p:spPr>
          <a:xfrm>
            <a:off x="457200" y="2160000"/>
            <a:ext cx="2623200" cy="168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0" name="g0"/>
          <p:cNvSpPr/>
          <p:nvPr/>
        </p:nvSpPr>
        <p:spPr>
          <a:xfrm>
            <a:off x="1548800" y="2370000"/>
            <a:ext cx="440000" cy="300000"/>
          </a:xfrm>
          <a:prstGeom prst="ellipse">
            <a:avLst/>
          </a:prstGeom>
          <a:noFill/>
          <a:ln w="254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1" name="loa0"/>
          <p:cNvSpPr/>
          <p:nvPr/>
        </p:nvSpPr>
        <p:spPr>
          <a:xfrm>
            <a:off x="657200" y="2840000"/>
            <a:ext cx="22232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"/>
              </a:spcAft>
              <a:buNone/>
            </a:pPr>
            <a:r>
              <a:rPr lang="en-US" sz="12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Shrinks to a point.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1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of local checks — in the stabilizer.</a:t>
            </a:r>
          </a:p>
        </p:txBody>
      </p:sp>
      <p:sp>
        <p:nvSpPr>
          <p:cNvPr id="192" name="lob0"/>
          <p:cNvSpPr/>
          <p:nvPr/>
        </p:nvSpPr>
        <p:spPr>
          <a:xfrm>
            <a:off x="617200" y="3420000"/>
            <a:ext cx="2303200" cy="3000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3" name="loc0"/>
          <p:cNvSpPr/>
          <p:nvPr/>
        </p:nvSpPr>
        <p:spPr>
          <a:xfrm>
            <a:off x="617200" y="3420000"/>
            <a:ext cx="2303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dirty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 · undetectable</a:t>
            </a:r>
          </a:p>
        </p:txBody>
      </p:sp>
      <p:sp>
        <p:nvSpPr>
          <p:cNvPr id="194" name="lo1h"/>
          <p:cNvSpPr/>
          <p:nvPr/>
        </p:nvSpPr>
        <p:spPr>
          <a:xfrm>
            <a:off x="3260400" y="1760000"/>
            <a:ext cx="2623200" cy="400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5" name="lo1ht"/>
          <p:cNvSpPr/>
          <p:nvPr/>
        </p:nvSpPr>
        <p:spPr>
          <a:xfrm>
            <a:off x="3260400" y="1760000"/>
            <a:ext cx="2623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NON-CONTRACTIBLE  X</a:t>
            </a:r>
          </a:p>
        </p:txBody>
      </p:sp>
      <p:sp>
        <p:nvSpPr>
          <p:cNvPr id="196" name="lo1b"/>
          <p:cNvSpPr/>
          <p:nvPr/>
        </p:nvSpPr>
        <p:spPr>
          <a:xfrm>
            <a:off x="3260400" y="2160000"/>
            <a:ext cx="2623200" cy="168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7" name="e"/>
          <p:cNvSpPr/>
          <p:nvPr/>
        </p:nvSpPr>
        <p:spPr>
          <a:xfrm>
            <a:off x="4212000" y="2520000"/>
            <a:ext cx="720000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198" name="q"/>
          <p:cNvSpPr/>
          <p:nvPr/>
        </p:nvSpPr>
        <p:spPr>
          <a:xfrm>
            <a:off x="4172000" y="2480000"/>
            <a:ext cx="80000" cy="800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9" name="q"/>
          <p:cNvSpPr/>
          <p:nvPr/>
        </p:nvSpPr>
        <p:spPr>
          <a:xfrm>
            <a:off x="4892000" y="2480000"/>
            <a:ext cx="80000" cy="8000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0" name="loa1"/>
          <p:cNvSpPr/>
          <p:nvPr/>
        </p:nvSpPr>
        <p:spPr>
          <a:xfrm>
            <a:off x="3460400" y="2840000"/>
            <a:ext cx="22232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"/>
              </a:spcAft>
              <a:buNone/>
            </a:pPr>
            <a:r>
              <a:rPr lang="en-US" sz="12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Wraps the body of the torus.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1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built from local checks.</a:t>
            </a:r>
          </a:p>
        </p:txBody>
      </p:sp>
      <p:sp>
        <p:nvSpPr>
          <p:cNvPr id="201" name="lob1"/>
          <p:cNvSpPr/>
          <p:nvPr/>
        </p:nvSpPr>
        <p:spPr>
          <a:xfrm>
            <a:off x="3420400" y="3420000"/>
            <a:ext cx="2303200" cy="300000"/>
          </a:xfrm>
          <a:prstGeom prst="rect">
            <a:avLst/>
          </a:prstGeom>
          <a:solidFill>
            <a:srgbClr val="F3EAF6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2" name="loc1"/>
          <p:cNvSpPr/>
          <p:nvPr/>
        </p:nvSpPr>
        <p:spPr>
          <a:xfrm>
            <a:off x="3420400" y="3420000"/>
            <a:ext cx="2303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X · weight L</a:t>
            </a:r>
          </a:p>
        </p:txBody>
      </p:sp>
      <p:sp>
        <p:nvSpPr>
          <p:cNvPr id="203" name="lo2h"/>
          <p:cNvSpPr/>
          <p:nvPr/>
        </p:nvSpPr>
        <p:spPr>
          <a:xfrm>
            <a:off x="6063600" y="1760000"/>
            <a:ext cx="2623200" cy="400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4" name="lo2ht"/>
          <p:cNvSpPr/>
          <p:nvPr/>
        </p:nvSpPr>
        <p:spPr>
          <a:xfrm>
            <a:off x="6063600" y="1760000"/>
            <a:ext cx="26232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NON-CONTRACTIBLE  Z</a:t>
            </a:r>
          </a:p>
        </p:txBody>
      </p:sp>
      <p:sp>
        <p:nvSpPr>
          <p:cNvPr id="205" name="lo2b"/>
          <p:cNvSpPr/>
          <p:nvPr/>
        </p:nvSpPr>
        <p:spPr>
          <a:xfrm>
            <a:off x="6063600" y="2160000"/>
            <a:ext cx="2623200" cy="168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6" name="e"/>
          <p:cNvSpPr/>
          <p:nvPr/>
        </p:nvSpPr>
        <p:spPr>
          <a:xfrm>
            <a:off x="7375200" y="2260000"/>
            <a:ext cx="0" cy="520000"/>
          </a:xfrm>
          <a:prstGeom prst="line">
            <a:avLst/>
          </a:prstGeom>
          <a:noFill/>
          <a:ln w="28575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207" name="q"/>
          <p:cNvSpPr/>
          <p:nvPr/>
        </p:nvSpPr>
        <p:spPr>
          <a:xfrm>
            <a:off x="7335200" y="2220000"/>
            <a:ext cx="80000" cy="8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8" name="q"/>
          <p:cNvSpPr/>
          <p:nvPr/>
        </p:nvSpPr>
        <p:spPr>
          <a:xfrm>
            <a:off x="7335200" y="2740000"/>
            <a:ext cx="80000" cy="80000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09" name="loa2"/>
          <p:cNvSpPr/>
          <p:nvPr/>
        </p:nvSpPr>
        <p:spPr>
          <a:xfrm>
            <a:off x="6263600" y="2840000"/>
            <a:ext cx="22232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60"/>
              </a:spcAft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Threads through the hole.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1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built from local checks.</a:t>
            </a:r>
          </a:p>
        </p:txBody>
      </p:sp>
      <p:sp>
        <p:nvSpPr>
          <p:cNvPr id="210" name="lob2"/>
          <p:cNvSpPr/>
          <p:nvPr/>
        </p:nvSpPr>
        <p:spPr>
          <a:xfrm>
            <a:off x="6223600" y="3420000"/>
            <a:ext cx="2303200" cy="3000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11" name="loc2"/>
          <p:cNvSpPr/>
          <p:nvPr/>
        </p:nvSpPr>
        <p:spPr>
          <a:xfrm>
            <a:off x="6223600" y="3420000"/>
            <a:ext cx="23032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Z · weight L</a:t>
            </a:r>
          </a:p>
        </p:txBody>
      </p:sp>
      <p:sp>
        <p:nvSpPr>
          <p:cNvPr id="212" name="db"/>
          <p:cNvSpPr/>
          <p:nvPr/>
        </p:nvSpPr>
        <p:spPr>
          <a:xfrm>
            <a:off x="457200" y="3980000"/>
            <a:ext cx="8229600" cy="52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3" name="dbt"/>
          <p:cNvSpPr/>
          <p:nvPr/>
        </p:nvSpPr>
        <p:spPr>
          <a:xfrm>
            <a:off x="697200" y="3980000"/>
            <a:ext cx="7989600" cy="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d = L: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shortest loop that wraps the torus. Local noise stays harmless; only a system-spanning error fails.</a:t>
            </a:r>
          </a:p>
        </p:txBody>
      </p:sp>
      <p:sp>
        <p:nvSpPr>
          <p:cNvPr id="214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15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4</a:t>
            </a:r>
          </a:p>
        </p:txBody>
      </p:sp>
      <p:sp>
        <p:nvSpPr>
          <p:cNvPr id="217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Toric Code: Error Correction</a:t>
            </a:r>
          </a:p>
        </p:txBody>
      </p:sp>
      <p:sp>
        <p:nvSpPr>
          <p:cNvPr id="218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up the defects with the shortest paths — closing each error chain into a harmless contractible loop.</a:t>
            </a:r>
          </a:p>
        </p:txBody>
      </p:sp>
      <p:sp>
        <p:nvSpPr>
          <p:cNvPr id="219" name="e"/>
          <p:cNvSpPr/>
          <p:nvPr/>
        </p:nvSpPr>
        <p:spPr>
          <a:xfrm>
            <a:off x="607200" y="1900000"/>
            <a:ext cx="168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0" name="e"/>
          <p:cNvSpPr/>
          <p:nvPr/>
        </p:nvSpPr>
        <p:spPr>
          <a:xfrm>
            <a:off x="607200" y="1900000"/>
            <a:ext cx="0" cy="168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1" name="e"/>
          <p:cNvSpPr/>
          <p:nvPr/>
        </p:nvSpPr>
        <p:spPr>
          <a:xfrm>
            <a:off x="607200" y="2460000"/>
            <a:ext cx="168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2" name="e"/>
          <p:cNvSpPr/>
          <p:nvPr/>
        </p:nvSpPr>
        <p:spPr>
          <a:xfrm>
            <a:off x="1167200" y="1900000"/>
            <a:ext cx="0" cy="168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3" name="e"/>
          <p:cNvSpPr/>
          <p:nvPr/>
        </p:nvSpPr>
        <p:spPr>
          <a:xfrm>
            <a:off x="607200" y="3020000"/>
            <a:ext cx="168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4" name="e"/>
          <p:cNvSpPr/>
          <p:nvPr/>
        </p:nvSpPr>
        <p:spPr>
          <a:xfrm>
            <a:off x="1727200" y="1900000"/>
            <a:ext cx="0" cy="168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5" name="e"/>
          <p:cNvSpPr/>
          <p:nvPr/>
        </p:nvSpPr>
        <p:spPr>
          <a:xfrm>
            <a:off x="607200" y="3580000"/>
            <a:ext cx="1680000" cy="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6" name="e"/>
          <p:cNvSpPr/>
          <p:nvPr/>
        </p:nvSpPr>
        <p:spPr>
          <a:xfrm>
            <a:off x="2287200" y="1900000"/>
            <a:ext cx="0" cy="1680000"/>
          </a:xfrm>
          <a:prstGeom prst="line">
            <a:avLst/>
          </a:prstGeom>
          <a:noFill/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7" name="q"/>
          <p:cNvSpPr/>
          <p:nvPr/>
        </p:nvSpPr>
        <p:spPr>
          <a:xfrm>
            <a:off x="841200" y="18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8" name="q"/>
          <p:cNvSpPr/>
          <p:nvPr/>
        </p:nvSpPr>
        <p:spPr>
          <a:xfrm>
            <a:off x="841200" y="24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9" name="q"/>
          <p:cNvSpPr/>
          <p:nvPr/>
        </p:nvSpPr>
        <p:spPr>
          <a:xfrm>
            <a:off x="841200" y="297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0" name="q"/>
          <p:cNvSpPr/>
          <p:nvPr/>
        </p:nvSpPr>
        <p:spPr>
          <a:xfrm>
            <a:off x="841200" y="35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1" name="q"/>
          <p:cNvSpPr/>
          <p:nvPr/>
        </p:nvSpPr>
        <p:spPr>
          <a:xfrm>
            <a:off x="1401200" y="18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2" name="q"/>
          <p:cNvSpPr/>
          <p:nvPr/>
        </p:nvSpPr>
        <p:spPr>
          <a:xfrm>
            <a:off x="1401200" y="24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3" name="q"/>
          <p:cNvSpPr/>
          <p:nvPr/>
        </p:nvSpPr>
        <p:spPr>
          <a:xfrm>
            <a:off x="1401200" y="297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4" name="q"/>
          <p:cNvSpPr/>
          <p:nvPr/>
        </p:nvSpPr>
        <p:spPr>
          <a:xfrm>
            <a:off x="1401200" y="35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5" name="q"/>
          <p:cNvSpPr/>
          <p:nvPr/>
        </p:nvSpPr>
        <p:spPr>
          <a:xfrm>
            <a:off x="1961200" y="18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6" name="q"/>
          <p:cNvSpPr/>
          <p:nvPr/>
        </p:nvSpPr>
        <p:spPr>
          <a:xfrm>
            <a:off x="1961200" y="241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7" name="q"/>
          <p:cNvSpPr/>
          <p:nvPr/>
        </p:nvSpPr>
        <p:spPr>
          <a:xfrm>
            <a:off x="1961200" y="297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8" name="q"/>
          <p:cNvSpPr/>
          <p:nvPr/>
        </p:nvSpPr>
        <p:spPr>
          <a:xfrm>
            <a:off x="1961200" y="35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9" name="q"/>
          <p:cNvSpPr/>
          <p:nvPr/>
        </p:nvSpPr>
        <p:spPr>
          <a:xfrm>
            <a:off x="561200" y="21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0" name="q"/>
          <p:cNvSpPr/>
          <p:nvPr/>
        </p:nvSpPr>
        <p:spPr>
          <a:xfrm>
            <a:off x="561200" y="269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1" name="q"/>
          <p:cNvSpPr/>
          <p:nvPr/>
        </p:nvSpPr>
        <p:spPr>
          <a:xfrm>
            <a:off x="561200" y="32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2" name="q"/>
          <p:cNvSpPr/>
          <p:nvPr/>
        </p:nvSpPr>
        <p:spPr>
          <a:xfrm>
            <a:off x="1121200" y="21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3" name="q"/>
          <p:cNvSpPr/>
          <p:nvPr/>
        </p:nvSpPr>
        <p:spPr>
          <a:xfrm>
            <a:off x="1121200" y="269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4" name="q"/>
          <p:cNvSpPr/>
          <p:nvPr/>
        </p:nvSpPr>
        <p:spPr>
          <a:xfrm>
            <a:off x="1121200" y="32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5" name="q"/>
          <p:cNvSpPr/>
          <p:nvPr/>
        </p:nvSpPr>
        <p:spPr>
          <a:xfrm>
            <a:off x="1681200" y="21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6" name="q"/>
          <p:cNvSpPr/>
          <p:nvPr/>
        </p:nvSpPr>
        <p:spPr>
          <a:xfrm>
            <a:off x="1681200" y="269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7" name="q"/>
          <p:cNvSpPr/>
          <p:nvPr/>
        </p:nvSpPr>
        <p:spPr>
          <a:xfrm>
            <a:off x="1681200" y="32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8" name="q"/>
          <p:cNvSpPr/>
          <p:nvPr/>
        </p:nvSpPr>
        <p:spPr>
          <a:xfrm>
            <a:off x="2241200" y="213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9" name="q"/>
          <p:cNvSpPr/>
          <p:nvPr/>
        </p:nvSpPr>
        <p:spPr>
          <a:xfrm>
            <a:off x="2241200" y="269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0" name="q"/>
          <p:cNvSpPr/>
          <p:nvPr/>
        </p:nvSpPr>
        <p:spPr>
          <a:xfrm>
            <a:off x="2241200" y="3254000"/>
            <a:ext cx="92000" cy="92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1" name="e"/>
          <p:cNvSpPr/>
          <p:nvPr/>
        </p:nvSpPr>
        <p:spPr>
          <a:xfrm>
            <a:off x="887200" y="2180000"/>
            <a:ext cx="1120000" cy="0"/>
          </a:xfrm>
          <a:prstGeom prst="line">
            <a:avLst/>
          </a:prstGeom>
          <a:noFill/>
          <a:ln w="19050">
            <a:solidFill>
              <a:srgbClr val="B7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2" name="e"/>
          <p:cNvSpPr/>
          <p:nvPr/>
        </p:nvSpPr>
        <p:spPr>
          <a:xfrm>
            <a:off x="2007200" y="2180000"/>
            <a:ext cx="0" cy="1120000"/>
          </a:xfrm>
          <a:prstGeom prst="line">
            <a:avLst/>
          </a:prstGeom>
          <a:noFill/>
          <a:ln w="19050">
            <a:solidFill>
              <a:srgbClr val="B7C2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3" name="e"/>
          <p:cNvSpPr/>
          <p:nvPr/>
        </p:nvSpPr>
        <p:spPr>
          <a:xfrm>
            <a:off x="887200" y="2180000"/>
            <a:ext cx="0" cy="1120000"/>
          </a:xfrm>
          <a:prstGeom prst="line">
            <a:avLst/>
          </a:prstGeom>
          <a:noFill/>
          <a:ln w="317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4" name="e"/>
          <p:cNvSpPr/>
          <p:nvPr/>
        </p:nvSpPr>
        <p:spPr>
          <a:xfrm>
            <a:off x="887200" y="3300000"/>
            <a:ext cx="1120000" cy="0"/>
          </a:xfrm>
          <a:prstGeom prst="line">
            <a:avLst/>
          </a:prstGeom>
          <a:noFill/>
          <a:ln w="3175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5" name="dfx"/>
          <p:cNvSpPr/>
          <p:nvPr/>
        </p:nvSpPr>
        <p:spPr>
          <a:xfrm>
            <a:off x="667200" y="1960000"/>
            <a:ext cx="440000" cy="440000"/>
          </a:xfrm>
          <a:prstGeom prst="rect">
            <a:avLst/>
          </a:prstGeom>
          <a:solidFill>
            <a:srgbClr val="FCF3CF"/>
          </a:solidFill>
          <a:ln w="22225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6" name="dfxt"/>
          <p:cNvSpPr/>
          <p:nvPr/>
        </p:nvSpPr>
        <p:spPr>
          <a:xfrm>
            <a:off x="607200" y="1900000"/>
            <a:ext cx="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>
                <a:solidFill>
                  <a:srgbClr val="B56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</a:p>
        </p:txBody>
      </p:sp>
      <p:sp>
        <p:nvSpPr>
          <p:cNvPr id="257" name="dfx"/>
          <p:cNvSpPr/>
          <p:nvPr/>
        </p:nvSpPr>
        <p:spPr>
          <a:xfrm>
            <a:off x="1787200" y="3080000"/>
            <a:ext cx="440000" cy="440000"/>
          </a:xfrm>
          <a:prstGeom prst="rect">
            <a:avLst/>
          </a:prstGeom>
          <a:solidFill>
            <a:srgbClr val="FCF3CF"/>
          </a:solidFill>
          <a:ln w="22225">
            <a:solidFill>
              <a:srgbClr val="E0A8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8" name="dfxt"/>
          <p:cNvSpPr/>
          <p:nvPr/>
        </p:nvSpPr>
        <p:spPr>
          <a:xfrm>
            <a:off x="1727200" y="3020000"/>
            <a:ext cx="5600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>
                <a:solidFill>
                  <a:srgbClr val="B56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</a:t>
            </a:r>
          </a:p>
        </p:txBody>
      </p:sp>
      <p:sp>
        <p:nvSpPr>
          <p:cNvPr id="259" name="pathl"/>
          <p:cNvSpPr/>
          <p:nvPr/>
        </p:nvSpPr>
        <p:spPr>
          <a:xfrm>
            <a:off x="607200" y="3620000"/>
            <a:ext cx="168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>
                <a:solidFill>
                  <a:srgbClr val="1E84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match</a:t>
            </a:r>
            <a:r>
              <a:rPr lang="en-US" sz="9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 </a:t>
            </a:r>
            <a:r>
              <a:rPr lang="en-US" sz="1000" kern="0">
                <a:solidFill>
                  <a:srgbClr val="8A9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path</a:t>
            </a:r>
          </a:p>
        </p:txBody>
      </p:sp>
      <p:sp>
        <p:nvSpPr>
          <p:cNvPr id="260" name="al"/>
          <p:cNvSpPr/>
          <p:nvPr/>
        </p:nvSpPr>
        <p:spPr>
          <a:xfrm>
            <a:off x="3520000" y="1820000"/>
            <a:ext cx="5166800" cy="118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1" name="al_acc"/>
          <p:cNvSpPr/>
          <p:nvPr/>
        </p:nvSpPr>
        <p:spPr>
          <a:xfrm>
            <a:off x="3520000" y="1820000"/>
            <a:ext cx="516680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2" name="alh"/>
          <p:cNvSpPr/>
          <p:nvPr/>
        </p:nvSpPr>
        <p:spPr>
          <a:xfrm>
            <a:off x="3740000" y="1950000"/>
            <a:ext cx="472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40" dirty="0">
                <a:solidFill>
                  <a:srgbClr val="B56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MINIMUM-WEIGHT MATCHING</a:t>
            </a:r>
          </a:p>
        </p:txBody>
      </p:sp>
      <p:sp>
        <p:nvSpPr>
          <p:cNvPr id="263" name="alb"/>
          <p:cNvSpPr/>
          <p:nvPr/>
        </p:nvSpPr>
        <p:spPr>
          <a:xfrm>
            <a:off x="3740000" y="2260000"/>
            <a:ext cx="4726800" cy="6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0000" indent="-280000" algn="l">
              <a:lnSpc>
                <a:spcPct val="104000"/>
              </a:lnSpc>
              <a:spcAft>
                <a:spcPts val="18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−1 defects from the syndrome.</a:t>
            </a:r>
          </a:p>
          <a:p>
            <a:pPr marL="280000" indent="-280000" algn="l">
              <a:lnSpc>
                <a:spcPct val="104000"/>
              </a:lnSpc>
              <a:spcAft>
                <a:spcPts val="18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them with the shortest connecting paths.</a:t>
            </a:r>
          </a:p>
          <a:p>
            <a:pPr marL="280000" indent="-280000" algn="l">
              <a:lnSpc>
                <a:spcPct val="104000"/>
              </a:lnSpc>
              <a:spcAft>
                <a:spcPts val="18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X (or Z) along each path to cancel the chain.</a:t>
            </a:r>
          </a:p>
        </p:txBody>
      </p:sp>
      <p:sp>
        <p:nvSpPr>
          <p:cNvPr id="264" name="bl"/>
          <p:cNvSpPr/>
          <p:nvPr/>
        </p:nvSpPr>
        <p:spPr>
          <a:xfrm>
            <a:off x="3520000" y="3060000"/>
            <a:ext cx="5166800" cy="80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265" name="bl_acc"/>
          <p:cNvSpPr/>
          <p:nvPr/>
        </p:nvSpPr>
        <p:spPr>
          <a:xfrm>
            <a:off x="3520000" y="3060000"/>
            <a:ext cx="516680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66" name="blb"/>
          <p:cNvSpPr/>
          <p:nvPr/>
        </p:nvSpPr>
        <p:spPr>
          <a:xfrm>
            <a:off x="3740000" y="3060000"/>
            <a:ext cx="47268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140"/>
              </a:spcAft>
              <a:buNone/>
            </a:pPr>
            <a:r>
              <a:rPr lang="en-US" sz="16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Blossom algorithm</a:t>
            </a:r>
            <a:r>
              <a:rPr lang="en-US" sz="12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(Edmonds, 1965)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Classical, efficient, and reliable below ~10% noise.</a:t>
            </a:r>
          </a:p>
        </p:txBody>
      </p:sp>
      <p:sp>
        <p:nvSpPr>
          <p:cNvPr id="267" name="cb"/>
          <p:cNvSpPr/>
          <p:nvPr/>
        </p:nvSpPr>
        <p:spPr>
          <a:xfrm>
            <a:off x="457200" y="3990000"/>
            <a:ext cx="8229600" cy="54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8" name="cbt"/>
          <p:cNvSpPr/>
          <p:nvPr/>
        </p:nvSpPr>
        <p:spPr>
          <a:xfrm>
            <a:off x="697200" y="3990000"/>
            <a:ext cx="774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classical control layer: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syndromes stream in continuously, so real-time decoding is a major engineering frontier.</a:t>
            </a:r>
          </a:p>
        </p:txBody>
      </p:sp>
      <p:sp>
        <p:nvSpPr>
          <p:cNvPr id="269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270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4</a:t>
            </a:r>
          </a:p>
        </p:txBody>
      </p:sp>
      <p:sp>
        <p:nvSpPr>
          <p:cNvPr id="272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Toric to Surface Codes</a:t>
            </a:r>
          </a:p>
        </p:txBody>
      </p:sp>
      <p:sp>
        <p:nvSpPr>
          <p:cNvPr id="273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torus open. The boundaries change everything: one logical qubit on a flat, fabricable 2D patch.</a:t>
            </a:r>
          </a:p>
        </p:txBody>
      </p:sp>
      <p:sp>
        <p:nvSpPr>
          <p:cNvPr id="274" name="tph"/>
          <p:cNvSpPr/>
          <p:nvPr/>
        </p:nvSpPr>
        <p:spPr>
          <a:xfrm>
            <a:off x="457200" y="1780000"/>
            <a:ext cx="4000000" cy="40000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5" name="tpht"/>
          <p:cNvSpPr/>
          <p:nvPr/>
        </p:nvSpPr>
        <p:spPr>
          <a:xfrm>
            <a:off x="457200" y="1780000"/>
            <a:ext cx="4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TORIC  ·  periodic</a:t>
            </a:r>
          </a:p>
        </p:txBody>
      </p:sp>
      <p:sp>
        <p:nvSpPr>
          <p:cNvPr id="276" name="tpb"/>
          <p:cNvSpPr/>
          <p:nvPr/>
        </p:nvSpPr>
        <p:spPr>
          <a:xfrm>
            <a:off x="457200" y="2180000"/>
            <a:ext cx="4000000" cy="14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7" name="e"/>
          <p:cNvSpPr/>
          <p:nvPr/>
        </p:nvSpPr>
        <p:spPr>
          <a:xfrm>
            <a:off x="1017200" y="2340000"/>
            <a:ext cx="120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8" name="e"/>
          <p:cNvSpPr/>
          <p:nvPr/>
        </p:nvSpPr>
        <p:spPr>
          <a:xfrm>
            <a:off x="1017200" y="2340000"/>
            <a:ext cx="0" cy="120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9" name="e"/>
          <p:cNvSpPr/>
          <p:nvPr/>
        </p:nvSpPr>
        <p:spPr>
          <a:xfrm>
            <a:off x="1017200" y="2640000"/>
            <a:ext cx="120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0" name="e"/>
          <p:cNvSpPr/>
          <p:nvPr/>
        </p:nvSpPr>
        <p:spPr>
          <a:xfrm>
            <a:off x="1317200" y="2340000"/>
            <a:ext cx="0" cy="120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1" name="e"/>
          <p:cNvSpPr/>
          <p:nvPr/>
        </p:nvSpPr>
        <p:spPr>
          <a:xfrm>
            <a:off x="1017200" y="2940000"/>
            <a:ext cx="120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2" name="e"/>
          <p:cNvSpPr/>
          <p:nvPr/>
        </p:nvSpPr>
        <p:spPr>
          <a:xfrm>
            <a:off x="1617200" y="2340000"/>
            <a:ext cx="0" cy="120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3" name="e"/>
          <p:cNvSpPr/>
          <p:nvPr/>
        </p:nvSpPr>
        <p:spPr>
          <a:xfrm>
            <a:off x="1017200" y="3240000"/>
            <a:ext cx="120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4" name="e"/>
          <p:cNvSpPr/>
          <p:nvPr/>
        </p:nvSpPr>
        <p:spPr>
          <a:xfrm>
            <a:off x="1917200" y="2340000"/>
            <a:ext cx="0" cy="120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5" name="e"/>
          <p:cNvSpPr/>
          <p:nvPr/>
        </p:nvSpPr>
        <p:spPr>
          <a:xfrm>
            <a:off x="1017200" y="3540000"/>
            <a:ext cx="120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6" name="e"/>
          <p:cNvSpPr/>
          <p:nvPr/>
        </p:nvSpPr>
        <p:spPr>
          <a:xfrm>
            <a:off x="2217200" y="2340000"/>
            <a:ext cx="0" cy="120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7" name="q"/>
          <p:cNvSpPr/>
          <p:nvPr/>
        </p:nvSpPr>
        <p:spPr>
          <a:xfrm>
            <a:off x="1137200" y="23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8" name="q"/>
          <p:cNvSpPr/>
          <p:nvPr/>
        </p:nvSpPr>
        <p:spPr>
          <a:xfrm>
            <a:off x="1137200" y="26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9" name="q"/>
          <p:cNvSpPr/>
          <p:nvPr/>
        </p:nvSpPr>
        <p:spPr>
          <a:xfrm>
            <a:off x="1137200" y="29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0" name="q"/>
          <p:cNvSpPr/>
          <p:nvPr/>
        </p:nvSpPr>
        <p:spPr>
          <a:xfrm>
            <a:off x="1137200" y="32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1" name="q"/>
          <p:cNvSpPr/>
          <p:nvPr/>
        </p:nvSpPr>
        <p:spPr>
          <a:xfrm>
            <a:off x="1137200" y="35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2" name="q"/>
          <p:cNvSpPr/>
          <p:nvPr/>
        </p:nvSpPr>
        <p:spPr>
          <a:xfrm>
            <a:off x="1437200" y="23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3" name="q"/>
          <p:cNvSpPr/>
          <p:nvPr/>
        </p:nvSpPr>
        <p:spPr>
          <a:xfrm>
            <a:off x="1437200" y="26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4" name="q"/>
          <p:cNvSpPr/>
          <p:nvPr/>
        </p:nvSpPr>
        <p:spPr>
          <a:xfrm>
            <a:off x="1437200" y="29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5" name="q"/>
          <p:cNvSpPr/>
          <p:nvPr/>
        </p:nvSpPr>
        <p:spPr>
          <a:xfrm>
            <a:off x="1437200" y="32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6" name="q"/>
          <p:cNvSpPr/>
          <p:nvPr/>
        </p:nvSpPr>
        <p:spPr>
          <a:xfrm>
            <a:off x="1437200" y="35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7" name="q"/>
          <p:cNvSpPr/>
          <p:nvPr/>
        </p:nvSpPr>
        <p:spPr>
          <a:xfrm>
            <a:off x="1737200" y="23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8" name="q"/>
          <p:cNvSpPr/>
          <p:nvPr/>
        </p:nvSpPr>
        <p:spPr>
          <a:xfrm>
            <a:off x="1737200" y="26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9" name="q"/>
          <p:cNvSpPr/>
          <p:nvPr/>
        </p:nvSpPr>
        <p:spPr>
          <a:xfrm>
            <a:off x="1737200" y="29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0" name="q"/>
          <p:cNvSpPr/>
          <p:nvPr/>
        </p:nvSpPr>
        <p:spPr>
          <a:xfrm>
            <a:off x="1737200" y="32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1" name="q"/>
          <p:cNvSpPr/>
          <p:nvPr/>
        </p:nvSpPr>
        <p:spPr>
          <a:xfrm>
            <a:off x="1737200" y="35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2" name="q"/>
          <p:cNvSpPr/>
          <p:nvPr/>
        </p:nvSpPr>
        <p:spPr>
          <a:xfrm>
            <a:off x="2037200" y="23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3" name="q"/>
          <p:cNvSpPr/>
          <p:nvPr/>
        </p:nvSpPr>
        <p:spPr>
          <a:xfrm>
            <a:off x="2037200" y="26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4" name="q"/>
          <p:cNvSpPr/>
          <p:nvPr/>
        </p:nvSpPr>
        <p:spPr>
          <a:xfrm>
            <a:off x="2037200" y="29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5" name="q"/>
          <p:cNvSpPr/>
          <p:nvPr/>
        </p:nvSpPr>
        <p:spPr>
          <a:xfrm>
            <a:off x="2037200" y="32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6" name="q"/>
          <p:cNvSpPr/>
          <p:nvPr/>
        </p:nvSpPr>
        <p:spPr>
          <a:xfrm>
            <a:off x="2037200" y="35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7" name="q"/>
          <p:cNvSpPr/>
          <p:nvPr/>
        </p:nvSpPr>
        <p:spPr>
          <a:xfrm>
            <a:off x="987200" y="24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8" name="q"/>
          <p:cNvSpPr/>
          <p:nvPr/>
        </p:nvSpPr>
        <p:spPr>
          <a:xfrm>
            <a:off x="987200" y="27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9" name="q"/>
          <p:cNvSpPr/>
          <p:nvPr/>
        </p:nvSpPr>
        <p:spPr>
          <a:xfrm>
            <a:off x="987200" y="30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0" name="q"/>
          <p:cNvSpPr/>
          <p:nvPr/>
        </p:nvSpPr>
        <p:spPr>
          <a:xfrm>
            <a:off x="987200" y="33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1" name="q"/>
          <p:cNvSpPr/>
          <p:nvPr/>
        </p:nvSpPr>
        <p:spPr>
          <a:xfrm>
            <a:off x="1287200" y="24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2" name="q"/>
          <p:cNvSpPr/>
          <p:nvPr/>
        </p:nvSpPr>
        <p:spPr>
          <a:xfrm>
            <a:off x="1287200" y="27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3" name="q"/>
          <p:cNvSpPr/>
          <p:nvPr/>
        </p:nvSpPr>
        <p:spPr>
          <a:xfrm>
            <a:off x="1287200" y="30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4" name="q"/>
          <p:cNvSpPr/>
          <p:nvPr/>
        </p:nvSpPr>
        <p:spPr>
          <a:xfrm>
            <a:off x="1287200" y="33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5" name="q"/>
          <p:cNvSpPr/>
          <p:nvPr/>
        </p:nvSpPr>
        <p:spPr>
          <a:xfrm>
            <a:off x="1587200" y="24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6" name="q"/>
          <p:cNvSpPr/>
          <p:nvPr/>
        </p:nvSpPr>
        <p:spPr>
          <a:xfrm>
            <a:off x="1587200" y="27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7" name="q"/>
          <p:cNvSpPr/>
          <p:nvPr/>
        </p:nvSpPr>
        <p:spPr>
          <a:xfrm>
            <a:off x="1587200" y="30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8" name="q"/>
          <p:cNvSpPr/>
          <p:nvPr/>
        </p:nvSpPr>
        <p:spPr>
          <a:xfrm>
            <a:off x="1587200" y="33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9" name="q"/>
          <p:cNvSpPr/>
          <p:nvPr/>
        </p:nvSpPr>
        <p:spPr>
          <a:xfrm>
            <a:off x="1887200" y="24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0" name="q"/>
          <p:cNvSpPr/>
          <p:nvPr/>
        </p:nvSpPr>
        <p:spPr>
          <a:xfrm>
            <a:off x="1887200" y="27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1" name="q"/>
          <p:cNvSpPr/>
          <p:nvPr/>
        </p:nvSpPr>
        <p:spPr>
          <a:xfrm>
            <a:off x="1887200" y="30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2" name="q"/>
          <p:cNvSpPr/>
          <p:nvPr/>
        </p:nvSpPr>
        <p:spPr>
          <a:xfrm>
            <a:off x="1887200" y="33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3" name="q"/>
          <p:cNvSpPr/>
          <p:nvPr/>
        </p:nvSpPr>
        <p:spPr>
          <a:xfrm>
            <a:off x="2187200" y="24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4" name="q"/>
          <p:cNvSpPr/>
          <p:nvPr/>
        </p:nvSpPr>
        <p:spPr>
          <a:xfrm>
            <a:off x="2187200" y="27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5" name="q"/>
          <p:cNvSpPr/>
          <p:nvPr/>
        </p:nvSpPr>
        <p:spPr>
          <a:xfrm>
            <a:off x="2187200" y="30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6" name="q"/>
          <p:cNvSpPr/>
          <p:nvPr/>
        </p:nvSpPr>
        <p:spPr>
          <a:xfrm>
            <a:off x="2187200" y="33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7" name="tpa"/>
          <p:cNvSpPr/>
          <p:nvPr/>
        </p:nvSpPr>
        <p:spPr>
          <a:xfrm>
            <a:off x="1467199" y="3255000"/>
            <a:ext cx="368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logical qubits  ·  not planar</a:t>
            </a:r>
          </a:p>
        </p:txBody>
      </p:sp>
      <p:sp>
        <p:nvSpPr>
          <p:cNvPr id="328" name="wrt"/>
          <p:cNvSpPr/>
          <p:nvPr/>
        </p:nvSpPr>
        <p:spPr>
          <a:xfrm>
            <a:off x="2498488" y="2428470"/>
            <a:ext cx="1200000" cy="2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wraps around</a:t>
            </a:r>
          </a:p>
        </p:txBody>
      </p:sp>
      <p:sp>
        <p:nvSpPr>
          <p:cNvPr id="329" name="sph"/>
          <p:cNvSpPr/>
          <p:nvPr/>
        </p:nvSpPr>
        <p:spPr>
          <a:xfrm>
            <a:off x="4686800" y="1780000"/>
            <a:ext cx="4000000" cy="40000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0" name="spht"/>
          <p:cNvSpPr/>
          <p:nvPr/>
        </p:nvSpPr>
        <p:spPr>
          <a:xfrm>
            <a:off x="4686800" y="1780000"/>
            <a:ext cx="40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8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 ·  open</a:t>
            </a:r>
          </a:p>
        </p:txBody>
      </p:sp>
      <p:sp>
        <p:nvSpPr>
          <p:cNvPr id="331" name="spb"/>
          <p:cNvSpPr/>
          <p:nvPr/>
        </p:nvSpPr>
        <p:spPr>
          <a:xfrm>
            <a:off x="4686800" y="2180000"/>
            <a:ext cx="4000000" cy="142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2" name="e"/>
          <p:cNvSpPr/>
          <p:nvPr/>
        </p:nvSpPr>
        <p:spPr>
          <a:xfrm>
            <a:off x="5246800" y="2340000"/>
            <a:ext cx="120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3" name="e"/>
          <p:cNvSpPr/>
          <p:nvPr/>
        </p:nvSpPr>
        <p:spPr>
          <a:xfrm>
            <a:off x="5246800" y="2340000"/>
            <a:ext cx="0" cy="120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4" name="e"/>
          <p:cNvSpPr/>
          <p:nvPr/>
        </p:nvSpPr>
        <p:spPr>
          <a:xfrm>
            <a:off x="5246800" y="2640000"/>
            <a:ext cx="120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5" name="e"/>
          <p:cNvSpPr/>
          <p:nvPr/>
        </p:nvSpPr>
        <p:spPr>
          <a:xfrm>
            <a:off x="5546800" y="2340000"/>
            <a:ext cx="0" cy="120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6" name="e"/>
          <p:cNvSpPr/>
          <p:nvPr/>
        </p:nvSpPr>
        <p:spPr>
          <a:xfrm>
            <a:off x="5246800" y="2940000"/>
            <a:ext cx="120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7" name="e"/>
          <p:cNvSpPr/>
          <p:nvPr/>
        </p:nvSpPr>
        <p:spPr>
          <a:xfrm>
            <a:off x="5846800" y="2340000"/>
            <a:ext cx="0" cy="120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8" name="e"/>
          <p:cNvSpPr/>
          <p:nvPr/>
        </p:nvSpPr>
        <p:spPr>
          <a:xfrm>
            <a:off x="5246800" y="3240000"/>
            <a:ext cx="120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9" name="e"/>
          <p:cNvSpPr/>
          <p:nvPr/>
        </p:nvSpPr>
        <p:spPr>
          <a:xfrm>
            <a:off x="6146800" y="2340000"/>
            <a:ext cx="0" cy="120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0" name="e"/>
          <p:cNvSpPr/>
          <p:nvPr/>
        </p:nvSpPr>
        <p:spPr>
          <a:xfrm>
            <a:off x="5246800" y="3540000"/>
            <a:ext cx="120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1" name="e"/>
          <p:cNvSpPr/>
          <p:nvPr/>
        </p:nvSpPr>
        <p:spPr>
          <a:xfrm>
            <a:off x="6446800" y="2340000"/>
            <a:ext cx="0" cy="120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2" name="q"/>
          <p:cNvSpPr/>
          <p:nvPr/>
        </p:nvSpPr>
        <p:spPr>
          <a:xfrm>
            <a:off x="5366800" y="23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3" name="q"/>
          <p:cNvSpPr/>
          <p:nvPr/>
        </p:nvSpPr>
        <p:spPr>
          <a:xfrm>
            <a:off x="5366800" y="26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4" name="q"/>
          <p:cNvSpPr/>
          <p:nvPr/>
        </p:nvSpPr>
        <p:spPr>
          <a:xfrm>
            <a:off x="5366800" y="29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5" name="q"/>
          <p:cNvSpPr/>
          <p:nvPr/>
        </p:nvSpPr>
        <p:spPr>
          <a:xfrm>
            <a:off x="5366800" y="32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6" name="q"/>
          <p:cNvSpPr/>
          <p:nvPr/>
        </p:nvSpPr>
        <p:spPr>
          <a:xfrm>
            <a:off x="5366800" y="35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7" name="q"/>
          <p:cNvSpPr/>
          <p:nvPr/>
        </p:nvSpPr>
        <p:spPr>
          <a:xfrm>
            <a:off x="5666800" y="23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8" name="q"/>
          <p:cNvSpPr/>
          <p:nvPr/>
        </p:nvSpPr>
        <p:spPr>
          <a:xfrm>
            <a:off x="5666800" y="26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9" name="q"/>
          <p:cNvSpPr/>
          <p:nvPr/>
        </p:nvSpPr>
        <p:spPr>
          <a:xfrm>
            <a:off x="5666800" y="29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0" name="q"/>
          <p:cNvSpPr/>
          <p:nvPr/>
        </p:nvSpPr>
        <p:spPr>
          <a:xfrm>
            <a:off x="5666800" y="32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1" name="q"/>
          <p:cNvSpPr/>
          <p:nvPr/>
        </p:nvSpPr>
        <p:spPr>
          <a:xfrm>
            <a:off x="5666800" y="35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2" name="q"/>
          <p:cNvSpPr/>
          <p:nvPr/>
        </p:nvSpPr>
        <p:spPr>
          <a:xfrm>
            <a:off x="5966800" y="23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3" name="q"/>
          <p:cNvSpPr/>
          <p:nvPr/>
        </p:nvSpPr>
        <p:spPr>
          <a:xfrm>
            <a:off x="5966800" y="26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4" name="q"/>
          <p:cNvSpPr/>
          <p:nvPr/>
        </p:nvSpPr>
        <p:spPr>
          <a:xfrm>
            <a:off x="5966800" y="29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5" name="q"/>
          <p:cNvSpPr/>
          <p:nvPr/>
        </p:nvSpPr>
        <p:spPr>
          <a:xfrm>
            <a:off x="5966800" y="32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6" name="q"/>
          <p:cNvSpPr/>
          <p:nvPr/>
        </p:nvSpPr>
        <p:spPr>
          <a:xfrm>
            <a:off x="5966800" y="35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7" name="q"/>
          <p:cNvSpPr/>
          <p:nvPr/>
        </p:nvSpPr>
        <p:spPr>
          <a:xfrm>
            <a:off x="6266800" y="23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8" name="q"/>
          <p:cNvSpPr/>
          <p:nvPr/>
        </p:nvSpPr>
        <p:spPr>
          <a:xfrm>
            <a:off x="6266800" y="26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9" name="q"/>
          <p:cNvSpPr/>
          <p:nvPr/>
        </p:nvSpPr>
        <p:spPr>
          <a:xfrm>
            <a:off x="6266800" y="29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0" name="q"/>
          <p:cNvSpPr/>
          <p:nvPr/>
        </p:nvSpPr>
        <p:spPr>
          <a:xfrm>
            <a:off x="6266800" y="32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1" name="q"/>
          <p:cNvSpPr/>
          <p:nvPr/>
        </p:nvSpPr>
        <p:spPr>
          <a:xfrm>
            <a:off x="6266800" y="351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2" name="q"/>
          <p:cNvSpPr/>
          <p:nvPr/>
        </p:nvSpPr>
        <p:spPr>
          <a:xfrm>
            <a:off x="5216800" y="24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3" name="q"/>
          <p:cNvSpPr/>
          <p:nvPr/>
        </p:nvSpPr>
        <p:spPr>
          <a:xfrm>
            <a:off x="5216800" y="27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4" name="q"/>
          <p:cNvSpPr/>
          <p:nvPr/>
        </p:nvSpPr>
        <p:spPr>
          <a:xfrm>
            <a:off x="5216800" y="30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5" name="q"/>
          <p:cNvSpPr/>
          <p:nvPr/>
        </p:nvSpPr>
        <p:spPr>
          <a:xfrm>
            <a:off x="5216800" y="33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6" name="q"/>
          <p:cNvSpPr/>
          <p:nvPr/>
        </p:nvSpPr>
        <p:spPr>
          <a:xfrm>
            <a:off x="5516800" y="24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7" name="q"/>
          <p:cNvSpPr/>
          <p:nvPr/>
        </p:nvSpPr>
        <p:spPr>
          <a:xfrm>
            <a:off x="5516800" y="27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8" name="q"/>
          <p:cNvSpPr/>
          <p:nvPr/>
        </p:nvSpPr>
        <p:spPr>
          <a:xfrm>
            <a:off x="5516800" y="30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9" name="q"/>
          <p:cNvSpPr/>
          <p:nvPr/>
        </p:nvSpPr>
        <p:spPr>
          <a:xfrm>
            <a:off x="5516800" y="33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0" name="q"/>
          <p:cNvSpPr/>
          <p:nvPr/>
        </p:nvSpPr>
        <p:spPr>
          <a:xfrm>
            <a:off x="5816800" y="24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1" name="q"/>
          <p:cNvSpPr/>
          <p:nvPr/>
        </p:nvSpPr>
        <p:spPr>
          <a:xfrm>
            <a:off x="5816800" y="27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2" name="q"/>
          <p:cNvSpPr/>
          <p:nvPr/>
        </p:nvSpPr>
        <p:spPr>
          <a:xfrm>
            <a:off x="5816800" y="30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3" name="q"/>
          <p:cNvSpPr/>
          <p:nvPr/>
        </p:nvSpPr>
        <p:spPr>
          <a:xfrm>
            <a:off x="5816800" y="33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4" name="q"/>
          <p:cNvSpPr/>
          <p:nvPr/>
        </p:nvSpPr>
        <p:spPr>
          <a:xfrm>
            <a:off x="6116800" y="24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5" name="q"/>
          <p:cNvSpPr/>
          <p:nvPr/>
        </p:nvSpPr>
        <p:spPr>
          <a:xfrm>
            <a:off x="6116800" y="27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6" name="q"/>
          <p:cNvSpPr/>
          <p:nvPr/>
        </p:nvSpPr>
        <p:spPr>
          <a:xfrm>
            <a:off x="6116800" y="30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7" name="q"/>
          <p:cNvSpPr/>
          <p:nvPr/>
        </p:nvSpPr>
        <p:spPr>
          <a:xfrm>
            <a:off x="6116800" y="33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8" name="q"/>
          <p:cNvSpPr/>
          <p:nvPr/>
        </p:nvSpPr>
        <p:spPr>
          <a:xfrm>
            <a:off x="6416800" y="24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9" name="q"/>
          <p:cNvSpPr/>
          <p:nvPr/>
        </p:nvSpPr>
        <p:spPr>
          <a:xfrm>
            <a:off x="6416800" y="27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0" name="q"/>
          <p:cNvSpPr/>
          <p:nvPr/>
        </p:nvSpPr>
        <p:spPr>
          <a:xfrm>
            <a:off x="6416800" y="30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1" name="q"/>
          <p:cNvSpPr/>
          <p:nvPr/>
        </p:nvSpPr>
        <p:spPr>
          <a:xfrm>
            <a:off x="6416800" y="3360000"/>
            <a:ext cx="60000" cy="60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2" name="e"/>
          <p:cNvSpPr/>
          <p:nvPr/>
        </p:nvSpPr>
        <p:spPr>
          <a:xfrm>
            <a:off x="5246800" y="2310000"/>
            <a:ext cx="1200000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3" name="e"/>
          <p:cNvSpPr/>
          <p:nvPr/>
        </p:nvSpPr>
        <p:spPr>
          <a:xfrm>
            <a:off x="5246800" y="3570000"/>
            <a:ext cx="1200000" cy="0"/>
          </a:xfrm>
          <a:prstGeom prst="line">
            <a:avLst/>
          </a:prstGeom>
          <a:noFill/>
          <a:ln w="28575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4" name="e"/>
          <p:cNvSpPr/>
          <p:nvPr/>
        </p:nvSpPr>
        <p:spPr>
          <a:xfrm>
            <a:off x="5216800" y="2340000"/>
            <a:ext cx="0" cy="1200000"/>
          </a:xfrm>
          <a:prstGeom prst="line">
            <a:avLst/>
          </a:prstGeom>
          <a:noFill/>
          <a:ln w="28575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5" name="e"/>
          <p:cNvSpPr/>
          <p:nvPr/>
        </p:nvSpPr>
        <p:spPr>
          <a:xfrm>
            <a:off x="6476800" y="2340000"/>
            <a:ext cx="0" cy="1200000"/>
          </a:xfrm>
          <a:prstGeom prst="line">
            <a:avLst/>
          </a:prstGeom>
          <a:noFill/>
          <a:ln w="28575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6" name="spa"/>
          <p:cNvSpPr/>
          <p:nvPr/>
        </p:nvSpPr>
        <p:spPr>
          <a:xfrm>
            <a:off x="6288601" y="3237567"/>
            <a:ext cx="2698198" cy="344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logical qubit  ·  [[d² ,1, d]]</a:t>
            </a:r>
          </a:p>
        </p:txBody>
      </p:sp>
      <p:sp>
        <p:nvSpPr>
          <p:cNvPr id="387" name="leg"/>
          <p:cNvSpPr/>
          <p:nvPr/>
        </p:nvSpPr>
        <p:spPr>
          <a:xfrm>
            <a:off x="457200" y="3670000"/>
            <a:ext cx="82296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kern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boundary (top/bottom)</a:t>
            </a: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400" b="1" kern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boundary (left/right)</a:t>
            </a:r>
          </a:p>
        </p:txBody>
      </p:sp>
      <p:sp>
        <p:nvSpPr>
          <p:cNvPr id="388" name="gb"/>
          <p:cNvSpPr/>
          <p:nvPr/>
        </p:nvSpPr>
        <p:spPr>
          <a:xfrm>
            <a:off x="457200" y="3990000"/>
            <a:ext cx="8229600" cy="54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9" name="gbt"/>
          <p:cNvSpPr/>
          <p:nvPr/>
        </p:nvSpPr>
        <p:spPr>
          <a:xfrm>
            <a:off x="697200" y="3990000"/>
            <a:ext cx="774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chips are flat. Google and IBM build surface codes — Google ran a distance-5 patch below threshold in 2023.</a:t>
            </a:r>
          </a:p>
        </p:txBody>
      </p:sp>
      <p:sp>
        <p:nvSpPr>
          <p:cNvPr id="390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391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4</a:t>
            </a:r>
          </a:p>
        </p:txBody>
      </p:sp>
      <p:sp>
        <p:nvSpPr>
          <p:cNvPr id="393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Rotated Surface Codes</a:t>
            </a:r>
          </a:p>
        </p:txBody>
      </p:sp>
      <p:sp>
        <p:nvSpPr>
          <p:cNvPr id="394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45° re-cut keeps the same distance with far fewer qubits — the layout running on today’s processors.</a:t>
            </a:r>
          </a:p>
        </p:txBody>
      </p:sp>
      <p:sp>
        <p:nvSpPr>
          <p:cNvPr id="395" name="sd"/>
          <p:cNvSpPr/>
          <p:nvPr/>
        </p:nvSpPr>
        <p:spPr>
          <a:xfrm>
            <a:off x="457200" y="1780000"/>
            <a:ext cx="4360000" cy="186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6" name="sd_acc"/>
          <p:cNvSpPr/>
          <p:nvPr/>
        </p:nvSpPr>
        <p:spPr>
          <a:xfrm>
            <a:off x="457200" y="1780000"/>
            <a:ext cx="4360000" cy="82296"/>
          </a:xfrm>
          <a:prstGeom prst="rect">
            <a:avLst/>
          </a:prstGeom>
          <a:solidFill>
            <a:srgbClr val="3D4F5D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397" name="sdh"/>
          <p:cNvSpPr/>
          <p:nvPr/>
        </p:nvSpPr>
        <p:spPr>
          <a:xfrm>
            <a:off x="677200" y="1910000"/>
            <a:ext cx="392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4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 vs  ROTATED</a:t>
            </a:r>
          </a:p>
        </p:txBody>
      </p:sp>
      <p:sp>
        <p:nvSpPr>
          <p:cNvPr id="398" name="e"/>
          <p:cNvSpPr/>
          <p:nvPr/>
        </p:nvSpPr>
        <p:spPr>
          <a:xfrm>
            <a:off x="817200" y="2280000"/>
            <a:ext cx="108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399" name="e"/>
          <p:cNvSpPr/>
          <p:nvPr/>
        </p:nvSpPr>
        <p:spPr>
          <a:xfrm>
            <a:off x="817200" y="2280000"/>
            <a:ext cx="0" cy="108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0" name="e"/>
          <p:cNvSpPr/>
          <p:nvPr/>
        </p:nvSpPr>
        <p:spPr>
          <a:xfrm>
            <a:off x="817200" y="2550000"/>
            <a:ext cx="108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1" name="e"/>
          <p:cNvSpPr/>
          <p:nvPr/>
        </p:nvSpPr>
        <p:spPr>
          <a:xfrm>
            <a:off x="1087200" y="2280000"/>
            <a:ext cx="0" cy="108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2" name="e"/>
          <p:cNvSpPr/>
          <p:nvPr/>
        </p:nvSpPr>
        <p:spPr>
          <a:xfrm>
            <a:off x="817200" y="2820000"/>
            <a:ext cx="108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3" name="e"/>
          <p:cNvSpPr/>
          <p:nvPr/>
        </p:nvSpPr>
        <p:spPr>
          <a:xfrm>
            <a:off x="1357200" y="2280000"/>
            <a:ext cx="0" cy="108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4" name="e"/>
          <p:cNvSpPr/>
          <p:nvPr/>
        </p:nvSpPr>
        <p:spPr>
          <a:xfrm>
            <a:off x="817200" y="3090000"/>
            <a:ext cx="108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5" name="e"/>
          <p:cNvSpPr/>
          <p:nvPr/>
        </p:nvSpPr>
        <p:spPr>
          <a:xfrm>
            <a:off x="1627200" y="2280000"/>
            <a:ext cx="0" cy="108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6" name="e"/>
          <p:cNvSpPr/>
          <p:nvPr/>
        </p:nvSpPr>
        <p:spPr>
          <a:xfrm>
            <a:off x="817200" y="3360000"/>
            <a:ext cx="1080000" cy="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7" name="e"/>
          <p:cNvSpPr/>
          <p:nvPr/>
        </p:nvSpPr>
        <p:spPr>
          <a:xfrm>
            <a:off x="1897200" y="2280000"/>
            <a:ext cx="0" cy="1080000"/>
          </a:xfrm>
          <a:prstGeom prst="line">
            <a:avLst/>
          </a:prstGeom>
          <a:noFill/>
          <a:ln w="12700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08" name="q"/>
          <p:cNvSpPr/>
          <p:nvPr/>
        </p:nvSpPr>
        <p:spPr>
          <a:xfrm>
            <a:off x="924200" y="225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09" name="q"/>
          <p:cNvSpPr/>
          <p:nvPr/>
        </p:nvSpPr>
        <p:spPr>
          <a:xfrm>
            <a:off x="924200" y="252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0" name="q"/>
          <p:cNvSpPr/>
          <p:nvPr/>
        </p:nvSpPr>
        <p:spPr>
          <a:xfrm>
            <a:off x="924200" y="279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1" name="q"/>
          <p:cNvSpPr/>
          <p:nvPr/>
        </p:nvSpPr>
        <p:spPr>
          <a:xfrm>
            <a:off x="924200" y="306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2" name="q"/>
          <p:cNvSpPr/>
          <p:nvPr/>
        </p:nvSpPr>
        <p:spPr>
          <a:xfrm>
            <a:off x="924200" y="333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3" name="q"/>
          <p:cNvSpPr/>
          <p:nvPr/>
        </p:nvSpPr>
        <p:spPr>
          <a:xfrm>
            <a:off x="1194200" y="225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4" name="q"/>
          <p:cNvSpPr/>
          <p:nvPr/>
        </p:nvSpPr>
        <p:spPr>
          <a:xfrm>
            <a:off x="1194200" y="252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5" name="q"/>
          <p:cNvSpPr/>
          <p:nvPr/>
        </p:nvSpPr>
        <p:spPr>
          <a:xfrm>
            <a:off x="1194200" y="279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6" name="q"/>
          <p:cNvSpPr/>
          <p:nvPr/>
        </p:nvSpPr>
        <p:spPr>
          <a:xfrm>
            <a:off x="1194200" y="306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7" name="q"/>
          <p:cNvSpPr/>
          <p:nvPr/>
        </p:nvSpPr>
        <p:spPr>
          <a:xfrm>
            <a:off x="1194200" y="333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8" name="q"/>
          <p:cNvSpPr/>
          <p:nvPr/>
        </p:nvSpPr>
        <p:spPr>
          <a:xfrm>
            <a:off x="1464200" y="225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19" name="q"/>
          <p:cNvSpPr/>
          <p:nvPr/>
        </p:nvSpPr>
        <p:spPr>
          <a:xfrm>
            <a:off x="1464200" y="252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0" name="q"/>
          <p:cNvSpPr/>
          <p:nvPr/>
        </p:nvSpPr>
        <p:spPr>
          <a:xfrm>
            <a:off x="1464200" y="279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1" name="q"/>
          <p:cNvSpPr/>
          <p:nvPr/>
        </p:nvSpPr>
        <p:spPr>
          <a:xfrm>
            <a:off x="1464200" y="306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2" name="q"/>
          <p:cNvSpPr/>
          <p:nvPr/>
        </p:nvSpPr>
        <p:spPr>
          <a:xfrm>
            <a:off x="1464200" y="333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3" name="q"/>
          <p:cNvSpPr/>
          <p:nvPr/>
        </p:nvSpPr>
        <p:spPr>
          <a:xfrm>
            <a:off x="1734200" y="225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4" name="q"/>
          <p:cNvSpPr/>
          <p:nvPr/>
        </p:nvSpPr>
        <p:spPr>
          <a:xfrm>
            <a:off x="1734200" y="252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5" name="q"/>
          <p:cNvSpPr/>
          <p:nvPr/>
        </p:nvSpPr>
        <p:spPr>
          <a:xfrm>
            <a:off x="1734200" y="279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6" name="q"/>
          <p:cNvSpPr/>
          <p:nvPr/>
        </p:nvSpPr>
        <p:spPr>
          <a:xfrm>
            <a:off x="1734200" y="306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7" name="q"/>
          <p:cNvSpPr/>
          <p:nvPr/>
        </p:nvSpPr>
        <p:spPr>
          <a:xfrm>
            <a:off x="1734200" y="3332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8" name="q"/>
          <p:cNvSpPr/>
          <p:nvPr/>
        </p:nvSpPr>
        <p:spPr>
          <a:xfrm>
            <a:off x="789200" y="238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29" name="q"/>
          <p:cNvSpPr/>
          <p:nvPr/>
        </p:nvSpPr>
        <p:spPr>
          <a:xfrm>
            <a:off x="789200" y="265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0" name="q"/>
          <p:cNvSpPr/>
          <p:nvPr/>
        </p:nvSpPr>
        <p:spPr>
          <a:xfrm>
            <a:off x="789200" y="292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1" name="q"/>
          <p:cNvSpPr/>
          <p:nvPr/>
        </p:nvSpPr>
        <p:spPr>
          <a:xfrm>
            <a:off x="789200" y="319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2" name="q"/>
          <p:cNvSpPr/>
          <p:nvPr/>
        </p:nvSpPr>
        <p:spPr>
          <a:xfrm>
            <a:off x="1059200" y="238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3" name="q"/>
          <p:cNvSpPr/>
          <p:nvPr/>
        </p:nvSpPr>
        <p:spPr>
          <a:xfrm>
            <a:off x="1059200" y="265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4" name="q"/>
          <p:cNvSpPr/>
          <p:nvPr/>
        </p:nvSpPr>
        <p:spPr>
          <a:xfrm>
            <a:off x="1059200" y="292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5" name="q"/>
          <p:cNvSpPr/>
          <p:nvPr/>
        </p:nvSpPr>
        <p:spPr>
          <a:xfrm>
            <a:off x="1059200" y="319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6" name="q"/>
          <p:cNvSpPr/>
          <p:nvPr/>
        </p:nvSpPr>
        <p:spPr>
          <a:xfrm>
            <a:off x="1329200" y="238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7" name="q"/>
          <p:cNvSpPr/>
          <p:nvPr/>
        </p:nvSpPr>
        <p:spPr>
          <a:xfrm>
            <a:off x="1329200" y="265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8" name="q"/>
          <p:cNvSpPr/>
          <p:nvPr/>
        </p:nvSpPr>
        <p:spPr>
          <a:xfrm>
            <a:off x="1329200" y="292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39" name="q"/>
          <p:cNvSpPr/>
          <p:nvPr/>
        </p:nvSpPr>
        <p:spPr>
          <a:xfrm>
            <a:off x="1329200" y="319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0" name="q"/>
          <p:cNvSpPr/>
          <p:nvPr/>
        </p:nvSpPr>
        <p:spPr>
          <a:xfrm>
            <a:off x="1599200" y="238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1" name="q"/>
          <p:cNvSpPr/>
          <p:nvPr/>
        </p:nvSpPr>
        <p:spPr>
          <a:xfrm>
            <a:off x="1599200" y="265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2" name="q"/>
          <p:cNvSpPr/>
          <p:nvPr/>
        </p:nvSpPr>
        <p:spPr>
          <a:xfrm>
            <a:off x="1599200" y="292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3" name="q"/>
          <p:cNvSpPr/>
          <p:nvPr/>
        </p:nvSpPr>
        <p:spPr>
          <a:xfrm>
            <a:off x="1599200" y="319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4" name="q"/>
          <p:cNvSpPr/>
          <p:nvPr/>
        </p:nvSpPr>
        <p:spPr>
          <a:xfrm>
            <a:off x="1869200" y="238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5" name="q"/>
          <p:cNvSpPr/>
          <p:nvPr/>
        </p:nvSpPr>
        <p:spPr>
          <a:xfrm>
            <a:off x="1869200" y="265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6" name="q"/>
          <p:cNvSpPr/>
          <p:nvPr/>
        </p:nvSpPr>
        <p:spPr>
          <a:xfrm>
            <a:off x="1869200" y="292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7" name="q"/>
          <p:cNvSpPr/>
          <p:nvPr/>
        </p:nvSpPr>
        <p:spPr>
          <a:xfrm>
            <a:off x="1869200" y="3197000"/>
            <a:ext cx="56000" cy="56000"/>
          </a:xfrm>
          <a:prstGeom prst="ellipse">
            <a:avLst/>
          </a:prstGeom>
          <a:solidFill>
            <a:srgbClr val="9FB4C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48" name="sdl1"/>
          <p:cNvSpPr/>
          <p:nvPr/>
        </p:nvSpPr>
        <p:spPr>
          <a:xfrm>
            <a:off x="777200" y="3400000"/>
            <a:ext cx="116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</a:p>
        </p:txBody>
      </p:sp>
      <p:sp>
        <p:nvSpPr>
          <p:cNvPr id="449" name="tile"/>
          <p:cNvSpPr/>
          <p:nvPr/>
        </p:nvSpPr>
        <p:spPr>
          <a:xfrm>
            <a:off x="2757200" y="2230000"/>
            <a:ext cx="300000" cy="300000"/>
          </a:xfrm>
          <a:prstGeom prst="rect">
            <a:avLst/>
          </a:prstGeom>
          <a:solidFill>
            <a:srgbClr val="234A6E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0" name="tile"/>
          <p:cNvSpPr/>
          <p:nvPr/>
        </p:nvSpPr>
        <p:spPr>
          <a:xfrm>
            <a:off x="2757200" y="2530000"/>
            <a:ext cx="3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1" name="tile"/>
          <p:cNvSpPr/>
          <p:nvPr/>
        </p:nvSpPr>
        <p:spPr>
          <a:xfrm>
            <a:off x="2757200" y="2830000"/>
            <a:ext cx="300000" cy="300000"/>
          </a:xfrm>
          <a:prstGeom prst="rect">
            <a:avLst/>
          </a:prstGeom>
          <a:solidFill>
            <a:srgbClr val="234A6E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2" name="tile"/>
          <p:cNvSpPr/>
          <p:nvPr/>
        </p:nvSpPr>
        <p:spPr>
          <a:xfrm>
            <a:off x="2757200" y="3130000"/>
            <a:ext cx="3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3" name="tile"/>
          <p:cNvSpPr/>
          <p:nvPr/>
        </p:nvSpPr>
        <p:spPr>
          <a:xfrm>
            <a:off x="3057200" y="2230000"/>
            <a:ext cx="3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4" name="tile"/>
          <p:cNvSpPr/>
          <p:nvPr/>
        </p:nvSpPr>
        <p:spPr>
          <a:xfrm>
            <a:off x="3057200" y="2530000"/>
            <a:ext cx="300000" cy="300000"/>
          </a:xfrm>
          <a:prstGeom prst="rect">
            <a:avLst/>
          </a:prstGeom>
          <a:solidFill>
            <a:srgbClr val="234A6E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5" name="tile"/>
          <p:cNvSpPr/>
          <p:nvPr/>
        </p:nvSpPr>
        <p:spPr>
          <a:xfrm>
            <a:off x="3057200" y="2830000"/>
            <a:ext cx="3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6" name="tile"/>
          <p:cNvSpPr/>
          <p:nvPr/>
        </p:nvSpPr>
        <p:spPr>
          <a:xfrm>
            <a:off x="3057200" y="3130000"/>
            <a:ext cx="300000" cy="300000"/>
          </a:xfrm>
          <a:prstGeom prst="rect">
            <a:avLst/>
          </a:prstGeom>
          <a:solidFill>
            <a:srgbClr val="234A6E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7" name="tile"/>
          <p:cNvSpPr/>
          <p:nvPr/>
        </p:nvSpPr>
        <p:spPr>
          <a:xfrm>
            <a:off x="3357200" y="2230000"/>
            <a:ext cx="300000" cy="300000"/>
          </a:xfrm>
          <a:prstGeom prst="rect">
            <a:avLst/>
          </a:prstGeom>
          <a:solidFill>
            <a:srgbClr val="234A6E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8" name="tile"/>
          <p:cNvSpPr/>
          <p:nvPr/>
        </p:nvSpPr>
        <p:spPr>
          <a:xfrm>
            <a:off x="3357200" y="2530000"/>
            <a:ext cx="3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59" name="tile"/>
          <p:cNvSpPr/>
          <p:nvPr/>
        </p:nvSpPr>
        <p:spPr>
          <a:xfrm>
            <a:off x="3357200" y="2830000"/>
            <a:ext cx="300000" cy="300000"/>
          </a:xfrm>
          <a:prstGeom prst="rect">
            <a:avLst/>
          </a:prstGeom>
          <a:solidFill>
            <a:srgbClr val="234A6E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0" name="tile"/>
          <p:cNvSpPr/>
          <p:nvPr/>
        </p:nvSpPr>
        <p:spPr>
          <a:xfrm>
            <a:off x="3357200" y="3130000"/>
            <a:ext cx="3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1" name="tile"/>
          <p:cNvSpPr/>
          <p:nvPr/>
        </p:nvSpPr>
        <p:spPr>
          <a:xfrm>
            <a:off x="3657200" y="2230000"/>
            <a:ext cx="3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2" name="tile"/>
          <p:cNvSpPr/>
          <p:nvPr/>
        </p:nvSpPr>
        <p:spPr>
          <a:xfrm>
            <a:off x="3657200" y="2530000"/>
            <a:ext cx="300000" cy="300000"/>
          </a:xfrm>
          <a:prstGeom prst="rect">
            <a:avLst/>
          </a:prstGeom>
          <a:solidFill>
            <a:srgbClr val="234A6E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3" name="tile"/>
          <p:cNvSpPr/>
          <p:nvPr/>
        </p:nvSpPr>
        <p:spPr>
          <a:xfrm>
            <a:off x="3657200" y="2830000"/>
            <a:ext cx="300000" cy="3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4" name="tile"/>
          <p:cNvSpPr/>
          <p:nvPr/>
        </p:nvSpPr>
        <p:spPr>
          <a:xfrm>
            <a:off x="3657200" y="3130000"/>
            <a:ext cx="300000" cy="300000"/>
          </a:xfrm>
          <a:prstGeom prst="rect">
            <a:avLst/>
          </a:prstGeom>
          <a:solidFill>
            <a:srgbClr val="234A6E"/>
          </a:solidFill>
          <a:ln w="9525">
            <a:solidFill>
              <a:srgbClr val="234A6E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5" name="sdl2"/>
          <p:cNvSpPr/>
          <p:nvPr/>
        </p:nvSpPr>
        <p:spPr>
          <a:xfrm>
            <a:off x="2717200" y="3470000"/>
            <a:ext cx="1280000" cy="2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  </a:t>
            </a:r>
            <a:r>
              <a:rPr lang="en-US" sz="1050" kern="0">
                <a:solidFill>
                  <a:srgbClr val="23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</a:t>
            </a:r>
            <a:r>
              <a:rPr lang="en-US" sz="10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XX  </a:t>
            </a:r>
            <a:r>
              <a:rPr lang="en-US" sz="1050" kern="0">
                <a:solidFill>
                  <a:srgbClr val="23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</a:t>
            </a:r>
            <a:r>
              <a:rPr lang="en-US" sz="105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ZZ</a:t>
            </a:r>
          </a:p>
        </p:txBody>
      </p:sp>
      <p:sp>
        <p:nvSpPr>
          <p:cNvPr id="466" name="cp"/>
          <p:cNvSpPr/>
          <p:nvPr/>
        </p:nvSpPr>
        <p:spPr>
          <a:xfrm>
            <a:off x="5060000" y="1780000"/>
            <a:ext cx="3626800" cy="186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467" name="cp_acc"/>
          <p:cNvSpPr/>
          <p:nvPr/>
        </p:nvSpPr>
        <p:spPr>
          <a:xfrm>
            <a:off x="5060000" y="1780000"/>
            <a:ext cx="362680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468" name="cph"/>
          <p:cNvSpPr/>
          <p:nvPr/>
        </p:nvSpPr>
        <p:spPr>
          <a:xfrm>
            <a:off x="5280000" y="1920000"/>
            <a:ext cx="318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B56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DISTANCE-5 PATCH</a:t>
            </a:r>
          </a:p>
        </p:txBody>
      </p:sp>
      <p:sp>
        <p:nvSpPr>
          <p:cNvPr id="469" name="cpt"/>
          <p:cNvSpPr/>
          <p:nvPr/>
        </p:nvSpPr>
        <p:spPr>
          <a:xfrm>
            <a:off x="5280000" y="2260000"/>
            <a:ext cx="3186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Unrotated:  </a:t>
            </a:r>
            <a:r>
              <a:rPr lang="en-US" sz="1400" b="1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49 qubits</a:t>
            </a:r>
          </a:p>
        </p:txBody>
      </p:sp>
      <p:sp>
        <p:nvSpPr>
          <p:cNvPr id="470" name="cpt"/>
          <p:cNvSpPr/>
          <p:nvPr/>
        </p:nvSpPr>
        <p:spPr>
          <a:xfrm>
            <a:off x="5280000" y="2640000"/>
            <a:ext cx="31868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Rotated:  </a:t>
            </a:r>
            <a:r>
              <a:rPr lang="en-US" sz="14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37 qubits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1" name="cpn"/>
              <p:cNvSpPr/>
              <p:nvPr/>
            </p:nvSpPr>
            <p:spPr>
              <a:xfrm>
                <a:off x="5280000" y="3060000"/>
                <a:ext cx="3310327" cy="640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marL="0" indent="0" algn="l">
                  <a:lnSpc>
                    <a:spcPct val="108000"/>
                  </a:lnSpc>
                  <a:buNone/>
                </a:pPr>
                <a:r>
                  <a:rPr lang="en-US" sz="1400" kern="0" dirty="0">
                    <a:solidFill>
                      <a:srgbClr val="3D4F5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Same distance, </a:t>
                </a:r>
                <a14:m>
                  <m:oMath xmlns:m="http://schemas.openxmlformats.org/officeDocument/2006/math">
                    <m:r>
                      <a:rPr lang="en-US" sz="1400" i="1" kern="0" dirty="0" smtClean="0">
                        <a:solidFill>
                          <a:srgbClr val="3D4F5D"/>
                        </a:solidFill>
                        <a:latin typeface="Cambria Math" panose="02040503050406030204" pitchFamily="18" charset="0"/>
                        <a:ea typeface="Calibri" pitchFamily="34" charset="-122"/>
                        <a:cs typeface="Calibri" pitchFamily="34" charset="-120"/>
                      </a:rPr>
                      <m:t>~</m:t>
                    </m:r>
                  </m:oMath>
                </a14:m>
                <a:r>
                  <a:rPr lang="en-US" sz="1400" kern="0" dirty="0">
                    <a:solidFill>
                      <a:srgbClr val="3D4F5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30–40% fewer physical qubits — and only nearest-</a:t>
                </a:r>
                <a:r>
                  <a:rPr lang="en-US" sz="1400" kern="0" dirty="0" err="1">
                    <a:solidFill>
                      <a:srgbClr val="3D4F5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neighbour</a:t>
                </a:r>
                <a:r>
                  <a:rPr lang="en-US" sz="1400" kern="0" dirty="0">
                    <a:solidFill>
                      <a:srgbClr val="3D4F5D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checks.</a:t>
                </a:r>
              </a:p>
            </p:txBody>
          </p:sp>
        </mc:Choice>
        <mc:Fallback xmlns="">
          <p:sp>
            <p:nvSpPr>
              <p:cNvPr id="471" name="cp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0000" y="3060000"/>
                <a:ext cx="3310327" cy="640000"/>
              </a:xfrm>
              <a:prstGeom prst="rect">
                <a:avLst/>
              </a:prstGeom>
              <a:blipFill>
                <a:blip r:embed="rId3"/>
                <a:stretch>
                  <a:fillRect l="-3315" t="-7619" r="-1657"/>
                </a:stretch>
              </a:blipFill>
              <a:ln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2" name="rb"/>
          <p:cNvSpPr/>
          <p:nvPr/>
        </p:nvSpPr>
        <p:spPr>
          <a:xfrm>
            <a:off x="457200" y="3990000"/>
            <a:ext cx="8229600" cy="54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3" name="rbt"/>
          <p:cNvSpPr/>
          <p:nvPr/>
        </p:nvSpPr>
        <p:spPr>
          <a:xfrm>
            <a:off x="697200" y="3990000"/>
            <a:ext cx="774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 the art: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IBM’s heavy-hex and Google’s Sycamore layouts are rotated or near-rotated surface codes.</a:t>
            </a:r>
          </a:p>
        </p:txBody>
      </p:sp>
      <p:sp>
        <p:nvSpPr>
          <p:cNvPr id="474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475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 ·  BLOCK 4</a:t>
            </a:r>
          </a:p>
        </p:txBody>
      </p:sp>
      <p:sp>
        <p:nvSpPr>
          <p:cNvPr id="477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Color Codes</a:t>
            </a:r>
          </a:p>
        </p:txBody>
      </p:sp>
      <p:sp>
        <p:nvSpPr>
          <p:cNvPr id="478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geometric cousin of the Steane code: qubits on a 3-colourable lattice, where every face is both an X- and a Z-check.</a:t>
            </a:r>
          </a:p>
        </p:txBody>
      </p:sp>
      <p:sp>
        <p:nvSpPr>
          <p:cNvPr id="479" name="cl"/>
          <p:cNvSpPr/>
          <p:nvPr/>
        </p:nvSpPr>
        <p:spPr>
          <a:xfrm>
            <a:off x="457200" y="1780000"/>
            <a:ext cx="4000000" cy="186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0" name="cl_acc"/>
          <p:cNvSpPr/>
          <p:nvPr/>
        </p:nvSpPr>
        <p:spPr>
          <a:xfrm>
            <a:off x="457200" y="1780000"/>
            <a:ext cx="4000000" cy="82296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1" name="clh"/>
          <p:cNvSpPr/>
          <p:nvPr/>
        </p:nvSpPr>
        <p:spPr>
          <a:xfrm>
            <a:off x="677200" y="1910000"/>
            <a:ext cx="356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80" b="1" kern="0" spc="6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3-COLOURED FACES</a:t>
            </a:r>
          </a:p>
        </p:txBody>
      </p:sp>
      <p:sp>
        <p:nvSpPr>
          <p:cNvPr id="489" name="cll"/>
          <p:cNvSpPr/>
          <p:nvPr/>
        </p:nvSpPr>
        <p:spPr>
          <a:xfrm>
            <a:off x="677200" y="3310000"/>
            <a:ext cx="3780000" cy="377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i="1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two touching faces share a </a:t>
            </a:r>
            <a:r>
              <a:rPr lang="en-US" sz="1400" i="1" kern="0" dirty="0" err="1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</a:t>
            </a:r>
            <a:endParaRPr lang="en-US" sz="1400" i="1" kern="0" dirty="0">
              <a:solidFill>
                <a:srgbClr val="3D4F5D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90" name="sr"/>
          <p:cNvSpPr/>
          <p:nvPr/>
        </p:nvSpPr>
        <p:spPr>
          <a:xfrm>
            <a:off x="4760000" y="1780000"/>
            <a:ext cx="3926800" cy="86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1" name="sr_acc"/>
          <p:cNvSpPr/>
          <p:nvPr/>
        </p:nvSpPr>
        <p:spPr>
          <a:xfrm>
            <a:off x="4760000" y="1780000"/>
            <a:ext cx="392680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2" name="srh"/>
          <p:cNvSpPr/>
          <p:nvPr/>
        </p:nvSpPr>
        <p:spPr>
          <a:xfrm>
            <a:off x="4980000" y="1910000"/>
            <a:ext cx="348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EXAMPLE</a:t>
            </a:r>
          </a:p>
        </p:txBody>
      </p:sp>
      <p:sp>
        <p:nvSpPr>
          <p:cNvPr id="493" name="srb"/>
          <p:cNvSpPr/>
          <p:nvPr/>
        </p:nvSpPr>
        <p:spPr>
          <a:xfrm>
            <a:off x="4980000" y="2180000"/>
            <a:ext cx="34868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7-qubit Steane</a:t>
            </a: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smallest color code;  </a:t>
            </a:r>
            <a:r>
              <a:rPr lang="en-US" sz="1400" b="1" kern="0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[[19,1,5]]</a:t>
            </a: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corrects 2 errors.</a:t>
            </a:r>
          </a:p>
        </p:txBody>
      </p:sp>
      <p:sp>
        <p:nvSpPr>
          <p:cNvPr id="494" name="tr"/>
          <p:cNvSpPr/>
          <p:nvPr/>
        </p:nvSpPr>
        <p:spPr>
          <a:xfrm>
            <a:off x="4760000" y="2740000"/>
            <a:ext cx="3926800" cy="1047704"/>
          </a:xfrm>
          <a:prstGeom prst="rect">
            <a:avLst/>
          </a:prstGeom>
          <a:solidFill>
            <a:srgbClr val="FDF0DD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5" name="tr_acc"/>
          <p:cNvSpPr/>
          <p:nvPr/>
        </p:nvSpPr>
        <p:spPr>
          <a:xfrm>
            <a:off x="4760000" y="2740000"/>
            <a:ext cx="392680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6" name="trh"/>
          <p:cNvSpPr/>
          <p:nvPr/>
        </p:nvSpPr>
        <p:spPr>
          <a:xfrm>
            <a:off x="4980000" y="2860000"/>
            <a:ext cx="34868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B56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PAYOFF</a:t>
            </a:r>
          </a:p>
        </p:txBody>
      </p:sp>
      <p:sp>
        <p:nvSpPr>
          <p:cNvPr id="497" name="trb"/>
          <p:cNvSpPr/>
          <p:nvPr/>
        </p:nvSpPr>
        <p:spPr>
          <a:xfrm>
            <a:off x="4980000" y="3130000"/>
            <a:ext cx="3486800" cy="46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Clifford gates — every logical gate is just one physical gate per qubit. The trade: harder decoding and lower thresholds than surface codes.</a:t>
            </a:r>
          </a:p>
        </p:txBody>
      </p:sp>
      <p:sp>
        <p:nvSpPr>
          <p:cNvPr id="498" name="cb"/>
          <p:cNvSpPr/>
          <p:nvPr/>
        </p:nvSpPr>
        <p:spPr>
          <a:xfrm>
            <a:off x="457200" y="3990000"/>
            <a:ext cx="8229600" cy="54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9" name="cbt"/>
          <p:cNvSpPr/>
          <p:nvPr/>
        </p:nvSpPr>
        <p:spPr>
          <a:xfrm>
            <a:off x="697200" y="3990000"/>
            <a:ext cx="774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fits: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color codes trade easier logical gates for a tougher decoding problem than the surface code.</a:t>
            </a:r>
          </a:p>
        </p:txBody>
      </p:sp>
      <p:sp>
        <p:nvSpPr>
          <p:cNvPr id="500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501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90770B-F4DD-C45F-84C1-1603C2092B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548" y="2028900"/>
            <a:ext cx="1470435" cy="12211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 ·  BLOCK 4</a:t>
            </a:r>
          </a:p>
        </p:txBody>
      </p:sp>
      <p:sp>
        <p:nvSpPr>
          <p:cNvPr id="503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Developments &amp; Industry</a:t>
            </a:r>
          </a:p>
        </p:txBody>
      </p:sp>
      <p:sp>
        <p:nvSpPr>
          <p:cNvPr id="504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error correction is no longer just theory — below-threshold operation has been demonstrated on real hardware.</a:t>
            </a:r>
          </a:p>
        </p:txBody>
      </p:sp>
      <p:sp>
        <p:nvSpPr>
          <p:cNvPr id="505" name="e"/>
          <p:cNvSpPr/>
          <p:nvPr/>
        </p:nvSpPr>
        <p:spPr>
          <a:xfrm>
            <a:off x="1280160" y="2360000"/>
            <a:ext cx="6583680" cy="0"/>
          </a:xfrm>
          <a:prstGeom prst="line">
            <a:avLst/>
          </a:prstGeom>
          <a:noFill/>
          <a:ln w="22225">
            <a:solidFill>
              <a:srgbClr val="C2CC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6" name="yr0"/>
          <p:cNvSpPr/>
          <p:nvPr/>
        </p:nvSpPr>
        <p:spPr>
          <a:xfrm>
            <a:off x="457200" y="1890000"/>
            <a:ext cx="1645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1E844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2023</a:t>
            </a:r>
          </a:p>
        </p:txBody>
      </p:sp>
      <p:sp>
        <p:nvSpPr>
          <p:cNvPr id="507" name="q"/>
          <p:cNvSpPr/>
          <p:nvPr/>
        </p:nvSpPr>
        <p:spPr>
          <a:xfrm>
            <a:off x="1210160" y="2290000"/>
            <a:ext cx="140000" cy="140000"/>
          </a:xfrm>
          <a:prstGeom prst="ellipse">
            <a:avLst/>
          </a:prstGeom>
          <a:solidFill>
            <a:srgbClr val="1E844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8" name="mt0"/>
          <p:cNvSpPr/>
          <p:nvPr/>
        </p:nvSpPr>
        <p:spPr>
          <a:xfrm>
            <a:off x="517200" y="2530000"/>
            <a:ext cx="152592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Google: below-threshold surface code — distance-5 beats distance-3.</a:t>
            </a:r>
          </a:p>
        </p:txBody>
      </p:sp>
      <p:sp>
        <p:nvSpPr>
          <p:cNvPr id="509" name="yr1"/>
          <p:cNvSpPr/>
          <p:nvPr/>
        </p:nvSpPr>
        <p:spPr>
          <a:xfrm>
            <a:off x="2103120" y="1890000"/>
            <a:ext cx="1645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1F6F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</a:p>
        </p:txBody>
      </p:sp>
      <p:sp>
        <p:nvSpPr>
          <p:cNvPr id="510" name="q"/>
          <p:cNvSpPr/>
          <p:nvPr/>
        </p:nvSpPr>
        <p:spPr>
          <a:xfrm>
            <a:off x="2856080" y="2290000"/>
            <a:ext cx="140000" cy="140000"/>
          </a:xfrm>
          <a:prstGeom prst="ellipse">
            <a:avLst/>
          </a:prstGeom>
          <a:solidFill>
            <a:srgbClr val="1F6FB2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1" name="mt1"/>
          <p:cNvSpPr/>
          <p:nvPr/>
        </p:nvSpPr>
        <p:spPr>
          <a:xfrm>
            <a:off x="2163120" y="2530000"/>
            <a:ext cx="152592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Willow: distance-7 patch, ~50% error reduction.</a:t>
            </a:r>
          </a:p>
        </p:txBody>
      </p:sp>
      <p:sp>
        <p:nvSpPr>
          <p:cNvPr id="512" name="yr2"/>
          <p:cNvSpPr/>
          <p:nvPr/>
        </p:nvSpPr>
        <p:spPr>
          <a:xfrm>
            <a:off x="3749040" y="1890000"/>
            <a:ext cx="1645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7D3C9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</a:p>
        </p:txBody>
      </p:sp>
      <p:sp>
        <p:nvSpPr>
          <p:cNvPr id="513" name="q"/>
          <p:cNvSpPr/>
          <p:nvPr/>
        </p:nvSpPr>
        <p:spPr>
          <a:xfrm>
            <a:off x="4502000" y="2290000"/>
            <a:ext cx="140000" cy="140000"/>
          </a:xfrm>
          <a:prstGeom prst="ellipse">
            <a:avLst/>
          </a:prstGeom>
          <a:solidFill>
            <a:srgbClr val="7D3C98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4" name="mt2"/>
          <p:cNvSpPr/>
          <p:nvPr/>
        </p:nvSpPr>
        <p:spPr>
          <a:xfrm>
            <a:off x="3809040" y="2530000"/>
            <a:ext cx="152592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IBM: distance-3 heavy-hex code on a 127-qubit Eagle chip.</a:t>
            </a:r>
          </a:p>
        </p:txBody>
      </p:sp>
      <p:sp>
        <p:nvSpPr>
          <p:cNvPr id="515" name="yr3"/>
          <p:cNvSpPr/>
          <p:nvPr/>
        </p:nvSpPr>
        <p:spPr>
          <a:xfrm>
            <a:off x="5394960" y="1890000"/>
            <a:ext cx="1645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E08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2025</a:t>
            </a:r>
          </a:p>
        </p:txBody>
      </p:sp>
      <p:sp>
        <p:nvSpPr>
          <p:cNvPr id="516" name="q"/>
          <p:cNvSpPr/>
          <p:nvPr/>
        </p:nvSpPr>
        <p:spPr>
          <a:xfrm>
            <a:off x="6147920" y="2290000"/>
            <a:ext cx="140000" cy="140000"/>
          </a:xfrm>
          <a:prstGeom prst="ellipse">
            <a:avLst/>
          </a:prstGeom>
          <a:solidFill>
            <a:srgbClr val="E08A1E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7" name="mt3"/>
          <p:cNvSpPr/>
          <p:nvPr/>
        </p:nvSpPr>
        <p:spPr>
          <a:xfrm>
            <a:off x="5454960" y="2530000"/>
            <a:ext cx="152592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Logical-qubit demos with 1000+ physical qubits (projected).</a:t>
            </a:r>
          </a:p>
        </p:txBody>
      </p:sp>
      <p:sp>
        <p:nvSpPr>
          <p:cNvPr id="518" name="yr4"/>
          <p:cNvSpPr/>
          <p:nvPr/>
        </p:nvSpPr>
        <p:spPr>
          <a:xfrm>
            <a:off x="7040880" y="1890000"/>
            <a:ext cx="164592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kern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</a:p>
        </p:txBody>
      </p:sp>
      <p:sp>
        <p:nvSpPr>
          <p:cNvPr id="519" name="q"/>
          <p:cNvSpPr/>
          <p:nvPr/>
        </p:nvSpPr>
        <p:spPr>
          <a:xfrm>
            <a:off x="7793840" y="2290000"/>
            <a:ext cx="140000" cy="140000"/>
          </a:xfrm>
          <a:prstGeom prst="ellipse">
            <a:avLst/>
          </a:prstGeom>
          <a:solidFill>
            <a:srgbClr val="C0392B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0" name="mt4"/>
          <p:cNvSpPr/>
          <p:nvPr/>
        </p:nvSpPr>
        <p:spPr>
          <a:xfrm>
            <a:off x="7100880" y="2530000"/>
            <a:ext cx="1525920" cy="11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1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logical error rate below 10⁻⁶ at scale.</a:t>
            </a:r>
          </a:p>
        </p:txBody>
      </p:sp>
      <p:sp>
        <p:nvSpPr>
          <p:cNvPr id="521" name="ib"/>
          <p:cNvSpPr/>
          <p:nvPr/>
        </p:nvSpPr>
        <p:spPr>
          <a:xfrm>
            <a:off x="457200" y="3990000"/>
            <a:ext cx="8229600" cy="54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2" name="ibt"/>
          <p:cNvSpPr/>
          <p:nvPr/>
        </p:nvSpPr>
        <p:spPr>
          <a:xfrm>
            <a:off x="697200" y="3990000"/>
            <a:ext cx="774960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kern="0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home: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India’s National Quantum Mission — with IISc, TIFR and partners — is building a domestic QEC stack.</a:t>
            </a:r>
          </a:p>
        </p:txBody>
      </p:sp>
      <p:sp>
        <p:nvSpPr>
          <p:cNvPr id="523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524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 ·  BLOCK 4</a:t>
            </a:r>
          </a:p>
        </p:txBody>
      </p:sp>
      <p:sp>
        <p:nvSpPr>
          <p:cNvPr id="526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Summary</a:t>
            </a:r>
          </a:p>
        </p:txBody>
      </p:sp>
      <p:sp>
        <p:nvSpPr>
          <p:cNvPr id="527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</a:t>
            </a: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journey</a:t>
            </a:r>
            <a:r>
              <a:rPr lang="en-US" sz="13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from copying a classical bit to topological codes that protect logical qubits on real chips.</a:t>
            </a:r>
          </a:p>
        </p:txBody>
      </p:sp>
      <p:sp>
        <p:nvSpPr>
          <p:cNvPr id="528" name="jc"/>
          <p:cNvSpPr/>
          <p:nvPr/>
        </p:nvSpPr>
        <p:spPr>
          <a:xfrm>
            <a:off x="457200" y="1740000"/>
            <a:ext cx="1525920" cy="4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29" name="jcb"/>
          <p:cNvSpPr/>
          <p:nvPr/>
        </p:nvSpPr>
        <p:spPr>
          <a:xfrm>
            <a:off x="457200" y="1740000"/>
            <a:ext cx="1525920" cy="70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30" name="jct"/>
          <p:cNvSpPr/>
          <p:nvPr/>
        </p:nvSpPr>
        <p:spPr>
          <a:xfrm>
            <a:off x="537200" y="1740000"/>
            <a:ext cx="136592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repetition</a:t>
            </a:r>
          </a:p>
        </p:txBody>
      </p:sp>
      <p:sp>
        <p:nvSpPr>
          <p:cNvPr id="531" name="jar"/>
          <p:cNvSpPr/>
          <p:nvPr/>
        </p:nvSpPr>
        <p:spPr>
          <a:xfrm>
            <a:off x="1983120" y="1740000"/>
            <a:ext cx="15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</a:p>
        </p:txBody>
      </p:sp>
      <p:sp>
        <p:nvSpPr>
          <p:cNvPr id="532" name="jc"/>
          <p:cNvSpPr/>
          <p:nvPr/>
        </p:nvSpPr>
        <p:spPr>
          <a:xfrm>
            <a:off x="2133120" y="1740000"/>
            <a:ext cx="1525920" cy="4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33" name="jcb"/>
          <p:cNvSpPr/>
          <p:nvPr/>
        </p:nvSpPr>
        <p:spPr>
          <a:xfrm>
            <a:off x="2133120" y="1740000"/>
            <a:ext cx="1525920" cy="70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34" name="jct"/>
          <p:cNvSpPr/>
          <p:nvPr/>
        </p:nvSpPr>
        <p:spPr>
          <a:xfrm>
            <a:off x="2213120" y="1740000"/>
            <a:ext cx="136592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3-qubit bit-flip</a:t>
            </a:r>
          </a:p>
        </p:txBody>
      </p:sp>
      <p:sp>
        <p:nvSpPr>
          <p:cNvPr id="535" name="jar"/>
          <p:cNvSpPr/>
          <p:nvPr/>
        </p:nvSpPr>
        <p:spPr>
          <a:xfrm>
            <a:off x="3659040" y="1740000"/>
            <a:ext cx="15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</a:p>
        </p:txBody>
      </p:sp>
      <p:sp>
        <p:nvSpPr>
          <p:cNvPr id="536" name="jc"/>
          <p:cNvSpPr/>
          <p:nvPr/>
        </p:nvSpPr>
        <p:spPr>
          <a:xfrm>
            <a:off x="3809040" y="1740000"/>
            <a:ext cx="1525920" cy="4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1F6FB2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37" name="jcb"/>
          <p:cNvSpPr/>
          <p:nvPr/>
        </p:nvSpPr>
        <p:spPr>
          <a:xfrm>
            <a:off x="3809040" y="1740000"/>
            <a:ext cx="1525920" cy="70000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38" name="jct"/>
          <p:cNvSpPr/>
          <p:nvPr/>
        </p:nvSpPr>
        <p:spPr>
          <a:xfrm>
            <a:off x="3889040" y="1740000"/>
            <a:ext cx="136592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Phase-flip code</a:t>
            </a:r>
          </a:p>
        </p:txBody>
      </p:sp>
      <p:sp>
        <p:nvSpPr>
          <p:cNvPr id="539" name="jar"/>
          <p:cNvSpPr/>
          <p:nvPr/>
        </p:nvSpPr>
        <p:spPr>
          <a:xfrm>
            <a:off x="5334960" y="1740000"/>
            <a:ext cx="15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</a:p>
        </p:txBody>
      </p:sp>
      <p:sp>
        <p:nvSpPr>
          <p:cNvPr id="540" name="jc"/>
          <p:cNvSpPr/>
          <p:nvPr/>
        </p:nvSpPr>
        <p:spPr>
          <a:xfrm>
            <a:off x="5484960" y="1740000"/>
            <a:ext cx="1525920" cy="4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41" name="jcb"/>
          <p:cNvSpPr/>
          <p:nvPr/>
        </p:nvSpPr>
        <p:spPr>
          <a:xfrm>
            <a:off x="5484960" y="1740000"/>
            <a:ext cx="1525920" cy="7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42" name="jct"/>
          <p:cNvSpPr/>
          <p:nvPr/>
        </p:nvSpPr>
        <p:spPr>
          <a:xfrm>
            <a:off x="5564960" y="1740000"/>
            <a:ext cx="136592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9-qubit Shor</a:t>
            </a:r>
          </a:p>
        </p:txBody>
      </p:sp>
      <p:sp>
        <p:nvSpPr>
          <p:cNvPr id="543" name="jar"/>
          <p:cNvSpPr/>
          <p:nvPr/>
        </p:nvSpPr>
        <p:spPr>
          <a:xfrm>
            <a:off x="7010880" y="1740000"/>
            <a:ext cx="15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</a:p>
        </p:txBody>
      </p:sp>
      <p:sp>
        <p:nvSpPr>
          <p:cNvPr id="544" name="jc"/>
          <p:cNvSpPr/>
          <p:nvPr/>
        </p:nvSpPr>
        <p:spPr>
          <a:xfrm>
            <a:off x="7160880" y="1740000"/>
            <a:ext cx="1525920" cy="4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45" name="jcb"/>
          <p:cNvSpPr/>
          <p:nvPr/>
        </p:nvSpPr>
        <p:spPr>
          <a:xfrm>
            <a:off x="7160880" y="1740000"/>
            <a:ext cx="1525920" cy="7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46" name="jct"/>
          <p:cNvSpPr/>
          <p:nvPr/>
        </p:nvSpPr>
        <p:spPr>
          <a:xfrm>
            <a:off x="7240880" y="1740000"/>
            <a:ext cx="136592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discretization</a:t>
            </a:r>
          </a:p>
        </p:txBody>
      </p:sp>
      <p:sp>
        <p:nvSpPr>
          <p:cNvPr id="547" name="jc"/>
          <p:cNvSpPr/>
          <p:nvPr/>
        </p:nvSpPr>
        <p:spPr>
          <a:xfrm>
            <a:off x="457200" y="2340000"/>
            <a:ext cx="1525920" cy="4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48" name="jcb"/>
          <p:cNvSpPr/>
          <p:nvPr/>
        </p:nvSpPr>
        <p:spPr>
          <a:xfrm>
            <a:off x="457200" y="2340000"/>
            <a:ext cx="1525920" cy="7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49" name="jct"/>
          <p:cNvSpPr/>
          <p:nvPr/>
        </p:nvSpPr>
        <p:spPr>
          <a:xfrm>
            <a:off x="537200" y="2340000"/>
            <a:ext cx="136592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Stabilizer formalism</a:t>
            </a:r>
          </a:p>
        </p:txBody>
      </p:sp>
      <p:sp>
        <p:nvSpPr>
          <p:cNvPr id="550" name="jar"/>
          <p:cNvSpPr/>
          <p:nvPr/>
        </p:nvSpPr>
        <p:spPr>
          <a:xfrm>
            <a:off x="1983120" y="2340000"/>
            <a:ext cx="15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</a:p>
        </p:txBody>
      </p:sp>
      <p:sp>
        <p:nvSpPr>
          <p:cNvPr id="551" name="jc"/>
          <p:cNvSpPr/>
          <p:nvPr/>
        </p:nvSpPr>
        <p:spPr>
          <a:xfrm>
            <a:off x="2133120" y="2340000"/>
            <a:ext cx="1525920" cy="4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7D3C98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52" name="jcb"/>
          <p:cNvSpPr/>
          <p:nvPr/>
        </p:nvSpPr>
        <p:spPr>
          <a:xfrm>
            <a:off x="2133120" y="2340000"/>
            <a:ext cx="1525920" cy="70000"/>
          </a:xfrm>
          <a:prstGeom prst="rect">
            <a:avLst/>
          </a:prstGeom>
          <a:solidFill>
            <a:srgbClr val="7D3C98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53" name="jct"/>
          <p:cNvSpPr/>
          <p:nvPr/>
        </p:nvSpPr>
        <p:spPr>
          <a:xfrm>
            <a:off x="2213120" y="2340000"/>
            <a:ext cx="136592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codes</a:t>
            </a:r>
          </a:p>
        </p:txBody>
      </p:sp>
      <p:sp>
        <p:nvSpPr>
          <p:cNvPr id="554" name="jar"/>
          <p:cNvSpPr/>
          <p:nvPr/>
        </p:nvSpPr>
        <p:spPr>
          <a:xfrm>
            <a:off x="3659040" y="2340000"/>
            <a:ext cx="15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</a:p>
        </p:txBody>
      </p:sp>
      <p:sp>
        <p:nvSpPr>
          <p:cNvPr id="555" name="jc"/>
          <p:cNvSpPr/>
          <p:nvPr/>
        </p:nvSpPr>
        <p:spPr>
          <a:xfrm>
            <a:off x="3809040" y="2340000"/>
            <a:ext cx="1525920" cy="4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56" name="jcb"/>
          <p:cNvSpPr/>
          <p:nvPr/>
        </p:nvSpPr>
        <p:spPr>
          <a:xfrm>
            <a:off x="3809040" y="2340000"/>
            <a:ext cx="1525920" cy="7000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57" name="jct"/>
          <p:cNvSpPr/>
          <p:nvPr/>
        </p:nvSpPr>
        <p:spPr>
          <a:xfrm>
            <a:off x="3889040" y="2340000"/>
            <a:ext cx="136592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Toric code</a:t>
            </a:r>
          </a:p>
        </p:txBody>
      </p:sp>
      <p:sp>
        <p:nvSpPr>
          <p:cNvPr id="558" name="jar"/>
          <p:cNvSpPr/>
          <p:nvPr/>
        </p:nvSpPr>
        <p:spPr>
          <a:xfrm>
            <a:off x="5334960" y="2340000"/>
            <a:ext cx="15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</a:p>
        </p:txBody>
      </p:sp>
      <p:sp>
        <p:nvSpPr>
          <p:cNvPr id="559" name="jc"/>
          <p:cNvSpPr/>
          <p:nvPr/>
        </p:nvSpPr>
        <p:spPr>
          <a:xfrm>
            <a:off x="5484960" y="2340000"/>
            <a:ext cx="1525920" cy="4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60" name="jcb"/>
          <p:cNvSpPr/>
          <p:nvPr/>
        </p:nvSpPr>
        <p:spPr>
          <a:xfrm>
            <a:off x="5484960" y="2340000"/>
            <a:ext cx="1525920" cy="7000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61" name="jct"/>
          <p:cNvSpPr/>
          <p:nvPr/>
        </p:nvSpPr>
        <p:spPr>
          <a:xfrm>
            <a:off x="5564960" y="2340000"/>
            <a:ext cx="136592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codes</a:t>
            </a:r>
          </a:p>
        </p:txBody>
      </p:sp>
      <p:sp>
        <p:nvSpPr>
          <p:cNvPr id="562" name="jar"/>
          <p:cNvSpPr/>
          <p:nvPr/>
        </p:nvSpPr>
        <p:spPr>
          <a:xfrm>
            <a:off x="7010880" y="2340000"/>
            <a:ext cx="15000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</a:p>
        </p:txBody>
      </p:sp>
      <p:sp>
        <p:nvSpPr>
          <p:cNvPr id="563" name="jc"/>
          <p:cNvSpPr/>
          <p:nvPr/>
        </p:nvSpPr>
        <p:spPr>
          <a:xfrm>
            <a:off x="7160880" y="2340000"/>
            <a:ext cx="1525920" cy="47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en-US" sz="3200"/>
          </a:p>
        </p:txBody>
      </p:sp>
      <p:sp>
        <p:nvSpPr>
          <p:cNvPr id="564" name="jcb"/>
          <p:cNvSpPr/>
          <p:nvPr/>
        </p:nvSpPr>
        <p:spPr>
          <a:xfrm>
            <a:off x="7160880" y="2340000"/>
            <a:ext cx="1525920" cy="7000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565" name="jct"/>
          <p:cNvSpPr/>
          <p:nvPr/>
        </p:nvSpPr>
        <p:spPr>
          <a:xfrm>
            <a:off x="7240880" y="2340000"/>
            <a:ext cx="1365920" cy="4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codes</a:t>
            </a:r>
          </a:p>
        </p:txBody>
      </p:sp>
      <p:sp>
        <p:nvSpPr>
          <p:cNvPr id="566" name="ki"/>
          <p:cNvSpPr/>
          <p:nvPr/>
        </p:nvSpPr>
        <p:spPr>
          <a:xfrm>
            <a:off x="457200" y="3010000"/>
            <a:ext cx="4040000" cy="111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67" name="ki_acc"/>
          <p:cNvSpPr/>
          <p:nvPr/>
        </p:nvSpPr>
        <p:spPr>
          <a:xfrm>
            <a:off x="457200" y="3010000"/>
            <a:ext cx="4040000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68" name="kih"/>
          <p:cNvSpPr/>
          <p:nvPr/>
        </p:nvSpPr>
        <p:spPr>
          <a:xfrm>
            <a:off x="677200" y="3130000"/>
            <a:ext cx="36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6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LANDED</a:t>
            </a:r>
          </a:p>
        </p:txBody>
      </p:sp>
      <p:sp>
        <p:nvSpPr>
          <p:cNvPr id="569" name="kib"/>
          <p:cNvSpPr/>
          <p:nvPr/>
        </p:nvSpPr>
        <p:spPr>
          <a:xfrm>
            <a:off x="677200" y="3410000"/>
            <a:ext cx="36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information can be protected — at a real cost in overhead. Below-threshold operation is now demonstrated.</a:t>
            </a:r>
          </a:p>
        </p:txBody>
      </p:sp>
      <p:sp>
        <p:nvSpPr>
          <p:cNvPr id="570" name="op"/>
          <p:cNvSpPr/>
          <p:nvPr/>
        </p:nvSpPr>
        <p:spPr>
          <a:xfrm>
            <a:off x="4646800" y="3010000"/>
            <a:ext cx="4040000" cy="1110000"/>
          </a:xfrm>
          <a:prstGeom prst="rect">
            <a:avLst/>
          </a:prstGeom>
          <a:solidFill>
            <a:srgbClr val="FDF0DD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800"/>
          </a:p>
        </p:txBody>
      </p:sp>
      <p:sp>
        <p:nvSpPr>
          <p:cNvPr id="571" name="op_acc"/>
          <p:cNvSpPr/>
          <p:nvPr/>
        </p:nvSpPr>
        <p:spPr>
          <a:xfrm>
            <a:off x="4646800" y="3010000"/>
            <a:ext cx="4040000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572" name="oph"/>
          <p:cNvSpPr/>
          <p:nvPr/>
        </p:nvSpPr>
        <p:spPr>
          <a:xfrm>
            <a:off x="4866800" y="3130000"/>
            <a:ext cx="360000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60">
                <a:solidFill>
                  <a:srgbClr val="B56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PROBLEMS</a:t>
            </a:r>
          </a:p>
        </p:txBody>
      </p:sp>
      <p:sp>
        <p:nvSpPr>
          <p:cNvPr id="573" name="opb"/>
          <p:cNvSpPr/>
          <p:nvPr/>
        </p:nvSpPr>
        <p:spPr>
          <a:xfrm>
            <a:off x="4866800" y="3410000"/>
            <a:ext cx="3600000" cy="6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60000" indent="-260000" algn="l">
              <a:lnSpc>
                <a:spcPct val="102000"/>
              </a:lnSpc>
              <a:spcAft>
                <a:spcPts val="12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syndrome decoding at scale</a:t>
            </a:r>
          </a:p>
          <a:p>
            <a:pPr marL="260000" indent="-260000" algn="l">
              <a:lnSpc>
                <a:spcPct val="102000"/>
              </a:lnSpc>
              <a:spcAft>
                <a:spcPts val="12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with lower qubit overhead</a:t>
            </a:r>
          </a:p>
          <a:p>
            <a:pPr marL="260000" indent="-260000" algn="l">
              <a:lnSpc>
                <a:spcPct val="102000"/>
              </a:lnSpc>
              <a:spcAft>
                <a:spcPts val="120"/>
              </a:spcAft>
              <a:buSzPct val="90000"/>
              <a:buChar char="•"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Transversal non-Clifford gates</a:t>
            </a:r>
          </a:p>
        </p:txBody>
      </p:sp>
      <p:sp>
        <p:nvSpPr>
          <p:cNvPr id="574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575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eyebrow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  ·  BLOCK 4</a:t>
            </a:r>
          </a:p>
        </p:txBody>
      </p:sp>
      <p:sp>
        <p:nvSpPr>
          <p:cNvPr id="577" name="title"/>
          <p:cNvSpPr/>
          <p:nvPr/>
        </p:nvSpPr>
        <p:spPr>
          <a:xfrm>
            <a:off x="457200" y="640080"/>
            <a:ext cx="8229600" cy="6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kern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Further Study</a:t>
            </a:r>
          </a:p>
        </p:txBody>
      </p:sp>
      <p:sp>
        <p:nvSpPr>
          <p:cNvPr id="578" name="intro"/>
          <p:cNvSpPr/>
          <p:nvPr/>
        </p:nvSpPr>
        <p:spPr>
          <a:xfrm>
            <a:off x="457200" y="1300000"/>
            <a:ext cx="8229600" cy="3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kern="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floor — and a few places to go deeper after today.</a:t>
            </a:r>
          </a:p>
        </p:txBody>
      </p:sp>
      <p:sp>
        <p:nvSpPr>
          <p:cNvPr id="579" name="gd"/>
          <p:cNvSpPr/>
          <p:nvPr/>
        </p:nvSpPr>
        <p:spPr>
          <a:xfrm>
            <a:off x="457200" y="1780000"/>
            <a:ext cx="4467278" cy="2060000"/>
          </a:xfrm>
          <a:prstGeom prst="rect">
            <a:avLst/>
          </a:prstGeom>
          <a:solidFill>
            <a:srgbClr val="F4F6F8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80" name="gd_acc"/>
          <p:cNvSpPr/>
          <p:nvPr/>
        </p:nvSpPr>
        <p:spPr>
          <a:xfrm>
            <a:off x="457200" y="1780000"/>
            <a:ext cx="4467278" cy="8229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81" name="gdh"/>
          <p:cNvSpPr/>
          <p:nvPr/>
        </p:nvSpPr>
        <p:spPr>
          <a:xfrm>
            <a:off x="697200" y="1930000"/>
            <a:ext cx="3975468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80">
                <a:solidFill>
                  <a:srgbClr val="B567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</a:t>
            </a:r>
          </a:p>
        </p:txBody>
      </p:sp>
      <p:sp>
        <p:nvSpPr>
          <p:cNvPr id="582" name="gdb"/>
          <p:cNvSpPr/>
          <p:nvPr/>
        </p:nvSpPr>
        <p:spPr>
          <a:xfrm>
            <a:off x="697200" y="2320000"/>
            <a:ext cx="3975468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00000" indent="-300000" algn="l">
              <a:lnSpc>
                <a:spcPct val="104000"/>
              </a:lnSpc>
              <a:spcAft>
                <a:spcPts val="320"/>
              </a:spcAft>
              <a:buSzPct val="90000"/>
              <a:buChar char="•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Nielsen &amp; Chuang — Quantum Computation, Ch. 10</a:t>
            </a:r>
          </a:p>
          <a:p>
            <a:pPr marL="300000" indent="-300000" algn="l">
              <a:lnSpc>
                <a:spcPct val="104000"/>
              </a:lnSpc>
              <a:spcAft>
                <a:spcPts val="320"/>
              </a:spcAft>
              <a:buSzPct val="90000"/>
              <a:buChar char="•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Gottesman — Stabilizer Codes &amp; QEC (PhD thesis)</a:t>
            </a:r>
          </a:p>
          <a:p>
            <a:pPr marL="300000" indent="-300000" algn="l">
              <a:lnSpc>
                <a:spcPct val="104000"/>
              </a:lnSpc>
              <a:spcAft>
                <a:spcPts val="320"/>
              </a:spcAft>
              <a:buSzPct val="90000"/>
              <a:buChar char="•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Quantum Learning platform</a:t>
            </a:r>
          </a:p>
          <a:p>
            <a:pPr marL="300000" indent="-300000" algn="l">
              <a:lnSpc>
                <a:spcPct val="104000"/>
              </a:lnSpc>
              <a:spcAft>
                <a:spcPts val="320"/>
              </a:spcAft>
              <a:buSzPct val="90000"/>
              <a:buChar char="•"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Quantum AI blog</a:t>
            </a:r>
          </a:p>
        </p:txBody>
      </p:sp>
      <p:sp>
        <p:nvSpPr>
          <p:cNvPr id="583" name="bg"/>
          <p:cNvSpPr/>
          <p:nvPr/>
        </p:nvSpPr>
        <p:spPr>
          <a:xfrm>
            <a:off x="4960000" y="1780000"/>
            <a:ext cx="3818498" cy="2060000"/>
          </a:xfrm>
          <a:prstGeom prst="rect">
            <a:avLst/>
          </a:prstGeom>
          <a:solidFill>
            <a:srgbClr val="EAF2FB"/>
          </a:solidFill>
          <a:ln w="12700">
            <a:solidFill>
              <a:srgbClr val="D4DEE8"/>
            </a:solidFill>
            <a:prstDash val="solid"/>
          </a:ln>
        </p:spPr>
        <p:txBody>
          <a:bodyPr/>
          <a:lstStyle/>
          <a:p>
            <a:endParaRPr lang="en-US" sz="2400"/>
          </a:p>
        </p:txBody>
      </p:sp>
      <p:sp>
        <p:nvSpPr>
          <p:cNvPr id="584" name="bg_acc"/>
          <p:cNvSpPr/>
          <p:nvPr/>
        </p:nvSpPr>
        <p:spPr>
          <a:xfrm>
            <a:off x="4960000" y="1780000"/>
            <a:ext cx="3818498" cy="82296"/>
          </a:xfrm>
          <a:prstGeom prst="rect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585" name="bgh"/>
          <p:cNvSpPr/>
          <p:nvPr/>
        </p:nvSpPr>
        <p:spPr>
          <a:xfrm>
            <a:off x="5200000" y="1930000"/>
            <a:ext cx="3326688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kern="0" spc="8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GO</a:t>
            </a:r>
          </a:p>
        </p:txBody>
      </p:sp>
      <p:sp>
        <p:nvSpPr>
          <p:cNvPr id="586" name="bgb"/>
          <p:cNvSpPr/>
          <p:nvPr/>
        </p:nvSpPr>
        <p:spPr>
          <a:xfrm>
            <a:off x="5200000" y="2320000"/>
            <a:ext cx="3326688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300"/>
              </a:spcAft>
              <a:buNone/>
            </a:pPr>
            <a:r>
              <a:rPr lang="en-US" sz="1400" kern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walk through the exercise solutions in the study guide, then open the floor.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1400" b="1" kern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word to describe quantum error correction?</a:t>
            </a:r>
          </a:p>
        </p:txBody>
      </p:sp>
      <p:sp>
        <p:nvSpPr>
          <p:cNvPr id="587" name="tb"/>
          <p:cNvSpPr/>
          <p:nvPr/>
        </p:nvSpPr>
        <p:spPr>
          <a:xfrm>
            <a:off x="457200" y="3990000"/>
            <a:ext cx="8229600" cy="56000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8" name="tbt"/>
          <p:cNvSpPr/>
          <p:nvPr/>
        </p:nvSpPr>
        <p:spPr>
          <a:xfrm>
            <a:off x="697200" y="3990000"/>
            <a:ext cx="7749600" cy="5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kern="0" dirty="0">
                <a:solidFill>
                  <a:srgbClr val="E08A1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</a:t>
            </a:r>
            <a:r>
              <a:rPr lang="en-US" sz="1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now you have the foundations of the field building tomorrow’s fault-tolerant machines.</a:t>
            </a:r>
          </a:p>
        </p:txBody>
      </p:sp>
      <p:sp>
        <p:nvSpPr>
          <p:cNvPr id="589" name="footer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</a:p>
        </p:txBody>
      </p:sp>
      <p:sp>
        <p:nvSpPr>
          <p:cNvPr id="590" name="pnum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kern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 · BLOCK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B3A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9-Qubit Shor Code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Concatenate the bit-flip and phase-flip codes: nine physical qubits that correct an arbitrary single-qubit error.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737360" cy="1234440"/>
          </a:xfrm>
          <a:prstGeom prst="rect">
            <a:avLst/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31520" y="2350008"/>
            <a:ext cx="384048" cy="384048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07008" y="2350008"/>
            <a:ext cx="384048" cy="384048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682496" y="2350008"/>
            <a:ext cx="384048" cy="384048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8620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(|000⟩ ± |111⟩)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06040" y="2057400"/>
            <a:ext cx="1737360" cy="1234440"/>
          </a:xfrm>
          <a:prstGeom prst="rect">
            <a:avLst/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88920" y="2350008"/>
            <a:ext cx="384048" cy="384048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64408" y="2350008"/>
            <a:ext cx="384048" cy="384048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739896" y="2350008"/>
            <a:ext cx="384048" cy="384048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606040" y="28620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(|000⟩ ± |111⟩)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63440" y="2057400"/>
            <a:ext cx="1737360" cy="1234440"/>
          </a:xfrm>
          <a:prstGeom prst="rect">
            <a:avLst/>
          </a:prstGeom>
          <a:solidFill>
            <a:srgbClr val="EAF2FB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46320" y="2350008"/>
            <a:ext cx="384048" cy="384048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21808" y="2350008"/>
            <a:ext cx="384048" cy="384048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97296" y="2350008"/>
            <a:ext cx="384048" cy="384048"/>
          </a:xfrm>
          <a:prstGeom prst="ellipse">
            <a:avLst/>
          </a:prstGeom>
          <a:solidFill>
            <a:srgbClr val="1F6FB2"/>
          </a:solidFill>
          <a:ln w="15875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2862072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3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(|000⟩ ± |111⟩)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474720"/>
            <a:ext cx="5852160" cy="0"/>
          </a:xfrm>
          <a:prstGeom prst="line">
            <a:avLst/>
          </a:prstGeom>
          <a:noFill/>
          <a:ln w="15875">
            <a:solidFill>
              <a:srgbClr val="3D4F5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353872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phase-flip layer  ·  protects the relative sign across the three blocks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1764792"/>
            <a:ext cx="5852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 bit-flip layer →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46520" y="1965960"/>
            <a:ext cx="2240280" cy="1874520"/>
          </a:xfrm>
          <a:prstGeom prst="rect">
            <a:avLst/>
          </a:prstGeom>
          <a:solidFill>
            <a:srgbClr val="1B3A5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46520" y="210312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[[9, 1, 3]]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47688" y="2624328"/>
            <a:ext cx="183794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physical qubits encode 1 logical qubit, distance 3.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47688" y="3227832"/>
            <a:ext cx="18379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Corrects ANY single-qubit error — X, Z, or both (Y).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457200" y="4160520"/>
            <a:ext cx="64008" cy="54864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58368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just X and Z?   </a:t>
            </a:r>
            <a:r>
              <a:rPr lang="en-US" sz="14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the syndrome </a:t>
            </a:r>
            <a:r>
              <a:rPr lang="en-US" sz="1400" b="1" dirty="0">
                <a:solidFill>
                  <a:srgbClr val="1F6F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discretizes</a:t>
            </a:r>
            <a:r>
              <a:rPr lang="en-US" sz="1400" dirty="0">
                <a:solidFill>
                  <a:srgbClr val="3D4F5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continuous error onto the Pauli set — so correcting X and Z covers everything (Shor, 1995).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" y="48280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Computing: Principles &amp; Applications   ·   Unit 2.6 Quantum Error Correction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8280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6B7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3A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AHEAD  ·  BLOCK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Surface Codes &amp; the Road to Fault Tolerance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4069080" cy="123444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73152" cy="12344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746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Topological &amp; 2D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13232" y="21031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on a lattice; only nearest-neighbour parity checks — ideal for real chips.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709160" y="1600200"/>
            <a:ext cx="4069080" cy="123444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09160" y="1600200"/>
            <a:ext cx="73152" cy="12344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65192" y="17465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~1% threshold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965192" y="210312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forgiving known threshold; below it, more qubits means fewer logical errors.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4069080" cy="123444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73152" cy="1234440"/>
          </a:xfrm>
          <a:prstGeom prst="rect">
            <a:avLst/>
          </a:prstGeom>
          <a:solidFill>
            <a:srgbClr val="2E86D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3232" y="3209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as d²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13232" y="35661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distance-d code needs ~d² physical qubits — the cost of fault tolerance.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709160" y="3063240"/>
            <a:ext cx="4069080" cy="1234440"/>
          </a:xfrm>
          <a:prstGeom prst="rect">
            <a:avLst/>
          </a:prstGeom>
          <a:solidFill>
            <a:srgbClr val="234A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73152" cy="123444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65192" y="32095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today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965192" y="35661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C7D6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leading approach in Google and IBM hardware roadmaps.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08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</a:t>
            </a:r>
            <a:r>
              <a:rPr lang="en-US" sz="1200" dirty="0">
                <a:solidFill>
                  <a:srgbClr val="D6E2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stabilizer formalism (Block 3) gives the algebra behind all of these codes — then you'll decode the surface code by hand in the exercise set.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</TotalTime>
  <Words>10448</Words>
  <Application>Microsoft Office PowerPoint</Application>
  <PresentationFormat>On-screen Show (16:9)</PresentationFormat>
  <Paragraphs>1107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3" baseType="lpstr">
      <vt:lpstr>Arial</vt:lpstr>
      <vt:lpstr>Calibri</vt:lpstr>
      <vt:lpstr>Cambria Math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 Raj K</dc:creator>
  <cp:lastModifiedBy>Amrit Raj K</cp:lastModifiedBy>
  <cp:revision>1</cp:revision>
  <dcterms:created xsi:type="dcterms:W3CDTF">2026-06-26T12:28:41Z</dcterms:created>
  <dcterms:modified xsi:type="dcterms:W3CDTF">2026-09-11T11:59:05Z</dcterms:modified>
</cp:coreProperties>
</file>