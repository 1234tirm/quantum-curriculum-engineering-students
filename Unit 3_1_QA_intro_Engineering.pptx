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2445F-574A-4554-9F35-80DB606F18F3}" v="163" dt="2026-09-30T05:19:5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803" autoAdjust="0"/>
  </p:normalViewPr>
  <p:slideViewPr>
    <p:cSldViewPr snapToGrid="0">
      <p:cViewPr varScale="1">
        <p:scale>
          <a:sx n="43" d="100"/>
          <a:sy n="43" d="100"/>
        </p:scale>
        <p:origin x="1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it Raj K" userId="e4c3bcef-5252-4fb0-89b9-2d79c5779c3d" providerId="ADAL" clId="{F33D235A-E94E-40D7-9E6C-4A1BCF14868E}"/>
    <pc:docChg chg="undo custSel modSld">
      <pc:chgData name="Amrit Raj K" userId="e4c3bcef-5252-4fb0-89b9-2d79c5779c3d" providerId="ADAL" clId="{F33D235A-E94E-40D7-9E6C-4A1BCF14868E}" dt="2026-09-30T05:27:38.536" v="225" actId="6549"/>
      <pc:docMkLst>
        <pc:docMk/>
      </pc:docMkLst>
      <pc:sldChg chg="modSp">
        <pc:chgData name="Amrit Raj K" userId="e4c3bcef-5252-4fb0-89b9-2d79c5779c3d" providerId="ADAL" clId="{F33D235A-E94E-40D7-9E6C-4A1BCF14868E}" dt="2026-09-30T04:21:43.080" v="48" actId="20577"/>
        <pc:sldMkLst>
          <pc:docMk/>
          <pc:sldMk cId="0" sldId="262"/>
        </pc:sldMkLst>
        <pc:spChg chg="mod">
          <ac:chgData name="Amrit Raj K" userId="e4c3bcef-5252-4fb0-89b9-2d79c5779c3d" providerId="ADAL" clId="{F33D235A-E94E-40D7-9E6C-4A1BCF14868E}" dt="2026-09-30T04:21:43.080" v="48" actId="20577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4:22:49.524" v="65" actId="20577"/>
        <pc:sldMkLst>
          <pc:docMk/>
          <pc:sldMk cId="0" sldId="263"/>
        </pc:sldMkLst>
        <pc:spChg chg="mod">
          <ac:chgData name="Amrit Raj K" userId="e4c3bcef-5252-4fb0-89b9-2d79c5779c3d" providerId="ADAL" clId="{F33D235A-E94E-40D7-9E6C-4A1BCF14868E}" dt="2026-09-30T04:22:05.507" v="50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4:22:49.524" v="65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4:22:16.513" v="53" actId="20577"/>
          <ac:spMkLst>
            <pc:docMk/>
            <pc:sldMk cId="0" sldId="263"/>
            <ac:spMk id="31" creationId="{00000000-0000-0000-0000-000000000000}"/>
          </ac:spMkLst>
        </pc:spChg>
      </pc:sldChg>
      <pc:sldChg chg="modSp">
        <pc:chgData name="Amrit Raj K" userId="e4c3bcef-5252-4fb0-89b9-2d79c5779c3d" providerId="ADAL" clId="{F33D235A-E94E-40D7-9E6C-4A1BCF14868E}" dt="2026-09-30T04:23:20.503" v="78" actId="20577"/>
        <pc:sldMkLst>
          <pc:docMk/>
          <pc:sldMk cId="0" sldId="264"/>
        </pc:sldMkLst>
        <pc:spChg chg="mod">
          <ac:chgData name="Amrit Raj K" userId="e4c3bcef-5252-4fb0-89b9-2d79c5779c3d" providerId="ADAL" clId="{F33D235A-E94E-40D7-9E6C-4A1BCF14868E}" dt="2026-09-30T04:23:20.503" v="78" actId="20577"/>
          <ac:spMkLst>
            <pc:docMk/>
            <pc:sldMk cId="0" sldId="264"/>
            <ac:spMk id="11" creationId="{00000000-0000-0000-0000-000000000000}"/>
          </ac:spMkLst>
        </pc:spChg>
      </pc:sldChg>
      <pc:sldChg chg="modSp">
        <pc:chgData name="Amrit Raj K" userId="e4c3bcef-5252-4fb0-89b9-2d79c5779c3d" providerId="ADAL" clId="{F33D235A-E94E-40D7-9E6C-4A1BCF14868E}" dt="2026-09-30T04:30:48.757" v="79"/>
        <pc:sldMkLst>
          <pc:docMk/>
          <pc:sldMk cId="0" sldId="279"/>
        </pc:sldMkLst>
        <pc:spChg chg="mod">
          <ac:chgData name="Amrit Raj K" userId="e4c3bcef-5252-4fb0-89b9-2d79c5779c3d" providerId="ADAL" clId="{F33D235A-E94E-40D7-9E6C-4A1BCF14868E}" dt="2026-09-30T04:30:48.757" v="79"/>
          <ac:spMkLst>
            <pc:docMk/>
            <pc:sldMk cId="0" sldId="279"/>
            <ac:spMk id="23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4:33:00.125" v="82" actId="1076"/>
        <pc:sldMkLst>
          <pc:docMk/>
          <pc:sldMk cId="0" sldId="282"/>
        </pc:sldMkLst>
        <pc:spChg chg="mod">
          <ac:chgData name="Amrit Raj K" userId="e4c3bcef-5252-4fb0-89b9-2d79c5779c3d" providerId="ADAL" clId="{F33D235A-E94E-40D7-9E6C-4A1BCF14868E}" dt="2026-09-30T04:32:55.997" v="81" actId="1076"/>
          <ac:spMkLst>
            <pc:docMk/>
            <pc:sldMk cId="0" sldId="282"/>
            <ac:spMk id="4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4:33:00.125" v="82" actId="1076"/>
          <ac:spMkLst>
            <pc:docMk/>
            <pc:sldMk cId="0" sldId="282"/>
            <ac:spMk id="5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4:33:51.883" v="90" actId="20577"/>
        <pc:sldMkLst>
          <pc:docMk/>
          <pc:sldMk cId="0" sldId="284"/>
        </pc:sldMkLst>
        <pc:spChg chg="mod">
          <ac:chgData name="Amrit Raj K" userId="e4c3bcef-5252-4fb0-89b9-2d79c5779c3d" providerId="ADAL" clId="{F33D235A-E94E-40D7-9E6C-4A1BCF14868E}" dt="2026-09-30T04:33:51.883" v="90" actId="20577"/>
          <ac:spMkLst>
            <pc:docMk/>
            <pc:sldMk cId="0" sldId="284"/>
            <ac:spMk id="11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4:37:13.563" v="136" actId="20577"/>
        <pc:sldMkLst>
          <pc:docMk/>
          <pc:sldMk cId="0" sldId="289"/>
        </pc:sldMkLst>
        <pc:spChg chg="mod">
          <ac:chgData name="Amrit Raj K" userId="e4c3bcef-5252-4fb0-89b9-2d79c5779c3d" providerId="ADAL" clId="{F33D235A-E94E-40D7-9E6C-4A1BCF14868E}" dt="2026-09-30T04:37:13.563" v="136" actId="20577"/>
          <ac:spMkLst>
            <pc:docMk/>
            <pc:sldMk cId="0" sldId="289"/>
            <ac:spMk id="10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4:38:50.263" v="157" actId="20577"/>
        <pc:sldMkLst>
          <pc:docMk/>
          <pc:sldMk cId="0" sldId="290"/>
        </pc:sldMkLst>
        <pc:spChg chg="mod">
          <ac:chgData name="Amrit Raj K" userId="e4c3bcef-5252-4fb0-89b9-2d79c5779c3d" providerId="ADAL" clId="{F33D235A-E94E-40D7-9E6C-4A1BCF14868E}" dt="2026-09-30T04:38:42.019" v="154" actId="6549"/>
          <ac:spMkLst>
            <pc:docMk/>
            <pc:sldMk cId="0" sldId="290"/>
            <ac:spMk id="10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4:38:50.263" v="157" actId="20577"/>
          <ac:spMkLst>
            <pc:docMk/>
            <pc:sldMk cId="0" sldId="290"/>
            <ac:spMk id="15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08:23.207" v="161" actId="20577"/>
        <pc:sldMkLst>
          <pc:docMk/>
          <pc:sldMk cId="0" sldId="304"/>
        </pc:sldMkLst>
        <pc:spChg chg="mod">
          <ac:chgData name="Amrit Raj K" userId="e4c3bcef-5252-4fb0-89b9-2d79c5779c3d" providerId="ADAL" clId="{F33D235A-E94E-40D7-9E6C-4A1BCF14868E}" dt="2026-09-30T05:08:11.726" v="159" actId="20577"/>
          <ac:spMkLst>
            <pc:docMk/>
            <pc:sldMk cId="0" sldId="304"/>
            <ac:spMk id="18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5:08:08.104" v="158" actId="20577"/>
          <ac:spMkLst>
            <pc:docMk/>
            <pc:sldMk cId="0" sldId="304"/>
            <ac:spMk id="20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5:08:23.207" v="161" actId="20577"/>
          <ac:spMkLst>
            <pc:docMk/>
            <pc:sldMk cId="0" sldId="304"/>
            <ac:spMk id="28" creationId="{00000000-0000-0000-0000-000000000000}"/>
          </ac:spMkLst>
        </pc:spChg>
        <pc:spChg chg="mod">
          <ac:chgData name="Amrit Raj K" userId="e4c3bcef-5252-4fb0-89b9-2d79c5779c3d" providerId="ADAL" clId="{F33D235A-E94E-40D7-9E6C-4A1BCF14868E}" dt="2026-09-30T05:08:20.959" v="160" actId="20577"/>
          <ac:spMkLst>
            <pc:docMk/>
            <pc:sldMk cId="0" sldId="304"/>
            <ac:spMk id="30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18:59.640" v="176" actId="20577"/>
        <pc:sldMkLst>
          <pc:docMk/>
          <pc:sldMk cId="0" sldId="308"/>
        </pc:sldMkLst>
        <pc:spChg chg="mod">
          <ac:chgData name="Amrit Raj K" userId="e4c3bcef-5252-4fb0-89b9-2d79c5779c3d" providerId="ADAL" clId="{F33D235A-E94E-40D7-9E6C-4A1BCF14868E}" dt="2026-09-30T05:18:59.640" v="176" actId="20577"/>
          <ac:spMkLst>
            <pc:docMk/>
            <pc:sldMk cId="0" sldId="308"/>
            <ac:spMk id="4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19:52.369" v="185" actId="20577"/>
        <pc:sldMkLst>
          <pc:docMk/>
          <pc:sldMk cId="0" sldId="313"/>
        </pc:sldMkLst>
        <pc:spChg chg="mod">
          <ac:chgData name="Amrit Raj K" userId="e4c3bcef-5252-4fb0-89b9-2d79c5779c3d" providerId="ADAL" clId="{F33D235A-E94E-40D7-9E6C-4A1BCF14868E}" dt="2026-09-30T05:19:52.369" v="185" actId="20577"/>
          <ac:spMkLst>
            <pc:docMk/>
            <pc:sldMk cId="0" sldId="313"/>
            <ac:spMk id="24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0:09.151" v="199" actId="20577"/>
        <pc:sldMkLst>
          <pc:docMk/>
          <pc:sldMk cId="0" sldId="314"/>
        </pc:sldMkLst>
        <pc:spChg chg="mod">
          <ac:chgData name="Amrit Raj K" userId="e4c3bcef-5252-4fb0-89b9-2d79c5779c3d" providerId="ADAL" clId="{F33D235A-E94E-40D7-9E6C-4A1BCF14868E}" dt="2026-09-30T05:20:09.151" v="199" actId="20577"/>
          <ac:spMkLst>
            <pc:docMk/>
            <pc:sldMk cId="0" sldId="314"/>
            <ac:spMk id="4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6:39.168" v="204" actId="20577"/>
        <pc:sldMkLst>
          <pc:docMk/>
          <pc:sldMk cId="0" sldId="321"/>
        </pc:sldMkLst>
        <pc:spChg chg="mod">
          <ac:chgData name="Amrit Raj K" userId="e4c3bcef-5252-4fb0-89b9-2d79c5779c3d" providerId="ADAL" clId="{F33D235A-E94E-40D7-9E6C-4A1BCF14868E}" dt="2026-09-30T05:26:39.168" v="204" actId="20577"/>
          <ac:spMkLst>
            <pc:docMk/>
            <pc:sldMk cId="0" sldId="321"/>
            <ac:spMk id="5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7:01.567" v="206" actId="20577"/>
        <pc:sldMkLst>
          <pc:docMk/>
          <pc:sldMk cId="0" sldId="322"/>
        </pc:sldMkLst>
        <pc:spChg chg="mod">
          <ac:chgData name="Amrit Raj K" userId="e4c3bcef-5252-4fb0-89b9-2d79c5779c3d" providerId="ADAL" clId="{F33D235A-E94E-40D7-9E6C-4A1BCF14868E}" dt="2026-09-30T05:27:01.567" v="206" actId="20577"/>
          <ac:spMkLst>
            <pc:docMk/>
            <pc:sldMk cId="0" sldId="322"/>
            <ac:spMk id="5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7:10.910" v="208" actId="14100"/>
        <pc:sldMkLst>
          <pc:docMk/>
          <pc:sldMk cId="0" sldId="323"/>
        </pc:sldMkLst>
        <pc:spChg chg="mod">
          <ac:chgData name="Amrit Raj K" userId="e4c3bcef-5252-4fb0-89b9-2d79c5779c3d" providerId="ADAL" clId="{F33D235A-E94E-40D7-9E6C-4A1BCF14868E}" dt="2026-09-30T05:27:10.910" v="208" actId="14100"/>
          <ac:spMkLst>
            <pc:docMk/>
            <pc:sldMk cId="0" sldId="323"/>
            <ac:spMk id="5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5:37.733" v="203" actId="20577"/>
        <pc:sldMkLst>
          <pc:docMk/>
          <pc:sldMk cId="0" sldId="324"/>
        </pc:sldMkLst>
        <pc:spChg chg="mod">
          <ac:chgData name="Amrit Raj K" userId="e4c3bcef-5252-4fb0-89b9-2d79c5779c3d" providerId="ADAL" clId="{F33D235A-E94E-40D7-9E6C-4A1BCF14868E}" dt="2026-09-30T05:25:37.733" v="203" actId="20577"/>
          <ac:spMkLst>
            <pc:docMk/>
            <pc:sldMk cId="0" sldId="324"/>
            <ac:spMk id="4" creationId="{00000000-0000-0000-0000-000000000000}"/>
          </ac:spMkLst>
        </pc:spChg>
      </pc:sldChg>
      <pc:sldChg chg="modSp mod">
        <pc:chgData name="Amrit Raj K" userId="e4c3bcef-5252-4fb0-89b9-2d79c5779c3d" providerId="ADAL" clId="{F33D235A-E94E-40D7-9E6C-4A1BCF14868E}" dt="2026-09-30T05:27:38.536" v="225" actId="6549"/>
        <pc:sldMkLst>
          <pc:docMk/>
          <pc:sldMk cId="0" sldId="331"/>
        </pc:sldMkLst>
        <pc:spChg chg="mod">
          <ac:chgData name="Amrit Raj K" userId="e4c3bcef-5252-4fb0-89b9-2d79c5779c3d" providerId="ADAL" clId="{F33D235A-E94E-40D7-9E6C-4A1BCF14868E}" dt="2026-09-30T05:27:38.536" v="225" actId="6549"/>
          <ac:spMkLst>
            <pc:docMk/>
            <pc:sldMk cId="0" sldId="33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5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this as the transition from learning what quantum computers are to understanding why particular quantum algorithms provide computational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Students will learn to analyse—and build—core quantum algorithms</a:t>
            </a:r>
          </a:p>
          <a:p>
            <a:endParaRPr/>
          </a:p>
          <a:p>
            <a:r>
              <a:t>Walkthrough: Implement/analyse Deutsch, Deutsch–Jozsa, Bernstein–Vazirani and Simon's algorithms.; Explain the computational model used to analyse quantum algorithms.; Explain quantum parallelism using the Walsh–Hadamard transform.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“Unit 3 turns quantum foundations into algorithmic advantage.”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Unit 3 turns quantum foundations into algorithmic advantage</a:t>
            </a:r>
          </a:p>
          <a:p>
            <a:endParaRPr/>
          </a:p>
          <a:p>
            <a:r>
              <a:t>Walkthrough: Linear algebra Complexity Classical computation Quantum foundations Programming; Qubits Multi-qubits Gates Circuits Measurement QEC Quantum programming; This establishes continuity with your previous units.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“Efficiency—not possibility—is the real test of quantum advantage.”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Efficiency—not possibility—is the real test of quantum advantage</a:t>
            </a:r>
          </a:p>
          <a:p>
            <a:endParaRPr/>
          </a:p>
          <a:p>
            <a:r>
              <a:t>Walkthrough: What can a quantum computer compute more efficiently than a classical computer?; Where does the quantum advantage actually come from?; What resources does the algorithm consume?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“Every quantum algorithm follows the same six-stage anatomy.”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Use this six-stage anatomy as a recurring lens for every algorithm that follows. Emphasize that quantum advantage emerges in the middle stages: the oracle encodes structure, interference amplifies useful information, and measurement converts that structure into a classical result.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Introduce the first mapping as conceptual shorthand, then point to the target register in the reversible oracle form. Stress linearity: the same unitary acts on every basis component, but measurement does not expose the full list of values.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tensor-power expression from left to right: n zero-state qubits, one Hadamard per wire, then equal amplitude on every n-bit basis state. Clarify that the ellipsis represents exponentially many labels, not additional physical wires.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2×2 matrix to the n-qubit tensor product. The equal magnitudes create parallel support, while the plus and minus signs become the phase patterns that interference can later exploit.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Hadamard transform as a change of basis: bit strings become parity-sensitive phase patterns. Preview that Deutsch–Jozsa, Bernstein–Vazirani and Simon each arrange interference so a global property survives measurement.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on the not-equal sign. The algorithm must shape amplitudes so the property of interest becomes likely to appear in a small number of measurements. Superposition supplies workspace; interference supplies selectivity.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all four basis mappings. Only the |11⟩ control state flips the target, so the final qubit stores x AND y while x and y remain available. Then point out that the four results are amplitudes of one quantum state.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students to answer before revealing the measurement example. A single shot samples one basis outcome according to its probability. Quantum algorithms gain advantage only when interference concentrates the desired global information into outcomes that can be sampled efficiently.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three measures as complementary lenses. Circuit complexity counts implementation work, query complexity isolates black-box access, and communication complexity counts information transfer. The correct measure depends on the computational setting.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circuit family contains one circuit for every input length. A gate count is meaningful only after specifying the elementary gate set, the asymptotic regime, a uniform way to generate the circuits, and a consistent model across 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the oracle as a costly black-box access and count only those calls. Compare the best classical and quantum query counts for the same function and promise. Remind students that a query advantage may coexist with substantial state preparation or post-processing cost.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the structural map for the algorithms that follow. Deutsch introduces the lens, Deutsch–Jozsa scales a promise problem, Bernstein–Vazirani extracts a hidden linear rule, Simon reveals a hidden period, and later algorithms broaden the complexity story.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protocols only to refresh the communication lens from Unit 2. Superdense coding sends n classical bits using n/2 transmitted qubits when entanglement is preshared. Teleporting n qubits requires 2n classical bits and n shared entangled pairs.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section with an engineering warning: an advantage in one metric may shift cost elsewhere. Ask which resource is actually scarce on the target system. Then announce the break from 10:35 to 10:50.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Define the oracle operationally: we know how it transforms basis states, but the query model deliberately hides how the function is implemented. The input register is preserved while the target is XORed with f(x).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flow to separate the computational question from engineering. The oracle grants controlled access to an unknown function; query complexity asks how many accesses reveal the desired global structure.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truth pattern explicitly. The marking oracle leaves x unchanged and flips the target only for x = 111. This Boolean indicator is the reversible form of “mark this state.”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Trace the controls from top to bottom. This three-controlled X applies X to the target exactly when q2q1q0 = 111. It is the circuit implementation of the Boolean condition on the previous slide.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the basis label does not change. The oracle stores f(x) as a relative phase. Direct measurement cannot see a global sign on one isolated basis state, but interference can compare phases across a superposition.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Compare the storage location: marking changes a target bit; phase marking changes amplitude sign. The bridge is not a different function—it is the same reversible oracle with the target prepared in the special X-eigenstate |−⟩.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each line slowly. X swaps |0⟩ and |1⟩. Because their amplitudes are equal and opposite, the swapped state is exactly the original state multiplied by −1. This eigenvalue is what the oracle can kick back.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after each branch. For f(x)=0 the target is untouched. For f(x)=1 the oracle applies X, and |−⟩ contributes eigenvalue −1. Both cases combine as (−1)^f(x), while the target factors out unchanged.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Distinguish equal magnitudes from the crucial relative phase. A target remains separable when it is an eigenstate of X. |−⟩ has eigenvalue −1 and records f(x) as phase; |+⟩ has eigenvalue +1 and gives no useful phase. A general target usually entangles with a superposition of x values.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this as an animation sequence: first a superposition enters, then the oracle evaluates f coherently, phase kickback stores the result in amplitude signs, and interference converts those signs into measurable structure.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Expand |+⟩ tensor three as eight equal amplitudes. The oracle marks only 111, so phase kickback changes exactly that amplitude from plus to minus. The target remains |−⟩ and can be factored out.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students five to seven minutes. Encourage them to expand the two target terms before substituting f(x)=0 or 1. In the debrief, look for the step where the target recombines as |−⟩ and the sign becomes (−1)^f(x).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Survey the variants rather than deriving each. Highlight the source simplification: a phase oracle for the k-th bit is simply Z on q_k. Oracle engineering should match the predicate the algorithm needs.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this the reusable construction routine. Start from the property, express it as a Boolean function, embed it reversibly with a clear ancilla and uncomputation policy, then choose the marking or phase interface that the algorithm expects.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Quantum algorithms cluster into three broad families</a:t>
            </a:r>
          </a:p>
          <a:p>
            <a:endParaRPr/>
          </a:p>
          <a:p>
            <a:r>
              <a:t>Walkthrough: The families differ in mechanism, but each engineers interference around a problem structure.; Shor · phase estimation; Hamiltonian dynamics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“Fourier transforms expose frequency structure by changing representation.”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Fourier transforms expose frequency structure by changing representation</a:t>
            </a:r>
          </a:p>
          <a:p>
            <a:endParaRPr/>
          </a:p>
          <a:p>
            <a:r>
              <a:t>Walkthrough: Use the frequency-domain view to analyze, filter, or compress structure.; The same information is rewritten in a basis of oscillatory components.; Magnitude and phase reveal which periodic patterns are present.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“The QFT is a unitary basis change with a Fourier phase pattern.”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Key message: The QFT is a unitary basis change with a Fourier phase pattern</a:t>
            </a:r>
          </a:p>
          <a:p>
            <a:endParaRPr dirty="0"/>
          </a:p>
          <a:p>
            <a:r>
              <a:rPr dirty="0"/>
              <a:t>Walkthrough: Because the map is unitary, it is reversible: the inverse QFT undoes it.; Norms and inner products are preserved.; |x⟩ → 1/√N ∑ᵧ₌₀ᴺ⁻¹ e²πⁱ</a:t>
            </a:r>
            <a:r>
              <a:rPr dirty="0" err="1"/>
              <a:t>ˣʸ</a:t>
            </a:r>
            <a:r>
              <a:rPr dirty="0"/>
              <a:t>/ᴺ |y⟩</a:t>
            </a:r>
          </a:p>
          <a:p>
            <a:endParaRPr dirty="0"/>
          </a:p>
          <a:p>
            <a:r>
              <a:rPr dirty="0"/>
              <a:t>Teaching cue: Ask students to restate the central claim and identify the visual or equation that supports it.</a:t>
            </a:r>
          </a:p>
          <a:p>
            <a:endParaRPr dirty="0"/>
          </a:p>
          <a:p>
            <a:r>
              <a:rPr dirty="0"/>
              <a:t>Transition: Next: connect this to “QFT circuits repeat </a:t>
            </a:r>
            <a:r>
              <a:rPr dirty="0" err="1"/>
              <a:t>Hadamards</a:t>
            </a:r>
            <a:r>
              <a:rPr dirty="0"/>
              <a:t>, controlled phases, and bit reversal.”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QFT circuits repeat Hadamards, controlled phases, and bit reversal</a:t>
            </a:r>
          </a:p>
          <a:p>
            <a:endParaRPr/>
          </a:p>
          <a:p>
            <a:r>
              <a:t>Walkthrough: This schematic shows the recurring motifs—not the complete general decomposition.; |x0⟩; |x1⟩</a:t>
            </a:r>
          </a:p>
          <a:p>
            <a:endParaRPr/>
          </a:p>
          <a:p>
            <a:r>
              <a:t>Teaching cue: Trace the circuit from left to right and name the state of each register after every block.</a:t>
            </a:r>
          </a:p>
          <a:p>
            <a:endParaRPr/>
          </a:p>
          <a:p>
            <a:r>
              <a:t>Transition: Next: connect this to “Hidden periodicity becomes visible as Fourier structure.”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Hidden periodicity becomes visible as Fourier structure</a:t>
            </a:r>
          </a:p>
          <a:p>
            <a:endParaRPr/>
          </a:p>
          <a:p>
            <a:r>
              <a:t>Walkthrough: QFT is the bridge: periodic structure in amplitudes becomes a measurable distribution.; Interference redistributes probability toward outcomes that encode the period.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“Fast state transformation does not imply fast classical readout.”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Fast state transformation does not imply fast classical readout</a:t>
            </a:r>
          </a:p>
          <a:p>
            <a:endParaRPr/>
          </a:p>
          <a:p>
            <a:r>
              <a:t>Walkthrough: Recall Slide 10: many amplitudes can coexist, but measurement returns limited information.; Efficient transformation ≠ efficient classical readout; one classical outcome per shot</a:t>
            </a:r>
          </a:p>
          <a:p>
            <a:endParaRPr/>
          </a:p>
          <a:p>
            <a:r>
              <a:t>Teaching cue: Stress exactly what measurement reveals and what information remains inaccessible.</a:t>
            </a:r>
          </a:p>
          <a:p>
            <a:endParaRPr/>
          </a:p>
          <a:p>
            <a:r>
              <a:t>Transition: Next: connect this to “Quantum algorithms repeatedly prepare, transform, query, interfere, and measure.”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Quantum algorithms repeatedly prepare, transform, query, interfere, and measure</a:t>
            </a:r>
          </a:p>
          <a:p>
            <a:endParaRPr/>
          </a:p>
          <a:p>
            <a:r>
              <a:t>Walkthrough: The design goal is to make useful outcomes likely before the final sample is taken.; Prepare → Transform → Oracle → Interfere → Measure; amplitudes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“Afternoon challenge.”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Afternoon challenge</a:t>
            </a:r>
          </a:p>
          <a:p>
            <a:endParaRPr/>
          </a:p>
          <a:p>
            <a:r>
              <a:t>Walkthrough: Can one quantum query reveal a global property of a function?; Deutsch gives the smallest possible test case.</a:t>
            </a:r>
          </a:p>
          <a:p>
            <a:endParaRPr/>
          </a:p>
          <a:p>
            <a:r>
              <a:t>Teaching cue: Pause for individual or paired work. Ask students to explain their reasoning before discussing a solution.</a:t>
            </a:r>
          </a:p>
          <a:p>
            <a:endParaRPr/>
          </a:p>
          <a:p>
            <a:r>
              <a:t>Transition: Next: connect this to “A one-bit function is promised to be constant or balanced.”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 one-bit function is promised to be constant or balanced</a:t>
            </a:r>
          </a:p>
          <a:p>
            <a:endParaRPr/>
          </a:p>
          <a:p>
            <a:r>
              <a:t>Walkthrough: f : {0,1} → {0,1}; f(0) = f(1); f(0) ≠ f(1)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“Deterministic classical certainty requires both function evaluations.”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Deterministic classical certainty requires both function evaluations</a:t>
            </a:r>
          </a:p>
          <a:p>
            <a:endParaRPr/>
          </a:p>
          <a:p>
            <a:r>
              <a:t>Walkthrough: One value alone cannot rule out both a constant and a balanced function.; Worst-case deterministic query complexity: 2; Function | f(0) | f(1) | Type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“One oracle query becomes decisive only after interference.”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One oracle query becomes decisive only after interference</a:t>
            </a:r>
          </a:p>
          <a:p>
            <a:endParaRPr/>
          </a:p>
          <a:p>
            <a:r>
              <a:t>Walkthrough: The ancilla is prepared in |−⟩ so the oracle writes f(x) into phase.; 0 → constant · 1 → balanced</a:t>
            </a:r>
          </a:p>
          <a:p>
            <a:endParaRPr/>
          </a:p>
          <a:p>
            <a:r>
              <a:t>Teaching cue: Ask which amplitudes add and which cancel, then connect that pattern to the measurement probability.</a:t>
            </a:r>
          </a:p>
          <a:p>
            <a:endParaRPr/>
          </a:p>
          <a:p>
            <a:r>
              <a:t>Transition: Next: connect this to “Deutsch turns the promise into a measurable phase difference.”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Deutsch turns the promise into a measurable phase difference</a:t>
            </a:r>
          </a:p>
          <a:p>
            <a:endParaRPr/>
          </a:p>
          <a:p>
            <a:r>
              <a:t>Walkthrough: The oracle phase is global for constant functions and relative for balanced functions.; 1/√2 ∑ₓ (−1)ᶠ⁽ˣ⁾ |x⟩|−⟩; ±|0⟩|−⟩ or ±|1⟩|−⟩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“Deutsch does not read both values—the two paths interfere.”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Deutsch does not read both values—the two paths interfere</a:t>
            </a:r>
          </a:p>
          <a:p>
            <a:endParaRPr/>
          </a:p>
          <a:p>
            <a:r>
              <a:t>Walkthrough: constructive at |0⟩; destructive at |0⟩; (−1)ᶠ⁽⁰⁾ |0⟩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“Compute the final state for all four promised functions.”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Compute the final state for all four promised functions</a:t>
            </a:r>
          </a:p>
          <a:p>
            <a:endParaRPr/>
          </a:p>
          <a:p>
            <a:r>
              <a:t>Walkthrough: Work independently for 6–8 minutes; predict the first-qubit measurement before comparing.; Use phase kickback, then apply the final Hadamard only to the input qubit.; f(0)=0, f(1)=0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“One query plus interference replaces repeated classical evaluation.”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One query plus interference replaces repeated classical evaluation</a:t>
            </a:r>
          </a:p>
          <a:p>
            <a:endParaRPr/>
          </a:p>
          <a:p>
            <a:r>
              <a:t>Walkthrough: → 2 in the one-bit case; multiple queries; one oracle query</a:t>
            </a:r>
          </a:p>
          <a:p>
            <a:endParaRPr/>
          </a:p>
          <a:p>
            <a:r>
              <a:t>Teaching cue: Ask which amplitudes add and which cancel, then connect that pattern to the measurement probability.</a:t>
            </a:r>
          </a:p>
          <a:p>
            <a:endParaRPr/>
          </a:p>
          <a:p>
            <a:r>
              <a:t>Transition: Next: connect this to “The constant-versus-balanced promise scales to n input bits.”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constant-versus-balanced promise scales to n input bits</a:t>
            </a:r>
          </a:p>
          <a:p>
            <a:endParaRPr/>
          </a:p>
          <a:p>
            <a:r>
              <a:t>Walkthrough: exactly half output 0 and half output 1; f(x) is identical for every input x; f : {0,1}ⁿ → {0,1}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“A single oracle call imprints the promise across all 2ⁿ inputs.”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 single oracle call imprints the promise across all 2ⁿ inputs</a:t>
            </a:r>
          </a:p>
          <a:p>
            <a:endParaRPr/>
          </a:p>
          <a:p>
            <a:r>
              <a:t>Walkthrough: Hadamards create the input superposition and later recombine its phases.; |0ⁿ⟩; ancilla need not be measured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“The oracle converts function values into a signed superposition.”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oracle converts function values into a signed superposition</a:t>
            </a:r>
          </a:p>
          <a:p>
            <a:endParaRPr/>
          </a:p>
          <a:p>
            <a:r>
              <a:t>Walkthrough: After the final transform, the amplitude of |y⟩ is; 1/2ⁿᐟ² ∑ₓ (−1)ᶠ⁽ˣ⁾ |x⟩|−⟩; 1/2ⁿ ∑ₓ (−1)ᶠ⁽ˣ⁾⁺ˣ·ʸ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“The |0ⁿ⟩ amplitude perfectly separates the two promised cases.”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|0ⁿ⟩ amplitude perfectly separates the two promised cases</a:t>
            </a:r>
          </a:p>
          <a:p>
            <a:endParaRPr/>
          </a:p>
          <a:p>
            <a:r>
              <a:t>Walkthrough: This cancellation is the mathematical heart of Deutsch–Jozsa.; positive and negative signs cancel; ⟨0ⁿ|ψ⟩ = 1/2ⁿ ∑ₓ (−1)ᶠ⁽ˣ⁾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“Query advantage depends on both certainty and the promise.”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Query advantage depends on both certainty and the promise</a:t>
            </a:r>
          </a:p>
          <a:p>
            <a:endParaRPr/>
          </a:p>
          <a:p>
            <a:r>
              <a:t>Walkthrough: Randomization can reduce classical queries—but it trades away certainty.; The quantum row assumes the constant-or-balanced promise.; Classical randomized | fewer | probabilistic</a:t>
            </a:r>
          </a:p>
          <a:p>
            <a:endParaRPr/>
          </a:p>
          <a:p>
            <a:r>
              <a:t>Teaching cue: State the promise before discussing the algorithm; the query advantage depends on this problem definition.</a:t>
            </a:r>
          </a:p>
          <a:p>
            <a:endParaRPr/>
          </a:p>
          <a:p>
            <a:r>
              <a:t>Transition: Next: connect this to “A linear Boolean oracle hides an n-bit string.”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 linear Boolean oracle hides an n-bit string</a:t>
            </a:r>
          </a:p>
          <a:p>
            <a:endParaRPr/>
          </a:p>
          <a:p>
            <a:r>
              <a:t>Walkthrough: The dot product is computed modulo 2.; f(x) = u · x mod 2; one output bit f(x)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“Classically, each basis query reveals one bit of the hidden string.”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Classically, each basis query reveals one bit of the hidden string</a:t>
            </a:r>
          </a:p>
          <a:p>
            <a:endParaRPr/>
          </a:p>
          <a:p>
            <a:r>
              <a:t>Walkthrough: to recover all n bits with certainty; one coordinate per query; n queries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“The Deutsch–Jozsa architecture now reveals the entire hidden string.”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Deutsch–Jozsa architecture now reveals the entire hidden string</a:t>
            </a:r>
          </a:p>
          <a:p>
            <a:endParaRPr/>
          </a:p>
          <a:p>
            <a:r>
              <a:t>Walkthrough: The oracle phase pattern contains u rather than only a constant-or-balanced label.; Deutsch–Jozsa asks “constant or balanced?”; Bernstein–Vazirani asks “which u?”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“The phase character of u transforms directly into the basis state |u⟩.”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phase character of u transforms directly into the basis state |u⟩</a:t>
            </a:r>
          </a:p>
          <a:p>
            <a:endParaRPr/>
          </a:p>
          <a:p>
            <a:r>
              <a:t>Walkthrough: Walsh–Hadamard interference concentrates all amplitude on the hidden string.; encodes whether u · x is even or odd; H⊗ⁿ [ 1/2ⁿᐟ² ∑ₓ (−1)ᵘ·ˣ |x⟩ ] = |u⟩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“One measurement returns the hidden string in the ideal circuit.”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One measurement returns the hidden string in the ideal circuit</a:t>
            </a:r>
          </a:p>
          <a:p>
            <a:endParaRPr/>
          </a:p>
          <a:p>
            <a:r>
              <a:t>Walkthrough: Ideal noiseless circuit · exact oracle · computational-basis measurement; with certainty; MEASURE u</a:t>
            </a:r>
          </a:p>
          <a:p>
            <a:endParaRPr/>
          </a:p>
          <a:p>
            <a:r>
              <a:t>Teaching cue: Trace the circuit from left to right and name the state of each register after every block.</a:t>
            </a:r>
          </a:p>
          <a:p>
            <a:endParaRPr/>
          </a:p>
          <a:p>
            <a:r>
              <a:t>Transition: Next: connect this to “Recover the hidden string u = 1011.”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Recover the hidden string u = 1011</a:t>
            </a:r>
          </a:p>
          <a:p>
            <a:endParaRPr/>
          </a:p>
          <a:p>
            <a:r>
              <a:t>Walkthrough: Work in pairs for 8–10 minutes; show the state at each transformation.; Predict the final bit string.; Implement f(x)=u·x mod 2.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“Simon hides a nonzero XOR period inside a two-to-one function.”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Simon hides a nonzero XOR period inside a two-to-one function</a:t>
            </a:r>
          </a:p>
          <a:p>
            <a:endParaRPr/>
          </a:p>
          <a:p>
            <a:r>
              <a:t>Walkthrough: The task is to recover the period—not merely detect that one exists.; f(x) = f(x ⊕ a); x , x ⊕ a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“The algorithmic target progresses from properties to hidden structure.”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algorithmic target progresses from properties to hidden structure</a:t>
            </a:r>
          </a:p>
          <a:p>
            <a:endParaRPr/>
          </a:p>
          <a:p>
            <a:r>
              <a:t>Walkthrough: Simon is the first example here where the hidden object is a period-like symmetry.; constant or balanced; recover XOR period a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“Every output has exactly two preimages separated by the same a.”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Every output has exactly two preimages separated by the same a</a:t>
            </a:r>
          </a:p>
          <a:p>
            <a:endParaRPr/>
          </a:p>
          <a:p>
            <a:r>
              <a:t>Walkthrough: The same displacement a pairs the entire domain.; No other input maps to this output.; x ⊕ a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“Interference acts on the input register after one oracle query.”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Interference acts on the input register after one oracle query</a:t>
            </a:r>
          </a:p>
          <a:p>
            <a:endParaRPr/>
          </a:p>
          <a:p>
            <a:r>
              <a:t>Walkthrough: The output register stores f(x) and may be measured or ignored after the oracle.; |0ⁿ⟩; one oracle query</a:t>
            </a:r>
          </a:p>
          <a:p>
            <a:endParaRPr/>
          </a:p>
          <a:p>
            <a:r>
              <a:t>Teaching cue: Ask which amplitudes add and which cancel, then connect that pattern to the measurement probability.</a:t>
            </a:r>
          </a:p>
          <a:p>
            <a:endParaRPr/>
          </a:p>
          <a:p>
            <a:r>
              <a:t>Transition: Next: connect this to “The oracle entangles each input with its function value.”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oracle entangles each input with its function value</a:t>
            </a:r>
          </a:p>
          <a:p>
            <a:endParaRPr/>
          </a:p>
          <a:p>
            <a:r>
              <a:t>Walkthrough: The registers are correlated: measuring an output selects a superposition of its two preimages.; 1/√2ⁿ ∑ₓ |x⟩|f(x)⟩; |x ⊕ a⟩|f(x)⟩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“Each sampled y is orthogonal to the hidden period a.”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Each sampled y is orthogonal to the hidden period a</a:t>
            </a:r>
          </a:p>
          <a:p>
            <a:endParaRPr/>
          </a:p>
          <a:p>
            <a:r>
              <a:t>Walkthrough: a · y = 0 mod 2; one linear equation in a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“Each run contributes one equation; many runs reveal a.”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Each run contributes one equation; many runs reveal a</a:t>
            </a:r>
          </a:p>
          <a:p>
            <a:endParaRPr/>
          </a:p>
          <a:p>
            <a:r>
              <a:t>Walkthrough: Independent constraints shrink the possible hidden strings until only a remains.; a · y1 = 0; a · y2 = 0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“Simon ends with familiar linear algebra over 𝔽₂.”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Simon ends with familiar linear algebra over 𝔽₂</a:t>
            </a:r>
          </a:p>
          <a:p>
            <a:endParaRPr/>
          </a:p>
          <a:p>
            <a:r>
              <a:t>Walkthrough: Simon's algorithm culminates in prior mathematics rather than introducing a new algebraic tool.; Students already know row reduction over binary fields.; Ya = 0 mod 2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“Simon replaces exponential collision search with polynomial queries and algebra.”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Simon replaces exponential collision search with polynomial queries and algebra</a:t>
            </a:r>
          </a:p>
          <a:p>
            <a:endParaRPr/>
          </a:p>
          <a:p>
            <a:r>
              <a:t>Walkthrough: The exponential advantage is in oracle queries; classical post-processing remains essential.; Find hidden structure | Collision search | Quantum interference; Core mathematics | Collision finding | Linear algebra over 𝔽₂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“Hidden structure, Fourier interference, and classical algebra form the bridge.”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Hidden structure, Fourier interference, and classical algebra form the bridge</a:t>
            </a:r>
          </a:p>
          <a:p>
            <a:endParaRPr/>
          </a:p>
          <a:p>
            <a:r>
              <a:t>Walkthrough: Simon's viewpoint made hidden-period problems feel algorithmically tractable—and helped inspire Shor.; HIDDEN STRUCTURE + FOURIER INTERFERENCE + CLASSICAL ALGEBRA; different groups, transforms, and arithmetic structure</a:t>
            </a:r>
          </a:p>
          <a:p>
            <a:endParaRPr/>
          </a:p>
          <a:p>
            <a:r>
              <a:t>Teaching cue: Ask which amplitudes add and which cancel, then connect that pattern to the measurement probability.</a:t>
            </a:r>
          </a:p>
          <a:p>
            <a:endParaRPr/>
          </a:p>
          <a:p>
            <a:r>
              <a:t>Transition: Next: connect this to “Oracle design is a translation workflow, not a gate-first task.”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Oracle design is a translation workflow, not a gate-first task</a:t>
            </a:r>
          </a:p>
          <a:p>
            <a:endParaRPr/>
          </a:p>
          <a:p>
            <a:r>
              <a:t>Walkthrough: Define the predicate before choosing the reversible implementation.; PROBLEM → f(x) → Uƒ → Uphase; property to expose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“Build a marking oracle for a three-bit AND.”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Build a marking oracle for a three-bit AND</a:t>
            </a:r>
          </a:p>
          <a:p>
            <a:endParaRPr/>
          </a:p>
          <a:p>
            <a:r>
              <a:t>Walkthrough: Hint: a Toffoli-style construction computes the product reversibly.; Identify the multi-controlled target flip.; Convert marking into a sign on |111⟩.</a:t>
            </a:r>
          </a:p>
          <a:p>
            <a:endParaRPr/>
          </a:p>
          <a:p>
            <a:r>
              <a:t>Teaching cue: Separate the Boolean predicate, reversible implementation, and phase behavior so the roles do not blur.</a:t>
            </a:r>
          </a:p>
          <a:p>
            <a:endParaRPr/>
          </a:p>
          <a:p>
            <a:r>
              <a:t>Transition: Next: connect this to “Parity is computed by accumulating XORs onto a target.”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Parity is computed by accumulating XORs onto a target</a:t>
            </a:r>
          </a:p>
          <a:p>
            <a:endParaRPr/>
          </a:p>
          <a:p>
            <a:r>
              <a:t>Walkthrough: Each input controls one target flip.; Odd parity → target flips; f(x) = x₁ ⊕ x₂ ⊕ x₃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“A four-bit palindrome requires two pairwise equality tests.”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 four-bit palindrome requires two pairwise equality tests</a:t>
            </a:r>
          </a:p>
          <a:p>
            <a:endParaRPr/>
          </a:p>
          <a:p>
            <a:r>
              <a:t>Walkthrough: Uncompute temporary comparison bits after marking.; Create equality predicate e₁ = ¬(x₁⊕x₄).; Create equality predicate e₂ = ¬(x₂⊕x₃).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“Identify the periodic structure before designing the circuit.”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Identify the periodic structure before designing the circuit</a:t>
            </a:r>
          </a:p>
          <a:p>
            <a:endParaRPr/>
          </a:p>
          <a:p>
            <a:r>
              <a:t>Walkthrough: Deliberately harder: this is preparation for hidden-period reasoning in Simon and Shor.; Choose registers and a reversible oracle.; What shift leaves the pattern unchanged?</a:t>
            </a:r>
          </a:p>
          <a:p>
            <a:endParaRPr/>
          </a:p>
          <a:p>
            <a:r>
              <a:t>Teaching cue: Trace the circuit from left to right and name the state of each register after every block.</a:t>
            </a:r>
          </a:p>
          <a:p>
            <a:endParaRPr/>
          </a:p>
          <a:p>
            <a:r>
              <a:t>Transition: Next: connect this to “Translate a weekly schedule into a mutually-free-day predicate.”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Translate a weekly schedule into a mutually-free-day predicate</a:t>
            </a:r>
          </a:p>
          <a:p>
            <a:endParaRPr/>
          </a:p>
          <a:p>
            <a:r>
              <a:t>Walkthrough: Design a reversible OR of the five mutually-free indicators, then uncompute ancillas.; Alternative expression: f(A,B)=¬∏ᵢ(aᵢ∨bᵢ).; A=(a₁,…,a₅) B=(b₁,…,b₅)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“Phase kickback turns a Boolean value into an amplitude sign.”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Phase kickback turns a Boolean value into an amplitude sign</a:t>
            </a:r>
          </a:p>
          <a:p>
            <a:endParaRPr/>
          </a:p>
          <a:p>
            <a:r>
              <a:t>Walkthrough: The final proof exercise is the same mechanism used throughout the unit.; DEFINE THE PHASE ORACLE ON THE INPUT REGISTER; Uƒ |x⟩ = (−1)ᶠ⁽ˣ⁾ |x⟩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“Four algorithms share a pattern but target different hidden information.”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Four algorithms share a pattern but target different hidden information</a:t>
            </a:r>
          </a:p>
          <a:p>
            <a:endParaRPr/>
          </a:p>
          <a:p>
            <a:r>
              <a:t>Walkthrough: Deutsch–Jozsa | Global property | Phase + Walsh transform; Bernstein–Vazirani | Hidden string | Fourier sampling; Simon | Hidden period | Interference + linear algebra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“Advantage emerges from four ingredients working together.”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Advantage emerges from four ingredients working together</a:t>
            </a:r>
          </a:p>
          <a:p>
            <a:endParaRPr/>
          </a:p>
          <a:p>
            <a:r>
              <a:t>Walkthrough: Amplify useful information; cancel unwanted.; Extract the desired global property.; Explore a structured state space.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“Query complexity was the dominant lens for today’s algorithms.”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Query complexity was the dominant lens for today’s algorithms</a:t>
            </a:r>
          </a:p>
          <a:p>
            <a:endParaRPr/>
          </a:p>
          <a:p>
            <a:r>
              <a:t>Walkthrough: Which measure dominated Deutsch, Deutsch–Jozsa, BV, and Simon?; qubits or bits exchanged; gates · depth · width</a:t>
            </a:r>
          </a:p>
          <a:p>
            <a:endParaRPr/>
          </a:p>
          <a:p>
            <a:r>
              <a:t>Teaching cue: Compare assumptions, query counts, and certainty; keep the claim within the stated computational model.</a:t>
            </a:r>
          </a:p>
          <a:p>
            <a:endParaRPr/>
          </a:p>
          <a:p>
            <a:r>
              <a:t>Transition: Next: connect this to “Today’s foundations become the primitives of larger algorithms.”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Today’s foundations become the primitives of larger algorithms</a:t>
            </a:r>
          </a:p>
          <a:p>
            <a:endParaRPr/>
          </a:p>
          <a:p>
            <a:r>
              <a:t>Walkthrough: hybrid quantum–classical; amplitude amplification; eigenvalue information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Next: connect this to “Quantum advantage comes from encoding structure and engineering interference.”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Quantum advantage comes from encoding structure and engineering interference</a:t>
            </a:r>
          </a:p>
          <a:p>
            <a:endParaRPr/>
          </a:p>
          <a:p>
            <a:r>
              <a:t>Walkthrough: Simon reveals hidden periodic structure using interference plus linear algebra.; Walsh–Hadamard transforms create and manipulate uniform superpositions.; Quantum algorithms use circuit, query, and communication complexity.</a:t>
            </a:r>
          </a:p>
          <a:p>
            <a:endParaRPr/>
          </a:p>
          <a:p>
            <a:r>
              <a:t>Teaching cue: Ask which amplitudes add and which cancel, then connect that pattern to the measurement probability.</a:t>
            </a:r>
          </a:p>
          <a:p>
            <a:endParaRPr/>
          </a:p>
          <a:p>
            <a:r>
              <a:t>Transition: Next: connect this to “A strong final assessment combines concepts, mathematics, and circuit design.”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 strong final assessment combines concepts, mathematics, and circuit design</a:t>
            </a:r>
          </a:p>
          <a:p>
            <a:endParaRPr/>
          </a:p>
          <a:p>
            <a:r>
              <a:t>Walkthrough: Why is parallelism alone insufficient?; Explain Simon constraint generation; Derive phase kickback identity</a:t>
            </a:r>
          </a:p>
          <a:p>
            <a:endParaRPr/>
          </a:p>
          <a:p>
            <a:r>
              <a:t>Teaching cue: Trace the circuit from left to right and name the state of each register after every block.</a:t>
            </a:r>
          </a:p>
          <a:p>
            <a:endParaRPr/>
          </a:p>
          <a:p>
            <a:r>
              <a:t>Transition: Next: connect this to “Core texts and structured learning resources for further study.”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Core texts and structured learning resources for further study</a:t>
            </a:r>
          </a:p>
          <a:p>
            <a:endParaRPr/>
          </a:p>
          <a:p>
            <a:r>
              <a:t>Walkthrough: Use the books for rigorous treatment and the learning platforms for guided implementation practice.; Quantum Computation and Quantum Information (10th anniversary ed.). Cambridge University Press.; Source material supplied for Unit 3: Quantum Advantage and Challenges.</a:t>
            </a:r>
          </a:p>
          <a:p>
            <a:endParaRPr/>
          </a:p>
          <a:p>
            <a:r>
              <a:t>Teaching cue: Ask students to restate the central claim and identify the visual or equation that supports it.</a:t>
            </a:r>
          </a:p>
          <a:p>
            <a:endParaRPr/>
          </a:p>
          <a:p>
            <a:r>
              <a:t>Transition: Close by inviting final questions and pointing students to the references for continued study.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1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1B410598-14E1-4627-9494-C37AB90C72D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820400" cy="0"/>
          </a:xfrm>
          <a:prstGeom prst="line">
            <a:avLst/>
          </a:prstGeom>
          <a:noFill/>
          <a:ln w="19050">
            <a:solidFill>
              <a:srgbClr val="DD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yan-accent">
            <a:extLst>
              <a:ext uri="{FF2B5EF4-FFF2-40B4-BE49-F238E27FC236}">
                <a16:creationId xmlns:a16="http://schemas.microsoft.com/office/drawing/2014/main" id="{9F4907FD-AFC0-44DF-8A4B-4A0B9769B8B5}"/>
              </a:ext>
            </a:extLst>
          </p:cNvPr>
          <p:cNvSpPr>
            <a:spLocks noGrp="1"/>
          </p:cNvSpPr>
          <p:nvPr/>
        </p:nvSpPr>
        <p:spPr>
          <a:xfrm>
            <a:off x="685800" y="295275"/>
            <a:ext cx="1123950" cy="57150"/>
          </a:xfrm>
          <a:prstGeom prst="rect">
            <a:avLst/>
          </a:prstGeom>
          <a:solidFill>
            <a:srgbClr val="00A8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A7799263-99FC-496C-BFD2-BE03BA3B8875}"/>
              </a:ext>
            </a:extLst>
          </p:cNvPr>
          <p:cNvSpPr>
            <a:spLocks noGrp="1"/>
          </p:cNvSpPr>
          <p:nvPr/>
        </p:nvSpPr>
        <p:spPr>
          <a:xfrm>
            <a:off x="1047750" y="590550"/>
            <a:ext cx="10096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</a:pPr>
            <a:r>
              <a:rPr sz="3900">
                <a:solidFill>
                  <a:srgbClr val="0B1736"/>
                </a:solidFill>
                <a:latin typeface="Aptos Display"/>
                <a:ea typeface="Aptos Display"/>
                <a:cs typeface="Aptos Display"/>
              </a:rPr>
              <a:t>Introduction to</a:t>
            </a:r>
          </a:p>
          <a:p>
            <a:pPr algn="ctr">
              <a:lnSpc>
                <a:spcPct val="92000"/>
              </a:lnSpc>
              <a:buNone/>
            </a:pPr>
            <a:r>
              <a:rPr sz="5400" b="1">
                <a:solidFill>
                  <a:srgbClr val="0B1736"/>
                </a:solidFill>
                <a:latin typeface="Aptos Display"/>
                <a:ea typeface="Aptos Display"/>
                <a:cs typeface="Aptos Display"/>
              </a:rPr>
              <a:t>Quantum Algorithms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9EE85983-028D-4A51-B79E-FD50C0E2332E}"/>
              </a:ext>
            </a:extLst>
          </p:cNvPr>
          <p:cNvSpPr>
            <a:spLocks noGrp="1"/>
          </p:cNvSpPr>
          <p:nvPr/>
        </p:nvSpPr>
        <p:spPr>
          <a:xfrm>
            <a:off x="1952625" y="2200275"/>
            <a:ext cx="8286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093" lnSpcReduction="10000"/>
          </a:bodyPr>
          <a:lstStyle/>
          <a:p>
            <a:pPr algn="ctr">
              <a:lnSpc>
                <a:spcPct val="115000"/>
              </a:lnSpc>
              <a:buNone/>
              <a:defRPr sz="172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26079"/>
                </a:solidFill>
                <a:latin typeface="Aptos"/>
                <a:ea typeface="Aptos"/>
                <a:cs typeface="Aptos"/>
              </a:rPr>
              <a:t>From Quantum Parallelism and Oracles to Deutsch, Deutsch–Jozsa, Bernstein–Vazirani and Simon's Algorithm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72DB55CD-685E-4CFE-87FF-AC8C74ED1F67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2667000" cy="0"/>
          </a:xfrm>
          <a:prstGeom prst="line">
            <a:avLst/>
          </a:prstGeom>
          <a:noFill/>
          <a:ln w="19050">
            <a:solidFill>
              <a:srgbClr val="DD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2E0F389-2519-487A-A6E8-F7C88F860492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4848225" cy="0"/>
          </a:xfrm>
          <a:prstGeom prst="line">
            <a:avLst/>
          </a:prstGeom>
          <a:noFill/>
          <a:ln w="19050">
            <a:solidFill>
              <a:srgbClr val="A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ket-0">
            <a:extLst>
              <a:ext uri="{FF2B5EF4-FFF2-40B4-BE49-F238E27FC236}">
                <a16:creationId xmlns:a16="http://schemas.microsoft.com/office/drawing/2014/main" id="{1A65DB4C-FFE3-40C1-8BD0-5B36F39E4A09}"/>
              </a:ext>
            </a:extLst>
          </p:cNvPr>
          <p:cNvSpPr>
            <a:spLocks noGrp="1"/>
          </p:cNvSpPr>
          <p:nvPr/>
        </p:nvSpPr>
        <p:spPr>
          <a:xfrm>
            <a:off x="495300" y="35718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079"/>
                </a:solidFill>
                <a:latin typeface="Aptos"/>
                <a:ea typeface="Aptos"/>
                <a:cs typeface="Aptos"/>
              </a:rPr>
              <a:t>|00⟩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A17099C-9C35-4CB8-852C-242129416EFC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4848225" cy="0"/>
          </a:xfrm>
          <a:prstGeom prst="line">
            <a:avLst/>
          </a:prstGeom>
          <a:noFill/>
          <a:ln w="2857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ket-1">
            <a:extLst>
              <a:ext uri="{FF2B5EF4-FFF2-40B4-BE49-F238E27FC236}">
                <a16:creationId xmlns:a16="http://schemas.microsoft.com/office/drawing/2014/main" id="{EA81063C-864F-42C2-AFB8-F164584CC724}"/>
              </a:ext>
            </a:extLst>
          </p:cNvPr>
          <p:cNvSpPr>
            <a:spLocks noGrp="1"/>
          </p:cNvSpPr>
          <p:nvPr/>
        </p:nvSpPr>
        <p:spPr>
          <a:xfrm>
            <a:off x="495300" y="40100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079"/>
                </a:solidFill>
                <a:latin typeface="Aptos"/>
                <a:ea typeface="Aptos"/>
                <a:cs typeface="Aptos"/>
              </a:rPr>
              <a:t>|01⟩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3424FBAB-9DD7-4D9B-A05A-6945AB013667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4848225" cy="0"/>
          </a:xfrm>
          <a:prstGeom prst="line">
            <a:avLst/>
          </a:prstGeom>
          <a:noFill/>
          <a:ln w="19050">
            <a:solidFill>
              <a:srgbClr val="A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ket-2">
            <a:extLst>
              <a:ext uri="{FF2B5EF4-FFF2-40B4-BE49-F238E27FC236}">
                <a16:creationId xmlns:a16="http://schemas.microsoft.com/office/drawing/2014/main" id="{0FA6A59E-5D53-4FAE-9F9A-E15627292F11}"/>
              </a:ext>
            </a:extLst>
          </p:cNvPr>
          <p:cNvSpPr>
            <a:spLocks noGrp="1"/>
          </p:cNvSpPr>
          <p:nvPr/>
        </p:nvSpPr>
        <p:spPr>
          <a:xfrm>
            <a:off x="495300" y="4448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079"/>
                </a:solidFill>
                <a:latin typeface="Aptos"/>
                <a:ea typeface="Aptos"/>
                <a:cs typeface="Aptos"/>
              </a:rPr>
              <a:t>|10⟩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08949C4-692C-4E98-A385-A2A53FF1DC12}"/>
              </a:ext>
            </a:extLst>
          </p:cNvPr>
          <p:cNvSpPr>
            <a:spLocks noGrp="1"/>
          </p:cNvSpPr>
          <p:nvPr/>
        </p:nvSpPr>
        <p:spPr>
          <a:xfrm>
            <a:off x="895350" y="4991100"/>
            <a:ext cx="4848225" cy="0"/>
          </a:xfrm>
          <a:prstGeom prst="line">
            <a:avLst/>
          </a:prstGeom>
          <a:noFill/>
          <a:ln w="19050">
            <a:solidFill>
              <a:srgbClr val="A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ket-3">
            <a:extLst>
              <a:ext uri="{FF2B5EF4-FFF2-40B4-BE49-F238E27FC236}">
                <a16:creationId xmlns:a16="http://schemas.microsoft.com/office/drawing/2014/main" id="{7B61FF49-ED4F-4D6C-A127-1800AD590965}"/>
              </a:ext>
            </a:extLst>
          </p:cNvPr>
          <p:cNvSpPr>
            <a:spLocks noGrp="1"/>
          </p:cNvSpPr>
          <p:nvPr/>
        </p:nvSpPr>
        <p:spPr>
          <a:xfrm>
            <a:off x="495300" y="48863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26079"/>
                </a:solidFill>
                <a:latin typeface="Aptos"/>
                <a:ea typeface="Aptos"/>
                <a:cs typeface="Aptos"/>
              </a:rPr>
              <a:t>|11⟩</a:t>
            </a:r>
          </a:p>
        </p:txBody>
      </p:sp>
      <p:sp>
        <p:nvSpPr>
          <p:cNvPr id="14" name="gate-H-155-386">
            <a:extLst>
              <a:ext uri="{FF2B5EF4-FFF2-40B4-BE49-F238E27FC236}">
                <a16:creationId xmlns:a16="http://schemas.microsoft.com/office/drawing/2014/main" id="{81F1EEF8-AA8A-4B04-84AA-C1F4300397C8}"/>
              </a:ext>
            </a:extLst>
          </p:cNvPr>
          <p:cNvSpPr>
            <a:spLocks noGrp="1"/>
          </p:cNvSpPr>
          <p:nvPr/>
        </p:nvSpPr>
        <p:spPr>
          <a:xfrm>
            <a:off x="1476375" y="3476625"/>
            <a:ext cx="4000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15" name="gate-X-229-432">
            <a:extLst>
              <a:ext uri="{FF2B5EF4-FFF2-40B4-BE49-F238E27FC236}">
                <a16:creationId xmlns:a16="http://schemas.microsoft.com/office/drawing/2014/main" id="{C13B55DD-03DA-49BC-8591-A3C61FDA08CE}"/>
              </a:ext>
            </a:extLst>
          </p:cNvPr>
          <p:cNvSpPr>
            <a:spLocks noGrp="1"/>
          </p:cNvSpPr>
          <p:nvPr/>
        </p:nvSpPr>
        <p:spPr>
          <a:xfrm>
            <a:off x="2181225" y="3914775"/>
            <a:ext cx="4000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5CE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17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6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6" name="gate-H-305-478">
            <a:extLst>
              <a:ext uri="{FF2B5EF4-FFF2-40B4-BE49-F238E27FC236}">
                <a16:creationId xmlns:a16="http://schemas.microsoft.com/office/drawing/2014/main" id="{FD5B9CB4-C840-4034-962D-DB448521C526}"/>
              </a:ext>
            </a:extLst>
          </p:cNvPr>
          <p:cNvSpPr>
            <a:spLocks noGrp="1"/>
          </p:cNvSpPr>
          <p:nvPr/>
        </p:nvSpPr>
        <p:spPr>
          <a:xfrm>
            <a:off x="2905125" y="4352925"/>
            <a:ext cx="4000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17" name="gate-Z-375-524">
            <a:extLst>
              <a:ext uri="{FF2B5EF4-FFF2-40B4-BE49-F238E27FC236}">
                <a16:creationId xmlns:a16="http://schemas.microsoft.com/office/drawing/2014/main" id="{B7342473-A5ED-4FF0-A800-AE0E65B31406}"/>
              </a:ext>
            </a:extLst>
          </p:cNvPr>
          <p:cNvSpPr>
            <a:spLocks noGrp="1"/>
          </p:cNvSpPr>
          <p:nvPr/>
        </p:nvSpPr>
        <p:spPr>
          <a:xfrm>
            <a:off x="3571875" y="4791075"/>
            <a:ext cx="40005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6D5CE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B17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736"/>
                </a:solidFill>
                <a:latin typeface="Aptos"/>
                <a:ea typeface="Aptos"/>
                <a:cs typeface="Aptos"/>
              </a:rPr>
              <a:t>Z</a:t>
            </a:r>
          </a:p>
        </p:txBody>
      </p:sp>
      <p:sp>
        <p:nvSpPr>
          <p:cNvPr id="18" name="gate-Uƒ-476-386">
            <a:extLst>
              <a:ext uri="{FF2B5EF4-FFF2-40B4-BE49-F238E27FC236}">
                <a16:creationId xmlns:a16="http://schemas.microsoft.com/office/drawing/2014/main" id="{D5EEE9A9-6D50-46C1-B14B-C8BE0651C715}"/>
              </a:ext>
            </a:extLst>
          </p:cNvPr>
          <p:cNvSpPr>
            <a:spLocks noGrp="1"/>
          </p:cNvSpPr>
          <p:nvPr/>
        </p:nvSpPr>
        <p:spPr>
          <a:xfrm>
            <a:off x="4533900" y="3476625"/>
            <a:ext cx="45720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Uƒ</a:t>
            </a:r>
          </a:p>
        </p:txBody>
      </p:sp>
      <p:sp>
        <p:nvSpPr>
          <p:cNvPr id="19" name="gate-Uƒ-476-432">
            <a:extLst>
              <a:ext uri="{FF2B5EF4-FFF2-40B4-BE49-F238E27FC236}">
                <a16:creationId xmlns:a16="http://schemas.microsoft.com/office/drawing/2014/main" id="{76ED6998-ECC6-40B2-B033-9460517F31BE}"/>
              </a:ext>
            </a:extLst>
          </p:cNvPr>
          <p:cNvSpPr>
            <a:spLocks noGrp="1"/>
          </p:cNvSpPr>
          <p:nvPr/>
        </p:nvSpPr>
        <p:spPr>
          <a:xfrm>
            <a:off x="4533900" y="3914775"/>
            <a:ext cx="45720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Uƒ</a:t>
            </a:r>
          </a:p>
        </p:txBody>
      </p:sp>
      <p:sp>
        <p:nvSpPr>
          <p:cNvPr id="20" name="gate-Uƒ-476-478">
            <a:extLst>
              <a:ext uri="{FF2B5EF4-FFF2-40B4-BE49-F238E27FC236}">
                <a16:creationId xmlns:a16="http://schemas.microsoft.com/office/drawing/2014/main" id="{E466F21B-3D5D-486C-8D2F-0B8F0152FCA9}"/>
              </a:ext>
            </a:extLst>
          </p:cNvPr>
          <p:cNvSpPr>
            <a:spLocks noGrp="1"/>
          </p:cNvSpPr>
          <p:nvPr/>
        </p:nvSpPr>
        <p:spPr>
          <a:xfrm>
            <a:off x="4533900" y="4352925"/>
            <a:ext cx="45720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Uƒ</a:t>
            </a:r>
          </a:p>
        </p:txBody>
      </p:sp>
      <p:sp>
        <p:nvSpPr>
          <p:cNvPr id="21" name="gate-Uƒ-476-524">
            <a:extLst>
              <a:ext uri="{FF2B5EF4-FFF2-40B4-BE49-F238E27FC236}">
                <a16:creationId xmlns:a16="http://schemas.microsoft.com/office/drawing/2014/main" id="{3CA4087B-F1DE-4DDB-9916-33BEDBBADCE1}"/>
              </a:ext>
            </a:extLst>
          </p:cNvPr>
          <p:cNvSpPr>
            <a:spLocks noGrp="1"/>
          </p:cNvSpPr>
          <p:nvPr/>
        </p:nvSpPr>
        <p:spPr>
          <a:xfrm>
            <a:off x="4533900" y="4791075"/>
            <a:ext cx="457200" cy="40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Uƒ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E0AE6E9D-BEED-498F-AAC6-90141F34BC77}"/>
              </a:ext>
            </a:extLst>
          </p:cNvPr>
          <p:cNvSpPr>
            <a:spLocks noGrp="1"/>
          </p:cNvSpPr>
          <p:nvPr/>
        </p:nvSpPr>
        <p:spPr>
          <a:xfrm>
            <a:off x="3228975" y="3676650"/>
            <a:ext cx="0" cy="438150"/>
          </a:xfrm>
          <a:prstGeom prst="line">
            <a:avLst/>
          </a:prstGeom>
          <a:noFill/>
          <a:ln w="19050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ontrol-dot">
            <a:extLst>
              <a:ext uri="{FF2B5EF4-FFF2-40B4-BE49-F238E27FC236}">
                <a16:creationId xmlns:a16="http://schemas.microsoft.com/office/drawing/2014/main" id="{544A68F3-8A27-4572-BD18-969041045CFF}"/>
              </a:ext>
            </a:extLst>
          </p:cNvPr>
          <p:cNvSpPr>
            <a:spLocks noGrp="1"/>
          </p:cNvSpPr>
          <p:nvPr/>
        </p:nvSpPr>
        <p:spPr>
          <a:xfrm>
            <a:off x="3171825" y="3619500"/>
            <a:ext cx="114300" cy="114300"/>
          </a:xfrm>
          <a:prstGeom prst="ellipse">
            <a:avLst/>
          </a:prstGeom>
          <a:solidFill>
            <a:srgbClr val="0B1736"/>
          </a:solidFill>
          <a:ln w="9525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arget-ring">
            <a:extLst>
              <a:ext uri="{FF2B5EF4-FFF2-40B4-BE49-F238E27FC236}">
                <a16:creationId xmlns:a16="http://schemas.microsoft.com/office/drawing/2014/main" id="{97EF85E2-8E58-4B85-AC10-CC06783DC3A9}"/>
              </a:ext>
            </a:extLst>
          </p:cNvPr>
          <p:cNvSpPr>
            <a:spLocks noGrp="1"/>
          </p:cNvSpPr>
          <p:nvPr/>
        </p:nvSpPr>
        <p:spPr>
          <a:xfrm>
            <a:off x="3133725" y="401955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E87A5F68-6B09-4068-B535-2784306A1FA4}"/>
              </a:ext>
            </a:extLst>
          </p:cNvPr>
          <p:cNvSpPr>
            <a:spLocks noGrp="1"/>
          </p:cNvSpPr>
          <p:nvPr/>
        </p:nvSpPr>
        <p:spPr>
          <a:xfrm>
            <a:off x="3228975" y="4038600"/>
            <a:ext cx="0" cy="152400"/>
          </a:xfrm>
          <a:prstGeom prst="line">
            <a:avLst/>
          </a:prstGeom>
          <a:noFill/>
          <a:ln w="19050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7FB9F5FE-5D2B-44C3-8613-AB4ADEACBAB0}"/>
              </a:ext>
            </a:extLst>
          </p:cNvPr>
          <p:cNvSpPr>
            <a:spLocks noGrp="1"/>
          </p:cNvSpPr>
          <p:nvPr/>
        </p:nvSpPr>
        <p:spPr>
          <a:xfrm>
            <a:off x="3152775" y="4114800"/>
            <a:ext cx="152400" cy="0"/>
          </a:xfrm>
          <a:prstGeom prst="line">
            <a:avLst/>
          </a:prstGeom>
          <a:noFill/>
          <a:ln w="19050">
            <a:solidFill>
              <a:srgbClr val="0B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A8771743-644C-418B-8467-2E0ABFFF0529}"/>
              </a:ext>
            </a:extLst>
          </p:cNvPr>
          <p:cNvSpPr>
            <a:spLocks noGrp="1"/>
          </p:cNvSpPr>
          <p:nvPr/>
        </p:nvSpPr>
        <p:spPr>
          <a:xfrm>
            <a:off x="5791200" y="3467100"/>
            <a:ext cx="0" cy="1733550"/>
          </a:xfrm>
          <a:prstGeom prst="line">
            <a:avLst/>
          </a:prstGeom>
          <a:noFill/>
          <a:ln w="2857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mplitude-label">
            <a:extLst>
              <a:ext uri="{FF2B5EF4-FFF2-40B4-BE49-F238E27FC236}">
                <a16:creationId xmlns:a16="http://schemas.microsoft.com/office/drawing/2014/main" id="{6E3761AD-7C52-40E8-AD84-274EEAD7D6A8}"/>
              </a:ext>
            </a:extLst>
          </p:cNvPr>
          <p:cNvSpPr>
            <a:spLocks noGrp="1"/>
          </p:cNvSpPr>
          <p:nvPr/>
        </p:nvSpPr>
        <p:spPr>
          <a:xfrm>
            <a:off x="5391150" y="524827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AMPLITUDES</a:t>
            </a:r>
          </a:p>
        </p:txBody>
      </p:sp>
      <p:sp>
        <p:nvSpPr>
          <p:cNvPr id="29" name="wave-0">
            <a:extLst>
              <a:ext uri="{FF2B5EF4-FFF2-40B4-BE49-F238E27FC236}">
                <a16:creationId xmlns:a16="http://schemas.microsoft.com/office/drawing/2014/main" id="{CD6748A5-D6E2-4FD3-A24D-845109D1B05E}"/>
              </a:ext>
            </a:extLst>
          </p:cNvPr>
          <p:cNvSpPr>
            <a:spLocks noGrp="1"/>
          </p:cNvSpPr>
          <p:nvPr/>
        </p:nvSpPr>
        <p:spPr>
          <a:xfrm>
            <a:off x="5743575" y="3377799"/>
            <a:ext cx="5534025" cy="559288"/>
          </a:xfrm>
          <a:custGeom>
            <a:avLst/>
            <a:gdLst/>
            <a:ahLst/>
            <a:cxnLst/>
            <a:rect l="0" t="0" r="0" b="0"/>
            <a:pathLst>
              <a:path w="5534025" h="559288">
                <a:moveTo>
                  <a:pt x="0" y="298851"/>
                </a:moveTo>
                <a:lnTo>
                  <a:pt x="66675" y="309219"/>
                </a:lnTo>
                <a:lnTo>
                  <a:pt x="133350" y="320388"/>
                </a:lnTo>
                <a:lnTo>
                  <a:pt x="200025" y="331805"/>
                </a:lnTo>
                <a:lnTo>
                  <a:pt x="266700" y="342862"/>
                </a:lnTo>
                <a:lnTo>
                  <a:pt x="333375" y="352919"/>
                </a:lnTo>
                <a:lnTo>
                  <a:pt x="400050" y="361345"/>
                </a:lnTo>
                <a:lnTo>
                  <a:pt x="466725" y="367547"/>
                </a:lnTo>
                <a:lnTo>
                  <a:pt x="533400" y="371011"/>
                </a:lnTo>
                <a:lnTo>
                  <a:pt x="600075" y="371331"/>
                </a:lnTo>
                <a:lnTo>
                  <a:pt x="666750" y="368237"/>
                </a:lnTo>
                <a:lnTo>
                  <a:pt x="733425" y="361619"/>
                </a:lnTo>
                <a:lnTo>
                  <a:pt x="800100" y="351542"/>
                </a:lnTo>
                <a:lnTo>
                  <a:pt x="866775" y="338248"/>
                </a:lnTo>
                <a:lnTo>
                  <a:pt x="933450" y="322160"/>
                </a:lnTo>
                <a:lnTo>
                  <a:pt x="1000125" y="303865"/>
                </a:lnTo>
                <a:lnTo>
                  <a:pt x="1066800" y="284096"/>
                </a:lnTo>
                <a:lnTo>
                  <a:pt x="1133475" y="263699"/>
                </a:lnTo>
                <a:lnTo>
                  <a:pt x="1200150" y="243603"/>
                </a:lnTo>
                <a:lnTo>
                  <a:pt x="1266825" y="224772"/>
                </a:lnTo>
                <a:lnTo>
                  <a:pt x="1333500" y="208162"/>
                </a:lnTo>
                <a:lnTo>
                  <a:pt x="1400175" y="194674"/>
                </a:lnTo>
                <a:lnTo>
                  <a:pt x="1466850" y="185107"/>
                </a:lnTo>
                <a:lnTo>
                  <a:pt x="1533525" y="180114"/>
                </a:lnTo>
                <a:lnTo>
                  <a:pt x="1600200" y="180165"/>
                </a:lnTo>
                <a:lnTo>
                  <a:pt x="1666875" y="185516"/>
                </a:lnTo>
                <a:lnTo>
                  <a:pt x="1733550" y="196187"/>
                </a:lnTo>
                <a:lnTo>
                  <a:pt x="1800225" y="211949"/>
                </a:lnTo>
                <a:lnTo>
                  <a:pt x="1866900" y="232330"/>
                </a:lnTo>
                <a:lnTo>
                  <a:pt x="1933575" y="256619"/>
                </a:lnTo>
                <a:lnTo>
                  <a:pt x="2000250" y="283894"/>
                </a:lnTo>
                <a:lnTo>
                  <a:pt x="2066925" y="313059"/>
                </a:lnTo>
                <a:lnTo>
                  <a:pt x="2133600" y="342883"/>
                </a:lnTo>
                <a:lnTo>
                  <a:pt x="2200275" y="372053"/>
                </a:lnTo>
                <a:lnTo>
                  <a:pt x="2266950" y="399234"/>
                </a:lnTo>
                <a:lnTo>
                  <a:pt x="2333625" y="423128"/>
                </a:lnTo>
                <a:lnTo>
                  <a:pt x="2400300" y="442537"/>
                </a:lnTo>
                <a:lnTo>
                  <a:pt x="2466975" y="456418"/>
                </a:lnTo>
                <a:lnTo>
                  <a:pt x="2533650" y="463940"/>
                </a:lnTo>
                <a:lnTo>
                  <a:pt x="2600325" y="464527"/>
                </a:lnTo>
                <a:lnTo>
                  <a:pt x="2667000" y="457896"/>
                </a:lnTo>
                <a:lnTo>
                  <a:pt x="2733675" y="444076"/>
                </a:lnTo>
                <a:lnTo>
                  <a:pt x="2800350" y="423422"/>
                </a:lnTo>
                <a:lnTo>
                  <a:pt x="2867025" y="396604"/>
                </a:lnTo>
                <a:lnTo>
                  <a:pt x="2933700" y="364595"/>
                </a:lnTo>
                <a:lnTo>
                  <a:pt x="3000375" y="328628"/>
                </a:lnTo>
                <a:lnTo>
                  <a:pt x="3067050" y="290154"/>
                </a:lnTo>
                <a:lnTo>
                  <a:pt x="3133725" y="250784"/>
                </a:lnTo>
                <a:lnTo>
                  <a:pt x="3200400" y="212220"/>
                </a:lnTo>
                <a:lnTo>
                  <a:pt x="3267075" y="176181"/>
                </a:lnTo>
                <a:lnTo>
                  <a:pt x="3333750" y="144326"/>
                </a:lnTo>
                <a:lnTo>
                  <a:pt x="3400425" y="118182"/>
                </a:lnTo>
                <a:lnTo>
                  <a:pt x="3467100" y="99067"/>
                </a:lnTo>
                <a:lnTo>
                  <a:pt x="3533775" y="88030"/>
                </a:lnTo>
                <a:lnTo>
                  <a:pt x="3600450" y="85792"/>
                </a:lnTo>
                <a:lnTo>
                  <a:pt x="3667125" y="92707"/>
                </a:lnTo>
                <a:lnTo>
                  <a:pt x="3733800" y="108736"/>
                </a:lnTo>
                <a:lnTo>
                  <a:pt x="3800475" y="133439"/>
                </a:lnTo>
                <a:lnTo>
                  <a:pt x="3867150" y="165981"/>
                </a:lnTo>
                <a:lnTo>
                  <a:pt x="3933825" y="205161"/>
                </a:lnTo>
                <a:lnTo>
                  <a:pt x="4000500" y="249453"/>
                </a:lnTo>
                <a:lnTo>
                  <a:pt x="4067175" y="297067"/>
                </a:lnTo>
                <a:lnTo>
                  <a:pt x="4133850" y="346022"/>
                </a:lnTo>
                <a:lnTo>
                  <a:pt x="4200525" y="394224"/>
                </a:lnTo>
                <a:lnTo>
                  <a:pt x="4267200" y="439560"/>
                </a:lnTo>
                <a:lnTo>
                  <a:pt x="4333875" y="479990"/>
                </a:lnTo>
                <a:lnTo>
                  <a:pt x="4400550" y="513635"/>
                </a:lnTo>
                <a:lnTo>
                  <a:pt x="4467225" y="538868"/>
                </a:lnTo>
                <a:lnTo>
                  <a:pt x="4533900" y="554388"/>
                </a:lnTo>
                <a:lnTo>
                  <a:pt x="4600575" y="559288"/>
                </a:lnTo>
                <a:lnTo>
                  <a:pt x="4667250" y="553101"/>
                </a:lnTo>
                <a:lnTo>
                  <a:pt x="4733925" y="535832"/>
                </a:lnTo>
                <a:lnTo>
                  <a:pt x="4800600" y="507969"/>
                </a:lnTo>
                <a:lnTo>
                  <a:pt x="4867275" y="470471"/>
                </a:lnTo>
                <a:lnTo>
                  <a:pt x="4933950" y="424740"/>
                </a:lnTo>
                <a:lnTo>
                  <a:pt x="5000625" y="372566"/>
                </a:lnTo>
                <a:lnTo>
                  <a:pt x="5067300" y="316058"/>
                </a:lnTo>
                <a:lnTo>
                  <a:pt x="5133975" y="257561"/>
                </a:lnTo>
                <a:lnTo>
                  <a:pt x="5200650" y="199557"/>
                </a:lnTo>
                <a:lnTo>
                  <a:pt x="5267325" y="144559"/>
                </a:lnTo>
                <a:lnTo>
                  <a:pt x="5334000" y="95004"/>
                </a:lnTo>
                <a:lnTo>
                  <a:pt x="5400675" y="53145"/>
                </a:lnTo>
                <a:lnTo>
                  <a:pt x="5467350" y="20948"/>
                </a:lnTo>
                <a:lnTo>
                  <a:pt x="5534025" y="0"/>
                </a:lnTo>
              </a:path>
            </a:pathLst>
          </a:custGeom>
          <a:noFill/>
          <a:ln w="24765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wave-1">
            <a:extLst>
              <a:ext uri="{FF2B5EF4-FFF2-40B4-BE49-F238E27FC236}">
                <a16:creationId xmlns:a16="http://schemas.microsoft.com/office/drawing/2014/main" id="{DDAA24F5-89EB-4320-AFE5-68FF2507AD90}"/>
              </a:ext>
            </a:extLst>
          </p:cNvPr>
          <p:cNvSpPr>
            <a:spLocks noGrp="1"/>
          </p:cNvSpPr>
          <p:nvPr/>
        </p:nvSpPr>
        <p:spPr>
          <a:xfrm>
            <a:off x="5743575" y="3828348"/>
            <a:ext cx="5534025" cy="525793"/>
          </a:xfrm>
          <a:custGeom>
            <a:avLst/>
            <a:gdLst/>
            <a:ahLst/>
            <a:cxnLst/>
            <a:rect l="0" t="0" r="0" b="0"/>
            <a:pathLst>
              <a:path w="5534025" h="525793">
                <a:moveTo>
                  <a:pt x="0" y="332921"/>
                </a:moveTo>
                <a:lnTo>
                  <a:pt x="66675" y="337165"/>
                </a:lnTo>
                <a:lnTo>
                  <a:pt x="133350" y="339285"/>
                </a:lnTo>
                <a:lnTo>
                  <a:pt x="200025" y="338934"/>
                </a:lnTo>
                <a:lnTo>
                  <a:pt x="266700" y="335878"/>
                </a:lnTo>
                <a:lnTo>
                  <a:pt x="333375" y="330016"/>
                </a:lnTo>
                <a:lnTo>
                  <a:pt x="400050" y="321400"/>
                </a:lnTo>
                <a:lnTo>
                  <a:pt x="466725" y="310234"/>
                </a:lnTo>
                <a:lnTo>
                  <a:pt x="533400" y="296876"/>
                </a:lnTo>
                <a:lnTo>
                  <a:pt x="600075" y="281825"/>
                </a:lnTo>
                <a:lnTo>
                  <a:pt x="666750" y="265708"/>
                </a:lnTo>
                <a:lnTo>
                  <a:pt x="733425" y="249248"/>
                </a:lnTo>
                <a:lnTo>
                  <a:pt x="800100" y="233233"/>
                </a:lnTo>
                <a:lnTo>
                  <a:pt x="866775" y="218481"/>
                </a:lnTo>
                <a:lnTo>
                  <a:pt x="933450" y="205800"/>
                </a:lnTo>
                <a:lnTo>
                  <a:pt x="1000125" y="195941"/>
                </a:lnTo>
                <a:lnTo>
                  <a:pt x="1066800" y="189563"/>
                </a:lnTo>
                <a:lnTo>
                  <a:pt x="1133475" y="187191"/>
                </a:lnTo>
                <a:lnTo>
                  <a:pt x="1200150" y="189185"/>
                </a:lnTo>
                <a:lnTo>
                  <a:pt x="1266825" y="195713"/>
                </a:lnTo>
                <a:lnTo>
                  <a:pt x="1333500" y="206734"/>
                </a:lnTo>
                <a:lnTo>
                  <a:pt x="1400175" y="221990"/>
                </a:lnTo>
                <a:lnTo>
                  <a:pt x="1466850" y="241005"/>
                </a:lnTo>
                <a:lnTo>
                  <a:pt x="1533525" y="263102"/>
                </a:lnTo>
                <a:lnTo>
                  <a:pt x="1600200" y="287426"/>
                </a:lnTo>
                <a:lnTo>
                  <a:pt x="1666875" y="312973"/>
                </a:lnTo>
                <a:lnTo>
                  <a:pt x="1733550" y="338636"/>
                </a:lnTo>
                <a:lnTo>
                  <a:pt x="1800225" y="363250"/>
                </a:lnTo>
                <a:lnTo>
                  <a:pt x="1866900" y="385645"/>
                </a:lnTo>
                <a:lnTo>
                  <a:pt x="1933575" y="404703"/>
                </a:lnTo>
                <a:lnTo>
                  <a:pt x="2000250" y="419408"/>
                </a:lnTo>
                <a:lnTo>
                  <a:pt x="2066925" y="428905"/>
                </a:lnTo>
                <a:lnTo>
                  <a:pt x="2133600" y="432539"/>
                </a:lnTo>
                <a:lnTo>
                  <a:pt x="2200275" y="429895"/>
                </a:lnTo>
                <a:lnTo>
                  <a:pt x="2266950" y="420831"/>
                </a:lnTo>
                <a:lnTo>
                  <a:pt x="2333625" y="405489"/>
                </a:lnTo>
                <a:lnTo>
                  <a:pt x="2400300" y="384303"/>
                </a:lnTo>
                <a:lnTo>
                  <a:pt x="2466975" y="357987"/>
                </a:lnTo>
                <a:lnTo>
                  <a:pt x="2533650" y="327515"/>
                </a:lnTo>
                <a:lnTo>
                  <a:pt x="2600325" y="294083"/>
                </a:lnTo>
                <a:lnTo>
                  <a:pt x="2667000" y="259065"/>
                </a:lnTo>
                <a:lnTo>
                  <a:pt x="2733675" y="223956"/>
                </a:lnTo>
                <a:lnTo>
                  <a:pt x="2800350" y="190306"/>
                </a:lnTo>
                <a:lnTo>
                  <a:pt x="2867025" y="159654"/>
                </a:lnTo>
                <a:lnTo>
                  <a:pt x="2933700" y="133457"/>
                </a:lnTo>
                <a:lnTo>
                  <a:pt x="3000375" y="113021"/>
                </a:lnTo>
                <a:lnTo>
                  <a:pt x="3067050" y="99441"/>
                </a:lnTo>
                <a:lnTo>
                  <a:pt x="3133725" y="93540"/>
                </a:lnTo>
                <a:lnTo>
                  <a:pt x="3200400" y="95826"/>
                </a:lnTo>
                <a:lnTo>
                  <a:pt x="3267075" y="106461"/>
                </a:lnTo>
                <a:lnTo>
                  <a:pt x="3333750" y="125239"/>
                </a:lnTo>
                <a:lnTo>
                  <a:pt x="3400425" y="151591"/>
                </a:lnTo>
                <a:lnTo>
                  <a:pt x="3467100" y="184593"/>
                </a:lnTo>
                <a:lnTo>
                  <a:pt x="3533775" y="223001"/>
                </a:lnTo>
                <a:lnTo>
                  <a:pt x="3600450" y="265295"/>
                </a:lnTo>
                <a:lnTo>
                  <a:pt x="3667125" y="309741"/>
                </a:lnTo>
                <a:lnTo>
                  <a:pt x="3733800" y="354461"/>
                </a:lnTo>
                <a:lnTo>
                  <a:pt x="3800475" y="397512"/>
                </a:lnTo>
                <a:lnTo>
                  <a:pt x="3867150" y="436970"/>
                </a:lnTo>
                <a:lnTo>
                  <a:pt x="3933825" y="471017"/>
                </a:lnTo>
                <a:lnTo>
                  <a:pt x="4000500" y="498024"/>
                </a:lnTo>
                <a:lnTo>
                  <a:pt x="4067175" y="516627"/>
                </a:lnTo>
                <a:lnTo>
                  <a:pt x="4133850" y="525793"/>
                </a:lnTo>
                <a:lnTo>
                  <a:pt x="4200525" y="524879"/>
                </a:lnTo>
                <a:lnTo>
                  <a:pt x="4267200" y="513664"/>
                </a:lnTo>
                <a:lnTo>
                  <a:pt x="4333875" y="492371"/>
                </a:lnTo>
                <a:lnTo>
                  <a:pt x="4400550" y="461672"/>
                </a:lnTo>
                <a:lnTo>
                  <a:pt x="4467225" y="422664"/>
                </a:lnTo>
                <a:lnTo>
                  <a:pt x="4533900" y="376833"/>
                </a:lnTo>
                <a:lnTo>
                  <a:pt x="4600575" y="326001"/>
                </a:lnTo>
                <a:lnTo>
                  <a:pt x="4667250" y="272248"/>
                </a:lnTo>
                <a:lnTo>
                  <a:pt x="4733925" y="217832"/>
                </a:lnTo>
                <a:lnTo>
                  <a:pt x="4800600" y="165092"/>
                </a:lnTo>
                <a:lnTo>
                  <a:pt x="4867275" y="116348"/>
                </a:lnTo>
                <a:lnTo>
                  <a:pt x="4933950" y="73799"/>
                </a:lnTo>
                <a:lnTo>
                  <a:pt x="5000625" y="39423"/>
                </a:lnTo>
                <a:lnTo>
                  <a:pt x="5067300" y="14889"/>
                </a:lnTo>
                <a:lnTo>
                  <a:pt x="5133975" y="1474"/>
                </a:lnTo>
                <a:lnTo>
                  <a:pt x="5200650" y="0"/>
                </a:lnTo>
                <a:lnTo>
                  <a:pt x="5267325" y="10789"/>
                </a:lnTo>
                <a:lnTo>
                  <a:pt x="5334000" y="33639"/>
                </a:lnTo>
                <a:lnTo>
                  <a:pt x="5400675" y="67819"/>
                </a:lnTo>
                <a:lnTo>
                  <a:pt x="5467350" y="112093"/>
                </a:lnTo>
                <a:lnTo>
                  <a:pt x="5534025" y="164764"/>
                </a:lnTo>
              </a:path>
            </a:pathLst>
          </a:custGeom>
          <a:noFill/>
          <a:ln w="20003">
            <a:solidFill>
              <a:srgbClr val="6D5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wave-2">
            <a:extLst>
              <a:ext uri="{FF2B5EF4-FFF2-40B4-BE49-F238E27FC236}">
                <a16:creationId xmlns:a16="http://schemas.microsoft.com/office/drawing/2014/main" id="{D9B7AAF4-44A1-49A1-A0F0-0527B1819FE5}"/>
              </a:ext>
            </a:extLst>
          </p:cNvPr>
          <p:cNvSpPr>
            <a:spLocks noGrp="1"/>
          </p:cNvSpPr>
          <p:nvPr/>
        </p:nvSpPr>
        <p:spPr>
          <a:xfrm>
            <a:off x="5743575" y="4285912"/>
            <a:ext cx="5534025" cy="512588"/>
          </a:xfrm>
          <a:custGeom>
            <a:avLst/>
            <a:gdLst/>
            <a:ahLst/>
            <a:cxnLst/>
            <a:rect l="0" t="0" r="0" b="0"/>
            <a:pathLst>
              <a:path w="5534025" h="512588">
                <a:moveTo>
                  <a:pt x="0" y="287392"/>
                </a:moveTo>
                <a:lnTo>
                  <a:pt x="66675" y="278882"/>
                </a:lnTo>
                <a:lnTo>
                  <a:pt x="133350" y="268643"/>
                </a:lnTo>
                <a:lnTo>
                  <a:pt x="200025" y="257071"/>
                </a:lnTo>
                <a:lnTo>
                  <a:pt x="266700" y="244676"/>
                </a:lnTo>
                <a:lnTo>
                  <a:pt x="333375" y="232051"/>
                </a:lnTo>
                <a:lnTo>
                  <a:pt x="400050" y="219852"/>
                </a:lnTo>
                <a:lnTo>
                  <a:pt x="466725" y="208759"/>
                </a:lnTo>
                <a:lnTo>
                  <a:pt x="533400" y="199444"/>
                </a:lnTo>
                <a:lnTo>
                  <a:pt x="600075" y="192532"/>
                </a:lnTo>
                <a:lnTo>
                  <a:pt x="666750" y="188566"/>
                </a:lnTo>
                <a:lnTo>
                  <a:pt x="733425" y="187973"/>
                </a:lnTo>
                <a:lnTo>
                  <a:pt x="800100" y="191036"/>
                </a:lnTo>
                <a:lnTo>
                  <a:pt x="866775" y="197869"/>
                </a:lnTo>
                <a:lnTo>
                  <a:pt x="933450" y="208402"/>
                </a:lnTo>
                <a:lnTo>
                  <a:pt x="1000125" y="222378"/>
                </a:lnTo>
                <a:lnTo>
                  <a:pt x="1066800" y="239354"/>
                </a:lnTo>
                <a:lnTo>
                  <a:pt x="1133475" y="258712"/>
                </a:lnTo>
                <a:lnTo>
                  <a:pt x="1200150" y="279681"/>
                </a:lnTo>
                <a:lnTo>
                  <a:pt x="1266825" y="301372"/>
                </a:lnTo>
                <a:lnTo>
                  <a:pt x="1333500" y="322809"/>
                </a:lnTo>
                <a:lnTo>
                  <a:pt x="1400175" y="342979"/>
                </a:lnTo>
                <a:lnTo>
                  <a:pt x="1466850" y="360875"/>
                </a:lnTo>
                <a:lnTo>
                  <a:pt x="1533525" y="375547"/>
                </a:lnTo>
                <a:lnTo>
                  <a:pt x="1600200" y="386150"/>
                </a:lnTo>
                <a:lnTo>
                  <a:pt x="1666875" y="391989"/>
                </a:lnTo>
                <a:lnTo>
                  <a:pt x="1733550" y="392559"/>
                </a:lnTo>
                <a:lnTo>
                  <a:pt x="1800225" y="387578"/>
                </a:lnTo>
                <a:lnTo>
                  <a:pt x="1866900" y="377007"/>
                </a:lnTo>
                <a:lnTo>
                  <a:pt x="1933575" y="361066"/>
                </a:lnTo>
                <a:lnTo>
                  <a:pt x="2000250" y="340231"/>
                </a:lnTo>
                <a:lnTo>
                  <a:pt x="2066925" y="315226"/>
                </a:lnTo>
                <a:lnTo>
                  <a:pt x="2133600" y="286994"/>
                </a:lnTo>
                <a:lnTo>
                  <a:pt x="2200275" y="256666"/>
                </a:lnTo>
                <a:lnTo>
                  <a:pt x="2266950" y="225515"/>
                </a:lnTo>
                <a:lnTo>
                  <a:pt x="2333625" y="194900"/>
                </a:lnTo>
                <a:lnTo>
                  <a:pt x="2400300" y="166212"/>
                </a:lnTo>
                <a:lnTo>
                  <a:pt x="2466975" y="140804"/>
                </a:lnTo>
                <a:lnTo>
                  <a:pt x="2533650" y="119935"/>
                </a:lnTo>
                <a:lnTo>
                  <a:pt x="2600325" y="104704"/>
                </a:lnTo>
                <a:lnTo>
                  <a:pt x="2667000" y="95997"/>
                </a:lnTo>
                <a:lnTo>
                  <a:pt x="2733675" y="94439"/>
                </a:lnTo>
                <a:lnTo>
                  <a:pt x="2800350" y="100354"/>
                </a:lnTo>
                <a:lnTo>
                  <a:pt x="2867025" y="113745"/>
                </a:lnTo>
                <a:lnTo>
                  <a:pt x="2933700" y="134280"/>
                </a:lnTo>
                <a:lnTo>
                  <a:pt x="3000375" y="161296"/>
                </a:lnTo>
                <a:lnTo>
                  <a:pt x="3067050" y="193822"/>
                </a:lnTo>
                <a:lnTo>
                  <a:pt x="3133725" y="230606"/>
                </a:lnTo>
                <a:lnTo>
                  <a:pt x="3200400" y="270172"/>
                </a:lnTo>
                <a:lnTo>
                  <a:pt x="3267075" y="310870"/>
                </a:lnTo>
                <a:lnTo>
                  <a:pt x="3333750" y="350950"/>
                </a:lnTo>
                <a:lnTo>
                  <a:pt x="3400425" y="388636"/>
                </a:lnTo>
                <a:lnTo>
                  <a:pt x="3467100" y="422206"/>
                </a:lnTo>
                <a:lnTo>
                  <a:pt x="3533775" y="450066"/>
                </a:lnTo>
                <a:lnTo>
                  <a:pt x="3600450" y="470830"/>
                </a:lnTo>
                <a:lnTo>
                  <a:pt x="3667125" y="483383"/>
                </a:lnTo>
                <a:lnTo>
                  <a:pt x="3733800" y="486942"/>
                </a:lnTo>
                <a:lnTo>
                  <a:pt x="3800475" y="481096"/>
                </a:lnTo>
                <a:lnTo>
                  <a:pt x="3867150" y="465837"/>
                </a:lnTo>
                <a:lnTo>
                  <a:pt x="3933825" y="441570"/>
                </a:lnTo>
                <a:lnTo>
                  <a:pt x="4000500" y="409107"/>
                </a:lnTo>
                <a:lnTo>
                  <a:pt x="4067175" y="369641"/>
                </a:lnTo>
                <a:lnTo>
                  <a:pt x="4133850" y="324702"/>
                </a:lnTo>
                <a:lnTo>
                  <a:pt x="4200525" y="276099"/>
                </a:lnTo>
                <a:lnTo>
                  <a:pt x="4267200" y="225850"/>
                </a:lnTo>
                <a:lnTo>
                  <a:pt x="4333875" y="176094"/>
                </a:lnTo>
                <a:lnTo>
                  <a:pt x="4400550" y="129002"/>
                </a:lnTo>
                <a:lnTo>
                  <a:pt x="4467225" y="86683"/>
                </a:lnTo>
                <a:lnTo>
                  <a:pt x="4533900" y="51088"/>
                </a:lnTo>
                <a:lnTo>
                  <a:pt x="4600575" y="23923"/>
                </a:lnTo>
                <a:lnTo>
                  <a:pt x="4667250" y="6566"/>
                </a:lnTo>
                <a:lnTo>
                  <a:pt x="4733925" y="0"/>
                </a:lnTo>
                <a:lnTo>
                  <a:pt x="4800600" y="4763"/>
                </a:lnTo>
                <a:lnTo>
                  <a:pt x="4867275" y="20910"/>
                </a:lnTo>
                <a:lnTo>
                  <a:pt x="4933950" y="48003"/>
                </a:lnTo>
                <a:lnTo>
                  <a:pt x="5000625" y="85121"/>
                </a:lnTo>
                <a:lnTo>
                  <a:pt x="5067300" y="130882"/>
                </a:lnTo>
                <a:lnTo>
                  <a:pt x="5133975" y="183503"/>
                </a:lnTo>
                <a:lnTo>
                  <a:pt x="5200650" y="240862"/>
                </a:lnTo>
                <a:lnTo>
                  <a:pt x="5267325" y="300586"/>
                </a:lnTo>
                <a:lnTo>
                  <a:pt x="5334000" y="360149"/>
                </a:lnTo>
                <a:lnTo>
                  <a:pt x="5400675" y="416979"/>
                </a:lnTo>
                <a:lnTo>
                  <a:pt x="5467350" y="468570"/>
                </a:lnTo>
                <a:lnTo>
                  <a:pt x="5534025" y="512588"/>
                </a:lnTo>
              </a:path>
            </a:pathLst>
          </a:custGeom>
          <a:noFill/>
          <a:ln w="20003">
            <a:solidFill>
              <a:srgbClr val="80D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wave-3">
            <a:extLst>
              <a:ext uri="{FF2B5EF4-FFF2-40B4-BE49-F238E27FC236}">
                <a16:creationId xmlns:a16="http://schemas.microsoft.com/office/drawing/2014/main" id="{98D22C1A-DA8E-4168-92BB-2F9AF90B8F9C}"/>
              </a:ext>
            </a:extLst>
          </p:cNvPr>
          <p:cNvSpPr>
            <a:spLocks noGrp="1"/>
          </p:cNvSpPr>
          <p:nvPr/>
        </p:nvSpPr>
        <p:spPr>
          <a:xfrm>
            <a:off x="5743575" y="4745346"/>
            <a:ext cx="5534025" cy="539351"/>
          </a:xfrm>
          <a:custGeom>
            <a:avLst/>
            <a:gdLst/>
            <a:ahLst/>
            <a:cxnLst/>
            <a:rect l="0" t="0" r="0" b="0"/>
            <a:pathLst>
              <a:path w="5534025" h="539351">
                <a:moveTo>
                  <a:pt x="0" y="208200"/>
                </a:moveTo>
                <a:lnTo>
                  <a:pt x="66675" y="200229"/>
                </a:lnTo>
                <a:lnTo>
                  <a:pt x="133350" y="193623"/>
                </a:lnTo>
                <a:lnTo>
                  <a:pt x="200025" y="188906"/>
                </a:lnTo>
                <a:lnTo>
                  <a:pt x="266700" y="186533"/>
                </a:lnTo>
                <a:lnTo>
                  <a:pt x="333375" y="186865"/>
                </a:lnTo>
                <a:lnTo>
                  <a:pt x="400050" y="190137"/>
                </a:lnTo>
                <a:lnTo>
                  <a:pt x="466725" y="196444"/>
                </a:lnTo>
                <a:lnTo>
                  <a:pt x="533400" y="205723"/>
                </a:lnTo>
                <a:lnTo>
                  <a:pt x="600075" y="217745"/>
                </a:lnTo>
                <a:lnTo>
                  <a:pt x="666750" y="232126"/>
                </a:lnTo>
                <a:lnTo>
                  <a:pt x="733425" y="248327"/>
                </a:lnTo>
                <a:lnTo>
                  <a:pt x="800100" y="265683"/>
                </a:lnTo>
                <a:lnTo>
                  <a:pt x="866775" y="283427"/>
                </a:lnTo>
                <a:lnTo>
                  <a:pt x="933450" y="300722"/>
                </a:lnTo>
                <a:lnTo>
                  <a:pt x="1000125" y="316703"/>
                </a:lnTo>
                <a:lnTo>
                  <a:pt x="1066800" y="330517"/>
                </a:lnTo>
                <a:lnTo>
                  <a:pt x="1133475" y="341368"/>
                </a:lnTo>
                <a:lnTo>
                  <a:pt x="1200150" y="348559"/>
                </a:lnTo>
                <a:lnTo>
                  <a:pt x="1266825" y="351531"/>
                </a:lnTo>
                <a:lnTo>
                  <a:pt x="1333500" y="349900"/>
                </a:lnTo>
                <a:lnTo>
                  <a:pt x="1400175" y="343479"/>
                </a:lnTo>
                <a:lnTo>
                  <a:pt x="1466850" y="332303"/>
                </a:lnTo>
                <a:lnTo>
                  <a:pt x="1533525" y="316632"/>
                </a:lnTo>
                <a:lnTo>
                  <a:pt x="1600200" y="296952"/>
                </a:lnTo>
                <a:lnTo>
                  <a:pt x="1666875" y="273963"/>
                </a:lnTo>
                <a:lnTo>
                  <a:pt x="1733550" y="248549"/>
                </a:lnTo>
                <a:lnTo>
                  <a:pt x="1800225" y="221754"/>
                </a:lnTo>
                <a:lnTo>
                  <a:pt x="1866900" y="194728"/>
                </a:lnTo>
                <a:lnTo>
                  <a:pt x="1933575" y="168688"/>
                </a:lnTo>
                <a:lnTo>
                  <a:pt x="2000250" y="144857"/>
                </a:lnTo>
                <a:lnTo>
                  <a:pt x="2066925" y="124407"/>
                </a:lnTo>
                <a:lnTo>
                  <a:pt x="2133600" y="108408"/>
                </a:lnTo>
                <a:lnTo>
                  <a:pt x="2200275" y="97768"/>
                </a:lnTo>
                <a:lnTo>
                  <a:pt x="2266950" y="93187"/>
                </a:lnTo>
                <a:lnTo>
                  <a:pt x="2333625" y="95119"/>
                </a:lnTo>
                <a:lnTo>
                  <a:pt x="2400300" y="103740"/>
                </a:lnTo>
                <a:lnTo>
                  <a:pt x="2466975" y="118927"/>
                </a:lnTo>
                <a:lnTo>
                  <a:pt x="2533650" y="140258"/>
                </a:lnTo>
                <a:lnTo>
                  <a:pt x="2600325" y="167018"/>
                </a:lnTo>
                <a:lnTo>
                  <a:pt x="2667000" y="198222"/>
                </a:lnTo>
                <a:lnTo>
                  <a:pt x="2733675" y="232649"/>
                </a:lnTo>
                <a:lnTo>
                  <a:pt x="2800350" y="268890"/>
                </a:lnTo>
                <a:lnTo>
                  <a:pt x="2867025" y="305407"/>
                </a:lnTo>
                <a:lnTo>
                  <a:pt x="2933700" y="340599"/>
                </a:lnTo>
                <a:lnTo>
                  <a:pt x="3000375" y="372868"/>
                </a:lnTo>
                <a:lnTo>
                  <a:pt x="3067050" y="400694"/>
                </a:lnTo>
                <a:lnTo>
                  <a:pt x="3133725" y="422708"/>
                </a:lnTo>
                <a:lnTo>
                  <a:pt x="3200400" y="437752"/>
                </a:lnTo>
                <a:lnTo>
                  <a:pt x="3267075" y="444944"/>
                </a:lnTo>
                <a:lnTo>
                  <a:pt x="3333750" y="443721"/>
                </a:lnTo>
                <a:lnTo>
                  <a:pt x="3400425" y="433876"/>
                </a:lnTo>
                <a:lnTo>
                  <a:pt x="3467100" y="415578"/>
                </a:lnTo>
                <a:lnTo>
                  <a:pt x="3533775" y="389374"/>
                </a:lnTo>
                <a:lnTo>
                  <a:pt x="3600450" y="356174"/>
                </a:lnTo>
                <a:lnTo>
                  <a:pt x="3667125" y="317226"/>
                </a:lnTo>
                <a:lnTo>
                  <a:pt x="3733800" y="274065"/>
                </a:lnTo>
                <a:lnTo>
                  <a:pt x="3800475" y="228454"/>
                </a:lnTo>
                <a:lnTo>
                  <a:pt x="3867150" y="182312"/>
                </a:lnTo>
                <a:lnTo>
                  <a:pt x="3933825" y="137636"/>
                </a:lnTo>
                <a:lnTo>
                  <a:pt x="4000500" y="96410"/>
                </a:lnTo>
                <a:lnTo>
                  <a:pt x="4067175" y="60521"/>
                </a:lnTo>
                <a:lnTo>
                  <a:pt x="4133850" y="31670"/>
                </a:lnTo>
                <a:lnTo>
                  <a:pt x="4200525" y="11295"/>
                </a:lnTo>
                <a:lnTo>
                  <a:pt x="4267200" y="501"/>
                </a:lnTo>
                <a:lnTo>
                  <a:pt x="4333875" y="0"/>
                </a:lnTo>
                <a:lnTo>
                  <a:pt x="4400550" y="10072"/>
                </a:lnTo>
                <a:lnTo>
                  <a:pt x="4467225" y="30544"/>
                </a:lnTo>
                <a:lnTo>
                  <a:pt x="4533900" y="60784"/>
                </a:lnTo>
                <a:lnTo>
                  <a:pt x="4600575" y="99717"/>
                </a:lnTo>
                <a:lnTo>
                  <a:pt x="4667250" y="145868"/>
                </a:lnTo>
                <a:lnTo>
                  <a:pt x="4733925" y="197408"/>
                </a:lnTo>
                <a:lnTo>
                  <a:pt x="4800600" y="252234"/>
                </a:lnTo>
                <a:lnTo>
                  <a:pt x="4867275" y="308050"/>
                </a:lnTo>
                <a:lnTo>
                  <a:pt x="4933950" y="362467"/>
                </a:lnTo>
                <a:lnTo>
                  <a:pt x="5000625" y="413100"/>
                </a:lnTo>
                <a:lnTo>
                  <a:pt x="5067300" y="457678"/>
                </a:lnTo>
                <a:lnTo>
                  <a:pt x="5133975" y="494142"/>
                </a:lnTo>
                <a:lnTo>
                  <a:pt x="5200650" y="520740"/>
                </a:lnTo>
                <a:lnTo>
                  <a:pt x="5267325" y="536111"/>
                </a:lnTo>
                <a:lnTo>
                  <a:pt x="5334000" y="539351"/>
                </a:lnTo>
                <a:lnTo>
                  <a:pt x="5400675" y="530063"/>
                </a:lnTo>
                <a:lnTo>
                  <a:pt x="5467350" y="508386"/>
                </a:lnTo>
                <a:lnTo>
                  <a:pt x="5534025" y="474996"/>
                </a:lnTo>
              </a:path>
            </a:pathLst>
          </a:custGeom>
          <a:noFill/>
          <a:ln w="20003">
            <a:solidFill>
              <a:srgbClr val="4C6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nterference-0">
            <a:extLst>
              <a:ext uri="{FF2B5EF4-FFF2-40B4-BE49-F238E27FC236}">
                <a16:creationId xmlns:a16="http://schemas.microsoft.com/office/drawing/2014/main" id="{AA2847EE-AA90-4AF5-9AD2-1CE51E5D4873}"/>
              </a:ext>
            </a:extLst>
          </p:cNvPr>
          <p:cNvSpPr>
            <a:spLocks noGrp="1"/>
          </p:cNvSpPr>
          <p:nvPr/>
        </p:nvSpPr>
        <p:spPr>
          <a:xfrm>
            <a:off x="7067550" y="3676247"/>
            <a:ext cx="4191000" cy="310703"/>
          </a:xfrm>
          <a:custGeom>
            <a:avLst/>
            <a:gdLst/>
            <a:ahLst/>
            <a:cxnLst/>
            <a:rect l="0" t="0" r="0" b="0"/>
            <a:pathLst>
              <a:path w="4191000" h="310703">
                <a:moveTo>
                  <a:pt x="0" y="181378"/>
                </a:moveTo>
                <a:lnTo>
                  <a:pt x="76200" y="220570"/>
                </a:lnTo>
                <a:lnTo>
                  <a:pt x="152400" y="256279"/>
                </a:lnTo>
                <a:lnTo>
                  <a:pt x="228600" y="284924"/>
                </a:lnTo>
                <a:lnTo>
                  <a:pt x="304800" y="303668"/>
                </a:lnTo>
                <a:lnTo>
                  <a:pt x="381000" y="310703"/>
                </a:lnTo>
                <a:lnTo>
                  <a:pt x="457200" y="305430"/>
                </a:lnTo>
                <a:lnTo>
                  <a:pt x="533400" y="288512"/>
                </a:lnTo>
                <a:lnTo>
                  <a:pt x="609600" y="261805"/>
                </a:lnTo>
                <a:lnTo>
                  <a:pt x="685800" y="228156"/>
                </a:lnTo>
                <a:lnTo>
                  <a:pt x="762000" y="191111"/>
                </a:lnTo>
                <a:lnTo>
                  <a:pt x="838200" y="154546"/>
                </a:lnTo>
                <a:lnTo>
                  <a:pt x="914400" y="122268"/>
                </a:lnTo>
                <a:lnTo>
                  <a:pt x="990600" y="97614"/>
                </a:lnTo>
                <a:lnTo>
                  <a:pt x="1066800" y="83117"/>
                </a:lnTo>
                <a:lnTo>
                  <a:pt x="1143000" y="80231"/>
                </a:lnTo>
                <a:lnTo>
                  <a:pt x="1219200" y="89188"/>
                </a:lnTo>
                <a:lnTo>
                  <a:pt x="1295400" y="108962"/>
                </a:lnTo>
                <a:lnTo>
                  <a:pt x="1371600" y="137381"/>
                </a:lnTo>
                <a:lnTo>
                  <a:pt x="1447800" y="171336"/>
                </a:lnTo>
                <a:lnTo>
                  <a:pt x="1524000" y="207107"/>
                </a:lnTo>
                <a:lnTo>
                  <a:pt x="1600200" y="240735"/>
                </a:lnTo>
                <a:lnTo>
                  <a:pt x="1676400" y="268435"/>
                </a:lnTo>
                <a:lnTo>
                  <a:pt x="1752600" y="286983"/>
                </a:lnTo>
                <a:lnTo>
                  <a:pt x="1828800" y="294050"/>
                </a:lnTo>
                <a:lnTo>
                  <a:pt x="1905000" y="288449"/>
                </a:lnTo>
                <a:lnTo>
                  <a:pt x="1981200" y="270263"/>
                </a:lnTo>
                <a:lnTo>
                  <a:pt x="2057400" y="240854"/>
                </a:lnTo>
                <a:lnTo>
                  <a:pt x="2133600" y="202727"/>
                </a:lnTo>
                <a:lnTo>
                  <a:pt x="2209800" y="159298"/>
                </a:lnTo>
                <a:lnTo>
                  <a:pt x="2286000" y="114553"/>
                </a:lnTo>
                <a:lnTo>
                  <a:pt x="2362200" y="72657"/>
                </a:lnTo>
                <a:lnTo>
                  <a:pt x="2438400" y="37547"/>
                </a:lnTo>
                <a:lnTo>
                  <a:pt x="2514600" y="12537"/>
                </a:lnTo>
                <a:lnTo>
                  <a:pt x="2590800" y="0"/>
                </a:lnTo>
                <a:lnTo>
                  <a:pt x="2667000" y="1127"/>
                </a:lnTo>
                <a:lnTo>
                  <a:pt x="2743200" y="15821"/>
                </a:lnTo>
                <a:lnTo>
                  <a:pt x="2819400" y="42705"/>
                </a:lnTo>
                <a:lnTo>
                  <a:pt x="2895600" y="79271"/>
                </a:lnTo>
                <a:lnTo>
                  <a:pt x="2971800" y="122132"/>
                </a:lnTo>
                <a:lnTo>
                  <a:pt x="3048000" y="167365"/>
                </a:lnTo>
                <a:lnTo>
                  <a:pt x="3124200" y="210904"/>
                </a:lnTo>
                <a:lnTo>
                  <a:pt x="3200400" y="248948"/>
                </a:lnTo>
                <a:lnTo>
                  <a:pt x="3276600" y="278337"/>
                </a:lnTo>
                <a:lnTo>
                  <a:pt x="3352800" y="296862"/>
                </a:lnTo>
                <a:lnTo>
                  <a:pt x="3429000" y="303474"/>
                </a:lnTo>
                <a:lnTo>
                  <a:pt x="3505200" y="298377"/>
                </a:lnTo>
                <a:lnTo>
                  <a:pt x="3581400" y="282991"/>
                </a:lnTo>
                <a:lnTo>
                  <a:pt x="3657600" y="259785"/>
                </a:lnTo>
                <a:lnTo>
                  <a:pt x="3733800" y="232013"/>
                </a:lnTo>
                <a:lnTo>
                  <a:pt x="3810000" y="203361"/>
                </a:lnTo>
                <a:lnTo>
                  <a:pt x="3886200" y="177553"/>
                </a:lnTo>
                <a:lnTo>
                  <a:pt x="3962400" y="157952"/>
                </a:lnTo>
                <a:lnTo>
                  <a:pt x="4038600" y="147203"/>
                </a:lnTo>
                <a:lnTo>
                  <a:pt x="4114800" y="146947"/>
                </a:lnTo>
                <a:lnTo>
                  <a:pt x="4191000" y="157636"/>
                </a:lnTo>
              </a:path>
            </a:pathLst>
          </a:custGeom>
          <a:noFill/>
          <a:ln w="11430">
            <a:solidFill>
              <a:srgbClr val="A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nterference-1">
            <a:extLst>
              <a:ext uri="{FF2B5EF4-FFF2-40B4-BE49-F238E27FC236}">
                <a16:creationId xmlns:a16="http://schemas.microsoft.com/office/drawing/2014/main" id="{85CBEFC5-72AC-4E4B-BF8E-F06274653261}"/>
              </a:ext>
            </a:extLst>
          </p:cNvPr>
          <p:cNvSpPr>
            <a:spLocks noGrp="1"/>
          </p:cNvSpPr>
          <p:nvPr/>
        </p:nvSpPr>
        <p:spPr>
          <a:xfrm>
            <a:off x="7067550" y="4042305"/>
            <a:ext cx="4191000" cy="303131"/>
          </a:xfrm>
          <a:custGeom>
            <a:avLst/>
            <a:gdLst/>
            <a:ahLst/>
            <a:cxnLst/>
            <a:rect l="0" t="0" r="0" b="0"/>
            <a:pathLst>
              <a:path w="4191000" h="303131">
                <a:moveTo>
                  <a:pt x="0" y="267804"/>
                </a:moveTo>
                <a:lnTo>
                  <a:pt x="76200" y="290023"/>
                </a:lnTo>
                <a:lnTo>
                  <a:pt x="152400" y="301289"/>
                </a:lnTo>
                <a:lnTo>
                  <a:pt x="228600" y="300505"/>
                </a:lnTo>
                <a:lnTo>
                  <a:pt x="304800" y="287820"/>
                </a:lnTo>
                <a:lnTo>
                  <a:pt x="381000" y="264619"/>
                </a:lnTo>
                <a:lnTo>
                  <a:pt x="457200" y="233371"/>
                </a:lnTo>
                <a:lnTo>
                  <a:pt x="533400" y="197379"/>
                </a:lnTo>
                <a:lnTo>
                  <a:pt x="609600" y="160431"/>
                </a:lnTo>
                <a:lnTo>
                  <a:pt x="685800" y="126417"/>
                </a:lnTo>
                <a:lnTo>
                  <a:pt x="762000" y="98920"/>
                </a:lnTo>
                <a:lnTo>
                  <a:pt x="838200" y="80846"/>
                </a:lnTo>
                <a:lnTo>
                  <a:pt x="914400" y="74124"/>
                </a:lnTo>
                <a:lnTo>
                  <a:pt x="990600" y="79498"/>
                </a:lnTo>
                <a:lnTo>
                  <a:pt x="1066800" y="96450"/>
                </a:lnTo>
                <a:lnTo>
                  <a:pt x="1143000" y="123243"/>
                </a:lnTo>
                <a:lnTo>
                  <a:pt x="1219200" y="157094"/>
                </a:lnTo>
                <a:lnTo>
                  <a:pt x="1295400" y="194452"/>
                </a:lnTo>
                <a:lnTo>
                  <a:pt x="1371600" y="231357"/>
                </a:lnTo>
                <a:lnTo>
                  <a:pt x="1447800" y="263840"/>
                </a:lnTo>
                <a:lnTo>
                  <a:pt x="1524000" y="288330"/>
                </a:lnTo>
                <a:lnTo>
                  <a:pt x="1600200" y="302013"/>
                </a:lnTo>
                <a:lnTo>
                  <a:pt x="1676400" y="303131"/>
                </a:lnTo>
                <a:lnTo>
                  <a:pt x="1752600" y="291156"/>
                </a:lnTo>
                <a:lnTo>
                  <a:pt x="1828800" y="266859"/>
                </a:lnTo>
                <a:lnTo>
                  <a:pt x="1905000" y="232238"/>
                </a:lnTo>
                <a:lnTo>
                  <a:pt x="1981200" y="190322"/>
                </a:lnTo>
                <a:lnTo>
                  <a:pt x="2057400" y="144882"/>
                </a:lnTo>
                <a:lnTo>
                  <a:pt x="2133600" y="100052"/>
                </a:lnTo>
                <a:lnTo>
                  <a:pt x="2209800" y="59926"/>
                </a:lnTo>
                <a:lnTo>
                  <a:pt x="2286000" y="28157"/>
                </a:lnTo>
                <a:lnTo>
                  <a:pt x="2362200" y="7591"/>
                </a:lnTo>
                <a:lnTo>
                  <a:pt x="2438400" y="0"/>
                </a:lnTo>
                <a:lnTo>
                  <a:pt x="2514600" y="5905"/>
                </a:lnTo>
                <a:lnTo>
                  <a:pt x="2590800" y="24538"/>
                </a:lnTo>
                <a:lnTo>
                  <a:pt x="2667000" y="53928"/>
                </a:lnTo>
                <a:lnTo>
                  <a:pt x="2743200" y="91105"/>
                </a:lnTo>
                <a:lnTo>
                  <a:pt x="2819400" y="132413"/>
                </a:lnTo>
                <a:lnTo>
                  <a:pt x="2895600" y="173878"/>
                </a:lnTo>
                <a:lnTo>
                  <a:pt x="2971800" y="211615"/>
                </a:lnTo>
                <a:lnTo>
                  <a:pt x="3048000" y="242222"/>
                </a:lnTo>
                <a:lnTo>
                  <a:pt x="3124200" y="263117"/>
                </a:lnTo>
                <a:lnTo>
                  <a:pt x="3200400" y="272800"/>
                </a:lnTo>
                <a:lnTo>
                  <a:pt x="3276600" y="270989"/>
                </a:lnTo>
                <a:lnTo>
                  <a:pt x="3352800" y="258642"/>
                </a:lnTo>
                <a:lnTo>
                  <a:pt x="3429000" y="237846"/>
                </a:lnTo>
                <a:lnTo>
                  <a:pt x="3505200" y="211588"/>
                </a:lnTo>
                <a:lnTo>
                  <a:pt x="3581400" y="183433"/>
                </a:lnTo>
                <a:lnTo>
                  <a:pt x="3657600" y="157151"/>
                </a:lnTo>
                <a:lnTo>
                  <a:pt x="3733800" y="136306"/>
                </a:lnTo>
                <a:lnTo>
                  <a:pt x="3810000" y="123881"/>
                </a:lnTo>
                <a:lnTo>
                  <a:pt x="3886200" y="121952"/>
                </a:lnTo>
                <a:lnTo>
                  <a:pt x="3962400" y="131458"/>
                </a:lnTo>
                <a:lnTo>
                  <a:pt x="4038600" y="152090"/>
                </a:lnTo>
                <a:lnTo>
                  <a:pt x="4114800" y="182301"/>
                </a:lnTo>
                <a:lnTo>
                  <a:pt x="4191000" y="219450"/>
                </a:lnTo>
              </a:path>
            </a:pathLst>
          </a:custGeom>
          <a:noFill/>
          <a:ln w="11430">
            <a:solidFill>
              <a:srgbClr val="C7C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interference-2">
            <a:extLst>
              <a:ext uri="{FF2B5EF4-FFF2-40B4-BE49-F238E27FC236}">
                <a16:creationId xmlns:a16="http://schemas.microsoft.com/office/drawing/2014/main" id="{CA19EA93-44A9-48EA-A7E2-C935116CAED5}"/>
              </a:ext>
            </a:extLst>
          </p:cNvPr>
          <p:cNvSpPr>
            <a:spLocks noGrp="1"/>
          </p:cNvSpPr>
          <p:nvPr/>
        </p:nvSpPr>
        <p:spPr>
          <a:xfrm>
            <a:off x="7067550" y="4416141"/>
            <a:ext cx="4191000" cy="306260"/>
          </a:xfrm>
          <a:custGeom>
            <a:avLst/>
            <a:gdLst/>
            <a:ahLst/>
            <a:cxnLst/>
            <a:rect l="0" t="0" r="0" b="0"/>
            <a:pathLst>
              <a:path w="4191000" h="306260">
                <a:moveTo>
                  <a:pt x="0" y="288913"/>
                </a:moveTo>
                <a:lnTo>
                  <a:pt x="76200" y="280189"/>
                </a:lnTo>
                <a:lnTo>
                  <a:pt x="152400" y="260305"/>
                </a:lnTo>
                <a:lnTo>
                  <a:pt x="228600" y="231325"/>
                </a:lnTo>
                <a:lnTo>
                  <a:pt x="304800" y="196262"/>
                </a:lnTo>
                <a:lnTo>
                  <a:pt x="381000" y="158770"/>
                </a:lnTo>
                <a:lnTo>
                  <a:pt x="457200" y="122773"/>
                </a:lnTo>
                <a:lnTo>
                  <a:pt x="533400" y="92052"/>
                </a:lnTo>
                <a:lnTo>
                  <a:pt x="609600" y="69864"/>
                </a:lnTo>
                <a:lnTo>
                  <a:pt x="685800" y="58598"/>
                </a:lnTo>
                <a:lnTo>
                  <a:pt x="762000" y="59527"/>
                </a:lnTo>
                <a:lnTo>
                  <a:pt x="838200" y="72672"/>
                </a:lnTo>
                <a:lnTo>
                  <a:pt x="914400" y="96791"/>
                </a:lnTo>
                <a:lnTo>
                  <a:pt x="990600" y="129500"/>
                </a:lnTo>
                <a:lnTo>
                  <a:pt x="1066800" y="167502"/>
                </a:lnTo>
                <a:lnTo>
                  <a:pt x="1143000" y="206925"/>
                </a:lnTo>
                <a:lnTo>
                  <a:pt x="1219200" y="243703"/>
                </a:lnTo>
                <a:lnTo>
                  <a:pt x="1295400" y="273988"/>
                </a:lnTo>
                <a:lnTo>
                  <a:pt x="1371600" y="294537"/>
                </a:lnTo>
                <a:lnTo>
                  <a:pt x="1447800" y="303044"/>
                </a:lnTo>
                <a:lnTo>
                  <a:pt x="1524000" y="298369"/>
                </a:lnTo>
                <a:lnTo>
                  <a:pt x="1600200" y="280663"/>
                </a:lnTo>
                <a:lnTo>
                  <a:pt x="1676400" y="251351"/>
                </a:lnTo>
                <a:lnTo>
                  <a:pt x="1752600" y="212998"/>
                </a:lnTo>
                <a:lnTo>
                  <a:pt x="1828800" y="169050"/>
                </a:lnTo>
                <a:lnTo>
                  <a:pt x="1905000" y="123502"/>
                </a:lnTo>
                <a:lnTo>
                  <a:pt x="1981200" y="80493"/>
                </a:lnTo>
                <a:lnTo>
                  <a:pt x="2057400" y="43903"/>
                </a:lnTo>
                <a:lnTo>
                  <a:pt x="2133600" y="16969"/>
                </a:lnTo>
                <a:lnTo>
                  <a:pt x="2209800" y="1968"/>
                </a:lnTo>
                <a:lnTo>
                  <a:pt x="2286000" y="0"/>
                </a:lnTo>
                <a:lnTo>
                  <a:pt x="2362200" y="10889"/>
                </a:lnTo>
                <a:lnTo>
                  <a:pt x="2438400" y="33210"/>
                </a:lnTo>
                <a:lnTo>
                  <a:pt x="2514600" y="64448"/>
                </a:lnTo>
                <a:lnTo>
                  <a:pt x="2590800" y="101265"/>
                </a:lnTo>
                <a:lnTo>
                  <a:pt x="2667000" y="139840"/>
                </a:lnTo>
                <a:lnTo>
                  <a:pt x="2743200" y="176275"/>
                </a:lnTo>
                <a:lnTo>
                  <a:pt x="2819400" y="206986"/>
                </a:lnTo>
                <a:lnTo>
                  <a:pt x="2895600" y="229075"/>
                </a:lnTo>
                <a:lnTo>
                  <a:pt x="2971800" y="240626"/>
                </a:lnTo>
                <a:lnTo>
                  <a:pt x="3048000" y="240894"/>
                </a:lnTo>
                <a:lnTo>
                  <a:pt x="3124200" y="230379"/>
                </a:lnTo>
                <a:lnTo>
                  <a:pt x="3200400" y="210768"/>
                </a:lnTo>
                <a:lnTo>
                  <a:pt x="3276600" y="184755"/>
                </a:lnTo>
                <a:lnTo>
                  <a:pt x="3352800" y="155755"/>
                </a:lnTo>
                <a:lnTo>
                  <a:pt x="3429000" y="127544"/>
                </a:lnTo>
                <a:lnTo>
                  <a:pt x="3505200" y="103863"/>
                </a:lnTo>
                <a:lnTo>
                  <a:pt x="3581400" y="88017"/>
                </a:lnTo>
                <a:lnTo>
                  <a:pt x="3657600" y="82523"/>
                </a:lnTo>
                <a:lnTo>
                  <a:pt x="3733800" y="88837"/>
                </a:lnTo>
                <a:lnTo>
                  <a:pt x="3810000" y="107183"/>
                </a:lnTo>
                <a:lnTo>
                  <a:pt x="3886200" y="136514"/>
                </a:lnTo>
                <a:lnTo>
                  <a:pt x="3962400" y="174595"/>
                </a:lnTo>
                <a:lnTo>
                  <a:pt x="4038600" y="218215"/>
                </a:lnTo>
                <a:lnTo>
                  <a:pt x="4114800" y="263493"/>
                </a:lnTo>
                <a:lnTo>
                  <a:pt x="4191000" y="306260"/>
                </a:lnTo>
              </a:path>
            </a:pathLst>
          </a:custGeom>
          <a:noFill/>
          <a:ln w="11430">
            <a:solidFill>
              <a:srgbClr val="A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interference-3">
            <a:extLst>
              <a:ext uri="{FF2B5EF4-FFF2-40B4-BE49-F238E27FC236}">
                <a16:creationId xmlns:a16="http://schemas.microsoft.com/office/drawing/2014/main" id="{728F0F71-4D5B-42FC-91AA-3A6006300878}"/>
              </a:ext>
            </a:extLst>
          </p:cNvPr>
          <p:cNvSpPr>
            <a:spLocks noGrp="1"/>
          </p:cNvSpPr>
          <p:nvPr/>
        </p:nvSpPr>
        <p:spPr>
          <a:xfrm>
            <a:off x="7067550" y="4792297"/>
            <a:ext cx="4191000" cy="360799"/>
          </a:xfrm>
          <a:custGeom>
            <a:avLst/>
            <a:gdLst/>
            <a:ahLst/>
            <a:cxnLst/>
            <a:rect l="0" t="0" r="0" b="0"/>
            <a:pathLst>
              <a:path w="4191000" h="360799">
                <a:moveTo>
                  <a:pt x="0" y="229192"/>
                </a:moveTo>
                <a:lnTo>
                  <a:pt x="76200" y="195224"/>
                </a:lnTo>
                <a:lnTo>
                  <a:pt x="152400" y="157280"/>
                </a:lnTo>
                <a:lnTo>
                  <a:pt x="228600" y="119257"/>
                </a:lnTo>
                <a:lnTo>
                  <a:pt x="304800" y="85087"/>
                </a:lnTo>
                <a:lnTo>
                  <a:pt x="381000" y="58335"/>
                </a:lnTo>
                <a:lnTo>
                  <a:pt x="457200" y="41831"/>
                </a:lnTo>
                <a:lnTo>
                  <a:pt x="533400" y="37379"/>
                </a:lnTo>
                <a:lnTo>
                  <a:pt x="609600" y="45569"/>
                </a:lnTo>
                <a:lnTo>
                  <a:pt x="685800" y="65704"/>
                </a:lnTo>
                <a:lnTo>
                  <a:pt x="762000" y="95872"/>
                </a:lnTo>
                <a:lnTo>
                  <a:pt x="838200" y="133123"/>
                </a:lnTo>
                <a:lnTo>
                  <a:pt x="914400" y="173769"/>
                </a:lnTo>
                <a:lnTo>
                  <a:pt x="990600" y="213745"/>
                </a:lnTo>
                <a:lnTo>
                  <a:pt x="1066800" y="249021"/>
                </a:lnTo>
                <a:lnTo>
                  <a:pt x="1143000" y="275998"/>
                </a:lnTo>
                <a:lnTo>
                  <a:pt x="1219200" y="291874"/>
                </a:lnTo>
                <a:lnTo>
                  <a:pt x="1295400" y="294925"/>
                </a:lnTo>
                <a:lnTo>
                  <a:pt x="1371600" y="284672"/>
                </a:lnTo>
                <a:lnTo>
                  <a:pt x="1447800" y="261935"/>
                </a:lnTo>
                <a:lnTo>
                  <a:pt x="1524000" y="228749"/>
                </a:lnTo>
                <a:lnTo>
                  <a:pt x="1600200" y="188158"/>
                </a:lnTo>
                <a:lnTo>
                  <a:pt x="1676400" y="143911"/>
                </a:lnTo>
                <a:lnTo>
                  <a:pt x="1752600" y="100087"/>
                </a:lnTo>
                <a:lnTo>
                  <a:pt x="1828800" y="60692"/>
                </a:lnTo>
                <a:lnTo>
                  <a:pt x="1905000" y="29255"/>
                </a:lnTo>
                <a:lnTo>
                  <a:pt x="1981200" y="8484"/>
                </a:lnTo>
                <a:lnTo>
                  <a:pt x="2057400" y="0"/>
                </a:lnTo>
                <a:lnTo>
                  <a:pt x="2133600" y="4187"/>
                </a:lnTo>
                <a:lnTo>
                  <a:pt x="2209800" y="20163"/>
                </a:lnTo>
                <a:lnTo>
                  <a:pt x="2286000" y="45883"/>
                </a:lnTo>
                <a:lnTo>
                  <a:pt x="2362200" y="78358"/>
                </a:lnTo>
                <a:lnTo>
                  <a:pt x="2438400" y="113974"/>
                </a:lnTo>
                <a:lnTo>
                  <a:pt x="2514600" y="148865"/>
                </a:lnTo>
                <a:lnTo>
                  <a:pt x="2590800" y="179320"/>
                </a:lnTo>
                <a:lnTo>
                  <a:pt x="2667000" y="202168"/>
                </a:lnTo>
                <a:lnTo>
                  <a:pt x="2743200" y="215104"/>
                </a:lnTo>
                <a:lnTo>
                  <a:pt x="2819400" y="216932"/>
                </a:lnTo>
                <a:lnTo>
                  <a:pt x="2895600" y="207686"/>
                </a:lnTo>
                <a:lnTo>
                  <a:pt x="2971800" y="188631"/>
                </a:lnTo>
                <a:lnTo>
                  <a:pt x="3048000" y="162131"/>
                </a:lnTo>
                <a:lnTo>
                  <a:pt x="3124200" y="131401"/>
                </a:lnTo>
                <a:lnTo>
                  <a:pt x="3200400" y="100183"/>
                </a:lnTo>
                <a:lnTo>
                  <a:pt x="3276600" y="72347"/>
                </a:lnTo>
                <a:lnTo>
                  <a:pt x="3352800" y="51495"/>
                </a:lnTo>
                <a:lnTo>
                  <a:pt x="3429000" y="40576"/>
                </a:lnTo>
                <a:lnTo>
                  <a:pt x="3505200" y="41574"/>
                </a:lnTo>
                <a:lnTo>
                  <a:pt x="3581400" y="55288"/>
                </a:lnTo>
                <a:lnTo>
                  <a:pt x="3657600" y="81236"/>
                </a:lnTo>
                <a:lnTo>
                  <a:pt x="3733800" y="117680"/>
                </a:lnTo>
                <a:lnTo>
                  <a:pt x="3810000" y="161785"/>
                </a:lnTo>
                <a:lnTo>
                  <a:pt x="3886200" y="209889"/>
                </a:lnTo>
                <a:lnTo>
                  <a:pt x="3962400" y="257851"/>
                </a:lnTo>
                <a:lnTo>
                  <a:pt x="4038600" y="301457"/>
                </a:lnTo>
                <a:lnTo>
                  <a:pt x="4114800" y="336828"/>
                </a:lnTo>
                <a:lnTo>
                  <a:pt x="4191000" y="360799"/>
                </a:lnTo>
              </a:path>
            </a:pathLst>
          </a:custGeom>
          <a:noFill/>
          <a:ln w="11430">
            <a:solidFill>
              <a:srgbClr val="C7C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phase-node-0">
            <a:extLst>
              <a:ext uri="{FF2B5EF4-FFF2-40B4-BE49-F238E27FC236}">
                <a16:creationId xmlns:a16="http://schemas.microsoft.com/office/drawing/2014/main" id="{43CBFB02-C41F-4E6A-B130-A88CF192D9CD}"/>
              </a:ext>
            </a:extLst>
          </p:cNvPr>
          <p:cNvSpPr>
            <a:spLocks noGrp="1"/>
          </p:cNvSpPr>
          <p:nvPr/>
        </p:nvSpPr>
        <p:spPr>
          <a:xfrm>
            <a:off x="7410450" y="3924300"/>
            <a:ext cx="76200" cy="76200"/>
          </a:xfrm>
          <a:prstGeom prst="ellipse">
            <a:avLst/>
          </a:prstGeom>
          <a:solidFill>
            <a:srgbClr val="00A8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hase-node-1">
            <a:extLst>
              <a:ext uri="{FF2B5EF4-FFF2-40B4-BE49-F238E27FC236}">
                <a16:creationId xmlns:a16="http://schemas.microsoft.com/office/drawing/2014/main" id="{37DF4525-DB05-4480-98F0-8C70ED3ADD15}"/>
              </a:ext>
            </a:extLst>
          </p:cNvPr>
          <p:cNvSpPr>
            <a:spLocks noGrp="1"/>
          </p:cNvSpPr>
          <p:nvPr/>
        </p:nvSpPr>
        <p:spPr>
          <a:xfrm>
            <a:off x="8382000" y="4467225"/>
            <a:ext cx="76200" cy="76200"/>
          </a:xfrm>
          <a:prstGeom prst="ellipse">
            <a:avLst/>
          </a:prstGeom>
          <a:solidFill>
            <a:srgbClr val="6D5C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phase-node-2">
            <a:extLst>
              <a:ext uri="{FF2B5EF4-FFF2-40B4-BE49-F238E27FC236}">
                <a16:creationId xmlns:a16="http://schemas.microsoft.com/office/drawing/2014/main" id="{A2C863C5-8259-4E70-959F-F15D9AF797CA}"/>
              </a:ext>
            </a:extLst>
          </p:cNvPr>
          <p:cNvSpPr>
            <a:spLocks noGrp="1"/>
          </p:cNvSpPr>
          <p:nvPr/>
        </p:nvSpPr>
        <p:spPr>
          <a:xfrm>
            <a:off x="9353550" y="3876675"/>
            <a:ext cx="76200" cy="76200"/>
          </a:xfrm>
          <a:prstGeom prst="ellipse">
            <a:avLst/>
          </a:prstGeom>
          <a:solidFill>
            <a:srgbClr val="00A8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phase-node-3">
            <a:extLst>
              <a:ext uri="{FF2B5EF4-FFF2-40B4-BE49-F238E27FC236}">
                <a16:creationId xmlns:a16="http://schemas.microsoft.com/office/drawing/2014/main" id="{73F3B7D3-55FF-414A-AD4B-70FE1B9B6B2E}"/>
              </a:ext>
            </a:extLst>
          </p:cNvPr>
          <p:cNvSpPr>
            <a:spLocks noGrp="1"/>
          </p:cNvSpPr>
          <p:nvPr/>
        </p:nvSpPr>
        <p:spPr>
          <a:xfrm>
            <a:off x="10363200" y="4752975"/>
            <a:ext cx="76200" cy="76200"/>
          </a:xfrm>
          <a:prstGeom prst="ellipse">
            <a:avLst/>
          </a:prstGeom>
          <a:solidFill>
            <a:srgbClr val="6D5C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phase-node-4">
            <a:extLst>
              <a:ext uri="{FF2B5EF4-FFF2-40B4-BE49-F238E27FC236}">
                <a16:creationId xmlns:a16="http://schemas.microsoft.com/office/drawing/2014/main" id="{A67AEE7F-4640-4875-8C30-E4EC10DC8FF7}"/>
              </a:ext>
            </a:extLst>
          </p:cNvPr>
          <p:cNvSpPr>
            <a:spLocks noGrp="1"/>
          </p:cNvSpPr>
          <p:nvPr/>
        </p:nvSpPr>
        <p:spPr>
          <a:xfrm>
            <a:off x="10915650" y="4133850"/>
            <a:ext cx="76200" cy="76200"/>
          </a:xfrm>
          <a:prstGeom prst="ellipse">
            <a:avLst/>
          </a:prstGeom>
          <a:solidFill>
            <a:srgbClr val="00A8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visual-caption">
            <a:extLst>
              <a:ext uri="{FF2B5EF4-FFF2-40B4-BE49-F238E27FC236}">
                <a16:creationId xmlns:a16="http://schemas.microsoft.com/office/drawing/2014/main" id="{3813BB3B-73E5-4C61-B7FF-AB75F0BC4108}"/>
              </a:ext>
            </a:extLst>
          </p:cNvPr>
          <p:cNvSpPr>
            <a:spLocks noGrp="1"/>
          </p:cNvSpPr>
          <p:nvPr/>
        </p:nvSpPr>
        <p:spPr>
          <a:xfrm>
            <a:off x="7381875" y="531495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26079"/>
                </a:solidFill>
                <a:latin typeface="Aptos"/>
                <a:ea typeface="Aptos"/>
                <a:cs typeface="Aptos"/>
              </a:rPr>
              <a:t>quantum circuit  →  constructive + destructive interference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7A64F9B6-58C1-419B-A3FF-050D7DEC6EF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0"/>
          </a:xfrm>
          <a:prstGeom prst="line">
            <a:avLst/>
          </a:prstGeom>
          <a:noFill/>
          <a:ln w="14288">
            <a:solidFill>
              <a:srgbClr val="DDF5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footer-mark">
            <a:extLst>
              <a:ext uri="{FF2B5EF4-FFF2-40B4-BE49-F238E27FC236}">
                <a16:creationId xmlns:a16="http://schemas.microsoft.com/office/drawing/2014/main" id="{77CDF4B2-6036-4E85-8873-CC5326F9046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" cy="85725"/>
          </a:xfrm>
          <a:prstGeom prst="rect">
            <a:avLst/>
          </a:prstGeom>
          <a:solidFill>
            <a:srgbClr val="00A8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FB377338-9CFA-41D8-81F8-16C5D146612A}"/>
              </a:ext>
            </a:extLst>
          </p:cNvPr>
          <p:cNvSpPr>
            <a:spLocks noGrp="1"/>
          </p:cNvSpPr>
          <p:nvPr/>
        </p:nvSpPr>
        <p:spPr>
          <a:xfrm>
            <a:off x="895350" y="63150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52607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079"/>
                </a:solidFill>
                <a:latin typeface="Aptos"/>
                <a:ea typeface="Aptos"/>
                <a:cs typeface="Aptos"/>
              </a:rPr>
              <a:t>Unit 3 | Quantum Advantage and Challenges</a:t>
            </a:r>
          </a:p>
        </p:txBody>
      </p:sp>
      <p:sp>
        <p:nvSpPr>
          <p:cNvPr id="46" name="page-number">
            <a:extLst>
              <a:ext uri="{FF2B5EF4-FFF2-40B4-BE49-F238E27FC236}">
                <a16:creationId xmlns:a16="http://schemas.microsoft.com/office/drawing/2014/main" id="{6AE50A0A-6241-47D4-97F1-BDA2EC83B093}"/>
              </a:ext>
            </a:extLst>
          </p:cNvPr>
          <p:cNvSpPr>
            <a:spLocks noGrp="1"/>
          </p:cNvSpPr>
          <p:nvPr/>
        </p:nvSpPr>
        <p:spPr>
          <a:xfrm>
            <a:off x="10972800" y="6315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050" b="1">
                <a:solidFill>
                  <a:srgbClr val="00A8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8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481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top-rule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2032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yan-accent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slide-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0B1736"/>
                </a:solidFill>
                <a:latin typeface="Aptos Display"/>
              </a:rPr>
              <a:t>Students will learn to analyse—and build—core quantum algorithms</a:t>
            </a:r>
          </a:p>
        </p:txBody>
      </p:sp>
      <p:sp>
        <p:nvSpPr>
          <p:cNvPr id="6" name="framing-line"/>
          <p:cNvSpPr txBox="1"/>
          <p:nvPr/>
        </p:nvSpPr>
        <p:spPr>
          <a:xfrm>
            <a:off x="685800" y="1399032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26079"/>
                </a:solidFill>
                <a:latin typeface="Aptos"/>
              </a:rPr>
              <a:t>By the end of the session, students should be able to:</a:t>
            </a:r>
          </a:p>
        </p:txBody>
      </p:sp>
      <p:cxnSp>
        <p:nvCxnSpPr>
          <p:cNvPr id="7" name="column-divider"/>
          <p:cNvCxnSpPr/>
          <p:nvPr/>
        </p:nvCxnSpPr>
        <p:spPr>
          <a:xfrm>
            <a:off x="6016752" y="1783080"/>
            <a:ext cx="0" cy="4087368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odels-header"/>
          <p:cNvSpPr txBox="1"/>
          <p:nvPr/>
        </p:nvSpPr>
        <p:spPr>
          <a:xfrm>
            <a:off x="685800" y="1810512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MODELS &amp; COMPLEXITY</a:t>
            </a:r>
          </a:p>
        </p:txBody>
      </p:sp>
      <p:cxnSp>
        <p:nvCxnSpPr>
          <p:cNvPr id="9" name="models-header-rule"/>
          <p:cNvCxnSpPr/>
          <p:nvPr/>
        </p:nvCxnSpPr>
        <p:spPr>
          <a:xfrm>
            <a:off x="685800" y="2066543"/>
            <a:ext cx="4892040" cy="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bjective-01-number"/>
          <p:cNvSpPr txBox="1"/>
          <p:nvPr/>
        </p:nvSpPr>
        <p:spPr>
          <a:xfrm>
            <a:off x="685800" y="2176272"/>
            <a:ext cx="3474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8E8"/>
                </a:solidFill>
                <a:latin typeface="Aptos"/>
              </a:rPr>
              <a:t>01</a:t>
            </a:r>
          </a:p>
        </p:txBody>
      </p:sp>
      <p:sp>
        <p:nvSpPr>
          <p:cNvPr id="11" name="objective-01-text"/>
          <p:cNvSpPr txBox="1"/>
          <p:nvPr/>
        </p:nvSpPr>
        <p:spPr>
          <a:xfrm>
            <a:off x="1124712" y="2176272"/>
            <a:ext cx="44531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Explain the computational model used to analyse quantum algorithms.</a:t>
            </a:r>
          </a:p>
        </p:txBody>
      </p:sp>
      <p:sp>
        <p:nvSpPr>
          <p:cNvPr id="12" name="objective-02-number"/>
          <p:cNvSpPr txBox="1"/>
          <p:nvPr/>
        </p:nvSpPr>
        <p:spPr>
          <a:xfrm>
            <a:off x="685800" y="2724912"/>
            <a:ext cx="3474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8E8"/>
                </a:solidFill>
                <a:latin typeface="Aptos"/>
              </a:rPr>
              <a:t>02</a:t>
            </a:r>
          </a:p>
        </p:txBody>
      </p:sp>
      <p:sp>
        <p:nvSpPr>
          <p:cNvPr id="13" name="objective-02-text"/>
          <p:cNvSpPr txBox="1"/>
          <p:nvPr/>
        </p:nvSpPr>
        <p:spPr>
          <a:xfrm>
            <a:off x="1124712" y="2724912"/>
            <a:ext cx="4453127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Distinguish circuit, query and communication complexity.</a:t>
            </a:r>
          </a:p>
        </p:txBody>
      </p:sp>
      <p:sp>
        <p:nvSpPr>
          <p:cNvPr id="14" name="mechanisms-header"/>
          <p:cNvSpPr txBox="1"/>
          <p:nvPr/>
        </p:nvSpPr>
        <p:spPr>
          <a:xfrm>
            <a:off x="685800" y="3319272"/>
            <a:ext cx="4892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D5CE7"/>
                </a:solidFill>
                <a:latin typeface="Aptos"/>
              </a:rPr>
              <a:t>QUANTUM MECHANISMS</a:t>
            </a:r>
          </a:p>
        </p:txBody>
      </p:sp>
      <p:cxnSp>
        <p:nvCxnSpPr>
          <p:cNvPr id="15" name="mechanisms-header-rule"/>
          <p:cNvCxnSpPr/>
          <p:nvPr/>
        </p:nvCxnSpPr>
        <p:spPr>
          <a:xfrm>
            <a:off x="685800" y="3575304"/>
            <a:ext cx="4892040" cy="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bjective-03-number"/>
          <p:cNvSpPr txBox="1"/>
          <p:nvPr/>
        </p:nvSpPr>
        <p:spPr>
          <a:xfrm>
            <a:off x="685800" y="3694176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03</a:t>
            </a:r>
          </a:p>
        </p:txBody>
      </p:sp>
      <p:sp>
        <p:nvSpPr>
          <p:cNvPr id="17" name="objective-03-text"/>
          <p:cNvSpPr txBox="1"/>
          <p:nvPr/>
        </p:nvSpPr>
        <p:spPr>
          <a:xfrm>
            <a:off x="1124712" y="3694176"/>
            <a:ext cx="44531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Explain quantum parallelism using the Walsh–Hadamard transform.</a:t>
            </a:r>
          </a:p>
        </p:txBody>
      </p:sp>
      <p:sp>
        <p:nvSpPr>
          <p:cNvPr id="18" name="objective-04-number"/>
          <p:cNvSpPr txBox="1"/>
          <p:nvPr/>
        </p:nvSpPr>
        <p:spPr>
          <a:xfrm>
            <a:off x="685800" y="4279392"/>
            <a:ext cx="3474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04</a:t>
            </a:r>
          </a:p>
        </p:txBody>
      </p:sp>
      <p:sp>
        <p:nvSpPr>
          <p:cNvPr id="19" name="objective-04-text"/>
          <p:cNvSpPr txBox="1"/>
          <p:nvPr/>
        </p:nvSpPr>
        <p:spPr>
          <a:xfrm>
            <a:off x="1124712" y="4279392"/>
            <a:ext cx="4453127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Construct and interpret marking and phase oracles.</a:t>
            </a:r>
          </a:p>
        </p:txBody>
      </p:sp>
      <p:sp>
        <p:nvSpPr>
          <p:cNvPr id="20" name="objective-05-number"/>
          <p:cNvSpPr txBox="1"/>
          <p:nvPr/>
        </p:nvSpPr>
        <p:spPr>
          <a:xfrm>
            <a:off x="685800" y="4837176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05</a:t>
            </a:r>
          </a:p>
        </p:txBody>
      </p:sp>
      <p:sp>
        <p:nvSpPr>
          <p:cNvPr id="21" name="objective-05-text"/>
          <p:cNvSpPr txBox="1"/>
          <p:nvPr/>
        </p:nvSpPr>
        <p:spPr>
          <a:xfrm>
            <a:off x="1124712" y="4837176"/>
            <a:ext cx="445312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Derive phase kickback.</a:t>
            </a:r>
          </a:p>
        </p:txBody>
      </p:sp>
      <p:sp>
        <p:nvSpPr>
          <p:cNvPr id="22" name="interference-header"/>
          <p:cNvSpPr txBox="1"/>
          <p:nvPr/>
        </p:nvSpPr>
        <p:spPr>
          <a:xfrm>
            <a:off x="6382512" y="181051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INTERFERENCE &amp; TRANSFORMS</a:t>
            </a:r>
          </a:p>
        </p:txBody>
      </p:sp>
      <p:cxnSp>
        <p:nvCxnSpPr>
          <p:cNvPr id="23" name="interference-header-rule"/>
          <p:cNvCxnSpPr/>
          <p:nvPr/>
        </p:nvCxnSpPr>
        <p:spPr>
          <a:xfrm>
            <a:off x="6382512" y="2066543"/>
            <a:ext cx="5120640" cy="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bjective-06-number"/>
          <p:cNvSpPr txBox="1"/>
          <p:nvPr/>
        </p:nvSpPr>
        <p:spPr>
          <a:xfrm>
            <a:off x="6382512" y="2176272"/>
            <a:ext cx="3474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8E8"/>
                </a:solidFill>
                <a:latin typeface="Aptos"/>
              </a:rPr>
              <a:t>06</a:t>
            </a:r>
          </a:p>
        </p:txBody>
      </p:sp>
      <p:sp>
        <p:nvSpPr>
          <p:cNvPr id="25" name="objective-06-text"/>
          <p:cNvSpPr txBox="1"/>
          <p:nvPr/>
        </p:nvSpPr>
        <p:spPr>
          <a:xfrm>
            <a:off x="6821424" y="2176272"/>
            <a:ext cx="4681727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Explain the role of interference in quantum algorithms.</a:t>
            </a:r>
          </a:p>
        </p:txBody>
      </p:sp>
      <p:sp>
        <p:nvSpPr>
          <p:cNvPr id="26" name="objective-07-number"/>
          <p:cNvSpPr txBox="1"/>
          <p:nvPr/>
        </p:nvSpPr>
        <p:spPr>
          <a:xfrm>
            <a:off x="6382512" y="272491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8E8"/>
                </a:solidFill>
                <a:latin typeface="Aptos"/>
              </a:rPr>
              <a:t>07</a:t>
            </a:r>
          </a:p>
        </p:txBody>
      </p:sp>
      <p:sp>
        <p:nvSpPr>
          <p:cNvPr id="27" name="objective-07-text"/>
          <p:cNvSpPr txBox="1"/>
          <p:nvPr/>
        </p:nvSpPr>
        <p:spPr>
          <a:xfrm>
            <a:off x="6821424" y="2724912"/>
            <a:ext cx="46817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Describe the QFT and its relationship to quantum algorithms.</a:t>
            </a:r>
          </a:p>
        </p:txBody>
      </p:sp>
      <p:sp>
        <p:nvSpPr>
          <p:cNvPr id="28" name="algorithms-header"/>
          <p:cNvSpPr txBox="1"/>
          <p:nvPr/>
        </p:nvSpPr>
        <p:spPr>
          <a:xfrm>
            <a:off x="6382512" y="3319272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6D5CE7"/>
                </a:solidFill>
                <a:latin typeface="Aptos"/>
              </a:rPr>
              <a:t>ALGORITHMS &amp; CONNECTIONS</a:t>
            </a:r>
          </a:p>
        </p:txBody>
      </p:sp>
      <p:cxnSp>
        <p:nvCxnSpPr>
          <p:cNvPr id="29" name="algorithms-header-rule"/>
          <p:cNvCxnSpPr/>
          <p:nvPr/>
        </p:nvCxnSpPr>
        <p:spPr>
          <a:xfrm>
            <a:off x="6382512" y="3575304"/>
            <a:ext cx="5120640" cy="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bjective-08-number"/>
          <p:cNvSpPr txBox="1"/>
          <p:nvPr/>
        </p:nvSpPr>
        <p:spPr>
          <a:xfrm>
            <a:off x="6382512" y="3694176"/>
            <a:ext cx="3474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08</a:t>
            </a:r>
          </a:p>
        </p:txBody>
      </p:sp>
      <p:sp>
        <p:nvSpPr>
          <p:cNvPr id="31" name="objective-08-text"/>
          <p:cNvSpPr txBox="1"/>
          <p:nvPr/>
        </p:nvSpPr>
        <p:spPr>
          <a:xfrm>
            <a:off x="6821424" y="3694176"/>
            <a:ext cx="46817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Implement/analyse Deutsch, Deutsch–Jozsa, Bernstein–Vazirani and Simon's algorithms.</a:t>
            </a:r>
          </a:p>
        </p:txBody>
      </p:sp>
      <p:sp>
        <p:nvSpPr>
          <p:cNvPr id="32" name="objective-09-number"/>
          <p:cNvSpPr txBox="1"/>
          <p:nvPr/>
        </p:nvSpPr>
        <p:spPr>
          <a:xfrm>
            <a:off x="6382512" y="4434840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09</a:t>
            </a:r>
          </a:p>
        </p:txBody>
      </p:sp>
      <p:sp>
        <p:nvSpPr>
          <p:cNvPr id="33" name="objective-09-text"/>
          <p:cNvSpPr txBox="1"/>
          <p:nvPr/>
        </p:nvSpPr>
        <p:spPr>
          <a:xfrm>
            <a:off x="6821424" y="4434840"/>
            <a:ext cx="4681727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Construct simple quantum oracles.</a:t>
            </a:r>
          </a:p>
        </p:txBody>
      </p:sp>
      <p:sp>
        <p:nvSpPr>
          <p:cNvPr id="34" name="objective-10-number"/>
          <p:cNvSpPr txBox="1"/>
          <p:nvPr/>
        </p:nvSpPr>
        <p:spPr>
          <a:xfrm>
            <a:off x="6382512" y="494690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6D5CE7"/>
                </a:solidFill>
                <a:latin typeface="Aptos"/>
              </a:rPr>
              <a:t>10</a:t>
            </a:r>
          </a:p>
        </p:txBody>
      </p:sp>
      <p:sp>
        <p:nvSpPr>
          <p:cNvPr id="35" name="objective-10-text"/>
          <p:cNvSpPr txBox="1"/>
          <p:nvPr/>
        </p:nvSpPr>
        <p:spPr>
          <a:xfrm>
            <a:off x="6821424" y="4946904"/>
            <a:ext cx="468172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0B1736"/>
                </a:solidFill>
                <a:latin typeface="Aptos"/>
              </a:rPr>
              <a:t>Identify how Simon's algorithm motivates Shor's algorithm.</a:t>
            </a:r>
          </a:p>
        </p:txBody>
      </p:sp>
      <p:cxnSp>
        <p:nvCxnSpPr>
          <p:cNvPr id="36" name="footer-rule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ooter-mark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ooter"/>
          <p:cNvSpPr txBox="1"/>
          <p:nvPr/>
        </p:nvSpPr>
        <p:spPr>
          <a:xfrm>
            <a:off x="896112" y="6309360"/>
            <a:ext cx="44348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0927080" y="6309360"/>
            <a:ext cx="5760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00A8E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top-rule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2032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yan-accent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COURSE ROADMAP</a:t>
            </a:r>
          </a:p>
        </p:txBody>
      </p:sp>
      <p:sp>
        <p:nvSpPr>
          <p:cNvPr id="5" name="slide-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0B1736"/>
                </a:solidFill>
                <a:latin typeface="Aptos Display"/>
              </a:rPr>
              <a:t>Unit 3 turns quantum foundations into algorithmic advantage</a:t>
            </a:r>
          </a:p>
        </p:txBody>
      </p:sp>
      <p:cxnSp>
        <p:nvCxnSpPr>
          <p:cNvPr id="6" name="footer-rule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-mark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0927080" y="6309360"/>
            <a:ext cx="5760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00A8E8"/>
                </a:solidFill>
                <a:latin typeface="Aptos"/>
              </a:rPr>
              <a:t>03</a:t>
            </a:r>
          </a:p>
        </p:txBody>
      </p:sp>
      <p:sp>
        <p:nvSpPr>
          <p:cNvPr id="10" name="continuity"/>
          <p:cNvSpPr txBox="1"/>
          <p:nvPr/>
        </p:nvSpPr>
        <p:spPr>
          <a:xfrm>
            <a:off x="685800" y="1417320"/>
            <a:ext cx="10744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26079"/>
                </a:solidFill>
                <a:latin typeface="Aptos"/>
              </a:rPr>
              <a:t>This establishes continuity with your previous units.</a:t>
            </a:r>
          </a:p>
        </p:txBody>
      </p:sp>
      <p:cxnSp>
        <p:nvCxnSpPr>
          <p:cNvPr id="11" name="roadmap-backbone"/>
          <p:cNvCxnSpPr/>
          <p:nvPr/>
        </p:nvCxnSpPr>
        <p:spPr>
          <a:xfrm>
            <a:off x="1051560" y="2971800"/>
            <a:ext cx="9966960" cy="0"/>
          </a:xfrm>
          <a:prstGeom prst="line">
            <a:avLst/>
          </a:prstGeom>
          <a:ln w="381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nchor-01"/>
          <p:cNvSpPr/>
          <p:nvPr/>
        </p:nvSpPr>
        <p:spPr>
          <a:xfrm>
            <a:off x="1024128" y="2816352"/>
            <a:ext cx="310896" cy="31089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ge-num-01"/>
          <p:cNvSpPr txBox="1"/>
          <p:nvPr/>
        </p:nvSpPr>
        <p:spPr>
          <a:xfrm>
            <a:off x="978408" y="1847088"/>
            <a:ext cx="4023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4" name="stage-kicker-01"/>
          <p:cNvSpPr txBox="1"/>
          <p:nvPr/>
        </p:nvSpPr>
        <p:spPr>
          <a:xfrm>
            <a:off x="914400" y="23042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  <a:latin typeface="Aptos"/>
              </a:rPr>
              <a:t>UNIT 1</a:t>
            </a:r>
          </a:p>
        </p:txBody>
      </p:sp>
      <p:sp>
        <p:nvSpPr>
          <p:cNvPr id="15" name="stage-label-01"/>
          <p:cNvSpPr txBox="1"/>
          <p:nvPr/>
        </p:nvSpPr>
        <p:spPr>
          <a:xfrm>
            <a:off x="914400" y="2523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B1736"/>
                </a:solidFill>
                <a:latin typeface="Aptos"/>
              </a:rPr>
              <a:t>FOUNDATIONS</a:t>
            </a:r>
          </a:p>
        </p:txBody>
      </p:sp>
      <p:sp>
        <p:nvSpPr>
          <p:cNvPr id="16" name="anchor-02"/>
          <p:cNvSpPr/>
          <p:nvPr/>
        </p:nvSpPr>
        <p:spPr>
          <a:xfrm>
            <a:off x="3730752" y="2816352"/>
            <a:ext cx="310896" cy="31089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age-num-02"/>
          <p:cNvSpPr txBox="1"/>
          <p:nvPr/>
        </p:nvSpPr>
        <p:spPr>
          <a:xfrm>
            <a:off x="3685032" y="1847088"/>
            <a:ext cx="4023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stage-kicker-02"/>
          <p:cNvSpPr txBox="1"/>
          <p:nvPr/>
        </p:nvSpPr>
        <p:spPr>
          <a:xfrm>
            <a:off x="3621024" y="23042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D5CE7"/>
                </a:solidFill>
                <a:latin typeface="Aptos"/>
              </a:rPr>
              <a:t>UNIT 2</a:t>
            </a:r>
          </a:p>
        </p:txBody>
      </p:sp>
      <p:sp>
        <p:nvSpPr>
          <p:cNvPr id="19" name="stage-label-02"/>
          <p:cNvSpPr txBox="1"/>
          <p:nvPr/>
        </p:nvSpPr>
        <p:spPr>
          <a:xfrm>
            <a:off x="3621024" y="2523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B1736"/>
                </a:solidFill>
                <a:latin typeface="Aptos"/>
              </a:rPr>
              <a:t>QUANTUM TOOLKIT</a:t>
            </a:r>
          </a:p>
        </p:txBody>
      </p:sp>
      <p:sp>
        <p:nvSpPr>
          <p:cNvPr id="20" name="anchor-03"/>
          <p:cNvSpPr/>
          <p:nvPr/>
        </p:nvSpPr>
        <p:spPr>
          <a:xfrm>
            <a:off x="6419088" y="2816352"/>
            <a:ext cx="310896" cy="31089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ge-num-03"/>
          <p:cNvSpPr txBox="1"/>
          <p:nvPr/>
        </p:nvSpPr>
        <p:spPr>
          <a:xfrm>
            <a:off x="6373368" y="1847088"/>
            <a:ext cx="4023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2" name="stage-kicker-03"/>
          <p:cNvSpPr txBox="1"/>
          <p:nvPr/>
        </p:nvSpPr>
        <p:spPr>
          <a:xfrm>
            <a:off x="6309359" y="23042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  <a:latin typeface="Aptos"/>
              </a:rPr>
              <a:t>UNIT 3</a:t>
            </a:r>
          </a:p>
        </p:txBody>
      </p:sp>
      <p:sp>
        <p:nvSpPr>
          <p:cNvPr id="23" name="stage-label-03"/>
          <p:cNvSpPr txBox="1"/>
          <p:nvPr/>
        </p:nvSpPr>
        <p:spPr>
          <a:xfrm>
            <a:off x="6309359" y="2523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B1736"/>
                </a:solidFill>
                <a:latin typeface="Aptos"/>
              </a:rPr>
              <a:t>QUANTUM ALGORITHMS</a:t>
            </a:r>
          </a:p>
        </p:txBody>
      </p:sp>
      <p:sp>
        <p:nvSpPr>
          <p:cNvPr id="24" name="anchor-04"/>
          <p:cNvSpPr/>
          <p:nvPr/>
        </p:nvSpPr>
        <p:spPr>
          <a:xfrm>
            <a:off x="9125712" y="2816352"/>
            <a:ext cx="310896" cy="31089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age-num-04"/>
          <p:cNvSpPr txBox="1"/>
          <p:nvPr/>
        </p:nvSpPr>
        <p:spPr>
          <a:xfrm>
            <a:off x="9079992" y="1847088"/>
            <a:ext cx="402336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26" name="stage-kicker-04"/>
          <p:cNvSpPr txBox="1"/>
          <p:nvPr/>
        </p:nvSpPr>
        <p:spPr>
          <a:xfrm>
            <a:off x="9015984" y="23042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D5CE7"/>
                </a:solidFill>
                <a:latin typeface="Aptos"/>
              </a:rPr>
              <a:t>LATER</a:t>
            </a:r>
          </a:p>
        </p:txBody>
      </p:sp>
      <p:sp>
        <p:nvSpPr>
          <p:cNvPr id="27" name="stage-label-04"/>
          <p:cNvSpPr txBox="1"/>
          <p:nvPr/>
        </p:nvSpPr>
        <p:spPr>
          <a:xfrm>
            <a:off x="9015984" y="2523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B1736"/>
                </a:solidFill>
                <a:latin typeface="Aptos"/>
              </a:rPr>
              <a:t>ADVANTAGE AT SCALE</a:t>
            </a:r>
          </a:p>
        </p:txBody>
      </p:sp>
      <p:sp>
        <p:nvSpPr>
          <p:cNvPr id="28" name="unit3-halo"/>
          <p:cNvSpPr/>
          <p:nvPr/>
        </p:nvSpPr>
        <p:spPr>
          <a:xfrm>
            <a:off x="6263640" y="2660904"/>
            <a:ext cx="621792" cy="621792"/>
          </a:xfrm>
          <a:prstGeom prst="ellipse">
            <a:avLst/>
          </a:prstGeom>
          <a:solidFill>
            <a:srgbClr val="D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unit3-anchor-front"/>
          <p:cNvSpPr/>
          <p:nvPr/>
        </p:nvSpPr>
        <p:spPr>
          <a:xfrm>
            <a:off x="6419088" y="2816352"/>
            <a:ext cx="310896" cy="310896"/>
          </a:xfrm>
          <a:prstGeom prst="ellipse">
            <a:avLst/>
          </a:prstGeom>
          <a:solidFill>
            <a:srgbClr val="FFFFFF"/>
          </a:solidFill>
          <a:ln w="304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nit1-topics"/>
          <p:cNvSpPr txBox="1"/>
          <p:nvPr/>
        </p:nvSpPr>
        <p:spPr>
          <a:xfrm>
            <a:off x="914400" y="3319272"/>
            <a:ext cx="1993392" cy="1618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Linear algebra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Complexity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Classical computation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Quantum foundations</a:t>
            </a:r>
          </a:p>
          <a:p>
            <a:pPr algn="l">
              <a:lnSpc>
                <a:spcPct val="122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Programming</a:t>
            </a:r>
          </a:p>
        </p:txBody>
      </p:sp>
      <p:sp>
        <p:nvSpPr>
          <p:cNvPr id="31" name="unit2-topics"/>
          <p:cNvSpPr txBox="1"/>
          <p:nvPr/>
        </p:nvSpPr>
        <p:spPr>
          <a:xfrm>
            <a:off x="3639312" y="3319272"/>
            <a:ext cx="1993392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Qubits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Multi-qubits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Gates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Circuits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Measurement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QEC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Quantum programming</a:t>
            </a:r>
          </a:p>
        </p:txBody>
      </p:sp>
      <p:sp>
        <p:nvSpPr>
          <p:cNvPr id="32" name="unit3-focus"/>
          <p:cNvSpPr txBox="1"/>
          <p:nvPr/>
        </p:nvSpPr>
        <p:spPr>
          <a:xfrm>
            <a:off x="6327648" y="3383280"/>
            <a:ext cx="2176272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0B1736"/>
                </a:solidFill>
                <a:latin typeface="Aptos Display"/>
              </a:rPr>
              <a:t>Quantum
Algorithms</a:t>
            </a:r>
          </a:p>
        </p:txBody>
      </p:sp>
      <p:sp>
        <p:nvSpPr>
          <p:cNvPr id="33" name="unit3-underline"/>
          <p:cNvSpPr/>
          <p:nvPr/>
        </p:nvSpPr>
        <p:spPr>
          <a:xfrm>
            <a:off x="6327648" y="4718304"/>
            <a:ext cx="105156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later-topics"/>
          <p:cNvSpPr txBox="1"/>
          <p:nvPr/>
        </p:nvSpPr>
        <p:spPr>
          <a:xfrm>
            <a:off x="9015984" y="3319272"/>
            <a:ext cx="2148840" cy="1618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Grover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Shor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Quantum simulation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0B1736"/>
                </a:solidFill>
                <a:latin typeface="Aptos"/>
              </a:rPr>
              <a:t>Variational algorithms</a:t>
            </a:r>
          </a:p>
        </p:txBody>
      </p:sp>
      <p:sp>
        <p:nvSpPr>
          <p:cNvPr id="35" name="progression-arrow-1"/>
          <p:cNvSpPr txBox="1"/>
          <p:nvPr/>
        </p:nvSpPr>
        <p:spPr>
          <a:xfrm>
            <a:off x="2999232" y="278892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9AA6B9"/>
                </a:solidFill>
                <a:latin typeface="Aptos Display"/>
              </a:rPr>
              <a:t>→</a:t>
            </a:r>
          </a:p>
        </p:txBody>
      </p:sp>
      <p:sp>
        <p:nvSpPr>
          <p:cNvPr id="36" name="progression-arrow-2"/>
          <p:cNvSpPr txBox="1"/>
          <p:nvPr/>
        </p:nvSpPr>
        <p:spPr>
          <a:xfrm>
            <a:off x="5696712" y="278892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9AA6B9"/>
                </a:solidFill>
                <a:latin typeface="Aptos Display"/>
              </a:rPr>
              <a:t>→</a:t>
            </a:r>
          </a:p>
        </p:txBody>
      </p:sp>
      <p:sp>
        <p:nvSpPr>
          <p:cNvPr id="37" name="progression-arrow-3"/>
          <p:cNvSpPr txBox="1"/>
          <p:nvPr/>
        </p:nvSpPr>
        <p:spPr>
          <a:xfrm>
            <a:off x="8394192" y="278892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9AA6B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top-rule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2032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yan-accent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THE CENTRAL QUESTION</a:t>
            </a:r>
          </a:p>
        </p:txBody>
      </p:sp>
      <p:sp>
        <p:nvSpPr>
          <p:cNvPr id="5" name="slide-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0B1736"/>
                </a:solidFill>
                <a:latin typeface="Aptos Display"/>
              </a:rPr>
              <a:t>Efficiency—not possibility—is the real test of quantum advantage</a:t>
            </a:r>
          </a:p>
        </p:txBody>
      </p:sp>
      <p:cxnSp>
        <p:nvCxnSpPr>
          <p:cNvPr id="6" name="footer-rule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-mark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0927080" y="6309360"/>
            <a:ext cx="5760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00A8E8"/>
                </a:solidFill>
                <a:latin typeface="Aptos"/>
              </a:rPr>
              <a:t>04</a:t>
            </a:r>
          </a:p>
        </p:txBody>
      </p:sp>
      <p:sp>
        <p:nvSpPr>
          <p:cNvPr id="10" name="question-mark"/>
          <p:cNvSpPr txBox="1"/>
          <p:nvPr/>
        </p:nvSpPr>
        <p:spPr>
          <a:xfrm>
            <a:off x="530352" y="1444752"/>
            <a:ext cx="1078992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800" b="1">
                <a:solidFill>
                  <a:srgbClr val="DDF5FC"/>
                </a:solidFill>
                <a:latin typeface="Aptos Display"/>
              </a:rPr>
              <a:t>?</a:t>
            </a:r>
          </a:p>
        </p:txBody>
      </p:sp>
      <p:sp>
        <p:nvSpPr>
          <p:cNvPr id="11" name="central-question"/>
          <p:cNvSpPr txBox="1"/>
          <p:nvPr/>
        </p:nvSpPr>
        <p:spPr>
          <a:xfrm>
            <a:off x="1417320" y="1536192"/>
            <a:ext cx="9646920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0B1736"/>
                </a:solidFill>
                <a:latin typeface="Aptos Display"/>
              </a:rPr>
              <a:t>What can a quantum computer compute more efficiently than a classical computer?</a:t>
            </a:r>
          </a:p>
        </p:txBody>
      </p:sp>
      <p:sp>
        <p:nvSpPr>
          <p:cNvPr id="12" name="question-accent"/>
          <p:cNvSpPr/>
          <p:nvPr/>
        </p:nvSpPr>
        <p:spPr>
          <a:xfrm>
            <a:off x="1435608" y="3447288"/>
            <a:ext cx="1325880" cy="640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iagnostic-label"/>
          <p:cNvSpPr txBox="1"/>
          <p:nvPr/>
        </p:nvSpPr>
        <p:spPr>
          <a:xfrm>
            <a:off x="685800" y="3822191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THREE QUESTIONS TO ASK</a:t>
            </a:r>
          </a:p>
        </p:txBody>
      </p:sp>
      <p:sp>
        <p:nvSpPr>
          <p:cNvPr id="14" name="question-01-number"/>
          <p:cNvSpPr txBox="1"/>
          <p:nvPr/>
        </p:nvSpPr>
        <p:spPr>
          <a:xfrm>
            <a:off x="685800" y="4315968"/>
            <a:ext cx="4389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5" name="question-01-text"/>
          <p:cNvSpPr txBox="1"/>
          <p:nvPr/>
        </p:nvSpPr>
        <p:spPr>
          <a:xfrm>
            <a:off x="685800" y="4773168"/>
            <a:ext cx="292608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What is the computational problem?</a:t>
            </a:r>
          </a:p>
        </p:txBody>
      </p:sp>
      <p:cxnSp>
        <p:nvCxnSpPr>
          <p:cNvPr id="16" name="question-divider-01"/>
          <p:cNvCxnSpPr/>
          <p:nvPr/>
        </p:nvCxnSpPr>
        <p:spPr>
          <a:xfrm>
            <a:off x="3904487" y="4297680"/>
            <a:ext cx="0" cy="1389888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question-02-number"/>
          <p:cNvSpPr txBox="1"/>
          <p:nvPr/>
        </p:nvSpPr>
        <p:spPr>
          <a:xfrm>
            <a:off x="4160520" y="4315968"/>
            <a:ext cx="4389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question-02-text"/>
          <p:cNvSpPr txBox="1"/>
          <p:nvPr/>
        </p:nvSpPr>
        <p:spPr>
          <a:xfrm>
            <a:off x="4160520" y="4773168"/>
            <a:ext cx="292608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What resources does the algorithm consume?</a:t>
            </a:r>
          </a:p>
        </p:txBody>
      </p:sp>
      <p:cxnSp>
        <p:nvCxnSpPr>
          <p:cNvPr id="19" name="question-divider-02"/>
          <p:cNvCxnSpPr/>
          <p:nvPr/>
        </p:nvCxnSpPr>
        <p:spPr>
          <a:xfrm>
            <a:off x="7379208" y="4297680"/>
            <a:ext cx="0" cy="1389888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question-03-number"/>
          <p:cNvSpPr txBox="1"/>
          <p:nvPr/>
        </p:nvSpPr>
        <p:spPr>
          <a:xfrm>
            <a:off x="7662672" y="4315968"/>
            <a:ext cx="43891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1" name="question-03-text"/>
          <p:cNvSpPr txBox="1"/>
          <p:nvPr/>
        </p:nvSpPr>
        <p:spPr>
          <a:xfrm>
            <a:off x="7662672" y="4773168"/>
            <a:ext cx="292608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Where does the quantum advantage actually come from?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top-rule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2032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yan-accent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0A8E8"/>
                </a:solidFill>
                <a:latin typeface="Aptos"/>
              </a:rPr>
              <a:t>REUSABLE MENTAL MODEL</a:t>
            </a:r>
          </a:p>
        </p:txBody>
      </p:sp>
      <p:sp>
        <p:nvSpPr>
          <p:cNvPr id="5" name="slide-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0B1736"/>
                </a:solidFill>
                <a:latin typeface="Aptos Display"/>
              </a:rPr>
              <a:t>Every quantum algorithm follows the same six-stage anatomy</a:t>
            </a:r>
          </a:p>
        </p:txBody>
      </p:sp>
      <p:sp>
        <p:nvSpPr>
          <p:cNvPr id="6" name="framing-line"/>
          <p:cNvSpPr txBox="1"/>
          <p:nvPr/>
        </p:nvSpPr>
        <p:spPr>
          <a:xfrm>
            <a:off x="685800" y="1399032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526079"/>
                </a:solidFill>
                <a:latin typeface="Aptos"/>
              </a:rPr>
              <a:t>Use this sequence to construct, trace and compare every algorithm that follows.</a:t>
            </a:r>
          </a:p>
        </p:txBody>
      </p:sp>
      <p:sp>
        <p:nvSpPr>
          <p:cNvPr id="7" name="classical-in-label"/>
          <p:cNvSpPr txBox="1"/>
          <p:nvPr/>
        </p:nvSpPr>
        <p:spPr>
          <a:xfrm>
            <a:off x="713232" y="19659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526079"/>
                </a:solidFill>
                <a:latin typeface="Aptos"/>
              </a:rPr>
              <a:t>CLASSICAL</a:t>
            </a:r>
          </a:p>
        </p:txBody>
      </p:sp>
      <p:sp>
        <p:nvSpPr>
          <p:cNvPr id="8" name="quantum-label"/>
          <p:cNvSpPr txBox="1"/>
          <p:nvPr/>
        </p:nvSpPr>
        <p:spPr>
          <a:xfrm>
            <a:off x="2176272" y="1965960"/>
            <a:ext cx="7150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A8E8"/>
                </a:solidFill>
                <a:latin typeface="Aptos"/>
              </a:rPr>
              <a:t>QUANTUM PROCESSING</a:t>
            </a:r>
          </a:p>
        </p:txBody>
      </p:sp>
      <p:sp>
        <p:nvSpPr>
          <p:cNvPr id="9" name="classical-out-label"/>
          <p:cNvSpPr txBox="1"/>
          <p:nvPr/>
        </p:nvSpPr>
        <p:spPr>
          <a:xfrm>
            <a:off x="9326880" y="1965960"/>
            <a:ext cx="1993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526079"/>
                </a:solidFill>
                <a:latin typeface="Aptos"/>
              </a:rPr>
              <a:t>CLASSICAL</a:t>
            </a:r>
          </a:p>
        </p:txBody>
      </p:sp>
      <p:cxnSp>
        <p:nvCxnSpPr>
          <p:cNvPr id="10" name="classical-in-rule"/>
          <p:cNvCxnSpPr/>
          <p:nvPr/>
        </p:nvCxnSpPr>
        <p:spPr>
          <a:xfrm>
            <a:off x="749808" y="2267712"/>
            <a:ext cx="1280160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quantum-rule"/>
          <p:cNvCxnSpPr/>
          <p:nvPr/>
        </p:nvCxnSpPr>
        <p:spPr>
          <a:xfrm>
            <a:off x="2267712" y="2267712"/>
            <a:ext cx="6830568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lassical-out-rule"/>
          <p:cNvCxnSpPr/>
          <p:nvPr/>
        </p:nvCxnSpPr>
        <p:spPr>
          <a:xfrm>
            <a:off x="9400032" y="2267712"/>
            <a:ext cx="1874520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ode-01"/>
          <p:cNvSpPr/>
          <p:nvPr/>
        </p:nvSpPr>
        <p:spPr>
          <a:xfrm>
            <a:off x="722376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umber-01"/>
          <p:cNvSpPr txBox="1"/>
          <p:nvPr/>
        </p:nvSpPr>
        <p:spPr>
          <a:xfrm>
            <a:off x="722376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5" name="label-01"/>
          <p:cNvSpPr txBox="1"/>
          <p:nvPr/>
        </p:nvSpPr>
        <p:spPr>
          <a:xfrm>
            <a:off x="694944" y="3273552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Input</a:t>
            </a:r>
          </a:p>
        </p:txBody>
      </p:sp>
      <p:sp>
        <p:nvSpPr>
          <p:cNvPr id="16" name="sub-01"/>
          <p:cNvSpPr txBox="1"/>
          <p:nvPr/>
        </p:nvSpPr>
        <p:spPr>
          <a:xfrm>
            <a:off x="694944" y="4087368"/>
            <a:ext cx="1371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problem + data</a:t>
            </a:r>
          </a:p>
        </p:txBody>
      </p:sp>
      <p:sp>
        <p:nvSpPr>
          <p:cNvPr id="17" name="accent-01"/>
          <p:cNvSpPr/>
          <p:nvPr/>
        </p:nvSpPr>
        <p:spPr>
          <a:xfrm>
            <a:off x="694944" y="4690872"/>
            <a:ext cx="658368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node-02"/>
          <p:cNvSpPr/>
          <p:nvPr/>
        </p:nvSpPr>
        <p:spPr>
          <a:xfrm>
            <a:off x="2386584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umber-02"/>
          <p:cNvSpPr txBox="1"/>
          <p:nvPr/>
        </p:nvSpPr>
        <p:spPr>
          <a:xfrm>
            <a:off x="2386584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0" name="label-02"/>
          <p:cNvSpPr txBox="1"/>
          <p:nvPr/>
        </p:nvSpPr>
        <p:spPr>
          <a:xfrm>
            <a:off x="2359152" y="3273552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State
preparation</a:t>
            </a:r>
          </a:p>
        </p:txBody>
      </p:sp>
      <p:sp>
        <p:nvSpPr>
          <p:cNvPr id="21" name="sub-02"/>
          <p:cNvSpPr txBox="1"/>
          <p:nvPr/>
        </p:nvSpPr>
        <p:spPr>
          <a:xfrm>
            <a:off x="2359152" y="4087368"/>
            <a:ext cx="1371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encode amplitudes</a:t>
            </a:r>
          </a:p>
        </p:txBody>
      </p:sp>
      <p:sp>
        <p:nvSpPr>
          <p:cNvPr id="22" name="accent-02"/>
          <p:cNvSpPr/>
          <p:nvPr/>
        </p:nvSpPr>
        <p:spPr>
          <a:xfrm>
            <a:off x="2359152" y="4690872"/>
            <a:ext cx="658368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ode-03"/>
          <p:cNvSpPr/>
          <p:nvPr/>
        </p:nvSpPr>
        <p:spPr>
          <a:xfrm>
            <a:off x="4050792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umber-03"/>
          <p:cNvSpPr txBox="1"/>
          <p:nvPr/>
        </p:nvSpPr>
        <p:spPr>
          <a:xfrm>
            <a:off x="4050792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5" name="label-03"/>
          <p:cNvSpPr txBox="1"/>
          <p:nvPr/>
        </p:nvSpPr>
        <p:spPr>
          <a:xfrm>
            <a:off x="4023360" y="3273552"/>
            <a:ext cx="168249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1736"/>
                </a:solidFill>
                <a:latin typeface="Aptos Display"/>
              </a:rPr>
              <a:t>Quantum transformation
/ oracle</a:t>
            </a:r>
          </a:p>
        </p:txBody>
      </p:sp>
      <p:sp>
        <p:nvSpPr>
          <p:cNvPr id="26" name="sub-03"/>
          <p:cNvSpPr txBox="1"/>
          <p:nvPr/>
        </p:nvSpPr>
        <p:spPr>
          <a:xfrm>
            <a:off x="4023360" y="4087368"/>
            <a:ext cx="16824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compute or mark</a:t>
            </a:r>
          </a:p>
        </p:txBody>
      </p:sp>
      <p:sp>
        <p:nvSpPr>
          <p:cNvPr id="27" name="accent-03"/>
          <p:cNvSpPr/>
          <p:nvPr/>
        </p:nvSpPr>
        <p:spPr>
          <a:xfrm>
            <a:off x="4023360" y="4690872"/>
            <a:ext cx="658368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ode-04"/>
          <p:cNvSpPr/>
          <p:nvPr/>
        </p:nvSpPr>
        <p:spPr>
          <a:xfrm>
            <a:off x="6080760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umber-04"/>
          <p:cNvSpPr txBox="1"/>
          <p:nvPr/>
        </p:nvSpPr>
        <p:spPr>
          <a:xfrm>
            <a:off x="6080760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0" name="label-04"/>
          <p:cNvSpPr txBox="1"/>
          <p:nvPr/>
        </p:nvSpPr>
        <p:spPr>
          <a:xfrm>
            <a:off x="6053328" y="3273552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Interference</a:t>
            </a:r>
          </a:p>
        </p:txBody>
      </p:sp>
      <p:sp>
        <p:nvSpPr>
          <p:cNvPr id="31" name="sub-04"/>
          <p:cNvSpPr txBox="1"/>
          <p:nvPr/>
        </p:nvSpPr>
        <p:spPr>
          <a:xfrm>
            <a:off x="6053328" y="4087368"/>
            <a:ext cx="1371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amplify structure</a:t>
            </a:r>
          </a:p>
        </p:txBody>
      </p:sp>
      <p:sp>
        <p:nvSpPr>
          <p:cNvPr id="32" name="accent-04"/>
          <p:cNvSpPr/>
          <p:nvPr/>
        </p:nvSpPr>
        <p:spPr>
          <a:xfrm>
            <a:off x="6053328" y="4690872"/>
            <a:ext cx="658368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ode-05"/>
          <p:cNvSpPr/>
          <p:nvPr/>
        </p:nvSpPr>
        <p:spPr>
          <a:xfrm>
            <a:off x="7818119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number-05"/>
          <p:cNvSpPr txBox="1"/>
          <p:nvPr/>
        </p:nvSpPr>
        <p:spPr>
          <a:xfrm>
            <a:off x="7818119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A8E8"/>
                </a:solidFill>
                <a:latin typeface="Aptos Display"/>
              </a:rPr>
              <a:t>05</a:t>
            </a:r>
          </a:p>
        </p:txBody>
      </p:sp>
      <p:sp>
        <p:nvSpPr>
          <p:cNvPr id="35" name="label-05"/>
          <p:cNvSpPr txBox="1"/>
          <p:nvPr/>
        </p:nvSpPr>
        <p:spPr>
          <a:xfrm>
            <a:off x="7790688" y="3273552"/>
            <a:ext cx="13716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B1736"/>
                </a:solidFill>
                <a:latin typeface="Aptos Display"/>
              </a:rPr>
              <a:t>Measurement</a:t>
            </a:r>
          </a:p>
        </p:txBody>
      </p:sp>
      <p:sp>
        <p:nvSpPr>
          <p:cNvPr id="36" name="sub-05"/>
          <p:cNvSpPr txBox="1"/>
          <p:nvPr/>
        </p:nvSpPr>
        <p:spPr>
          <a:xfrm>
            <a:off x="7790688" y="4087368"/>
            <a:ext cx="13716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sample an outcome</a:t>
            </a:r>
          </a:p>
        </p:txBody>
      </p:sp>
      <p:sp>
        <p:nvSpPr>
          <p:cNvPr id="37" name="accent-05"/>
          <p:cNvSpPr/>
          <p:nvPr/>
        </p:nvSpPr>
        <p:spPr>
          <a:xfrm>
            <a:off x="7790688" y="4690872"/>
            <a:ext cx="658368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ode-06"/>
          <p:cNvSpPr/>
          <p:nvPr/>
        </p:nvSpPr>
        <p:spPr>
          <a:xfrm>
            <a:off x="9518904" y="2660904"/>
            <a:ext cx="438912" cy="43891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number-06"/>
          <p:cNvSpPr txBox="1"/>
          <p:nvPr/>
        </p:nvSpPr>
        <p:spPr>
          <a:xfrm>
            <a:off x="9518904" y="2660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D5CE7"/>
                </a:solidFill>
                <a:latin typeface="Aptos Display"/>
              </a:rPr>
              <a:t>06</a:t>
            </a:r>
          </a:p>
        </p:txBody>
      </p:sp>
      <p:sp>
        <p:nvSpPr>
          <p:cNvPr id="40" name="label-06"/>
          <p:cNvSpPr txBox="1"/>
          <p:nvPr/>
        </p:nvSpPr>
        <p:spPr>
          <a:xfrm>
            <a:off x="9491472" y="3273552"/>
            <a:ext cx="177393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B1736"/>
                </a:solidFill>
                <a:latin typeface="Aptos Display"/>
              </a:rPr>
              <a:t>Classical
post-processing</a:t>
            </a:r>
          </a:p>
        </p:txBody>
      </p:sp>
      <p:sp>
        <p:nvSpPr>
          <p:cNvPr id="41" name="sub-06"/>
          <p:cNvSpPr txBox="1"/>
          <p:nvPr/>
        </p:nvSpPr>
        <p:spPr>
          <a:xfrm>
            <a:off x="9491472" y="4087368"/>
            <a:ext cx="177393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26079"/>
                </a:solidFill>
                <a:latin typeface="Aptos"/>
              </a:rPr>
              <a:t>interpret result</a:t>
            </a:r>
          </a:p>
        </p:txBody>
      </p:sp>
      <p:sp>
        <p:nvSpPr>
          <p:cNvPr id="42" name="accent-06"/>
          <p:cNvSpPr/>
          <p:nvPr/>
        </p:nvSpPr>
        <p:spPr>
          <a:xfrm>
            <a:off x="9491472" y="4690872"/>
            <a:ext cx="658368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flow-1-2"/>
          <p:cNvCxnSpPr/>
          <p:nvPr/>
        </p:nvCxnSpPr>
        <p:spPr>
          <a:xfrm>
            <a:off x="1161288" y="2880360"/>
            <a:ext cx="1225296" cy="0"/>
          </a:xfrm>
          <a:prstGeom prst="line">
            <a:avLst/>
          </a:prstGeom>
          <a:ln w="2032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flow-2-3"/>
          <p:cNvCxnSpPr/>
          <p:nvPr/>
        </p:nvCxnSpPr>
        <p:spPr>
          <a:xfrm>
            <a:off x="2825496" y="2880360"/>
            <a:ext cx="1225296" cy="0"/>
          </a:xfrm>
          <a:prstGeom prst="line">
            <a:avLst/>
          </a:prstGeom>
          <a:ln w="2032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flow-3-4"/>
          <p:cNvCxnSpPr/>
          <p:nvPr/>
        </p:nvCxnSpPr>
        <p:spPr>
          <a:xfrm>
            <a:off x="4489704" y="2880360"/>
            <a:ext cx="1591056" cy="0"/>
          </a:xfrm>
          <a:prstGeom prst="line">
            <a:avLst/>
          </a:prstGeom>
          <a:ln w="2032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flow-4-5"/>
          <p:cNvCxnSpPr/>
          <p:nvPr/>
        </p:nvCxnSpPr>
        <p:spPr>
          <a:xfrm>
            <a:off x="6519672" y="2880360"/>
            <a:ext cx="1298447" cy="0"/>
          </a:xfrm>
          <a:prstGeom prst="line">
            <a:avLst/>
          </a:prstGeom>
          <a:ln w="2032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flow-5-6"/>
          <p:cNvCxnSpPr/>
          <p:nvPr/>
        </p:nvCxnSpPr>
        <p:spPr>
          <a:xfrm>
            <a:off x="8257031" y="2880360"/>
            <a:ext cx="1261873" cy="0"/>
          </a:xfrm>
          <a:prstGeom prst="line">
            <a:avLst/>
          </a:prstGeom>
          <a:ln w="2032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quantum-bracket"/>
          <p:cNvCxnSpPr/>
          <p:nvPr/>
        </p:nvCxnSpPr>
        <p:spPr>
          <a:xfrm>
            <a:off x="2386584" y="5074920"/>
            <a:ext cx="6757416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quantum-bracket-left"/>
          <p:cNvCxnSpPr/>
          <p:nvPr/>
        </p:nvCxnSpPr>
        <p:spPr>
          <a:xfrm flipV="1">
            <a:off x="2386584" y="4937760"/>
            <a:ext cx="0" cy="13716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quantum-bracket-right"/>
          <p:cNvCxnSpPr/>
          <p:nvPr/>
        </p:nvCxnSpPr>
        <p:spPr>
          <a:xfrm flipV="1">
            <a:off x="9144000" y="4937760"/>
            <a:ext cx="0" cy="13716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akeaway"/>
          <p:cNvSpPr txBox="1"/>
          <p:nvPr/>
        </p:nvSpPr>
        <p:spPr>
          <a:xfrm>
            <a:off x="2670048" y="5193792"/>
            <a:ext cx="61996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0A8E8"/>
                </a:solidFill>
                <a:latin typeface="Aptos Display"/>
              </a:rPr>
              <a:t>prepare → transform → interfere → measure</a:t>
            </a:r>
          </a:p>
        </p:txBody>
      </p:sp>
      <p:cxnSp>
        <p:nvCxnSpPr>
          <p:cNvPr id="52" name="footer-rule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ooter-mark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footer"/>
          <p:cNvSpPr txBox="1"/>
          <p:nvPr/>
        </p:nvSpPr>
        <p:spPr>
          <a:xfrm>
            <a:off x="896112" y="6309360"/>
            <a:ext cx="443484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0927080" y="6309360"/>
            <a:ext cx="57607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1">
                <a:solidFill>
                  <a:srgbClr val="00A8E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PART II · QUANTUM PARALLELISM · 09:15–09:55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Quantum parallelism evaluates a function across a superposition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A unitary function computation acts linearly on every basis-state amplitude.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ONE BASIS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12848"/>
            <a:ext cx="3886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B1736"/>
                </a:solidFill>
                <a:latin typeface="Cambria Math"/>
              </a:rPr>
              <a:t>|x⟩   →   |f(x)⟩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7063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26079"/>
                </a:solidFill>
                <a:latin typeface="Aptos"/>
              </a:rPr>
              <a:t>conceptual shorthand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1874519"/>
            <a:ext cx="0" cy="2651761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85232" y="1874519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A SUPERPOSITION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194560"/>
            <a:ext cx="55321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B1736"/>
                </a:solidFill>
                <a:latin typeface="Cambria Math"/>
              </a:rPr>
              <a:t>Σₓ αₓ|x⟩|0⟩</a:t>
            </a:r>
            <a:r>
              <a:rPr sz="1800" b="1" i="0">
                <a:solidFill>
                  <a:srgbClr val="00A8E8"/>
                </a:solidFill>
                <a:latin typeface="Aptos"/>
              </a:rPr>
              <a:t>   ─ Uƒ →   </a:t>
            </a:r>
            <a:r>
              <a:rPr sz="2400" b="0" i="0">
                <a:solidFill>
                  <a:srgbClr val="0B1736"/>
                </a:solidFill>
                <a:latin typeface="Cambria Math"/>
              </a:rPr>
              <a:t>Σₓ αₓ|x⟩|f(x)⟩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99008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Cambria Math"/>
              </a:rPr>
              <a:t>x = 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3090672"/>
            <a:ext cx="3721608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848088" y="3040379"/>
            <a:ext cx="100584" cy="10058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40112" y="297180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B1736"/>
                </a:solidFill>
                <a:latin typeface="Cambria Math"/>
              </a:rPr>
              <a:t>α0 · f(00)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35584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Cambria Math"/>
              </a:rPr>
              <a:t>x = 01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3456432"/>
            <a:ext cx="3721608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48088" y="3406139"/>
            <a:ext cx="100584" cy="100584"/>
          </a:xfrm>
          <a:prstGeom prst="ellipse">
            <a:avLst/>
          </a:prstGeom>
          <a:solidFill>
            <a:srgbClr val="6D5CE7"/>
          </a:solidFill>
          <a:ln w="63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0112" y="3337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B1736"/>
                </a:solidFill>
                <a:latin typeface="Cambria Math"/>
              </a:rPr>
              <a:t>α1 · f(01)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721607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Cambria Math"/>
              </a:rPr>
              <a:t>x = 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72200" y="3822191"/>
            <a:ext cx="3721608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48088" y="3771900"/>
            <a:ext cx="100584" cy="10058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2" y="370332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B1736"/>
                </a:solidFill>
                <a:latin typeface="Cambria Math"/>
              </a:rPr>
              <a:t>α2 · f(10)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08736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Cambria Math"/>
              </a:rPr>
              <a:t>x = 11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72200" y="4187952"/>
            <a:ext cx="3721608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848088" y="4137660"/>
            <a:ext cx="100584" cy="100584"/>
          </a:xfrm>
          <a:prstGeom prst="ellipse">
            <a:avLst/>
          </a:prstGeom>
          <a:solidFill>
            <a:srgbClr val="6D5CE7"/>
          </a:solidFill>
          <a:ln w="63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40112" y="406908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B1736"/>
                </a:solidFill>
                <a:latin typeface="Cambria Math"/>
              </a:rPr>
              <a:t>α3 · f(11)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800600"/>
            <a:ext cx="10305288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5047488"/>
            <a:ext cx="104698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736"/>
                </a:solidFill>
                <a:latin typeface="Aptos Display"/>
              </a:rPr>
              <a:t>Many amplitudes are computed simultaneously.  </a:t>
            </a:r>
            <a:r>
              <a:rPr sz="2000" b="1" i="0">
                <a:solidFill>
                  <a:srgbClr val="6D5CE7"/>
                </a:solidFill>
                <a:latin typeface="Aptos Display"/>
              </a:rPr>
              <a:t>They cannot all be read simultaneously.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614416"/>
            <a:ext cx="9098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26079"/>
                </a:solidFill>
                <a:latin typeface="Aptos"/>
              </a:rPr>
              <a:t>Quantum parallelism expands what the state encodes—not what one measurement reveals.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QUANTUM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n Hadamards create a uniform superposition of 2ⁿ basis states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07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41248" y="1554480"/>
                <a:ext cx="10469880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d>
                        </m:e>
                        <m:sup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7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f>
                        <m:fPr>
                          <m:ctrlP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2ⁿ</m:t>
                              </m:r>
                            </m:e>
                          </m:rad>
                        </m:den>
                      </m:f>
                      <m:r>
                        <a:rPr lang="en-US" sz="27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brk m:alnAt="23"/>
                            </m:rP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p>
                            <m:sSupPr>
                              <m:ctrlP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7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7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sz="27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554480"/>
                <a:ext cx="10469880" cy="658368"/>
              </a:xfrm>
              <a:prstGeom prst="rect">
                <a:avLst/>
              </a:prstGeom>
              <a:blipFill>
                <a:blip r:embed="rId3"/>
                <a:stretch>
                  <a:fillRect t="-34259" b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31520" y="234086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n INPUT QUBITS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340864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UNIFORM BASIS-STATE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0662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43584" y="2852928"/>
            <a:ext cx="5321808" cy="0"/>
          </a:xfrm>
          <a:prstGeom prst="line">
            <a:avLst/>
          </a:prstGeom>
          <a:ln w="1587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65960" y="2633472"/>
            <a:ext cx="438912" cy="438912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26334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30098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43584" y="3447288"/>
            <a:ext cx="5321808" cy="0"/>
          </a:xfrm>
          <a:prstGeom prst="line">
            <a:avLst/>
          </a:prstGeom>
          <a:ln w="1587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965960" y="3227832"/>
            <a:ext cx="438912" cy="438912"/>
          </a:xfrm>
          <a:prstGeom prst="rect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3227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D5CE7"/>
                </a:solidFill>
                <a:latin typeface="Aptos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89534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43584" y="4041648"/>
            <a:ext cx="5321808" cy="0"/>
          </a:xfrm>
          <a:prstGeom prst="line">
            <a:avLst/>
          </a:prstGeom>
          <a:ln w="1587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3822191"/>
            <a:ext cx="438912" cy="438912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65960" y="382219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489704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43584" y="4636008"/>
            <a:ext cx="5321808" cy="0"/>
          </a:xfrm>
          <a:prstGeom prst="line">
            <a:avLst/>
          </a:prstGeom>
          <a:ln w="1587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965960" y="4416552"/>
            <a:ext cx="438912" cy="438912"/>
          </a:xfrm>
          <a:prstGeom prst="rect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0" y="44165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D5CE7"/>
                </a:solidFill>
                <a:latin typeface="Apto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910328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A6B9"/>
                </a:solidFill>
                <a:latin typeface="Cambria Math"/>
              </a:rPr>
              <a:t>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00176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26079"/>
                </a:solidFill>
                <a:latin typeface="Aptos"/>
              </a:rPr>
              <a:t>n identical H gates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65392" y="2852928"/>
            <a:ext cx="548640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65392" y="3447288"/>
            <a:ext cx="548640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65392" y="4041648"/>
            <a:ext cx="548640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65392" y="4636008"/>
            <a:ext cx="548640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14032" y="2852928"/>
            <a:ext cx="0" cy="178308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14032" y="3739896"/>
            <a:ext cx="365760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26679" y="27432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B1736"/>
                </a:solidFill>
                <a:latin typeface="Cambria Math"/>
              </a:rPr>
              <a:t>|000…000⟩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2461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B1736"/>
                </a:solidFill>
                <a:latin typeface="Cambria Math"/>
              </a:rPr>
              <a:t>|000…001⟩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73075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9AA6B9"/>
                </a:solidFill>
                <a:latin typeface="Cambria Math"/>
              </a:rPr>
              <a:t>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31596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B1736"/>
                </a:solidFill>
                <a:latin typeface="Cambria Math"/>
              </a:rPr>
              <a:t>|111…111⟩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3538728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Aptos Display"/>
              </a:rPr>
              <a:t>2ⁿ states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56648" y="2880360"/>
            <a:ext cx="0" cy="1709928"/>
          </a:xfrm>
          <a:prstGeom prst="line">
            <a:avLst/>
          </a:prstGeom>
          <a:ln w="1651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756648" y="2880360"/>
            <a:ext cx="219456" cy="0"/>
          </a:xfrm>
          <a:prstGeom prst="line">
            <a:avLst/>
          </a:prstGeom>
          <a:ln w="1651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756648" y="4590288"/>
            <a:ext cx="219456" cy="0"/>
          </a:xfrm>
          <a:prstGeom prst="line">
            <a:avLst/>
          </a:prstGeom>
          <a:ln w="1651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296912" y="507492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Each basis state has amplitude 1/√(2ⁿ).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WALSH–HADAMARD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Walsh–Hadamard is the engine that creates the uniform superposition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The single-qubit transform scales to n qubits through the tensor product.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ONE QUBIT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B1736"/>
                </a:solidFill>
                <a:latin typeface="Cambria Math"/>
              </a:rPr>
              <a:t>H  =  1/√2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48256"/>
            <a:ext cx="1874519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B1736"/>
                </a:solidFill>
                <a:latin typeface="Cambria Math"/>
              </a:rPr>
              <a:t>⎡  1     1  ⎤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B1736"/>
                </a:solidFill>
                <a:latin typeface="Cambria Math"/>
              </a:rPr>
              <a:t>⎣  1    −1  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D5CE7"/>
                </a:solidFill>
                <a:latin typeface="Cambria Math"/>
              </a:rPr>
              <a:t>H|0⟩ = |+⟩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873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79"/>
                </a:solidFill>
                <a:latin typeface="Aptos"/>
              </a:rPr>
              <a:t>amplitude signs</a:t>
            </a:r>
          </a:p>
        </p:txBody>
      </p:sp>
      <p:sp>
        <p:nvSpPr>
          <p:cNvPr id="16" name="Oval 15"/>
          <p:cNvSpPr/>
          <p:nvPr/>
        </p:nvSpPr>
        <p:spPr>
          <a:xfrm>
            <a:off x="1627632" y="4498848"/>
            <a:ext cx="201168" cy="2011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27632" y="448056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0" y="4498848"/>
            <a:ext cx="201168" cy="2011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448056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sp>
        <p:nvSpPr>
          <p:cNvPr id="20" name="Oval 19"/>
          <p:cNvSpPr/>
          <p:nvPr/>
        </p:nvSpPr>
        <p:spPr>
          <a:xfrm>
            <a:off x="1627632" y="4974336"/>
            <a:ext cx="201168" cy="2011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27632" y="49560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sp>
        <p:nvSpPr>
          <p:cNvPr id="22" name="Oval 21"/>
          <p:cNvSpPr/>
          <p:nvPr/>
        </p:nvSpPr>
        <p:spPr>
          <a:xfrm>
            <a:off x="2286000" y="4974336"/>
            <a:ext cx="201168" cy="20116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0" y="49560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1847088"/>
            <a:ext cx="0" cy="3502152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0" y="187451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6D5CE7"/>
                </a:solidFill>
                <a:latin typeface="Aptos"/>
              </a:rPr>
              <a:t>n</a:t>
            </a:r>
            <a:r>
              <a:rPr sz="1150" b="1" i="0" dirty="0">
                <a:solidFill>
                  <a:srgbClr val="6D5CE7"/>
                </a:solidFill>
                <a:latin typeface="Aptos"/>
              </a:rPr>
              <a:t> QUBITS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5468112" y="2359152"/>
                <a:ext cx="5257800" cy="62179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400" b="0" i="1" dirty="0" smtClean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  =</m:t>
                    </m:r>
                  </m:oMath>
                </a14:m>
                <a:r>
                  <a:rPr lang="en-US" sz="2400" b="0" i="0" dirty="0">
                    <a:solidFill>
                      <a:srgbClr val="0B1736"/>
                    </a:solidFill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dirty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 dirty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ar-AE" sz="24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sz="24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ⁿ</m:t>
                            </m:r>
                          </m:e>
                        </m:rad>
                      </m:den>
                    </m:f>
                    <m:r>
                      <a:rPr lang="ar-AE" sz="2400" i="1" dirty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400" dirty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ₓ|</m:t>
                    </m:r>
                    <m:r>
                      <a:rPr lang="en-US" sz="2400" i="1" dirty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sz="24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112" y="2359152"/>
                <a:ext cx="5257800" cy="6217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650992" y="3447288"/>
            <a:ext cx="12344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B1736"/>
                </a:solidFill>
                <a:latin typeface="Cambria Math"/>
              </a:rPr>
              <a:t>|0⟩⊗ⁿ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03720" y="3694176"/>
            <a:ext cx="941832" cy="0"/>
          </a:xfrm>
          <a:prstGeom prst="line">
            <a:avLst/>
          </a:prstGeom>
          <a:ln w="2032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50608" y="3465576"/>
            <a:ext cx="475488" cy="475488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0608" y="3465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H⊗ⁿ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7973568" y="3383280"/>
                <a:ext cx="2432304" cy="62179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2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2ⁿ</m:t>
                              </m:r>
                            </m:e>
                          </m:rad>
                        </m:den>
                      </m:f>
                      <m:r>
                        <a:rPr lang="en-US" sz="22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200" b="0" i="0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200" b="0" i="1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ₓ|</m:t>
                      </m:r>
                      <m:r>
                        <a:rPr lang="en-US" sz="2200" b="0" i="1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sz="22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568" y="3383280"/>
                <a:ext cx="2432304" cy="621792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8028431" y="415137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equal magnitudes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4736592"/>
            <a:ext cx="5084064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The transform does two jobs: spread amplitude and encode phase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WALSH–HADAMARD AS A FOURIER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Hadamard is Fourier analysis over the Boolean group ℤ₂ⁿ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It converts computational-basis information into a spectrum of parity phases.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50392" y="1810512"/>
                <a:ext cx="10378440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5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5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5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⟩  = </m:t>
                      </m:r>
                      <m:f>
                        <m:fPr>
                          <m:ctrlP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5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500" b="0" i="1" dirty="0" smtClean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2ⁿ</m:t>
                              </m:r>
                            </m:e>
                          </m:rad>
                        </m:den>
                      </m:f>
                      <m:r>
                        <a:rPr lang="en-US" sz="25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l-GR" sz="2500" b="0" i="0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500" b="0" i="0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5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l-GR" sz="2500" b="0" i="1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l-GR" sz="2500" b="0" i="1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l-GR" sz="2500" b="0" i="1" dirty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500" b="0" i="1" dirty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l-GR" sz="2500" b="0" i="1" dirty="0" err="1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l-GR" sz="2500" b="0" i="1" dirty="0" err="1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l-GR" sz="2500" b="0" i="1" dirty="0" err="1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l-GR" sz="2500" b="0" i="1" dirty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⟩"/>
                          <m:ctrlPr>
                            <a:rPr lang="el-GR" sz="2500" b="0" i="1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500" b="0" i="1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sz="25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" y="1810512"/>
                <a:ext cx="10378440" cy="640080"/>
              </a:xfrm>
              <a:prstGeom prst="rect">
                <a:avLst/>
              </a:prstGeom>
              <a:blipFill>
                <a:blip r:embed="rId3"/>
                <a:stretch>
                  <a:fillRect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087368" y="248716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6079"/>
                </a:solidFill>
                <a:latin typeface="Aptos"/>
              </a:rPr>
              <a:t>x · y is the mod-2 inner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99232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BOOLEAN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47288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1736"/>
                </a:solidFill>
                <a:latin typeface="Cambria Math"/>
              </a:rPr>
              <a:t>101…01</a:t>
            </a:r>
          </a:p>
        </p:txBody>
      </p:sp>
      <p:sp>
        <p:nvSpPr>
          <p:cNvPr id="15" name="Oval 14"/>
          <p:cNvSpPr/>
          <p:nvPr/>
        </p:nvSpPr>
        <p:spPr>
          <a:xfrm>
            <a:off x="1069848" y="4160520"/>
            <a:ext cx="128016" cy="128016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44168" y="4160520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A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618487" y="4160520"/>
            <a:ext cx="128016" cy="128016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92807" y="4160520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A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67128" y="4160520"/>
            <a:ext cx="128016" cy="128016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A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441448" y="4160520"/>
            <a:ext cx="128016" cy="128016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2898648" y="3822191"/>
            <a:ext cx="1700784" cy="0"/>
          </a:xfrm>
          <a:prstGeom prst="line">
            <a:avLst/>
          </a:prstGeom>
          <a:ln w="2286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02152" y="3575304"/>
            <a:ext cx="493776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02152" y="357530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H⊗ⁿ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999232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PHASE SPECTRUM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882896" y="4032504"/>
            <a:ext cx="0" cy="310896"/>
          </a:xfrm>
          <a:prstGeom prst="line">
            <a:avLst/>
          </a:prstGeom>
          <a:ln w="381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6402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385816" y="3721608"/>
            <a:ext cx="0" cy="621792"/>
          </a:xfrm>
          <a:prstGeom prst="line">
            <a:avLst/>
          </a:prstGeom>
          <a:ln w="381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6694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−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888736" y="4032504"/>
            <a:ext cx="0" cy="310896"/>
          </a:xfrm>
          <a:prstGeom prst="line">
            <a:avLst/>
          </a:prstGeom>
          <a:ln w="381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6986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391656" y="4032504"/>
            <a:ext cx="0" cy="310896"/>
          </a:xfrm>
          <a:prstGeom prst="line">
            <a:avLst/>
          </a:prstGeom>
          <a:ln w="381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7278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894576" y="3721608"/>
            <a:ext cx="0" cy="621792"/>
          </a:xfrm>
          <a:prstGeom prst="line">
            <a:avLst/>
          </a:prstGeom>
          <a:ln w="381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7570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−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397496" y="3721608"/>
            <a:ext cx="0" cy="621792"/>
          </a:xfrm>
          <a:prstGeom prst="line">
            <a:avLst/>
          </a:prstGeom>
          <a:ln w="381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7862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−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7900416" y="4032504"/>
            <a:ext cx="0" cy="310896"/>
          </a:xfrm>
          <a:prstGeom prst="line">
            <a:avLst/>
          </a:prstGeom>
          <a:ln w="381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8154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+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403336" y="3721608"/>
            <a:ext cx="0" cy="621792"/>
          </a:xfrm>
          <a:prstGeom prst="line">
            <a:avLst/>
          </a:prstGeom>
          <a:ln w="381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84464" y="4416552"/>
            <a:ext cx="23774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9552" y="470001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6079"/>
                </a:solidFill>
                <a:latin typeface="Aptos"/>
              </a:rPr>
              <a:t>characters of ℤ₂ⁿ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89136" y="2916936"/>
            <a:ext cx="0" cy="2221992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400032" y="29992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USED LATER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343814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Deutsch–Jozsa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37033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Aptos"/>
              </a:rPr>
              <a:t>global structure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0032" y="4041648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Bernstein–Vazirani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430682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Aptos"/>
              </a:rPr>
              <a:t>hidden linear rule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464515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Simon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49103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6079"/>
                </a:solidFill>
                <a:latin typeface="Aptos"/>
              </a:rPr>
              <a:t>hidden period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THE CRUCIAL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Quantum parallelism is necessary—but not sufficient—for speedup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73352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ENCODED IN THE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Aptos Display"/>
              </a:rPr>
              <a:t>Many computations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87168"/>
            <a:ext cx="41605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6079"/>
                </a:solidFill>
                <a:latin typeface="Aptos"/>
              </a:rPr>
              <a:t>exist simultaneously as amplitudes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14984" y="3191256"/>
            <a:ext cx="54864" cy="54864"/>
          </a:xfrm>
          <a:prstGeom prst="ellipse">
            <a:avLst/>
          </a:prstGeom>
          <a:solidFill>
            <a:srgbClr val="6D5CE7"/>
          </a:solidFill>
          <a:ln w="63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08760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57400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06039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154680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09544" y="3191256"/>
            <a:ext cx="54864" cy="5486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703320" y="3136392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08760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057400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606039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660903" y="3630168"/>
            <a:ext cx="54864" cy="5486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54680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703320" y="3575304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0120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508760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057400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12264" y="4069080"/>
            <a:ext cx="54864" cy="5486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06039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154680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703320" y="40142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0120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08760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563624" y="4507992"/>
            <a:ext cx="54864" cy="5486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057400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606039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154680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703320" y="4453128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758183" y="4507992"/>
            <a:ext cx="54864" cy="54864"/>
          </a:xfrm>
          <a:prstGeom prst="ellipse">
            <a:avLst/>
          </a:prstGeom>
          <a:solidFill>
            <a:srgbClr val="00A8E8"/>
          </a:solidFill>
          <a:ln w="63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5568" y="5047488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2ⁿ complex amplitudes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090672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6D5CE7"/>
                </a:solidFill>
                <a:latin typeface="Cambria Math"/>
              </a:rPr>
              <a:t>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167335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RECOVERED BY MEASUREMENT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011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Aptos Display"/>
              </a:rPr>
              <a:t>Limited information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2487168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6079"/>
                </a:solidFill>
                <a:latin typeface="Aptos"/>
              </a:rPr>
              <a:t>one classical outcome per shot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29400" y="3127248"/>
            <a:ext cx="2011680" cy="932688"/>
          </a:xfrm>
          <a:prstGeom prst="line">
            <a:avLst/>
          </a:prstGeom>
          <a:ln w="1397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223760" y="3127248"/>
            <a:ext cx="1417320" cy="932688"/>
          </a:xfrm>
          <a:prstGeom prst="line">
            <a:avLst/>
          </a:prstGeom>
          <a:ln w="1397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18120" y="3127248"/>
            <a:ext cx="822960" cy="932688"/>
          </a:xfrm>
          <a:prstGeom prst="line">
            <a:avLst/>
          </a:prstGeom>
          <a:ln w="1397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12480" y="3127248"/>
            <a:ext cx="228600" cy="932688"/>
          </a:xfrm>
          <a:prstGeom prst="line">
            <a:avLst/>
          </a:prstGeom>
          <a:ln w="1397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641080" y="3127248"/>
            <a:ext cx="365760" cy="932688"/>
          </a:xfrm>
          <a:prstGeom prst="line">
            <a:avLst/>
          </a:prstGeom>
          <a:ln w="1397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394192" y="3822191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94192" y="38221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Aptos"/>
              </a:rPr>
              <a:t>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906256" y="4078224"/>
            <a:ext cx="749808" cy="0"/>
          </a:xfrm>
          <a:prstGeom prst="line">
            <a:avLst/>
          </a:prstGeom>
          <a:ln w="2159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720072" y="3803904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736"/>
                </a:solidFill>
                <a:latin typeface="Cambria Math"/>
              </a:rPr>
              <a:t>101…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5208" y="44256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one sample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" y="5440680"/>
            <a:ext cx="10314432" cy="566928"/>
          </a:xfrm>
          <a:prstGeom prst="rect">
            <a:avLst/>
          </a:prstGeom>
          <a:noFill/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4128" y="5477256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Aptos Display"/>
              </a:rPr>
              <a:t>Superposition alone is not a speedup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5477256"/>
            <a:ext cx="629107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superposition  +  controlled transformation  +  interference  +  measurement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WORKED EXAMPLE · TOFFOLI AND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Toffoli gate writes AND into a target qubit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The controls x and y are preserved; the target flips only when x = y = 1.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673352"/>
            <a:ext cx="48920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0B1736"/>
                </a:solidFill>
                <a:latin typeface="Cambria Math"/>
              </a:rPr>
              <a:t>½ (|00⟩ + |01⟩ + |10⟩ + |11⟩)|0⟩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TOFFOLI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2990088"/>
            <a:ext cx="4910328" cy="0"/>
          </a:xfrm>
          <a:prstGeom prst="line">
            <a:avLst/>
          </a:prstGeom>
          <a:ln w="1714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" y="3584448"/>
            <a:ext cx="4910328" cy="0"/>
          </a:xfrm>
          <a:prstGeom prst="line">
            <a:avLst/>
          </a:prstGeom>
          <a:ln w="1714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" y="4178808"/>
            <a:ext cx="4910328" cy="0"/>
          </a:xfrm>
          <a:prstGeom prst="line">
            <a:avLst/>
          </a:prstGeom>
          <a:ln w="17145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2816352"/>
            <a:ext cx="228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228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05072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sp>
        <p:nvSpPr>
          <p:cNvPr id="20" name="Oval 19"/>
          <p:cNvSpPr/>
          <p:nvPr/>
        </p:nvSpPr>
        <p:spPr>
          <a:xfrm>
            <a:off x="3332988" y="2921508"/>
            <a:ext cx="137160" cy="137160"/>
          </a:xfrm>
          <a:prstGeom prst="ellipse">
            <a:avLst/>
          </a:prstGeom>
          <a:solidFill>
            <a:srgbClr val="0B1736"/>
          </a:solidFill>
          <a:ln w="63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32988" y="3515868"/>
            <a:ext cx="137160" cy="137160"/>
          </a:xfrm>
          <a:prstGeom prst="ellipse">
            <a:avLst/>
          </a:prstGeom>
          <a:solidFill>
            <a:srgbClr val="0B1736"/>
          </a:solidFill>
          <a:ln w="63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3401568" y="2990088"/>
            <a:ext cx="0" cy="1188720"/>
          </a:xfrm>
          <a:prstGeom prst="line">
            <a:avLst/>
          </a:prstGeom>
          <a:ln w="19050">
            <a:solidFill>
              <a:srgbClr val="0B1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255264" y="4032504"/>
            <a:ext cx="292608" cy="292608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3291840" y="4178808"/>
            <a:ext cx="219456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01568" y="4069080"/>
            <a:ext cx="0" cy="219456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0" y="281635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1071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0507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Cambria Math"/>
              </a:rPr>
              <a:t>x ∧ 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791456"/>
            <a:ext cx="523036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B1736"/>
                </a:solidFill>
                <a:latin typeface="Cambria Math"/>
              </a:rPr>
              <a:t>|xy⟩|0⟩  →  |xy⟩|x ∧ y⟩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39712" y="2423160"/>
            <a:ext cx="0" cy="2843784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87184" y="246888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FOUR BASIS MAPPINGS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86207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|00⟩|0⟩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62072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286207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|00⟩|0⟩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42048" y="3218688"/>
            <a:ext cx="313639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05472" y="3364991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|01⟩|0⟩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364991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3364991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|01⟩|0⟩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42048" y="3721607"/>
            <a:ext cx="313639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205472" y="386791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|10⟩|0⟩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867912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386791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|10⟩|0⟩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42048" y="4224528"/>
            <a:ext cx="313639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05472" y="437083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|11⟩|0⟩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4370832"/>
            <a:ext cx="411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9408" y="4370832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|11⟩|1⟩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42048" y="4727448"/>
            <a:ext cx="313639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68896" y="5010912"/>
            <a:ext cx="37033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1736"/>
                </a:solidFill>
                <a:latin typeface="Cambria Math"/>
              </a:rPr>
              <a:t>output:  ½ (|000⟩ + |010⟩ + |100⟩ + </a:t>
            </a:r>
            <a:r>
              <a:rPr sz="1600" b="1" i="0">
                <a:solidFill>
                  <a:srgbClr val="6D5CE7"/>
                </a:solidFill>
                <a:latin typeface="Cambria Math"/>
              </a:rPr>
              <a:t>|111⟩</a:t>
            </a:r>
            <a:r>
              <a:rPr sz="1600" b="0" i="0">
                <a:solidFill>
                  <a:srgbClr val="0B1736"/>
                </a:solidFill>
                <a:latin typeface="Cambria Math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040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MEASUREMENT AND INFORMATION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Four answers exist in amplitudes—but one shot reveals one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We computed four AND values simultaneously. Why can’t we simply read all four?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83664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BEFORE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31136"/>
            <a:ext cx="5349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B1736"/>
                </a:solidFill>
                <a:latin typeface="Cambria Math"/>
              </a:rPr>
              <a:t>½ (|000⟩ + |010⟩ + |100⟩ + |111⟩)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1600" y="2880360"/>
            <a:ext cx="2048256" cy="822960"/>
          </a:xfrm>
          <a:prstGeom prst="line">
            <a:avLst/>
          </a:prstGeom>
          <a:ln w="127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6112" y="3657600"/>
            <a:ext cx="950976" cy="950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657600"/>
            <a:ext cx="95097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Cambria Math"/>
              </a:rPr>
              <a:t>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81728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25%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651760" y="2880360"/>
            <a:ext cx="768096" cy="822960"/>
          </a:xfrm>
          <a:prstGeom prst="line">
            <a:avLst/>
          </a:prstGeom>
          <a:ln w="127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176272" y="3657600"/>
            <a:ext cx="950976" cy="950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76272" y="3657600"/>
            <a:ext cx="95097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Cambria Math"/>
              </a:rPr>
              <a:t>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4681728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25%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19856" y="2880360"/>
            <a:ext cx="512064" cy="822960"/>
          </a:xfrm>
          <a:prstGeom prst="line">
            <a:avLst/>
          </a:prstGeom>
          <a:ln w="127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456432" y="3657600"/>
            <a:ext cx="950976" cy="950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56432" y="3657600"/>
            <a:ext cx="95097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Cambria Math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4681728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25%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19856" y="2880360"/>
            <a:ext cx="1792223" cy="822960"/>
          </a:xfrm>
          <a:prstGeom prst="line">
            <a:avLst/>
          </a:prstGeom>
          <a:ln w="127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736592" y="3657600"/>
            <a:ext cx="950976" cy="95097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3657600"/>
            <a:ext cx="95097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Cambria Math"/>
              </a:rPr>
              <a:t>111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681728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25%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27648" y="1883664"/>
            <a:ext cx="0" cy="329184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20840" y="18836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ONE MEASUREMENT SHOT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84848" y="2542032"/>
            <a:ext cx="1335024" cy="768096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84848" y="2852927"/>
            <a:ext cx="1335024" cy="457201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84848" y="3163824"/>
            <a:ext cx="1335024" cy="146304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784848" y="3310128"/>
            <a:ext cx="1335024" cy="164592"/>
          </a:xfrm>
          <a:prstGeom prst="line">
            <a:avLst/>
          </a:prstGeom>
          <a:ln w="127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973568" y="3163824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73568" y="31638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Aptos"/>
              </a:rPr>
              <a:t>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3429000"/>
            <a:ext cx="658368" cy="0"/>
          </a:xfrm>
          <a:prstGeom prst="line">
            <a:avLst/>
          </a:prstGeom>
          <a:ln w="2286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281160" y="2907792"/>
            <a:ext cx="1060704" cy="1060704"/>
          </a:xfrm>
          <a:prstGeom prst="ellipse">
            <a:avLst/>
          </a:prstGeom>
          <a:solidFill>
            <a:srgbClr val="6D5CE7"/>
          </a:solidFill>
          <a:ln w="1270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81160" y="2907792"/>
            <a:ext cx="1060704" cy="10607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 Math"/>
              </a:rPr>
              <a:t>111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4169663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sampled this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718304"/>
            <a:ext cx="4050791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"/>
              </a:rPr>
              <a:t>The other amplitudes are not returned as a classical list.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9808" y="5394960"/>
            <a:ext cx="10222992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9808" y="5559552"/>
            <a:ext cx="10314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"/>
              </a:rPr>
              <a:t>TAKEAWAY  </a:t>
            </a:r>
            <a:r>
              <a:rPr sz="1800" b="1" i="0">
                <a:solidFill>
                  <a:srgbClr val="0B1736"/>
                </a:solidFill>
                <a:latin typeface="Aptos Display"/>
              </a:rPr>
              <a:t>Quantum parallelism is a computational resource; </a:t>
            </a:r>
            <a:r>
              <a:rPr sz="1800" b="1" i="0">
                <a:solidFill>
                  <a:srgbClr val="6D5CE7"/>
                </a:solidFill>
                <a:latin typeface="Aptos Display"/>
              </a:rPr>
              <a:t>information extraction is the bottleneck.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PART III · MEASURING QUANTUM ALGORITHMIC ADVANTAGE · 10:00–10:35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Different resources require different measures of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Circuit, query and communication complexity answer distinct questions.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13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93852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96896"/>
            <a:ext cx="28803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CIRCUIT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81528"/>
            <a:ext cx="281635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Aptos Display"/>
              </a:rPr>
              <a:t>How many gates?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33087"/>
            <a:ext cx="2487168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370832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Compute performed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892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71016" y="4892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00784" y="4892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30552" y="4892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" y="5175503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71016" y="5175503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00784" y="5175503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30552" y="5175503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3767328" y="1874519"/>
            <a:ext cx="0" cy="3465577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096512" y="193852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96512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2596896"/>
            <a:ext cx="28803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QUERY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3081528"/>
            <a:ext cx="281635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Aptos Display"/>
              </a:rPr>
              <a:t>How many oracle calls?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96512" y="4133087"/>
            <a:ext cx="2487168" cy="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96512" y="4370832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Information requested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791456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D5CE7"/>
                </a:solidFill>
                <a:latin typeface="Aptos"/>
              </a:rPr>
              <a:t>Uƒ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42232" y="5020056"/>
            <a:ext cx="612648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21808" y="5020056"/>
            <a:ext cx="740664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26480" y="48646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Cambria Math"/>
              </a:rPr>
              <a:t>× q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50607" y="1874519"/>
            <a:ext cx="0" cy="3465577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79792" y="193852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9792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2596896"/>
            <a:ext cx="28803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COMMUNICATION COMPLEXITY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3081528"/>
            <a:ext cx="281635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Aptos Display"/>
              </a:rPr>
              <a:t>How much information must be transmitted?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4133087"/>
            <a:ext cx="2487168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9792" y="4370832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Information moved</a:t>
            </a:r>
          </a:p>
        </p:txBody>
      </p:sp>
      <p:sp>
        <p:nvSpPr>
          <p:cNvPr id="43" name="Oval 42"/>
          <p:cNvSpPr/>
          <p:nvPr/>
        </p:nvSpPr>
        <p:spPr>
          <a:xfrm>
            <a:off x="7589519" y="48006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582912" y="48006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973567" y="4992624"/>
            <a:ext cx="1609345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02167" y="5074920"/>
            <a:ext cx="117043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79"/>
                </a:solidFill>
                <a:latin typeface="Aptos"/>
              </a:rPr>
              <a:t>bits / qubits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623560"/>
            <a:ext cx="973836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Choose the metric that matches the bottleneck—not the one that makes the result look strongest.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CIRCUIT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Circuit complexity tracks how implementation cost scales with input size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CIRCUIT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246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0B1736"/>
                </a:solidFill>
                <a:latin typeface="Cambria Math"/>
              </a:rPr>
              <a:t>{Cₙ}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163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one circuit for each input size 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43984" y="1600200"/>
            <a:ext cx="0" cy="384048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8032" y="1627632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SCALING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984248"/>
            <a:ext cx="57150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B1736"/>
                </a:solidFill>
                <a:latin typeface="Cambria Math"/>
              </a:rPr>
              <a:t>Size(Cₙ) = O(f(n))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871216"/>
            <a:ext cx="5806440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64608" y="318211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182112"/>
            <a:ext cx="2249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A8E8"/>
                </a:solidFill>
                <a:latin typeface="Aptos"/>
              </a:rPr>
              <a:t>GATE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352958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736"/>
                </a:solidFill>
                <a:latin typeface="Aptos"/>
              </a:rPr>
              <a:t>Which elementary operations count?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182112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182112"/>
            <a:ext cx="2249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D5CE7"/>
                </a:solidFill>
                <a:latin typeface="Aptos"/>
              </a:rPr>
              <a:t>ASYMPTOTIC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529584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736"/>
                </a:solidFill>
                <a:latin typeface="Aptos"/>
              </a:rPr>
              <a:t>How does size grow with 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43159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315968"/>
            <a:ext cx="2249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6D5CE7"/>
                </a:solidFill>
                <a:latin typeface="Aptos"/>
              </a:rPr>
              <a:t>UNIFORMITY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466344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736"/>
                </a:solidFill>
                <a:latin typeface="Aptos"/>
              </a:rPr>
              <a:t>Can one efficient procedure generate Cₙ?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315968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315968"/>
            <a:ext cx="224942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0A8E8"/>
                </a:solidFill>
                <a:latin typeface="Aptos"/>
              </a:rPr>
              <a:t>CONSISTENCY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663440"/>
            <a:ext cx="230428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1736"/>
                </a:solidFill>
                <a:latin typeface="Aptos"/>
              </a:rPr>
              <a:t>Does the same model apply across input sizes?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38928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Count gates only after the computational model is fixed.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QUERY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Query complexity isolates the cost of accessing hidden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The black box may be expensive even when the surrounding circuit is small.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CENTRAL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03120"/>
            <a:ext cx="4773168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736"/>
                </a:solidFill>
                <a:latin typeface="Aptos Display"/>
              </a:rPr>
              <a:t>How many times must the algorithm access the black box?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28803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6D5CE7"/>
                </a:solidFill>
                <a:latin typeface="Cambria Math"/>
              </a:rPr>
              <a:t>Q(f)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187952"/>
            <a:ext cx="42611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minimum number of oracle calls needed to compute 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0448" y="2880360"/>
            <a:ext cx="4901184" cy="0"/>
          </a:xfrm>
          <a:prstGeom prst="line">
            <a:avLst/>
          </a:prstGeom>
          <a:ln w="1651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2704" y="268833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1736"/>
                </a:solidFill>
                <a:latin typeface="Cambria Math"/>
              </a:rPr>
              <a:t>|ψ₀⟩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2606040"/>
            <a:ext cx="594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60604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A8E8"/>
                </a:solidFill>
                <a:latin typeface="Aptos"/>
              </a:rPr>
              <a:t>Uƒ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46120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79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91272" y="2606040"/>
            <a:ext cx="594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91272" y="260604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D5CE7"/>
                </a:solidFill>
                <a:latin typeface="Aptos"/>
              </a:rPr>
              <a:t>Uƒ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3246120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79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016" y="2606040"/>
            <a:ext cx="594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72016" y="260604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A8E8"/>
                </a:solidFill>
                <a:latin typeface="Aptos"/>
              </a:rPr>
              <a:t>Uƒ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246120"/>
            <a:ext cx="25603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79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262432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A6B9"/>
                </a:solidFill>
                <a:latin typeface="Cambria Math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5976" y="3602736"/>
            <a:ext cx="334670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count only these accesses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70448" y="4151376"/>
            <a:ext cx="4901184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97880" y="4425696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CLASSICAL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297680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B1736"/>
                </a:solidFill>
                <a:latin typeface="Cambria Math"/>
              </a:rPr>
              <a:t>Qclassical(f)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4389120"/>
            <a:ext cx="47548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vs.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4297680"/>
            <a:ext cx="1581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6D5CE7"/>
                </a:solidFill>
                <a:latin typeface="Cambria Math"/>
              </a:rPr>
              <a:t>Qquantum(f)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5010912"/>
            <a:ext cx="491947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A query advantage means fewer black-box accesses—not automatically fewer total gates.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QUERY COMPLEXITY AS THE ALGORITHMIC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Query complexity links the algorithm sequence through oracle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Each algorithm sharpens the separation between classical and quantum access.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1901952"/>
            <a:ext cx="0" cy="3511296"/>
          </a:xfrm>
          <a:prstGeom prst="line">
            <a:avLst/>
          </a:prstGeom>
          <a:ln w="254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770632" y="1901952"/>
            <a:ext cx="310896" cy="31089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189280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88366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DEUTSCH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1528" y="2057400"/>
            <a:ext cx="576072" cy="0"/>
          </a:xfrm>
          <a:prstGeom prst="line">
            <a:avLst/>
          </a:prstGeom>
          <a:ln w="1524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13632" y="1874520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one-bit global 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1874520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first quantum query separation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2585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AA6B9"/>
                </a:solidFill>
                <a:latin typeface="Aptos Display"/>
              </a:rPr>
              <a:t>↓</a:t>
            </a:r>
          </a:p>
        </p:txBody>
      </p:sp>
      <p:sp>
        <p:nvSpPr>
          <p:cNvPr id="19" name="Oval 18"/>
          <p:cNvSpPr/>
          <p:nvPr/>
        </p:nvSpPr>
        <p:spPr>
          <a:xfrm>
            <a:off x="2770632" y="2606040"/>
            <a:ext cx="310896" cy="31089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2596896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58775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DEUTSCH–JOZSA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81528" y="2761488"/>
            <a:ext cx="576072" cy="0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13632" y="2578608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constant or balanced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578608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promise problems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9626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AA6B9"/>
                </a:solidFill>
                <a:latin typeface="Aptos Display"/>
              </a:rPr>
              <a:t>↓</a:t>
            </a:r>
          </a:p>
        </p:txBody>
      </p:sp>
      <p:sp>
        <p:nvSpPr>
          <p:cNvPr id="26" name="Oval 25"/>
          <p:cNvSpPr/>
          <p:nvPr/>
        </p:nvSpPr>
        <p:spPr>
          <a:xfrm>
            <a:off x="2770632" y="3310128"/>
            <a:ext cx="310896" cy="31089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3009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29184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BERNSTEIN–VAZIRANI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81528" y="3465576"/>
            <a:ext cx="576072" cy="0"/>
          </a:xfrm>
          <a:prstGeom prst="line">
            <a:avLst/>
          </a:prstGeom>
          <a:ln w="1524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13632" y="3282696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hidden linear 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282696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one query reveals global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366674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AA6B9"/>
                </a:solidFill>
                <a:latin typeface="Aptos Display"/>
              </a:rPr>
              <a:t>↓</a:t>
            </a:r>
          </a:p>
        </p:txBody>
      </p:sp>
      <p:sp>
        <p:nvSpPr>
          <p:cNvPr id="33" name="Oval 32"/>
          <p:cNvSpPr/>
          <p:nvPr/>
        </p:nvSpPr>
        <p:spPr>
          <a:xfrm>
            <a:off x="2770632" y="4014216"/>
            <a:ext cx="310896" cy="31089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40050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39959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SIMON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81528" y="4169664"/>
            <a:ext cx="576072" cy="0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13632" y="3986784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hidden XOR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986784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exponential query separation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0632" y="437083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AA6B9"/>
                </a:solidFill>
                <a:latin typeface="Aptos Display"/>
              </a:rPr>
              <a:t>↓</a:t>
            </a:r>
          </a:p>
        </p:txBody>
      </p:sp>
      <p:sp>
        <p:nvSpPr>
          <p:cNvPr id="40" name="Oval 39"/>
          <p:cNvSpPr/>
          <p:nvPr/>
        </p:nvSpPr>
        <p:spPr>
          <a:xfrm>
            <a:off x="2770632" y="4718304"/>
            <a:ext cx="310896" cy="310896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" y="4709159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470001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GROVER / SHOR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081528" y="4873752"/>
            <a:ext cx="576072" cy="0"/>
          </a:xfrm>
          <a:prstGeom prst="line">
            <a:avLst/>
          </a:prstGeom>
          <a:ln w="1524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13632" y="4690872"/>
            <a:ext cx="25968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"/>
              </a:rPr>
              <a:t>search / period finding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4690872"/>
            <a:ext cx="382219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broader models and full algorithms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011680"/>
            <a:ext cx="713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"/>
              </a:rPr>
              <a:t>QUERY
LENS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543032" y="1947672"/>
            <a:ext cx="0" cy="3191256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874519" y="5440680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The oracle model gives a common yardstick before implementation details enter.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COMMUNICATION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Communication complexity asks how much information must cross a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Reconnect to Unit 2: use the protocols as resource examples, not as new protocol lessons.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47088"/>
            <a:ext cx="28529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SUPERDENSE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58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B1736"/>
                </a:solidFill>
                <a:latin typeface="Cambria Math"/>
              </a:rPr>
              <a:t>n/2 qubits  →  n classical bits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337560"/>
            <a:ext cx="438912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45152" y="3337560"/>
            <a:ext cx="438912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3375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"/>
              </a:rPr>
              <a:t>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4752" y="3557016"/>
            <a:ext cx="3200400" cy="0"/>
          </a:xfrm>
          <a:prstGeom prst="line">
            <a:avLst/>
          </a:prstGeom>
          <a:ln w="2286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93976" y="3236976"/>
            <a:ext cx="1956816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n/2 qubits 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023360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26079"/>
                </a:solidFill>
                <a:latin typeface="Aptos"/>
              </a:rPr>
              <a:t>with preshared entanglement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176" y="1810512"/>
            <a:ext cx="0" cy="356616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45936" y="1847088"/>
            <a:ext cx="3090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QUANTUM TELEPORTATION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58568"/>
            <a:ext cx="468172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0B1736"/>
                </a:solidFill>
                <a:latin typeface="Cambria Math"/>
              </a:rPr>
              <a:t>n qubits  →  2n classical bits</a:t>
            </a:r>
          </a:p>
        </p:txBody>
      </p:sp>
      <p:sp>
        <p:nvSpPr>
          <p:cNvPr id="23" name="Oval 22"/>
          <p:cNvSpPr/>
          <p:nvPr/>
        </p:nvSpPr>
        <p:spPr>
          <a:xfrm>
            <a:off x="6611112" y="3337560"/>
            <a:ext cx="438912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32136" y="3337560"/>
            <a:ext cx="438912" cy="43891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33375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2136" y="33375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"/>
              </a:rPr>
              <a:t>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0024" y="3557016"/>
            <a:ext cx="3182112" cy="0"/>
          </a:xfrm>
          <a:prstGeom prst="line">
            <a:avLst/>
          </a:prstGeom>
          <a:ln w="2286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80960" y="3236976"/>
            <a:ext cx="1975104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2n classical bits 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023360"/>
            <a:ext cx="33101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26079"/>
                </a:solidFill>
                <a:latin typeface="Aptos"/>
              </a:rPr>
              <a:t>plus n shared entangled pairs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754880"/>
            <a:ext cx="10241280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5840" y="5020056"/>
            <a:ext cx="9829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"/>
              </a:rPr>
              <a:t>UNIT 2 REVIEW  </a:t>
            </a:r>
            <a:r>
              <a:rPr sz="1700" b="1" i="0">
                <a:solidFill>
                  <a:srgbClr val="0B1736"/>
                </a:solidFill>
                <a:latin typeface="Aptos Display"/>
              </a:rPr>
              <a:t>Count the transmitted resource—not only the local gates used to prepare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RESOURCE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Quantum advantage is a portfolio of resource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An engineering assessment counts every scarce resource, not only gates.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1783080"/>
            <a:ext cx="10479024" cy="585216"/>
          </a:xfrm>
          <a:prstGeom prst="rect">
            <a:avLst/>
          </a:prstGeom>
          <a:noFill/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19656"/>
            <a:ext cx="1014984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D5CE7"/>
                </a:solidFill>
                <a:latin typeface="Aptos Display"/>
              </a:rPr>
              <a:t>Quantum advantage  ≠  fewer gates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7919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679192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WHAT IT CAPTURES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2679192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ENGINEERING CONSEQUENCE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" y="2990088"/>
            <a:ext cx="1011326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" y="3127248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127248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QUBITS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127248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state width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127248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hardware footprint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" y="3447288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" y="3547872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547872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547872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total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3547872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accumulated error opportunity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6" y="3867911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824" y="3968496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968496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3968496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sequential layers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744" y="3968496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runtime and coherence demand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4288536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7824" y="4389120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4389120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ORACLE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248" y="4389120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black-box accesses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4389120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algorithmic information cost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9536" y="4709159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824" y="4809744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4809744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COMMUNICATION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7248" y="4809744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bits or qubits moved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4809744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network and distributed cost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9536" y="5129783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7824" y="5230368"/>
            <a:ext cx="3657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5230368"/>
            <a:ext cx="157276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B1736"/>
                </a:solidFill>
                <a:latin typeface="Aptos"/>
              </a:rPr>
              <a:t>CLASSICAL POST-PROCESSING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248" y="5230368"/>
            <a:ext cx="352958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26079"/>
                </a:solidFill>
                <a:latin typeface="Aptos"/>
              </a:rPr>
              <a:t>work after measurement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5744" y="5230368"/>
            <a:ext cx="36941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0B1736"/>
                </a:solidFill>
                <a:latin typeface="Aptos"/>
              </a:rPr>
              <a:t>end-to-end runtime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59536" y="5550408"/>
            <a:ext cx="10113264" cy="0"/>
          </a:xfrm>
          <a:prstGeom prst="line">
            <a:avLst/>
          </a:prstGeom>
          <a:ln w="8255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7824" y="5669280"/>
            <a:ext cx="718718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The winning algorithm minimizes the binding constraint for the real system.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57031" y="5596128"/>
            <a:ext cx="0" cy="36576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58784" y="5605272"/>
            <a:ext cx="98755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BREAK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555040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D5CE7"/>
                </a:solidFill>
                <a:latin typeface="Aptos Display"/>
              </a:rPr>
              <a:t>10:35–10:50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PART IV · ORACLES AND PHASE KICKBACK · 10:50–11:50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An oracle exposes a function without exposing its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It is an abstract black-box operation that the algorithm can query.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47088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FUNCTION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65653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0B1736"/>
                </a:solidFill>
                <a:latin typeface="Cambria Math"/>
              </a:rPr>
              <a:t>Uƒ|x⟩|y⟩  =  |x⟩|y ⊕ f(x)⟩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57015"/>
            <a:ext cx="50292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|x⟩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53312" y="3703320"/>
            <a:ext cx="5870448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261104"/>
            <a:ext cx="50292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|y⟩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2" y="4407408"/>
            <a:ext cx="5870448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03320" y="3383280"/>
            <a:ext cx="960120" cy="1344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03320" y="3383280"/>
            <a:ext cx="960120" cy="1344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"/>
              </a:rPr>
              <a:t>Uƒ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547872"/>
            <a:ext cx="64008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Cambria Math"/>
              </a:rPr>
              <a:t>|x⟩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141732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D5CE7"/>
                </a:solidFill>
                <a:latin typeface="Cambria Math"/>
              </a:rPr>
              <a:t>|y⊕f(x)⟩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1874519"/>
            <a:ext cx="0" cy="3319273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89720" y="184708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5915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"/>
              </a:rPr>
              <a:t>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60904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input/output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41071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Aptos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712463"/>
            <a:ext cx="184708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internal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590288"/>
            <a:ext cx="18745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26079"/>
                </a:solidFill>
                <a:latin typeface="Aptos Display"/>
              </a:rPr>
              <a:t>Count access; abstract construction.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WHY QUANTUM ALGORITHMS USE ORACLES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Oracles isolate access to hidden structure from implementation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Query complexity counts black-box access while holding implementation details outside the model.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20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181051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105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79222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92224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what must be learned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60704" y="2295144"/>
            <a:ext cx="219456" cy="265176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266090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66090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2642616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D5CE7"/>
                </a:solidFill>
                <a:latin typeface="Aptos"/>
              </a:rPr>
              <a:t>UNKNOWN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642616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hidden rule or promise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60704" y="3145536"/>
            <a:ext cx="219456" cy="265176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351129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511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493008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9300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controlled access to f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60704" y="3995928"/>
            <a:ext cx="219456" cy="265176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" y="43616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3616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4343400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D5CE7"/>
                </a:solidFill>
                <a:latin typeface="Aptos"/>
              </a:rPr>
              <a:t>QUANTUM 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34340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superposition + interference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60704" y="4846320"/>
            <a:ext cx="219456" cy="265176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0120" y="52120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2120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5193792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A8E8"/>
                </a:solidFill>
                <a:latin typeface="Aptos"/>
              </a:rPr>
              <a:t>HIDDEN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5193792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736"/>
                </a:solidFill>
                <a:latin typeface="Aptos"/>
              </a:rPr>
              <a:t>global information recovered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06840" y="1810512"/>
            <a:ext cx="0" cy="3694176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45168" y="1828800"/>
            <a:ext cx="171907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THE ABSTRACTION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2322576"/>
            <a:ext cx="17556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Query complexity asks: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88036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D5CE7"/>
                </a:solidFill>
                <a:latin typeface="Aptos Display"/>
              </a:rPr>
              <a:t>How many times?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37033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26079"/>
                </a:solidFill>
                <a:latin typeface="Aptos"/>
              </a:rPr>
              <a:t>Not: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402336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How was Uƒ built?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791456"/>
            <a:ext cx="171907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Implementation returns later in resource accounting.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MARKING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marking oracle writes f(x) into a target qubit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0B1736"/>
                </a:solidFill>
                <a:latin typeface="Cambria Math"/>
              </a:rPr>
              <a:t>Uƒ|x⟩|y⟩  =  |x⟩|y ⊕ f(x)⟩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596896"/>
            <a:ext cx="10250424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" y="28346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EXAMPLE · MARK ONLY 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310128"/>
            <a:ext cx="2944368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6D5CE7"/>
                </a:solidFill>
                <a:latin typeface="Cambria Math"/>
              </a:rPr>
              <a:t>f(111)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33087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B1736"/>
                </a:solidFill>
                <a:latin typeface="Cambria Math"/>
              </a:rPr>
              <a:t>f(x) = 0   for every x ≠ 111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45152" y="2834640"/>
            <a:ext cx="0" cy="2267712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10912" y="28346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INPUT SPACE</a:t>
            </a:r>
          </a:p>
        </p:txBody>
      </p:sp>
      <p:sp>
        <p:nvSpPr>
          <p:cNvPr id="17" name="Oval 16"/>
          <p:cNvSpPr/>
          <p:nvPr/>
        </p:nvSpPr>
        <p:spPr>
          <a:xfrm>
            <a:off x="5056632" y="3319272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56632" y="3319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1576" y="3474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6364224" y="3319272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3319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474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23" name="Oval 22"/>
          <p:cNvSpPr/>
          <p:nvPr/>
        </p:nvSpPr>
        <p:spPr>
          <a:xfrm>
            <a:off x="7671816" y="3319272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1816" y="3319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74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26" name="Oval 25"/>
          <p:cNvSpPr/>
          <p:nvPr/>
        </p:nvSpPr>
        <p:spPr>
          <a:xfrm>
            <a:off x="8979408" y="3319272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79408" y="3319272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4747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29" name="Oval 28"/>
          <p:cNvSpPr/>
          <p:nvPr/>
        </p:nvSpPr>
        <p:spPr>
          <a:xfrm>
            <a:off x="5056632" y="41605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56632" y="41605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43159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32" name="Oval 31"/>
          <p:cNvSpPr/>
          <p:nvPr/>
        </p:nvSpPr>
        <p:spPr>
          <a:xfrm>
            <a:off x="6364224" y="41605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4224" y="41605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101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43159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35" name="Oval 34"/>
          <p:cNvSpPr/>
          <p:nvPr/>
        </p:nvSpPr>
        <p:spPr>
          <a:xfrm>
            <a:off x="7671816" y="41605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71816" y="41605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Cambria Math"/>
              </a:rPr>
              <a:t>110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3159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38" name="Oval 37"/>
          <p:cNvSpPr/>
          <p:nvPr/>
        </p:nvSpPr>
        <p:spPr>
          <a:xfrm>
            <a:off x="8979408" y="4160520"/>
            <a:ext cx="603504" cy="603504"/>
          </a:xfrm>
          <a:prstGeom prst="ellipse">
            <a:avLst/>
          </a:prstGeom>
          <a:solidFill>
            <a:srgbClr val="6D5CE7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79408" y="41605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111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43159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 Display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2432" y="4828032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Only the marked input flips the target.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MARKING ORACLE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multi-controlled X marks |111⟩ in a target qubit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All three controls must be 1 before the target flips.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02536"/>
            <a:ext cx="42062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q₂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2148840"/>
            <a:ext cx="7040880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" y="2752344"/>
            <a:ext cx="42062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q₁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25880" y="2898648"/>
            <a:ext cx="7040880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3502152"/>
            <a:ext cx="42062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q₀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25880" y="3648456"/>
            <a:ext cx="7040880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4672" y="4251959"/>
            <a:ext cx="42062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Cambria Math"/>
              </a:rPr>
              <a:t>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" y="4398264"/>
            <a:ext cx="7040880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90288" y="2075688"/>
            <a:ext cx="146304" cy="146304"/>
          </a:xfrm>
          <a:prstGeom prst="ellipse">
            <a:avLst/>
          </a:prstGeom>
          <a:solidFill>
            <a:srgbClr val="0B1736"/>
          </a:solidFill>
          <a:ln w="63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90288" y="2825496"/>
            <a:ext cx="146304" cy="146304"/>
          </a:xfrm>
          <a:prstGeom prst="ellipse">
            <a:avLst/>
          </a:prstGeom>
          <a:solidFill>
            <a:srgbClr val="0B1736"/>
          </a:solidFill>
          <a:ln w="63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90288" y="3575304"/>
            <a:ext cx="146304" cy="146304"/>
          </a:xfrm>
          <a:prstGeom prst="ellipse">
            <a:avLst/>
          </a:prstGeom>
          <a:solidFill>
            <a:srgbClr val="0B1736"/>
          </a:solidFill>
          <a:ln w="63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4663440" y="2148840"/>
            <a:ext cx="0" cy="2249424"/>
          </a:xfrm>
          <a:prstGeom prst="line">
            <a:avLst/>
          </a:prstGeom>
          <a:ln w="20320">
            <a:solidFill>
              <a:srgbClr val="0B17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498848" y="4233672"/>
            <a:ext cx="329184" cy="329184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4544568" y="4398264"/>
            <a:ext cx="237744" cy="0"/>
          </a:xfrm>
          <a:prstGeom prst="line">
            <a:avLst/>
          </a:prstGeom>
          <a:ln w="1905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63440" y="4279392"/>
            <a:ext cx="0" cy="237744"/>
          </a:xfrm>
          <a:prstGeom prst="line">
            <a:avLst/>
          </a:prstGeom>
          <a:ln w="1905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93008" y="1719072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74573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079"/>
                </a:solidFill>
                <a:latin typeface="Aptos"/>
              </a:rPr>
              <a:t>target 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59952" y="1901952"/>
            <a:ext cx="0" cy="3255264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98280" y="190195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414016"/>
            <a:ext cx="1828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736"/>
                </a:solidFill>
                <a:latin typeface="Cambria Math"/>
              </a:rPr>
              <a:t>q₂ ∧ q₁ ∧ q₀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017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= 1 only for 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70332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A8E8"/>
                </a:solidFill>
                <a:latin typeface="Aptos"/>
              </a:rPr>
              <a:t>Then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050791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D5CE7"/>
                </a:solidFill>
                <a:latin typeface="Cambria Math"/>
              </a:rPr>
              <a:t>t → t ⊕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6634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otherwise t is unchanged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PHASE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phase oracle marks information without changing the basis label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1014984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B1736"/>
                </a:solidFill>
                <a:latin typeface="Cambria Math"/>
              </a:rPr>
              <a:t>Uƒ|x⟩  =  (−1)ᶠ⁽ˣ⁾ |x⟩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MARKED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55264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B1736"/>
                </a:solidFill>
                <a:latin typeface="Cambria Math"/>
              </a:rPr>
              <a:t>|101⟩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3410712"/>
            <a:ext cx="960120" cy="274320"/>
          </a:xfrm>
          <a:prstGeom prst="rightArrow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3255264"/>
            <a:ext cx="2066543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6D5CE7"/>
                </a:solidFill>
                <a:latin typeface="Cambria Math"/>
              </a:rPr>
              <a:t>−|101⟩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39712" y="2770632"/>
            <a:ext cx="0" cy="2212848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05472" y="2779776"/>
            <a:ext cx="2212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ALL OTHER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3255264"/>
            <a:ext cx="140817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B1736"/>
                </a:solidFill>
                <a:latin typeface="Cambria Math"/>
              </a:rPr>
              <a:t>|x⟩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3410712"/>
            <a:ext cx="822960" cy="274320"/>
          </a:xfrm>
          <a:prstGeom prst="rightArrow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8" y="3255264"/>
            <a:ext cx="140817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B1736"/>
                </a:solidFill>
                <a:latin typeface="Cambria Math"/>
              </a:rPr>
              <a:t>|x⟩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99943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The minus sign is invisible to direct measurement—but visible through interference.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MARKING ORACLE VS PHASE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two oracle forms encode the same function in different places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642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"/>
              </a:rPr>
              <a:t>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16642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"/>
              </a:rPr>
              <a:t>PHASE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664208"/>
            <a:ext cx="0" cy="3776472"/>
          </a:xfrm>
          <a:prstGeom prst="line">
            <a:avLst/>
          </a:prstGeom>
          <a:ln w="1524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21488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1031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"/>
              </a:rPr>
              <a:t>Changes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10312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"/>
              </a:rPr>
              <a:t>Changes phase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2679192"/>
            <a:ext cx="1013155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2935224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889504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"/>
              </a:rPr>
              <a:t>Uses ancilla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88950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"/>
              </a:rPr>
              <a:t>Can operate conceptually on input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3465576"/>
            <a:ext cx="1013155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3721608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675888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B1736"/>
                </a:solidFill>
                <a:latin typeface="Cambria Math"/>
              </a:rPr>
              <a:t>y → y ⊕ f(x)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367588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0B1736"/>
                </a:solidFill>
                <a:latin typeface="Cambria Math"/>
              </a:rPr>
              <a:t>(−1)ᶠ⁽ˣ⁾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4251960"/>
            <a:ext cx="1013155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4507992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4622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B1736"/>
                </a:solidFill>
                <a:latin typeface="Aptos"/>
              </a:rPr>
              <a:t>Standard reversible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4462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B1736"/>
                </a:solidFill>
                <a:latin typeface="Aptos"/>
              </a:rPr>
              <a:t>Interference-friendly representation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5038344"/>
            <a:ext cx="10131552" cy="0"/>
          </a:xfrm>
          <a:prstGeom prst="line">
            <a:avLst/>
          </a:prstGeom>
          <a:ln w="889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4128" y="542239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00A8E8"/>
                </a:solidFill>
                <a:latin typeface="Aptos"/>
              </a:rPr>
              <a:t>BRIDGE  </a:t>
            </a:r>
            <a:r>
              <a:rPr sz="1800" b="1" i="0">
                <a:solidFill>
                  <a:srgbClr val="6D5CE7"/>
                </a:solidFill>
                <a:latin typeface="Aptos Display"/>
              </a:rPr>
              <a:t>Prepare the target in |−⟩ and marking becomes phase kickback.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THE SPECIAL STATE |−⟩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|−⟩ state turns a bit flip into a minus 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Derive the eigenvalue relation one step at a 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25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176479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7647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719072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B1736"/>
                </a:solidFill>
                <a:latin typeface="Cambria Math"/>
              </a:rPr>
              <a:t>|−⟩  =  (|0⟩ − |1⟩)/√2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792224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define the state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50976" y="2212848"/>
            <a:ext cx="201168" cy="210312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" y="24871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4871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736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441448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B1736"/>
                </a:solidFill>
                <a:latin typeface="Cambria Math"/>
              </a:rPr>
              <a:t>X|−⟩  =  X(|0⟩ − |1⟩)/√2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514599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apply X linearly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50976" y="2935224"/>
            <a:ext cx="201168" cy="210312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" y="320954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2095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163824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B1736"/>
                </a:solidFill>
                <a:latin typeface="Cambria Math"/>
              </a:rPr>
              <a:t>=  (|1⟩ − |0⟩)/√2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3236975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swap |0⟩ and |1⟩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50976" y="3657600"/>
            <a:ext cx="201168" cy="210312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" y="393192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3931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736"/>
                </a:solidFill>
                <a:latin typeface="Aptos Display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886200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0B1736"/>
                </a:solidFill>
                <a:latin typeface="Cambria Math"/>
              </a:rPr>
              <a:t>=  −(|0⟩ − |1⟩)/√2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3959352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factor out −1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50976" y="4379976"/>
            <a:ext cx="201168" cy="210312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8" y="465429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654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608576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D5CE7"/>
                </a:solidFill>
                <a:latin typeface="Cambria Math"/>
              </a:rPr>
              <a:t>=  −|−⟩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681728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eigenvalue −1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53312" y="5440680"/>
            <a:ext cx="8961120" cy="502920"/>
          </a:xfrm>
          <a:prstGeom prst="rect">
            <a:avLst/>
          </a:prstGeom>
          <a:noFill/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08760" y="5468112"/>
            <a:ext cx="8641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D5CE7"/>
                </a:solidFill>
                <a:latin typeface="Cambria Math"/>
              </a:rPr>
              <a:t>X|−⟩ = −|−⟩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PHASE KICKBACK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Phase kickback converts a target flip into phase on the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This derivation is the mathematical bridge from marking to interference.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609344"/>
            <a:ext cx="2852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B1736"/>
                </a:solidFill>
                <a:latin typeface="Cambria Math"/>
              </a:rPr>
              <a:t>Uƒ |x⟩|−⟩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240280"/>
            <a:ext cx="0" cy="539496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737360" y="2779776"/>
            <a:ext cx="1051560" cy="374904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88920" y="2779776"/>
            <a:ext cx="2788920" cy="374904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294436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IF f(x)=0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28416"/>
            <a:ext cx="40690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B1736"/>
                </a:solidFill>
                <a:latin typeface="Cambria Math"/>
              </a:rPr>
              <a:t>|x⟩ I|−⟩  =  |x⟩|−⟩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94436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IF f(x)=1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328416"/>
            <a:ext cx="482803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D5CE7"/>
                </a:solidFill>
                <a:latin typeface="Cambria Math"/>
              </a:rPr>
              <a:t>|x⟩ X|−⟩  =  −|x⟩|−⟩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4672" y="4169663"/>
            <a:ext cx="10168128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4672" y="440740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COMBINE BOTH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800600"/>
            <a:ext cx="9784080" cy="658368"/>
          </a:xfrm>
          <a:prstGeom prst="rect">
            <a:avLst/>
          </a:prstGeom>
          <a:noFill/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07008" y="4837176"/>
            <a:ext cx="94640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D5CE7"/>
                </a:solidFill>
                <a:latin typeface="Cambria Math"/>
              </a:rPr>
              <a:t>Uƒ|x⟩|−⟩  =  (−1)ᶠ⁽ˣ⁾ |x⟩|−⟩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816" y="5632704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target returns unchanged  ·  phase carries f(x)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WHY EQUAL AMPLITUDES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516" y="94183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 dirty="0">
                <a:solidFill>
                  <a:srgbClr val="0B1736"/>
                </a:solidFill>
                <a:latin typeface="Aptos Display"/>
              </a:rPr>
              <a:t>The target stays separable only when the flip returns the same state up to phase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87451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X EIGENSTATE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47091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B1736"/>
                </a:solidFill>
                <a:latin typeface="Cambria Math"/>
              </a:rPr>
              <a:t>|−⟩ = (|0⟩ − |1⟩)/√2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79776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Cambria Math"/>
              </a:rPr>
              <a:t>X|−⟩ = −|−⟩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00984"/>
            <a:ext cx="3822191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same target state · useful phase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88152" y="1709928"/>
            <a:ext cx="0" cy="3566160"/>
          </a:xfrm>
          <a:prstGeom prst="line">
            <a:avLst/>
          </a:prstGeom>
          <a:ln w="1397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0488" y="1719072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GENERAL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03120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0B1736"/>
                </a:solidFill>
                <a:latin typeface="Cambria Math"/>
              </a:rPr>
              <a:t>|τ⟩ = α|0⟩ + β|1⟩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779776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Cambria Math"/>
              </a:rPr>
              <a:t>X|τ⟩ = β|0⟩ + α|1⟩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00984"/>
            <a:ext cx="409651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6079"/>
                </a:solidFill>
                <a:latin typeface="Aptos"/>
              </a:rPr>
              <a:t>usually a different target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4041648"/>
            <a:ext cx="4681728" cy="676656"/>
          </a:xfrm>
          <a:prstGeom prst="rect">
            <a:avLst/>
          </a:prstGeom>
          <a:solidFill>
            <a:srgbClr val="F4FBFE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X eigenstate → target factors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6079"/>
                </a:solidFill>
                <a:latin typeface="Aptos"/>
              </a:rPr>
              <a:t>|−⟩ gives phase · |+⟩ gives no phase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4041648"/>
            <a:ext cx="4681728" cy="676656"/>
          </a:xfrm>
          <a:prstGeom prst="rect">
            <a:avLst/>
          </a:prstGeom>
          <a:solidFill>
            <a:srgbClr val="F4FBFE"/>
          </a:solidFill>
          <a:ln w="1270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7336" y="4096512"/>
            <a:ext cx="44622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general state → x can entangle with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4407408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6079"/>
                </a:solidFill>
                <a:latin typeface="Aptos"/>
              </a:rPr>
              <a:t>amplitudes no longer share one separable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138928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Aptos Display"/>
              </a:rPr>
              <a:t>Equal magnitude plus the relative minus sign makes |−⟩ the useful kickback state.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PHASE KICKBACK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oracle moves function information into phase, where interference can use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1947672"/>
            <a:ext cx="777239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39912" y="1947672"/>
            <a:ext cx="777240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0480" y="161848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A8E8"/>
                </a:solidFill>
                <a:latin typeface="Aptos Display"/>
              </a:rPr>
              <a:t>INPUT SUPERPOSITION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9339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many x values coexist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52744" y="2350008"/>
            <a:ext cx="274320" cy="274320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2743200"/>
            <a:ext cx="3867912" cy="603504"/>
          </a:xfrm>
          <a:prstGeom prst="rect">
            <a:avLst/>
          </a:prstGeom>
          <a:solidFill>
            <a:srgbClr val="FFFFFF"/>
          </a:solidFill>
          <a:ln w="2286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271576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Aptos Display"/>
              </a:rPr>
              <a:t>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09067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evaluate f coherently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52744" y="3447288"/>
            <a:ext cx="274320" cy="274320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971800" y="4142232"/>
            <a:ext cx="777239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39912" y="4142232"/>
            <a:ext cx="777240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80" y="381304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A8E8"/>
                </a:solidFill>
                <a:latin typeface="Aptos Display"/>
              </a:rPr>
              <a:t>PHASE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418795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(−1)ᶠ⁽ˣ⁾ encoded in amplitudes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52744" y="4544568"/>
            <a:ext cx="274320" cy="274320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2971800" y="5239512"/>
            <a:ext cx="777239" cy="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39912" y="5239512"/>
            <a:ext cx="777240" cy="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40480" y="491032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Aptos Display"/>
              </a:rPr>
              <a:t>INTERFERENCE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528523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reveal hidden structure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14400" y="1783080"/>
            <a:ext cx="0" cy="22860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98448" y="1554480"/>
            <a:ext cx="0" cy="45720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82496" y="1783080"/>
            <a:ext cx="0" cy="22860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066543" y="1554480"/>
            <a:ext cx="0" cy="45720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19488" y="4937760"/>
            <a:ext cx="0" cy="45720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03536" y="5166360"/>
            <a:ext cx="0" cy="22860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387584" y="4937760"/>
            <a:ext cx="0" cy="45720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771632" y="5166360"/>
            <a:ext cx="0" cy="22860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WORKED PHASE-KICKBACK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Marking |111⟩ flips one amplitude sign—not the target state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1907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PREPARE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874519" y="1600200"/>
                <a:ext cx="2743200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2400" b="0" i="1" dirty="0" smtClean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24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b="0" i="0" dirty="0">
                    <a:solidFill>
                      <a:srgbClr val="0B1736"/>
                    </a:solidFill>
                    <a:latin typeface="Cambria Math"/>
                  </a:rPr>
                  <a:t>|−⟩</a:t>
                </a:r>
                <a:endParaRPr sz="24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19" y="1600200"/>
                <a:ext cx="2743200" cy="530352"/>
              </a:xfrm>
              <a:prstGeom prst="rect">
                <a:avLst/>
              </a:prstGeom>
              <a:blipFill>
                <a:blip r:embed="rId3"/>
                <a:stretch>
                  <a:fillRect t="-2299" b="-19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49808" y="250545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377440"/>
            <a:ext cx="47091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B1736"/>
                </a:solidFill>
                <a:latin typeface="Cambria Math"/>
              </a:rPr>
              <a:t>f(111)=1; all other f(x)=0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3172968"/>
            <a:ext cx="10222992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34107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76472"/>
            <a:ext cx="9829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B1736"/>
                </a:solidFill>
                <a:latin typeface="Cambria Math"/>
              </a:rPr>
              <a:t>1/√8  ( |000⟩ + |001⟩ + |010⟩ + |011⟩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70248"/>
            <a:ext cx="9829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900" b="0" i="0">
                <a:solidFill>
                  <a:srgbClr val="0B1736"/>
                </a:solidFill>
                <a:latin typeface="Cambria Math"/>
              </a:rPr>
              <a:t>+ |100⟩ + |101⟩ + |110⟩ </a:t>
            </a:r>
            <a:r>
              <a:rPr sz="1900" b="1" i="0">
                <a:solidFill>
                  <a:srgbClr val="6D5CE7"/>
                </a:solidFill>
                <a:latin typeface="Cambria Math"/>
              </a:rPr>
              <a:t>− |111⟩</a:t>
            </a:r>
            <a:r>
              <a:rPr sz="1900" b="0" i="0">
                <a:solidFill>
                  <a:srgbClr val="0B1736"/>
                </a:solidFill>
                <a:latin typeface="Cambria Math"/>
              </a:rPr>
              <a:t> ) |−⟩</a:t>
            </a:r>
          </a:p>
        </p:txBody>
      </p:sp>
      <p:sp>
        <p:nvSpPr>
          <p:cNvPr id="18" name="Oval 17"/>
          <p:cNvSpPr/>
          <p:nvPr/>
        </p:nvSpPr>
        <p:spPr>
          <a:xfrm>
            <a:off x="1353312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000</a:t>
            </a:r>
          </a:p>
        </p:txBody>
      </p:sp>
      <p:sp>
        <p:nvSpPr>
          <p:cNvPr id="21" name="Oval 20"/>
          <p:cNvSpPr/>
          <p:nvPr/>
        </p:nvSpPr>
        <p:spPr>
          <a:xfrm>
            <a:off x="2606040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001</a:t>
            </a:r>
          </a:p>
        </p:txBody>
      </p:sp>
      <p:sp>
        <p:nvSpPr>
          <p:cNvPr id="24" name="Oval 23"/>
          <p:cNvSpPr/>
          <p:nvPr/>
        </p:nvSpPr>
        <p:spPr>
          <a:xfrm>
            <a:off x="3858768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010</a:t>
            </a:r>
          </a:p>
        </p:txBody>
      </p:sp>
      <p:sp>
        <p:nvSpPr>
          <p:cNvPr id="27" name="Oval 26"/>
          <p:cNvSpPr/>
          <p:nvPr/>
        </p:nvSpPr>
        <p:spPr>
          <a:xfrm>
            <a:off x="5111496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011</a:t>
            </a:r>
          </a:p>
        </p:txBody>
      </p:sp>
      <p:sp>
        <p:nvSpPr>
          <p:cNvPr id="30" name="Oval 29"/>
          <p:cNvSpPr/>
          <p:nvPr/>
        </p:nvSpPr>
        <p:spPr>
          <a:xfrm>
            <a:off x="6364224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100</a:t>
            </a:r>
          </a:p>
        </p:txBody>
      </p:sp>
      <p:sp>
        <p:nvSpPr>
          <p:cNvPr id="33" name="Oval 32"/>
          <p:cNvSpPr/>
          <p:nvPr/>
        </p:nvSpPr>
        <p:spPr>
          <a:xfrm>
            <a:off x="7616952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16952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101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0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110</a:t>
            </a:r>
          </a:p>
        </p:txBody>
      </p:sp>
      <p:sp>
        <p:nvSpPr>
          <p:cNvPr id="39" name="Oval 38"/>
          <p:cNvSpPr/>
          <p:nvPr/>
        </p:nvSpPr>
        <p:spPr>
          <a:xfrm>
            <a:off x="10122408" y="5029200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22408" y="5029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 Display"/>
              </a:rPr>
              <a:t>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468112"/>
            <a:ext cx="51206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Cambria Math"/>
              </a:rPr>
              <a:t>111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769864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79"/>
                </a:solidFill>
                <a:latin typeface="Aptos"/>
              </a:rPr>
              <a:t>The target remains |−⟩ and factors out.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EXERCISE · DERIVE PHASE KICKBACK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Can you recover the phase-kickback identity from the marking oracle?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Work independently for 5–7 minutes, then compare derivations.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DERIVE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176272"/>
            <a:ext cx="10378440" cy="960120"/>
          </a:xfrm>
          <a:prstGeom prst="rect">
            <a:avLst/>
          </a:prstGeom>
          <a:noFill/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267712"/>
            <a:ext cx="996696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0B1736"/>
                </a:solidFill>
                <a:latin typeface="Cambria Math"/>
              </a:rPr>
              <a:t>Uƒ ( |x⟩ (|0⟩ − |1⟩)/√2 )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0215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YOUR ROUTE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88620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86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91363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"/>
              </a:rPr>
              <a:t>Expand the target superposition.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79" y="388620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79" y="38862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1363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"/>
              </a:rPr>
              <a:t>Apply y → y ⊕ f(x) to each term.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56285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628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59028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"/>
              </a:rPr>
              <a:t>Separate the cases f(x)=0 and f(x)=1.</a:t>
            </a:r>
          </a:p>
        </p:txBody>
      </p:sp>
      <p:sp>
        <p:nvSpPr>
          <p:cNvPr id="24" name="Oval 23"/>
          <p:cNvSpPr/>
          <p:nvPr/>
        </p:nvSpPr>
        <p:spPr>
          <a:xfrm>
            <a:off x="6126479" y="456285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79" y="456285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9028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"/>
              </a:rPr>
              <a:t>Factor the target state back 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468112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D5CE7"/>
                </a:solidFill>
                <a:latin typeface="Aptos Display"/>
              </a:rPr>
              <a:t>5–7 MIN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6112" y="5340096"/>
            <a:ext cx="10076688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5522976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26079"/>
                </a:solidFill>
                <a:latin typeface="Aptos Display"/>
              </a:rPr>
              <a:t>Goal: show that the target returns unchanged while f(x) appears as phase.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OTHER ORACLE CONSTRUCTIONS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Oracle design depends on what property must be exposed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64792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OR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21408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mark when any selected input bit is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1901952"/>
            <a:ext cx="78638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901952"/>
            <a:ext cx="78638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Cambria Math"/>
              </a:rPr>
              <a:t>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" y="2862072"/>
            <a:ext cx="4663440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90488" y="1764792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K-TH-BIT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21408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phase from one selected bit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1901952"/>
            <a:ext cx="78638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1901952"/>
            <a:ext cx="78638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Cambria Math"/>
              </a:rPr>
              <a:t>Z(qₖ)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90488" y="2862072"/>
            <a:ext cx="4663440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384" y="365760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PHASE ORACLE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014215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encode f(x) as amplitude 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3794760"/>
            <a:ext cx="78638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3794760"/>
            <a:ext cx="78638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Cambria Math"/>
              </a:rPr>
              <a:t>(−1)ᶠ⁽ˣ⁾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" y="4754880"/>
            <a:ext cx="4663440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90488" y="365760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MARKING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4014215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write f(x) into a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3794760"/>
            <a:ext cx="786384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3794760"/>
            <a:ext cx="78638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Cambria Math"/>
              </a:rPr>
              <a:t>y⊕f(x)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90488" y="4754880"/>
            <a:ext cx="4663440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58768" y="5239512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K-th bit simplification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16752" y="5285232"/>
            <a:ext cx="658368" cy="201168"/>
          </a:xfrm>
          <a:prstGeom prst="rightArrow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5148072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736"/>
                </a:solidFill>
                <a:latin typeface="Cambria Math"/>
              </a:rPr>
              <a:t>apply Z to qₖ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715000"/>
            <a:ext cx="8869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Choose the simplest oracle that exposes the needed predicate.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21207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ENGINEERING AN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Translate the problem into a reversible function before drawing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This four-step template will guide the afternoon exercises.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32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938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7860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81528"/>
            <a:ext cx="2267712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What property must the algorithm learn?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206240"/>
            <a:ext cx="2212848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3044952" y="3374136"/>
            <a:ext cx="347472" cy="22860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20440" y="1938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7860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"/>
              </a:rPr>
              <a:t>BOOLEAN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081528"/>
            <a:ext cx="2267712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Define f(x) precisely.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4206240"/>
            <a:ext cx="2212848" cy="54864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5852160" y="3374136"/>
            <a:ext cx="347472" cy="22860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27648" y="1938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7860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"/>
              </a:rPr>
              <a:t>REVERSIBLE CIRCUIT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081528"/>
            <a:ext cx="2267712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Compute f without losing information.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206240"/>
            <a:ext cx="2212848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8659367" y="3374136"/>
            <a:ext cx="347472" cy="22860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34856" y="19385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34856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257860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"/>
              </a:rPr>
              <a:t>ORACLE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3081528"/>
            <a:ext cx="2267712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Expose f as marking or phase.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856" y="4206240"/>
            <a:ext cx="2212848" cy="54864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749808" y="4754880"/>
            <a:ext cx="10241280" cy="0"/>
          </a:xfrm>
          <a:prstGeom prst="line">
            <a:avLst/>
          </a:prstGeom>
          <a:ln w="1143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8" y="501091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CHECK BEFORE BUILDING</a:t>
            </a:r>
          </a:p>
        </p:txBody>
      </p:sp>
      <p:sp>
        <p:nvSpPr>
          <p:cNvPr id="36" name="Oval 35"/>
          <p:cNvSpPr/>
          <p:nvPr/>
        </p:nvSpPr>
        <p:spPr>
          <a:xfrm>
            <a:off x="2962656" y="4965192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62656" y="49560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2" y="495604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736"/>
                </a:solidFill>
                <a:latin typeface="Aptos"/>
              </a:rPr>
              <a:t>truth condition</a:t>
            </a:r>
          </a:p>
        </p:txBody>
      </p:sp>
      <p:sp>
        <p:nvSpPr>
          <p:cNvPr id="39" name="Oval 38"/>
          <p:cNvSpPr/>
          <p:nvPr/>
        </p:nvSpPr>
        <p:spPr>
          <a:xfrm>
            <a:off x="4928616" y="4965192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28616" y="49560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495604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736"/>
                </a:solidFill>
                <a:latin typeface="Aptos"/>
              </a:rPr>
              <a:t>ancilla policy</a:t>
            </a:r>
          </a:p>
        </p:txBody>
      </p:sp>
      <p:sp>
        <p:nvSpPr>
          <p:cNvPr id="42" name="Oval 41"/>
          <p:cNvSpPr/>
          <p:nvPr/>
        </p:nvSpPr>
        <p:spPr>
          <a:xfrm>
            <a:off x="6894576" y="4965192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94576" y="49560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8E8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495604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736"/>
                </a:solidFill>
                <a:latin typeface="Aptos"/>
              </a:rPr>
              <a:t>uncomputation</a:t>
            </a:r>
          </a:p>
        </p:txBody>
      </p:sp>
      <p:sp>
        <p:nvSpPr>
          <p:cNvPr id="45" name="Oval 44"/>
          <p:cNvSpPr/>
          <p:nvPr/>
        </p:nvSpPr>
        <p:spPr>
          <a:xfrm>
            <a:off x="8860536" y="4965192"/>
            <a:ext cx="228600" cy="2286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0536" y="49560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D5CE7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432" y="495604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736"/>
                </a:solidFill>
                <a:latin typeface="Aptos"/>
              </a:rPr>
              <a:t>query interface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2" y="5614416"/>
            <a:ext cx="824788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Aptos Display"/>
              </a:rPr>
              <a:t>Problem  →  Boolean function  →  reversible circuit  →  oracle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PART V · QFT AND ALGORITHM LANDSCAPE · 11:50–12:35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Quantum algorithms cluster into three broad families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33</a:t>
            </a:r>
          </a:p>
        </p:txBody>
      </p:sp>
      <p:sp>
        <p:nvSpPr>
          <p:cNvPr id="10" name="Oval 9"/>
          <p:cNvSpPr/>
          <p:nvPr/>
        </p:nvSpPr>
        <p:spPr>
          <a:xfrm>
            <a:off x="1591056" y="1755648"/>
            <a:ext cx="1298448" cy="12984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91056" y="1755648"/>
            <a:ext cx="1298448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A8E8"/>
                </a:solidFill>
                <a:latin typeface="Aptos Display"/>
              </a:rPr>
              <a:t>QFT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46704"/>
            <a:ext cx="292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Aptos Display"/>
              </a:rPr>
              <a:t>QUANTUM FOURIER
TRANSFORM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4261104"/>
            <a:ext cx="173736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59028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26079"/>
                </a:solidFill>
                <a:latin typeface="Aptos"/>
              </a:rPr>
              <a:t>Shor · phase estimation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77055" y="1737360"/>
            <a:ext cx="0" cy="3639312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974336" y="1755648"/>
            <a:ext cx="1298448" cy="12984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74336" y="1755648"/>
            <a:ext cx="1298448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D5CE7"/>
                </a:solidFill>
                <a:latin typeface="Cambria Math"/>
              </a:rPr>
              <a:t>√N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3346704"/>
            <a:ext cx="292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Aptos Display"/>
              </a:rPr>
              <a:t>QUANTUM
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7448" y="4261104"/>
            <a:ext cx="1737360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3087" y="459028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26079"/>
                </a:solidFill>
                <a:latin typeface="Aptos"/>
              </a:rPr>
              <a:t>Grover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60336" y="1737360"/>
            <a:ext cx="0" cy="3639312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57616" y="1755648"/>
            <a:ext cx="1298448" cy="12984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1755648"/>
            <a:ext cx="1298448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8E8"/>
                </a:solidFill>
                <a:latin typeface="Cambria Math"/>
              </a:rPr>
              <a:t>e⁻ⁱᴴᵗ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346704"/>
            <a:ext cx="292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Aptos Display"/>
              </a:rPr>
              <a:t>QUANTUM
SIMULATION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0728" y="4261104"/>
            <a:ext cx="173736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16368" y="459028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526079"/>
                </a:solidFill>
                <a:latin typeface="Aptos"/>
              </a:rPr>
              <a:t>Hamiltonian 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5955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324B"/>
                </a:solidFill>
                <a:latin typeface="Aptos Display"/>
              </a:rPr>
              <a:t>The families differ in mechanism, but each engineers interference around a problem structure.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CLASSICAL FOURIER TRANSFORM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Fourier transforms expose frequency structure by changing representation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051560" y="1664208"/>
                <a:ext cx="10104120" cy="9601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30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000" b="0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ₖ =  </m:t>
                      </m:r>
                      <m:nary>
                        <m:naryPr>
                          <m:chr m:val="∑"/>
                          <m:ctrlP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3000" i="1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000" i="1" dirty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ⱼ</m:t>
                          </m:r>
                          <m:sSup>
                            <m:sSupPr>
                              <m:ctrlPr>
                                <a:rPr lang="en-US" sz="3000" i="1" dirty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i="1" dirty="0">
                                  <a:solidFill>
                                    <a:srgbClr val="0B1736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3000" b="0" i="1" dirty="0" smtClean="0">
                                      <a:solidFill>
                                        <a:srgbClr val="0B173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000" b="0" i="1" dirty="0" smtClean="0">
                                      <a:solidFill>
                                        <a:srgbClr val="0B1736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000" b="0" i="1" dirty="0" smtClean="0">
                                      <a:solidFill>
                                        <a:srgbClr val="0B1736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3000" b="0" i="1" dirty="0" smtClean="0">
                                      <a:solidFill>
                                        <a:srgbClr val="0B17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num>
                                <m:den>
                                  <m:r>
                                    <a:rPr lang="en-US" sz="3000" b="0" i="1" dirty="0" smtClean="0">
                                      <a:solidFill>
                                        <a:srgbClr val="0B1736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3000" b="0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sz="30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" y="1664208"/>
                <a:ext cx="10104120" cy="960120"/>
              </a:xfrm>
              <a:prstGeom prst="rect">
                <a:avLst/>
              </a:prstGeom>
              <a:blipFill>
                <a:blip r:embed="rId3"/>
                <a:stretch>
                  <a:fillRect t="-15190" b="-19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828800" y="268833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26079"/>
                </a:solidFill>
                <a:latin typeface="Aptos"/>
              </a:rPr>
              <a:t>samples  xⱼ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47488" y="2724912"/>
            <a:ext cx="749808" cy="21945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68833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26079"/>
                </a:solidFill>
                <a:latin typeface="Aptos"/>
              </a:rPr>
              <a:t>frequency amplitudes  Xₖ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40156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015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REPRESENTATION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17136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The same information is rewritten in a basis of oscillatory components.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559552"/>
            <a:ext cx="2450592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60520" y="340156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34015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06908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FREQUENCY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517136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Magnitude and phase reveal which periodic patterns are present.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5559552"/>
            <a:ext cx="2450592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52360" y="340156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340156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06908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517136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Use the frequency-domain view to analyze, filter, or compress structure.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5559552"/>
            <a:ext cx="2450592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QUANTUM FOURIER TRANSFORM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QFT is a unitary basis change with a Fourier phase pattern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896112" y="1828800"/>
                <a:ext cx="7452360" cy="10241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600" b="0" i="1" dirty="0" smtClean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dirty="0" smtClean="0">
                        <a:solidFill>
                          <a:srgbClr val="0B1736"/>
                        </a:solidFill>
                        <a:latin typeface="Cambria Math" panose="02040503050406030204" pitchFamily="18" charset="0"/>
                      </a:rPr>
                      <m:t>⟩  → </m:t>
                    </m:r>
                    <m:f>
                      <m:fPr>
                        <m:ctrlPr>
                          <a:rPr lang="en-US" sz="26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600" b="0" i="1" dirty="0" smtClean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6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600" b="0" i="0" dirty="0">
                    <a:solidFill>
                      <a:srgbClr val="0B1736"/>
                    </a:solidFill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ar-AE" sz="28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800" i="1" dirty="0">
                                <a:solidFill>
                                  <a:srgbClr val="0B1736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ar-AE" sz="2800" i="1" dirty="0">
                                    <a:solidFill>
                                      <a:srgbClr val="0B173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800" i="1" dirty="0">
                                    <a:solidFill>
                                      <a:srgbClr val="0B173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sz="2800" i="1" dirty="0">
                                    <a:solidFill>
                                      <a:srgbClr val="0B1736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ar-AE" sz="2800" i="1" dirty="0">
                                    <a:solidFill>
                                      <a:srgbClr val="0B1736"/>
                                    </a:solidFill>
                                    <a:latin typeface="Cambria Math" panose="02040503050406030204" pitchFamily="18" charset="0"/>
                                  </a:rPr>
                                  <m:t>𝑖𝑥𝑦</m:t>
                                </m:r>
                              </m:num>
                              <m:den>
                                <m:r>
                                  <a:rPr lang="ar-AE" sz="2800" i="1" dirty="0">
                                    <a:solidFill>
                                      <a:srgbClr val="0B173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  <m:r>
                          <a:rPr lang="ar-AE" sz="2800" i="1" dirty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ar-AE" sz="2600" b="0" i="0" dirty="0">
                    <a:solidFill>
                      <a:srgbClr val="0B1736"/>
                    </a:solidFill>
                    <a:latin typeface="Cambria Math"/>
                  </a:rPr>
                  <a:t> |</a:t>
                </a:r>
                <a:r>
                  <a:rPr lang="en-US" sz="2600" b="0" i="0" dirty="0">
                    <a:solidFill>
                      <a:srgbClr val="0B1736"/>
                    </a:solidFill>
                    <a:latin typeface="Cambria Math"/>
                  </a:rPr>
                  <a:t>y⟩</a:t>
                </a:r>
                <a:endParaRPr sz="2600" b="0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1828800"/>
                <a:ext cx="7452360" cy="1024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 10"/>
          <p:cNvCxnSpPr/>
          <p:nvPr/>
        </p:nvCxnSpPr>
        <p:spPr>
          <a:xfrm>
            <a:off x="8549640" y="1719072"/>
            <a:ext cx="0" cy="374904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345168" y="1847088"/>
            <a:ext cx="1298448" cy="12984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5168" y="1847088"/>
            <a:ext cx="1298448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6D5CE7"/>
                </a:solidFill>
                <a:latin typeface="Cambria Math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7112" y="340156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"/>
              </a:rPr>
              <a:t>UNITARY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8851392" y="3803904"/>
                <a:ext cx="2286000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2200" b="1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𝑸𝑭</m:t>
                      </m:r>
                      <m:sSup>
                        <m:sSupPr>
                          <m:ctrlPr>
                            <a:rPr lang="en-US" sz="2200" b="1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sz="2200" b="1" i="1" dirty="0" smtClean="0">
                              <a:solidFill>
                                <a:srgbClr val="0B1736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200" b="1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𝑸𝑭𝑻</m:t>
                      </m:r>
                      <m:r>
                        <a:rPr lang="en-US" sz="2200" b="1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b="1" i="1" dirty="0" smtClean="0">
                          <a:solidFill>
                            <a:srgbClr val="0B1736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sz="2200" b="1" i="0" dirty="0">
                  <a:solidFill>
                    <a:srgbClr val="0B1736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392" y="3803904"/>
                <a:ext cx="2286000" cy="502920"/>
              </a:xfrm>
              <a:prstGeom prst="rect">
                <a:avLst/>
              </a:prstGeom>
              <a:blipFill>
                <a:blip r:embed="rId4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732520" y="4507992"/>
            <a:ext cx="2523744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26079"/>
                </a:solidFill>
                <a:latin typeface="Aptos Display"/>
              </a:rPr>
              <a:t>Norms and inner products are preserved.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" y="3200400"/>
            <a:ext cx="710488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15568" y="35478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INPUT BASIS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005072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1736"/>
                </a:solidFill>
                <a:latin typeface="Cambria Math"/>
              </a:rPr>
              <a:t>|x⟩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35478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OUTPUT SUPERPOSITION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4005072"/>
            <a:ext cx="34290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736"/>
                </a:solidFill>
                <a:latin typeface="Aptos Display"/>
              </a:rPr>
              <a:t>phases depend on xy/N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257800"/>
            <a:ext cx="6949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324B"/>
                </a:solidFill>
                <a:latin typeface="Aptos Display"/>
              </a:rPr>
              <a:t>Because the map is unitary, it is reversible: the inverse QFT undoes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QFT CIRCUIT STRUCTURE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QFT circuits repeat Hadamards, controlled phases, and bit reversal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This schematic shows the recurring motifs—not the complete general decomposition.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1284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Cambria Math"/>
              </a:rPr>
              <a:t>|x0⟩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2395728"/>
            <a:ext cx="946404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3081527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Cambria Math"/>
              </a:rPr>
              <a:t>|x1⟩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264408"/>
            <a:ext cx="946404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3950207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Cambria Math"/>
              </a:rPr>
              <a:t>|x2⟩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4133087"/>
            <a:ext cx="946404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011680" y="2139696"/>
            <a:ext cx="512064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21396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3008376"/>
            <a:ext cx="512064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300837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3877055"/>
            <a:ext cx="512064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3877055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54680" y="2395728"/>
            <a:ext cx="0" cy="868680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081528" y="3191256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26080" y="216712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2167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Cambria Math"/>
              </a:rPr>
              <a:t>R₂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86200" y="2395728"/>
            <a:ext cx="0" cy="1737359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813048" y="4059935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657600" y="216712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2167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Cambria Math"/>
              </a:rPr>
              <a:t>R₃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0" y="3264408"/>
            <a:ext cx="0" cy="868679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53328" y="4059935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897880" y="3035808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97880" y="30358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5CE7"/>
                </a:solidFill>
                <a:latin typeface="Cambria Math"/>
              </a:rPr>
              <a:t>R₂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38360" y="2395728"/>
            <a:ext cx="0" cy="1737359"/>
          </a:xfrm>
          <a:prstGeom prst="line">
            <a:avLst/>
          </a:prstGeom>
          <a:ln w="1524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82912" y="2221992"/>
            <a:ext cx="31089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8E8"/>
                </a:solidFill>
                <a:latin typeface="Cambria Math"/>
              </a:rPr>
              <a:t>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3959351"/>
            <a:ext cx="310896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8E8"/>
                </a:solidFill>
                <a:latin typeface="Cambria Math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84632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HADAMARDS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230368"/>
            <a:ext cx="2761488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create local Fourier mixing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63624" y="5733288"/>
            <a:ext cx="210312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15968" y="484632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CONTROLLED PHASES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5968" y="5230368"/>
            <a:ext cx="2761488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add scale-dependent phases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5733288"/>
            <a:ext cx="2103120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83879" y="4846320"/>
            <a:ext cx="27614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SWAP / REVERSAL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5230368"/>
            <a:ext cx="2761488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restore output bit order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13063" y="5733288"/>
            <a:ext cx="210312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WHY QFT MATTERS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Hidden periodicity becomes visible as Fourier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901952"/>
            <a:ext cx="4023360" cy="1078992"/>
          </a:xfrm>
          <a:prstGeom prst="rect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3657600" cy="107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A8E8"/>
                </a:solidFill>
                <a:latin typeface="Aptos Display"/>
              </a:rPr>
              <a:t>HIDDEN PERIODICITY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85232" y="2267712"/>
            <a:ext cx="1572768" cy="329184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42048" y="1901952"/>
            <a:ext cx="4023360" cy="1078992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4927" y="1901952"/>
            <a:ext cx="3657600" cy="107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D5CE7"/>
                </a:solidFill>
                <a:latin typeface="Aptos Display"/>
              </a:rPr>
              <a:t>FOURIER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10128"/>
            <a:ext cx="84582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Interference redistributes probability toward outcomes that encode the period.</a:t>
            </a:r>
          </a:p>
        </p:txBody>
      </p:sp>
      <p:sp>
        <p:nvSpPr>
          <p:cNvPr id="16" name="Oval 15"/>
          <p:cNvSpPr/>
          <p:nvPr/>
        </p:nvSpPr>
        <p:spPr>
          <a:xfrm>
            <a:off x="1078992" y="4187952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169663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1736"/>
                </a:solidFill>
                <a:latin typeface="Aptos Display"/>
              </a:rPr>
              <a:t>PHASE ESTIMATION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" y="4983480"/>
            <a:ext cx="26974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43400" y="4187952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4169663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1736"/>
                </a:solidFill>
                <a:latin typeface="Aptos Display"/>
              </a:rPr>
              <a:t>PERIOD FINDING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983480"/>
            <a:ext cx="2697480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607808" y="4187952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07808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69663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1736"/>
                </a:solidFill>
                <a:latin typeface="Aptos Display"/>
              </a:rPr>
              <a:t>SHOR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7808" y="4983480"/>
            <a:ext cx="26974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534924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26079"/>
                </a:solidFill>
                <a:latin typeface="Aptos Display"/>
              </a:rPr>
              <a:t>QFT is the bridge: periodic structure in amplitudes becomes a measurable distribution.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THE READOUT PROBLEM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Fast state transformation does not imply fast classical readout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19072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QUANTUM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736"/>
                </a:solidFill>
                <a:latin typeface="Cambria Math"/>
              </a:rPr>
              <a:t>|ψ⟩ = ∑ₓ αₓ|x⟩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8036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26079"/>
                </a:solidFill>
                <a:latin typeface="Aptos Display"/>
              </a:rPr>
              <a:t>up to 2ⁿ complex amplitudes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3739896"/>
            <a:ext cx="0" cy="164591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98448" y="3557015"/>
            <a:ext cx="0" cy="347472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45336" y="3675887"/>
            <a:ext cx="0" cy="22860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92224" y="3337559"/>
            <a:ext cx="0" cy="566928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39112" y="3630168"/>
            <a:ext cx="0" cy="274319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3465575"/>
            <a:ext cx="0" cy="438912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32888" y="3721607"/>
            <a:ext cx="0" cy="18288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79776" y="3392423"/>
            <a:ext cx="0" cy="512064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26664" y="3593591"/>
            <a:ext cx="0" cy="310896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73552" y="3273551"/>
            <a:ext cx="0" cy="630936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20440" y="3657599"/>
            <a:ext cx="0" cy="246888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67328" y="3502151"/>
            <a:ext cx="0" cy="402336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28616" y="2395728"/>
            <a:ext cx="1005840" cy="987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9AA6B9"/>
                </a:solidFill>
                <a:latin typeface="Cambria Math"/>
              </a:rPr>
              <a:t>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71907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MEASUREMENT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2139696"/>
            <a:ext cx="2395728" cy="841248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3488" y="2139696"/>
            <a:ext cx="239572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D5CE7"/>
                </a:solidFill>
                <a:latin typeface="Cambria Math"/>
              </a:rPr>
              <a:t>101…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163824"/>
            <a:ext cx="349300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26079"/>
                </a:solidFill>
                <a:latin typeface="Aptos Display"/>
              </a:rPr>
              <a:t>one classical outcome per shot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" y="4343400"/>
            <a:ext cx="10094976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120" y="4590288"/>
            <a:ext cx="1014984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736"/>
                </a:solidFill>
                <a:latin typeface="Aptos Display"/>
              </a:rPr>
              <a:t>Efficient transformation  ≠  efficient classical readout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440680"/>
            <a:ext cx="96926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A8E8"/>
                </a:solidFill>
                <a:latin typeface="Aptos Display"/>
              </a:rPr>
              <a:t>Recall Slide 10: many amplitudes can coexist, but measurement returns limited information.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THE ALGORITHMIC PATTERN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Quantum algorithms repeatedly prepare, transform, query, interfere, and measure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39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19202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736"/>
                </a:solidFill>
                <a:latin typeface="Aptos Display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0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950208"/>
            <a:ext cx="1225296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2386584" y="2889504"/>
            <a:ext cx="402336" cy="21945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47288" y="19202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77063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736"/>
                </a:solidFill>
                <a:latin typeface="Aptos Display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410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basis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950208"/>
            <a:ext cx="1225296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599432" y="2889504"/>
            <a:ext cx="402336" cy="21945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0136" y="19202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0136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77063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736"/>
                </a:solidFill>
                <a:latin typeface="Aptos Display"/>
              </a:rPr>
              <a:t>ORACLE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410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6088" y="3950208"/>
            <a:ext cx="1225296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6812280" y="2889504"/>
            <a:ext cx="402336" cy="21945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72983" y="19202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72983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277063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736"/>
                </a:solidFill>
                <a:latin typeface="Aptos Display"/>
              </a:rPr>
              <a:t>INTERFERE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4344" y="3410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amplitudes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88936" y="3950208"/>
            <a:ext cx="1225296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9025128" y="2889504"/>
            <a:ext cx="402336" cy="21945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85832" y="19202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85832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77063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736"/>
                </a:solidFill>
                <a:latin typeface="Aptos Display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3410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sample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1784" y="3950208"/>
            <a:ext cx="1225296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28" y="4636008"/>
            <a:ext cx="101315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6D5CE7"/>
                </a:solidFill>
                <a:latin typeface="Aptos Display"/>
              </a:rPr>
              <a:t>Prepare  →  Transform  →  Oracle  →  Interfere  →  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413248"/>
            <a:ext cx="96743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B1736"/>
                </a:solidFill>
                <a:latin typeface="Aptos Display"/>
              </a:rPr>
              <a:t>The design goal is to make useful outcomes likely before the final sample is taken.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PART VI · DEUTSCH AND DEUTSCH–JOZSA · 13:20–14:20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Afternoon challenge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27632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LUNCH · 12:35–13:20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10287000" cy="1444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B1736"/>
                </a:solidFill>
                <a:latin typeface="Aptos Display"/>
              </a:rPr>
              <a:t>Can one quantum query reveal
a global property of a function?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3886200"/>
            <a:ext cx="2724912" cy="0"/>
          </a:xfrm>
          <a:prstGeom prst="line">
            <a:avLst/>
          </a:prstGeom>
          <a:ln w="2540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83480" y="3529584"/>
            <a:ext cx="22402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6D5CE7"/>
                </a:solidFill>
                <a:latin typeface="Aptos Display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3886200"/>
            <a:ext cx="2724913" cy="0"/>
          </a:xfrm>
          <a:prstGeom prst="line">
            <a:avLst/>
          </a:prstGeom>
          <a:ln w="2540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47488" y="4407408"/>
            <a:ext cx="211226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CE7"/>
                </a:solidFill>
                <a:latin typeface="Aptos"/>
              </a:rPr>
              <a:t>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5065776"/>
            <a:ext cx="81381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26079"/>
                </a:solidFill>
                <a:latin typeface="Aptos Display"/>
              </a:rPr>
              <a:t>Deutsch gives the smallest possible test case.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DEUTSCH'S PROBLEM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one-bit function is promised to be constant or balanced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27632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1736"/>
                </a:solidFill>
                <a:latin typeface="Cambria Math"/>
              </a:rPr>
              <a:t>f : {0,1} → {0,1}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PROMISE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953512"/>
            <a:ext cx="1020470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346704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8E8"/>
                </a:solidFill>
                <a:latin typeface="Aptos Display"/>
              </a:rPr>
              <a:t>CONSTANT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3632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736"/>
                </a:solidFill>
                <a:latin typeface="Cambria Math"/>
              </a:rPr>
              <a:t>f(0) = f(1)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3200400"/>
            <a:ext cx="0" cy="141732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76288" y="3346704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D5CE7"/>
                </a:solidFill>
                <a:latin typeface="Aptos Display"/>
              </a:rPr>
              <a:t>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913632"/>
            <a:ext cx="39319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736"/>
                </a:solidFill>
                <a:latin typeface="Cambria Math"/>
              </a:rPr>
              <a:t>f(0) ≠ f(1)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4901184"/>
            <a:ext cx="6071616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4901184"/>
            <a:ext cx="5705856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Aptos Display"/>
              </a:rPr>
              <a:t>DETERMINE WHICH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CLASSICAL STRATEGY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Deterministic classical certainty requires both function evaluations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24128" y="1673352"/>
          <a:ext cx="7452360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Function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f(0)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f(1)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Cambria Math"/>
                        </a:rPr>
                        <a:t>f₁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Aptos"/>
                        </a:rPr>
                        <a:t>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Cambria Math"/>
                        </a:rPr>
                        <a:t>f₂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1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1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Aptos"/>
                        </a:rPr>
                        <a:t>constant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Cambria Math"/>
                        </a:rPr>
                        <a:t>f₃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Aptos"/>
                        </a:rPr>
                        <a:t>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Cambria Math"/>
                        </a:rPr>
                        <a:t>f₄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1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B1736"/>
                          </a:solidFill>
                          <a:latin typeface="Cambria Math"/>
                        </a:rPr>
                        <a:t>0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B1736"/>
                          </a:solidFill>
                          <a:latin typeface="Aptos"/>
                        </a:rPr>
                        <a:t>balanced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62288" y="17922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2276856"/>
            <a:ext cx="1627632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evaluations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87968" y="3749039"/>
            <a:ext cx="246888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24544" y="4059936"/>
            <a:ext cx="24231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26079"/>
                </a:solidFill>
                <a:latin typeface="Aptos Display"/>
              </a:rPr>
              <a:t>One value alone cannot rule out both a constant and a balanced function.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5468112"/>
            <a:ext cx="7132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324B"/>
                </a:solidFill>
                <a:latin typeface="Aptos Display"/>
              </a:rPr>
              <a:t>Worst-case deterministic query complexity: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DEUTSCH CIRCUIT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One oracle query becomes decisive only after interference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The ancilla is prepared in |−⟩ so the oracle writes f(x) into phase.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50008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Cambria Math"/>
              </a:rPr>
              <a:t>|0⟩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66744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Cambria Math"/>
              </a:rPr>
              <a:t>|1⟩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542032"/>
            <a:ext cx="955548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320" y="3858768"/>
            <a:ext cx="955548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65960" y="2276856"/>
            <a:ext cx="53035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0" y="227685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3593591"/>
            <a:ext cx="53035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3593591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7" y="2139696"/>
            <a:ext cx="2834640" cy="2121408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04487" y="2139696"/>
            <a:ext cx="2834640" cy="2121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3708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ONE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276856"/>
            <a:ext cx="53035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91856" y="227685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231136"/>
            <a:ext cx="658368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2231136"/>
            <a:ext cx="65836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8E8"/>
                </a:solidFill>
                <a:latin typeface="Aptos Display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521208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0 → constant    ·    1 → balanced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STEP-BY-STEP STATE EVOLUTION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Deutsch turns the promise into a measurable phase difference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INPUT</a:t>
            </a:r>
          </a:p>
        </p:txBody>
      </p:sp>
      <p:sp>
        <p:nvSpPr>
          <p:cNvPr id="11" name="Oval 10"/>
          <p:cNvSpPr/>
          <p:nvPr/>
        </p:nvSpPr>
        <p:spPr>
          <a:xfrm>
            <a:off x="2487168" y="1572768"/>
            <a:ext cx="310896" cy="3108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15727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490472"/>
            <a:ext cx="71140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Cambria Math"/>
              </a:rPr>
              <a:t>|0⟩|1⟩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1911095"/>
            <a:ext cx="0" cy="694945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276148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H ⊗ H</a:t>
            </a:r>
          </a:p>
        </p:txBody>
      </p:sp>
      <p:sp>
        <p:nvSpPr>
          <p:cNvPr id="16" name="Oval 15"/>
          <p:cNvSpPr/>
          <p:nvPr/>
        </p:nvSpPr>
        <p:spPr>
          <a:xfrm>
            <a:off x="2487168" y="2734056"/>
            <a:ext cx="310896" cy="3108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7168" y="27340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651760"/>
            <a:ext cx="71140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Cambria Math"/>
              </a:rPr>
              <a:t>|+⟩|−⟩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42616" y="3072384"/>
            <a:ext cx="0" cy="694944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92277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A8E8"/>
                </a:solidFill>
                <a:latin typeface="Aptos"/>
              </a:rPr>
              <a:t>ORACLE → PHASE</a:t>
            </a:r>
          </a:p>
        </p:txBody>
      </p:sp>
      <p:sp>
        <p:nvSpPr>
          <p:cNvPr id="21" name="Oval 20"/>
          <p:cNvSpPr/>
          <p:nvPr/>
        </p:nvSpPr>
        <p:spPr>
          <a:xfrm>
            <a:off x="2487168" y="3895344"/>
            <a:ext cx="310896" cy="3108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87168" y="38953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3813048"/>
            <a:ext cx="71140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B1736"/>
                </a:solidFill>
                <a:latin typeface="Cambria Math"/>
              </a:rPr>
              <a:t>1/√2 ∑ₓ (−1)ᶠ⁽ˣ⁾ |x⟩|−⟩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42616" y="4233672"/>
            <a:ext cx="0" cy="694944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08406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FINAL H</a:t>
            </a:r>
          </a:p>
        </p:txBody>
      </p:sp>
      <p:sp>
        <p:nvSpPr>
          <p:cNvPr id="26" name="Oval 25"/>
          <p:cNvSpPr/>
          <p:nvPr/>
        </p:nvSpPr>
        <p:spPr>
          <a:xfrm>
            <a:off x="2487168" y="5056631"/>
            <a:ext cx="310896" cy="3108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505663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CE7"/>
                </a:solidFill>
                <a:latin typeface="Aptos Display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974336"/>
            <a:ext cx="71140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Cambria Math"/>
              </a:rPr>
              <a:t>±|0⟩|−⟩  or  ±|1⟩|−⟩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69296" y="1591056"/>
            <a:ext cx="0" cy="3941064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561320" y="18288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2359152"/>
            <a:ext cx="67665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A8E8"/>
                </a:solidFill>
                <a:latin typeface="Aptos Display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2448" y="2999232"/>
            <a:ext cx="124358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constant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3858768"/>
            <a:ext cx="67665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D5CE7"/>
                </a:solidFill>
                <a:latin typeface="Aptos Display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4498848"/>
            <a:ext cx="124358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balanced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32704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26079"/>
                </a:solidFill>
                <a:latin typeface="Aptos Display"/>
              </a:rPr>
              <a:t>The oracle phase is global for constant functions and relative for balanced functions.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INTERFERENCE DOES THE WORK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Deutsch does not read both values—the two paths interfere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75564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PATH x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5798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Cambria Math"/>
              </a:rPr>
              <a:t>(−1)ᶠ⁽⁰⁾ |0⟩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75564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PATH x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15798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736"/>
                </a:solidFill>
                <a:latin typeface="Cambria Math"/>
              </a:rPr>
              <a:t>(−1)ᶠ⁽¹⁾ |1⟩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33087" y="2340864"/>
            <a:ext cx="987552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21808" y="1938528"/>
            <a:ext cx="1554480" cy="1554480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1938528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6D5CE7"/>
                </a:solidFill>
                <a:latin typeface="Aptos Display"/>
              </a:rPr>
              <a:t>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3931920"/>
            <a:ext cx="1033272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8992" y="4315968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SAME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Aptos Display"/>
              </a:rPr>
              <a:t>constructive at |0⟩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33095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Aptos Display"/>
              </a:rPr>
              <a:t>→ constant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4224528"/>
            <a:ext cx="0" cy="1481328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79792" y="43159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OPPOSITE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4754880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736"/>
                </a:solidFill>
                <a:latin typeface="Aptos Display"/>
              </a:rPr>
              <a:t>destructive at |0⟩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33095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D5CE7"/>
                </a:solidFill>
                <a:latin typeface="Aptos Display"/>
              </a:rPr>
              <a:t>→ balanced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059168" y="2340864"/>
            <a:ext cx="987552" cy="256032"/>
          </a:xfrm>
          <a:prstGeom prst="lef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DEUTSCH EXERCISE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Compute the final state for all four promised functions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Work independently for 6–8 minutes; predict the first-qubit measurement before comparing.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46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33472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CONSTANT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10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Cambria Math"/>
              </a:rPr>
              <a:t>f(0)=0,  f(1)=0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950208"/>
            <a:ext cx="2121407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422452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final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4773168"/>
            <a:ext cx="1993392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5084064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measure first qubit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5632704"/>
            <a:ext cx="1993392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584448" y="193852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2633472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CONSTANT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3310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Cambria Math"/>
              </a:rPr>
              <a:t>f(0)=1,  f(1)=1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84448" y="3950208"/>
            <a:ext cx="212140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84448" y="422452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final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84448" y="4773168"/>
            <a:ext cx="1993392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84448" y="5084064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measure first qubit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84448" y="5632704"/>
            <a:ext cx="1993392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19088" y="193852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2633472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BALANCED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310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Cambria Math"/>
              </a:rPr>
              <a:t>f(x)=x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19088" y="3950208"/>
            <a:ext cx="212140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19088" y="422452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final state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19088" y="4773168"/>
            <a:ext cx="1993392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19088" y="5084064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measure first qubit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19088" y="5632704"/>
            <a:ext cx="1993392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253728" y="193852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5372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2633472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736"/>
                </a:solidFill>
                <a:latin typeface="Aptos Display"/>
              </a:rPr>
              <a:t>BALANCED NOT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3310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D5CE7"/>
                </a:solidFill>
                <a:latin typeface="Cambria Math"/>
              </a:rPr>
              <a:t>f(x)=1⊕x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53728" y="3950208"/>
            <a:ext cx="212140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53728" y="422452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final state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53728" y="4773168"/>
            <a:ext cx="1993391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253728" y="5084064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6079"/>
                </a:solidFill>
                <a:latin typeface="Aptos"/>
              </a:rPr>
              <a:t>measure first qubit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53728" y="5632704"/>
            <a:ext cx="1993391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01952" y="5797296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324B"/>
                </a:solidFill>
                <a:latin typeface="Aptos Display"/>
              </a:rPr>
              <a:t>Use phase kickback, then apply the final Hadamard only to the input qubit.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WHY DEUTSCH MATTERS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One query plus interference replaces repeated classical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00784"/>
            <a:ext cx="3767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CLASSICAL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304288"/>
            <a:ext cx="1115568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304288"/>
            <a:ext cx="111556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Cambria Math"/>
              </a:rPr>
              <a:t>f(0)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85416" y="2505456"/>
            <a:ext cx="22860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8880" y="2304288"/>
            <a:ext cx="1115568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2304288"/>
            <a:ext cx="111556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E8"/>
                </a:solidFill>
                <a:latin typeface="Cambria Math"/>
              </a:rPr>
              <a:t>f(1)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66744" y="2505456"/>
            <a:ext cx="22860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50208" y="2304288"/>
            <a:ext cx="1115568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0208" y="2304288"/>
            <a:ext cx="1115568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736"/>
                </a:solidFill>
                <a:latin typeface="Aptos Display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36976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multiple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75887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26079"/>
                </a:solidFill>
                <a:latin typeface="Aptos"/>
              </a:rPr>
              <a:t>→ 2 in the one-bit case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1645920"/>
            <a:ext cx="0" cy="310896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1700784"/>
            <a:ext cx="4498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QUANTUM EVALUATION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304288"/>
            <a:ext cx="1243584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2304288"/>
            <a:ext cx="12435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PREPARE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74152" y="2505456"/>
            <a:ext cx="22860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02752" y="2304288"/>
            <a:ext cx="1243584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2304288"/>
            <a:ext cx="12435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10344" y="2505456"/>
            <a:ext cx="22860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38944" y="2304288"/>
            <a:ext cx="1243584" cy="621792"/>
          </a:xfrm>
          <a:prstGeom prst="rect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38944" y="2304288"/>
            <a:ext cx="1243584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INTERFERE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3236976"/>
            <a:ext cx="437083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one oracle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675887"/>
            <a:ext cx="437083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D5CE7"/>
                </a:solidFill>
                <a:latin typeface="Aptos"/>
              </a:rPr>
              <a:t>+ interference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297680" y="4864608"/>
            <a:ext cx="3611880" cy="310896"/>
          </a:xfrm>
          <a:prstGeom prst="rightArrow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5285232"/>
            <a:ext cx="5715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D5CE7"/>
                </a:solidFill>
                <a:latin typeface="Aptos Display"/>
              </a:rPr>
              <a:t>BRIDGE TO DEUTSCH–JOZSA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DEUTSCH–JOZSA PROBLEM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constant-versus-balanced promise scales to n input bits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27632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1736"/>
                </a:solidFill>
                <a:latin typeface="Cambria Math"/>
              </a:rPr>
              <a:t>f : {0,1}ⁿ → {0,1}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PROMISE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953512"/>
            <a:ext cx="1020470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29184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A8E8"/>
                </a:solidFill>
                <a:latin typeface="Aptos Display"/>
              </a:rPr>
              <a:t>CONSTANT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0390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f(x) is identical
for every input 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3200400"/>
            <a:ext cx="0" cy="150876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76288" y="3291840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D5CE7"/>
                </a:solidFill>
                <a:latin typeface="Aptos Display"/>
              </a:rPr>
              <a:t>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80390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Aptos Display"/>
              </a:rPr>
              <a:t>exactly half output 0
and half output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4974336"/>
            <a:ext cx="6071616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4974336"/>
            <a:ext cx="5705856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D5CE7"/>
                </a:solidFill>
                <a:latin typeface="Aptos Display"/>
              </a:rPr>
              <a:t>DETERMINE WHICH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DEUTSCH–JOZSA CIRCUIT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A single oracle call imprints the promise across all 2ⁿ inputs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26079"/>
                </a:solidFill>
                <a:latin typeface="Aptos"/>
              </a:rPr>
              <a:t>Hadamards create the input superposition and later recombine its phases.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67712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Cambria Math"/>
              </a:rPr>
              <a:t>|0ⁿ⟩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962656"/>
            <a:ext cx="71323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26079"/>
                </a:solidFill>
                <a:latin typeface="Aptos"/>
              </a:rPr>
              <a:t>input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14215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736"/>
                </a:solidFill>
                <a:latin typeface="Cambria Math"/>
              </a:rPr>
              <a:t>|1⟩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81328" y="2487168"/>
            <a:ext cx="9491472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81328" y="3127248"/>
            <a:ext cx="9491472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81328" y="4206240"/>
            <a:ext cx="9491472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93392" y="2203704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93392" y="2203704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A8E8"/>
                </a:solidFill>
                <a:latin typeface="Cambria Math"/>
              </a:rPr>
              <a:t>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3392" y="2843784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2843784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A8E8"/>
                </a:solidFill>
                <a:latin typeface="Cambria Math"/>
              </a:rPr>
              <a:t>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941063"/>
            <a:ext cx="530352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57400" y="3941063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A8E8"/>
                </a:solidFill>
                <a:latin typeface="Aptos Display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2660904"/>
            <a:ext cx="365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26079"/>
                </a:solidFill>
                <a:latin typeface="Cambria Math"/>
              </a:rPr>
              <a:t>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2103120"/>
            <a:ext cx="2980944" cy="2542032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58768" y="2103120"/>
            <a:ext cx="2980944" cy="2542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7365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ONE 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2203704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8" y="2203704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A8E8"/>
                </a:solidFill>
                <a:latin typeface="Cambria Math"/>
              </a:rPr>
              <a:t>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2843784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2843784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00A8E8"/>
                </a:solidFill>
                <a:latin typeface="Cambria Math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660904"/>
            <a:ext cx="3657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26079"/>
                </a:solidFill>
                <a:latin typeface="Cambria Math"/>
              </a:rPr>
              <a:t>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2" y="2157984"/>
            <a:ext cx="713232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2912" y="2157984"/>
            <a:ext cx="713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8E8"/>
                </a:solidFill>
                <a:latin typeface="Aptos Display"/>
              </a:rPr>
              <a:t>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2798064"/>
            <a:ext cx="713232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82912" y="2798064"/>
            <a:ext cx="7132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A8E8"/>
                </a:solidFill>
                <a:latin typeface="Aptos Display"/>
              </a:rPr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517550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B1736"/>
                </a:solidFill>
                <a:latin typeface="Aptos Display"/>
              </a:rPr>
              <a:t>measure input register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175504"/>
            <a:ext cx="2487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26079"/>
                </a:solidFill>
                <a:latin typeface="Aptos Display"/>
              </a:rPr>
              <a:t>ancilla need not be measured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MATHEMATICAL CORE OF DEUTSCH–JOZSA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oracle converts function values into a signed superposition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1664208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642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5506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499616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736"/>
                </a:solidFill>
                <a:latin typeface="Cambria Math"/>
              </a:rPr>
              <a:t>1/2ⁿᐟ²  ∑ₓ |x⟩|−⟩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" y="2167128"/>
            <a:ext cx="0" cy="594360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9536" y="2907792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290779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9864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D5CE7"/>
                </a:solidFill>
                <a:latin typeface="Aptos"/>
              </a:rPr>
              <a:t>ORACLE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43200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B1736"/>
                </a:solidFill>
                <a:latin typeface="Cambria Math"/>
              </a:rPr>
              <a:t>1/2ⁿᐟ²  ∑ₓ (−1)ᶠ⁽ˣ⁾ |x⟩|−⟩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9848" y="3410712"/>
            <a:ext cx="0" cy="594360"/>
          </a:xfrm>
          <a:prstGeom prst="line">
            <a:avLst/>
          </a:prstGeom>
          <a:ln w="1270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59536" y="4151376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151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422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HADAMARD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986784"/>
            <a:ext cx="76809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736"/>
                </a:solidFill>
                <a:latin typeface="Cambria Math"/>
              </a:rPr>
              <a:t>H⊗ⁿ  on the input register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5230368"/>
            <a:ext cx="1021384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87552" y="5449824"/>
            <a:ext cx="43159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26079"/>
                </a:solidFill>
                <a:latin typeface="Aptos Display"/>
              </a:rPr>
              <a:t>After the final transform, the amplitude of |y⟩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340096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D5CE7"/>
                </a:solidFill>
                <a:latin typeface="Cambria Math"/>
              </a:rPr>
              <a:t>1/2ⁿ ∑ₓ (−1)ᶠ⁽ˣ⁾⁺ˣ·ʸ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WHY THE ALL-ZERO STATE MATTERS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The |0ⁿ⟩ amplitude perfectly separates the two promised cases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27632"/>
            <a:ext cx="980236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B1736"/>
                </a:solidFill>
                <a:latin typeface="Cambria Math"/>
              </a:rPr>
              <a:t>⟨0ⁿ|ψ⟩  =  1/2ⁿ  ∑ₓ (−1)ᶠ⁽ˣ⁾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724912"/>
            <a:ext cx="1025042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4128" y="3090672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A8E8"/>
                </a:solidFill>
                <a:latin typeface="Aptos"/>
              </a:rPr>
              <a:t>CONSTANT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57016"/>
            <a:ext cx="397763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26079"/>
                </a:solidFill>
                <a:latin typeface="Aptos Display"/>
              </a:rPr>
              <a:t>all signs agree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96512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A8E8"/>
                </a:solidFill>
                <a:latin typeface="Cambria Math"/>
              </a:rPr>
              <a:t>|amplitude|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56048"/>
            <a:ext cx="397763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measure 0ⁿ with certainty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9904" y="2999232"/>
            <a:ext cx="0" cy="2414016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68896" y="3090672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CE7"/>
                </a:solidFill>
                <a:latin typeface="Aptos"/>
              </a:rPr>
              <a:t>BALANCED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3557016"/>
            <a:ext cx="397763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26079"/>
                </a:solidFill>
                <a:latin typeface="Aptos Display"/>
              </a:rPr>
              <a:t>positive and negative signs cancel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4096512"/>
            <a:ext cx="3977639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D5CE7"/>
                </a:solidFill>
                <a:latin typeface="Cambria Math"/>
              </a:rPr>
              <a:t>amplitude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4956048"/>
            <a:ext cx="397763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736"/>
                </a:solidFill>
                <a:latin typeface="Aptos Display"/>
              </a:rPr>
              <a:t>never measure 0ⁿ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596128"/>
            <a:ext cx="8458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324B"/>
                </a:solidFill>
                <a:latin typeface="Aptos Display"/>
              </a:rPr>
              <a:t>This cancellation is the mathematical heart of Deutsch–Jozsa.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A8E8"/>
                </a:solidFill>
                <a:latin typeface="Aptos"/>
              </a:rPr>
              <a:t>CLASSICAL VS QUANTUM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0B1736"/>
                </a:solidFill>
                <a:latin typeface="Aptos Display"/>
              </a:rPr>
              <a:t>Query advantage depends on both certainty and the promise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A8E8"/>
                </a:solidFill>
                <a:latin typeface="Aptos"/>
              </a:rPr>
              <a:t>52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32688" y="1709928"/>
          <a:ext cx="102870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Queries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Certainty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B1736"/>
                          </a:solidFill>
                          <a:latin typeface="Aptos"/>
                        </a:rPr>
                        <a:t>Classical 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B1736"/>
                          </a:solidFill>
                          <a:latin typeface="Cambria Math"/>
                        </a:rPr>
                        <a:t>2ⁿ⁻¹ + 1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B1736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B1736"/>
                          </a:solidFill>
                          <a:latin typeface="Aptos"/>
                        </a:rPr>
                        <a:t>Classical randomized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B1736"/>
                          </a:solidFill>
                          <a:latin typeface="Aptos"/>
                        </a:rPr>
                        <a:t>fewer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B1736"/>
                          </a:solidFill>
                          <a:latin typeface="Aptos"/>
                        </a:rPr>
                        <a:t>probabilistic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B1736"/>
                          </a:solidFill>
                          <a:latin typeface="Aptos"/>
                        </a:rPr>
                        <a:t>Quantum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6D5CE7"/>
                          </a:solidFill>
                          <a:latin typeface="Cambria Math"/>
                        </a:rPr>
                        <a:t>1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6D5CE7"/>
                          </a:solidFill>
                          <a:latin typeface="Aptos"/>
                        </a:rPr>
                        <a:t>100% under promise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80160" y="5413248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736"/>
                </a:solidFill>
                <a:latin typeface="Aptos Display"/>
              </a:rPr>
              <a:t>Randomization can reduce classical queries—but it trades away certainty.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806440"/>
            <a:ext cx="7909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26079"/>
                </a:solidFill>
                <a:latin typeface="Aptos"/>
              </a:rPr>
              <a:t>The quantum row assumes the constant-or-balanced promise.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A8E8"/>
                </a:solidFill>
                <a:latin typeface="Aptos"/>
              </a:rPr>
              <a:t>BERNSTEIN–VAZIRANI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A linear Boolean oracle hides an n-bit string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1736"/>
                </a:solidFill>
                <a:latin typeface="Cambria Math"/>
              </a:rPr>
              <a:t>f(x) = u · x  mod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249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63824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query x ∈ {0,1}ⁿ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56432" y="3246120"/>
            <a:ext cx="1051560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36592" y="2880360"/>
            <a:ext cx="2743200" cy="1005840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8803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08392" y="3246120"/>
            <a:ext cx="1051560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9408" y="27249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3163824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one output bit f(x)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4297680"/>
            <a:ext cx="1024128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33856" y="45994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FIND THE 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4462272"/>
            <a:ext cx="4315968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D5CE7"/>
                </a:solidFill>
                <a:latin typeface="Cambria Math"/>
              </a:rPr>
              <a:t>u ∈ {0,1}ⁿ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5349240"/>
            <a:ext cx="6583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The dot product is computed modulo 2.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CLASSICAL STRATEGY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Classically, each basis query reveals one bit of the hidden string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54</a:t>
            </a:r>
          </a:p>
        </p:txBody>
      </p:sp>
      <p:sp>
        <p:nvSpPr>
          <p:cNvPr id="10" name="Oval 9"/>
          <p:cNvSpPr/>
          <p:nvPr/>
        </p:nvSpPr>
        <p:spPr>
          <a:xfrm>
            <a:off x="1225296" y="175564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6" y="1755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1460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A8E8"/>
                </a:solidFill>
                <a:latin typeface="Cambria Math"/>
              </a:rPr>
              <a:t>1000…0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" y="3200400"/>
            <a:ext cx="1097279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34930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6079"/>
                </a:solidFill>
                <a:latin typeface="Aptos"/>
              </a:rPr>
              <a:t>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679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u₁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95144" y="2779776"/>
            <a:ext cx="32004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10712" y="175564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10712" y="1755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51460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5CE7"/>
                </a:solidFill>
                <a:latin typeface="Cambria Math"/>
              </a:rPr>
              <a:t>0100…0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81528" y="3200400"/>
            <a:ext cx="1097280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98648" y="34930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6079"/>
                </a:solidFill>
                <a:latin typeface="Aptos"/>
              </a:rPr>
              <a:t>returns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38679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u₂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80560" y="2779776"/>
            <a:ext cx="32004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96127" y="175564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96127" y="1755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251460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A8E8"/>
                </a:solidFill>
                <a:latin typeface="Cambria Math"/>
              </a:rPr>
              <a:t>0010…0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66944" y="3200400"/>
            <a:ext cx="1097279" cy="0"/>
          </a:xfrm>
          <a:prstGeom prst="line">
            <a:avLst/>
          </a:prstGeom>
          <a:ln w="1778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4064" y="34930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6079"/>
                </a:solidFill>
                <a:latin typeface="Aptos"/>
              </a:rPr>
              <a:t>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38679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u₃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665975" y="2779776"/>
            <a:ext cx="32004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81544" y="175564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9AA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81544" y="1755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AA6B9"/>
                </a:solidFill>
                <a:latin typeface="Aptos Display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51460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A6B9"/>
                </a:solidFill>
                <a:latin typeface="Cambria Math"/>
              </a:rPr>
              <a:t>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52360" y="3200400"/>
            <a:ext cx="1097280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69480" y="34930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6079"/>
                </a:solidFill>
                <a:latin typeface="Aptos"/>
              </a:rPr>
              <a:t>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679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…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51392" y="2779776"/>
            <a:ext cx="320040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966960" y="175564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66960" y="1755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 Display"/>
              </a:rPr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896" y="251460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5CE7"/>
                </a:solidFill>
                <a:latin typeface="Cambria Math"/>
              </a:rPr>
              <a:t>0000…1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37776" y="3200400"/>
            <a:ext cx="1097280" cy="0"/>
          </a:xfrm>
          <a:prstGeom prst="line">
            <a:avLst/>
          </a:prstGeom>
          <a:ln w="1778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454896" y="349300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26079"/>
                </a:solidFill>
                <a:latin typeface="Aptos"/>
              </a:rPr>
              <a:t>returns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4896" y="3867912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uₙ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6112" y="4636008"/>
            <a:ext cx="1024128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24128" y="495604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26079"/>
                </a:solidFill>
                <a:latin typeface="Aptos Display"/>
              </a:rPr>
              <a:t>one coordinate per 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754880"/>
            <a:ext cx="49377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D5CE7"/>
                </a:solidFill>
                <a:latin typeface="Aptos Display"/>
              </a:rPr>
              <a:t>n queries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5504688"/>
            <a:ext cx="4352544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to recover all n bits with certainty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QUANTUM STRATEGY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The Deutsch–Jozsa architecture now reveals the entire hidden string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079"/>
                </a:solidFill>
                <a:latin typeface="Aptos"/>
              </a:rPr>
              <a:t>The oracle phase pattern contains u rather than only a constant-or-balanced label.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55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2057400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0574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3936" y="1883664"/>
            <a:ext cx="1572768" cy="804672"/>
          </a:xfrm>
          <a:prstGeom prst="rect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73936" y="1883664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A8E8"/>
                </a:solidFill>
                <a:latin typeface="Cambria Math"/>
              </a:rPr>
              <a:t>H⊗ⁿ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999232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PREPARE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30752" y="2176272"/>
            <a:ext cx="713232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45152" y="2057400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0574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0096" y="1883664"/>
            <a:ext cx="1572768" cy="804672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0096" y="1883664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999232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PHASE ENCODE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96912" y="2176272"/>
            <a:ext cx="713232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11312" y="2057400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20574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6" y="1883664"/>
            <a:ext cx="1572768" cy="804672"/>
          </a:xfrm>
          <a:prstGeom prst="rect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06256" y="1883664"/>
            <a:ext cx="157276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A8E8"/>
                </a:solidFill>
                <a:latin typeface="Cambria Math"/>
              </a:rPr>
              <a:t>H⊗ⁿ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999232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INTERFERE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840480"/>
            <a:ext cx="98298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1736"/>
                </a:solidFill>
                <a:latin typeface="Cambria Math"/>
              </a:rPr>
              <a:t>H⊗ⁿ  →  Uƒ  →  H⊗ⁿ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7552" y="4754880"/>
            <a:ext cx="10131552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5102352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Deutsch–Jozsa asks “constant or balanced?”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102352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5CE7"/>
                </a:solidFill>
                <a:latin typeface="Aptos Display"/>
              </a:rPr>
              <a:t>Bernstein–Vazirani asks “which u?”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BERNSTEIN–VAZIRANI DERIVATION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The phase character of u transforms directly into the basis state |u⟩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642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ORACLE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499616"/>
            <a:ext cx="310896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736"/>
                </a:solidFill>
                <a:latin typeface="Cambria Math"/>
              </a:rPr>
              <a:t>(−1)ᵘ·ˣ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664208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26079"/>
                </a:solidFill>
                <a:latin typeface="Aptos Display"/>
              </a:rPr>
              <a:t>encodes whether u · x is even or odd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459736"/>
            <a:ext cx="1024128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281635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SIGNED SUPERPOSITION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633472"/>
            <a:ext cx="768096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1736"/>
                </a:solidFill>
                <a:latin typeface="Cambria Math"/>
              </a:rPr>
              <a:t>1/2ⁿᐟ²  ∑ₓ (−1)ᵘ·ˣ |x⟩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9824" y="3493008"/>
            <a:ext cx="1298448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9512" y="3886200"/>
            <a:ext cx="171907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A8E8"/>
                </a:solidFill>
                <a:latin typeface="Cambria Math"/>
              </a:rPr>
              <a:t>H⊗ⁿ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599432"/>
            <a:ext cx="6345936" cy="804672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0672" y="4599432"/>
            <a:ext cx="6016752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5CE7"/>
                </a:solidFill>
                <a:latin typeface="Cambria Math"/>
              </a:rPr>
              <a:t>H⊗ⁿ [ 1/2ⁿᐟ² ∑ₓ (−1)ᵘ·ˣ |x⟩ ]  =  |u⟩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650992"/>
            <a:ext cx="92354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324B"/>
                </a:solidFill>
                <a:latin typeface="Aptos Display"/>
              </a:rPr>
              <a:t>Walsh–Hadamard interference concentrates all amplitude on the hidden string.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MEASUREMENT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One measurement returns the hidden string in the ideal circuit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FINAL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2871216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B1736"/>
                </a:solidFill>
                <a:latin typeface="Cambria Math"/>
              </a:rPr>
              <a:t>|u⟩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51376" y="2542032"/>
            <a:ext cx="1261872" cy="31089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42432" y="2066543"/>
            <a:ext cx="1554480" cy="1298448"/>
          </a:xfrm>
          <a:prstGeom prst="rect">
            <a:avLst/>
          </a:prstGeom>
          <a:solidFill>
            <a:srgbClr val="FFFFFF"/>
          </a:solidFill>
          <a:ln w="2286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42432" y="2066543"/>
            <a:ext cx="155448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0A8E8"/>
                </a:solidFill>
                <a:latin typeface="Aptos Display"/>
              </a:rPr>
              <a:t>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26096" y="2542032"/>
            <a:ext cx="1261872" cy="310896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17152" y="2066543"/>
            <a:ext cx="1920240" cy="1298448"/>
          </a:xfrm>
          <a:prstGeom prst="rect">
            <a:avLst/>
          </a:prstGeom>
          <a:solidFill>
            <a:srgbClr val="FFFFFF"/>
          </a:solidFill>
          <a:ln w="2286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2066543"/>
            <a:ext cx="1920240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6D5CE7"/>
                </a:solidFill>
                <a:latin typeface="Cambria Math"/>
              </a:rPr>
              <a:t>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0120" y="3913632"/>
            <a:ext cx="1021384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12848" y="4242816"/>
            <a:ext cx="775411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D5CE7"/>
                </a:solidFill>
                <a:latin typeface="Aptos Display"/>
              </a:rPr>
              <a:t>MEASURE 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074920"/>
            <a:ext cx="46817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with certainty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605272"/>
            <a:ext cx="8275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"/>
              </a:rPr>
              <a:t>Ideal noiseless circuit · exact oracle · computational-basis measurement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STUDENT EXERCISE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Recover the hidden string u = 1011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079"/>
                </a:solidFill>
                <a:latin typeface="Aptos"/>
              </a:rPr>
              <a:t>Work in pairs for 8–10 minutes; show the state at each transformation.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792224"/>
            <a:ext cx="423367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D5CE7"/>
                </a:solidFill>
                <a:latin typeface="Cambria Math"/>
              </a:rPr>
              <a:t>u = 1011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788920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8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65576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1736"/>
                </a:solidFill>
                <a:latin typeface="Aptos Display"/>
              </a:rPr>
              <a:t>CONSTRUCT THE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05656"/>
            <a:ext cx="21579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Implement f(x)=u·x mod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5010912"/>
            <a:ext cx="20116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75304" y="2788920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75304" y="278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3465576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1736"/>
                </a:solidFill>
                <a:latin typeface="Aptos Display"/>
              </a:rPr>
              <a:t>CALCULATE PHASES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4105656"/>
            <a:ext cx="21579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List (−1)ᵘ·ˣ across 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75304" y="5010912"/>
            <a:ext cx="2011680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45936" y="2788920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45936" y="278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345936" y="3465576"/>
                <a:ext cx="2157984" cy="4754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r>
                  <a:rPr lang="en-US" sz="1350" b="1" dirty="0">
                    <a:solidFill>
                      <a:srgbClr val="0B1736"/>
                    </a:solidFill>
                    <a:latin typeface="Aptos Display"/>
                  </a:rPr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50" b="1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b="1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1350" b="1" i="1" dirty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sz="1350" b="1" i="1" dirty="0" smtClean="0">
                            <a:solidFill>
                              <a:srgbClr val="0B1736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sz="1350" b="1" dirty="0">
                  <a:solidFill>
                    <a:srgbClr val="0B1736"/>
                  </a:solidFill>
                  <a:latin typeface="Aptos Display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936" y="3465576"/>
                <a:ext cx="2157984" cy="475488"/>
              </a:xfrm>
              <a:prstGeom prst="rect">
                <a:avLst/>
              </a:prstGeom>
              <a:blipFill>
                <a:blip r:embed="rId3"/>
                <a:stretch>
                  <a:fillRect l="-4802" t="-8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345936" y="4105656"/>
            <a:ext cx="21579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Interfere the signed paths.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5936" y="5010912"/>
            <a:ext cx="20116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16568" y="2788920"/>
            <a:ext cx="420624" cy="42062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6568" y="27889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465576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1736"/>
                </a:solidFill>
                <a:latin typeface="Aptos Display"/>
              </a:rPr>
              <a:t>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105656"/>
            <a:ext cx="21579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Predict the final bit string.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6568" y="5010912"/>
            <a:ext cx="2011680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896112" y="5431536"/>
            <a:ext cx="10305288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94176" y="560527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A8E8"/>
                </a:solidFill>
                <a:latin typeface="Aptos Display"/>
              </a:rPr>
              <a:t>BREAK · 15:05–15:20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A8E8"/>
                </a:solidFill>
                <a:latin typeface="Aptos"/>
              </a:rPr>
              <a:t>SIMON'S ALGORITHM 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Simon hides a nonzero XOR period inside a two-to-one function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1001268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736"/>
                </a:solidFill>
                <a:latin typeface="Cambria Math"/>
              </a:rPr>
              <a:t>f(x) = f(x ⊕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786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35808"/>
            <a:ext cx="2029968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A8E8"/>
                </a:solidFill>
                <a:latin typeface="Cambria Math"/>
              </a:rPr>
              <a:t>a ≠ 0ⁿ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9856" y="3145536"/>
            <a:ext cx="1078992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36592" y="2724912"/>
            <a:ext cx="2743200" cy="1078992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724912"/>
            <a:ext cx="2743200" cy="107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5CE7"/>
                </a:solidFill>
                <a:latin typeface="Aptos Display"/>
              </a:rPr>
              <a:t>XOR PERIOD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26679" y="3145536"/>
            <a:ext cx="1078992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257860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PAIRED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035808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736"/>
                </a:solidFill>
                <a:latin typeface="Cambria Math"/>
              </a:rPr>
              <a:t>x , x ⊕ 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1832" y="4297680"/>
            <a:ext cx="1028700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90672" y="4681728"/>
            <a:ext cx="6016752" cy="749808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73552" y="4681728"/>
            <a:ext cx="5650992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D5CE7"/>
                </a:solidFill>
                <a:latin typeface="Aptos Display"/>
              </a:rPr>
              <a:t>FIND 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623560"/>
            <a:ext cx="9189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The task is to recover the period—not merely detect that one exists.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WHY IS THIS DIFFERENT?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The algorithmic target progresses from properties to hidden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60</a:t>
            </a:r>
          </a:p>
        </p:txBody>
      </p:sp>
      <p:sp>
        <p:nvSpPr>
          <p:cNvPr id="10" name="Oval 9"/>
          <p:cNvSpPr/>
          <p:nvPr/>
        </p:nvSpPr>
        <p:spPr>
          <a:xfrm>
            <a:off x="1865376" y="1737360"/>
            <a:ext cx="493776" cy="4937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65376" y="173736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2374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DEUTSCH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072384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GLOBAL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4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constant or balanced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8" y="4608576"/>
            <a:ext cx="20116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3520440" y="3300984"/>
            <a:ext cx="658368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31536" y="1737360"/>
            <a:ext cx="493776" cy="4937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31536" y="173736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52374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5CE7"/>
                </a:solidFill>
                <a:latin typeface="Aptos"/>
              </a:rPr>
              <a:t>BERNSTEIN–VAZIRANI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3072384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HIDDEN LINEAR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986784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recover 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7" y="4608576"/>
            <a:ext cx="2011680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086600" y="3300984"/>
            <a:ext cx="658368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97696" y="1737360"/>
            <a:ext cx="493776" cy="4937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7696" y="173736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52374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SIMON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3072384"/>
            <a:ext cx="252374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HIDDEN PERIODIC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3986784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recover XOR period 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4608576"/>
            <a:ext cx="2011680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5230368"/>
            <a:ext cx="93726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324B"/>
                </a:solidFill>
                <a:latin typeface="Aptos Display"/>
              </a:rPr>
              <a:t>Simon is the first example here where the hidden object is a period-like symmetry.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THE PROMISE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Every output has exactly two preimages separated by the same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A8E8"/>
                </a:solidFill>
                <a:latin typeface="Cambria Math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68496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5CE7"/>
                </a:solidFill>
                <a:latin typeface="Cambria Math"/>
              </a:rPr>
              <a:t>x ⊕ 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67712" y="2212848"/>
            <a:ext cx="2441448" cy="0"/>
          </a:xfrm>
          <a:prstGeom prst="line">
            <a:avLst/>
          </a:prstGeom>
          <a:ln w="21590">
            <a:solidFill>
              <a:srgbClr val="00A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67712" y="4206240"/>
            <a:ext cx="2441448" cy="0"/>
          </a:xfrm>
          <a:prstGeom prst="line">
            <a:avLst/>
          </a:prstGeom>
          <a:ln w="2159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2212848"/>
            <a:ext cx="0" cy="1993392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09160" y="3209544"/>
            <a:ext cx="1069848" cy="0"/>
          </a:xfrm>
          <a:prstGeom prst="line">
            <a:avLst/>
          </a:prstGeom>
          <a:ln w="1778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79008" y="2633472"/>
            <a:ext cx="2148840" cy="1152144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9008" y="2633472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D5CE7"/>
                </a:solidFill>
                <a:latin typeface="Cambria Math"/>
              </a:rPr>
              <a:t>f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93024" y="3063240"/>
            <a:ext cx="932688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08592" y="2697480"/>
            <a:ext cx="1874519" cy="1024128"/>
          </a:xfrm>
          <a:prstGeom prst="rect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2697480"/>
            <a:ext cx="1874519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A8E8"/>
                </a:solidFill>
                <a:latin typeface="Cambria Math"/>
              </a:rPr>
              <a:t>f(x)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754880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5CE7"/>
                </a:solidFill>
                <a:latin typeface="Aptos"/>
              </a:rPr>
              <a:t>2-TO-1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663440"/>
            <a:ext cx="314553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No other input maps to this output.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5504688"/>
            <a:ext cx="81930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The same displacement a pairs the entire domain.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SIMON CIRCUIT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Interference acts on the input register after one oracle query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85800" y="1399032"/>
            <a:ext cx="10561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079"/>
                </a:solidFill>
                <a:latin typeface="Aptos"/>
              </a:rPr>
              <a:t>The output register stores f(x) and may be measured or ignored after the oracle.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13432"/>
            <a:ext cx="6949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Cambria Math"/>
              </a:rPr>
              <a:t>|0ⁿ⟩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739896"/>
            <a:ext cx="6949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Cambria Math"/>
              </a:rPr>
              <a:t>|0ⁿ⟩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81328" y="2523744"/>
            <a:ext cx="950976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81328" y="3950208"/>
            <a:ext cx="9509760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993392" y="2240279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93392" y="2240279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A8E8"/>
                </a:solidFill>
                <a:latin typeface="Cambria Math"/>
              </a:rPr>
              <a:t>Hⁿ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8704" y="2240279"/>
            <a:ext cx="658368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18704" y="2240279"/>
            <a:ext cx="65836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A8E8"/>
                </a:solidFill>
                <a:latin typeface="Cambria Math"/>
              </a:rPr>
              <a:t>Hⁿ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2084831"/>
            <a:ext cx="3035808" cy="2304288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1" y="2084831"/>
            <a:ext cx="3035808" cy="23042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D5CE7"/>
                </a:solidFill>
                <a:latin typeface="Cambria Math"/>
              </a:rPr>
              <a:t>Uƒ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847088"/>
            <a:ext cx="6217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8E8"/>
                </a:solidFill>
                <a:latin typeface="Aptos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49884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5CE7"/>
                </a:solidFill>
                <a:latin typeface="Aptos"/>
              </a:rPr>
              <a:t>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203703"/>
            <a:ext cx="713232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64040" y="2203703"/>
            <a:ext cx="71323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A8E8"/>
                </a:solidFill>
                <a:latin typeface="Aptos Display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937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sample 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4882896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D5CE7"/>
                </a:solidFill>
                <a:latin typeface="Aptos Display"/>
              </a:rPr>
              <a:t>one oracle query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STATE AFTER THE ORACLE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The oracle entangles each input with its function value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737360"/>
            <a:ext cx="10222992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736"/>
                </a:solidFill>
                <a:latin typeface="Cambria Math"/>
              </a:rPr>
              <a:t>1/√2ⁿ  ∑ₓ |x⟩|f(x)⟩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2852928"/>
            <a:ext cx="1028700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320040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PAIRED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712463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A8E8"/>
                </a:solidFill>
                <a:latin typeface="Cambria Math"/>
              </a:rPr>
              <a:t>|x⟩|f(x)⟩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3712463"/>
            <a:ext cx="51206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A6B9"/>
                </a:solidFill>
                <a:latin typeface="Cambria Math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712463"/>
            <a:ext cx="3749039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D5CE7"/>
                </a:solidFill>
                <a:latin typeface="Cambria Math"/>
              </a:rPr>
              <a:t>|x ⊕ a⟩|f(x)⟩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712463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share the same output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4754880"/>
            <a:ext cx="9966960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5138928"/>
            <a:ext cx="95554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736"/>
                </a:solidFill>
                <a:latin typeface="Aptos Display"/>
              </a:rPr>
              <a:t>The registers are correlated: measuring an output selects a superposition of its two preimages.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MEASUREMENT PRODUCES A CONSTRAINT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Each sampled y is orthogonal to the hidden period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673352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AFTER THE SECOND HADAMARD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1136" y="2139696"/>
            <a:ext cx="7717536" cy="1353312"/>
          </a:xfrm>
          <a:prstGeom prst="rect">
            <a:avLst/>
          </a:prstGeom>
          <a:solidFill>
            <a:srgbClr val="FFFFFF"/>
          </a:solidFill>
          <a:ln w="2286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14016" y="2139696"/>
            <a:ext cx="7351775" cy="1353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6D5CE7"/>
                </a:solidFill>
                <a:latin typeface="Cambria Math"/>
              </a:rPr>
              <a:t>a · y = 0  mod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767328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5CE7"/>
                </a:solidFill>
                <a:latin typeface="Aptos"/>
              </a:rPr>
              <a:t>CRITICAL RESULT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70432" y="4297680"/>
            <a:ext cx="9820656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70432" y="459028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KNOWN FROM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4992624"/>
            <a:ext cx="151790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A8E8"/>
                </a:solidFill>
                <a:latin typeface="Cambria Math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59028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CONSTRAINT ON THE 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99262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one linear equation in 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WHY REPETITION IS NECESSARY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Each run contributes one equation; many runs reveal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65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1773936"/>
            <a:ext cx="384048" cy="38404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7739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8105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run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28216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736"/>
                </a:solidFill>
                <a:latin typeface="Cambria Math"/>
              </a:rPr>
              <a:t>a · y1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728216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A8E8"/>
                </a:solidFill>
                <a:latin typeface="Cambria Math"/>
              </a:rPr>
              <a:t>y1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78624" y="1965960"/>
            <a:ext cx="1243584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59536" y="2633472"/>
            <a:ext cx="384048" cy="38404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67004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run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87752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736"/>
                </a:solidFill>
                <a:latin typeface="Cambria Math"/>
              </a:rPr>
              <a:t>a · y2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587752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D5CE7"/>
                </a:solidFill>
                <a:latin typeface="Cambria Math"/>
              </a:rPr>
              <a:t>y2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78624" y="2825496"/>
            <a:ext cx="1243584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59536" y="3493008"/>
            <a:ext cx="384048" cy="38404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493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52958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run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44728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736"/>
                </a:solidFill>
                <a:latin typeface="Cambria Math"/>
              </a:rPr>
              <a:t>a · y3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447288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A8E8"/>
                </a:solidFill>
                <a:latin typeface="Cambria Math"/>
              </a:rPr>
              <a:t>y3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78624" y="3685032"/>
            <a:ext cx="1243584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59536" y="4352544"/>
            <a:ext cx="384048" cy="38404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4352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5CE7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3891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run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306824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736"/>
                </a:solidFill>
                <a:latin typeface="Cambria Math"/>
              </a:rPr>
              <a:t>a · y4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306824"/>
            <a:ext cx="107899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D5CE7"/>
                </a:solidFill>
                <a:latin typeface="Cambria Math"/>
              </a:rPr>
              <a:t>y4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78624" y="4544568"/>
            <a:ext cx="1243584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755648" y="4791456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A6B9"/>
                </a:solidFill>
                <a:latin typeface="Cambria Math"/>
              </a:rPr>
              <a:t>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175564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COLLECT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2212848"/>
            <a:ext cx="250545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736"/>
                </a:solidFill>
                <a:latin typeface="Cambria Math"/>
              </a:rPr>
              <a:t>y₁, y₂, …, yₙ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9491472" y="3127248"/>
            <a:ext cx="566928" cy="566928"/>
          </a:xfrm>
          <a:prstGeom prst="downArrow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94192" y="3977639"/>
            <a:ext cx="294436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736"/>
                </a:solidFill>
                <a:latin typeface="Aptos Display"/>
              </a:rPr>
              <a:t>solve the linear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590288"/>
            <a:ext cx="250545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5CE7"/>
                </a:solidFill>
                <a:latin typeface="Aptos Display"/>
              </a:rPr>
              <a:t>classically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6" y="5532120"/>
            <a:ext cx="940003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Aptos Display"/>
              </a:rPr>
              <a:t>Independent constraints shrink the possible hidden strings until only a remains.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GAUSSIAN ELIMINATION CONNECTION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dirty="0">
                <a:solidFill>
                  <a:srgbClr val="0B1736"/>
                </a:solidFill>
                <a:latin typeface="Aptos Display"/>
              </a:rPr>
              <a:t>Simon ends with familiar linear algebra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9344"/>
            <a:ext cx="1007668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1736"/>
                </a:solidFill>
                <a:latin typeface="Cambria Math"/>
              </a:rPr>
              <a:t>Ya = 0  mod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ROWS OF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736"/>
                </a:solidFill>
                <a:latin typeface="Aptos Display"/>
              </a:rPr>
              <a:t>measured vectors yᵢ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01568" y="3401568"/>
            <a:ext cx="914400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53712" y="2816352"/>
            <a:ext cx="3090672" cy="1371600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816352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D5CE7"/>
                </a:solidFill>
                <a:latin typeface="Aptos Display"/>
              </a:rPr>
              <a:t>GAUSSIAN
ELIMINATION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82127" y="3401568"/>
            <a:ext cx="914400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0848" y="28529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29184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736"/>
                </a:solidFill>
                <a:latin typeface="Aptos Display"/>
              </a:rPr>
              <a:t>hidden vector 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4681728"/>
            <a:ext cx="1029614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5568" y="5029200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UNIT 1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19472"/>
            <a:ext cx="7552944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Students already know row reduction over binary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96128"/>
            <a:ext cx="94366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Simon's algorithm culminates in prior mathematics rather than introducing a new algebraic tool.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CLASSICAL VS QUANTUM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dirty="0">
                <a:solidFill>
                  <a:srgbClr val="0B1736"/>
                </a:solidFill>
                <a:latin typeface="Aptos Display"/>
              </a:rPr>
              <a:t>Simon replaces exponential collision search 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609344"/>
          <a:ext cx="105613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Stage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Classical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Simon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Find hidden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Collision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Aptos"/>
                        </a:rPr>
                        <a:t>Quantum interference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Oracle queries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Cambria Math"/>
                        </a:rPr>
                        <a:t>Exponential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Cambria Math"/>
                        </a:rPr>
                        <a:t>O(n)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Post-processing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Cambria Math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Cambria Math"/>
                        </a:rPr>
                        <a:t>O(n²)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B1736"/>
                          </a:solidFill>
                          <a:latin typeface="Aptos"/>
                        </a:rPr>
                        <a:t>Core mathematics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Collision finding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6D5CE7"/>
                          </a:solidFill>
                          <a:latin typeface="Aptos"/>
                        </a:rPr>
                        <a:t>Linear algebra over 𝔽₂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33856" y="5870448"/>
            <a:ext cx="9921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The exponential advantage is in oracle queries; classical post-processing remains essential.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FROM SIMON TO SHOR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8533151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 dirty="0">
                <a:solidFill>
                  <a:srgbClr val="0B1736"/>
                </a:solidFill>
                <a:latin typeface="Aptos Display"/>
              </a:rPr>
              <a:t>Hidden structure, Fourier interference, and classical algebra form the bridge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645920"/>
            <a:ext cx="10515600" cy="768096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645920"/>
            <a:ext cx="101498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6D5CE7"/>
                </a:solidFill>
                <a:latin typeface="Aptos Display"/>
              </a:rPr>
              <a:t>HIDDEN STRUCTURE  +  FOURIER INTERFERENCE  +  CLASSICAL ALGEBRA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06440" y="2615184"/>
            <a:ext cx="566928" cy="566928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3310128"/>
            <a:ext cx="3657600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3310128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A8E8"/>
                </a:solidFill>
                <a:latin typeface="Aptos Display"/>
              </a:rPr>
              <a:t>SIMON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06440" y="4206240"/>
            <a:ext cx="566928" cy="566928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4901184"/>
            <a:ext cx="3657600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9392" y="4901184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D5CE7"/>
                </a:solidFill>
                <a:latin typeface="Aptos Display"/>
              </a:rPr>
              <a:t>SHOR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02152"/>
            <a:ext cx="2944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CONCEPTUAL PRECURSOR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XOR-period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502152"/>
            <a:ext cx="2944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NOT THE SAME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86200"/>
            <a:ext cx="307238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different groups, transforms,
and arithmetic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797296"/>
            <a:ext cx="98572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26079"/>
                </a:solidFill>
                <a:latin typeface="Aptos Display"/>
              </a:rPr>
              <a:t>Simon's viewpoint made hidden-period problems feel algorithmically tractable—and helped inspire Shor.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50" b="1" dirty="0">
                <a:solidFill>
                  <a:srgbClr val="00A8E8"/>
                </a:solidFill>
                <a:latin typeface="Aptos"/>
              </a:rPr>
              <a:t>I</a:t>
            </a:r>
            <a:r>
              <a:rPr sz="1150" b="1" dirty="0">
                <a:solidFill>
                  <a:srgbClr val="00A8E8"/>
                </a:solidFill>
                <a:latin typeface="Aptos"/>
              </a:rPr>
              <a:t>NTEGRATED HANDS-ON EXERCISE 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Oracle design is a translation workflow, not a gate-first 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69</a:t>
            </a:r>
          </a:p>
        </p:txBody>
      </p:sp>
      <p:sp>
        <p:nvSpPr>
          <p:cNvPr id="10" name="Oval 9"/>
          <p:cNvSpPr/>
          <p:nvPr/>
        </p:nvSpPr>
        <p:spPr>
          <a:xfrm>
            <a:off x="1444752" y="184708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33472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4612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property to expose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" y="3858768"/>
            <a:ext cx="1572768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2761488" y="2770632"/>
            <a:ext cx="384048" cy="21031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96512" y="184708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9651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633472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Cambria Math"/>
              </a:rPr>
              <a:t>f(x)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324612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Boolean definition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9584" y="3858768"/>
            <a:ext cx="1572768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5413248" y="2770632"/>
            <a:ext cx="384048" cy="21031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8272" y="184708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633472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Cambria Math"/>
              </a:rPr>
              <a:t>Uƒ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24612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reversible marking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3858768"/>
            <a:ext cx="1572768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8065008" y="2770632"/>
            <a:ext cx="384048" cy="21031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00032" y="1847088"/>
            <a:ext cx="438912" cy="43891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00032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2633472"/>
            <a:ext cx="19019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Cambria Math"/>
              </a:rPr>
              <a:t>Uphase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3246120"/>
            <a:ext cx="19019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phase encoding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3104" y="3858768"/>
            <a:ext cx="1572768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444752" y="4645152"/>
            <a:ext cx="9308592" cy="713232"/>
          </a:xfrm>
          <a:prstGeom prst="rect">
            <a:avLst/>
          </a:prstGeom>
          <a:solidFill>
            <a:srgbClr val="FFFFFF"/>
          </a:solidFill>
          <a:ln w="2032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27632" y="4645152"/>
            <a:ext cx="894283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5CE7"/>
                </a:solidFill>
                <a:latin typeface="Aptos Display"/>
              </a:rPr>
              <a:t>PROBLEM  →  f(x)  →  Uƒ  →  Uphase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632704"/>
            <a:ext cx="8366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6324B"/>
                </a:solidFill>
                <a:latin typeface="Aptos Display"/>
              </a:rPr>
              <a:t>Define the predicate before choosing the reversible implementation.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EXERCISE 1 · PRODUCT FUNCTION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Build a marking oracle for a three-bit 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65379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1736"/>
                </a:solidFill>
                <a:latin typeface="Cambria Math"/>
              </a:rPr>
              <a:t>f(x₁,x₂,x₃) = x₁x₂x₃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691640"/>
            <a:ext cx="2542032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5008" y="1691640"/>
            <a:ext cx="254203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A8E8"/>
                </a:solidFill>
                <a:latin typeface="Aptos Display"/>
              </a:rPr>
              <a:t>marks only 111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61488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WHAT IS f(x)?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Write the truth condition precisely.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277063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52544" y="2761488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52544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338328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WHICH GATE?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39319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Identify the multi-controlled target flip.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2544" y="4754880"/>
            <a:ext cx="2770632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82127" y="2761488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82127" y="2761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338328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PHASE ORACLE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39319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Convert marking into a sign on |111⟩.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2127" y="4754880"/>
            <a:ext cx="277063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38528" y="5614416"/>
            <a:ext cx="83027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Hint: a Toffoli-style construction computes the product reversibly.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EXERCISE 2 · PARITY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Parity is computed by accumulating XORs onto a target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1022299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736"/>
                </a:solidFill>
                <a:latin typeface="Cambria Math"/>
              </a:rPr>
              <a:t>f(x) = x₁ ⊕ x₂ ⊕ x₃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24327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Cambria Math"/>
              </a:rPr>
              <a:t>x1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4208" y="2788920"/>
            <a:ext cx="8266176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75887" y="2715768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3749039" y="2788920"/>
            <a:ext cx="0" cy="2258568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2688" y="335584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Cambria Math"/>
              </a:rPr>
              <a:t>x2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64208" y="3520440"/>
            <a:ext cx="8266176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46320" y="3447288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4919472" y="3520440"/>
            <a:ext cx="0" cy="1527048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" y="408736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Cambria Math"/>
              </a:rPr>
              <a:t>x3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64208" y="4251960"/>
            <a:ext cx="8266176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016752" y="4178808"/>
            <a:ext cx="146304" cy="146304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089904" y="4251960"/>
            <a:ext cx="0" cy="795528"/>
          </a:xfrm>
          <a:prstGeom prst="line">
            <a:avLst/>
          </a:prstGeom>
          <a:ln w="15240">
            <a:solidFill>
              <a:srgbClr val="6D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64208" y="5047488"/>
            <a:ext cx="8266176" cy="0"/>
          </a:xfrm>
          <a:prstGeom prst="line">
            <a:avLst/>
          </a:prstGeom>
          <a:ln w="15240">
            <a:solidFill>
              <a:srgbClr val="9AA6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8646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Cambria Math"/>
              </a:rPr>
              <a:t>target |y⟩</a:t>
            </a:r>
          </a:p>
        </p:txBody>
      </p:sp>
      <p:sp>
        <p:nvSpPr>
          <p:cNvPr id="25" name="Oval 24"/>
          <p:cNvSpPr/>
          <p:nvPr/>
        </p:nvSpPr>
        <p:spPr>
          <a:xfrm>
            <a:off x="3566159" y="4864608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59" y="4864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5CE7"/>
                </a:solidFill>
                <a:latin typeface="Cambria Math"/>
              </a:rPr>
              <a:t>⊕</a:t>
            </a:r>
          </a:p>
        </p:txBody>
      </p:sp>
      <p:sp>
        <p:nvSpPr>
          <p:cNvPr id="27" name="Oval 26"/>
          <p:cNvSpPr/>
          <p:nvPr/>
        </p:nvSpPr>
        <p:spPr>
          <a:xfrm>
            <a:off x="4736592" y="4864608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36592" y="4864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5CE7"/>
                </a:solidFill>
                <a:latin typeface="Cambria Math"/>
              </a:rPr>
              <a:t>⊕</a:t>
            </a:r>
          </a:p>
        </p:txBody>
      </p:sp>
      <p:sp>
        <p:nvSpPr>
          <p:cNvPr id="29" name="Oval 28"/>
          <p:cNvSpPr/>
          <p:nvPr/>
        </p:nvSpPr>
        <p:spPr>
          <a:xfrm>
            <a:off x="5907024" y="4864608"/>
            <a:ext cx="365760" cy="36576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07024" y="4864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5CE7"/>
                </a:solidFill>
                <a:latin typeface="Cambria Math"/>
              </a:rPr>
              <a:t>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05409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IDENTIFY THE CNOT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584448"/>
            <a:ext cx="332841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Each input controls one target flip.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4407408"/>
            <a:ext cx="314553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D5CE7"/>
                </a:solidFill>
                <a:latin typeface="Aptos Display"/>
              </a:rPr>
              <a:t>Odd parity → target flips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EXERCISE 3 · PALINDROME CHECKER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A four-bit palindrome requires two pairwise equality tests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609344"/>
            <a:ext cx="376732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736"/>
                </a:solidFill>
                <a:latin typeface="Cambria Math"/>
              </a:rPr>
              <a:t>x = x₁x₂x₃x₄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737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PALINDROME 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09344"/>
            <a:ext cx="4096512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D5CE7"/>
                </a:solidFill>
                <a:latin typeface="Cambria Math"/>
              </a:rPr>
              <a:t>x₁=x₄  AND  x₂=x₃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688" y="2505456"/>
            <a:ext cx="10268712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69264" y="2926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2926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5478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COMPARE OUTER 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0965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Create equality predicate e₁ = ¬(x₁⊕x₄).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" y="4919472"/>
            <a:ext cx="286207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07992" y="2926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2926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5478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COMPARE INNER BITS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0965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Create equality predicate e₂ = ¬(x₂⊕x₃).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7992" y="4919472"/>
            <a:ext cx="2862072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46720" y="2926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2926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5478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COMBINE + 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0965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Use f(x)=e₁e₂, then flip a target.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919472"/>
            <a:ext cx="286207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21408" y="5614416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Uncompute temporary comparison bits after marking.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EXERCISE 4 · PERIODIC BIT STRING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Identify the periodic structure before designing the circuit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7007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EXAMPLE STRING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39696"/>
            <a:ext cx="10131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736"/>
                </a:solidFill>
                <a:latin typeface="Cambria Math"/>
              </a:rPr>
              <a:t>0 1 1 0   0 1 1 0   0 1 1 0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029968"/>
            <a:ext cx="0" cy="73152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2029968"/>
            <a:ext cx="0" cy="73152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2980944"/>
            <a:ext cx="10314432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87552" y="3419856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4198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041648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FIND THE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590288"/>
            <a:ext cx="294436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What shift leaves the pattern unchanged?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5413248"/>
            <a:ext cx="283464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35424" y="3419856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34198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4041648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FORMULATE f(x)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590288"/>
            <a:ext cx="294436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State inputs, outputs, and the promise.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4" y="5413248"/>
            <a:ext cx="2834640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83296" y="3419856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83296" y="341985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4041648"/>
            <a:ext cx="294436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ONLY THEN: CIRCUIT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590288"/>
            <a:ext cx="2944368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Choose registers and a reversible oracle.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5413248"/>
            <a:ext cx="283464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5650992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26079"/>
                </a:solidFill>
                <a:latin typeface="Aptos Display"/>
              </a:rPr>
              <a:t>Deliberately harder: this is preparation for hidden-period reasoning in Simon and Shor.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MEETING ORACLE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Translate a weekly schedule into a mutually-free-day predicate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91056"/>
            <a:ext cx="681228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736"/>
                </a:solidFill>
                <a:latin typeface="Cambria Math"/>
              </a:rPr>
              <a:t>A=(a₁,…,a₅)     B=(b₁,…,b₅)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682496"/>
            <a:ext cx="305409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D5CE7"/>
                </a:solidFill>
                <a:latin typeface="Cambria Math"/>
              </a:rPr>
              <a:t>0 = free   ·   1 = busy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2468880"/>
            <a:ext cx="10332720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6112" y="2834640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DAY i IS MUTUALLY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73552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736"/>
                </a:solidFill>
                <a:latin typeface="Cambria Math"/>
              </a:rPr>
              <a:t>mᵢ = ¬aᵢ ∧ ¬bᵢ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33087" y="3401568"/>
            <a:ext cx="841248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834640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AT LEAST ONE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73552"/>
            <a:ext cx="3511296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D5CE7"/>
                </a:solidFill>
                <a:latin typeface="Cambria Math"/>
              </a:rPr>
              <a:t>f(A,B) = m₁∨m₂∨…∨m₅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23376" y="3401568"/>
            <a:ext cx="841248" cy="256032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47504" y="3054096"/>
            <a:ext cx="1371600" cy="1005840"/>
          </a:xfrm>
          <a:prstGeom prst="rect">
            <a:avLst/>
          </a:prstGeom>
          <a:solidFill>
            <a:srgbClr val="FFFFFF"/>
          </a:solidFill>
          <a:ln w="2032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47504" y="3054096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A8E8"/>
                </a:solidFill>
                <a:latin typeface="Cambria Math"/>
              </a:rPr>
              <a:t>Uƒ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7183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4599432"/>
            <a:ext cx="8156448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1736"/>
                </a:solidFill>
                <a:latin typeface="Aptos Display"/>
              </a:rPr>
              <a:t>Design a reversible OR of the five mutually-free indicators, then uncompute ancillas.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577840"/>
            <a:ext cx="7406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26079"/>
                </a:solidFill>
                <a:latin typeface="Cambria Math"/>
              </a:rPr>
              <a:t>Alternative expression: f(A,B)=¬∏ᵢ(aᵢ∨bᵢ).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GENERAL PHASE-ORACLE IDENTITY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Phase kickback turns a Boolean value into an amplitude 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28800"/>
            <a:ext cx="288036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736"/>
                </a:solidFill>
                <a:latin typeface="Cambria Math"/>
              </a:rPr>
              <a:t>Uƒ |x⟩|−⟩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68496" y="2011680"/>
            <a:ext cx="987552" cy="27432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1828800"/>
            <a:ext cx="3675887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D5CE7"/>
                </a:solidFill>
                <a:latin typeface="Cambria Math"/>
              </a:rPr>
              <a:t>(−1)ᶠ⁽ˣ⁾ |x⟩|−⟩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92938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26079"/>
                </a:solidFill>
                <a:latin typeface="Aptos Display"/>
              </a:rPr>
              <a:t>target factors 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2834640"/>
            <a:ext cx="10268712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22783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DEFINE THE PHASE ORACLE ON THE INPUT 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3685032"/>
            <a:ext cx="8503920" cy="1078992"/>
          </a:xfrm>
          <a:prstGeom prst="rect">
            <a:avLst/>
          </a:prstGeom>
          <a:solidFill>
            <a:srgbClr val="FFFFFF"/>
          </a:solidFill>
          <a:ln w="2286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29968" y="3685032"/>
            <a:ext cx="8138160" cy="10789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D5CE7"/>
                </a:solidFill>
                <a:latin typeface="Cambria Math"/>
              </a:rPr>
              <a:t>Uƒ |x⟩ = (−1)ᶠ⁽ˣ⁾ |x⟩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212080"/>
            <a:ext cx="9189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1736"/>
                </a:solidFill>
                <a:latin typeface="Aptos Display"/>
              </a:rPr>
              <a:t>The final proof exercise is the same mechanism used throughout the unit.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A8E8"/>
                </a:solidFill>
                <a:latin typeface="Aptos"/>
              </a:rPr>
              <a:t> CONSOLIDATION 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Four algorithms share a pattern but target different hidden information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627632"/>
          <a:ext cx="10515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Algorithm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Problem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Quantum idea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8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Deutsch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Constant / 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Aptos"/>
                        </a:rPr>
                        <a:t>Interference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Deutsch–Jozsa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Global property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Aptos"/>
                        </a:rPr>
                        <a:t>Phase + Walsh transform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8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Bernstein–Vazirani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Hidden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6D5CE7"/>
                          </a:solidFill>
                          <a:latin typeface="Aptos"/>
                        </a:rPr>
                        <a:t>Fourier sampling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8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B1736"/>
                          </a:solidFill>
                          <a:latin typeface="Aptos"/>
                        </a:rPr>
                        <a:t>Simon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B1736"/>
                          </a:solidFill>
                          <a:latin typeface="Aptos"/>
                        </a:rPr>
                        <a:t>Hidden period</a:t>
                      </a:r>
                    </a:p>
                  </a:txBody>
                  <a:tcPr>
                    <a:solidFill>
                      <a:srgbClr val="F5FB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6D5CE7"/>
                          </a:solidFill>
                          <a:latin typeface="Aptos"/>
                        </a:rPr>
                        <a:t>Interference + linear algebra</a:t>
                      </a:r>
                    </a:p>
                  </a:txBody>
                  <a:tcPr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WHAT ACTUALLY CREATES THE ADVANTAGE?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Advantage emerges from four ingredients working together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77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SUPERPOSITION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5351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Explore a structured state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2066543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75304" y="1783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75304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40487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ORACLE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95351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Encode the computational problem.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75304" y="3776472"/>
            <a:ext cx="2066543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19088" y="1783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8E8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40487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INTERFERENCE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95351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Amplify useful information; cancel unwanted.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19088" y="3776472"/>
            <a:ext cx="2066543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262872" y="1783080"/>
            <a:ext cx="402336" cy="40233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62872" y="17830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D5CE7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40487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MEASUREMENT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953512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Extract the desired global property.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62872" y="3776472"/>
            <a:ext cx="2066543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883664" y="4800600"/>
            <a:ext cx="8412480" cy="768096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66543" y="4800600"/>
            <a:ext cx="80467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5CE7"/>
                </a:solidFill>
                <a:latin typeface="Aptos Display"/>
              </a:rPr>
              <a:t>SUPERPOSITION ALONE IS NOT ENOUGH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COMPLEXITY TAKEAWAYS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Query complexity was the dominant lens for today’s algorithms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1828800"/>
            <a:ext cx="2834640" cy="969264"/>
          </a:xfrm>
          <a:prstGeom prst="rect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828800"/>
            <a:ext cx="283464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8E8"/>
                </a:solidFill>
                <a:latin typeface="Aptos Display"/>
              </a:rPr>
              <a:t>CIRCUIT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9981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gates · depth · width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1728" y="1828800"/>
            <a:ext cx="2834640" cy="969264"/>
          </a:xfrm>
          <a:prstGeom prst="rect">
            <a:avLst/>
          </a:prstGeom>
          <a:solidFill>
            <a:srgbClr val="FFFFFF"/>
          </a:solidFill>
          <a:ln w="2159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828800"/>
            <a:ext cx="283464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D5CE7"/>
                </a:solidFill>
                <a:latin typeface="Aptos Display"/>
              </a:rP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09981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oracle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828800"/>
            <a:ext cx="2834640" cy="969264"/>
          </a:xfrm>
          <a:prstGeom prst="rect">
            <a:avLst/>
          </a:prstGeom>
          <a:solidFill>
            <a:srgbClr val="FFFFFF"/>
          </a:solidFill>
          <a:ln w="2159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828800"/>
            <a:ext cx="283464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A8E8"/>
                </a:solidFill>
                <a:latin typeface="Aptos Display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09981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26079"/>
                </a:solidFill>
                <a:latin typeface="Aptos Display"/>
              </a:rPr>
              <a:t>qubits or bits exchanged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3822191"/>
            <a:ext cx="10296144" cy="0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4215384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736"/>
                </a:solidFill>
                <a:latin typeface="Aptos Display"/>
              </a:rPr>
              <a:t>Which measure dominated Deutsch, Deutsch–Jozsa, BV, and Simon?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56048"/>
            <a:ext cx="5065776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6D5CE7"/>
                </a:solidFill>
                <a:latin typeface="Aptos Display"/>
              </a:rPr>
              <a:t>QUERY COMPLEXITY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FROM TODAY’S ALGORITHMS TO THE NEXT UNIT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Today’s foundations become the primitives of larger algorithms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TODAY’S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57984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Oracle construction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171907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2990088" y="2286000"/>
            <a:ext cx="310896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2157984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Phase kickback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2788920"/>
            <a:ext cx="1719072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568696" y="2286000"/>
            <a:ext cx="310896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2157984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Fourier transforms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5" y="2788920"/>
            <a:ext cx="171907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147304" y="2286000"/>
            <a:ext cx="310896" cy="182880"/>
          </a:xfrm>
          <a:prstGeom prst="right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2157984"/>
            <a:ext cx="2048256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736"/>
                </a:solidFill>
                <a:latin typeface="Aptos Display"/>
              </a:rPr>
              <a:t>Interference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41663" y="2788920"/>
            <a:ext cx="1719072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5815584" y="3145536"/>
            <a:ext cx="548640" cy="530352"/>
          </a:xfrm>
          <a:prstGeom prst="downArrow">
            <a:avLst/>
          </a:prstGeom>
          <a:solidFill>
            <a:srgbClr val="9A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813048"/>
            <a:ext cx="22494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5CE7"/>
                </a:solidFill>
                <a:latin typeface="Aptos"/>
              </a:rPr>
              <a:t>NEXT ALGORITHMS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270248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8E8"/>
                </a:solidFill>
                <a:latin typeface="Aptos Display"/>
              </a:rPr>
              <a:t>GROVER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7316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amplitude amplification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" y="5504688"/>
            <a:ext cx="1874519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4270248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D5CE7"/>
                </a:solidFill>
                <a:latin typeface="Aptos Display"/>
              </a:rPr>
              <a:t>SHOR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77316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period finding + QFT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5504688"/>
            <a:ext cx="1874519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4768" y="4270248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8E8"/>
                </a:solidFill>
                <a:latin typeface="Aptos Display"/>
              </a:rPr>
              <a:t>PHASE ESTIMATION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77316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eigenvalue information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5504688"/>
            <a:ext cx="1874519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96528" y="4270248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D5CE7"/>
                </a:solidFill>
                <a:latin typeface="Aptos Display"/>
              </a:rPr>
              <a:t>VARIATIONAL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4773168"/>
            <a:ext cx="2240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hybrid quantum–classical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79407" y="5504688"/>
            <a:ext cx="1874519" cy="45720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SUMMARY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Quantum advantage comes from encoding structure and engineering interference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80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1664208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2144" y="1609344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Quantum algorithms use circuit, query, and communication complexity.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386584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331720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Quantum parallelism processes superpositions of basis states.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108960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3054096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Walsh–Hadamard transforms create and manipulate uniform superpositions.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831335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2144" y="3776472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Superposition alone does not provide speedup.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553712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2144" y="4498848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Oracles encode problem-specific functions.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5276088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52144" y="5221224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Marking and phase oracles are related by phase kickback.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1664208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9983" y="1609344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Interference converts phase into measurable information.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2386584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9983" y="2331720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The QFT underpins major algorithms, including Shor.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3108960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9983" y="3054096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Deutsch and Deutsch–Jozsa give exact promised query advantages.</a:t>
            </a:r>
          </a:p>
        </p:txBody>
      </p:sp>
      <p:sp>
        <p:nvSpPr>
          <p:cNvPr id="28" name="Oval 27"/>
          <p:cNvSpPr/>
          <p:nvPr/>
        </p:nvSpPr>
        <p:spPr>
          <a:xfrm>
            <a:off x="6419088" y="3831335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9983" y="3776472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Bernstein–Vazirani recovers a hidden linear string in one query.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4553712"/>
            <a:ext cx="164592" cy="164592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3" y="4498848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Simon reveals hidden periodic structure using interference plus linear algebra.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5276088"/>
            <a:ext cx="164592" cy="164592"/>
          </a:xfrm>
          <a:prstGeom prst="ellipse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3" y="5221224"/>
            <a:ext cx="50109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0B1736"/>
                </a:solidFill>
                <a:latin typeface="Aptos Display"/>
              </a:rPr>
              <a:t>Oracle construction is a fundamental algorithm-design skill.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SELF-ASSESSMENT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A strong final assessment combines concepts, mathematics, and circuit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CONCEPTUAL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130552"/>
            <a:ext cx="2907792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24871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487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4414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Why is parallelism alone insufficient?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18211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182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13639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Marking vs phase oracle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877056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877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831335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What is phase kickback?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4572000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572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5262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Why use query complexity?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1700784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5CE7"/>
                </a:solidFill>
                <a:latin typeface="Aptos"/>
              </a:rPr>
              <a:t>MATHEMATICAL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51376" y="2130552"/>
            <a:ext cx="2907792" cy="50292"/>
          </a:xfrm>
          <a:prstGeom prst="rect">
            <a:avLst/>
          </a:prstGeom>
          <a:solidFill>
            <a:srgbClr val="6D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51376" y="24871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51376" y="2487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D5CE7"/>
                </a:solidFill>
                <a:latin typeface="Aptos Display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4414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Derive phase kickback identity</a:t>
            </a:r>
          </a:p>
        </p:txBody>
      </p:sp>
      <p:sp>
        <p:nvSpPr>
          <p:cNvPr id="29" name="Oval 28"/>
          <p:cNvSpPr/>
          <p:nvPr/>
        </p:nvSpPr>
        <p:spPr>
          <a:xfrm>
            <a:off x="4151376" y="318211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51376" y="3182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D5CE7"/>
                </a:solidFill>
                <a:latin typeface="Aptos Display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13639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Balanced ⇒ zero |0ⁿ⟩ amplitude</a:t>
            </a:r>
          </a:p>
        </p:txBody>
      </p:sp>
      <p:sp>
        <p:nvSpPr>
          <p:cNvPr id="32" name="Oval 31"/>
          <p:cNvSpPr/>
          <p:nvPr/>
        </p:nvSpPr>
        <p:spPr>
          <a:xfrm>
            <a:off x="4151376" y="3877056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D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51376" y="3877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D5CE7"/>
                </a:solidFill>
                <a:latin typeface="Aptos Display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831335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Explain a·y=0 mod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1700784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8E8"/>
                </a:solidFill>
                <a:latin typeface="Aptos"/>
              </a:rPr>
              <a:t>ALGORITHMIC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2944" y="2130552"/>
            <a:ext cx="2907792" cy="5029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552944" y="2487168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52944" y="24871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244144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Construct BV oracle for u=1011</a:t>
            </a:r>
          </a:p>
        </p:txBody>
      </p:sp>
      <p:sp>
        <p:nvSpPr>
          <p:cNvPr id="40" name="Oval 39"/>
          <p:cNvSpPr/>
          <p:nvPr/>
        </p:nvSpPr>
        <p:spPr>
          <a:xfrm>
            <a:off x="7552944" y="318211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52944" y="31821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136391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Trace its final measurement</a:t>
            </a:r>
          </a:p>
        </p:txBody>
      </p:sp>
      <p:sp>
        <p:nvSpPr>
          <p:cNvPr id="43" name="Oval 42"/>
          <p:cNvSpPr/>
          <p:nvPr/>
        </p:nvSpPr>
        <p:spPr>
          <a:xfrm>
            <a:off x="7552944" y="3877056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52944" y="3877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8E8"/>
                </a:solidFill>
                <a:latin typeface="Aptos Display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831335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736"/>
                </a:solidFill>
                <a:latin typeface="Aptos Display"/>
              </a:rPr>
              <a:t>Explain Simon constraint generation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5422392"/>
            <a:ext cx="58704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D5CE7"/>
                </a:solidFill>
                <a:latin typeface="Cambria Math"/>
              </a:rPr>
              <a:t>Uƒ|x⟩|−⟩ = (−1)ᶠ⁽ˣ⁾|x⟩|−⟩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85800" y="320040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85800" y="292608"/>
            <a:ext cx="117043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685800" y="521207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E8"/>
                </a:solidFill>
                <a:latin typeface="Aptos"/>
              </a:rPr>
              <a:t>REFERENCES</a:t>
            </a:r>
          </a:p>
        </p:txBody>
      </p:sp>
      <p:sp>
        <p:nvSpPr>
          <p:cNvPr id="5" name="Takeaway title"/>
          <p:cNvSpPr txBox="1"/>
          <p:nvPr/>
        </p:nvSpPr>
        <p:spPr>
          <a:xfrm>
            <a:off x="685800" y="804672"/>
            <a:ext cx="108356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B1736"/>
                </a:solidFill>
                <a:latin typeface="Aptos Display"/>
              </a:rPr>
              <a:t>Core texts and structured learning resources for further study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6400800"/>
            <a:ext cx="82296" cy="8229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ooter"/>
          <p:cNvSpPr txBox="1"/>
          <p:nvPr/>
        </p:nvSpPr>
        <p:spPr>
          <a:xfrm>
            <a:off x="896112" y="63093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079"/>
                </a:solidFill>
                <a:latin typeface="Aptos"/>
              </a:rPr>
              <a:t>Unit 3 | Quantum Advantage and Challenges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10927080" y="6309360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A8E8"/>
                </a:solidFill>
                <a:latin typeface="Aptos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8E8"/>
                </a:solidFill>
                <a:latin typeface="Aptos"/>
              </a:rPr>
              <a:t>Rieffel, E. G., &amp; Polak, W. (2011).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7568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Quantum Computing: A Gentle Introduction. MIT Press.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99232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D5CE7"/>
                </a:solidFill>
                <a:latin typeface="Aptos"/>
              </a:rPr>
              <a:t>Nielsen, M. A., &amp; Chuang, I. L. (2010).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2900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Quantum Computation and Quantum Information (10th anniversary ed.). Cambridge University Press.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52544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8E8"/>
                </a:solidFill>
                <a:latin typeface="Aptos"/>
              </a:rPr>
              <a:t>IBM Quantum Learning.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82312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Fundamentals of Quantum Algorithms. IBM Quantum.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645920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D5CE7"/>
                </a:solidFill>
                <a:latin typeface="Aptos"/>
              </a:rPr>
              <a:t>Microsoft Quantum.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075688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Quantum Katas: Open-source exercises in quantum computing.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99232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A8E8"/>
                </a:solidFill>
                <a:latin typeface="Aptos"/>
              </a:rPr>
              <a:t>PennyLane.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2900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PennyLane Codebook: Hands-on quantum-computing exercises.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352544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D5CE7"/>
                </a:solidFill>
                <a:latin typeface="Aptos"/>
              </a:rPr>
              <a:t>Course source material.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782312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B1736"/>
                </a:solidFill>
                <a:latin typeface="Aptos Display"/>
              </a:rPr>
              <a:t>Source material supplied for Unit 3: Quantum Advantage and Challenges.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9904" y="1591056"/>
            <a:ext cx="0" cy="4123944"/>
          </a:xfrm>
          <a:prstGeom prst="line">
            <a:avLst/>
          </a:prstGeom>
          <a:ln w="12700">
            <a:solidFill>
              <a:srgbClr val="DDF5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53312" y="5742432"/>
            <a:ext cx="94914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26079"/>
                </a:solidFill>
                <a:latin typeface="Aptos Display"/>
              </a:rPr>
              <a:t>Use the books for rigorous treatment and the learning platforms for guided implementation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ght Quantum Academic">
  <a:themeElements>
    <a:clrScheme name="Bright Quantum Academic">
      <a:dk1>
        <a:srgbClr val="0B1736"/>
      </a:dk1>
      <a:lt1>
        <a:srgbClr val="FFFFFF"/>
      </a:lt1>
      <a:dk2>
        <a:srgbClr val="26324B"/>
      </a:dk2>
      <a:lt2>
        <a:srgbClr val="DDF5FC"/>
      </a:lt2>
      <a:accent1>
        <a:srgbClr val="00A8E8"/>
      </a:accent1>
      <a:accent2>
        <a:srgbClr val="6D5CE7"/>
      </a:accent2>
      <a:accent3>
        <a:srgbClr val="0B1736"/>
      </a:accent3>
      <a:accent4>
        <a:srgbClr val="4C6FFF"/>
      </a:accent4>
      <a:accent5>
        <a:srgbClr val="80D8F7"/>
      </a:accent5>
      <a:accent6>
        <a:srgbClr val="526079"/>
      </a:accent6>
      <a:hlink>
        <a:srgbClr val="00A8E8"/>
      </a:hlink>
      <a:folHlink>
        <a:srgbClr val="6D5CE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 Quantum Academic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12078</Words>
  <Application>Microsoft Office PowerPoint</Application>
  <PresentationFormat>Widescreen</PresentationFormat>
  <Paragraphs>1925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Aptos</vt:lpstr>
      <vt:lpstr>Aptos Display</vt:lpstr>
      <vt:lpstr>Cambria Math</vt:lpstr>
      <vt:lpstr>Bright Quantum Academic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 Raj K</dc:creator>
  <cp:lastModifiedBy>Amrit Raj K</cp:lastModifiedBy>
  <cp:revision>4</cp:revision>
  <dcterms:created xsi:type="dcterms:W3CDTF">2026-09-18T12:26:20Z</dcterms:created>
  <dcterms:modified xsi:type="dcterms:W3CDTF">2026-09-30T05:27:42Z</dcterms:modified>
</cp:coreProperties>
</file>