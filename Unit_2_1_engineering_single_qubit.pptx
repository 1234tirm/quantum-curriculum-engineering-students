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313" r:id="rId2"/>
    <p:sldId id="314"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305" r:id="rId42"/>
    <p:sldId id="306" r:id="rId43"/>
    <p:sldId id="307" r:id="rId44"/>
    <p:sldId id="308" r:id="rId45"/>
    <p:sldId id="309" r:id="rId46"/>
    <p:sldId id="310" r:id="rId47"/>
    <p:sldId id="311" r:id="rId48"/>
    <p:sldId id="312" r:id="rId49"/>
    <p:sldId id="294" r:id="rId50"/>
    <p:sldId id="295" r:id="rId51"/>
    <p:sldId id="296" r:id="rId52"/>
    <p:sldId id="297" r:id="rId53"/>
    <p:sldId id="298" r:id="rId54"/>
    <p:sldId id="299" r:id="rId55"/>
    <p:sldId id="300" r:id="rId56"/>
    <p:sldId id="301" r:id="rId57"/>
    <p:sldId id="302" r:id="rId58"/>
    <p:sldId id="303" r:id="rId59"/>
    <p:sldId id="304" r:id="rId6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71149E-3791-4B53-8A00-549EECBAEBA5}" v="10" dt="2026-08-31T07:47:22.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rit Raj K" userId="e4c3bcef-5252-4fb0-89b9-2d79c5779c3d" providerId="ADAL" clId="{F33D235A-E94E-40D7-9E6C-4A1BCF14868E}"/>
    <pc:docChg chg="undo custSel addSld modSld modNotesMaster">
      <pc:chgData name="Amrit Raj K" userId="e4c3bcef-5252-4fb0-89b9-2d79c5779c3d" providerId="ADAL" clId="{F33D235A-E94E-40D7-9E6C-4A1BCF14868E}" dt="2026-08-31T07:47:17.043" v="13" actId="20577"/>
      <pc:docMkLst>
        <pc:docMk/>
      </pc:docMkLst>
      <pc:sldChg chg="addSp delSp modSp mod modNotes">
        <pc:chgData name="Amrit Raj K" userId="e4c3bcef-5252-4fb0-89b9-2d79c5779c3d" providerId="ADAL" clId="{F33D235A-E94E-40D7-9E6C-4A1BCF14868E}" dt="2026-08-25T09:34:57.186" v="4" actId="26606"/>
        <pc:sldMkLst>
          <pc:docMk/>
          <pc:sldMk cId="0" sldId="256"/>
        </pc:sldMkLst>
      </pc:sldChg>
      <pc:sldChg chg="modNotes">
        <pc:chgData name="Amrit Raj K" userId="e4c3bcef-5252-4fb0-89b9-2d79c5779c3d" providerId="ADAL" clId="{F33D235A-E94E-40D7-9E6C-4A1BCF14868E}" dt="2026-08-25T09:34:57.186" v="4" actId="26606"/>
        <pc:sldMkLst>
          <pc:docMk/>
          <pc:sldMk cId="0" sldId="257"/>
        </pc:sldMkLst>
      </pc:sldChg>
      <pc:sldChg chg="modNotes">
        <pc:chgData name="Amrit Raj K" userId="e4c3bcef-5252-4fb0-89b9-2d79c5779c3d" providerId="ADAL" clId="{F33D235A-E94E-40D7-9E6C-4A1BCF14868E}" dt="2026-08-25T09:34:57.186" v="4" actId="26606"/>
        <pc:sldMkLst>
          <pc:docMk/>
          <pc:sldMk cId="0" sldId="258"/>
        </pc:sldMkLst>
      </pc:sldChg>
      <pc:sldChg chg="modSp mod modNotes">
        <pc:chgData name="Amrit Raj K" userId="e4c3bcef-5252-4fb0-89b9-2d79c5779c3d" providerId="ADAL" clId="{F33D235A-E94E-40D7-9E6C-4A1BCF14868E}" dt="2026-08-25T09:34:57.186" v="4" actId="26606"/>
        <pc:sldMkLst>
          <pc:docMk/>
          <pc:sldMk cId="0" sldId="259"/>
        </pc:sldMkLst>
        <pc:graphicFrameChg chg="modGraphic">
          <ac:chgData name="Amrit Raj K" userId="e4c3bcef-5252-4fb0-89b9-2d79c5779c3d" providerId="ADAL" clId="{F33D235A-E94E-40D7-9E6C-4A1BCF14868E}" dt="2026-08-25T09:32:45.583" v="3" actId="403"/>
          <ac:graphicFrameMkLst>
            <pc:docMk/>
            <pc:sldMk cId="0" sldId="259"/>
            <ac:graphicFrameMk id="5" creationId="{00000000-0000-0000-0000-000000000000}"/>
          </ac:graphicFrameMkLst>
        </pc:graphicFrameChg>
      </pc:sldChg>
      <pc:sldChg chg="modNotes">
        <pc:chgData name="Amrit Raj K" userId="e4c3bcef-5252-4fb0-89b9-2d79c5779c3d" providerId="ADAL" clId="{F33D235A-E94E-40D7-9E6C-4A1BCF14868E}" dt="2026-08-25T09:34:57.186" v="4" actId="26606"/>
        <pc:sldMkLst>
          <pc:docMk/>
          <pc:sldMk cId="0" sldId="260"/>
        </pc:sldMkLst>
      </pc:sldChg>
      <pc:sldChg chg="modNotes">
        <pc:chgData name="Amrit Raj K" userId="e4c3bcef-5252-4fb0-89b9-2d79c5779c3d" providerId="ADAL" clId="{F33D235A-E94E-40D7-9E6C-4A1BCF14868E}" dt="2026-08-25T09:34:57.186" v="4" actId="26606"/>
        <pc:sldMkLst>
          <pc:docMk/>
          <pc:sldMk cId="0" sldId="261"/>
        </pc:sldMkLst>
      </pc:sldChg>
      <pc:sldChg chg="modNotes">
        <pc:chgData name="Amrit Raj K" userId="e4c3bcef-5252-4fb0-89b9-2d79c5779c3d" providerId="ADAL" clId="{F33D235A-E94E-40D7-9E6C-4A1BCF14868E}" dt="2026-08-25T09:34:57.186" v="4" actId="26606"/>
        <pc:sldMkLst>
          <pc:docMk/>
          <pc:sldMk cId="0" sldId="262"/>
        </pc:sldMkLst>
      </pc:sldChg>
      <pc:sldChg chg="modNotes">
        <pc:chgData name="Amrit Raj K" userId="e4c3bcef-5252-4fb0-89b9-2d79c5779c3d" providerId="ADAL" clId="{F33D235A-E94E-40D7-9E6C-4A1BCF14868E}" dt="2026-08-25T09:34:57.186" v="4" actId="26606"/>
        <pc:sldMkLst>
          <pc:docMk/>
          <pc:sldMk cId="0" sldId="263"/>
        </pc:sldMkLst>
      </pc:sldChg>
      <pc:sldChg chg="modNotes">
        <pc:chgData name="Amrit Raj K" userId="e4c3bcef-5252-4fb0-89b9-2d79c5779c3d" providerId="ADAL" clId="{F33D235A-E94E-40D7-9E6C-4A1BCF14868E}" dt="2026-08-25T09:34:57.186" v="4" actId="26606"/>
        <pc:sldMkLst>
          <pc:docMk/>
          <pc:sldMk cId="0" sldId="264"/>
        </pc:sldMkLst>
      </pc:sldChg>
      <pc:sldChg chg="modNotes">
        <pc:chgData name="Amrit Raj K" userId="e4c3bcef-5252-4fb0-89b9-2d79c5779c3d" providerId="ADAL" clId="{F33D235A-E94E-40D7-9E6C-4A1BCF14868E}" dt="2026-08-25T09:34:57.186" v="4" actId="26606"/>
        <pc:sldMkLst>
          <pc:docMk/>
          <pc:sldMk cId="0" sldId="265"/>
        </pc:sldMkLst>
      </pc:sldChg>
      <pc:sldChg chg="modNotes">
        <pc:chgData name="Amrit Raj K" userId="e4c3bcef-5252-4fb0-89b9-2d79c5779c3d" providerId="ADAL" clId="{F33D235A-E94E-40D7-9E6C-4A1BCF14868E}" dt="2026-08-25T09:34:57.186" v="4" actId="26606"/>
        <pc:sldMkLst>
          <pc:docMk/>
          <pc:sldMk cId="0" sldId="266"/>
        </pc:sldMkLst>
      </pc:sldChg>
      <pc:sldChg chg="modNotes">
        <pc:chgData name="Amrit Raj K" userId="e4c3bcef-5252-4fb0-89b9-2d79c5779c3d" providerId="ADAL" clId="{F33D235A-E94E-40D7-9E6C-4A1BCF14868E}" dt="2026-08-25T09:34:57.186" v="4" actId="26606"/>
        <pc:sldMkLst>
          <pc:docMk/>
          <pc:sldMk cId="0" sldId="267"/>
        </pc:sldMkLst>
      </pc:sldChg>
      <pc:sldChg chg="modNotes">
        <pc:chgData name="Amrit Raj K" userId="e4c3bcef-5252-4fb0-89b9-2d79c5779c3d" providerId="ADAL" clId="{F33D235A-E94E-40D7-9E6C-4A1BCF14868E}" dt="2026-08-25T09:34:57.186" v="4" actId="26606"/>
        <pc:sldMkLst>
          <pc:docMk/>
          <pc:sldMk cId="0" sldId="268"/>
        </pc:sldMkLst>
      </pc:sldChg>
      <pc:sldChg chg="modNotes">
        <pc:chgData name="Amrit Raj K" userId="e4c3bcef-5252-4fb0-89b9-2d79c5779c3d" providerId="ADAL" clId="{F33D235A-E94E-40D7-9E6C-4A1BCF14868E}" dt="2026-08-25T09:34:57.186" v="4" actId="26606"/>
        <pc:sldMkLst>
          <pc:docMk/>
          <pc:sldMk cId="0" sldId="269"/>
        </pc:sldMkLst>
      </pc:sldChg>
      <pc:sldChg chg="modNotes">
        <pc:chgData name="Amrit Raj K" userId="e4c3bcef-5252-4fb0-89b9-2d79c5779c3d" providerId="ADAL" clId="{F33D235A-E94E-40D7-9E6C-4A1BCF14868E}" dt="2026-08-25T09:34:57.186" v="4" actId="26606"/>
        <pc:sldMkLst>
          <pc:docMk/>
          <pc:sldMk cId="0" sldId="270"/>
        </pc:sldMkLst>
      </pc:sldChg>
      <pc:sldChg chg="modNotes">
        <pc:chgData name="Amrit Raj K" userId="e4c3bcef-5252-4fb0-89b9-2d79c5779c3d" providerId="ADAL" clId="{F33D235A-E94E-40D7-9E6C-4A1BCF14868E}" dt="2026-08-25T09:34:57.186" v="4" actId="26606"/>
        <pc:sldMkLst>
          <pc:docMk/>
          <pc:sldMk cId="0" sldId="271"/>
        </pc:sldMkLst>
      </pc:sldChg>
      <pc:sldChg chg="modNotes">
        <pc:chgData name="Amrit Raj K" userId="e4c3bcef-5252-4fb0-89b9-2d79c5779c3d" providerId="ADAL" clId="{F33D235A-E94E-40D7-9E6C-4A1BCF14868E}" dt="2026-08-25T09:34:57.186" v="4" actId="26606"/>
        <pc:sldMkLst>
          <pc:docMk/>
          <pc:sldMk cId="0" sldId="272"/>
        </pc:sldMkLst>
      </pc:sldChg>
      <pc:sldChg chg="modNotes">
        <pc:chgData name="Amrit Raj K" userId="e4c3bcef-5252-4fb0-89b9-2d79c5779c3d" providerId="ADAL" clId="{F33D235A-E94E-40D7-9E6C-4A1BCF14868E}" dt="2026-08-25T09:34:57.186" v="4" actId="26606"/>
        <pc:sldMkLst>
          <pc:docMk/>
          <pc:sldMk cId="0" sldId="273"/>
        </pc:sldMkLst>
      </pc:sldChg>
      <pc:sldChg chg="modNotes">
        <pc:chgData name="Amrit Raj K" userId="e4c3bcef-5252-4fb0-89b9-2d79c5779c3d" providerId="ADAL" clId="{F33D235A-E94E-40D7-9E6C-4A1BCF14868E}" dt="2026-08-25T09:34:57.186" v="4" actId="26606"/>
        <pc:sldMkLst>
          <pc:docMk/>
          <pc:sldMk cId="0" sldId="274"/>
        </pc:sldMkLst>
      </pc:sldChg>
      <pc:sldChg chg="modNotes">
        <pc:chgData name="Amrit Raj K" userId="e4c3bcef-5252-4fb0-89b9-2d79c5779c3d" providerId="ADAL" clId="{F33D235A-E94E-40D7-9E6C-4A1BCF14868E}" dt="2026-08-25T09:34:57.186" v="4" actId="26606"/>
        <pc:sldMkLst>
          <pc:docMk/>
          <pc:sldMk cId="0" sldId="275"/>
        </pc:sldMkLst>
      </pc:sldChg>
      <pc:sldChg chg="modNotes">
        <pc:chgData name="Amrit Raj K" userId="e4c3bcef-5252-4fb0-89b9-2d79c5779c3d" providerId="ADAL" clId="{F33D235A-E94E-40D7-9E6C-4A1BCF14868E}" dt="2026-08-25T09:34:57.186" v="4" actId="26606"/>
        <pc:sldMkLst>
          <pc:docMk/>
          <pc:sldMk cId="0" sldId="276"/>
        </pc:sldMkLst>
      </pc:sldChg>
      <pc:sldChg chg="modNotes">
        <pc:chgData name="Amrit Raj K" userId="e4c3bcef-5252-4fb0-89b9-2d79c5779c3d" providerId="ADAL" clId="{F33D235A-E94E-40D7-9E6C-4A1BCF14868E}" dt="2026-08-25T09:34:57.186" v="4" actId="26606"/>
        <pc:sldMkLst>
          <pc:docMk/>
          <pc:sldMk cId="0" sldId="277"/>
        </pc:sldMkLst>
      </pc:sldChg>
      <pc:sldChg chg="modSp mod modNotes">
        <pc:chgData name="Amrit Raj K" userId="e4c3bcef-5252-4fb0-89b9-2d79c5779c3d" providerId="ADAL" clId="{F33D235A-E94E-40D7-9E6C-4A1BCF14868E}" dt="2026-08-31T07:36:48.943" v="8" actId="1076"/>
        <pc:sldMkLst>
          <pc:docMk/>
          <pc:sldMk cId="0" sldId="278"/>
        </pc:sldMkLst>
        <pc:picChg chg="mod">
          <ac:chgData name="Amrit Raj K" userId="e4c3bcef-5252-4fb0-89b9-2d79c5779c3d" providerId="ADAL" clId="{F33D235A-E94E-40D7-9E6C-4A1BCF14868E}" dt="2026-08-31T07:36:48.943" v="8" actId="1076"/>
          <ac:picMkLst>
            <pc:docMk/>
            <pc:sldMk cId="0" sldId="278"/>
            <ac:picMk id="5" creationId="{00000000-0000-0000-0000-000000000000}"/>
          </ac:picMkLst>
        </pc:picChg>
      </pc:sldChg>
      <pc:sldChg chg="modNotes">
        <pc:chgData name="Amrit Raj K" userId="e4c3bcef-5252-4fb0-89b9-2d79c5779c3d" providerId="ADAL" clId="{F33D235A-E94E-40D7-9E6C-4A1BCF14868E}" dt="2026-08-25T09:34:57.186" v="4" actId="26606"/>
        <pc:sldMkLst>
          <pc:docMk/>
          <pc:sldMk cId="0" sldId="279"/>
        </pc:sldMkLst>
      </pc:sldChg>
      <pc:sldChg chg="modNotes">
        <pc:chgData name="Amrit Raj K" userId="e4c3bcef-5252-4fb0-89b9-2d79c5779c3d" providerId="ADAL" clId="{F33D235A-E94E-40D7-9E6C-4A1BCF14868E}" dt="2026-08-25T09:34:57.186" v="4" actId="26606"/>
        <pc:sldMkLst>
          <pc:docMk/>
          <pc:sldMk cId="0" sldId="280"/>
        </pc:sldMkLst>
      </pc:sldChg>
      <pc:sldChg chg="modNotes">
        <pc:chgData name="Amrit Raj K" userId="e4c3bcef-5252-4fb0-89b9-2d79c5779c3d" providerId="ADAL" clId="{F33D235A-E94E-40D7-9E6C-4A1BCF14868E}" dt="2026-08-25T09:34:57.186" v="4" actId="26606"/>
        <pc:sldMkLst>
          <pc:docMk/>
          <pc:sldMk cId="0" sldId="281"/>
        </pc:sldMkLst>
      </pc:sldChg>
      <pc:sldChg chg="modNotes">
        <pc:chgData name="Amrit Raj K" userId="e4c3bcef-5252-4fb0-89b9-2d79c5779c3d" providerId="ADAL" clId="{F33D235A-E94E-40D7-9E6C-4A1BCF14868E}" dt="2026-08-25T09:34:57.186" v="4" actId="26606"/>
        <pc:sldMkLst>
          <pc:docMk/>
          <pc:sldMk cId="0" sldId="282"/>
        </pc:sldMkLst>
      </pc:sldChg>
      <pc:sldChg chg="modNotes">
        <pc:chgData name="Amrit Raj K" userId="e4c3bcef-5252-4fb0-89b9-2d79c5779c3d" providerId="ADAL" clId="{F33D235A-E94E-40D7-9E6C-4A1BCF14868E}" dt="2026-08-25T09:34:57.186" v="4" actId="26606"/>
        <pc:sldMkLst>
          <pc:docMk/>
          <pc:sldMk cId="0" sldId="283"/>
        </pc:sldMkLst>
      </pc:sldChg>
      <pc:sldChg chg="modNotes">
        <pc:chgData name="Amrit Raj K" userId="e4c3bcef-5252-4fb0-89b9-2d79c5779c3d" providerId="ADAL" clId="{F33D235A-E94E-40D7-9E6C-4A1BCF14868E}" dt="2026-08-25T09:34:57.186" v="4" actId="26606"/>
        <pc:sldMkLst>
          <pc:docMk/>
          <pc:sldMk cId="0" sldId="284"/>
        </pc:sldMkLst>
      </pc:sldChg>
      <pc:sldChg chg="modSp modNotes">
        <pc:chgData name="Amrit Raj K" userId="e4c3bcef-5252-4fb0-89b9-2d79c5779c3d" providerId="ADAL" clId="{F33D235A-E94E-40D7-9E6C-4A1BCF14868E}" dt="2026-08-31T07:46:56.577" v="9"/>
        <pc:sldMkLst>
          <pc:docMk/>
          <pc:sldMk cId="0" sldId="285"/>
        </pc:sldMkLst>
        <pc:spChg chg="mod">
          <ac:chgData name="Amrit Raj K" userId="e4c3bcef-5252-4fb0-89b9-2d79c5779c3d" providerId="ADAL" clId="{F33D235A-E94E-40D7-9E6C-4A1BCF14868E}" dt="2026-08-31T07:46:56.577" v="9"/>
          <ac:spMkLst>
            <pc:docMk/>
            <pc:sldMk cId="0" sldId="285"/>
            <ac:spMk id="21" creationId="{00000000-0000-0000-0000-000000000000}"/>
          </ac:spMkLst>
        </pc:spChg>
      </pc:sldChg>
      <pc:sldChg chg="modSp modNotes">
        <pc:chgData name="Amrit Raj K" userId="e4c3bcef-5252-4fb0-89b9-2d79c5779c3d" providerId="ADAL" clId="{F33D235A-E94E-40D7-9E6C-4A1BCF14868E}" dt="2026-08-31T07:47:17.043" v="13" actId="20577"/>
        <pc:sldMkLst>
          <pc:docMk/>
          <pc:sldMk cId="0" sldId="286"/>
        </pc:sldMkLst>
        <pc:spChg chg="mod">
          <ac:chgData name="Amrit Raj K" userId="e4c3bcef-5252-4fb0-89b9-2d79c5779c3d" providerId="ADAL" clId="{F33D235A-E94E-40D7-9E6C-4A1BCF14868E}" dt="2026-08-31T07:47:17.043" v="13" actId="20577"/>
          <ac:spMkLst>
            <pc:docMk/>
            <pc:sldMk cId="0" sldId="286"/>
            <ac:spMk id="6" creationId="{00000000-0000-0000-0000-000000000000}"/>
          </ac:spMkLst>
        </pc:spChg>
      </pc:sldChg>
      <pc:sldChg chg="modNotes">
        <pc:chgData name="Amrit Raj K" userId="e4c3bcef-5252-4fb0-89b9-2d79c5779c3d" providerId="ADAL" clId="{F33D235A-E94E-40D7-9E6C-4A1BCF14868E}" dt="2026-08-25T09:34:57.186" v="4" actId="26606"/>
        <pc:sldMkLst>
          <pc:docMk/>
          <pc:sldMk cId="0" sldId="287"/>
        </pc:sldMkLst>
      </pc:sldChg>
      <pc:sldChg chg="modNotes">
        <pc:chgData name="Amrit Raj K" userId="e4c3bcef-5252-4fb0-89b9-2d79c5779c3d" providerId="ADAL" clId="{F33D235A-E94E-40D7-9E6C-4A1BCF14868E}" dt="2026-08-25T09:34:57.186" v="4" actId="26606"/>
        <pc:sldMkLst>
          <pc:docMk/>
          <pc:sldMk cId="0" sldId="288"/>
        </pc:sldMkLst>
      </pc:sldChg>
      <pc:sldChg chg="modNotes">
        <pc:chgData name="Amrit Raj K" userId="e4c3bcef-5252-4fb0-89b9-2d79c5779c3d" providerId="ADAL" clId="{F33D235A-E94E-40D7-9E6C-4A1BCF14868E}" dt="2026-08-25T09:34:57.186" v="4" actId="26606"/>
        <pc:sldMkLst>
          <pc:docMk/>
          <pc:sldMk cId="0" sldId="289"/>
        </pc:sldMkLst>
      </pc:sldChg>
      <pc:sldChg chg="modNotes">
        <pc:chgData name="Amrit Raj K" userId="e4c3bcef-5252-4fb0-89b9-2d79c5779c3d" providerId="ADAL" clId="{F33D235A-E94E-40D7-9E6C-4A1BCF14868E}" dt="2026-08-25T09:34:57.186" v="4" actId="26606"/>
        <pc:sldMkLst>
          <pc:docMk/>
          <pc:sldMk cId="0" sldId="290"/>
        </pc:sldMkLst>
      </pc:sldChg>
      <pc:sldChg chg="modNotes">
        <pc:chgData name="Amrit Raj K" userId="e4c3bcef-5252-4fb0-89b9-2d79c5779c3d" providerId="ADAL" clId="{F33D235A-E94E-40D7-9E6C-4A1BCF14868E}" dt="2026-08-25T09:34:57.186" v="4" actId="26606"/>
        <pc:sldMkLst>
          <pc:docMk/>
          <pc:sldMk cId="0" sldId="291"/>
        </pc:sldMkLst>
      </pc:sldChg>
      <pc:sldChg chg="modNotes">
        <pc:chgData name="Amrit Raj K" userId="e4c3bcef-5252-4fb0-89b9-2d79c5779c3d" providerId="ADAL" clId="{F33D235A-E94E-40D7-9E6C-4A1BCF14868E}" dt="2026-08-25T09:34:57.186" v="4" actId="26606"/>
        <pc:sldMkLst>
          <pc:docMk/>
          <pc:sldMk cId="0" sldId="292"/>
        </pc:sldMkLst>
      </pc:sldChg>
      <pc:sldChg chg="modNotes">
        <pc:chgData name="Amrit Raj K" userId="e4c3bcef-5252-4fb0-89b9-2d79c5779c3d" providerId="ADAL" clId="{F33D235A-E94E-40D7-9E6C-4A1BCF14868E}" dt="2026-08-25T09:34:57.186" v="4" actId="26606"/>
        <pc:sldMkLst>
          <pc:docMk/>
          <pc:sldMk cId="0" sldId="293"/>
        </pc:sldMkLst>
      </pc:sldChg>
      <pc:sldChg chg="modNotes">
        <pc:chgData name="Amrit Raj K" userId="e4c3bcef-5252-4fb0-89b9-2d79c5779c3d" providerId="ADAL" clId="{F33D235A-E94E-40D7-9E6C-4A1BCF14868E}" dt="2026-08-25T09:34:57.186" v="4" actId="26606"/>
        <pc:sldMkLst>
          <pc:docMk/>
          <pc:sldMk cId="0" sldId="294"/>
        </pc:sldMkLst>
      </pc:sldChg>
      <pc:sldChg chg="modNotes">
        <pc:chgData name="Amrit Raj K" userId="e4c3bcef-5252-4fb0-89b9-2d79c5779c3d" providerId="ADAL" clId="{F33D235A-E94E-40D7-9E6C-4A1BCF14868E}" dt="2026-08-25T09:34:57.186" v="4" actId="26606"/>
        <pc:sldMkLst>
          <pc:docMk/>
          <pc:sldMk cId="0" sldId="295"/>
        </pc:sldMkLst>
      </pc:sldChg>
      <pc:sldChg chg="modNotes">
        <pc:chgData name="Amrit Raj K" userId="e4c3bcef-5252-4fb0-89b9-2d79c5779c3d" providerId="ADAL" clId="{F33D235A-E94E-40D7-9E6C-4A1BCF14868E}" dt="2026-08-25T09:34:57.186" v="4" actId="26606"/>
        <pc:sldMkLst>
          <pc:docMk/>
          <pc:sldMk cId="0" sldId="296"/>
        </pc:sldMkLst>
      </pc:sldChg>
      <pc:sldChg chg="modNotes">
        <pc:chgData name="Amrit Raj K" userId="e4c3bcef-5252-4fb0-89b9-2d79c5779c3d" providerId="ADAL" clId="{F33D235A-E94E-40D7-9E6C-4A1BCF14868E}" dt="2026-08-25T09:34:57.186" v="4" actId="26606"/>
        <pc:sldMkLst>
          <pc:docMk/>
          <pc:sldMk cId="0" sldId="297"/>
        </pc:sldMkLst>
      </pc:sldChg>
      <pc:sldChg chg="modNotes">
        <pc:chgData name="Amrit Raj K" userId="e4c3bcef-5252-4fb0-89b9-2d79c5779c3d" providerId="ADAL" clId="{F33D235A-E94E-40D7-9E6C-4A1BCF14868E}" dt="2026-08-25T09:34:57.186" v="4" actId="26606"/>
        <pc:sldMkLst>
          <pc:docMk/>
          <pc:sldMk cId="0" sldId="298"/>
        </pc:sldMkLst>
      </pc:sldChg>
      <pc:sldChg chg="modNotes">
        <pc:chgData name="Amrit Raj K" userId="e4c3bcef-5252-4fb0-89b9-2d79c5779c3d" providerId="ADAL" clId="{F33D235A-E94E-40D7-9E6C-4A1BCF14868E}" dt="2026-08-25T09:34:57.186" v="4" actId="26606"/>
        <pc:sldMkLst>
          <pc:docMk/>
          <pc:sldMk cId="0" sldId="299"/>
        </pc:sldMkLst>
      </pc:sldChg>
      <pc:sldChg chg="modNotes">
        <pc:chgData name="Amrit Raj K" userId="e4c3bcef-5252-4fb0-89b9-2d79c5779c3d" providerId="ADAL" clId="{F33D235A-E94E-40D7-9E6C-4A1BCF14868E}" dt="2026-08-25T09:34:57.186" v="4" actId="26606"/>
        <pc:sldMkLst>
          <pc:docMk/>
          <pc:sldMk cId="0" sldId="300"/>
        </pc:sldMkLst>
      </pc:sldChg>
      <pc:sldChg chg="modNotes">
        <pc:chgData name="Amrit Raj K" userId="e4c3bcef-5252-4fb0-89b9-2d79c5779c3d" providerId="ADAL" clId="{F33D235A-E94E-40D7-9E6C-4A1BCF14868E}" dt="2026-08-25T09:34:57.186" v="4" actId="26606"/>
        <pc:sldMkLst>
          <pc:docMk/>
          <pc:sldMk cId="0" sldId="301"/>
        </pc:sldMkLst>
      </pc:sldChg>
      <pc:sldChg chg="modNotes">
        <pc:chgData name="Amrit Raj K" userId="e4c3bcef-5252-4fb0-89b9-2d79c5779c3d" providerId="ADAL" clId="{F33D235A-E94E-40D7-9E6C-4A1BCF14868E}" dt="2026-08-25T09:34:57.186" v="4" actId="26606"/>
        <pc:sldMkLst>
          <pc:docMk/>
          <pc:sldMk cId="0" sldId="302"/>
        </pc:sldMkLst>
      </pc:sldChg>
      <pc:sldChg chg="modNotes">
        <pc:chgData name="Amrit Raj K" userId="e4c3bcef-5252-4fb0-89b9-2d79c5779c3d" providerId="ADAL" clId="{F33D235A-E94E-40D7-9E6C-4A1BCF14868E}" dt="2026-08-25T09:34:57.186" v="4" actId="26606"/>
        <pc:sldMkLst>
          <pc:docMk/>
          <pc:sldMk cId="0" sldId="303"/>
        </pc:sldMkLst>
      </pc:sldChg>
      <pc:sldChg chg="modNotes">
        <pc:chgData name="Amrit Raj K" userId="e4c3bcef-5252-4fb0-89b9-2d79c5779c3d" providerId="ADAL" clId="{F33D235A-E94E-40D7-9E6C-4A1BCF14868E}" dt="2026-08-25T09:34:57.186" v="4" actId="26606"/>
        <pc:sldMkLst>
          <pc:docMk/>
          <pc:sldMk cId="0" sldId="304"/>
        </pc:sldMkLst>
      </pc:sldChg>
      <pc:sldChg chg="modNotes">
        <pc:chgData name="Amrit Raj K" userId="e4c3bcef-5252-4fb0-89b9-2d79c5779c3d" providerId="ADAL" clId="{F33D235A-E94E-40D7-9E6C-4A1BCF14868E}" dt="2026-08-25T09:34:57.186" v="4" actId="26606"/>
        <pc:sldMkLst>
          <pc:docMk/>
          <pc:sldMk cId="0" sldId="305"/>
        </pc:sldMkLst>
      </pc:sldChg>
      <pc:sldChg chg="modNotes">
        <pc:chgData name="Amrit Raj K" userId="e4c3bcef-5252-4fb0-89b9-2d79c5779c3d" providerId="ADAL" clId="{F33D235A-E94E-40D7-9E6C-4A1BCF14868E}" dt="2026-08-25T09:34:57.186" v="4" actId="26606"/>
        <pc:sldMkLst>
          <pc:docMk/>
          <pc:sldMk cId="0" sldId="306"/>
        </pc:sldMkLst>
      </pc:sldChg>
      <pc:sldChg chg="modNotes">
        <pc:chgData name="Amrit Raj K" userId="e4c3bcef-5252-4fb0-89b9-2d79c5779c3d" providerId="ADAL" clId="{F33D235A-E94E-40D7-9E6C-4A1BCF14868E}" dt="2026-08-25T09:34:57.186" v="4" actId="26606"/>
        <pc:sldMkLst>
          <pc:docMk/>
          <pc:sldMk cId="0" sldId="307"/>
        </pc:sldMkLst>
      </pc:sldChg>
      <pc:sldChg chg="modNotes">
        <pc:chgData name="Amrit Raj K" userId="e4c3bcef-5252-4fb0-89b9-2d79c5779c3d" providerId="ADAL" clId="{F33D235A-E94E-40D7-9E6C-4A1BCF14868E}" dt="2026-08-25T09:34:57.186" v="4" actId="26606"/>
        <pc:sldMkLst>
          <pc:docMk/>
          <pc:sldMk cId="0" sldId="308"/>
        </pc:sldMkLst>
      </pc:sldChg>
      <pc:sldChg chg="modNotes">
        <pc:chgData name="Amrit Raj K" userId="e4c3bcef-5252-4fb0-89b9-2d79c5779c3d" providerId="ADAL" clId="{F33D235A-E94E-40D7-9E6C-4A1BCF14868E}" dt="2026-08-25T09:34:57.186" v="4" actId="26606"/>
        <pc:sldMkLst>
          <pc:docMk/>
          <pc:sldMk cId="0" sldId="309"/>
        </pc:sldMkLst>
      </pc:sldChg>
      <pc:sldChg chg="modNotes">
        <pc:chgData name="Amrit Raj K" userId="e4c3bcef-5252-4fb0-89b9-2d79c5779c3d" providerId="ADAL" clId="{F33D235A-E94E-40D7-9E6C-4A1BCF14868E}" dt="2026-08-25T09:34:57.186" v="4" actId="26606"/>
        <pc:sldMkLst>
          <pc:docMk/>
          <pc:sldMk cId="0" sldId="310"/>
        </pc:sldMkLst>
      </pc:sldChg>
      <pc:sldChg chg="modNotes">
        <pc:chgData name="Amrit Raj K" userId="e4c3bcef-5252-4fb0-89b9-2d79c5779c3d" providerId="ADAL" clId="{F33D235A-E94E-40D7-9E6C-4A1BCF14868E}" dt="2026-08-25T09:34:57.186" v="4" actId="26606"/>
        <pc:sldMkLst>
          <pc:docMk/>
          <pc:sldMk cId="0" sldId="311"/>
        </pc:sldMkLst>
      </pc:sldChg>
      <pc:sldChg chg="modNotes">
        <pc:chgData name="Amrit Raj K" userId="e4c3bcef-5252-4fb0-89b9-2d79c5779c3d" providerId="ADAL" clId="{F33D235A-E94E-40D7-9E6C-4A1BCF14868E}" dt="2026-08-25T09:34:57.186" v="4" actId="26606"/>
        <pc:sldMkLst>
          <pc:docMk/>
          <pc:sldMk cId="0" sldId="312"/>
        </pc:sldMkLst>
      </pc:sldChg>
      <pc:sldChg chg="add">
        <pc:chgData name="Amrit Raj K" userId="e4c3bcef-5252-4fb0-89b9-2d79c5779c3d" providerId="ADAL" clId="{F33D235A-E94E-40D7-9E6C-4A1BCF14868E}" dt="2026-08-25T09:34:57.186" v="4" actId="26606"/>
        <pc:sldMkLst>
          <pc:docMk/>
          <pc:sldMk cId="0" sldId="313"/>
        </pc:sldMkLst>
      </pc:sldChg>
      <pc:sldChg chg="add">
        <pc:chgData name="Amrit Raj K" userId="e4c3bcef-5252-4fb0-89b9-2d79c5779c3d" providerId="ADAL" clId="{F33D235A-E94E-40D7-9E6C-4A1BCF14868E}" dt="2026-08-25T09:36:37.475" v="6" actId="26606"/>
        <pc:sldMkLst>
          <pc:docMk/>
          <pc:sldMk cId="0" sldId="3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129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Learning objective</a:t>
            </a:r>
          </a:p>
          <a:p>
            <a:r>
              <a:rPr lang="en-US" dirty="0"/>
              <a:t>Students should understand why photon polarization is chosen before introducing abstract mathematics.</a:t>
            </a:r>
          </a:p>
          <a:p>
            <a:endParaRPr lang="en-US" dirty="0"/>
          </a:p>
          <a:p>
            <a:r>
              <a:rPr lang="en-US" b="1" dirty="0"/>
              <a:t>Teaching sequence</a:t>
            </a:r>
          </a:p>
          <a:p>
            <a:r>
              <a:rPr lang="en-US" dirty="0"/>
              <a:t>Begin by asking: “When we say 'qubit', what is the actual physical object?” Most students immediately imagine a tiny particle or an atom.</a:t>
            </a:r>
          </a:p>
          <a:p>
            <a:r>
              <a:rPr lang="en-US" dirty="0"/>
              <a:t>Explain that a qubit is not a particular particle. A qubit is any physical system possessing exactly two distinguishable quantum states.</a:t>
            </a:r>
          </a:p>
          <a:p>
            <a:r>
              <a:rPr lang="en-US" dirty="0"/>
              <a:t>Introduce photon polarization. Take a marker, draw a vertical arrow, then draw a horizontal arrow. Explain that these are not merely arrows but represent two orthogonal polarization directions.</a:t>
            </a:r>
          </a:p>
          <a:p>
            <a:r>
              <a:rPr lang="en-US" dirty="0"/>
              <a:t>Note that this satisfies the requirement for a two-dimensional Hilbert space.</a:t>
            </a:r>
          </a:p>
          <a:p>
            <a:endParaRPr lang="en-US" dirty="0"/>
          </a:p>
          <a:p>
            <a:r>
              <a:rPr lang="en-US" b="1" dirty="0"/>
              <a:t>Important statement</a:t>
            </a:r>
          </a:p>
          <a:p>
            <a:r>
              <a:rPr lang="en-US" i="1" dirty="0"/>
              <a:t>“We are not studying light today. We are using light as a physical system to understand quantum information.”</a:t>
            </a:r>
          </a:p>
          <a:p>
            <a:endParaRPr lang="en-US" dirty="0"/>
          </a:p>
          <a:p>
            <a:r>
              <a:rPr lang="en-US" b="1" dirty="0"/>
              <a:t>Class discussion</a:t>
            </a:r>
          </a:p>
          <a:p>
            <a:r>
              <a:rPr lang="en-US" dirty="0"/>
              <a:t>Ask: “Can temperature be used as a qubit?” Allow discussion, then conclude: No, because temperature has infinitely many values.</a:t>
            </a:r>
          </a:p>
          <a:p>
            <a:endParaRPr lang="en-US" dirty="0"/>
          </a:p>
          <a:p>
            <a:r>
              <a:rPr lang="en-US" b="1" dirty="0"/>
              <a:t>Transition</a:t>
            </a:r>
          </a:p>
          <a:p>
            <a:r>
              <a:rPr lang="en-US" i="1" dirty="0"/>
              <a:t>“We now know that polarization provides two basis states. The next question is whether Nature behaves according to classical intuition.”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Teaching approach</a:t>
            </a:r>
          </a:p>
          <a:p>
            <a:r>
              <a:rPr lang="en-US" dirty="0"/>
              <a:t>Do not reveal the answer immediately. Spend almost five minutes discussing predictions, then ask students to vote.</a:t>
            </a:r>
          </a:p>
          <a:p>
            <a:r>
              <a:rPr lang="en-US" dirty="0"/>
              <a:t>Common responses: zero intensity, half intensity, quarter intensity. Write all predictions on the board.</a:t>
            </a:r>
          </a:p>
          <a:p>
            <a:r>
              <a:rPr lang="en-US" dirty="0"/>
              <a:t>Then perform (or animate) the experiment.</a:t>
            </a:r>
          </a:p>
          <a:p>
            <a:endParaRPr lang="en-US" dirty="0"/>
          </a:p>
          <a:p>
            <a:r>
              <a:rPr lang="en-US" b="1" dirty="0"/>
              <a:t>Purpose</a:t>
            </a:r>
          </a:p>
          <a:p>
            <a:r>
              <a:rPr lang="en-US" dirty="0"/>
              <a:t>This slide is intended to create cognitive conflict before introducing quantum measurement.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Teaching approach</a:t>
            </a:r>
          </a:p>
          <a:p>
            <a:r>
              <a:rPr lang="en-US" dirty="0"/>
              <a:t>Pause after revealing Case C. Let students react.</a:t>
            </a:r>
          </a:p>
          <a:p>
            <a:r>
              <a:rPr lang="en-US" dirty="0"/>
              <a:t>Then ask: </a:t>
            </a:r>
            <a:r>
              <a:rPr lang="en-US" i="1" dirty="0"/>
              <a:t>“How can adding another obstacle increase the transmitted light?”</a:t>
            </a:r>
          </a:p>
          <a:p>
            <a:r>
              <a:rPr lang="en-US" dirty="0"/>
              <a:t>Explain that this single experiment historically motivated much of quantum mechanics.</a:t>
            </a:r>
          </a:p>
          <a:p>
            <a:r>
              <a:rPr lang="en-US" dirty="0"/>
              <a:t>Avoid giving the mathematical explanation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Bridge to quantum theory</a:t>
            </a:r>
          </a:p>
          <a:p>
            <a:r>
              <a:rPr lang="en-US" dirty="0"/>
              <a:t>This is the bridge between classical intuition and quantum theory.</a:t>
            </a:r>
          </a:p>
          <a:p>
            <a:r>
              <a:rPr lang="en-US" dirty="0"/>
              <a:t>State that every mathematical idea in the remaining chapter exists solely to explain this experiment.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Connect to Unit 1</a:t>
            </a:r>
          </a:p>
          <a:p>
            <a:r>
              <a:rPr lang="en-US" dirty="0"/>
              <a:t>Say: </a:t>
            </a:r>
            <a:r>
              <a:rPr lang="en-US" i="1" dirty="0"/>
              <a:t>“We already know vector spaces. Now Nature is telling us that polarization behaves exactly like a vector.”</a:t>
            </a:r>
          </a:p>
          <a:p>
            <a:r>
              <a:rPr lang="en-US" dirty="0"/>
              <a:t>Do not re-teach vector spaces. Instead, remind students of orthogonality.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Connect the physical experiment with linear algebra. Remind students that in Unit 1 they studied vector spaces.</a:t>
            </a:r>
          </a:p>
          <a:p>
            <a:r>
              <a:rPr lang="en-US" i="1" dirty="0"/>
              <a:t>Ask: “Why do physicists suddenly start using vectors to describe light?”</a:t>
            </a:r>
          </a:p>
          <a:p>
            <a:r>
              <a:rPr lang="en-US" dirty="0"/>
              <a:t>Explain that experiments show polarization behaves exactly like vectors: polarization can be added, polarization can be projected, and polarization has orthogonal directions. Therefore linear algebra naturally describes it.</a:t>
            </a:r>
          </a:p>
          <a:p>
            <a:endParaRPr lang="en-US" dirty="0"/>
          </a:p>
          <a:p>
            <a:r>
              <a:rPr lang="en-US" b="1" dirty="0"/>
              <a:t>Choice of basis</a:t>
            </a:r>
          </a:p>
          <a:p>
            <a:r>
              <a:rPr lang="en-US" dirty="0"/>
              <a:t>Explain that [1, 0] and [0, 1] are not chosen randomly — they are the simplest orthogonal basis. Draw coordinate axes, show the vertical and horizontal axes, and relate them to the x- and y-unit vectors.</a:t>
            </a:r>
          </a:p>
          <a:p>
            <a:r>
              <a:rPr lang="en-US" dirty="0"/>
              <a:t>Ask: “Could we instead choose diagonal polarization as the basis?” Expected answer: Yes — any orthonormal basis is acceptable. Do not explain the Hadamard basis yet; simply say “We'll return to this idea shortly.”</a:t>
            </a:r>
          </a:p>
          <a:p>
            <a:endParaRPr lang="en-US" dirty="0"/>
          </a:p>
          <a:p>
            <a:r>
              <a:rPr lang="en-US" b="1" dirty="0"/>
              <a:t>Transition</a:t>
            </a:r>
          </a:p>
          <a:p>
            <a:r>
              <a:rPr lang="en-US" i="1" dirty="0"/>
              <a:t>“Once we have basis vectors, we can describe every other polarization.”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Core idea</a:t>
            </a:r>
          </a:p>
          <a:p>
            <a:r>
              <a:rPr lang="en-US" dirty="0"/>
              <a:t>Tell students: “This equation is probably the most important equation in the entire chapter.” Spend time discussing every symbol.</a:t>
            </a:r>
          </a:p>
          <a:p>
            <a:r>
              <a:rPr lang="en-US" dirty="0"/>
              <a:t>Explain that α and β are NOT probabilities — they are probability amplitudes.</a:t>
            </a:r>
          </a:p>
          <a:p>
            <a:r>
              <a:rPr lang="en-US" dirty="0"/>
              <a:t>Ask: “If α = 0.6, is the probability 60%?” Most students answer yes. Correct them: probability = modulus squared.</a:t>
            </a:r>
          </a:p>
          <a:p>
            <a:r>
              <a:rPr lang="en-US" dirty="0"/>
              <a:t>Emphasize: quantum mechanics stores amplitudes; Nature reveals probabilities only after measurement.</a:t>
            </a:r>
          </a:p>
          <a:p>
            <a:endParaRPr lang="en-US" dirty="0"/>
          </a:p>
          <a:p>
            <a:r>
              <a:rPr lang="en-US" b="1" dirty="0"/>
              <a:t>Transition</a:t>
            </a:r>
          </a:p>
          <a:p>
            <a:r>
              <a:rPr lang="en-US" i="1" dirty="0"/>
              <a:t>“If amplitudes are not probabilities, why do we square them?” That naturally leads toward measurement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Derive, don't memorize</a:t>
            </a:r>
          </a:p>
          <a:p>
            <a:r>
              <a:rPr lang="en-US" dirty="0"/>
              <a:t>Many students memorize normalization. Instead, derive it.</a:t>
            </a:r>
          </a:p>
          <a:p>
            <a:r>
              <a:rPr lang="en-US" dirty="0"/>
              <a:t>Suppose |ψ⟩ = 2|0⟩ + 3|1⟩. Ask: “Can this represent a physical qubit?” Students usually say yes.</a:t>
            </a:r>
          </a:p>
          <a:p>
            <a:r>
              <a:rPr lang="en-US" dirty="0"/>
              <a:t>Now calculate 4 + 9 = 13, and ask: “Can probability be thirteen?” Immediately they realize normalization is necessary.</a:t>
            </a:r>
          </a:p>
          <a:p>
            <a:r>
              <a:rPr lang="en-US" dirty="0"/>
              <a:t>Normalize step by step — do the calculation live.</a:t>
            </a:r>
          </a:p>
          <a:p>
            <a:endParaRPr lang="en-US" dirty="0"/>
          </a:p>
          <a:p>
            <a:r>
              <a:rPr lang="en-US" b="1" dirty="0"/>
              <a:t>Emphasize</a:t>
            </a:r>
          </a:p>
          <a:p>
            <a:r>
              <a:rPr lang="en-US" dirty="0"/>
              <a:t>Normalization is not merely a mathematical convention; it reflects conservation of total probability.</a:t>
            </a:r>
          </a:p>
          <a:p>
            <a:r>
              <a:rPr lang="en-US" i="1" dirty="0"/>
              <a:t>Transition: “Now let us examine one particularly important state.”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Connect back</a:t>
            </a:r>
          </a:p>
          <a:p>
            <a:r>
              <a:rPr lang="en-US" dirty="0"/>
              <a:t>Connect back to the three-polarizer experiment: the middle filter prepares this state.</a:t>
            </a:r>
          </a:p>
          <a:p>
            <a:r>
              <a:rPr lang="en-US" dirty="0"/>
              <a:t>Ask: “What is the probability of measuring |0⟩?” Students should answer 50%. Similarly, |1⟩ is 50%.</a:t>
            </a:r>
          </a:p>
          <a:p>
            <a:r>
              <a:rPr lang="en-US" dirty="0"/>
              <a:t>Then ask: “Does that mean the photon is half vertical and half horizontal?” Explain carefully: No — it is entirely in one quantum state; the probabilities appear only when measured.</a:t>
            </a:r>
          </a:p>
          <a:p>
            <a:endParaRPr lang="en-US" dirty="0"/>
          </a:p>
          <a:p>
            <a:r>
              <a:rPr lang="en-US" b="1" dirty="0"/>
              <a:t>Common misconception</a:t>
            </a:r>
          </a:p>
          <a:p>
            <a:r>
              <a:rPr lang="en-US" dirty="0"/>
              <a:t>Students often equate 50% with classical randomness. Stress that the photon possesses a definite quantum state.</a:t>
            </a:r>
          </a:p>
          <a:p>
            <a:r>
              <a:rPr lang="en-US" i="1" dirty="0"/>
              <a:t>Transition: “We now understand the mathematical description. The next question is how physicists developed a notation that works for millions of qubits.”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Opening</a:t>
            </a:r>
          </a:p>
          <a:p>
            <a:r>
              <a:rPr lang="en-US" dirty="0"/>
              <a:t>Start by saying: “We already know vectors. So why invent another notation?” Students often wonder this.</a:t>
            </a:r>
          </a:p>
          <a:p>
            <a:endParaRPr lang="en-US" dirty="0"/>
          </a:p>
          <a:p>
            <a:r>
              <a:rPr lang="en-US" b="1" dirty="0"/>
              <a:t>Historical motivation</a:t>
            </a:r>
          </a:p>
          <a:p>
            <a:r>
              <a:rPr lang="en-US" dirty="0"/>
              <a:t>Explain historically. Paul Dirac wanted a notation independent of coordinates.</a:t>
            </a:r>
          </a:p>
          <a:p>
            <a:r>
              <a:rPr lang="en-US" dirty="0"/>
              <a:t>For 20 qubits, column vectors become impossible to read, while Dirac notation remains elegant.</a:t>
            </a:r>
          </a:p>
          <a:p>
            <a:endParaRPr lang="en-US" dirty="0"/>
          </a:p>
          <a:p>
            <a:r>
              <a:rPr lang="en-US" b="1" dirty="0"/>
              <a:t>Looking ahead</a:t>
            </a:r>
          </a:p>
          <a:p>
            <a:r>
              <a:rPr lang="en-US" dirty="0"/>
              <a:t>Mention that tensor products will later become extremely simple in this notation.</a:t>
            </a:r>
          </a:p>
          <a:p>
            <a:endParaRPr lang="en-US" dirty="0"/>
          </a:p>
          <a:p>
            <a:r>
              <a:rPr lang="en-US" b="1" dirty="0"/>
              <a:t>Transition</a:t>
            </a:r>
          </a:p>
          <a:p>
            <a:r>
              <a:rPr lang="en-US" i="1" dirty="0"/>
              <a:t>“So what exactly is a ket?”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Teaching approach</a:t>
            </a:r>
          </a:p>
          <a:p>
            <a:r>
              <a:rPr lang="en-US" dirty="0"/>
              <a:t>Keep this slide simple. Do not overwhelm students.</a:t>
            </a:r>
          </a:p>
          <a:p>
            <a:endParaRPr lang="en-US" dirty="0"/>
          </a:p>
          <a:p>
            <a:r>
              <a:rPr lang="en-US" b="1" dirty="0"/>
              <a:t>Terminology</a:t>
            </a:r>
          </a:p>
          <a:p>
            <a:r>
              <a:rPr lang="en-US" dirty="0"/>
              <a:t>Explain that “ket” is pronounced exactly like “ket,” not “kay-tee.”</a:t>
            </a:r>
          </a:p>
          <a:p>
            <a:r>
              <a:rPr lang="en-US" dirty="0"/>
              <a:t>Mention that Dirac called “bra-ket” a bracket. The second half became “ket” and the first half became “bra.” Students usually remember this story.</a:t>
            </a:r>
          </a:p>
          <a:p>
            <a:endParaRPr lang="en-US" dirty="0"/>
          </a:p>
          <a:p>
            <a:r>
              <a:rPr lang="en-US" b="1" dirty="0"/>
              <a:t>Transition</a:t>
            </a:r>
          </a:p>
          <a:p>
            <a:r>
              <a:rPr lang="en-US" i="1" dirty="0"/>
              <a:t>“If kets are vectors, what are bras?”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Teaching approach</a:t>
            </a:r>
          </a:p>
          <a:p>
            <a:r>
              <a:rPr lang="en-US" dirty="0"/>
              <a:t>Spend sufficient time explaining transpose and complex conjugation. Many students forget one of them.</a:t>
            </a:r>
          </a:p>
          <a:p>
            <a:r>
              <a:rPr lang="en-US" dirty="0"/>
              <a:t>Take a numerical example, for instance a column with entries 1 + i and 2, and convert it to a bra step by step.</a:t>
            </a:r>
          </a:p>
          <a:p>
            <a:endParaRPr lang="en-US" dirty="0"/>
          </a:p>
          <a:p>
            <a:r>
              <a:rPr lang="en-US" b="1" dirty="0"/>
              <a:t>Emphasize</a:t>
            </a:r>
          </a:p>
          <a:p>
            <a:r>
              <a:rPr lang="en-US" dirty="0"/>
              <a:t>Stress that a bra is not merely a row vector — it is the conjugate transpose.</a:t>
            </a:r>
          </a:p>
          <a:p>
            <a:endParaRPr lang="en-US" dirty="0"/>
          </a:p>
          <a:p>
            <a:r>
              <a:rPr lang="en-US" b="1" dirty="0"/>
              <a:t>Transition</a:t>
            </a:r>
          </a:p>
          <a:p>
            <a:r>
              <a:rPr lang="en-US" i="1" dirty="0"/>
              <a:t>“Once we have bras and kets, we can compute something physically meaningful — the overlap between two quantum states.”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Students should understand that the inner product is not merely another vector operation. In quantum mechanics, it has direct physical meaning.</a:t>
            </a:r>
          </a:p>
          <a:p>
            <a:r>
              <a:rPr lang="en-US" dirty="0"/>
              <a:t>Begin by asking: “Why did we spend so much time learning inner products in Unit 1?” Most students will answer: to calculate angles, to check orthogonality, to compute projections. Tell them that all these answers are correct.</a:t>
            </a:r>
          </a:p>
          <a:p>
            <a:r>
              <a:rPr lang="en-US" dirty="0"/>
              <a:t>Then explain that quantum mechanics assigns a completely new physical interpretation.</a:t>
            </a:r>
          </a:p>
          <a:p>
            <a:endParaRPr lang="en-US" dirty="0"/>
          </a:p>
          <a:p>
            <a:r>
              <a:rPr lang="en-US" b="1" dirty="0"/>
              <a:t>Write on the board</a:t>
            </a:r>
          </a:p>
          <a:p>
            <a:r>
              <a:rPr lang="en-US" dirty="0"/>
              <a:t>⟨0|1⟩ = 0</a:t>
            </a:r>
          </a:p>
          <a:p>
            <a:r>
              <a:rPr lang="en-US" dirty="0"/>
              <a:t>Ask: “What does zero mean?” Students usually answer “The vectors are perpendicular.” Now say: “In quantum mechanics it means much more.”</a:t>
            </a:r>
          </a:p>
          <a:p>
            <a:r>
              <a:rPr lang="en-US" dirty="0"/>
              <a:t>It means a measurement looking for |0⟩ will never identify |1⟩. Zero overlap means zero probability. This is an excellent place to plant the idea of the Born Rule without formally introducing it.</a:t>
            </a:r>
          </a:p>
          <a:p>
            <a:endParaRPr lang="en-US" dirty="0"/>
          </a:p>
          <a:p>
            <a:r>
              <a:rPr lang="en-US" b="1" dirty="0"/>
              <a:t>Classroom Question</a:t>
            </a:r>
          </a:p>
          <a:p>
            <a:r>
              <a:rPr lang="en-US" dirty="0"/>
              <a:t>Suppose |ψ⟩ = |0⟩. What is ⟨1|ψ⟩? Expected answer: zero.</a:t>
            </a:r>
          </a:p>
          <a:p>
            <a:r>
              <a:rPr lang="en-US" dirty="0"/>
              <a:t>Ask: “So what does this physically imply?” Guide them toward: the measurement outcome |1⟩ is impossible.</a:t>
            </a:r>
          </a:p>
          <a:p>
            <a:endParaRPr lang="en-US" dirty="0"/>
          </a:p>
          <a:p>
            <a:r>
              <a:rPr lang="en-US" b="1" dirty="0"/>
              <a:t>Common misconception</a:t>
            </a:r>
          </a:p>
          <a:p>
            <a:r>
              <a:rPr lang="en-US" dirty="0"/>
              <a:t>Students often think inner product = angle only. Clarify that in quantum mechanics it becomes a probability amplitude.</a:t>
            </a:r>
          </a:p>
          <a:p>
            <a:r>
              <a:rPr lang="en-US" i="1" dirty="0"/>
              <a:t>Transition: “If orthogonal states have zero overlap, how do we know whether two states form a valid basis?”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Grounding the idea</a:t>
            </a:r>
          </a:p>
          <a:p>
            <a:r>
              <a:rPr lang="en-US" dirty="0"/>
              <a:t>Tell students: every coordinate system you've ever used has a basis. Quantum mechanics is no different. The only difference is our vectors live in a complex vector space.</a:t>
            </a:r>
          </a:p>
          <a:p>
            <a:r>
              <a:rPr lang="en-US" dirty="0"/>
              <a:t>Do not spend time proving orthogonality — that has already been covered.</a:t>
            </a:r>
          </a:p>
          <a:p>
            <a:r>
              <a:rPr lang="en-US" dirty="0"/>
              <a:t>Instead ask: why do we insist on orthogonality? Guide discussion. Eventually explain: if basis vectors overlap, measurement cannot distinguish them perfectly. Nature requires distinguishable measurement outcomes. Hence orthogonal basis states.</a:t>
            </a:r>
          </a:p>
          <a:p>
            <a:endParaRPr lang="en-US" dirty="0"/>
          </a:p>
          <a:p>
            <a:r>
              <a:rPr lang="en-US" b="1" dirty="0"/>
              <a:t>Activity</a:t>
            </a:r>
          </a:p>
          <a:p>
            <a:r>
              <a:rPr lang="en-US" dirty="0"/>
              <a:t>Ask: “Would the following pair work as a basis?”  |0⟩ and (|0⟩ + |1⟩)/√2. Allow discussion. Students should discover they are not orthogonal — hence not a valid measurement basis.</a:t>
            </a:r>
          </a:p>
          <a:p>
            <a:r>
              <a:rPr lang="en-US" i="1" dirty="0"/>
              <a:t>Transition: “Interestingly, the computational basis is not the only possible basis.”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coordinates analogy</a:t>
            </a:r>
          </a:p>
          <a:p>
            <a:r>
              <a:rPr lang="en-US" dirty="0"/>
              <a:t>Start by asking: “Do Cartesian coordinates describe every vector?” Students answer yes. Ask: “Can polar coordinates describe the same vector?” Again yes.</a:t>
            </a:r>
          </a:p>
          <a:p>
            <a:r>
              <a:rPr lang="en-US" dirty="0"/>
              <a:t>Now make the analogy: the computational basis and the Hadamard basis describe the same quantum state. Only the coordinates change. The physical state never changes.</a:t>
            </a:r>
          </a:p>
          <a:p>
            <a:r>
              <a:rPr lang="en-US" dirty="0"/>
              <a:t>Avoid mentioning the Hadamard gate yet — that belongs in the next chapter. Here, focus entirely on basis choice.</a:t>
            </a:r>
          </a:p>
          <a:p>
            <a:endParaRPr lang="en-US" dirty="0"/>
          </a:p>
          <a:p>
            <a:r>
              <a:rPr lang="en-US" b="1" dirty="0"/>
              <a:t>Classroom Question</a:t>
            </a:r>
          </a:p>
          <a:p>
            <a:r>
              <a:rPr lang="en-US" dirty="0"/>
              <a:t>If |0⟩ is measured in the Hadamard basis, will it still be 100% certain? Do not answer — tell students: “We'll compute that shortly.”</a:t>
            </a:r>
          </a:p>
          <a:p>
            <a:r>
              <a:rPr lang="en-US" i="1" dirty="0"/>
              <a:t>Transition: “Before measuring in another basis, we first need to know how to rewrite quantum states.”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Derive, don't present</a:t>
            </a:r>
          </a:p>
          <a:p>
            <a:r>
              <a:rPr lang="en-US" dirty="0"/>
              <a:t>This is one of the few slides where I recommend a full derivation. Do not simply present the final equation — derive it line by line.</a:t>
            </a:r>
          </a:p>
          <a:p>
            <a:r>
              <a:rPr lang="en-US" dirty="0"/>
              <a:t>Students need to see the flow: substitution → expansion → grouping terms → final expression.</a:t>
            </a:r>
          </a:p>
          <a:p>
            <a:r>
              <a:rPr lang="en-US" dirty="0"/>
              <a:t>Point out: nothing happened to the state. Only the coordinates changed. This distinction becomes extremely important later when discussing quantum gates.</a:t>
            </a:r>
          </a:p>
          <a:p>
            <a:endParaRPr lang="en-US" dirty="0"/>
          </a:p>
          <a:p>
            <a:r>
              <a:rPr lang="en-US" b="1" dirty="0"/>
              <a:t>Analogy</a:t>
            </a:r>
          </a:p>
          <a:p>
            <a:r>
              <a:rPr lang="en-US" dirty="0"/>
              <a:t>Ask: “If I describe my location using latitude and longitude instead of street names, did I move?” Students immediately answer no. Exactly — changing basis never changes the quantum state.</a:t>
            </a:r>
          </a:p>
          <a:p>
            <a:r>
              <a:rPr lang="en-US" i="1" dirty="0"/>
              <a:t>Transition: “We now know how to express a state in any basis. The next question is: what happens when we actually perform a measurement?”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Open with discussion, not mathematics</a:t>
            </a:r>
          </a:p>
          <a:p>
            <a:r>
              <a:rPr lang="en-US" dirty="0"/>
              <a:t>This slide should begin with a discussion rather than mathematics.</a:t>
            </a:r>
          </a:p>
          <a:p>
            <a:r>
              <a:rPr lang="en-US" dirty="0"/>
              <a:t>Ask students: “When we measure temperature, does the thermometer change the room?” Usually, very little. “When we measure voltage, does the voltmeter change the circuit?” Ideally, no.</a:t>
            </a:r>
          </a:p>
          <a:p>
            <a:r>
              <a:rPr lang="en-US" dirty="0"/>
              <a:t>Then explain: quantum measurement is fundamentally different. It does not simply reveal information — it creates a definite outcome from a quantum state.</a:t>
            </a:r>
          </a:p>
          <a:p>
            <a:r>
              <a:rPr lang="en-US" dirty="0"/>
              <a:t>Refer back to the three-polarizer experiment. Tell students: “We now finally have the mathematical language to explain that mysterious experiment.”</a:t>
            </a:r>
          </a:p>
          <a:p>
            <a:endParaRPr lang="en-US" dirty="0"/>
          </a:p>
          <a:p>
            <a:r>
              <a:rPr lang="en-US" b="1" dirty="0"/>
              <a:t>Classroom Question</a:t>
            </a:r>
          </a:p>
          <a:p>
            <a:r>
              <a:rPr lang="en-US" dirty="0"/>
              <a:t>Suppose a photon is in the state |+⟩. If we measure in the computational basis, what should happen? Collect guesses.</a:t>
            </a:r>
          </a:p>
          <a:p>
            <a:r>
              <a:rPr lang="en-US" dirty="0"/>
              <a:t>Tell them: “We now have enough mathematics to calculate the answer exactly.”</a:t>
            </a:r>
          </a:p>
          <a:p>
            <a:endParaRPr lang="en-US" dirty="0"/>
          </a:p>
          <a:p>
            <a:r>
              <a:rPr lang="en-US" i="1" dirty="0"/>
              <a:t>Transition: “To calculate measurement probabilities, quantum mechanics gives us one remarkably simple rule — the Born Rule.”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This is the single most important slide in the measurement unit. Students must leave understanding that amplitudes are not probabilities—probabilities come from squaring the modulus of the amplitude.</a:t>
            </a:r>
          </a:p>
          <a:p>
            <a:r>
              <a:rPr lang="en-US" dirty="0"/>
              <a:t>Begin by reminding them: in |ψ⟩ = α|0⟩ + β|1⟩, the numbers α and β are amplitudes. They can be negative, and in general they are complex. A probability can never be negative or complex, so α cannot itself be a probability.</a:t>
            </a:r>
          </a:p>
          <a:p>
            <a:endParaRPr lang="en-US" dirty="0"/>
          </a:p>
          <a:p>
            <a:r>
              <a:rPr lang="en-US" b="1" dirty="0"/>
              <a:t>The rule</a:t>
            </a:r>
          </a:p>
          <a:p>
            <a:r>
              <a:rPr lang="en-US" dirty="0"/>
              <a:t>State it cleanly: the probability of measuring |0⟩ is P(0) = |α|², and the probability of measuring |1⟩ is P(1) = |β|². The vertical bars mean modulus, and the square guarantees the result is a non-negative real number.</a:t>
            </a:r>
          </a:p>
          <a:p>
            <a:r>
              <a:rPr lang="en-US" dirty="0"/>
              <a:t>Emphasize the word modulus. For a complex amplitude α, |α|² = α*α. If a student has only seen real numbers so far, reassure them the rule still reduces to ordinary squaring.</a:t>
            </a:r>
          </a:p>
          <a:p>
            <a:endParaRPr lang="en-US" dirty="0"/>
          </a:p>
          <a:p>
            <a:r>
              <a:rPr lang="en-US" b="1" dirty="0"/>
              <a:t>Classroom Question</a:t>
            </a:r>
          </a:p>
          <a:p>
            <a:r>
              <a:rPr lang="en-US" dirty="0"/>
              <a:t>Suppose α = 1/√2 and β = 1/√2. Ask: what are P(0) and P(1)? Expected answer: each is 1/2. Then ask what happens if α = -1/√2 instead. Students should see the probability is unchanged—the sign disappears under the modulus square.</a:t>
            </a:r>
          </a:p>
          <a:p>
            <a:endParaRPr lang="en-US" dirty="0"/>
          </a:p>
          <a:p>
            <a:r>
              <a:rPr lang="en-US" b="1" dirty="0"/>
              <a:t>Common misconception</a:t>
            </a:r>
          </a:p>
          <a:p>
            <a:r>
              <a:rPr lang="en-US" dirty="0"/>
              <a:t>Students frequently report the amplitude as the probability. Watch for answers like 'P(0) = 1/√2'. Correct it immediately: that is the amplitude; the probability is its modulus squared.</a:t>
            </a:r>
          </a:p>
          <a:p>
            <a:r>
              <a:rPr lang="en-US" i="1" dirty="0"/>
              <a:t>Transition: 'Where does this squaring rule actually come from geometrically?'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Framing</a:t>
            </a:r>
          </a:p>
          <a:p>
            <a:r>
              <a:rPr lang="en-US" dirty="0"/>
              <a:t>The Born Rule can feel like a formula students memorize. This slide gives it a geometric meaning: measurement is a projection of the state vector onto a basis direction.</a:t>
            </a:r>
          </a:p>
          <a:p>
            <a:r>
              <a:rPr lang="en-US" dirty="0"/>
              <a:t>Walk the figure slowly. The state vector points somewhere in the plane. To find the amplitude for outcome |0⟩, drop a perpendicular from the tip of the vector onto the |0⟩ axis. The length of that projection is the amplitude ⟨0|ψ⟩.</a:t>
            </a:r>
          </a:p>
          <a:p>
            <a:endParaRPr lang="en-US" dirty="0"/>
          </a:p>
          <a:p>
            <a:r>
              <a:rPr lang="en-US" b="1" dirty="0"/>
              <a:t>Connect to the formula</a:t>
            </a:r>
          </a:p>
          <a:p>
            <a:r>
              <a:rPr lang="en-US" dirty="0"/>
              <a:t>Then square the modulus of that projected length and you have the probability: P(0) = |⟨0|ψ⟩|². Point out that this is exactly the Born Rule from the previous slide—just expressed with an inner product instead of the raw coefficient.</a:t>
            </a:r>
          </a:p>
          <a:p>
            <a:r>
              <a:rPr lang="en-US" dirty="0"/>
              <a:t>Stress that ⟨0|ψ⟩ simply reads off 'how much of |0⟩ is contained in |ψ⟩'. That is why the inner product from earlier in the unit matters here.</a:t>
            </a:r>
          </a:p>
          <a:p>
            <a:endParaRPr lang="en-US" dirty="0"/>
          </a:p>
          <a:p>
            <a:r>
              <a:rPr lang="en-US" b="1" dirty="0"/>
              <a:t>Classroom Question</a:t>
            </a:r>
          </a:p>
          <a:p>
            <a:r>
              <a:rPr lang="en-US" dirty="0"/>
              <a:t>Ask: if the state vector is already lying exactly along the |0⟩ axis, how long is its projection onto |0⟩? Onto |1⟩? Guide them to: full length onto |0⟩ (probability 1) and zero onto |1⟩ (probability 0).</a:t>
            </a:r>
          </a:p>
          <a:p>
            <a:r>
              <a:rPr lang="en-US" i="1" dirty="0"/>
              <a:t>Transition: 'Let us prove algebraically that the projection gives exactly the coefficient we expect.'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Derive, don't present</a:t>
            </a:r>
          </a:p>
          <a:p>
            <a:r>
              <a:rPr lang="en-US" dirty="0"/>
              <a:t>Do the derivation live, line by line. The goal is for students to see that the clean answer P(0) = |α|² falls out of orthogonality, not out of nowhere.</a:t>
            </a:r>
          </a:p>
          <a:p>
            <a:r>
              <a:rPr lang="en-US" dirty="0"/>
              <a:t>Start from |ψ⟩ = α|0⟩ + β|1⟩. Compute ⟨0|ψ⟩ by taking the inner product of ⟨0| with each term: ⟨0|ψ⟩ = α⟨0|0⟩ + β⟨0|1⟩.</a:t>
            </a:r>
          </a:p>
          <a:p>
            <a:endParaRPr lang="en-US" dirty="0"/>
          </a:p>
          <a:p>
            <a:r>
              <a:rPr lang="en-US" b="1" dirty="0"/>
              <a:t>The key step</a:t>
            </a:r>
          </a:p>
          <a:p>
            <a:r>
              <a:rPr lang="en-US" dirty="0"/>
              <a:t>Now invoke the orthonormal basis relations from earlier: ⟨0|0⟩ = 1 and ⟨0|1⟩ = 0. The second term dies. What remains is ⟨0|ψ⟩ = α.</a:t>
            </a:r>
          </a:p>
          <a:p>
            <a:r>
              <a:rPr lang="en-US" dirty="0"/>
              <a:t>Make this explicit: orthogonality is what removes the β term. Without an orthonormal basis, measurement probabilities would be tangled together.</a:t>
            </a:r>
          </a:p>
          <a:p>
            <a:r>
              <a:rPr lang="en-US" dirty="0"/>
              <a:t>Finally square the modulus: P(0) = |⟨0|ψ⟩|² = |α|². This closes the loop with the Born Rule.</a:t>
            </a:r>
          </a:p>
          <a:p>
            <a:endParaRPr lang="en-US" dirty="0"/>
          </a:p>
          <a:p>
            <a:r>
              <a:rPr lang="en-US" b="1" dirty="0"/>
              <a:t>Common misconception</a:t>
            </a:r>
          </a:p>
          <a:p>
            <a:r>
              <a:rPr lang="en-US" dirty="0"/>
              <a:t>Some students keep the β⟨0|1⟩ term because they forget ⟨0|1⟩ = 0. Pause on that cross term and ask the class its value before crossing it out.</a:t>
            </a:r>
          </a:p>
          <a:p>
            <a:r>
              <a:rPr lang="en-US" i="1" dirty="0"/>
              <a:t>Transition: 'If we do this for every outcome, what does the full picture of a measurement look like?'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Assemble the full picture</a:t>
            </a:r>
          </a:p>
          <a:p>
            <a:r>
              <a:rPr lang="en-US" dirty="0"/>
              <a:t>This slide collects the individual results into one complete description of a computational-basis measurement. Each row of the table is one possible outcome and its probability.</a:t>
            </a:r>
          </a:p>
          <a:p>
            <a:r>
              <a:rPr lang="en-US" dirty="0"/>
              <a:t>Read the table aloud: outcome |0⟩ occurs with probability |α|², outcome |1⟩ with probability |β|². These are the only two outcomes for a single qubit in this basis.</a:t>
            </a:r>
          </a:p>
          <a:p>
            <a:endParaRPr lang="en-US" dirty="0"/>
          </a:p>
          <a:p>
            <a:r>
              <a:rPr lang="en-US" b="1" dirty="0"/>
              <a:t>The normalization condition</a:t>
            </a:r>
          </a:p>
          <a:p>
            <a:r>
              <a:rPr lang="en-US" dirty="0"/>
              <a:t>Draw attention to |α|² + |β|² = 1. Explain physically: the qubit must be found in some state, so the probabilities of all outcomes have to add to one. This is exactly why we require normalized state vectors.</a:t>
            </a:r>
          </a:p>
          <a:p>
            <a:r>
              <a:rPr lang="en-US" dirty="0"/>
              <a:t>The pie chart is a visual restatement: the whole circle is probability one, split between the two outcomes. If a student proposes amplitudes that do not satisfy the sum, the state is simply not physically valid.</a:t>
            </a:r>
          </a:p>
          <a:p>
            <a:endParaRPr lang="en-US" dirty="0"/>
          </a:p>
          <a:p>
            <a:r>
              <a:rPr lang="en-US" b="1" dirty="0"/>
              <a:t>Classroom Question</a:t>
            </a:r>
          </a:p>
          <a:p>
            <a:r>
              <a:rPr lang="en-US" dirty="0"/>
              <a:t>Give α = 1/2. Ask students to find |β| so the state is normalized. Expected: |β|² = 3/4, so |β| = √3/2. Then ask which outcome is more likely—outcome |1⟩, at 75%.</a:t>
            </a:r>
          </a:p>
          <a:p>
            <a:r>
              <a:rPr lang="en-US" i="1" dirty="0"/>
              <a:t>Transition: 'Everything so far assumed the computational basis. What if we measure in a different basis?'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central surprise</a:t>
            </a:r>
          </a:p>
          <a:p>
            <a:r>
              <a:rPr lang="en-US" dirty="0"/>
              <a:t>This slide overturns a naive intuition. The same physical state can give completely different measurement statistics depending on which basis you measure in.</a:t>
            </a:r>
          </a:p>
          <a:p>
            <a:r>
              <a:rPr lang="en-US" dirty="0"/>
              <a:t>Take the state |+⟩ = (|0⟩ + |1⟩)/√2. Measured in the computational basis, it is an even split: 50% |0⟩ and 50% |1⟩, because |α|² = |β|² = 1/2.</a:t>
            </a:r>
          </a:p>
          <a:p>
            <a:endParaRPr lang="en-US" dirty="0"/>
          </a:p>
          <a:p>
            <a:r>
              <a:rPr lang="en-US" b="1" dirty="0"/>
              <a:t>Change the basis</a:t>
            </a:r>
          </a:p>
          <a:p>
            <a:r>
              <a:rPr lang="en-US" dirty="0"/>
              <a:t>Now measure the very same |+⟩ in the Hadamard basis. Because |+⟩ IS a basis state there, the outcome is certain: 100% |+⟩ and 0% |−⟩. Nothing about the physical state changed—only the question we asked of it.</a:t>
            </a:r>
          </a:p>
          <a:p>
            <a:r>
              <a:rPr lang="en-US" dirty="0"/>
              <a:t>Use the two diagrams: the left axes are the computational basis, the right axes are rotated 45 degrees to the Hadamard basis. The same arrow lands 'between' the first pair but 'on' the second pair.</a:t>
            </a:r>
          </a:p>
          <a:p>
            <a:endParaRPr lang="en-US" dirty="0"/>
          </a:p>
          <a:p>
            <a:r>
              <a:rPr lang="en-US" b="1" dirty="0"/>
              <a:t>Common misconception</a:t>
            </a:r>
          </a:p>
          <a:p>
            <a:r>
              <a:rPr lang="en-US" dirty="0"/>
              <a:t>Students may think a state has one true set of probabilities. Correct this: probabilities are defined only relative to a chosen measurement basis.</a:t>
            </a:r>
          </a:p>
          <a:p>
            <a:r>
              <a:rPr lang="en-US" i="1" dirty="0"/>
              <a:t>Transition: 'One more essential fact remains—what happens to the state itself the instant we measure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irreversible step</a:t>
            </a:r>
          </a:p>
          <a:p>
            <a:r>
              <a:rPr lang="en-US" dirty="0"/>
              <a:t>End the unit on collapse, because it is what makes quantum measurement fundamentally different from reading a classical value.</a:t>
            </a:r>
          </a:p>
          <a:p>
            <a:r>
              <a:rPr lang="en-US" dirty="0"/>
              <a:t>Before measurement the qubit is in the superposition |ψ⟩ = α|0⟩ + β|1⟩. The act of measuring forces a single outcome, and immediately afterward the state is exactly that outcome—either |0⟩ or |1⟩, not both.</a:t>
            </a:r>
          </a:p>
          <a:p>
            <a:endParaRPr lang="en-US" dirty="0"/>
          </a:p>
          <a:p>
            <a:r>
              <a:rPr lang="en-US" b="1" dirty="0"/>
              <a:t>Emphasize what is lost</a:t>
            </a:r>
          </a:p>
          <a:p>
            <a:r>
              <a:rPr lang="en-US" dirty="0"/>
              <a:t>The original amplitudes α and β are gone. You cannot recover the superposition from the post-measurement state. If you measure again in the same basis, you get the same result with certainty.</a:t>
            </a:r>
          </a:p>
          <a:p>
            <a:r>
              <a:rPr lang="en-US" dirty="0"/>
              <a:t>Contrast with classical measurement: reading a classical bit does not change it. Measuring a qubit generally does. This is the price of extracting classical information from a quantum system.</a:t>
            </a:r>
          </a:p>
          <a:p>
            <a:endParaRPr lang="en-US" dirty="0"/>
          </a:p>
          <a:p>
            <a:r>
              <a:rPr lang="en-US" b="1" dirty="0"/>
              <a:t>Classroom Question</a:t>
            </a:r>
          </a:p>
          <a:p>
            <a:r>
              <a:rPr lang="en-US" dirty="0"/>
              <a:t>Ask: after a measurement yields |0⟩, what is the probability of getting |1⟩ on an immediate second measurement in the same basis? Expected: zero. The superposition is already destroyed.</a:t>
            </a:r>
          </a:p>
          <a:p>
            <a:r>
              <a:rPr lang="en-US" i="1" dirty="0"/>
              <a:t>Wrap up: 'Measurement gives us a classical outcome, but it costs us the quantum state that produced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Students should realize that mathematics can distinguish two vectors while physics may not. This is the doorway into global phase.</a:t>
            </a:r>
          </a:p>
          <a:p>
            <a:r>
              <a:rPr lang="en-US" dirty="0"/>
              <a:t>Start by asking everyone to vote. Option A: same state. Option B: different state. Do not answer immediately—let the room commit to a prediction.</a:t>
            </a:r>
          </a:p>
          <a:p>
            <a:endParaRPr lang="en-US" dirty="0"/>
          </a:p>
          <a:p>
            <a:r>
              <a:rPr lang="en-US" b="1" dirty="0"/>
              <a:t>Run the tension</a:t>
            </a:r>
          </a:p>
          <a:p>
            <a:r>
              <a:rPr lang="en-US" dirty="0"/>
              <a:t>Tell students plainly: 'Mathematically these are different vectors.' Pause. Then ask: 'But can Nature distinguish them?' That reframing is what grabs their attention.</a:t>
            </a:r>
          </a:p>
          <a:p>
            <a:endParaRPr lang="en-US" dirty="0"/>
          </a:p>
          <a:p>
            <a:r>
              <a:rPr lang="en-US" b="1" dirty="0"/>
              <a:t>Now compute</a:t>
            </a:r>
          </a:p>
          <a:p>
            <a:r>
              <a:rPr lang="en-US" dirty="0"/>
              <a:t>Compute the probability of measuring |0⟩ for both states. Both give 1/2. Then compute the probability of measuring |1⟩. Again 1/2 for both.</a:t>
            </a:r>
          </a:p>
          <a:p>
            <a:r>
              <a:rPr lang="en-US" dirty="0"/>
              <a:t>Now ask: 'What experiment could distinguish these states?' Students usually cannot name one. Exactly—Nature cannot distinguish them.</a:t>
            </a:r>
          </a:p>
          <a:p>
            <a:endParaRPr lang="en-US" dirty="0"/>
          </a:p>
          <a:p>
            <a:r>
              <a:rPr lang="en-US" b="1" dirty="0"/>
              <a:t>Important statement</a:t>
            </a:r>
          </a:p>
          <a:p>
            <a:r>
              <a:rPr lang="en-US" dirty="0"/>
              <a:t>If every possible measurement produces identical probabilities, the two mathematical vectors represent the same physical state. This is one of the foundational principles behind global phase.</a:t>
            </a:r>
          </a:p>
          <a:p>
            <a:r>
              <a:rPr lang="en-US" i="1" dirty="0"/>
              <a:t>Transition: 'So why do these vectors differ mathematically but not physically?'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Begin with Euler's formula</a:t>
            </a:r>
          </a:p>
          <a:p>
            <a:r>
              <a:rPr lang="en-US" dirty="0"/>
              <a:t>Remind students that e^(</a:t>
            </a:r>
            <a:r>
              <a:rPr lang="en-US" dirty="0" err="1"/>
              <a:t>iθ</a:t>
            </a:r>
            <a:r>
              <a:rPr lang="en-US" dirty="0"/>
              <a:t>) = cos θ + </a:t>
            </a:r>
            <a:r>
              <a:rPr lang="en-US" dirty="0" err="1"/>
              <a:t>i</a:t>
            </a:r>
            <a:r>
              <a:rPr lang="en-US" dirty="0"/>
              <a:t> sin θ. Multiplying an amplitude by e^(</a:t>
            </a:r>
            <a:r>
              <a:rPr lang="en-US" dirty="0" err="1"/>
              <a:t>iθ</a:t>
            </a:r>
            <a:r>
              <a:rPr lang="en-US" dirty="0"/>
              <a:t>) rotates it in the complex plane. Stress that here it multiplies EVERY amplitude equally.</a:t>
            </a:r>
          </a:p>
          <a:p>
            <a:endParaRPr lang="en-US" dirty="0"/>
          </a:p>
          <a:p>
            <a:r>
              <a:rPr lang="en-US" b="1" dirty="0"/>
              <a:t>Why probabilities are unchanged</a:t>
            </a:r>
          </a:p>
          <a:p>
            <a:r>
              <a:rPr lang="en-US" dirty="0"/>
              <a:t>Compute |e^(</a:t>
            </a:r>
            <a:r>
              <a:rPr lang="en-US" dirty="0" err="1"/>
              <a:t>iθ</a:t>
            </a:r>
            <a:r>
              <a:rPr lang="en-US" dirty="0"/>
              <a:t>) α|² = |α|², because |e^(</a:t>
            </a:r>
            <a:r>
              <a:rPr lang="en-US" dirty="0" err="1"/>
              <a:t>iθ</a:t>
            </a:r>
            <a:r>
              <a:rPr lang="en-US" dirty="0"/>
              <a:t>)| = 1. Since every amplitude is scaled by a number of modulus one, all measurement probabilities remain identical.</a:t>
            </a:r>
          </a:p>
          <a:p>
            <a:endParaRPr lang="en-US" dirty="0"/>
          </a:p>
          <a:p>
            <a:r>
              <a:rPr lang="en-US" b="1" dirty="0"/>
              <a:t>Introduce the terminology</a:t>
            </a:r>
          </a:p>
          <a:p>
            <a:r>
              <a:rPr lang="en-US" dirty="0"/>
              <a:t>Say: 'This common multiplication factor is called the global phase.' Write in large letters: Global phase is physically unobservable. If an experiment cannot distinguish two states, physics treats them as the same state.</a:t>
            </a:r>
          </a:p>
          <a:p>
            <a:endParaRPr lang="en-US" dirty="0"/>
          </a:p>
          <a:p>
            <a:r>
              <a:rPr lang="en-US" b="1" dirty="0"/>
              <a:t>Classroom Question</a:t>
            </a:r>
          </a:p>
          <a:p>
            <a:r>
              <a:rPr lang="en-US" dirty="0"/>
              <a:t>Take |ψ⟩ = (|0⟩ + |1⟩)/√2 and multiply it by </a:t>
            </a:r>
            <a:r>
              <a:rPr lang="en-US" dirty="0" err="1"/>
              <a:t>i</a:t>
            </a:r>
            <a:r>
              <a:rPr lang="en-US" dirty="0"/>
              <a:t>. Ask: 'Can any experiment distinguish these?' Expected answer: no.</a:t>
            </a:r>
          </a:p>
          <a:p>
            <a:r>
              <a:rPr lang="en-US" i="1" dirty="0"/>
              <a:t>Transition: 'But what if only one amplitude changes?'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Set the trap</a:t>
            </a:r>
          </a:p>
          <a:p>
            <a:r>
              <a:rPr lang="en-US"/>
              <a:t>Show (|0⟩ + |1⟩)/√2 and (|0⟩ − |1⟩)/√2 and ask whether they are the same state. Students usually answer yes, because both give P(0) = P(1) = 0.5 in the computational basis. Perfect—let them commit.</a:t>
            </a:r>
          </a:p>
          <a:p>
            <a:endParaRPr lang="en-US"/>
          </a:p>
          <a:p>
            <a:r>
              <a:rPr lang="en-US" b="1"/>
              <a:t>Spring it</a:t>
            </a:r>
          </a:p>
          <a:p>
            <a:r>
              <a:rPr lang="en-US"/>
              <a:t>Now tell them this is exactly where quantum mechanics becomes interesting. Although the computational basis gives identical probabilities, another basis can distinguish them perfectly. This immediately motivates the next slide.</a:t>
            </a:r>
          </a:p>
          <a:p>
            <a:endParaRPr lang="en-US"/>
          </a:p>
          <a:p>
            <a:r>
              <a:rPr lang="en-US" b="1"/>
              <a:t>Name the concept</a:t>
            </a:r>
          </a:p>
          <a:p>
            <a:r>
              <a:rPr lang="en-US"/>
              <a:t>Explain: the minus sign affects only one component. That is NOT a global phase. It changes the relationship between amplitudes. This is called relative phase.</a:t>
            </a:r>
          </a:p>
          <a:p>
            <a:endParaRPr lang="en-US"/>
          </a:p>
          <a:p>
            <a:r>
              <a:rPr lang="en-US" b="1"/>
              <a:t>Analogy</a:t>
            </a:r>
          </a:p>
          <a:p>
            <a:r>
              <a:rPr lang="en-US"/>
              <a:t>Two musicians. If both start one second late, the music sounds identical—that is global phase. If only one starts one second late, their synchronization changes—that is relative phase. Students tend to remember this.</a:t>
            </a:r>
          </a:p>
          <a:p>
            <a:r>
              <a:rPr lang="en-US" i="1"/>
              <a:t>Transition: 'So how do we experimentally detect relative phase?'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One of the most important conceptual slides</a:t>
            </a:r>
          </a:p>
          <a:p>
            <a:r>
              <a:rPr lang="en-US"/>
              <a:t>Begin by recalling the Hadamard basis. Ask: 'What happens if we measure |+⟩ in the Hadamard basis?' Students should recognize 100% certainty. Then ask about |−⟩—again 100%, but for the opposite outcome.</a:t>
            </a:r>
          </a:p>
          <a:p>
            <a:endParaRPr lang="en-US"/>
          </a:p>
          <a:p>
            <a:r>
              <a:rPr lang="en-US" b="1"/>
              <a:t>The key statement</a:t>
            </a:r>
          </a:p>
          <a:p>
            <a:r>
              <a:rPr lang="en-US"/>
              <a:t>The computational basis cannot distinguish these states. The Hadamard basis distinguishes them perfectly. Therefore the minus sign is physically meaningful.</a:t>
            </a:r>
          </a:p>
          <a:p>
            <a:r>
              <a:rPr lang="en-US"/>
              <a:t>Write on the board: Global phase → no experiment detects it. Relative phase → experiments detect it.</a:t>
            </a:r>
          </a:p>
          <a:p>
            <a:endParaRPr lang="en-US"/>
          </a:p>
          <a:p>
            <a:r>
              <a:rPr lang="en-US" b="1"/>
              <a:t>Common misconception</a:t>
            </a:r>
          </a:p>
          <a:p>
            <a:r>
              <a:rPr lang="en-US"/>
              <a:t>Students often think a minus sign is always just a minus sign. Clarify: a minus sign multiplying the ENTIRE state is global; a minus sign affecting only ONE component is relative. This distinction is essential before introducing quantum gates.</a:t>
            </a:r>
          </a:p>
          <a:p>
            <a:endParaRPr lang="en-US"/>
          </a:p>
          <a:p>
            <a:r>
              <a:rPr lang="en-US" i="1"/>
              <a:t>Transition: 'We now understand why relative phase is physically meaningful. The next question is how to visualize both amplitudes and phase together—which leads us to the Bloch sphere.'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Consolidate, do not introduce</a:t>
            </a:r>
          </a:p>
          <a:p>
            <a:r>
              <a:rPr lang="en-US" dirty="0"/>
              <a:t>This slide should not present new material. Ask students to summarize the differences between global and relative phase before you reveal the table, then confirm with the comparison.</a:t>
            </a:r>
          </a:p>
          <a:p>
            <a:endParaRPr lang="en-US" dirty="0"/>
          </a:p>
          <a:p>
            <a:r>
              <a:rPr lang="en-US" b="1" dirty="0"/>
              <a:t>The core message</a:t>
            </a:r>
          </a:p>
          <a:p>
            <a:r>
              <a:rPr lang="en-US" dirty="0"/>
              <a:t>Emphasize that measurement probabilities alone do not completely specify a quantum state. Two states can yield identical probabilities in one basis yet behave differently in another because of their relative phase.</a:t>
            </a:r>
          </a:p>
          <a:p>
            <a:r>
              <a:rPr lang="en-US" dirty="0"/>
              <a:t>Conclude: 'If we ignored relative phase, there would be no quantum algorithms, no interference, and no quantum advantage. Relative phase is the feature that distinguishes quantum information from classical probability.'</a:t>
            </a:r>
          </a:p>
          <a:p>
            <a:endParaRPr lang="en-US" dirty="0"/>
          </a:p>
          <a:p>
            <a:r>
              <a:rPr lang="en-US" b="1" dirty="0"/>
              <a:t>Transition to the next section</a:t>
            </a:r>
          </a:p>
          <a:p>
            <a:r>
              <a:rPr lang="en-US" i="1" dirty="0"/>
              <a:t>'We now know everything needed to describe a single qubit algebraically: amplitudes, normalization, basis states, measurement, and phase. The next challenge is visualization. Can we represent every possible pure qubit state with a simple geometric picture? The answer is yes—and that picture is the Bloch sphere.'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Motivate why algebra alone is not enough. Students can write |ψ⟩ = α|0⟩ + β|1⟩, but that notation gives no intuition for how 'close' two states are, or what a gate does geometrically.</a:t>
            </a:r>
          </a:p>
          <a:p>
            <a:r>
              <a:rPr lang="en-US" dirty="0"/>
              <a:t>Put a concrete state on the board, for example |ψ⟩ = 0.63|0⟩ + (0.42 + 0.65i)|1⟩. Ask: 'Can you picture this state? Can you see how it differs from |0⟩?' Most students cannot — the complex numbers hide the geometry.</a:t>
            </a:r>
          </a:p>
          <a:p>
            <a:endParaRPr lang="en-US" dirty="0"/>
          </a:p>
          <a:p>
            <a:r>
              <a:rPr lang="en-US" b="1" dirty="0"/>
              <a:t>The analogy</a:t>
            </a:r>
          </a:p>
          <a:p>
            <a:r>
              <a:rPr lang="en-US" dirty="0"/>
              <a:t>Recall a classical force vector such as (3, 4). We instantly picture an arrow in the plane. We want the same for a qubit: a picture where every pure state is a point we can see, compare, and rotate.</a:t>
            </a:r>
          </a:p>
          <a:p>
            <a:endParaRPr lang="en-US" dirty="0"/>
          </a:p>
          <a:p>
            <a:r>
              <a:rPr lang="en-US" b="1" dirty="0"/>
              <a:t>Frame the three questions</a:t>
            </a:r>
          </a:p>
          <a:p>
            <a:r>
              <a:rPr lang="en-US" dirty="0"/>
              <a:t>Read the three questions aloud: Can we visualize every qubit? Can we compare states geometrically? Can gates be seen as rotations? Tell students the Bloch sphere will answer yes to all three.</a:t>
            </a:r>
          </a:p>
          <a:p>
            <a:r>
              <a:rPr lang="en-US" dirty="0"/>
              <a:t>Emphasize that the sphere complements Dirac notation — it does not replace the algebra, it gives it a geometric home.</a:t>
            </a:r>
          </a:p>
          <a:p>
            <a:r>
              <a:rPr lang="en-US" i="1" dirty="0"/>
              <a:t>Transition: 'Before drawing the picture, let us count how many real numbers a qubit truly needs.'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Objective</a:t>
            </a:r>
          </a:p>
          <a:p>
            <a:r>
              <a:rPr lang="en-US"/>
              <a:t>Show that although the algebra looks like it needs four real numbers, a pure qubit is fixed by only two. This is exactly why a two-dimensional surface — a sphere — is the right picture.</a:t>
            </a:r>
          </a:p>
          <a:p>
            <a:endParaRPr lang="en-US"/>
          </a:p>
          <a:p>
            <a:r>
              <a:rPr lang="en-US" b="1"/>
              <a:t>Count the raw parameters</a:t>
            </a:r>
          </a:p>
          <a:p>
            <a:r>
              <a:rPr lang="en-US"/>
              <a:t>α is complex, so it carries two real numbers. β is complex, so it carries two more. Naively that is four real parameters.</a:t>
            </a:r>
          </a:p>
          <a:p>
            <a:endParaRPr lang="en-US"/>
          </a:p>
          <a:p>
            <a:r>
              <a:rPr lang="en-US" b="1"/>
              <a:t>Remove the redundancy</a:t>
            </a:r>
          </a:p>
          <a:p>
            <a:r>
              <a:rPr lang="en-US"/>
              <a:t>First, normalization: |α|² + |β|² = 1 is one real constraint, removing one degree of freedom, leaving three.</a:t>
            </a:r>
          </a:p>
          <a:p>
            <a:r>
              <a:rPr lang="en-US"/>
              <a:t>Second, global phase: multiplying the whole state by e^{iγ} changes no measurement outcome, so an overall phase is unobservable. That removes one more, leaving two.</a:t>
            </a:r>
          </a:p>
          <a:p>
            <a:endParaRPr lang="en-US"/>
          </a:p>
          <a:p>
            <a:r>
              <a:rPr lang="en-US" b="1"/>
              <a:t>The payoff</a:t>
            </a:r>
          </a:p>
          <a:p>
            <a:r>
              <a:rPr lang="en-US"/>
              <a:t>Two real parameters means the state space is a two-dimensional surface. Ask students: 'What familiar two-dimensional surface could hold every direction?' Guide them toward the surface of a sphere.</a:t>
            </a:r>
          </a:p>
          <a:p>
            <a:r>
              <a:rPr lang="en-US" i="1"/>
              <a:t>Transition: 'Let us name those two real numbers and write the state in terms of them.'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Introduce the standard angular parameterization |ψ⟩ = cos(θ/2)|0⟩ + e^{</a:t>
            </a:r>
            <a:r>
              <a:rPr lang="en-US" dirty="0" err="1"/>
              <a:t>iφ</a:t>
            </a:r>
            <a:r>
              <a:rPr lang="en-US" dirty="0"/>
              <a:t>} sin(θ/2)|1⟩ and connect each angle to physical meaning.</a:t>
            </a:r>
          </a:p>
          <a:p>
            <a:endParaRPr lang="en-US" dirty="0"/>
          </a:p>
          <a:p>
            <a:r>
              <a:rPr lang="en-US" b="1" dirty="0"/>
              <a:t>Why this form works</a:t>
            </a:r>
          </a:p>
          <a:p>
            <a:r>
              <a:rPr lang="en-US" dirty="0"/>
              <a:t>Point out that normalization is automatic: cos²(θ/2) + sin²(θ/2) = 1 for any θ, so every choice of angles gives a valid state. That is why we can drop the normalization bookkeeping.</a:t>
            </a:r>
          </a:p>
          <a:p>
            <a:r>
              <a:rPr lang="en-US" dirty="0"/>
              <a:t>Explain the half-angle: as θ runs from 0 to π, the state moves from |0⟩ at the north pole to |1⟩ at the south pole, sweeping through all superpositions in between.</a:t>
            </a:r>
          </a:p>
          <a:p>
            <a:endParaRPr lang="en-US" dirty="0"/>
          </a:p>
          <a:p>
            <a:r>
              <a:rPr lang="en-US" b="1" dirty="0"/>
              <a:t>The two angles</a:t>
            </a:r>
          </a:p>
          <a:p>
            <a:r>
              <a:rPr lang="en-US" dirty="0"/>
              <a:t>θ is the polar angle. It controls the measurement probabilities: P(0) = cos²(θ/2), P(1) = sin²(θ/2).</a:t>
            </a:r>
          </a:p>
          <a:p>
            <a:r>
              <a:rPr lang="en-US" dirty="0"/>
              <a:t>φ is the azimuthal angle. It controls the relative phase between the |0⟩ and |1⟩ components — exactly the quantity we found was physically real in the last section.</a:t>
            </a:r>
          </a:p>
          <a:p>
            <a:endParaRPr lang="en-US" dirty="0"/>
          </a:p>
          <a:p>
            <a:r>
              <a:rPr lang="en-US" b="1" dirty="0"/>
              <a:t>Classroom Question</a:t>
            </a:r>
          </a:p>
          <a:p>
            <a:r>
              <a:rPr lang="en-US" dirty="0"/>
              <a:t>Ask: what state do we get for θ = π/2, φ = 0? Expected: (|0⟩ + |1⟩)/√2 = |+⟩, sitting on the equator. Then ask where φ = π sends it — to |−⟩.</a:t>
            </a:r>
          </a:p>
          <a:p>
            <a:r>
              <a:rPr lang="en-US" i="1" dirty="0"/>
              <a:t>Transition: 'Now let us assemble the full picture — the Bloch sphere itself.'</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central picture of the whole course</a:t>
            </a:r>
          </a:p>
          <a:p>
            <a:r>
              <a:rPr lang="en-US" dirty="0"/>
              <a:t>This is the most important visual in the single-qubit unit. Spend time here. Every pure state of one qubit is a single point on the surface of this sphere.</a:t>
            </a:r>
          </a:p>
          <a:p>
            <a:endParaRPr lang="en-US" dirty="0"/>
          </a:p>
          <a:p>
            <a:r>
              <a:rPr lang="en-US" b="1" dirty="0"/>
              <a:t>Walk the sphere</a:t>
            </a:r>
          </a:p>
          <a:p>
            <a:r>
              <a:rPr lang="en-US" dirty="0"/>
              <a:t>Start at the poles: the north pole is |0⟩, the south pole is |1⟩. These are the computational basis states, sitting opposite each other.</a:t>
            </a:r>
          </a:p>
          <a:p>
            <a:r>
              <a:rPr lang="en-US" dirty="0"/>
              <a:t>Move to the equator: |+⟩ and |−⟩ lie on the x-axis, |</a:t>
            </a:r>
            <a:r>
              <a:rPr lang="en-US" dirty="0" err="1"/>
              <a:t>i</a:t>
            </a:r>
            <a:r>
              <a:rPr lang="en-US" dirty="0"/>
              <a:t>⟩ and |−</a:t>
            </a:r>
            <a:r>
              <a:rPr lang="en-US" dirty="0" err="1"/>
              <a:t>i</a:t>
            </a:r>
            <a:r>
              <a:rPr lang="en-US" dirty="0"/>
              <a:t>⟩ on the y-axis. Every equatorial state is an equal superposition, differing only in relative phase.</a:t>
            </a:r>
          </a:p>
          <a:p>
            <a:r>
              <a:rPr lang="en-US" dirty="0"/>
              <a:t>Now the general state: the arrow from the center to the surface is |ψ⟩. Its polar angle is θ and its azimuthal angle is φ — the same two numbers from the previous slide.</a:t>
            </a:r>
          </a:p>
          <a:p>
            <a:endParaRPr lang="en-US" dirty="0"/>
          </a:p>
          <a:p>
            <a:r>
              <a:rPr lang="en-US" b="1" dirty="0"/>
              <a:t>Two facts to stress</a:t>
            </a:r>
          </a:p>
          <a:p>
            <a:r>
              <a:rPr lang="en-US" dirty="0"/>
              <a:t>Antipodal points are orthogonal states: |0⟩ and |1⟩, |+⟩ and |−⟩, |</a:t>
            </a:r>
            <a:r>
              <a:rPr lang="en-US" dirty="0" err="1"/>
              <a:t>i</a:t>
            </a:r>
            <a:r>
              <a:rPr lang="en-US" dirty="0"/>
              <a:t>⟩ and |−</a:t>
            </a:r>
            <a:r>
              <a:rPr lang="en-US" dirty="0" err="1"/>
              <a:t>i</a:t>
            </a:r>
            <a:r>
              <a:rPr lang="en-US" dirty="0"/>
              <a:t>⟩ are each pairs of opposite points. Orthogonal in Hilbert space maps to opposite on the sphere, not perpendicular.</a:t>
            </a:r>
          </a:p>
          <a:p>
            <a:r>
              <a:rPr lang="en-US" dirty="0"/>
              <a:t>Height on the sphere sets the measurement probabilities; the angle around the equator sets the relative phase.</a:t>
            </a:r>
          </a:p>
          <a:p>
            <a:r>
              <a:rPr lang="en-US" i="1" dirty="0"/>
              <a:t>Transition: 'Let us tabulate the states you will use most often and where they live.'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Consolidate the key landmarks</a:t>
            </a:r>
          </a:p>
          <a:p>
            <a:r>
              <a:rPr lang="en-US"/>
              <a:t>Use this slide as a reference map. The table pairs each important state with its location on the sphere and its physical meaning; the diagram shows all six at once.</a:t>
            </a:r>
          </a:p>
          <a:p>
            <a:endParaRPr lang="en-US"/>
          </a:p>
          <a:p>
            <a:r>
              <a:rPr lang="en-US" b="1"/>
              <a:t>Read the geography</a:t>
            </a:r>
          </a:p>
          <a:p>
            <a:r>
              <a:rPr lang="en-US"/>
              <a:t>The poles |0⟩ and |1⟩ are pure computational states — measuring gives a certain outcome. The four equatorial states |+⟩, |−⟩, |i⟩, |−i⟩ all give 50/50 in the computational basis and differ only by relative phase.</a:t>
            </a:r>
          </a:p>
          <a:p>
            <a:r>
              <a:rPr lang="en-US"/>
              <a:t>Emphasize the north–south direction encodes probability, while position around the equator encodes phase. This single idea ties the whole section together.</a:t>
            </a:r>
          </a:p>
          <a:p>
            <a:endParaRPr lang="en-US"/>
          </a:p>
          <a:p>
            <a:r>
              <a:rPr lang="en-US" b="1"/>
              <a:t>Classroom Question</a:t>
            </a:r>
          </a:p>
          <a:p>
            <a:r>
              <a:rPr lang="en-US"/>
              <a:t>Point to the +y point and ask which state it is and what its phase is. Expected: |i⟩, relative phase +90°. Then ask for its antipode: |−i⟩, phase −90°.</a:t>
            </a:r>
          </a:p>
          <a:p>
            <a:endParaRPr lang="en-US"/>
          </a:p>
          <a:p>
            <a:r>
              <a:rPr lang="en-US" b="1"/>
              <a:t>Close the section</a:t>
            </a:r>
          </a:p>
          <a:p>
            <a:r>
              <a:rPr lang="en-US"/>
              <a:t>Summarize: we now have a complete geometric language for a single qubit. Every pure state is a point, orthogonal states are antipodes, and — coming next — quantum gates will become rotations of this sphere.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p>
          <a:p>
            <a:r>
              <a:rPr lang="en-US" dirty="0"/>
              <a:t>Students should understand the geometric meaning of orthogonality. Algebraically ⟨</a:t>
            </a:r>
            <a:r>
              <a:rPr lang="en-US" dirty="0" err="1"/>
              <a:t>ψ|φ</a:t>
            </a:r>
            <a:r>
              <a:rPr lang="en-US" dirty="0"/>
              <a:t>⟩ = 0; geometrically the two states sit at opposite ends of a diameter of the Bloch sphere.</a:t>
            </a:r>
          </a:p>
          <a:p>
            <a:endParaRPr lang="en-US" dirty="0"/>
          </a:p>
          <a:p>
            <a:r>
              <a:rPr lang="en-US" b="1" dirty="0"/>
              <a:t>Open the discussion</a:t>
            </a:r>
          </a:p>
          <a:p>
            <a:r>
              <a:rPr lang="en-US" dirty="0"/>
              <a:t>Ask: 'What does orthogonal mean?' Students immediately answer 'perpendicular vectors.' Reply: 'Correct mathematically — now let us understand what it means geometrically on the sphere.'</a:t>
            </a:r>
          </a:p>
          <a:p>
            <a:r>
              <a:rPr lang="en-US" dirty="0"/>
              <a:t>Point to |0⟩ and |1⟩ and ask: 'Could these ever produce the same measurement outcome?' Students answer no. Exactly — they are perfectly distinguishable, which is what orthogonality buys us.</a:t>
            </a:r>
          </a:p>
          <a:p>
            <a:endParaRPr lang="en-US" dirty="0"/>
          </a:p>
          <a:p>
            <a:r>
              <a:rPr lang="en-US" b="1" dirty="0"/>
              <a:t>Extend to superpositions</a:t>
            </a:r>
          </a:p>
          <a:p>
            <a:r>
              <a:rPr lang="en-US" dirty="0"/>
              <a:t>Now move to |+⟩ and |−⟩. Ask: 'Although these are superposition states, can they also be perfectly distinguished?' Students usually hesitate. Explain: yes, if measured in the Hadamard basis. Therefore they are orthogonal, and so they must lie at opposite ends of a diameter.</a:t>
            </a:r>
          </a:p>
          <a:p>
            <a:endParaRPr lang="en-US" dirty="0"/>
          </a:p>
          <a:p>
            <a:r>
              <a:rPr lang="en-US" b="1" dirty="0"/>
              <a:t>Important statement</a:t>
            </a:r>
          </a:p>
          <a:p>
            <a:r>
              <a:rPr lang="en-US" dirty="0"/>
              <a:t>Every diameter of the Bloch sphere defines a possible measurement basis. Pause here — this is deeper than students first realize. Nature does not prefer the Z-basis; any axis can serve as a computational basis.</a:t>
            </a:r>
          </a:p>
          <a:p>
            <a:endParaRPr lang="en-US" dirty="0"/>
          </a:p>
          <a:p>
            <a:r>
              <a:rPr lang="en-US" b="1" dirty="0"/>
              <a:t>Classroom Activity</a:t>
            </a:r>
          </a:p>
          <a:p>
            <a:r>
              <a:rPr lang="en-US" dirty="0"/>
              <a:t>Ask: 'If I draw a completely new diameter, does it define a valid basis?' Answer: yes. Any pair of antipodal points gives orthogonal states, hence a valid measurement basis.</a:t>
            </a:r>
          </a:p>
          <a:p>
            <a:r>
              <a:rPr lang="en-US" i="1" dirty="0"/>
              <a:t>Transition: 'If every diameter represents a measurement basis, how exactly do measurements work geometrically?'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One of the most visual slides</a:t>
            </a:r>
          </a:p>
          <a:p>
            <a:r>
              <a:rPr lang="en-US"/>
              <a:t>Avoid equations at first. Ask: 'If I rotate only the measurement apparatus, what changes?' Students answer 'the measurement.' Exactly — the state has not moved; only the measurement axis changed.</a:t>
            </a:r>
          </a:p>
          <a:p>
            <a:endParaRPr lang="en-US"/>
          </a:p>
          <a:p>
            <a:r>
              <a:rPr lang="en-US" b="1"/>
              <a:t>Connect back to Slide 22</a:t>
            </a:r>
          </a:p>
          <a:p>
            <a:r>
              <a:rPr lang="en-US"/>
              <a:t>Earlier students saw the Hadamard basis mathematically. Now they see it geometrically. Draw on the board: state vector fixed, rotate only the axis. The probabilities change because the projections change.</a:t>
            </a:r>
          </a:p>
          <a:p>
            <a:r>
              <a:rPr lang="en-US"/>
              <a:t>Students already know projection from Unit 1. Reinforce the chain: projection → amplitude → probability. The length of the vector's shadow on the measurement axis gives the amplitude; its square gives the probability.</a:t>
            </a:r>
          </a:p>
          <a:p>
            <a:endParaRPr lang="en-US"/>
          </a:p>
          <a:p>
            <a:r>
              <a:rPr lang="en-US" b="1"/>
              <a:t>Walk the two figures</a:t>
            </a:r>
          </a:p>
          <a:p>
            <a:r>
              <a:rPr lang="en-US"/>
              <a:t>Left: measuring along Z projects the same state onto the north/south axis, giving outcomes |0⟩ or |1⟩. Right: measuring the identical state along X projects it onto the |+⟩ / |−⟩ axis. Same vector, different axis, different statistics.</a:t>
            </a:r>
          </a:p>
          <a:p>
            <a:endParaRPr lang="en-US"/>
          </a:p>
          <a:p>
            <a:r>
              <a:rPr lang="en-US" b="1"/>
              <a:t>Common misconception</a:t>
            </a:r>
          </a:p>
          <a:p>
            <a:r>
              <a:rPr lang="en-US"/>
              <a:t>Students often think the Bloch sphere itself rotates. Clarify: the sphere never rotates. Only the state, or the measurement basis, is rotated depending on the physical operation.</a:t>
            </a:r>
          </a:p>
          <a:p>
            <a:r>
              <a:rPr lang="en-US" i="1"/>
              <a:t>Transition: 'If changing the measurement axis changes the probabilities, what happens if we rotate the quantum state itself?'</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Intentionally conceptual</a:t>
            </a:r>
          </a:p>
          <a:p>
            <a:r>
              <a:rPr lang="en-US" dirty="0"/>
              <a:t>Do not derive rotation matrices here — that belongs to the next module. Instead build the intuition that a single-qubit gate simply moves the Bloch vector along the sphere.</a:t>
            </a:r>
          </a:p>
          <a:p>
            <a:endParaRPr lang="en-US" dirty="0"/>
          </a:p>
          <a:p>
            <a:r>
              <a:rPr lang="en-US" b="1" dirty="0"/>
              <a:t>Work an example</a:t>
            </a:r>
          </a:p>
          <a:p>
            <a:r>
              <a:rPr lang="en-US" dirty="0"/>
              <a:t>Suppose the state is |0⟩ at the north pole. Apply a Hadamard. The state moves to |+⟩ on the equator — students have already seen this algebraically; now they see it is simply a rotation.</a:t>
            </a:r>
          </a:p>
          <a:p>
            <a:r>
              <a:rPr lang="en-US" dirty="0"/>
              <a:t>Ask: 'If I keep rotating, where will the state go?' Students answer 'toward |1⟩.' Exactly. This is why gates are far easier to understand geometrically.</a:t>
            </a:r>
          </a:p>
          <a:p>
            <a:endParaRPr lang="en-US" dirty="0"/>
          </a:p>
          <a:p>
            <a:r>
              <a:rPr lang="en-US" b="1" dirty="0"/>
              <a:t>Demonstration</a:t>
            </a:r>
          </a:p>
          <a:p>
            <a:r>
              <a:rPr lang="en-US" dirty="0"/>
              <a:t>Use a globe. Show north pole → rotate → equator → south pole. Students immediately understand that a gate is a controlled turn of the vector about one of the X, Y, or Z axes.</a:t>
            </a:r>
          </a:p>
          <a:p>
            <a:endParaRPr lang="en-US" dirty="0"/>
          </a:p>
          <a:p>
            <a:r>
              <a:rPr lang="en-US" b="1" dirty="0"/>
              <a:t>Important statement</a:t>
            </a:r>
          </a:p>
          <a:p>
            <a:r>
              <a:rPr lang="en-US" dirty="0"/>
              <a:t>Quantum computation is nothing more than carefully controlled rotations followed by measurements. This one sentence summarizes the first half of quantum computing.</a:t>
            </a:r>
          </a:p>
          <a:p>
            <a:r>
              <a:rPr lang="en-US" i="1" dirty="0"/>
              <a:t>Transition: 'So far we have rotated states. Can we also rotate the coordinate system instead?'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sophisticated conceptual slide</a:t>
            </a:r>
          </a:p>
          <a:p>
            <a:r>
              <a:rPr lang="en-US" dirty="0"/>
              <a:t>Students often confuse rotating the state with rotating the basis. Use an analogy: imagine a map — you can rotate the map, or you can walk around it. The relative orientation changes identically either way.</a:t>
            </a:r>
          </a:p>
          <a:p>
            <a:endParaRPr lang="en-US" dirty="0"/>
          </a:p>
          <a:p>
            <a:r>
              <a:rPr lang="en-US" b="1" dirty="0"/>
              <a:t>Two equivalent descriptions</a:t>
            </a:r>
          </a:p>
          <a:p>
            <a:r>
              <a:rPr lang="en-US" dirty="0"/>
              <a:t>Quantum mechanics allows both. Rotate the state while axes stay fixed, or rotate the basis while the state stays fixed. Both describe exactly the same physics and yield identical measurement statistics.</a:t>
            </a:r>
          </a:p>
          <a:p>
            <a:r>
              <a:rPr lang="en-US" dirty="0"/>
              <a:t>Draw coordinate axes and keep the vector fixed, then rotate the axes. Students immediately recognize this as an ordinary coordinate transformation from earlier math courses.</a:t>
            </a:r>
          </a:p>
          <a:p>
            <a:endParaRPr lang="en-US" dirty="0"/>
          </a:p>
          <a:p>
            <a:r>
              <a:rPr lang="en-US" b="1" dirty="0"/>
              <a:t>Why it matters</a:t>
            </a:r>
          </a:p>
          <a:p>
            <a:r>
              <a:rPr lang="en-US" dirty="0"/>
              <a:t>This equivalence is what lets us choose whichever picture is simpler for a given problem — active rotations for gate design, passive basis changes for measurement analysis.</a:t>
            </a:r>
          </a:p>
          <a:p>
            <a:r>
              <a:rPr lang="en-US" i="1" dirty="0"/>
              <a:t>Transition: 'Now that we understand the Bloch sphere, let us see why this picture becomes incredibly useful in quantum cryptography.'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concept map, not new material</a:t>
            </a:r>
          </a:p>
          <a:p>
            <a:r>
              <a:rPr lang="en-US" dirty="0"/>
              <a:t>Use this slide to consolidate. Ask students to explain each feature before revealing the interpretation.</a:t>
            </a:r>
          </a:p>
          <a:p>
            <a:r>
              <a:rPr lang="en-US" dirty="0"/>
              <a:t>'What does a point represent?' → a pure quantum state. 'What does a diameter represent?' → a measurement basis. 'Why are opposite points special?' → they are orthogonal states that can be perfectly distinguished. 'What does a rotation represent?' → a single-qubit gate. 'Why do we talk about projections?' → measurement probabilities arise from projections onto the chosen basis.</a:t>
            </a:r>
          </a:p>
          <a:p>
            <a:endParaRPr lang="en-US" dirty="0"/>
          </a:p>
          <a:p>
            <a:r>
              <a:rPr lang="en-US" b="1" dirty="0"/>
              <a:t>Important clarification</a:t>
            </a:r>
          </a:p>
          <a:p>
            <a:r>
              <a:rPr lang="en-US" dirty="0"/>
              <a:t>The Bloch sphere represents only pure single-qubit states. Mixed states lie inside the sphere, but tell students those are studied in a later module — do not elaborate here, keep the focus on pure states.</a:t>
            </a:r>
          </a:p>
          <a:p>
            <a:endParaRPr lang="en-US" dirty="0"/>
          </a:p>
          <a:p>
            <a:r>
              <a:rPr lang="en-US" b="1" dirty="0"/>
              <a:t>Transition to the next section</a:t>
            </a:r>
          </a:p>
          <a:p>
            <a:r>
              <a:rPr lang="en-US" dirty="0"/>
              <a:t>Return to the three-polarizer experiment from the start of the lecture. Ask: 'How did inserting a 45° polarizer suddenly allow light to pass?' Using the Bloch sphere, explain that the middle polarizer rotates (prepares) the photon's state into a new basis; the final horizontal polarizer then has a non-zero projection onto that state, so some photons pass.</a:t>
            </a:r>
          </a:p>
          <a:p>
            <a:r>
              <a:rPr lang="en-US" i="1" dirty="0"/>
              <a:t>Conclude: 'We now have all the tools needed to understand one of the first practical applications of quantum mechanics — BB84 Quantum Key Distribution. Everything in BB84 is built from concepts we have already learned: basis states, superposition, measurement, and the impossibility of measuring in the wrong basis without disturbing the state.'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Objective</a:t>
            </a:r>
          </a:p>
          <a:p>
            <a:r>
              <a:rPr lang="en-US"/>
              <a:t>Students often believe cryptography simply means “encrypting messages.”</a:t>
            </a:r>
          </a:p>
          <a:p>
            <a:endParaRPr lang="en-US"/>
          </a:p>
          <a:p>
            <a:r>
              <a:rPr lang="en-US" b="1"/>
              <a:t>Begin by asking</a:t>
            </a:r>
          </a:p>
          <a:p>
            <a:r>
              <a:rPr lang="en-US"/>
              <a:t>“When you log into your bank, what security properties do you expect?”</a:t>
            </a:r>
          </a:p>
          <a:p>
            <a:r>
              <a:rPr lang="en-US"/>
              <a:t>Collect responses such as: no one can read my password; the bank knows it’s really me; nobody can modify the transaction.</a:t>
            </a:r>
          </a:p>
          <a:p>
            <a:endParaRPr lang="en-US"/>
          </a:p>
          <a:p>
            <a:r>
              <a:rPr lang="en-US" b="1"/>
              <a:t>Introduce the three fundamental goals</a:t>
            </a:r>
          </a:p>
          <a:p>
            <a:r>
              <a:rPr lang="en-US"/>
              <a:t>Confidentiality, Integrity, and Authentication. Explain each with a real-world example: Confidentiality → WhatsApp messages; Integrity → detecting if a software download was altered; Authentication → verifying you are communicating with your bank and not a phishing site.</a:t>
            </a:r>
          </a:p>
          <a:p>
            <a:r>
              <a:rPr lang="en-US"/>
              <a:t>Emphasize: encryption solves only one of these goals.</a:t>
            </a:r>
          </a:p>
          <a:p>
            <a:endParaRPr lang="en-US"/>
          </a:p>
          <a:p>
            <a:r>
              <a:rPr lang="en-US" i="1"/>
              <a:t>Transition: “Let’s first understand encryption.”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Use an everyday analogy</a:t>
            </a:r>
          </a:p>
          <a:p>
            <a:r>
              <a:rPr lang="en-US" dirty="0"/>
              <a:t>Imagine sending a letter inside a locked box. The message itself has not changed — only its representation has. The lock corresponds to encryption; the key corresponds to the cryptographic key.</a:t>
            </a:r>
          </a:p>
          <a:p>
            <a:r>
              <a:rPr lang="en-US" dirty="0"/>
              <a:t>Explain: without the correct key, ciphertext appears meaningless. Avoid discussing algorithms like AES in detail — this slide is conceptual.</a:t>
            </a:r>
          </a:p>
          <a:p>
            <a:endParaRPr lang="en-US" dirty="0"/>
          </a:p>
          <a:p>
            <a:r>
              <a:rPr lang="en-US" b="1" dirty="0"/>
              <a:t>Classroom question</a:t>
            </a:r>
          </a:p>
          <a:p>
            <a:r>
              <a:rPr lang="en-US" dirty="0"/>
              <a:t>Ask: “If Alice and Bob both possess the key, what becomes the most difficult problem?” Students should answer: sharing the key. Excellent — that naturally motivates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for the entire BB84 protocol.</a:t>
            </a:r>
          </a:p>
          <a:p>
            <a:endParaRPr lang="en-US" dirty="0"/>
          </a:p>
          <a:p>
            <a:r>
              <a:rPr lang="en-US" b="1" dirty="0"/>
              <a:t>Ask</a:t>
            </a:r>
          </a:p>
          <a:p>
            <a:r>
              <a:rPr lang="en-US" dirty="0"/>
              <a:t>“Suppose I invent the world’s strongest encryption algorithm. How do Alice and Bob obtain the secret key?” Pause. Eventually students realize they must somehow exchange it.</a:t>
            </a:r>
          </a:p>
          <a:p>
            <a:r>
              <a:rPr lang="en-US" dirty="0"/>
              <a:t>Now ask: “If the key is sent through the Internet, can’t Eve simply copy it?” Exactly. This is called the Key Distribution Problem.</a:t>
            </a:r>
          </a:p>
          <a:p>
            <a:r>
              <a:rPr lang="en-US" dirty="0"/>
              <a:t>Stress that this is the problem QKD is designed to solve.</a:t>
            </a:r>
          </a:p>
          <a:p>
            <a:endParaRPr lang="en-US" dirty="0"/>
          </a:p>
          <a:p>
            <a:r>
              <a:rPr lang="en-US" i="1" dirty="0"/>
              <a:t>Transition: “There are two broad ways of using cryptographic keys.”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both parties use the same secret key.</a:t>
            </a:r>
          </a:p>
          <a:p>
            <a:r>
              <a:rPr lang="en-US" dirty="0"/>
              <a:t>Emphasize that the algorithm can be public. The security lies entirely in keeping the key secret. This is a fundamental design principle known as </a:t>
            </a:r>
            <a:r>
              <a:rPr lang="en-US" dirty="0" err="1"/>
              <a:t>Kerckhoffs’s</a:t>
            </a:r>
            <a:r>
              <a:rPr lang="en-US" dirty="0"/>
              <a:t> principle, though you need not dwell on the name.</a:t>
            </a:r>
          </a:p>
          <a:p>
            <a:endParaRPr lang="en-US" dirty="0"/>
          </a:p>
          <a:p>
            <a:r>
              <a:rPr lang="en-US" b="1" dirty="0"/>
              <a:t>Use a simple analogy</a:t>
            </a:r>
          </a:p>
          <a:p>
            <a:r>
              <a:rPr lang="en-US" dirty="0"/>
              <a:t>Alice and Bob share the same house key. Anyone with a copy of that key can unlock the door.</a:t>
            </a:r>
          </a:p>
          <a:p>
            <a:r>
              <a:rPr lang="en-US" dirty="0"/>
              <a:t>Ask: “What happens if Eve somehow learns the shared key?” Students immediately see that she can both decrypt future messages and impersonate one of the parties.</a:t>
            </a:r>
          </a:p>
          <a:p>
            <a:r>
              <a:rPr lang="en-US" dirty="0"/>
              <a:t>Conclude: symmetric encryption is extremely fast and is used for bulk data encryption, but its weakness is establishing the shared secret.</a:t>
            </a:r>
          </a:p>
          <a:p>
            <a:endParaRPr lang="en-US" dirty="0"/>
          </a:p>
          <a:p>
            <a:r>
              <a:rPr lang="en-US" i="1" dirty="0"/>
              <a:t>Transition: “Can we avoid sharing a secret key in advance?”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idea without heavy mathematics.</a:t>
            </a:r>
          </a:p>
          <a:p>
            <a:endParaRPr lang="en-US"/>
          </a:p>
          <a:p>
            <a:r>
              <a:rPr lang="en-US" b="1"/>
              <a:t>Use the analogy of a padlock</a:t>
            </a:r>
          </a:p>
          <a:p>
            <a:r>
              <a:rPr lang="en-US"/>
              <a:t>Bob distributes open padlocks (public keys) to everyone. Anyone can place a message inside the box and lock it using the padlock. Only Bob has the unique key that opens the lock.</a:t>
            </a:r>
          </a:p>
          <a:p>
            <a:r>
              <a:rPr lang="en-US"/>
              <a:t>Stress that the public key cannot be used to decrypt the message.</a:t>
            </a:r>
          </a:p>
          <a:p>
            <a:r>
              <a:rPr lang="en-US"/>
              <a:t>Clarify that public-key cryptography solves the initial key exchange problem, but its security depends on assumptions such as the difficulty of factoring large integers or solving discrete logarithm problems.</a:t>
            </a:r>
          </a:p>
          <a:p>
            <a:endParaRPr lang="en-US"/>
          </a:p>
          <a:p>
            <a:r>
              <a:rPr lang="en-US" b="1"/>
              <a:t>Mention briefly</a:t>
            </a:r>
          </a:p>
          <a:p>
            <a:r>
              <a:rPr lang="en-US"/>
              <a:t>Large-scale quantum computers threaten many of these assumptions through algorithms such as Shor’s algorithm. Do not derive Shor’s algorithm here.</a:t>
            </a:r>
          </a:p>
          <a:p>
            <a:endParaRPr lang="en-US"/>
          </a:p>
          <a:p>
            <a:r>
              <a:rPr lang="en-US" i="1"/>
              <a:t>Transition: “If asymmetric cryptography already solves key exchange, why do we need Quantum Key Distribution?”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Students frequently assume encryption proves identity. Demonstrate why that is false.</a:t>
            </a:r>
          </a:p>
          <a:p>
            <a:r>
              <a:rPr lang="en-US"/>
              <a:t>Suppose Eve encrypts her own message using Bob’s public key. Bob can decrypt it successfully. But how does Bob know it came from Alice? This motivates authentication.</a:t>
            </a:r>
          </a:p>
          <a:p>
            <a:endParaRPr lang="en-US"/>
          </a:p>
          <a:p>
            <a:r>
              <a:rPr lang="en-US" b="1"/>
              <a:t>Briefly explain digital signatures at a conceptual level</a:t>
            </a:r>
          </a:p>
          <a:p>
            <a:r>
              <a:rPr lang="en-US"/>
              <a:t>The sender uses a private signing key. Anyone with the corresponding public verification key can verify the signature. Do not discuss signature algorithms.</a:t>
            </a:r>
          </a:p>
          <a:p>
            <a:endParaRPr lang="en-US"/>
          </a:p>
          <a:p>
            <a:r>
              <a:rPr lang="en-US" b="1"/>
              <a:t>The goal is to distinguish</a:t>
            </a:r>
          </a:p>
          <a:p>
            <a:r>
              <a:rPr lang="en-US"/>
              <a:t>Encryption → confidentiality. Authentication → identity. Integrity → tamper detection.</a:t>
            </a:r>
          </a:p>
          <a:p>
            <a:endParaRPr lang="en-US"/>
          </a:p>
          <a:p>
            <a:r>
              <a:rPr lang="en-US" i="1"/>
              <a:t>Transition: “One final cryptographic idea appears frequently in secure communication systems — secret sharing.”</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secret sharing is not encryption. Instead of locking a secret, we divide it into multiple pieces. No individual share reveals useful information. Only a sufficient number of shares can reconstruct the original secret.</a:t>
            </a:r>
          </a:p>
          <a:p>
            <a:endParaRPr lang="en-US"/>
          </a:p>
          <a:p>
            <a:r>
              <a:rPr lang="en-US" b="1"/>
              <a:t>Give a practical example</a:t>
            </a:r>
          </a:p>
          <a:p>
            <a:r>
              <a:rPr lang="en-US"/>
              <a:t>A company stores the master encryption key by distributing five shares among senior executives. Any three executives can reconstruct the key during an emergency, but no single executive can access it alone.</a:t>
            </a:r>
          </a:p>
          <a:p>
            <a:r>
              <a:rPr lang="en-US"/>
              <a:t>Mention that later in the curriculum students may encounter quantum secret sharing, which extends the idea using quantum states.</a:t>
            </a:r>
          </a:p>
          <a:p>
            <a:endParaRPr lang="en-US"/>
          </a:p>
          <a:p>
            <a:r>
              <a:rPr lang="en-US" i="1"/>
              <a:t>Transition: “We have now seen the major building blocks of classical cryptography. Among these, one problem remains particularly challenging: securely establishing a shared secret key. That is exactly the problem Quantum Key Distribution addresses.”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one of the most important conceptual slides before BB84.</a:t>
            </a:r>
          </a:p>
          <a:p>
            <a:endParaRPr lang="en-US"/>
          </a:p>
          <a:p>
            <a:r>
              <a:rPr lang="en-US" b="1"/>
              <a:t>Correct a common misconception</a:t>
            </a:r>
          </a:p>
          <a:p>
            <a:r>
              <a:rPr lang="en-US"/>
              <a:t>Students often leave their first QKD lecture believing: “Quantum cryptography replaces all of classical cryptography.” Correct this misconception explicitly.</a:t>
            </a:r>
          </a:p>
          <a:p>
            <a:r>
              <a:rPr lang="en-US"/>
              <a:t>Explain that QKD is not an encryption algorithm. After Alice and Bob establish a shared secret key using BB84, they still encrypt their data using efficient classical symmetric algorithms such as AES (or, in the ideal case, a One-Time Pad).</a:t>
            </a:r>
          </a:p>
          <a:p>
            <a:r>
              <a:rPr lang="en-US"/>
              <a:t>Similarly, QKD does not inherently provide authentication. Practical QKD systems require an authenticated classical channel to prevent man-in-the-middle attacks.</a:t>
            </a:r>
          </a:p>
          <a:p>
            <a:endParaRPr lang="en-US"/>
          </a:p>
          <a:p>
            <a:r>
              <a:rPr lang="en-US" b="1"/>
              <a:t>Conclude with</a:t>
            </a:r>
          </a:p>
          <a:p>
            <a:r>
              <a:rPr lang="en-US" i="1"/>
              <a:t>“BB84 solves one problem exceptionally well: secure key distribution. Everything you are about to learn addresses that single, but critically important, problem.”</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Objective</a:t>
            </a:r>
          </a:p>
          <a:p>
            <a:r>
              <a:rPr lang="en-US"/>
              <a:t>Motivate BB84 without yet discussing the protocol itself. The goal of this slide is to make students feel the key-distribution problem.</a:t>
            </a:r>
          </a:p>
          <a:p>
            <a:endParaRPr lang="en-US"/>
          </a:p>
          <a:p>
            <a:r>
              <a:rPr lang="en-US" b="1"/>
              <a:t>Begin with a familiar situation</a:t>
            </a:r>
          </a:p>
          <a:p>
            <a:r>
              <a:rPr lang="en-US"/>
              <a:t>Suppose Alice wants to send a bank password to Bob. Ask: 'Can she simply encrypt it?' Students usually answer yes. Then ask: 'What key should she use?' Eventually someone says they need to share one. Exactly.</a:t>
            </a:r>
          </a:p>
          <a:p>
            <a:r>
              <a:rPr lang="en-US"/>
              <a:t>Now ask: 'How do they securely exchange the key in the first place?' This is the Key Distribution Problem — you cannot encrypt the key with a key you have not yet shared.</a:t>
            </a:r>
          </a:p>
          <a:p>
            <a:endParaRPr lang="en-US"/>
          </a:p>
          <a:p>
            <a:r>
              <a:rPr lang="en-US" b="1"/>
              <a:t>Explain the classical assumption</a:t>
            </a:r>
          </a:p>
          <a:p>
            <a:r>
              <a:rPr lang="en-US"/>
              <a:t>Most classical cryptography assumes certain mathematical problems are hard: integer factorization (RSA), the discrete logarithm (Diffie–Hellman), and elliptic curves (ECC). Do not derive them — simply mention them.</a:t>
            </a:r>
          </a:p>
          <a:p>
            <a:r>
              <a:rPr lang="en-US"/>
              <a:t>Then say: 'Quantum computing threatens many of these assumptions.' A large enough quantum computer running Shor's algorithm breaks all three. This creates the motivation.</a:t>
            </a:r>
          </a:p>
          <a:p>
            <a:endParaRPr lang="en-US"/>
          </a:p>
          <a:p>
            <a:r>
              <a:rPr lang="en-US" i="1"/>
              <a:t>Transition: 'What if security did not depend on mathematics at all — but on the laws of physics?'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This is the payoff for measurement</a:t>
            </a:r>
          </a:p>
          <a:p>
            <a:r>
              <a:rPr lang="en-US"/>
              <a:t>This is where students realize why they spent so much time learning measurement and collapse. Point out that no new physics appears in BB84 — it is purely an application of what they already know.</a:t>
            </a:r>
          </a:p>
          <a:p>
            <a:endParaRPr lang="en-US"/>
          </a:p>
          <a:p>
            <a:r>
              <a:rPr lang="en-US" b="1"/>
              <a:t>Draw it out</a:t>
            </a:r>
          </a:p>
          <a:p>
            <a:r>
              <a:rPr lang="en-US"/>
              <a:t>Ask: 'Can Eve secretly measure the photon?' Students often answer yes. Then ask: 'What happened during every measurement in this chapter?' Students reply: the state collapsed. Exactly — that is BB84.</a:t>
            </a:r>
          </a:p>
          <a:p>
            <a:r>
              <a:rPr lang="en-US"/>
              <a:t>Emphasize the chain: measurement leads to collapse, collapse leads to disturbance, and disturbance leads to detection. Walk the four boxes on the slide left to right.</a:t>
            </a:r>
          </a:p>
          <a:p>
            <a:endParaRPr lang="en-US"/>
          </a:p>
          <a:p>
            <a:r>
              <a:rPr lang="en-US" b="1"/>
              <a:t>Important statement</a:t>
            </a:r>
          </a:p>
          <a:p>
            <a:r>
              <a:rPr lang="en-US"/>
              <a:t>Quantum cryptography is secure because measurement is a physical interaction — not because Eve lacks computational power. Pause after this sentence and let it land.</a:t>
            </a:r>
          </a:p>
          <a:p>
            <a:endParaRPr lang="en-US"/>
          </a:p>
          <a:p>
            <a:r>
              <a:rPr lang="en-US" i="1"/>
              <a:t>Transition: 'So how can Alice encode information into quantum states in the first place?'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Connect everything to the Bloch sphere</a:t>
            </a:r>
          </a:p>
          <a:p>
            <a:r>
              <a:rPr lang="en-US"/>
              <a:t>The computational basis is the vertical (Z) axis; the Hadamard basis is the horizontal (X) axis. Point to each on the diagram as you read the table.</a:t>
            </a:r>
          </a:p>
          <a:p>
            <a:endParaRPr lang="en-US"/>
          </a:p>
          <a:p>
            <a:r>
              <a:rPr lang="en-US" b="1"/>
              <a:t>Why exactly these two bases</a:t>
            </a:r>
          </a:p>
          <a:p>
            <a:r>
              <a:rPr lang="en-US"/>
              <a:t>Ask: 'Why these two?' Students answer: they are orthogonal. Clarify the subtlety: each basis is internally orthogonal, but the two bases are mutually unbiased with respect to each other.</a:t>
            </a:r>
          </a:p>
          <a:p>
            <a:r>
              <a:rPr lang="en-US"/>
              <a:t>Without introducing formal terminology, explain: if a photon prepared in the computational basis is measured in the Hadamard basis, the outcome is completely random — 50/50 — and vice versa. This property is what gives BB84 its security.</a:t>
            </a:r>
          </a:p>
          <a:p>
            <a:endParaRPr lang="en-US"/>
          </a:p>
          <a:p>
            <a:r>
              <a:rPr lang="en-US" b="1"/>
              <a:t>Classroom Question</a:t>
            </a:r>
          </a:p>
          <a:p>
            <a:r>
              <a:rPr lang="en-US"/>
              <a:t>Ask: 'If Alice prepares |0⟩, what are Bob's probabilities if he measures in the Hadamard basis?' Expected: P(+) = 0.5 and P(−) = 0.5. Link this back to Slide 22 on measurement in different bases.</a:t>
            </a:r>
          </a:p>
          <a:p>
            <a:endParaRPr lang="en-US"/>
          </a:p>
          <a:p>
            <a:r>
              <a:rPr lang="en-US" i="1"/>
              <a:t>Transition: 'Now let us see what Alice actually sends.'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Two independent random choices</a:t>
            </a:r>
          </a:p>
          <a:p>
            <a:r>
              <a:rPr lang="en-US"/>
              <a:t>Stress that Alice makes two independent random choices for every photon: which classical bit to send, and which basis to use. Many students confuse these two choices.</a:t>
            </a:r>
          </a:p>
          <a:p>
            <a:endParaRPr lang="en-US"/>
          </a:p>
          <a:p>
            <a:r>
              <a:rPr lang="en-US" b="1"/>
              <a:t>Work the example</a:t>
            </a:r>
          </a:p>
          <a:p>
            <a:r>
              <a:rPr lang="en-US"/>
              <a:t>Suppose Alice wants to send the bit 1. Ask: 'Does that uniquely determine the quantum state?' Students often answer yes. Show that it does not.</a:t>
            </a:r>
          </a:p>
          <a:p>
            <a:r>
              <a:rPr lang="en-US"/>
              <a:t>If she chooses the computational basis she sends |1⟩; if she chooses the Hadamard basis she sends |−⟩. The same classical bit corresponds to different quantum states depending on the chosen basis. Walk all four rows of the example table.</a:t>
            </a:r>
          </a:p>
          <a:p>
            <a:r>
              <a:rPr lang="en-US"/>
              <a:t>This distinction becomes essential later when Bob performs his measurements.</a:t>
            </a:r>
          </a:p>
          <a:p>
            <a:endParaRPr lang="en-US"/>
          </a:p>
          <a:p>
            <a:r>
              <a:rPr lang="en-US" i="1"/>
              <a:t>Transition: 'Alice has sent the photons. Bob now faces an interesting challenge — he does not know which basis Alice used.'</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Bob has no prior information</a:t>
            </a:r>
          </a:p>
          <a:p>
            <a:r>
              <a:rPr lang="en-US"/>
              <a:t>Emphasize that Bob has no information about Alice's basis when a photon arrives. He must guess a basis at random for each one.</a:t>
            </a:r>
          </a:p>
          <a:p>
            <a:endParaRPr lang="en-US"/>
          </a:p>
          <a:p>
            <a:r>
              <a:rPr lang="en-US" b="1"/>
              <a:t>Can Bob always recover the bit</a:t>
            </a:r>
          </a:p>
          <a:p>
            <a:r>
              <a:rPr lang="en-US"/>
              <a:t>Ask: 'Can Bob always recover the correct bit?' Students should now realize the answer is no. Explain the four cases in the table: same basis gives a deterministic result; a different basis gives a completely random outcome.</a:t>
            </a:r>
          </a:p>
          <a:p>
            <a:r>
              <a:rPr lang="en-US"/>
              <a:t>Relate it to the Bloch sphere: when Bob measures along the wrong axis, he projects the state onto a different basis, producing equal probabilities. This is a good moment to revisit the projection interpretation from Slides 19–22.</a:t>
            </a:r>
          </a:p>
          <a:p>
            <a:endParaRPr lang="en-US"/>
          </a:p>
          <a:p>
            <a:r>
              <a:rPr lang="en-US" b="1"/>
              <a:t>Classroom Exercise</a:t>
            </a:r>
          </a:p>
          <a:p>
            <a:r>
              <a:rPr lang="en-US"/>
              <a:t>Suppose Alice sends |+⟩. Ask: what happens if Bob measures in the Hadamard basis (he gets |+⟩ with certainty)? What happens if he measures in the computational basis (he gets |0⟩ or |1⟩, 50/50)? Walk through both cases.</a:t>
            </a:r>
          </a:p>
          <a:p>
            <a:endParaRPr lang="en-US"/>
          </a:p>
          <a:p>
            <a:r>
              <a:rPr lang="en-US" i="1"/>
              <a:t>Transition: 'So after many photons are exchanged, how do Alice and Bob know which measurements to keep?'</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What gets revealed</a:t>
            </a:r>
          </a:p>
          <a:p>
            <a:r>
              <a:rPr lang="en-US"/>
              <a:t>Explain that Alice and Bob never reveal the actual bits — they reveal only their basis choices, over an ordinary public channel.</a:t>
            </a:r>
          </a:p>
          <a:p>
            <a:endParaRPr lang="en-US"/>
          </a:p>
          <a:p>
            <a:r>
              <a:rPr lang="en-US" b="1"/>
              <a:t>Does Eve learn the key</a:t>
            </a:r>
          </a:p>
          <a:p>
            <a:r>
              <a:rPr lang="en-US"/>
              <a:t>Ask: 'If Eve hears the basis discussion, does she learn the secret key?' Students usually think she does. Clarify: no. The actual bit values remain secret; only the positions where the bases matched are retained.</a:t>
            </a:r>
          </a:p>
          <a:p>
            <a:endParaRPr lang="en-US"/>
          </a:p>
          <a:p>
            <a:r>
              <a:rPr lang="en-US" b="1"/>
              <a:t>Introduce sifting</a:t>
            </a:r>
          </a:p>
          <a:p>
            <a:r>
              <a:rPr lang="en-US"/>
              <a:t>Name the process: sifting. Explain that roughly half of the transmitted photons are discarded because Alice's and Bob's basis choices disagree. Walk the example table — photons 1 and 3 are kept, 2 and 4 are discarded.</a:t>
            </a:r>
          </a:p>
          <a:p>
            <a:r>
              <a:rPr lang="en-US"/>
              <a:t>Point out that this loss is expected and is not a flaw in the protocol — it is the price of the security guarantee.</a:t>
            </a:r>
          </a:p>
          <a:p>
            <a:endParaRPr lang="en-US"/>
          </a:p>
          <a:p>
            <a:r>
              <a:rPr lang="en-US" i="1"/>
              <a:t>Transition: 'So far, everything works perfectly when no one interferes. But what happens if Eve tries to eavesdrop? That question reveals the real power of quantum mechanics.'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Objective</a:t>
            </a:r>
          </a:p>
          <a:p>
            <a:r>
              <a:rPr lang="en-US"/>
              <a:t>Students should understand why Eve cannot remain invisible.</a:t>
            </a:r>
          </a:p>
          <a:p>
            <a:endParaRPr lang="en-US"/>
          </a:p>
          <a:p>
            <a:r>
              <a:rPr lang="en-US"/>
              <a:t>Start with a question: "Suppose Eve is extremely clever. Can she secretly observe every photon?" Students usually answer "Yes."</a:t>
            </a:r>
          </a:p>
          <a:p>
            <a:r>
              <a:rPr lang="en-US"/>
              <a:t>Ask: "How did we measure a photon throughout this chapter?" Students answer "Using measurement." Exactly.</a:t>
            </a:r>
          </a:p>
          <a:p>
            <a:endParaRPr lang="en-US"/>
          </a:p>
          <a:p>
            <a:r>
              <a:rPr lang="en-US"/>
              <a:t>Measurement → collapse → the state changes. Therefore observation always leaves evidence.</a:t>
            </a:r>
          </a:p>
          <a:p>
            <a:r>
              <a:rPr lang="en-US"/>
              <a:t>Draw the complete path: Alice → Eve → Bob.</a:t>
            </a:r>
          </a:p>
          <a:p>
            <a:endParaRPr lang="en-US"/>
          </a:p>
          <a:p>
            <a:r>
              <a:rPr lang="en-US"/>
              <a:t>Ask: "What information does Eve actually know?" Students answer "Nothing." Correct. She does not know Alice's basis, so Eve must guess. This single fact creates all the errors.</a:t>
            </a:r>
          </a:p>
          <a:p>
            <a:endParaRPr lang="en-US"/>
          </a:p>
          <a:p>
            <a:r>
              <a:rPr lang="en-US" b="1"/>
              <a:t>Important statement</a:t>
            </a:r>
          </a:p>
          <a:p>
            <a:r>
              <a:rPr lang="en-US"/>
              <a:t>Eve's weakness is not poor technology — it is lack of basis information.</a:t>
            </a:r>
          </a:p>
          <a:p>
            <a:endParaRPr lang="en-US"/>
          </a:p>
          <a:p>
            <a:r>
              <a:rPr lang="en-US" i="1"/>
              <a:t>Transition: "So how often does Eve guess correctly?"</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should be done almost entirely on the board. Do not rush — students should derive everything with you.</a:t>
            </a:r>
          </a:p>
          <a:p>
            <a:endParaRPr lang="en-US"/>
          </a:p>
          <a:p>
            <a:r>
              <a:rPr lang="en-US"/>
              <a:t>Ask: "What is the probability that Eve chooses the correct basis?" Students answer 50%. Excellent.</a:t>
            </a:r>
          </a:p>
          <a:p>
            <a:r>
              <a:rPr lang="en-US"/>
              <a:t>Then ask: "What happens?" Students answer: no disturbance. Exactly.</a:t>
            </a:r>
          </a:p>
          <a:p>
            <a:endParaRPr lang="en-US"/>
          </a:p>
          <a:p>
            <a:r>
              <a:rPr lang="en-US"/>
              <a:t>Now consider the wrong basis, probability 50%. Ask: "If Eve measures in the wrong basis, does she obtain the correct bit?" Students answer No. Explain: she obtains a completely random outcome.</a:t>
            </a:r>
          </a:p>
          <a:p>
            <a:endParaRPr lang="en-US"/>
          </a:p>
          <a:p>
            <a:r>
              <a:rPr lang="en-US"/>
              <a:t>Now ask: "If Eve resends this incorrect state, will Bob always notice?" Students usually answer Yes. Correct them: No. Bob only notices sometimes.</a:t>
            </a:r>
          </a:p>
          <a:p>
            <a:endParaRPr lang="en-US"/>
          </a:p>
          <a:p>
            <a:r>
              <a:rPr lang="en-US" i="1"/>
              <a:t>Transition: "So what is the total probability of an error?"</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Spend sufficient time here. Students often memorize 25% — do not allow memorization. Instead ask them to calculate every step.</a:t>
            </a:r>
          </a:p>
          <a:p>
            <a:endParaRPr lang="en-US"/>
          </a:p>
          <a:p>
            <a:r>
              <a:rPr lang="en-US"/>
              <a:t>Case A: correct basis. No disturbance. Error 0.</a:t>
            </a:r>
          </a:p>
          <a:p>
            <a:r>
              <a:rPr lang="en-US"/>
              <a:t>Case B: wrong basis. Students often immediately answer 100% error. Stop them. Explain: wrong basis → random outcome. Random → correct half the time, wrong half the time. Hence ½ × ½ = ¼.</a:t>
            </a:r>
          </a:p>
          <a:p>
            <a:endParaRPr lang="en-US"/>
          </a:p>
          <a:p>
            <a:r>
              <a:rPr lang="en-US"/>
              <a:t>Now ask: "Why isn't the answer 50%?" This discussion is extremely valuable.</a:t>
            </a:r>
          </a:p>
          <a:p>
            <a:endParaRPr lang="en-US"/>
          </a:p>
          <a:p>
            <a:r>
              <a:rPr lang="en-US" b="1"/>
              <a:t>Classroom exercise</a:t>
            </a:r>
          </a:p>
          <a:p>
            <a:r>
              <a:rPr lang="en-US"/>
              <a:t>Suppose Eve somehow guessed correctly 75% of the time. Ask students: "What would the QBER become?" This reinforces conditional probability.</a:t>
            </a:r>
          </a:p>
          <a:p>
            <a:endParaRPr lang="en-US"/>
          </a:p>
          <a:p>
            <a:r>
              <a:rPr lang="en-US" b="1"/>
              <a:t>Important statement</a:t>
            </a:r>
          </a:p>
          <a:p>
            <a:r>
              <a:rPr lang="en-US"/>
              <a:t>The 25% error is not arbitrary. It is a direct consequence of incompatible quantum bases.</a:t>
            </a:r>
          </a:p>
          <a:p>
            <a:endParaRPr lang="en-US"/>
          </a:p>
          <a:p>
            <a:r>
              <a:rPr lang="en-US" i="1"/>
              <a:t>Transition: "So why doesn't Eve simply make a copy before measuring?"</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beautiful opportunity to connect with students' intuition.</a:t>
            </a:r>
          </a:p>
          <a:p>
            <a:r>
              <a:rPr lang="en-US"/>
              <a:t>Ask: "If you receive a classical bit, can you make a copy?" Students answer: of course. Write 0 → 00.</a:t>
            </a:r>
          </a:p>
          <a:p>
            <a:r>
              <a:rPr lang="en-US"/>
              <a:t>Now ask: "What about a qubit?" Students usually answer "Probably." Explain: nature forbids it.</a:t>
            </a:r>
          </a:p>
          <a:p>
            <a:endParaRPr lang="en-US"/>
          </a:p>
          <a:p>
            <a:r>
              <a:rPr lang="en-US"/>
              <a:t>State the No-Cloning Theorem in words first: it is impossible to create an identical copy of an arbitrary unknown quantum state. Avoid proving the theorem here unless your curriculum explicitly requires it. Instead, give the intuition:</a:t>
            </a:r>
          </a:p>
          <a:p>
            <a:r>
              <a:rPr lang="en-US"/>
              <a:t>If Eve could make a perfect copy, she would keep one copy and send the other to Bob. She could wait until Alice and Bob reveal their bases, then measure her stored copy in the correct basis — obtaining the entire key without introducing any disturbance.</a:t>
            </a:r>
          </a:p>
          <a:p>
            <a:endParaRPr lang="en-US"/>
          </a:p>
          <a:p>
            <a:r>
              <a:rPr lang="en-US"/>
              <a:t>Then ask: "But BB84 is experimentally secure. What prevents this attack?" Answer: the laws of quantum mechanics themselves.</a:t>
            </a:r>
          </a:p>
          <a:p>
            <a:r>
              <a:rPr lang="en-US"/>
              <a:t>Emphasize that the No-Cloning Theorem is not an engineering limitation or a technological challenge — it is a fundamental physical law.</a:t>
            </a:r>
          </a:p>
          <a:p>
            <a:endParaRPr lang="en-US"/>
          </a:p>
          <a:p>
            <a:r>
              <a:rPr lang="en-US"/>
              <a:t>If you plan to cover the theorem formally in a later module, tell students: "Today we use the theorem as a physical principle. Later, when we study quantum gates and linearity, we'll prove why a universal quantum copier cannot exist." This keeps the flow intact while motivating future topics.</a:t>
            </a:r>
          </a:p>
          <a:p>
            <a:endParaRPr lang="en-US"/>
          </a:p>
          <a:p>
            <a:r>
              <a:rPr lang="en-US" i="1"/>
              <a:t>Transition: "So measurement cannot be hidden, and copying is impossible. These two principles together form the foundation of quantum key distribution. Let's conclude the chapter by bringing together everything we've learned."</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final slide is not a summary to be read aloud. Instead, use it to reconstruct the story of the entire lecture. Walk through the concept map from top to bottom:</a:t>
            </a:r>
          </a:p>
          <a:p>
            <a:endParaRPr lang="en-US"/>
          </a:p>
          <a:p>
            <a:r>
              <a:rPr lang="en-US"/>
              <a:t>We began with photon polarization because students need a physical realization of a qubit.</a:t>
            </a:r>
          </a:p>
          <a:p>
            <a:r>
              <a:rPr lang="en-US"/>
              <a:t>That motivated the mathematical representation using vectors.</a:t>
            </a:r>
          </a:p>
          <a:p>
            <a:r>
              <a:rPr lang="en-US"/>
              <a:t>From vectors, we developed the idea of superposition.</a:t>
            </a:r>
          </a:p>
          <a:p>
            <a:r>
              <a:rPr lang="en-US"/>
              <a:t>To express quantum states elegantly, we introduced Dirac notation.</a:t>
            </a:r>
          </a:p>
          <a:p>
            <a:r>
              <a:rPr lang="en-US"/>
              <a:t>We then learned how measurement converts amplitudes into probabilities through the Born rule.</a:t>
            </a:r>
          </a:p>
          <a:p>
            <a:r>
              <a:rPr lang="en-US"/>
              <a:t>We discovered that relative phase carries physical information while global phase does not.</a:t>
            </a:r>
          </a:p>
          <a:p>
            <a:r>
              <a:rPr lang="en-US"/>
              <a:t>The Bloch sphere unified all these ideas geometrically.</a:t>
            </a:r>
          </a:p>
          <a:p>
            <a:r>
              <a:rPr lang="en-US"/>
              <a:t>Finally, we saw that BB84 is not a separate topic, but a direct application of superposition, basis choice, projection, and state collapse.</a:t>
            </a:r>
          </a:p>
          <a:p>
            <a:endParaRPr lang="en-US"/>
          </a:p>
          <a:p>
            <a:r>
              <a:rPr lang="en-US" i="1"/>
              <a:t>Conclude with a forward-looking statement: "Everything we have learned today concerns a single qubit. In the next module, we will study how multiple qubits interact through tensor products, entanglement, and quantum gates. Those ideas will build directly on the foundation established in this chapter."</a:t>
            </a:r>
          </a:p>
          <a:p>
            <a:r>
              <a:rPr lang="en-US"/>
              <a:t>This gives students a clear sense of progression and reinforces that the chapter is a coherent narrative rather than a collection of isolated concepts.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752128"/>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58368"/>
            <a:ext cx="5303520" cy="320040"/>
          </a:xfrm>
          <a:prstGeom prst="rect">
            <a:avLst/>
          </a:prstGeom>
          <a:noFill/>
        </p:spPr>
        <p:txBody>
          <a:bodyPr wrap="square">
            <a:spAutoFit/>
          </a:bodyPr>
          <a:lstStyle/>
          <a:p>
            <a:pPr algn="l">
              <a:defRPr sz="1500" b="1">
                <a:solidFill>
                  <a:srgbClr val="0D9488"/>
                </a:solidFill>
                <a:latin typeface="Calibri"/>
              </a:defRPr>
            </a:pPr>
            <a:r>
              <a:t>QUANTUM COMPUTING  ·  FOUNDATIONS</a:t>
            </a:r>
          </a:p>
        </p:txBody>
      </p:sp>
      <p:sp>
        <p:nvSpPr>
          <p:cNvPr id="4" name="Rectangle 3"/>
          <p:cNvSpPr/>
          <p:nvPr/>
        </p:nvSpPr>
        <p:spPr>
          <a:xfrm>
            <a:off x="777240" y="1097280"/>
            <a:ext cx="246888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81328"/>
            <a:ext cx="6537960" cy="1508760"/>
          </a:xfrm>
          <a:prstGeom prst="rect">
            <a:avLst/>
          </a:prstGeom>
          <a:noFill/>
        </p:spPr>
        <p:txBody>
          <a:bodyPr wrap="square" lIns="0" tIns="0" rIns="0" bIns="0">
            <a:spAutoFit/>
          </a:bodyPr>
          <a:lstStyle/>
          <a:p>
            <a:pPr algn="l">
              <a:lnSpc>
                <a:spcPct val="92000"/>
              </a:lnSpc>
              <a:spcAft>
                <a:spcPts val="0"/>
              </a:spcAft>
              <a:defRPr sz="5800" b="1">
                <a:solidFill>
                  <a:srgbClr val="3730A3"/>
                </a:solidFill>
                <a:latin typeface="Calibri"/>
              </a:defRPr>
            </a:pPr>
            <a:r>
              <a:t>Single Qubit</a:t>
            </a:r>
            <a:br/>
            <a:r>
              <a:t>System</a:t>
            </a:r>
          </a:p>
        </p:txBody>
      </p:sp>
      <p:sp>
        <p:nvSpPr>
          <p:cNvPr id="6" name="TextBox 5"/>
          <p:cNvSpPr txBox="1"/>
          <p:nvPr/>
        </p:nvSpPr>
        <p:spPr>
          <a:xfrm>
            <a:off x="804672" y="4041648"/>
            <a:ext cx="1325880" cy="310896"/>
          </a:xfrm>
          <a:prstGeom prst="rect">
            <a:avLst/>
          </a:prstGeom>
          <a:noFill/>
        </p:spPr>
        <p:txBody>
          <a:bodyPr wrap="square" lIns="0">
            <a:spAutoFit/>
          </a:bodyPr>
          <a:lstStyle/>
          <a:p>
            <a:pPr algn="l">
              <a:defRPr sz="1200" b="1">
                <a:solidFill>
                  <a:srgbClr val="0D9488"/>
                </a:solidFill>
                <a:latin typeface="Calibri"/>
              </a:defRPr>
            </a:pPr>
            <a:r>
              <a:t>INSTRUCTOR</a:t>
            </a:r>
          </a:p>
        </p:txBody>
      </p:sp>
      <p:sp>
        <p:nvSpPr>
          <p:cNvPr id="7" name="TextBox 6"/>
          <p:cNvSpPr txBox="1"/>
          <p:nvPr/>
        </p:nvSpPr>
        <p:spPr>
          <a:xfrm>
            <a:off x="2057400" y="4014215"/>
            <a:ext cx="4800600" cy="384048"/>
          </a:xfrm>
          <a:prstGeom prst="rect">
            <a:avLst/>
          </a:prstGeom>
          <a:noFill/>
        </p:spPr>
        <p:txBody>
          <a:bodyPr wrap="square" lIns="0">
            <a:spAutoFit/>
          </a:bodyPr>
          <a:lstStyle/>
          <a:p>
            <a:pPr algn="l">
              <a:defRPr sz="1800">
                <a:solidFill>
                  <a:srgbClr val="1F2937"/>
                </a:solidFill>
                <a:latin typeface="Calibri"/>
              </a:defRPr>
            </a:pPr>
            <a:r>
              <a:t>[Instructor Name]</a:t>
            </a:r>
          </a:p>
        </p:txBody>
      </p:sp>
      <p:sp>
        <p:nvSpPr>
          <p:cNvPr id="8" name="TextBox 7"/>
          <p:cNvSpPr txBox="1"/>
          <p:nvPr/>
        </p:nvSpPr>
        <p:spPr>
          <a:xfrm>
            <a:off x="804672" y="4553712"/>
            <a:ext cx="1325880" cy="310896"/>
          </a:xfrm>
          <a:prstGeom prst="rect">
            <a:avLst/>
          </a:prstGeom>
          <a:noFill/>
        </p:spPr>
        <p:txBody>
          <a:bodyPr wrap="square" lIns="0">
            <a:spAutoFit/>
          </a:bodyPr>
          <a:lstStyle/>
          <a:p>
            <a:pPr algn="l">
              <a:defRPr sz="1200" b="1">
                <a:solidFill>
                  <a:srgbClr val="0D9488"/>
                </a:solidFill>
                <a:latin typeface="Calibri"/>
              </a:defRPr>
            </a:pPr>
            <a:r>
              <a:t>COURSE</a:t>
            </a:r>
          </a:p>
        </p:txBody>
      </p:sp>
      <p:sp>
        <p:nvSpPr>
          <p:cNvPr id="9" name="TextBox 8"/>
          <p:cNvSpPr txBox="1"/>
          <p:nvPr/>
        </p:nvSpPr>
        <p:spPr>
          <a:xfrm>
            <a:off x="2057400" y="4526280"/>
            <a:ext cx="4800600" cy="384048"/>
          </a:xfrm>
          <a:prstGeom prst="rect">
            <a:avLst/>
          </a:prstGeom>
          <a:noFill/>
        </p:spPr>
        <p:txBody>
          <a:bodyPr wrap="square" lIns="0">
            <a:spAutoFit/>
          </a:bodyPr>
          <a:lstStyle/>
          <a:p>
            <a:pPr algn="l">
              <a:defRPr sz="1800">
                <a:solidFill>
                  <a:srgbClr val="1F2937"/>
                </a:solidFill>
                <a:latin typeface="Calibri"/>
              </a:defRPr>
            </a:pPr>
            <a:r>
              <a:t>[Course / Programme]</a:t>
            </a:r>
          </a:p>
        </p:txBody>
      </p:sp>
      <p:sp>
        <p:nvSpPr>
          <p:cNvPr id="10" name="TextBox 9"/>
          <p:cNvSpPr txBox="1"/>
          <p:nvPr/>
        </p:nvSpPr>
        <p:spPr>
          <a:xfrm>
            <a:off x="804672" y="5065776"/>
            <a:ext cx="1325880" cy="310896"/>
          </a:xfrm>
          <a:prstGeom prst="rect">
            <a:avLst/>
          </a:prstGeom>
          <a:noFill/>
        </p:spPr>
        <p:txBody>
          <a:bodyPr wrap="square" lIns="0">
            <a:spAutoFit/>
          </a:bodyPr>
          <a:lstStyle/>
          <a:p>
            <a:pPr algn="l">
              <a:defRPr sz="1200" b="1">
                <a:solidFill>
                  <a:srgbClr val="0D9488"/>
                </a:solidFill>
                <a:latin typeface="Calibri"/>
              </a:defRPr>
            </a:pPr>
            <a:r>
              <a:t>INSTITUTION</a:t>
            </a:r>
          </a:p>
        </p:txBody>
      </p:sp>
      <p:sp>
        <p:nvSpPr>
          <p:cNvPr id="11" name="TextBox 10"/>
          <p:cNvSpPr txBox="1"/>
          <p:nvPr/>
        </p:nvSpPr>
        <p:spPr>
          <a:xfrm>
            <a:off x="2057400" y="5038344"/>
            <a:ext cx="4800600" cy="384048"/>
          </a:xfrm>
          <a:prstGeom prst="rect">
            <a:avLst/>
          </a:prstGeom>
          <a:noFill/>
        </p:spPr>
        <p:txBody>
          <a:bodyPr wrap="square" lIns="0">
            <a:spAutoFit/>
          </a:bodyPr>
          <a:lstStyle/>
          <a:p>
            <a:pPr algn="l">
              <a:defRPr sz="1800">
                <a:solidFill>
                  <a:srgbClr val="1F2937"/>
                </a:solidFill>
                <a:latin typeface="Calibri"/>
              </a:defRPr>
            </a:pPr>
            <a:r>
              <a:rPr dirty="0"/>
              <a:t>[Institution]</a:t>
            </a:r>
          </a:p>
        </p:txBody>
      </p:sp>
      <p:sp>
        <p:nvSpPr>
          <p:cNvPr id="12" name="TextBox 11"/>
          <p:cNvSpPr txBox="1"/>
          <p:nvPr/>
        </p:nvSpPr>
        <p:spPr>
          <a:xfrm>
            <a:off x="804672" y="5577840"/>
            <a:ext cx="1325880" cy="310896"/>
          </a:xfrm>
          <a:prstGeom prst="rect">
            <a:avLst/>
          </a:prstGeom>
          <a:noFill/>
        </p:spPr>
        <p:txBody>
          <a:bodyPr wrap="square" lIns="0">
            <a:spAutoFit/>
          </a:bodyPr>
          <a:lstStyle/>
          <a:p>
            <a:pPr algn="l">
              <a:defRPr sz="1200" b="1">
                <a:solidFill>
                  <a:srgbClr val="0D9488"/>
                </a:solidFill>
                <a:latin typeface="Calibri"/>
              </a:defRPr>
            </a:pPr>
            <a:r>
              <a:t>DATE</a:t>
            </a:r>
          </a:p>
        </p:txBody>
      </p:sp>
      <p:sp>
        <p:nvSpPr>
          <p:cNvPr id="13" name="TextBox 12"/>
          <p:cNvSpPr txBox="1"/>
          <p:nvPr/>
        </p:nvSpPr>
        <p:spPr>
          <a:xfrm>
            <a:off x="2057400" y="5550407"/>
            <a:ext cx="4800600" cy="384048"/>
          </a:xfrm>
          <a:prstGeom prst="rect">
            <a:avLst/>
          </a:prstGeom>
          <a:noFill/>
        </p:spPr>
        <p:txBody>
          <a:bodyPr wrap="square" lIns="0">
            <a:spAutoFit/>
          </a:bodyPr>
          <a:lstStyle/>
          <a:p>
            <a:pPr algn="l">
              <a:defRPr sz="1800">
                <a:solidFill>
                  <a:srgbClr val="1F2937"/>
                </a:solidFill>
                <a:latin typeface="Calibri"/>
              </a:defRPr>
            </a:pPr>
            <a:r>
              <a:t>[Date]</a:t>
            </a:r>
          </a:p>
        </p:txBody>
      </p:sp>
      <p:sp>
        <p:nvSpPr>
          <p:cNvPr id="14" name="Oval 13"/>
          <p:cNvSpPr/>
          <p:nvPr/>
        </p:nvSpPr>
        <p:spPr>
          <a:xfrm>
            <a:off x="7818120" y="1325880"/>
            <a:ext cx="3291840" cy="3291840"/>
          </a:xfrm>
          <a:prstGeom prst="ellipse">
            <a:avLst/>
          </a:prstGeom>
          <a:solidFill>
            <a:srgbClr val="F1F0FF"/>
          </a:solidFill>
          <a:ln w="27940">
            <a:solidFill>
              <a:srgbClr val="3730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936992" y="2487168"/>
            <a:ext cx="3054096" cy="877824"/>
          </a:xfrm>
          <a:prstGeom prst="ellipse">
            <a:avLst/>
          </a:prstGeom>
          <a:noFill/>
          <a:ln w="203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61120" y="1444752"/>
            <a:ext cx="1005840" cy="3054096"/>
          </a:xfrm>
          <a:prstGeom prst="ellipse">
            <a:avLst/>
          </a:prstGeom>
          <a:noFill/>
          <a:ln w="1778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9464040" y="1078992"/>
            <a:ext cx="0" cy="3803904"/>
          </a:xfrm>
          <a:prstGeom prst="line">
            <a:avLst/>
          </a:prstGeom>
          <a:ln w="16510">
            <a:solidFill>
              <a:srgbClr val="3730A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571231" y="2971800"/>
            <a:ext cx="3785617" cy="0"/>
          </a:xfrm>
          <a:prstGeom prst="line">
            <a:avLst/>
          </a:prstGeom>
          <a:ln w="16510">
            <a:solidFill>
              <a:srgbClr val="3730A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156448" y="1645920"/>
            <a:ext cx="2615184" cy="2670048"/>
          </a:xfrm>
          <a:prstGeom prst="line">
            <a:avLst/>
          </a:prstGeom>
          <a:ln w="15240">
            <a:solidFill>
              <a:srgbClr val="A5B4FC"/>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464040" y="1984248"/>
            <a:ext cx="941832" cy="987552"/>
          </a:xfrm>
          <a:prstGeom prst="line">
            <a:avLst/>
          </a:prstGeom>
          <a:ln w="38100">
            <a:solidFill>
              <a:srgbClr val="0D9488"/>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0332720" y="1911095"/>
            <a:ext cx="146304" cy="14630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0" y="777240"/>
            <a:ext cx="640080" cy="320040"/>
          </a:xfrm>
          <a:prstGeom prst="rect">
            <a:avLst/>
          </a:prstGeom>
          <a:noFill/>
        </p:spPr>
        <p:txBody>
          <a:bodyPr wrap="square" lIns="0" rIns="0">
            <a:spAutoFit/>
          </a:bodyPr>
          <a:lstStyle/>
          <a:p>
            <a:pPr algn="ctr">
              <a:defRPr sz="1600">
                <a:solidFill>
                  <a:srgbClr val="1F2937"/>
                </a:solidFill>
                <a:latin typeface="Cambria Math"/>
              </a:defRPr>
            </a:pPr>
            <a:r>
              <a:t>|0⟩</a:t>
            </a:r>
          </a:p>
        </p:txBody>
      </p:sp>
      <p:sp>
        <p:nvSpPr>
          <p:cNvPr id="23" name="TextBox 22"/>
          <p:cNvSpPr txBox="1"/>
          <p:nvPr/>
        </p:nvSpPr>
        <p:spPr>
          <a:xfrm>
            <a:off x="9144000" y="4882896"/>
            <a:ext cx="640080" cy="320040"/>
          </a:xfrm>
          <a:prstGeom prst="rect">
            <a:avLst/>
          </a:prstGeom>
          <a:noFill/>
        </p:spPr>
        <p:txBody>
          <a:bodyPr wrap="square" lIns="0" rIns="0">
            <a:spAutoFit/>
          </a:bodyPr>
          <a:lstStyle/>
          <a:p>
            <a:pPr algn="ctr">
              <a:defRPr sz="1600">
                <a:solidFill>
                  <a:srgbClr val="1F2937"/>
                </a:solidFill>
                <a:latin typeface="Cambria Math"/>
              </a:defRPr>
            </a:pPr>
            <a:r>
              <a:t>|1⟩</a:t>
            </a:r>
          </a:p>
        </p:txBody>
      </p:sp>
      <p:sp>
        <p:nvSpPr>
          <p:cNvPr id="24" name="TextBox 23"/>
          <p:cNvSpPr txBox="1"/>
          <p:nvPr/>
        </p:nvSpPr>
        <p:spPr>
          <a:xfrm>
            <a:off x="7077456" y="2798064"/>
            <a:ext cx="640080" cy="320040"/>
          </a:xfrm>
          <a:prstGeom prst="rect">
            <a:avLst/>
          </a:prstGeom>
          <a:noFill/>
        </p:spPr>
        <p:txBody>
          <a:bodyPr wrap="square" lIns="0" rIns="0">
            <a:spAutoFit/>
          </a:bodyPr>
          <a:lstStyle/>
          <a:p>
            <a:pPr algn="ctr">
              <a:defRPr sz="1600">
                <a:solidFill>
                  <a:srgbClr val="1F2937"/>
                </a:solidFill>
                <a:latin typeface="Cambria Math"/>
              </a:defRPr>
            </a:pPr>
            <a:r>
              <a:t>|+⟩</a:t>
            </a:r>
          </a:p>
        </p:txBody>
      </p:sp>
      <p:sp>
        <p:nvSpPr>
          <p:cNvPr id="25" name="TextBox 24"/>
          <p:cNvSpPr txBox="1"/>
          <p:nvPr/>
        </p:nvSpPr>
        <p:spPr>
          <a:xfrm>
            <a:off x="11045952" y="2798064"/>
            <a:ext cx="640080" cy="320040"/>
          </a:xfrm>
          <a:prstGeom prst="rect">
            <a:avLst/>
          </a:prstGeom>
          <a:noFill/>
        </p:spPr>
        <p:txBody>
          <a:bodyPr wrap="square" lIns="0" rIns="0">
            <a:spAutoFit/>
          </a:bodyPr>
          <a:lstStyle/>
          <a:p>
            <a:pPr algn="ctr">
              <a:defRPr sz="1600">
                <a:solidFill>
                  <a:srgbClr val="1F2937"/>
                </a:solidFill>
                <a:latin typeface="Cambria Math"/>
              </a:defRPr>
            </a:pPr>
            <a:r>
              <a:t>|−⟩</a:t>
            </a:r>
          </a:p>
        </p:txBody>
      </p:sp>
      <p:sp>
        <p:nvSpPr>
          <p:cNvPr id="26" name="TextBox 25"/>
          <p:cNvSpPr txBox="1"/>
          <p:nvPr/>
        </p:nvSpPr>
        <p:spPr>
          <a:xfrm>
            <a:off x="10442448" y="1664208"/>
            <a:ext cx="566928" cy="292608"/>
          </a:xfrm>
          <a:prstGeom prst="rect">
            <a:avLst/>
          </a:prstGeom>
          <a:noFill/>
        </p:spPr>
        <p:txBody>
          <a:bodyPr wrap="square" lIns="0" rIns="0">
            <a:spAutoFit/>
          </a:bodyPr>
          <a:lstStyle/>
          <a:p>
            <a:pPr algn="ctr">
              <a:defRPr sz="1700">
                <a:solidFill>
                  <a:srgbClr val="0D9488"/>
                </a:solidFill>
                <a:latin typeface="Cambria Math"/>
              </a:defRPr>
            </a:pPr>
            <a:r>
              <a:t>|ψ⟩</a:t>
            </a:r>
          </a:p>
        </p:txBody>
      </p:sp>
      <p:sp>
        <p:nvSpPr>
          <p:cNvPr id="27" name="TextBox 26"/>
          <p:cNvSpPr txBox="1"/>
          <p:nvPr/>
        </p:nvSpPr>
        <p:spPr>
          <a:xfrm>
            <a:off x="7882127" y="5175504"/>
            <a:ext cx="3246120" cy="658368"/>
          </a:xfrm>
          <a:prstGeom prst="rect">
            <a:avLst/>
          </a:prstGeom>
          <a:noFill/>
        </p:spPr>
        <p:txBody>
          <a:bodyPr wrap="square">
            <a:spAutoFit/>
          </a:bodyPr>
          <a:lstStyle/>
          <a:p>
            <a:pPr algn="ctr">
              <a:defRPr sz="1400" i="1">
                <a:solidFill>
                  <a:srgbClr val="5B6473"/>
                </a:solidFill>
                <a:latin typeface="Calibri"/>
              </a:defRPr>
            </a:pPr>
            <a:r>
              <a:t>A two-level quantum state,</a:t>
            </a:r>
            <a:br/>
            <a:r>
              <a:t>visualized on the Bloch sphere.</a:t>
            </a:r>
          </a:p>
        </p:txBody>
      </p:sp>
      <p:sp>
        <p:nvSpPr>
          <p:cNvPr id="28" name="Rectangle 27"/>
          <p:cNvSpPr/>
          <p:nvPr/>
        </p:nvSpPr>
        <p:spPr>
          <a:xfrm>
            <a:off x="8083296" y="6007608"/>
            <a:ext cx="272491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pPr algn="l"/>
            <a:r>
              <a:rPr sz="3000" b="1">
                <a:solidFill>
                  <a:srgbClr val="3730A3"/>
                </a:solidFill>
                <a:latin typeface="Calibri"/>
              </a:rPr>
              <a:t>What is a qubit?</a:t>
            </a:r>
          </a:p>
        </p:txBody>
      </p:sp>
      <p:sp>
        <p:nvSpPr>
          <p:cNvPr id="3" name="Rectangle 2"/>
          <p:cNvSpPr/>
          <p:nvPr/>
        </p:nvSpPr>
        <p:spPr>
          <a:xfrm>
            <a:off x="566928" y="1371600"/>
            <a:ext cx="2743200"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627632"/>
            <a:ext cx="10972800" cy="502920"/>
          </a:xfrm>
          <a:prstGeom prst="rect">
            <a:avLst/>
          </a:prstGeom>
          <a:noFill/>
        </p:spPr>
        <p:txBody>
          <a:bodyPr wrap="square" lIns="0">
            <a:spAutoFit/>
          </a:bodyPr>
          <a:lstStyle/>
          <a:p>
            <a:pPr>
              <a:defRPr sz="2100">
                <a:solidFill>
                  <a:srgbClr val="1F2937"/>
                </a:solidFill>
                <a:latin typeface="Calibri"/>
              </a:defRPr>
            </a:pPr>
            <a:r>
              <a:t>A qubit is a controllable two-level quantum system—not simply a smaller classical bit.</a:t>
            </a:r>
          </a:p>
        </p:txBody>
      </p:sp>
      <p:sp>
        <p:nvSpPr>
          <p:cNvPr id="5" name="Rectangle 4"/>
          <p:cNvSpPr/>
          <p:nvPr/>
        </p:nvSpPr>
        <p:spPr>
          <a:xfrm>
            <a:off x="5212080" y="2304288"/>
            <a:ext cx="22860" cy="2907792"/>
          </a:xfrm>
          <a:prstGeom prst="rect">
            <a:avLst/>
          </a:prstGeom>
          <a:solidFill>
            <a:srgbClr val="A5B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2340864"/>
            <a:ext cx="4206240" cy="292608"/>
          </a:xfrm>
          <a:prstGeom prst="rect">
            <a:avLst/>
          </a:prstGeom>
          <a:noFill/>
        </p:spPr>
        <p:txBody>
          <a:bodyPr wrap="square" lIns="0" tIns="0" rIns="0" bIns="0">
            <a:spAutoFit/>
          </a:bodyPr>
          <a:lstStyle/>
          <a:p>
            <a:pPr algn="l">
              <a:defRPr sz="1400" b="1" i="0">
                <a:solidFill>
                  <a:srgbClr val="0D9488"/>
                </a:solidFill>
                <a:latin typeface="Calibri"/>
              </a:defRPr>
            </a:pPr>
            <a:r>
              <a:t>CLASSICAL BIT</a:t>
            </a:r>
          </a:p>
        </p:txBody>
      </p:sp>
      <p:sp>
        <p:nvSpPr>
          <p:cNvPr id="7" name="TextBox 6"/>
          <p:cNvSpPr txBox="1"/>
          <p:nvPr/>
        </p:nvSpPr>
        <p:spPr>
          <a:xfrm>
            <a:off x="5650992" y="2340864"/>
            <a:ext cx="5669280" cy="292608"/>
          </a:xfrm>
          <a:prstGeom prst="rect">
            <a:avLst/>
          </a:prstGeom>
          <a:noFill/>
        </p:spPr>
        <p:txBody>
          <a:bodyPr wrap="square" lIns="0" tIns="0" rIns="0" bIns="0">
            <a:spAutoFit/>
          </a:bodyPr>
          <a:lstStyle/>
          <a:p>
            <a:pPr algn="l">
              <a:defRPr sz="1400" b="1" i="0">
                <a:solidFill>
                  <a:srgbClr val="0D9488"/>
                </a:solidFill>
                <a:latin typeface="Calibri"/>
              </a:defRPr>
            </a:pPr>
            <a:r>
              <a:t>QUANTUM BIT</a:t>
            </a:r>
          </a:p>
        </p:txBody>
      </p:sp>
      <p:sp>
        <p:nvSpPr>
          <p:cNvPr id="8" name="Oval 7"/>
          <p:cNvSpPr/>
          <p:nvPr/>
        </p:nvSpPr>
        <p:spPr>
          <a:xfrm>
            <a:off x="960120" y="2889504"/>
            <a:ext cx="1207008" cy="1207008"/>
          </a:xfrm>
          <a:prstGeom prst="ellipse">
            <a:avLst/>
          </a:prstGeom>
          <a:solidFill>
            <a:srgbClr val="EEF2FF"/>
          </a:solidFill>
          <a:ln w="25400">
            <a:solidFill>
              <a:srgbClr val="3730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800" b="1">
                <a:solidFill>
                  <a:srgbClr val="3730A3"/>
                </a:solidFill>
                <a:latin typeface="Calibri"/>
              </a:defRPr>
            </a:pPr>
            <a:r>
              <a:t>0</a:t>
            </a:r>
          </a:p>
        </p:txBody>
      </p:sp>
      <p:sp>
        <p:nvSpPr>
          <p:cNvPr id="9" name="Oval 8"/>
          <p:cNvSpPr/>
          <p:nvPr/>
        </p:nvSpPr>
        <p:spPr>
          <a:xfrm>
            <a:off x="3337560" y="2889504"/>
            <a:ext cx="1207008" cy="1207008"/>
          </a:xfrm>
          <a:prstGeom prst="ellipse">
            <a:avLst/>
          </a:prstGeom>
          <a:solidFill>
            <a:srgbClr val="EEF2FF"/>
          </a:solidFill>
          <a:ln w="25400">
            <a:solidFill>
              <a:srgbClr val="3730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800" b="1">
                <a:solidFill>
                  <a:srgbClr val="3730A3"/>
                </a:solidFill>
                <a:latin typeface="Calibri"/>
              </a:defRPr>
            </a:pPr>
            <a:r>
              <a:t>1</a:t>
            </a:r>
          </a:p>
        </p:txBody>
      </p:sp>
      <p:sp>
        <p:nvSpPr>
          <p:cNvPr id="10" name="TextBox 9"/>
          <p:cNvSpPr txBox="1"/>
          <p:nvPr/>
        </p:nvSpPr>
        <p:spPr>
          <a:xfrm>
            <a:off x="2331720" y="3291840"/>
            <a:ext cx="502920" cy="320040"/>
          </a:xfrm>
          <a:prstGeom prst="rect">
            <a:avLst/>
          </a:prstGeom>
          <a:noFill/>
        </p:spPr>
        <p:txBody>
          <a:bodyPr wrap="square" lIns="0" tIns="0" rIns="0" bIns="0">
            <a:spAutoFit/>
          </a:bodyPr>
          <a:lstStyle/>
          <a:p>
            <a:pPr algn="ctr">
              <a:defRPr sz="1300" b="1" i="0">
                <a:solidFill>
                  <a:srgbClr val="5B6473"/>
                </a:solidFill>
                <a:latin typeface="Calibri"/>
              </a:defRPr>
            </a:pPr>
            <a:r>
              <a:t>OR</a:t>
            </a:r>
          </a:p>
        </p:txBody>
      </p:sp>
      <p:sp>
        <p:nvSpPr>
          <p:cNvPr id="11" name="TextBox 10"/>
          <p:cNvSpPr txBox="1"/>
          <p:nvPr/>
        </p:nvSpPr>
        <p:spPr>
          <a:xfrm>
            <a:off x="868680" y="4343400"/>
            <a:ext cx="3794760" cy="365760"/>
          </a:xfrm>
          <a:prstGeom prst="rect">
            <a:avLst/>
          </a:prstGeom>
          <a:noFill/>
        </p:spPr>
        <p:txBody>
          <a:bodyPr wrap="square" lIns="0" tIns="0" rIns="0" bIns="0">
            <a:spAutoFit/>
          </a:bodyPr>
          <a:lstStyle/>
          <a:p>
            <a:pPr algn="ctr">
              <a:defRPr sz="1800" b="0" i="0">
                <a:solidFill>
                  <a:srgbClr val="1F2937"/>
                </a:solidFill>
                <a:latin typeface="Calibri"/>
              </a:defRPr>
            </a:pPr>
            <a:r>
              <a:t>One definite value at a time</a:t>
            </a:r>
          </a:p>
        </p:txBody>
      </p:sp>
      <p:sp>
        <p:nvSpPr>
          <p:cNvPr id="12" name="TextBox 11"/>
          <p:cNvSpPr txBox="1"/>
          <p:nvPr/>
        </p:nvSpPr>
        <p:spPr>
          <a:xfrm>
            <a:off x="868680" y="4754880"/>
            <a:ext cx="3794760" cy="347472"/>
          </a:xfrm>
          <a:prstGeom prst="rect">
            <a:avLst/>
          </a:prstGeom>
          <a:noFill/>
        </p:spPr>
        <p:txBody>
          <a:bodyPr wrap="square" lIns="0" tIns="0" rIns="0" bIns="0">
            <a:spAutoFit/>
          </a:bodyPr>
          <a:lstStyle/>
          <a:p>
            <a:pPr algn="ctr">
              <a:defRPr sz="1400" b="0" i="0">
                <a:solidFill>
                  <a:srgbClr val="5B6473"/>
                </a:solidFill>
                <a:latin typeface="Calibri"/>
              </a:defRPr>
            </a:pPr>
            <a:r>
              <a:t>Read without changing its logical value</a:t>
            </a:r>
          </a:p>
        </p:txBody>
      </p:sp>
      <p:sp>
        <p:nvSpPr>
          <p:cNvPr id="13" name="TextBox 12"/>
          <p:cNvSpPr txBox="1"/>
          <p:nvPr/>
        </p:nvSpPr>
        <p:spPr>
          <a:xfrm>
            <a:off x="5669280" y="2788920"/>
            <a:ext cx="5394960" cy="731520"/>
          </a:xfrm>
          <a:prstGeom prst="rect">
            <a:avLst/>
          </a:prstGeom>
          <a:noFill/>
        </p:spPr>
        <p:txBody>
          <a:bodyPr wrap="square" lIns="0" tIns="0" rIns="0" bIns="0">
            <a:spAutoFit/>
          </a:bodyPr>
          <a:lstStyle/>
          <a:p>
            <a:pPr algn="ctr">
              <a:defRPr sz="3400" b="0" i="0">
                <a:solidFill>
                  <a:srgbClr val="3730A3"/>
                </a:solidFill>
                <a:latin typeface="Cambria Math"/>
              </a:defRPr>
            </a:pPr>
            <a:r>
              <a:t>|ψ⟩ = α|0⟩ + β|1⟩</a:t>
            </a:r>
          </a:p>
        </p:txBody>
      </p:sp>
      <p:sp>
        <p:nvSpPr>
          <p:cNvPr id="14" name="TextBox 13"/>
          <p:cNvSpPr txBox="1"/>
          <p:nvPr/>
        </p:nvSpPr>
        <p:spPr>
          <a:xfrm>
            <a:off x="5669280" y="3520440"/>
            <a:ext cx="5394960" cy="365760"/>
          </a:xfrm>
          <a:prstGeom prst="rect">
            <a:avLst/>
          </a:prstGeom>
          <a:noFill/>
        </p:spPr>
        <p:txBody>
          <a:bodyPr wrap="square" lIns="0" tIns="0" rIns="0" bIns="0">
            <a:spAutoFit/>
          </a:bodyPr>
          <a:lstStyle/>
          <a:p>
            <a:pPr algn="ctr">
              <a:defRPr sz="1900" b="1" i="0">
                <a:solidFill>
                  <a:srgbClr val="0D9488"/>
                </a:solidFill>
                <a:latin typeface="Cambria Math"/>
              </a:defRPr>
            </a:pPr>
            <a:r>
              <a:t>|α|² + |β|² = 1</a:t>
            </a:r>
          </a:p>
        </p:txBody>
      </p:sp>
      <p:sp>
        <p:nvSpPr>
          <p:cNvPr id="15" name="TextBox 14"/>
          <p:cNvSpPr txBox="1"/>
          <p:nvPr/>
        </p:nvSpPr>
        <p:spPr>
          <a:xfrm>
            <a:off x="5760720" y="4133087"/>
            <a:ext cx="2148840" cy="310896"/>
          </a:xfrm>
          <a:prstGeom prst="rect">
            <a:avLst/>
          </a:prstGeom>
          <a:noFill/>
        </p:spPr>
        <p:txBody>
          <a:bodyPr wrap="square" lIns="0" tIns="0" rIns="0" bIns="0">
            <a:spAutoFit/>
          </a:bodyPr>
          <a:lstStyle/>
          <a:p>
            <a:pPr algn="ctr">
              <a:defRPr sz="1200" b="1" i="0">
                <a:solidFill>
                  <a:srgbClr val="0D9488"/>
                </a:solidFill>
                <a:latin typeface="Calibri"/>
              </a:defRPr>
            </a:pPr>
            <a:r>
              <a:t>BEFORE MEASUREMENT</a:t>
            </a:r>
          </a:p>
        </p:txBody>
      </p:sp>
      <p:sp>
        <p:nvSpPr>
          <p:cNvPr id="16" name="TextBox 15"/>
          <p:cNvSpPr txBox="1"/>
          <p:nvPr/>
        </p:nvSpPr>
        <p:spPr>
          <a:xfrm>
            <a:off x="5596128" y="4498848"/>
            <a:ext cx="2468880" cy="603504"/>
          </a:xfrm>
          <a:prstGeom prst="rect">
            <a:avLst/>
          </a:prstGeom>
          <a:noFill/>
        </p:spPr>
        <p:txBody>
          <a:bodyPr wrap="square" lIns="0" tIns="0" rIns="0" bIns="0">
            <a:spAutoFit/>
          </a:bodyPr>
          <a:lstStyle/>
          <a:p>
            <a:pPr algn="ctr">
              <a:defRPr sz="1800" b="1" i="0">
                <a:solidFill>
                  <a:srgbClr val="1F2937"/>
                </a:solidFill>
                <a:latin typeface="Calibri"/>
              </a:defRPr>
            </a:pPr>
            <a:r>
              <a:t>Amplitudes +</a:t>
            </a:r>
            <a:br/>
            <a:r>
              <a:t>relative phase</a:t>
            </a:r>
          </a:p>
        </p:txBody>
      </p:sp>
      <p:sp>
        <p:nvSpPr>
          <p:cNvPr id="17" name="TextBox 16"/>
          <p:cNvSpPr txBox="1"/>
          <p:nvPr/>
        </p:nvSpPr>
        <p:spPr>
          <a:xfrm>
            <a:off x="9015984" y="4133087"/>
            <a:ext cx="1938528" cy="310896"/>
          </a:xfrm>
          <a:prstGeom prst="rect">
            <a:avLst/>
          </a:prstGeom>
          <a:noFill/>
        </p:spPr>
        <p:txBody>
          <a:bodyPr wrap="square" lIns="0" tIns="0" rIns="0" bIns="0">
            <a:spAutoFit/>
          </a:bodyPr>
          <a:lstStyle/>
          <a:p>
            <a:pPr algn="ctr">
              <a:defRPr sz="1200" b="1" i="0">
                <a:solidFill>
                  <a:srgbClr val="0D9488"/>
                </a:solidFill>
                <a:latin typeface="Calibri"/>
              </a:defRPr>
            </a:pPr>
            <a:r>
              <a:t>AT MEASUREMENT</a:t>
            </a:r>
          </a:p>
        </p:txBody>
      </p:sp>
      <p:sp>
        <p:nvSpPr>
          <p:cNvPr id="18" name="TextBox 17"/>
          <p:cNvSpPr txBox="1"/>
          <p:nvPr/>
        </p:nvSpPr>
        <p:spPr>
          <a:xfrm>
            <a:off x="8778240" y="4498848"/>
            <a:ext cx="2395728" cy="603504"/>
          </a:xfrm>
          <a:prstGeom prst="rect">
            <a:avLst/>
          </a:prstGeom>
          <a:noFill/>
        </p:spPr>
        <p:txBody>
          <a:bodyPr wrap="square" lIns="0" tIns="0" rIns="0" bIns="0">
            <a:spAutoFit/>
          </a:bodyPr>
          <a:lstStyle/>
          <a:p>
            <a:pPr algn="ctr">
              <a:defRPr sz="1800" b="1" i="0">
                <a:solidFill>
                  <a:srgbClr val="1F2937"/>
                </a:solidFill>
                <a:latin typeface="Calibri"/>
              </a:defRPr>
            </a:pPr>
            <a:r>
              <a:t>One outcome:</a:t>
            </a:r>
            <a:br/>
            <a:r>
              <a:t>0 or 1</a:t>
            </a:r>
          </a:p>
        </p:txBody>
      </p:sp>
      <p:sp>
        <p:nvSpPr>
          <p:cNvPr id="19" name="TextBox 18"/>
          <p:cNvSpPr txBox="1"/>
          <p:nvPr/>
        </p:nvSpPr>
        <p:spPr>
          <a:xfrm>
            <a:off x="8065008" y="4626864"/>
            <a:ext cx="548640" cy="292608"/>
          </a:xfrm>
          <a:prstGeom prst="rect">
            <a:avLst/>
          </a:prstGeom>
          <a:noFill/>
        </p:spPr>
        <p:txBody>
          <a:bodyPr wrap="square" lIns="0" tIns="0" rIns="0" bIns="0">
            <a:spAutoFit/>
          </a:bodyPr>
          <a:lstStyle/>
          <a:p>
            <a:pPr algn="ctr">
              <a:defRPr sz="2400" b="1" i="0">
                <a:solidFill>
                  <a:srgbClr val="3730A3"/>
                </a:solidFill>
                <a:latin typeface="Calibri"/>
              </a:defRPr>
            </a:pPr>
            <a:r>
              <a:t>→</a:t>
            </a:r>
          </a:p>
        </p:txBody>
      </p:sp>
      <p:sp>
        <p:nvSpPr>
          <p:cNvPr id="20" name="Rectangle 19"/>
          <p:cNvSpPr/>
          <p:nvPr/>
        </p:nvSpPr>
        <p:spPr>
          <a:xfrm>
            <a:off x="548640" y="5596128"/>
            <a:ext cx="11091672" cy="786384"/>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5596128"/>
            <a:ext cx="91440" cy="78638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 y="5696712"/>
            <a:ext cx="10515600" cy="530352"/>
          </a:xfrm>
          <a:prstGeom prst="rect">
            <a:avLst/>
          </a:prstGeom>
          <a:noFill/>
        </p:spPr>
        <p:txBody>
          <a:bodyPr wrap="square" lIns="0">
            <a:spAutoFit/>
          </a:bodyPr>
          <a:lstStyle/>
          <a:p>
            <a:r>
              <a:rPr sz="1500" b="1">
                <a:solidFill>
                  <a:srgbClr val="3730A3"/>
                </a:solidFill>
                <a:latin typeface="Calibri"/>
              </a:rPr>
              <a:t>Why it matters: </a:t>
            </a:r>
            <a:r>
              <a:rPr sz="1500">
                <a:solidFill>
                  <a:srgbClr val="1F2937"/>
                </a:solidFill>
                <a:latin typeface="Calibri"/>
              </a:rPr>
              <a:t>controlling amplitudes and phase lets probability paths reinforce or cancel through interference.</a:t>
            </a:r>
          </a:p>
        </p:txBody>
      </p:sp>
      <p:sp>
        <p:nvSpPr>
          <p:cNvPr id="23" name="TextBox 22"/>
          <p:cNvSpPr txBox="1"/>
          <p:nvPr/>
        </p:nvSpPr>
        <p:spPr>
          <a:xfrm>
            <a:off x="6400800" y="6473952"/>
            <a:ext cx="5166360" cy="219456"/>
          </a:xfrm>
          <a:prstGeom prst="rect">
            <a:avLst/>
          </a:prstGeom>
          <a:noFill/>
        </p:spPr>
        <p:txBody>
          <a:bodyPr wrap="square" lIns="0">
            <a:spAutoFit/>
          </a:bodyPr>
          <a:lstStyle/>
          <a:p>
            <a:pPr algn="r">
              <a:defRPr sz="1050" i="1">
                <a:solidFill>
                  <a:srgbClr val="0D9488"/>
                </a:solidFill>
                <a:latin typeface="Calibri"/>
              </a:defRPr>
            </a:pPr>
            <a:r>
              <a:t>Next: photon polarization gives us a physical qubit.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Photon Polarization as a Two-Level Quantum System</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pic>
        <p:nvPicPr>
          <p:cNvPr id="4" name="Image 0" descr="Illustration of a laser source emitting a single photon along a beam toward a polarizer, with vertical and horizontal polarization axes shown as double-headed arrows."/>
          <p:cNvPicPr>
            <a:picLocks noChangeAspect="1"/>
          </p:cNvPicPr>
          <p:nvPr/>
        </p:nvPicPr>
        <p:blipFill>
          <a:blip r:embed="rId3"/>
          <a:stretch>
            <a:fillRect/>
          </a:stretch>
        </p:blipFill>
        <p:spPr>
          <a:xfrm>
            <a:off x="548640" y="1821180"/>
            <a:ext cx="5440680" cy="3627120"/>
          </a:xfrm>
          <a:prstGeom prst="rect">
            <a:avLst/>
          </a:prstGeom>
        </p:spPr>
      </p:pic>
      <p:sp>
        <p:nvSpPr>
          <p:cNvPr id="5" name="Text 2"/>
          <p:cNvSpPr/>
          <p:nvPr/>
        </p:nvSpPr>
        <p:spPr>
          <a:xfrm>
            <a:off x="548640" y="5504688"/>
            <a:ext cx="5440680" cy="365760"/>
          </a:xfrm>
          <a:prstGeom prst="rect">
            <a:avLst/>
          </a:prstGeom>
          <a:noFill/>
          <a:ln/>
        </p:spPr>
        <p:txBody>
          <a:bodyPr wrap="square" lIns="0" tIns="0" rIns="0" bIns="0" rtlCol="0" anchor="ctr"/>
          <a:lstStyle/>
          <a:p>
            <a:pPr marL="0" indent="0" algn="ctr">
              <a:buNone/>
            </a:pPr>
            <a:r>
              <a:rPr lang="en-US" sz="1150" b="1" dirty="0">
                <a:solidFill>
                  <a:srgbClr val="3730A3"/>
                </a:solidFill>
                <a:latin typeface="Cambria Math" pitchFamily="34" charset="0"/>
                <a:ea typeface="Cambria Math" pitchFamily="34" charset="-122"/>
                <a:cs typeface="Cambria Math" pitchFamily="34" charset="-120"/>
              </a:rPr>
              <a:t>Laser source   ·   Single photon   ·   Vertical |0⟩   ·   Horizontal |1⟩</a:t>
            </a:r>
            <a:endParaRPr lang="en-US" sz="1150" dirty="0"/>
          </a:p>
        </p:txBody>
      </p:sp>
      <p:sp>
        <p:nvSpPr>
          <p:cNvPr id="6" name="Text 3"/>
          <p:cNvSpPr/>
          <p:nvPr/>
        </p:nvSpPr>
        <p:spPr>
          <a:xfrm>
            <a:off x="6355080" y="1783080"/>
            <a:ext cx="5257800" cy="3566160"/>
          </a:xfrm>
          <a:prstGeom prst="rect">
            <a:avLst/>
          </a:prstGeom>
          <a:noFill/>
          <a:ln/>
        </p:spPr>
        <p:txBody>
          <a:bodyPr wrap="square" rtlCol="0" anchor="t"/>
          <a:lstStyle/>
          <a:p>
            <a:pPr marL="228600" indent="-228600" algn="l">
              <a:lnSpc>
                <a:spcPct val="105000"/>
              </a:lnSpc>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A qubit requires exactly two distinguishable states.</a:t>
            </a:r>
            <a:endParaRPr lang="en-US" sz="1700" dirty="0"/>
          </a:p>
          <a:p>
            <a:pPr marL="228600" indent="-228600" algn="l">
              <a:lnSpc>
                <a:spcPct val="105000"/>
              </a:lnSpc>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Polarization of a single photon naturally provides two orthogonal states.</a:t>
            </a:r>
            <a:endParaRPr lang="en-US" sz="1700" dirty="0"/>
          </a:p>
          <a:p>
            <a:pPr marL="228600" indent="-228600" algn="l">
              <a:lnSpc>
                <a:spcPct val="105000"/>
              </a:lnSpc>
              <a:spcAft>
                <a:spcPts val="400"/>
              </a:spcAft>
              <a:buSzPct val="100000"/>
              <a:buChar char="•"/>
            </a:pPr>
            <a:r>
              <a:rPr lang="en-US" sz="1700" dirty="0">
                <a:solidFill>
                  <a:srgbClr val="1F2937"/>
                </a:solidFill>
                <a:latin typeface="Calibri" pitchFamily="34" charset="0"/>
                <a:ea typeface="Calibri" pitchFamily="34" charset="-122"/>
                <a:cs typeface="Calibri" pitchFamily="34" charset="-120"/>
              </a:rPr>
              <a:t>We define:</a:t>
            </a:r>
            <a:endParaRPr lang="en-US" sz="1700" dirty="0"/>
          </a:p>
          <a:p>
            <a:pPr marL="457200" lvl="1" indent="-228600" algn="l">
              <a:lnSpc>
                <a:spcPct val="105000"/>
              </a:lnSpc>
              <a:spcAft>
                <a:spcPts val="200"/>
              </a:spcAft>
              <a:buSzPct val="100000"/>
              <a:buChar char="–"/>
            </a:pPr>
            <a:r>
              <a:rPr lang="en-US" sz="1700" b="1" dirty="0">
                <a:solidFill>
                  <a:srgbClr val="0D9488"/>
                </a:solidFill>
                <a:latin typeface="Cambria Math" pitchFamily="34" charset="0"/>
                <a:ea typeface="Cambria Math" pitchFamily="34" charset="-122"/>
                <a:cs typeface="Cambria Math" pitchFamily="34" charset="-120"/>
              </a:rPr>
              <a:t>Vertical polarization  →  |0⟩</a:t>
            </a:r>
            <a:endParaRPr lang="en-US" sz="1700" dirty="0"/>
          </a:p>
          <a:p>
            <a:pPr marL="457200" lvl="1" indent="-228600" algn="l">
              <a:lnSpc>
                <a:spcPct val="105000"/>
              </a:lnSpc>
              <a:spcAft>
                <a:spcPts val="1000"/>
              </a:spcAft>
              <a:buSzPct val="100000"/>
              <a:buChar char="–"/>
            </a:pPr>
            <a:r>
              <a:rPr lang="en-US" sz="1700" b="1" dirty="0">
                <a:solidFill>
                  <a:srgbClr val="0D9488"/>
                </a:solidFill>
                <a:latin typeface="Cambria Math" pitchFamily="34" charset="0"/>
                <a:ea typeface="Cambria Math" pitchFamily="34" charset="-122"/>
                <a:cs typeface="Cambria Math" pitchFamily="34" charset="-120"/>
              </a:rPr>
              <a:t>Horizontal polarization  →  |1⟩</a:t>
            </a:r>
            <a:endParaRPr lang="en-US" sz="1700" dirty="0"/>
          </a:p>
          <a:p>
            <a:pPr marL="228600" indent="-228600" algn="l">
              <a:lnSpc>
                <a:spcPct val="105000"/>
              </a:lnSpc>
              <a:buSzPct val="100000"/>
              <a:buChar char="•"/>
            </a:pPr>
            <a:r>
              <a:rPr lang="en-US" sz="1700" dirty="0">
                <a:solidFill>
                  <a:srgbClr val="1F2937"/>
                </a:solidFill>
                <a:latin typeface="Calibri" pitchFamily="34" charset="0"/>
                <a:ea typeface="Calibri" pitchFamily="34" charset="-122"/>
                <a:cs typeface="Calibri" pitchFamily="34" charset="-120"/>
              </a:rPr>
              <a:t>Every polarization state is a linear combination of these two basis states.</a:t>
            </a:r>
            <a:endParaRPr lang="en-US" sz="1700" dirty="0"/>
          </a:p>
        </p:txBody>
      </p:sp>
      <p:sp>
        <p:nvSpPr>
          <p:cNvPr id="7" name="Bottom note band">
            <a:extLst>
              <a:ext uri="{C183D7F6-B498-43B3-948B-1728B52AA6E4}">
                <adec:decorative xmlns:adec="http://schemas.microsoft.com/office/drawing/2017/decorative" val="1"/>
              </a:ext>
            </a:extLst>
          </p:cNvPr>
          <p:cNvSpPr/>
          <p:nvPr/>
        </p:nvSpPr>
        <p:spPr>
          <a:xfrm>
            <a:off x="548640" y="6016752"/>
            <a:ext cx="11091672" cy="566928"/>
          </a:xfrm>
          <a:prstGeom prst="rect">
            <a:avLst/>
          </a:prstGeom>
          <a:solidFill>
            <a:srgbClr val="EEF2FF"/>
          </a:solidFill>
          <a:ln/>
        </p:spPr>
        <p:txBody>
          <a:bodyPr/>
          <a:lstStyle/>
          <a:p>
            <a:endParaRPr lang="en-US"/>
          </a:p>
        </p:txBody>
      </p:sp>
      <p:sp>
        <p:nvSpPr>
          <p:cNvPr id="8" name="Bottom note accent">
            <a:extLst>
              <a:ext uri="{C183D7F6-B498-43B3-948B-1728B52AA6E4}">
                <adec:decorative xmlns:adec="http://schemas.microsoft.com/office/drawing/2017/decorative" val="1"/>
              </a:ext>
            </a:extLst>
          </p:cNvPr>
          <p:cNvSpPr/>
          <p:nvPr/>
        </p:nvSpPr>
        <p:spPr>
          <a:xfrm>
            <a:off x="548640" y="6016752"/>
            <a:ext cx="82296" cy="566928"/>
          </a:xfrm>
          <a:prstGeom prst="rect">
            <a:avLst/>
          </a:prstGeom>
          <a:solidFill>
            <a:srgbClr val="4F46E5"/>
          </a:solidFill>
          <a:ln/>
        </p:spPr>
        <p:txBody>
          <a:bodyPr/>
          <a:lstStyle/>
          <a:p>
            <a:endParaRPr lang="en-US"/>
          </a:p>
        </p:txBody>
      </p:sp>
      <p:sp>
        <p:nvSpPr>
          <p:cNvPr id="9" name="Text 6"/>
          <p:cNvSpPr/>
          <p:nvPr/>
        </p:nvSpPr>
        <p:spPr>
          <a:xfrm>
            <a:off x="777240" y="6016752"/>
            <a:ext cx="10744200" cy="566928"/>
          </a:xfrm>
          <a:prstGeom prst="rect">
            <a:avLst/>
          </a:prstGeom>
          <a:noFill/>
          <a:ln/>
        </p:spPr>
        <p:txBody>
          <a:bodyPr wrap="square" lIns="0" tIns="0" rIns="0" bIns="0" rtlCol="0" anchor="ctr"/>
          <a:lstStyle/>
          <a:p>
            <a:pPr marL="0" indent="0" algn="l">
              <a:buNone/>
            </a:pPr>
            <a:r>
              <a:rPr lang="en-US" sz="1350" i="1" dirty="0">
                <a:solidFill>
                  <a:srgbClr val="3730A3"/>
                </a:solidFill>
              </a:rPr>
              <a:t>Photon polarization provides one of the most intuitive physical realizations of a qubit.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The Three-Polarizer Experiment</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Laser body">
            <a:extLst>
              <a:ext uri="{C183D7F6-B498-43B3-948B-1728B52AA6E4}">
                <adec:decorative xmlns:adec="http://schemas.microsoft.com/office/drawing/2017/decorative" val="1"/>
              </a:ext>
            </a:extLst>
          </p:cNvPr>
          <p:cNvSpPr/>
          <p:nvPr/>
        </p:nvSpPr>
        <p:spPr>
          <a:xfrm>
            <a:off x="548640" y="2743200"/>
            <a:ext cx="1554480" cy="1005840"/>
          </a:xfrm>
          <a:prstGeom prst="roundRect">
            <a:avLst>
              <a:gd name="adj" fmla="val 7273"/>
            </a:avLst>
          </a:prstGeom>
          <a:solidFill>
            <a:srgbClr val="3730A3"/>
          </a:solidFill>
          <a:ln/>
        </p:spPr>
        <p:txBody>
          <a:bodyPr/>
          <a:lstStyle/>
          <a:p>
            <a:endParaRPr lang="en-US"/>
          </a:p>
        </p:txBody>
      </p:sp>
      <p:sp>
        <p:nvSpPr>
          <p:cNvPr id="5" name="Text 3"/>
          <p:cNvSpPr/>
          <p:nvPr/>
        </p:nvSpPr>
        <p:spPr>
          <a:xfrm>
            <a:off x="548640" y="2743200"/>
            <a:ext cx="1554480" cy="1005840"/>
          </a:xfrm>
          <a:prstGeom prst="rect">
            <a:avLst/>
          </a:prstGeom>
          <a:noFill/>
          <a:ln/>
        </p:spPr>
        <p:txBody>
          <a:bodyPr wrap="square" lIns="0" tIns="0" rIns="0" bIns="0" rtlCol="0" anchor="ctr"/>
          <a:lstStyle/>
          <a:p>
            <a:pPr marL="0" indent="0" algn="ctr">
              <a:buNone/>
            </a:pPr>
            <a:r>
              <a:rPr lang="en-US" sz="1500" b="1" dirty="0">
                <a:solidFill>
                  <a:srgbClr val="FFFFFF"/>
                </a:solidFill>
              </a:rPr>
              <a:t>Laser</a:t>
            </a:r>
            <a:endParaRPr lang="en-US" sz="1500" dirty="0"/>
          </a:p>
        </p:txBody>
      </p:sp>
      <p:sp>
        <p:nvSpPr>
          <p:cNvPr id="6" name="Polarizer">
            <a:extLst>
              <a:ext uri="{C183D7F6-B498-43B3-948B-1728B52AA6E4}">
                <adec:decorative xmlns:adec="http://schemas.microsoft.com/office/drawing/2017/decorative" val="1"/>
              </a:ext>
            </a:extLst>
          </p:cNvPr>
          <p:cNvSpPr/>
          <p:nvPr/>
        </p:nvSpPr>
        <p:spPr>
          <a:xfrm>
            <a:off x="2978658" y="2514600"/>
            <a:ext cx="1463040" cy="1463040"/>
          </a:xfrm>
          <a:prstGeom prst="rect">
            <a:avLst/>
          </a:prstGeom>
          <a:solidFill>
            <a:srgbClr val="FFFFFF"/>
          </a:solidFill>
          <a:ln w="19050">
            <a:solidFill>
              <a:srgbClr val="3730A3"/>
            </a:solidFill>
            <a:prstDash val="solid"/>
          </a:ln>
        </p:spPr>
        <p:txBody>
          <a:bodyPr/>
          <a:lstStyle/>
          <a:p>
            <a:endParaRPr lang="en-US"/>
          </a:p>
        </p:txBody>
      </p:sp>
      <p:sp>
        <p:nvSpPr>
          <p:cNvPr id="7" name="Vertical axis">
            <a:extLst>
              <a:ext uri="{C183D7F6-B498-43B3-948B-1728B52AA6E4}">
                <adec:decorative xmlns:adec="http://schemas.microsoft.com/office/drawing/2017/decorative" val="1"/>
              </a:ext>
            </a:extLst>
          </p:cNvPr>
          <p:cNvSpPr/>
          <p:nvPr/>
        </p:nvSpPr>
        <p:spPr>
          <a:xfrm>
            <a:off x="3710178" y="2660904"/>
            <a:ext cx="0" cy="1170432"/>
          </a:xfrm>
          <a:prstGeom prst="line">
            <a:avLst/>
          </a:prstGeom>
          <a:noFill/>
          <a:ln w="38100">
            <a:solidFill>
              <a:srgbClr val="0D9488"/>
            </a:solidFill>
            <a:prstDash val="solid"/>
          </a:ln>
        </p:spPr>
        <p:txBody>
          <a:bodyPr/>
          <a:lstStyle/>
          <a:p>
            <a:endParaRPr lang="en-US"/>
          </a:p>
        </p:txBody>
      </p:sp>
      <p:sp>
        <p:nvSpPr>
          <p:cNvPr id="8" name="Polarizer">
            <a:extLst>
              <a:ext uri="{C183D7F6-B498-43B3-948B-1728B52AA6E4}">
                <adec:decorative xmlns:adec="http://schemas.microsoft.com/office/drawing/2017/decorative" val="1"/>
              </a:ext>
            </a:extLst>
          </p:cNvPr>
          <p:cNvSpPr/>
          <p:nvPr/>
        </p:nvSpPr>
        <p:spPr>
          <a:xfrm>
            <a:off x="5362956" y="2514600"/>
            <a:ext cx="1463040" cy="1463040"/>
          </a:xfrm>
          <a:prstGeom prst="rect">
            <a:avLst/>
          </a:prstGeom>
          <a:solidFill>
            <a:srgbClr val="FFFFFF"/>
          </a:solidFill>
          <a:ln w="19050">
            <a:solidFill>
              <a:srgbClr val="3730A3"/>
            </a:solidFill>
            <a:prstDash val="solid"/>
          </a:ln>
        </p:spPr>
        <p:txBody>
          <a:bodyPr/>
          <a:lstStyle/>
          <a:p>
            <a:endParaRPr lang="en-US"/>
          </a:p>
        </p:txBody>
      </p:sp>
      <p:sp>
        <p:nvSpPr>
          <p:cNvPr id="9" name="45 degree axis">
            <a:extLst>
              <a:ext uri="{C183D7F6-B498-43B3-948B-1728B52AA6E4}">
                <adec:decorative xmlns:adec="http://schemas.microsoft.com/office/drawing/2017/decorative" val="1"/>
              </a:ext>
            </a:extLst>
          </p:cNvPr>
          <p:cNvSpPr/>
          <p:nvPr/>
        </p:nvSpPr>
        <p:spPr>
          <a:xfrm flipV="1">
            <a:off x="5509260" y="2660904"/>
            <a:ext cx="1170432" cy="1170432"/>
          </a:xfrm>
          <a:prstGeom prst="line">
            <a:avLst/>
          </a:prstGeom>
          <a:noFill/>
          <a:ln w="38100">
            <a:solidFill>
              <a:srgbClr val="0D9488"/>
            </a:solidFill>
            <a:prstDash val="solid"/>
          </a:ln>
        </p:spPr>
        <p:txBody>
          <a:bodyPr/>
          <a:lstStyle/>
          <a:p>
            <a:endParaRPr lang="en-US"/>
          </a:p>
        </p:txBody>
      </p:sp>
      <p:sp>
        <p:nvSpPr>
          <p:cNvPr id="10" name="Polarizer">
            <a:extLst>
              <a:ext uri="{C183D7F6-B498-43B3-948B-1728B52AA6E4}">
                <adec:decorative xmlns:adec="http://schemas.microsoft.com/office/drawing/2017/decorative" val="1"/>
              </a:ext>
            </a:extLst>
          </p:cNvPr>
          <p:cNvSpPr/>
          <p:nvPr/>
        </p:nvSpPr>
        <p:spPr>
          <a:xfrm>
            <a:off x="7747254" y="2514600"/>
            <a:ext cx="1463040" cy="1463040"/>
          </a:xfrm>
          <a:prstGeom prst="rect">
            <a:avLst/>
          </a:prstGeom>
          <a:solidFill>
            <a:srgbClr val="FFFFFF"/>
          </a:solidFill>
          <a:ln w="19050">
            <a:solidFill>
              <a:srgbClr val="3730A3"/>
            </a:solidFill>
            <a:prstDash val="solid"/>
          </a:ln>
        </p:spPr>
        <p:txBody>
          <a:bodyPr/>
          <a:lstStyle/>
          <a:p>
            <a:endParaRPr lang="en-US"/>
          </a:p>
        </p:txBody>
      </p:sp>
      <p:sp>
        <p:nvSpPr>
          <p:cNvPr id="11" name="Horizontal axis">
            <a:extLst>
              <a:ext uri="{C183D7F6-B498-43B3-948B-1728B52AA6E4}">
                <adec:decorative xmlns:adec="http://schemas.microsoft.com/office/drawing/2017/decorative" val="1"/>
              </a:ext>
            </a:extLst>
          </p:cNvPr>
          <p:cNvSpPr/>
          <p:nvPr/>
        </p:nvSpPr>
        <p:spPr>
          <a:xfrm>
            <a:off x="7893558" y="3246120"/>
            <a:ext cx="1170432" cy="0"/>
          </a:xfrm>
          <a:prstGeom prst="line">
            <a:avLst/>
          </a:prstGeom>
          <a:noFill/>
          <a:ln w="38100">
            <a:solidFill>
              <a:srgbClr val="0D9488"/>
            </a:solidFill>
            <a:prstDash val="solid"/>
          </a:ln>
        </p:spPr>
        <p:txBody>
          <a:bodyPr/>
          <a:lstStyle/>
          <a:p>
            <a:endParaRPr lang="en-US"/>
          </a:p>
        </p:txBody>
      </p:sp>
      <p:sp>
        <p:nvSpPr>
          <p:cNvPr id="12" name="Screen">
            <a:extLst>
              <a:ext uri="{C183D7F6-B498-43B3-948B-1728B52AA6E4}">
                <adec:decorative xmlns:adec="http://schemas.microsoft.com/office/drawing/2017/decorative" val="1"/>
              </a:ext>
            </a:extLst>
          </p:cNvPr>
          <p:cNvSpPr/>
          <p:nvPr/>
        </p:nvSpPr>
        <p:spPr>
          <a:xfrm>
            <a:off x="10268712" y="2514600"/>
            <a:ext cx="1188720" cy="1463040"/>
          </a:xfrm>
          <a:prstGeom prst="rect">
            <a:avLst/>
          </a:prstGeom>
          <a:solidFill>
            <a:srgbClr val="E5E7EB"/>
          </a:solidFill>
          <a:ln w="19050">
            <a:solidFill>
              <a:srgbClr val="475569"/>
            </a:solidFill>
            <a:prstDash val="solid"/>
          </a:ln>
        </p:spPr>
        <p:txBody>
          <a:bodyPr/>
          <a:lstStyle/>
          <a:p>
            <a:endParaRPr lang="en-US"/>
          </a:p>
        </p:txBody>
      </p:sp>
      <p:sp>
        <p:nvSpPr>
          <p:cNvPr id="13" name="Flow arrow">
            <a:extLst>
              <a:ext uri="{C183D7F6-B498-43B3-948B-1728B52AA6E4}">
                <adec:decorative xmlns:adec="http://schemas.microsoft.com/office/drawing/2017/decorative" val="1"/>
              </a:ext>
            </a:extLst>
          </p:cNvPr>
          <p:cNvSpPr/>
          <p:nvPr/>
        </p:nvSpPr>
        <p:spPr>
          <a:xfrm>
            <a:off x="2176272" y="3246120"/>
            <a:ext cx="683514" cy="0"/>
          </a:xfrm>
          <a:prstGeom prst="line">
            <a:avLst/>
          </a:prstGeom>
          <a:noFill/>
          <a:ln w="28575">
            <a:solidFill>
              <a:srgbClr val="475569"/>
            </a:solidFill>
            <a:prstDash val="solid"/>
            <a:tailEnd type="triangle"/>
          </a:ln>
        </p:spPr>
        <p:txBody>
          <a:bodyPr/>
          <a:lstStyle/>
          <a:p>
            <a:endParaRPr lang="en-US"/>
          </a:p>
        </p:txBody>
      </p:sp>
      <p:sp>
        <p:nvSpPr>
          <p:cNvPr id="14" name="Flow arrow">
            <a:extLst>
              <a:ext uri="{C183D7F6-B498-43B3-948B-1728B52AA6E4}">
                <adec:decorative xmlns:adec="http://schemas.microsoft.com/office/drawing/2017/decorative" val="1"/>
              </a:ext>
            </a:extLst>
          </p:cNvPr>
          <p:cNvSpPr/>
          <p:nvPr/>
        </p:nvSpPr>
        <p:spPr>
          <a:xfrm>
            <a:off x="4560570" y="3246120"/>
            <a:ext cx="683514" cy="0"/>
          </a:xfrm>
          <a:prstGeom prst="line">
            <a:avLst/>
          </a:prstGeom>
          <a:noFill/>
          <a:ln w="28575">
            <a:solidFill>
              <a:srgbClr val="475569"/>
            </a:solidFill>
            <a:prstDash val="solid"/>
            <a:tailEnd type="triangle"/>
          </a:ln>
        </p:spPr>
        <p:txBody>
          <a:bodyPr/>
          <a:lstStyle/>
          <a:p>
            <a:endParaRPr lang="en-US"/>
          </a:p>
        </p:txBody>
      </p:sp>
      <p:sp>
        <p:nvSpPr>
          <p:cNvPr id="15" name="Flow arrow">
            <a:extLst>
              <a:ext uri="{C183D7F6-B498-43B3-948B-1728B52AA6E4}">
                <adec:decorative xmlns:adec="http://schemas.microsoft.com/office/drawing/2017/decorative" val="1"/>
              </a:ext>
            </a:extLst>
          </p:cNvPr>
          <p:cNvSpPr/>
          <p:nvPr/>
        </p:nvSpPr>
        <p:spPr>
          <a:xfrm>
            <a:off x="6944868" y="3246120"/>
            <a:ext cx="683514" cy="0"/>
          </a:xfrm>
          <a:prstGeom prst="line">
            <a:avLst/>
          </a:prstGeom>
          <a:noFill/>
          <a:ln w="28575">
            <a:solidFill>
              <a:srgbClr val="475569"/>
            </a:solidFill>
            <a:prstDash val="solid"/>
            <a:tailEnd type="triangle"/>
          </a:ln>
        </p:spPr>
        <p:txBody>
          <a:bodyPr/>
          <a:lstStyle/>
          <a:p>
            <a:endParaRPr lang="en-US"/>
          </a:p>
        </p:txBody>
      </p:sp>
      <p:sp>
        <p:nvSpPr>
          <p:cNvPr id="16" name="Flow arrow">
            <a:extLst>
              <a:ext uri="{C183D7F6-B498-43B3-948B-1728B52AA6E4}">
                <adec:decorative xmlns:adec="http://schemas.microsoft.com/office/drawing/2017/decorative" val="1"/>
              </a:ext>
            </a:extLst>
          </p:cNvPr>
          <p:cNvSpPr/>
          <p:nvPr/>
        </p:nvSpPr>
        <p:spPr>
          <a:xfrm>
            <a:off x="9329166" y="3246120"/>
            <a:ext cx="683514" cy="0"/>
          </a:xfrm>
          <a:prstGeom prst="line">
            <a:avLst/>
          </a:prstGeom>
          <a:noFill/>
          <a:ln w="28575">
            <a:solidFill>
              <a:srgbClr val="475569"/>
            </a:solidFill>
            <a:prstDash val="solid"/>
            <a:tailEnd type="triangle"/>
          </a:ln>
        </p:spPr>
        <p:txBody>
          <a:bodyPr/>
          <a:lstStyle/>
          <a:p>
            <a:endParaRPr lang="en-US"/>
          </a:p>
        </p:txBody>
      </p:sp>
      <p:sp>
        <p:nvSpPr>
          <p:cNvPr id="17" name="Text 15"/>
          <p:cNvSpPr/>
          <p:nvPr/>
        </p:nvSpPr>
        <p:spPr>
          <a:xfrm>
            <a:off x="2795778" y="4087368"/>
            <a:ext cx="1828800" cy="548640"/>
          </a:xfrm>
          <a:prstGeom prst="rect">
            <a:avLst/>
          </a:prstGeom>
          <a:noFill/>
          <a:ln/>
        </p:spPr>
        <p:txBody>
          <a:bodyPr wrap="square" lIns="0" tIns="0" rIns="0" bIns="0" rtlCol="0" anchor="t"/>
          <a:lstStyle/>
          <a:p>
            <a:pPr marL="0" indent="0" algn="ctr">
              <a:buNone/>
            </a:pPr>
            <a:r>
              <a:rPr lang="en-US" sz="1300" b="1" dirty="0">
                <a:solidFill>
                  <a:srgbClr val="3730A3"/>
                </a:solidFill>
              </a:rPr>
              <a:t>Vertical</a:t>
            </a:r>
            <a:endParaRPr lang="en-US" sz="1300" dirty="0"/>
          </a:p>
          <a:p>
            <a:pPr marL="0" indent="0" algn="ctr">
              <a:buNone/>
            </a:pPr>
            <a:r>
              <a:rPr lang="en-US" sz="1300" b="1" dirty="0">
                <a:solidFill>
                  <a:srgbClr val="3730A3"/>
                </a:solidFill>
              </a:rPr>
              <a:t>polarizer</a:t>
            </a:r>
            <a:endParaRPr lang="en-US" sz="1300" dirty="0"/>
          </a:p>
        </p:txBody>
      </p:sp>
      <p:sp>
        <p:nvSpPr>
          <p:cNvPr id="18" name="Text 16"/>
          <p:cNvSpPr/>
          <p:nvPr/>
        </p:nvSpPr>
        <p:spPr>
          <a:xfrm>
            <a:off x="5180076" y="4087368"/>
            <a:ext cx="1828800" cy="548640"/>
          </a:xfrm>
          <a:prstGeom prst="rect">
            <a:avLst/>
          </a:prstGeom>
          <a:noFill/>
          <a:ln/>
        </p:spPr>
        <p:txBody>
          <a:bodyPr wrap="square" lIns="0" tIns="0" rIns="0" bIns="0" rtlCol="0" anchor="t"/>
          <a:lstStyle/>
          <a:p>
            <a:pPr marL="0" indent="0" algn="ctr">
              <a:buNone/>
            </a:pPr>
            <a:r>
              <a:rPr lang="en-US" sz="1300" b="1" dirty="0">
                <a:solidFill>
                  <a:srgbClr val="3730A3"/>
                </a:solidFill>
              </a:rPr>
              <a:t>45° polarizer</a:t>
            </a:r>
            <a:endParaRPr lang="en-US" sz="1300" dirty="0"/>
          </a:p>
        </p:txBody>
      </p:sp>
      <p:sp>
        <p:nvSpPr>
          <p:cNvPr id="19" name="Text 17"/>
          <p:cNvSpPr/>
          <p:nvPr/>
        </p:nvSpPr>
        <p:spPr>
          <a:xfrm>
            <a:off x="7564374" y="4087368"/>
            <a:ext cx="1828800" cy="548640"/>
          </a:xfrm>
          <a:prstGeom prst="rect">
            <a:avLst/>
          </a:prstGeom>
          <a:noFill/>
          <a:ln/>
        </p:spPr>
        <p:txBody>
          <a:bodyPr wrap="square" lIns="0" tIns="0" rIns="0" bIns="0" rtlCol="0" anchor="t"/>
          <a:lstStyle/>
          <a:p>
            <a:pPr marL="0" indent="0" algn="ctr">
              <a:buNone/>
            </a:pPr>
            <a:r>
              <a:rPr lang="en-US" sz="1300" b="1" dirty="0">
                <a:solidFill>
                  <a:srgbClr val="3730A3"/>
                </a:solidFill>
              </a:rPr>
              <a:t>Horizontal</a:t>
            </a:r>
            <a:endParaRPr lang="en-US" sz="1300" dirty="0"/>
          </a:p>
          <a:p>
            <a:pPr marL="0" indent="0" algn="ctr">
              <a:buNone/>
            </a:pPr>
            <a:r>
              <a:rPr lang="en-US" sz="1300" b="1" dirty="0">
                <a:solidFill>
                  <a:srgbClr val="3730A3"/>
                </a:solidFill>
              </a:rPr>
              <a:t>polarizer</a:t>
            </a:r>
            <a:endParaRPr lang="en-US" sz="1300" dirty="0"/>
          </a:p>
        </p:txBody>
      </p:sp>
      <p:sp>
        <p:nvSpPr>
          <p:cNvPr id="20" name="Text 18"/>
          <p:cNvSpPr/>
          <p:nvPr/>
        </p:nvSpPr>
        <p:spPr>
          <a:xfrm>
            <a:off x="9948672" y="4087368"/>
            <a:ext cx="1828800" cy="548640"/>
          </a:xfrm>
          <a:prstGeom prst="rect">
            <a:avLst/>
          </a:prstGeom>
          <a:noFill/>
          <a:ln/>
        </p:spPr>
        <p:txBody>
          <a:bodyPr wrap="square" lIns="0" tIns="0" rIns="0" bIns="0" rtlCol="0" anchor="t"/>
          <a:lstStyle/>
          <a:p>
            <a:pPr marL="0" indent="0" algn="ctr">
              <a:buNone/>
            </a:pPr>
            <a:r>
              <a:rPr lang="en-US" sz="1300" b="1" dirty="0">
                <a:solidFill>
                  <a:srgbClr val="3730A3"/>
                </a:solidFill>
              </a:rPr>
              <a:t>Screen</a:t>
            </a:r>
            <a:endParaRPr lang="en-US" sz="1300" dirty="0"/>
          </a:p>
        </p:txBody>
      </p:sp>
      <p:sp>
        <p:nvSpPr>
          <p:cNvPr id="21" name="Question band">
            <a:extLst>
              <a:ext uri="{C183D7F6-B498-43B3-948B-1728B52AA6E4}">
                <adec:decorative xmlns:adec="http://schemas.microsoft.com/office/drawing/2017/decorative" val="1"/>
              </a:ext>
            </a:extLst>
          </p:cNvPr>
          <p:cNvSpPr/>
          <p:nvPr/>
        </p:nvSpPr>
        <p:spPr>
          <a:xfrm>
            <a:off x="548640" y="5257800"/>
            <a:ext cx="11091672" cy="1051560"/>
          </a:xfrm>
          <a:prstGeom prst="roundRect">
            <a:avLst>
              <a:gd name="adj" fmla="val 5217"/>
            </a:avLst>
          </a:prstGeom>
          <a:solidFill>
            <a:srgbClr val="EEF2FF"/>
          </a:solidFill>
          <a:ln/>
        </p:spPr>
        <p:txBody>
          <a:bodyPr/>
          <a:lstStyle/>
          <a:p>
            <a:endParaRPr lang="en-US"/>
          </a:p>
        </p:txBody>
      </p:sp>
      <p:sp>
        <p:nvSpPr>
          <p:cNvPr id="22" name="Question accent">
            <a:extLst>
              <a:ext uri="{C183D7F6-B498-43B3-948B-1728B52AA6E4}">
                <adec:decorative xmlns:adec="http://schemas.microsoft.com/office/drawing/2017/decorative" val="1"/>
              </a:ext>
            </a:extLst>
          </p:cNvPr>
          <p:cNvSpPr/>
          <p:nvPr/>
        </p:nvSpPr>
        <p:spPr>
          <a:xfrm>
            <a:off x="548640" y="5257800"/>
            <a:ext cx="100584" cy="1051560"/>
          </a:xfrm>
          <a:prstGeom prst="rect">
            <a:avLst/>
          </a:prstGeom>
          <a:solidFill>
            <a:srgbClr val="0D9488"/>
          </a:solidFill>
          <a:ln/>
        </p:spPr>
        <p:txBody>
          <a:bodyPr/>
          <a:lstStyle/>
          <a:p>
            <a:endParaRPr lang="en-US"/>
          </a:p>
        </p:txBody>
      </p:sp>
      <p:sp>
        <p:nvSpPr>
          <p:cNvPr id="23" name="Text 21"/>
          <p:cNvSpPr/>
          <p:nvPr/>
        </p:nvSpPr>
        <p:spPr>
          <a:xfrm>
            <a:off x="868680" y="5257800"/>
            <a:ext cx="10607040" cy="1051560"/>
          </a:xfrm>
          <a:prstGeom prst="rect">
            <a:avLst/>
          </a:prstGeom>
          <a:noFill/>
          <a:ln/>
        </p:spPr>
        <p:txBody>
          <a:bodyPr wrap="square" lIns="0" tIns="0" rIns="0" bIns="0" rtlCol="0" anchor="ctr"/>
          <a:lstStyle/>
          <a:p>
            <a:pPr marL="0" indent="0" algn="l">
              <a:lnSpc>
                <a:spcPct val="110000"/>
              </a:lnSpc>
              <a:buNone/>
            </a:pPr>
            <a:r>
              <a:rPr lang="en-US" sz="1500" b="1" dirty="0">
                <a:solidFill>
                  <a:srgbClr val="3730A3"/>
                </a:solidFill>
              </a:rPr>
              <a:t>Question</a:t>
            </a:r>
            <a:endParaRPr lang="en-US" sz="1500" dirty="0"/>
          </a:p>
          <a:p>
            <a:pPr marL="0" indent="0" algn="l">
              <a:lnSpc>
                <a:spcPct val="110000"/>
              </a:lnSpc>
              <a:buNone/>
            </a:pPr>
            <a:r>
              <a:rPr lang="en-US" sz="2000" i="1" dirty="0">
                <a:solidFill>
                  <a:srgbClr val="1F2937"/>
                </a:solidFill>
              </a:rPr>
              <a:t>“What should happen according to classical intuition?”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Experimental Observation</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Case card">
            <a:extLst>
              <a:ext uri="{C183D7F6-B498-43B3-948B-1728B52AA6E4}">
                <adec:decorative xmlns:adec="http://schemas.microsoft.com/office/drawing/2017/decorative" val="1"/>
              </a:ext>
            </a:extLst>
          </p:cNvPr>
          <p:cNvSpPr/>
          <p:nvPr/>
        </p:nvSpPr>
        <p:spPr>
          <a:xfrm>
            <a:off x="548640" y="1691640"/>
            <a:ext cx="3566160" cy="3840480"/>
          </a:xfrm>
          <a:prstGeom prst="roundRect">
            <a:avLst>
              <a:gd name="adj" fmla="val 2051"/>
            </a:avLst>
          </a:prstGeom>
          <a:solidFill>
            <a:srgbClr val="FFFFFF"/>
          </a:solidFill>
          <a:ln w="15875">
            <a:solidFill>
              <a:srgbClr val="D1D5DB"/>
            </a:solidFill>
            <a:prstDash val="solid"/>
          </a:ln>
        </p:spPr>
        <p:txBody>
          <a:bodyPr/>
          <a:lstStyle/>
          <a:p>
            <a:endParaRPr lang="en-US"/>
          </a:p>
        </p:txBody>
      </p:sp>
      <p:sp>
        <p:nvSpPr>
          <p:cNvPr id="5" name="Case header">
            <a:extLst>
              <a:ext uri="{C183D7F6-B498-43B3-948B-1728B52AA6E4}">
                <adec:decorative xmlns:adec="http://schemas.microsoft.com/office/drawing/2017/decorative" val="1"/>
              </a:ext>
            </a:extLst>
          </p:cNvPr>
          <p:cNvSpPr/>
          <p:nvPr/>
        </p:nvSpPr>
        <p:spPr>
          <a:xfrm>
            <a:off x="548640" y="1691640"/>
            <a:ext cx="3566160" cy="566928"/>
          </a:xfrm>
          <a:prstGeom prst="rect">
            <a:avLst/>
          </a:prstGeom>
          <a:solidFill>
            <a:srgbClr val="3730A3"/>
          </a:solidFill>
          <a:ln/>
        </p:spPr>
        <p:txBody>
          <a:bodyPr/>
          <a:lstStyle/>
          <a:p>
            <a:endParaRPr lang="en-US"/>
          </a:p>
        </p:txBody>
      </p:sp>
      <p:sp>
        <p:nvSpPr>
          <p:cNvPr id="6" name="Text 4"/>
          <p:cNvSpPr/>
          <p:nvPr/>
        </p:nvSpPr>
        <p:spPr>
          <a:xfrm>
            <a:off x="548640" y="1691640"/>
            <a:ext cx="3566160" cy="566928"/>
          </a:xfrm>
          <a:prstGeom prst="rect">
            <a:avLst/>
          </a:prstGeom>
          <a:noFill/>
          <a:ln/>
        </p:spPr>
        <p:txBody>
          <a:bodyPr wrap="square" lIns="0" tIns="0" rIns="0" bIns="0" rtlCol="0" anchor="ctr"/>
          <a:lstStyle/>
          <a:p>
            <a:pPr marL="0" indent="0" algn="ctr">
              <a:buNone/>
            </a:pPr>
            <a:r>
              <a:rPr lang="en-US" sz="1700" b="1" dirty="0">
                <a:solidFill>
                  <a:srgbClr val="FFFFFF"/>
                </a:solidFill>
              </a:rPr>
              <a:t>Case A</a:t>
            </a:r>
            <a:endParaRPr lang="en-US" sz="1700" dirty="0"/>
          </a:p>
        </p:txBody>
      </p:sp>
      <p:sp>
        <p:nvSpPr>
          <p:cNvPr id="7" name="Text 5"/>
          <p:cNvSpPr/>
          <p:nvPr/>
        </p:nvSpPr>
        <p:spPr>
          <a:xfrm>
            <a:off x="731520" y="2350008"/>
            <a:ext cx="3200400" cy="457200"/>
          </a:xfrm>
          <a:prstGeom prst="rect">
            <a:avLst/>
          </a:prstGeom>
          <a:noFill/>
          <a:ln/>
        </p:spPr>
        <p:txBody>
          <a:bodyPr wrap="square" lIns="0" tIns="0" rIns="0" bIns="0" rtlCol="0" anchor="ctr"/>
          <a:lstStyle/>
          <a:p>
            <a:pPr marL="0" indent="0" algn="ctr">
              <a:buNone/>
            </a:pPr>
            <a:r>
              <a:rPr lang="en-US" sz="1300" b="1" dirty="0">
                <a:solidFill>
                  <a:srgbClr val="475569"/>
                </a:solidFill>
              </a:rPr>
              <a:t>Vertical polarizer only</a:t>
            </a:r>
            <a:endParaRPr lang="en-US" sz="1300" dirty="0"/>
          </a:p>
        </p:txBody>
      </p:sp>
      <p:sp>
        <p:nvSpPr>
          <p:cNvPr id="8" name="Polarizer">
            <a:extLst>
              <a:ext uri="{C183D7F6-B498-43B3-948B-1728B52AA6E4}">
                <adec:decorative xmlns:adec="http://schemas.microsoft.com/office/drawing/2017/decorative" val="1"/>
              </a:ext>
            </a:extLst>
          </p:cNvPr>
          <p:cNvSpPr/>
          <p:nvPr/>
        </p:nvSpPr>
        <p:spPr>
          <a:xfrm>
            <a:off x="1664208" y="3611880"/>
            <a:ext cx="457200" cy="457200"/>
          </a:xfrm>
          <a:prstGeom prst="rect">
            <a:avLst/>
          </a:prstGeom>
          <a:solidFill>
            <a:srgbClr val="FFFFFF"/>
          </a:solidFill>
          <a:ln w="19050">
            <a:solidFill>
              <a:srgbClr val="3730A3"/>
            </a:solidFill>
            <a:prstDash val="solid"/>
          </a:ln>
        </p:spPr>
        <p:txBody>
          <a:bodyPr/>
          <a:lstStyle/>
          <a:p>
            <a:endParaRPr lang="en-US"/>
          </a:p>
        </p:txBody>
      </p:sp>
      <p:sp>
        <p:nvSpPr>
          <p:cNvPr id="9" name="Vertical axis">
            <a:extLst>
              <a:ext uri="{C183D7F6-B498-43B3-948B-1728B52AA6E4}">
                <adec:decorative xmlns:adec="http://schemas.microsoft.com/office/drawing/2017/decorative" val="1"/>
              </a:ext>
            </a:extLst>
          </p:cNvPr>
          <p:cNvSpPr/>
          <p:nvPr/>
        </p:nvSpPr>
        <p:spPr>
          <a:xfrm>
            <a:off x="1892808" y="3758184"/>
            <a:ext cx="0" cy="164592"/>
          </a:xfrm>
          <a:prstGeom prst="line">
            <a:avLst/>
          </a:prstGeom>
          <a:noFill/>
          <a:ln w="38100">
            <a:solidFill>
              <a:srgbClr val="0D9488"/>
            </a:solidFill>
            <a:prstDash val="solid"/>
          </a:ln>
        </p:spPr>
        <p:txBody>
          <a:bodyPr/>
          <a:lstStyle/>
          <a:p>
            <a:endParaRPr lang="en-US"/>
          </a:p>
        </p:txBody>
      </p:sp>
      <p:sp>
        <p:nvSpPr>
          <p:cNvPr id="10" name="Flow arrow">
            <a:extLst>
              <a:ext uri="{C183D7F6-B498-43B3-948B-1728B52AA6E4}">
                <adec:decorative xmlns:adec="http://schemas.microsoft.com/office/drawing/2017/decorative" val="1"/>
              </a:ext>
            </a:extLst>
          </p:cNvPr>
          <p:cNvSpPr/>
          <p:nvPr/>
        </p:nvSpPr>
        <p:spPr>
          <a:xfrm>
            <a:off x="2139696" y="3840480"/>
            <a:ext cx="237744" cy="0"/>
          </a:xfrm>
          <a:prstGeom prst="line">
            <a:avLst/>
          </a:prstGeom>
          <a:noFill/>
          <a:ln w="28575">
            <a:solidFill>
              <a:srgbClr val="475569"/>
            </a:solidFill>
            <a:prstDash val="solid"/>
            <a:tailEnd type="triangle"/>
          </a:ln>
        </p:spPr>
        <p:txBody>
          <a:bodyPr/>
          <a:lstStyle/>
          <a:p>
            <a:endParaRPr lang="en-US"/>
          </a:p>
        </p:txBody>
      </p:sp>
      <p:sp>
        <p:nvSpPr>
          <p:cNvPr id="11" name="Screen swatch">
            <a:extLst>
              <a:ext uri="{C183D7F6-B498-43B3-948B-1728B52AA6E4}">
                <adec:decorative xmlns:adec="http://schemas.microsoft.com/office/drawing/2017/decorative" val="1"/>
              </a:ext>
            </a:extLst>
          </p:cNvPr>
          <p:cNvSpPr/>
          <p:nvPr/>
        </p:nvSpPr>
        <p:spPr>
          <a:xfrm>
            <a:off x="2450592" y="3557016"/>
            <a:ext cx="566928" cy="566928"/>
          </a:xfrm>
          <a:prstGeom prst="rect">
            <a:avLst/>
          </a:prstGeom>
          <a:solidFill>
            <a:srgbClr val="FEF3C7"/>
          </a:solidFill>
          <a:ln w="12700">
            <a:solidFill>
              <a:srgbClr val="475569"/>
            </a:solidFill>
            <a:prstDash val="solid"/>
          </a:ln>
          <a:effectLst>
            <a:outerShdw blurRad="114300" dist="50800" dir="16200000" algn="bl" rotWithShape="0">
              <a:srgbClr val="FBBF24">
                <a:alpha val="85000"/>
              </a:srgbClr>
            </a:outerShdw>
          </a:effectLst>
        </p:spPr>
        <p:txBody>
          <a:bodyPr/>
          <a:lstStyle/>
          <a:p>
            <a:endParaRPr lang="en-US"/>
          </a:p>
        </p:txBody>
      </p:sp>
      <p:sp>
        <p:nvSpPr>
          <p:cNvPr id="12" name="Text 10"/>
          <p:cNvSpPr/>
          <p:nvPr/>
        </p:nvSpPr>
        <p:spPr>
          <a:xfrm>
            <a:off x="685800" y="4617720"/>
            <a:ext cx="3291840" cy="640080"/>
          </a:xfrm>
          <a:prstGeom prst="rect">
            <a:avLst/>
          </a:prstGeom>
          <a:noFill/>
          <a:ln/>
        </p:spPr>
        <p:txBody>
          <a:bodyPr wrap="square" lIns="0" tIns="0" rIns="0" bIns="0" rtlCol="0" anchor="ctr"/>
          <a:lstStyle/>
          <a:p>
            <a:pPr marL="0" indent="0" algn="ctr">
              <a:buNone/>
            </a:pPr>
            <a:r>
              <a:rPr lang="en-US" sz="1800" b="1" dirty="0">
                <a:solidFill>
                  <a:srgbClr val="B45309"/>
                </a:solidFill>
              </a:rPr>
              <a:t>Bright screen</a:t>
            </a:r>
            <a:endParaRPr lang="en-US" sz="1800" dirty="0"/>
          </a:p>
        </p:txBody>
      </p:sp>
      <p:sp>
        <p:nvSpPr>
          <p:cNvPr id="13" name="Case card">
            <a:extLst>
              <a:ext uri="{C183D7F6-B498-43B3-948B-1728B52AA6E4}">
                <adec:decorative xmlns:adec="http://schemas.microsoft.com/office/drawing/2017/decorative" val="1"/>
              </a:ext>
            </a:extLst>
          </p:cNvPr>
          <p:cNvSpPr/>
          <p:nvPr/>
        </p:nvSpPr>
        <p:spPr>
          <a:xfrm>
            <a:off x="4311396" y="1691640"/>
            <a:ext cx="3566160" cy="3840480"/>
          </a:xfrm>
          <a:prstGeom prst="roundRect">
            <a:avLst>
              <a:gd name="adj" fmla="val 2051"/>
            </a:avLst>
          </a:prstGeom>
          <a:solidFill>
            <a:srgbClr val="FFFFFF"/>
          </a:solidFill>
          <a:ln w="15875">
            <a:solidFill>
              <a:srgbClr val="D1D5DB"/>
            </a:solidFill>
            <a:prstDash val="solid"/>
          </a:ln>
        </p:spPr>
        <p:txBody>
          <a:bodyPr/>
          <a:lstStyle/>
          <a:p>
            <a:endParaRPr lang="en-US"/>
          </a:p>
        </p:txBody>
      </p:sp>
      <p:sp>
        <p:nvSpPr>
          <p:cNvPr id="14" name="Case header">
            <a:extLst>
              <a:ext uri="{C183D7F6-B498-43B3-948B-1728B52AA6E4}">
                <adec:decorative xmlns:adec="http://schemas.microsoft.com/office/drawing/2017/decorative" val="1"/>
              </a:ext>
            </a:extLst>
          </p:cNvPr>
          <p:cNvSpPr/>
          <p:nvPr/>
        </p:nvSpPr>
        <p:spPr>
          <a:xfrm>
            <a:off x="4311396" y="1691640"/>
            <a:ext cx="3566160" cy="566928"/>
          </a:xfrm>
          <a:prstGeom prst="rect">
            <a:avLst/>
          </a:prstGeom>
          <a:solidFill>
            <a:srgbClr val="3730A3"/>
          </a:solidFill>
          <a:ln/>
        </p:spPr>
        <p:txBody>
          <a:bodyPr/>
          <a:lstStyle/>
          <a:p>
            <a:endParaRPr lang="en-US"/>
          </a:p>
        </p:txBody>
      </p:sp>
      <p:sp>
        <p:nvSpPr>
          <p:cNvPr id="15" name="Text 13"/>
          <p:cNvSpPr/>
          <p:nvPr/>
        </p:nvSpPr>
        <p:spPr>
          <a:xfrm>
            <a:off x="4311396" y="1691640"/>
            <a:ext cx="3566160" cy="566928"/>
          </a:xfrm>
          <a:prstGeom prst="rect">
            <a:avLst/>
          </a:prstGeom>
          <a:noFill/>
          <a:ln/>
        </p:spPr>
        <p:txBody>
          <a:bodyPr wrap="square" lIns="0" tIns="0" rIns="0" bIns="0" rtlCol="0" anchor="ctr"/>
          <a:lstStyle/>
          <a:p>
            <a:pPr marL="0" indent="0" algn="ctr">
              <a:buNone/>
            </a:pPr>
            <a:r>
              <a:rPr lang="en-US" sz="1700" b="1" dirty="0">
                <a:solidFill>
                  <a:srgbClr val="FFFFFF"/>
                </a:solidFill>
              </a:rPr>
              <a:t>Case B</a:t>
            </a:r>
            <a:endParaRPr lang="en-US" sz="1700" dirty="0"/>
          </a:p>
        </p:txBody>
      </p:sp>
      <p:sp>
        <p:nvSpPr>
          <p:cNvPr id="16" name="Text 14"/>
          <p:cNvSpPr/>
          <p:nvPr/>
        </p:nvSpPr>
        <p:spPr>
          <a:xfrm>
            <a:off x="4494276" y="2350008"/>
            <a:ext cx="3200400" cy="457200"/>
          </a:xfrm>
          <a:prstGeom prst="rect">
            <a:avLst/>
          </a:prstGeom>
          <a:noFill/>
          <a:ln/>
        </p:spPr>
        <p:txBody>
          <a:bodyPr wrap="square" lIns="0" tIns="0" rIns="0" bIns="0" rtlCol="0" anchor="ctr"/>
          <a:lstStyle/>
          <a:p>
            <a:pPr marL="0" indent="0" algn="ctr">
              <a:buNone/>
            </a:pPr>
            <a:r>
              <a:rPr lang="en-US" sz="1300" b="1" dirty="0">
                <a:solidFill>
                  <a:srgbClr val="475569"/>
                </a:solidFill>
              </a:rPr>
              <a:t>Vertical + Horizontal</a:t>
            </a:r>
            <a:endParaRPr lang="en-US" sz="1300" dirty="0"/>
          </a:p>
        </p:txBody>
      </p:sp>
      <p:sp>
        <p:nvSpPr>
          <p:cNvPr id="17" name="Polarizer">
            <a:extLst>
              <a:ext uri="{C183D7F6-B498-43B3-948B-1728B52AA6E4}">
                <adec:decorative xmlns:adec="http://schemas.microsoft.com/office/drawing/2017/decorative" val="1"/>
              </a:ext>
            </a:extLst>
          </p:cNvPr>
          <p:cNvSpPr/>
          <p:nvPr/>
        </p:nvSpPr>
        <p:spPr>
          <a:xfrm>
            <a:off x="5125212" y="3611880"/>
            <a:ext cx="457200" cy="457200"/>
          </a:xfrm>
          <a:prstGeom prst="rect">
            <a:avLst/>
          </a:prstGeom>
          <a:solidFill>
            <a:srgbClr val="FFFFFF"/>
          </a:solidFill>
          <a:ln w="19050">
            <a:solidFill>
              <a:srgbClr val="3730A3"/>
            </a:solidFill>
            <a:prstDash val="solid"/>
          </a:ln>
        </p:spPr>
        <p:txBody>
          <a:bodyPr/>
          <a:lstStyle/>
          <a:p>
            <a:endParaRPr lang="en-US"/>
          </a:p>
        </p:txBody>
      </p:sp>
      <p:sp>
        <p:nvSpPr>
          <p:cNvPr id="18" name="Vertical axis">
            <a:extLst>
              <a:ext uri="{C183D7F6-B498-43B3-948B-1728B52AA6E4}">
                <adec:decorative xmlns:adec="http://schemas.microsoft.com/office/drawing/2017/decorative" val="1"/>
              </a:ext>
            </a:extLst>
          </p:cNvPr>
          <p:cNvSpPr/>
          <p:nvPr/>
        </p:nvSpPr>
        <p:spPr>
          <a:xfrm>
            <a:off x="5353812" y="3758184"/>
            <a:ext cx="0" cy="164592"/>
          </a:xfrm>
          <a:prstGeom prst="line">
            <a:avLst/>
          </a:prstGeom>
          <a:noFill/>
          <a:ln w="38100">
            <a:solidFill>
              <a:srgbClr val="0D9488"/>
            </a:solidFill>
            <a:prstDash val="solid"/>
          </a:ln>
        </p:spPr>
        <p:txBody>
          <a:bodyPr/>
          <a:lstStyle/>
          <a:p>
            <a:endParaRPr lang="en-US"/>
          </a:p>
        </p:txBody>
      </p:sp>
      <p:sp>
        <p:nvSpPr>
          <p:cNvPr id="19" name="Polarizer">
            <a:extLst>
              <a:ext uri="{C183D7F6-B498-43B3-948B-1728B52AA6E4}">
                <adec:decorative xmlns:adec="http://schemas.microsoft.com/office/drawing/2017/decorative" val="1"/>
              </a:ext>
            </a:extLst>
          </p:cNvPr>
          <p:cNvSpPr/>
          <p:nvPr/>
        </p:nvSpPr>
        <p:spPr>
          <a:xfrm>
            <a:off x="5728716" y="3611880"/>
            <a:ext cx="457200" cy="457200"/>
          </a:xfrm>
          <a:prstGeom prst="rect">
            <a:avLst/>
          </a:prstGeom>
          <a:solidFill>
            <a:srgbClr val="FFFFFF"/>
          </a:solidFill>
          <a:ln w="19050">
            <a:solidFill>
              <a:srgbClr val="3730A3"/>
            </a:solidFill>
            <a:prstDash val="solid"/>
          </a:ln>
        </p:spPr>
        <p:txBody>
          <a:bodyPr/>
          <a:lstStyle/>
          <a:p>
            <a:endParaRPr lang="en-US"/>
          </a:p>
        </p:txBody>
      </p:sp>
      <p:sp>
        <p:nvSpPr>
          <p:cNvPr id="20" name="Horizontal axis">
            <a:extLst>
              <a:ext uri="{C183D7F6-B498-43B3-948B-1728B52AA6E4}">
                <adec:decorative xmlns:adec="http://schemas.microsoft.com/office/drawing/2017/decorative" val="1"/>
              </a:ext>
            </a:extLst>
          </p:cNvPr>
          <p:cNvSpPr/>
          <p:nvPr/>
        </p:nvSpPr>
        <p:spPr>
          <a:xfrm>
            <a:off x="5875020" y="3840480"/>
            <a:ext cx="164592" cy="0"/>
          </a:xfrm>
          <a:prstGeom prst="line">
            <a:avLst/>
          </a:prstGeom>
          <a:noFill/>
          <a:ln w="38100">
            <a:solidFill>
              <a:srgbClr val="0D9488"/>
            </a:solidFill>
            <a:prstDash val="solid"/>
          </a:ln>
        </p:spPr>
        <p:txBody>
          <a:bodyPr/>
          <a:lstStyle/>
          <a:p>
            <a:endParaRPr lang="en-US"/>
          </a:p>
        </p:txBody>
      </p:sp>
      <p:sp>
        <p:nvSpPr>
          <p:cNvPr id="21" name="Flow arrow">
            <a:extLst>
              <a:ext uri="{C183D7F6-B498-43B3-948B-1728B52AA6E4}">
                <adec:decorative xmlns:adec="http://schemas.microsoft.com/office/drawing/2017/decorative" val="1"/>
              </a:ext>
            </a:extLst>
          </p:cNvPr>
          <p:cNvSpPr/>
          <p:nvPr/>
        </p:nvSpPr>
        <p:spPr>
          <a:xfrm>
            <a:off x="6204204" y="3840480"/>
            <a:ext cx="237744" cy="0"/>
          </a:xfrm>
          <a:prstGeom prst="line">
            <a:avLst/>
          </a:prstGeom>
          <a:noFill/>
          <a:ln w="28575">
            <a:solidFill>
              <a:srgbClr val="475569"/>
            </a:solidFill>
            <a:prstDash val="solid"/>
            <a:tailEnd type="triangle"/>
          </a:ln>
        </p:spPr>
        <p:txBody>
          <a:bodyPr/>
          <a:lstStyle/>
          <a:p>
            <a:endParaRPr lang="en-US"/>
          </a:p>
        </p:txBody>
      </p:sp>
      <p:sp>
        <p:nvSpPr>
          <p:cNvPr id="22" name="Screen swatch">
            <a:extLst>
              <a:ext uri="{C183D7F6-B498-43B3-948B-1728B52AA6E4}">
                <adec:decorative xmlns:adec="http://schemas.microsoft.com/office/drawing/2017/decorative" val="1"/>
              </a:ext>
            </a:extLst>
          </p:cNvPr>
          <p:cNvSpPr/>
          <p:nvPr/>
        </p:nvSpPr>
        <p:spPr>
          <a:xfrm>
            <a:off x="6515100" y="3557016"/>
            <a:ext cx="566928" cy="566928"/>
          </a:xfrm>
          <a:prstGeom prst="rect">
            <a:avLst/>
          </a:prstGeom>
          <a:solidFill>
            <a:srgbClr val="111827"/>
          </a:solidFill>
          <a:ln w="12700">
            <a:solidFill>
              <a:srgbClr val="475569"/>
            </a:solidFill>
            <a:prstDash val="solid"/>
          </a:ln>
        </p:spPr>
        <p:txBody>
          <a:bodyPr/>
          <a:lstStyle/>
          <a:p>
            <a:endParaRPr lang="en-US"/>
          </a:p>
        </p:txBody>
      </p:sp>
      <p:sp>
        <p:nvSpPr>
          <p:cNvPr id="23" name="Text 21"/>
          <p:cNvSpPr/>
          <p:nvPr/>
        </p:nvSpPr>
        <p:spPr>
          <a:xfrm>
            <a:off x="4448556" y="4617720"/>
            <a:ext cx="3291840" cy="640080"/>
          </a:xfrm>
          <a:prstGeom prst="rect">
            <a:avLst/>
          </a:prstGeom>
          <a:noFill/>
          <a:ln/>
        </p:spPr>
        <p:txBody>
          <a:bodyPr wrap="square" lIns="0" tIns="0" rIns="0" bIns="0" rtlCol="0" anchor="ctr"/>
          <a:lstStyle/>
          <a:p>
            <a:pPr marL="0" indent="0" algn="ctr">
              <a:buNone/>
            </a:pPr>
            <a:r>
              <a:rPr lang="en-US" sz="1800" b="1" dirty="0">
                <a:solidFill>
                  <a:srgbClr val="1F2937"/>
                </a:solidFill>
              </a:rPr>
              <a:t>Dark screen</a:t>
            </a:r>
            <a:endParaRPr lang="en-US" sz="1800" dirty="0"/>
          </a:p>
        </p:txBody>
      </p:sp>
      <p:sp>
        <p:nvSpPr>
          <p:cNvPr id="24" name="Case card">
            <a:extLst>
              <a:ext uri="{C183D7F6-B498-43B3-948B-1728B52AA6E4}">
                <adec:decorative xmlns:adec="http://schemas.microsoft.com/office/drawing/2017/decorative" val="1"/>
              </a:ext>
            </a:extLst>
          </p:cNvPr>
          <p:cNvSpPr/>
          <p:nvPr/>
        </p:nvSpPr>
        <p:spPr>
          <a:xfrm>
            <a:off x="8074152" y="1691640"/>
            <a:ext cx="3566160" cy="3840480"/>
          </a:xfrm>
          <a:prstGeom prst="roundRect">
            <a:avLst>
              <a:gd name="adj" fmla="val 2051"/>
            </a:avLst>
          </a:prstGeom>
          <a:solidFill>
            <a:srgbClr val="FFFFFF"/>
          </a:solidFill>
          <a:ln w="15875">
            <a:solidFill>
              <a:srgbClr val="D1D5DB"/>
            </a:solidFill>
            <a:prstDash val="solid"/>
          </a:ln>
        </p:spPr>
        <p:txBody>
          <a:bodyPr/>
          <a:lstStyle/>
          <a:p>
            <a:endParaRPr lang="en-US"/>
          </a:p>
        </p:txBody>
      </p:sp>
      <p:sp>
        <p:nvSpPr>
          <p:cNvPr id="25" name="Case header">
            <a:extLst>
              <a:ext uri="{C183D7F6-B498-43B3-948B-1728B52AA6E4}">
                <adec:decorative xmlns:adec="http://schemas.microsoft.com/office/drawing/2017/decorative" val="1"/>
              </a:ext>
            </a:extLst>
          </p:cNvPr>
          <p:cNvSpPr/>
          <p:nvPr/>
        </p:nvSpPr>
        <p:spPr>
          <a:xfrm>
            <a:off x="8074152" y="1691640"/>
            <a:ext cx="3566160" cy="566928"/>
          </a:xfrm>
          <a:prstGeom prst="rect">
            <a:avLst/>
          </a:prstGeom>
          <a:solidFill>
            <a:srgbClr val="3730A3"/>
          </a:solidFill>
          <a:ln/>
        </p:spPr>
        <p:txBody>
          <a:bodyPr/>
          <a:lstStyle/>
          <a:p>
            <a:endParaRPr lang="en-US"/>
          </a:p>
        </p:txBody>
      </p:sp>
      <p:sp>
        <p:nvSpPr>
          <p:cNvPr id="26" name="Text 24"/>
          <p:cNvSpPr/>
          <p:nvPr/>
        </p:nvSpPr>
        <p:spPr>
          <a:xfrm>
            <a:off x="8074152" y="1691640"/>
            <a:ext cx="3566160" cy="566928"/>
          </a:xfrm>
          <a:prstGeom prst="rect">
            <a:avLst/>
          </a:prstGeom>
          <a:noFill/>
          <a:ln/>
        </p:spPr>
        <p:txBody>
          <a:bodyPr wrap="square" lIns="0" tIns="0" rIns="0" bIns="0" rtlCol="0" anchor="ctr"/>
          <a:lstStyle/>
          <a:p>
            <a:pPr marL="0" indent="0" algn="ctr">
              <a:buNone/>
            </a:pPr>
            <a:r>
              <a:rPr lang="en-US" sz="1700" b="1" dirty="0">
                <a:solidFill>
                  <a:srgbClr val="FFFFFF"/>
                </a:solidFill>
              </a:rPr>
              <a:t>Case C</a:t>
            </a:r>
            <a:endParaRPr lang="en-US" sz="1700" dirty="0"/>
          </a:p>
        </p:txBody>
      </p:sp>
      <p:sp>
        <p:nvSpPr>
          <p:cNvPr id="27" name="Text 25"/>
          <p:cNvSpPr/>
          <p:nvPr/>
        </p:nvSpPr>
        <p:spPr>
          <a:xfrm>
            <a:off x="8257032" y="2350008"/>
            <a:ext cx="3200400" cy="457200"/>
          </a:xfrm>
          <a:prstGeom prst="rect">
            <a:avLst/>
          </a:prstGeom>
          <a:noFill/>
          <a:ln/>
        </p:spPr>
        <p:txBody>
          <a:bodyPr wrap="square" lIns="0" tIns="0" rIns="0" bIns="0" rtlCol="0" anchor="ctr"/>
          <a:lstStyle/>
          <a:p>
            <a:pPr marL="0" indent="0" algn="ctr">
              <a:buNone/>
            </a:pPr>
            <a:r>
              <a:rPr lang="en-US" sz="1300" b="1" dirty="0">
                <a:solidFill>
                  <a:srgbClr val="475569"/>
                </a:solidFill>
              </a:rPr>
              <a:t>Vertical + 45° + Horizontal</a:t>
            </a:r>
            <a:endParaRPr lang="en-US" sz="1300" dirty="0"/>
          </a:p>
        </p:txBody>
      </p:sp>
      <p:sp>
        <p:nvSpPr>
          <p:cNvPr id="28" name="Polarizer">
            <a:extLst>
              <a:ext uri="{C183D7F6-B498-43B3-948B-1728B52AA6E4}">
                <adec:decorative xmlns:adec="http://schemas.microsoft.com/office/drawing/2017/decorative" val="1"/>
              </a:ext>
            </a:extLst>
          </p:cNvPr>
          <p:cNvSpPr/>
          <p:nvPr/>
        </p:nvSpPr>
        <p:spPr>
          <a:xfrm>
            <a:off x="8586216" y="3611880"/>
            <a:ext cx="457200" cy="457200"/>
          </a:xfrm>
          <a:prstGeom prst="rect">
            <a:avLst/>
          </a:prstGeom>
          <a:solidFill>
            <a:srgbClr val="FFFFFF"/>
          </a:solidFill>
          <a:ln w="19050">
            <a:solidFill>
              <a:srgbClr val="3730A3"/>
            </a:solidFill>
            <a:prstDash val="solid"/>
          </a:ln>
        </p:spPr>
        <p:txBody>
          <a:bodyPr/>
          <a:lstStyle/>
          <a:p>
            <a:endParaRPr lang="en-US"/>
          </a:p>
        </p:txBody>
      </p:sp>
      <p:sp>
        <p:nvSpPr>
          <p:cNvPr id="29" name="Vertical axis">
            <a:extLst>
              <a:ext uri="{C183D7F6-B498-43B3-948B-1728B52AA6E4}">
                <adec:decorative xmlns:adec="http://schemas.microsoft.com/office/drawing/2017/decorative" val="1"/>
              </a:ext>
            </a:extLst>
          </p:cNvPr>
          <p:cNvSpPr/>
          <p:nvPr/>
        </p:nvSpPr>
        <p:spPr>
          <a:xfrm>
            <a:off x="8814816" y="3758184"/>
            <a:ext cx="0" cy="164592"/>
          </a:xfrm>
          <a:prstGeom prst="line">
            <a:avLst/>
          </a:prstGeom>
          <a:noFill/>
          <a:ln w="38100">
            <a:solidFill>
              <a:srgbClr val="0D9488"/>
            </a:solidFill>
            <a:prstDash val="solid"/>
          </a:ln>
        </p:spPr>
        <p:txBody>
          <a:bodyPr/>
          <a:lstStyle/>
          <a:p>
            <a:endParaRPr lang="en-US"/>
          </a:p>
        </p:txBody>
      </p:sp>
      <p:sp>
        <p:nvSpPr>
          <p:cNvPr id="30" name="Polarizer">
            <a:extLst>
              <a:ext uri="{C183D7F6-B498-43B3-948B-1728B52AA6E4}">
                <adec:decorative xmlns:adec="http://schemas.microsoft.com/office/drawing/2017/decorative" val="1"/>
              </a:ext>
            </a:extLst>
          </p:cNvPr>
          <p:cNvSpPr/>
          <p:nvPr/>
        </p:nvSpPr>
        <p:spPr>
          <a:xfrm>
            <a:off x="9189720" y="3611880"/>
            <a:ext cx="457200" cy="457200"/>
          </a:xfrm>
          <a:prstGeom prst="rect">
            <a:avLst/>
          </a:prstGeom>
          <a:solidFill>
            <a:srgbClr val="FFFFFF"/>
          </a:solidFill>
          <a:ln w="19050">
            <a:solidFill>
              <a:srgbClr val="3730A3"/>
            </a:solidFill>
            <a:prstDash val="solid"/>
          </a:ln>
        </p:spPr>
        <p:txBody>
          <a:bodyPr/>
          <a:lstStyle/>
          <a:p>
            <a:endParaRPr lang="en-US"/>
          </a:p>
        </p:txBody>
      </p:sp>
      <p:sp>
        <p:nvSpPr>
          <p:cNvPr id="31" name="45 degree axis">
            <a:extLst>
              <a:ext uri="{C183D7F6-B498-43B3-948B-1728B52AA6E4}">
                <adec:decorative xmlns:adec="http://schemas.microsoft.com/office/drawing/2017/decorative" val="1"/>
              </a:ext>
            </a:extLst>
          </p:cNvPr>
          <p:cNvSpPr/>
          <p:nvPr/>
        </p:nvSpPr>
        <p:spPr>
          <a:xfrm flipV="1">
            <a:off x="9336024" y="3758184"/>
            <a:ext cx="164592" cy="164592"/>
          </a:xfrm>
          <a:prstGeom prst="line">
            <a:avLst/>
          </a:prstGeom>
          <a:noFill/>
          <a:ln w="38100">
            <a:solidFill>
              <a:srgbClr val="0D9488"/>
            </a:solidFill>
            <a:prstDash val="solid"/>
          </a:ln>
        </p:spPr>
        <p:txBody>
          <a:bodyPr/>
          <a:lstStyle/>
          <a:p>
            <a:endParaRPr lang="en-US"/>
          </a:p>
        </p:txBody>
      </p:sp>
      <p:sp>
        <p:nvSpPr>
          <p:cNvPr id="32" name="Polarizer">
            <a:extLst>
              <a:ext uri="{C183D7F6-B498-43B3-948B-1728B52AA6E4}">
                <adec:decorative xmlns:adec="http://schemas.microsoft.com/office/drawing/2017/decorative" val="1"/>
              </a:ext>
            </a:extLst>
          </p:cNvPr>
          <p:cNvSpPr/>
          <p:nvPr/>
        </p:nvSpPr>
        <p:spPr>
          <a:xfrm>
            <a:off x="9793224" y="3611880"/>
            <a:ext cx="457200" cy="457200"/>
          </a:xfrm>
          <a:prstGeom prst="rect">
            <a:avLst/>
          </a:prstGeom>
          <a:solidFill>
            <a:srgbClr val="FFFFFF"/>
          </a:solidFill>
          <a:ln w="19050">
            <a:solidFill>
              <a:srgbClr val="3730A3"/>
            </a:solidFill>
            <a:prstDash val="solid"/>
          </a:ln>
        </p:spPr>
        <p:txBody>
          <a:bodyPr/>
          <a:lstStyle/>
          <a:p>
            <a:endParaRPr lang="en-US"/>
          </a:p>
        </p:txBody>
      </p:sp>
      <p:sp>
        <p:nvSpPr>
          <p:cNvPr id="33" name="Horizontal axis">
            <a:extLst>
              <a:ext uri="{C183D7F6-B498-43B3-948B-1728B52AA6E4}">
                <adec:decorative xmlns:adec="http://schemas.microsoft.com/office/drawing/2017/decorative" val="1"/>
              </a:ext>
            </a:extLst>
          </p:cNvPr>
          <p:cNvSpPr/>
          <p:nvPr/>
        </p:nvSpPr>
        <p:spPr>
          <a:xfrm>
            <a:off x="9939528" y="3840480"/>
            <a:ext cx="164592" cy="0"/>
          </a:xfrm>
          <a:prstGeom prst="line">
            <a:avLst/>
          </a:prstGeom>
          <a:noFill/>
          <a:ln w="38100">
            <a:solidFill>
              <a:srgbClr val="0D9488"/>
            </a:solidFill>
            <a:prstDash val="solid"/>
          </a:ln>
        </p:spPr>
        <p:txBody>
          <a:bodyPr/>
          <a:lstStyle/>
          <a:p>
            <a:endParaRPr lang="en-US"/>
          </a:p>
        </p:txBody>
      </p:sp>
      <p:sp>
        <p:nvSpPr>
          <p:cNvPr id="34" name="Flow arrow">
            <a:extLst>
              <a:ext uri="{C183D7F6-B498-43B3-948B-1728B52AA6E4}">
                <adec:decorative xmlns:adec="http://schemas.microsoft.com/office/drawing/2017/decorative" val="1"/>
              </a:ext>
            </a:extLst>
          </p:cNvPr>
          <p:cNvSpPr/>
          <p:nvPr/>
        </p:nvSpPr>
        <p:spPr>
          <a:xfrm>
            <a:off x="10268712" y="3840480"/>
            <a:ext cx="237744" cy="0"/>
          </a:xfrm>
          <a:prstGeom prst="line">
            <a:avLst/>
          </a:prstGeom>
          <a:noFill/>
          <a:ln w="28575">
            <a:solidFill>
              <a:srgbClr val="475569"/>
            </a:solidFill>
            <a:prstDash val="solid"/>
            <a:tailEnd type="triangle"/>
          </a:ln>
        </p:spPr>
        <p:txBody>
          <a:bodyPr/>
          <a:lstStyle/>
          <a:p>
            <a:endParaRPr lang="en-US"/>
          </a:p>
        </p:txBody>
      </p:sp>
      <p:sp>
        <p:nvSpPr>
          <p:cNvPr id="35" name="Screen swatch">
            <a:extLst>
              <a:ext uri="{C183D7F6-B498-43B3-948B-1728B52AA6E4}">
                <adec:decorative xmlns:adec="http://schemas.microsoft.com/office/drawing/2017/decorative" val="1"/>
              </a:ext>
            </a:extLst>
          </p:cNvPr>
          <p:cNvSpPr/>
          <p:nvPr/>
        </p:nvSpPr>
        <p:spPr>
          <a:xfrm>
            <a:off x="10579608" y="3557016"/>
            <a:ext cx="566928" cy="566928"/>
          </a:xfrm>
          <a:prstGeom prst="rect">
            <a:avLst/>
          </a:prstGeom>
          <a:solidFill>
            <a:srgbClr val="FEF3C7"/>
          </a:solidFill>
          <a:ln w="12700">
            <a:solidFill>
              <a:srgbClr val="475569"/>
            </a:solidFill>
            <a:prstDash val="solid"/>
          </a:ln>
          <a:effectLst>
            <a:outerShdw blurRad="114300" dist="50800" dir="16200000" algn="bl" rotWithShape="0">
              <a:srgbClr val="FBBF24">
                <a:alpha val="85000"/>
              </a:srgbClr>
            </a:outerShdw>
          </a:effectLst>
        </p:spPr>
        <p:txBody>
          <a:bodyPr/>
          <a:lstStyle/>
          <a:p>
            <a:endParaRPr lang="en-US"/>
          </a:p>
        </p:txBody>
      </p:sp>
      <p:sp>
        <p:nvSpPr>
          <p:cNvPr id="36" name="Text 34"/>
          <p:cNvSpPr/>
          <p:nvPr/>
        </p:nvSpPr>
        <p:spPr>
          <a:xfrm>
            <a:off x="8211312" y="4617720"/>
            <a:ext cx="3291840" cy="640080"/>
          </a:xfrm>
          <a:prstGeom prst="rect">
            <a:avLst/>
          </a:prstGeom>
          <a:noFill/>
          <a:ln/>
        </p:spPr>
        <p:txBody>
          <a:bodyPr wrap="square" lIns="0" tIns="0" rIns="0" bIns="0" rtlCol="0" anchor="ctr"/>
          <a:lstStyle/>
          <a:p>
            <a:pPr marL="0" indent="0" algn="ctr">
              <a:buNone/>
            </a:pPr>
            <a:r>
              <a:rPr lang="en-US" sz="1800" b="1" dirty="0">
                <a:solidFill>
                  <a:srgbClr val="0D9488"/>
                </a:solidFill>
              </a:rPr>
              <a:t>Light reappears</a:t>
            </a:r>
            <a:endParaRPr lang="en-US" sz="1800" dirty="0"/>
          </a:p>
        </p:txBody>
      </p:sp>
      <p:sp>
        <p:nvSpPr>
          <p:cNvPr id="37" name="Observation band">
            <a:extLst>
              <a:ext uri="{C183D7F6-B498-43B3-948B-1728B52AA6E4}">
                <adec:decorative xmlns:adec="http://schemas.microsoft.com/office/drawing/2017/decorative" val="1"/>
              </a:ext>
            </a:extLst>
          </p:cNvPr>
          <p:cNvSpPr/>
          <p:nvPr/>
        </p:nvSpPr>
        <p:spPr>
          <a:xfrm>
            <a:off x="548640" y="5806440"/>
            <a:ext cx="11091672" cy="777240"/>
          </a:xfrm>
          <a:prstGeom prst="roundRect">
            <a:avLst>
              <a:gd name="adj" fmla="val 7059"/>
            </a:avLst>
          </a:prstGeom>
          <a:solidFill>
            <a:srgbClr val="CCFBF1"/>
          </a:solidFill>
          <a:ln/>
        </p:spPr>
        <p:txBody>
          <a:bodyPr/>
          <a:lstStyle/>
          <a:p>
            <a:endParaRPr lang="en-US"/>
          </a:p>
        </p:txBody>
      </p:sp>
      <p:sp>
        <p:nvSpPr>
          <p:cNvPr id="38" name="Observation accent">
            <a:extLst>
              <a:ext uri="{C183D7F6-B498-43B3-948B-1728B52AA6E4}">
                <adec:decorative xmlns:adec="http://schemas.microsoft.com/office/drawing/2017/decorative" val="1"/>
              </a:ext>
            </a:extLst>
          </p:cNvPr>
          <p:cNvSpPr/>
          <p:nvPr/>
        </p:nvSpPr>
        <p:spPr>
          <a:xfrm>
            <a:off x="548640" y="5806440"/>
            <a:ext cx="100584" cy="777240"/>
          </a:xfrm>
          <a:prstGeom prst="rect">
            <a:avLst/>
          </a:prstGeom>
          <a:solidFill>
            <a:srgbClr val="0D9488"/>
          </a:solidFill>
          <a:ln/>
        </p:spPr>
        <p:txBody>
          <a:bodyPr/>
          <a:lstStyle/>
          <a:p>
            <a:endParaRPr lang="en-US"/>
          </a:p>
        </p:txBody>
      </p:sp>
      <p:sp>
        <p:nvSpPr>
          <p:cNvPr id="39" name="Text 37"/>
          <p:cNvSpPr/>
          <p:nvPr/>
        </p:nvSpPr>
        <p:spPr>
          <a:xfrm>
            <a:off x="868680" y="5806440"/>
            <a:ext cx="1691640" cy="777240"/>
          </a:xfrm>
          <a:prstGeom prst="rect">
            <a:avLst/>
          </a:prstGeom>
          <a:noFill/>
          <a:ln/>
        </p:spPr>
        <p:txBody>
          <a:bodyPr wrap="square" lIns="0" tIns="0" rIns="0" bIns="0" rtlCol="0" anchor="ctr"/>
          <a:lstStyle/>
          <a:p>
            <a:pPr marL="0" indent="0" algn="l">
              <a:buNone/>
            </a:pPr>
            <a:r>
              <a:rPr lang="en-US" sz="1500" b="1" dirty="0">
                <a:solidFill>
                  <a:srgbClr val="0D9488"/>
                </a:solidFill>
              </a:rPr>
              <a:t>Observation</a:t>
            </a:r>
            <a:endParaRPr lang="en-US" sz="1500" dirty="0"/>
          </a:p>
        </p:txBody>
      </p:sp>
      <p:sp>
        <p:nvSpPr>
          <p:cNvPr id="40" name="Text 38"/>
          <p:cNvSpPr/>
          <p:nvPr/>
        </p:nvSpPr>
        <p:spPr>
          <a:xfrm>
            <a:off x="2514600" y="5806440"/>
            <a:ext cx="8961120" cy="777240"/>
          </a:xfrm>
          <a:prstGeom prst="rect">
            <a:avLst/>
          </a:prstGeom>
          <a:noFill/>
          <a:ln/>
        </p:spPr>
        <p:txBody>
          <a:bodyPr wrap="square" lIns="0" tIns="0" rIns="0" bIns="0" rtlCol="0" anchor="ctr"/>
          <a:lstStyle/>
          <a:p>
            <a:pPr marL="0" indent="0" algn="l">
              <a:buNone/>
            </a:pPr>
            <a:r>
              <a:rPr lang="en-US" sz="1500" dirty="0">
                <a:solidFill>
                  <a:srgbClr val="1F2937"/>
                </a:solidFill>
              </a:rPr>
              <a:t>Adding another filter unexpectedly allows light to pass.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Why Classical Physics Fails</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664857347"/>
              </p:ext>
            </p:extLst>
          </p:nvPr>
        </p:nvGraphicFramePr>
        <p:xfrm>
          <a:off x="548640" y="1874520"/>
          <a:ext cx="11091672" cy="3520440"/>
        </p:xfrm>
        <a:graphic>
          <a:graphicData uri="http://schemas.openxmlformats.org/drawingml/2006/table">
            <a:tbl>
              <a:tblPr/>
              <a:tblGrid>
                <a:gridCol w="548640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tblGrid>
              <a:tr h="64008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Classical expectation</a:t>
                      </a:r>
                      <a:endParaRPr lang="en-US" sz="18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730A3"/>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Experimental result</a:t>
                      </a:r>
                      <a:endParaRPr lang="en-US" sz="18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730A3"/>
                    </a:solidFill>
                  </a:tcPr>
                </a:tc>
                <a:extLst>
                  <a:ext uri="{0D108BD9-81ED-4DB2-BD59-A6C34878D82A}">
                    <a16:rowId xmlns:a16="http://schemas.microsoft.com/office/drawing/2014/main" val="10000"/>
                  </a:ext>
                </a:extLst>
              </a:tr>
              <a:tr h="960120">
                <a:tc>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Every filter removes light</a:t>
                      </a:r>
                      <a:endParaRPr lang="en-US" sz="1800" dirty="0">
                        <a:latin typeface="Calibri" charset="0"/>
                        <a:ea typeface="Calibri" charset="0"/>
                        <a:cs typeface="Calibri" charset="0"/>
                      </a:endParaRPr>
                    </a:p>
                  </a:txBody>
                  <a:tcPr marL="1524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2FF"/>
                    </a:solidFill>
                  </a:tcPr>
                </a:tc>
                <a:tc>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Extra filter increases transmission</a:t>
                      </a:r>
                      <a:endParaRPr lang="en-US" sz="1800" dirty="0">
                        <a:latin typeface="Calibri" charset="0"/>
                        <a:ea typeface="Calibri" charset="0"/>
                        <a:cs typeface="Calibri" charset="0"/>
                      </a:endParaRPr>
                    </a:p>
                  </a:txBody>
                  <a:tcPr marL="1524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CFBF1"/>
                    </a:solidFill>
                  </a:tcPr>
                </a:tc>
                <a:extLst>
                  <a:ext uri="{0D108BD9-81ED-4DB2-BD59-A6C34878D82A}">
                    <a16:rowId xmlns:a16="http://schemas.microsoft.com/office/drawing/2014/main" val="10001"/>
                  </a:ext>
                </a:extLst>
              </a:tr>
              <a:tr h="960120">
                <a:tc>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Measurement only reveals pre-existing values</a:t>
                      </a:r>
                      <a:endParaRPr lang="en-US" sz="1800" dirty="0">
                        <a:latin typeface="Calibri" charset="0"/>
                        <a:ea typeface="Calibri" charset="0"/>
                        <a:cs typeface="Calibri" charset="0"/>
                      </a:endParaRPr>
                    </a:p>
                  </a:txBody>
                  <a:tcPr marL="1524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2FF"/>
                    </a:solidFill>
                  </a:tcPr>
                </a:tc>
                <a:tc>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Measurement changes the state</a:t>
                      </a:r>
                      <a:endParaRPr lang="en-US" sz="1800" dirty="0">
                        <a:latin typeface="Calibri" charset="0"/>
                        <a:ea typeface="Calibri" charset="0"/>
                        <a:cs typeface="Calibri" charset="0"/>
                      </a:endParaRPr>
                    </a:p>
                  </a:txBody>
                  <a:tcPr marL="1524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CFBF1"/>
                    </a:solidFill>
                  </a:tcPr>
                </a:tc>
                <a:extLst>
                  <a:ext uri="{0D108BD9-81ED-4DB2-BD59-A6C34878D82A}">
                    <a16:rowId xmlns:a16="http://schemas.microsoft.com/office/drawing/2014/main" val="10002"/>
                  </a:ext>
                </a:extLst>
              </a:tr>
              <a:tr h="960120">
                <a:tc>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Properties exist before measurement</a:t>
                      </a:r>
                      <a:endParaRPr lang="en-US" sz="1800" dirty="0">
                        <a:latin typeface="Calibri" charset="0"/>
                        <a:ea typeface="Calibri" charset="0"/>
                        <a:cs typeface="Calibri" charset="0"/>
                      </a:endParaRPr>
                    </a:p>
                  </a:txBody>
                  <a:tcPr marL="1524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2FF"/>
                    </a:solidFill>
                  </a:tcPr>
                </a:tc>
                <a:tc>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Quantum state changes during measurement</a:t>
                      </a:r>
                      <a:endParaRPr lang="en-US" sz="1800" dirty="0">
                        <a:latin typeface="Calibri" charset="0"/>
                        <a:ea typeface="Calibri" charset="0"/>
                        <a:cs typeface="Calibri" charset="0"/>
                      </a:endParaRPr>
                    </a:p>
                  </a:txBody>
                  <a:tcPr marL="1524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CFBF1"/>
                    </a:solidFill>
                  </a:tcPr>
                </a:tc>
                <a:extLst>
                  <a:ext uri="{0D108BD9-81ED-4DB2-BD59-A6C34878D82A}">
                    <a16:rowId xmlns:a16="http://schemas.microsoft.com/office/drawing/2014/main" val="10003"/>
                  </a:ext>
                </a:extLst>
              </a:tr>
            </a:tbl>
          </a:graphicData>
        </a:graphic>
      </p:graphicFrame>
      <p:sp>
        <p:nvSpPr>
          <p:cNvPr id="4" name="Bridge band">
            <a:extLst>
              <a:ext uri="{C183D7F6-B498-43B3-948B-1728B52AA6E4}">
                <adec:decorative xmlns:adec="http://schemas.microsoft.com/office/drawing/2017/decorative" val="1"/>
              </a:ext>
            </a:extLst>
          </p:cNvPr>
          <p:cNvSpPr/>
          <p:nvPr/>
        </p:nvSpPr>
        <p:spPr>
          <a:xfrm>
            <a:off x="548640" y="5852160"/>
            <a:ext cx="11091672" cy="731520"/>
          </a:xfrm>
          <a:prstGeom prst="roundRect">
            <a:avLst>
              <a:gd name="adj" fmla="val 7500"/>
            </a:avLst>
          </a:prstGeom>
          <a:solidFill>
            <a:srgbClr val="EEF2FF"/>
          </a:solidFill>
          <a:ln/>
        </p:spPr>
        <p:txBody>
          <a:bodyPr/>
          <a:lstStyle/>
          <a:p>
            <a:endParaRPr lang="en-US"/>
          </a:p>
        </p:txBody>
      </p:sp>
      <p:sp>
        <p:nvSpPr>
          <p:cNvPr id="6" name="Bridge accent">
            <a:extLst>
              <a:ext uri="{C183D7F6-B498-43B3-948B-1728B52AA6E4}">
                <adec:decorative xmlns:adec="http://schemas.microsoft.com/office/drawing/2017/decorative" val="1"/>
              </a:ext>
            </a:extLst>
          </p:cNvPr>
          <p:cNvSpPr/>
          <p:nvPr/>
        </p:nvSpPr>
        <p:spPr>
          <a:xfrm>
            <a:off x="548640" y="5852160"/>
            <a:ext cx="100584" cy="731520"/>
          </a:xfrm>
          <a:prstGeom prst="rect">
            <a:avLst/>
          </a:prstGeom>
          <a:solidFill>
            <a:srgbClr val="4F46E5"/>
          </a:solidFill>
          <a:ln/>
        </p:spPr>
        <p:txBody>
          <a:bodyPr/>
          <a:lstStyle/>
          <a:p>
            <a:endParaRPr lang="en-US"/>
          </a:p>
        </p:txBody>
      </p:sp>
      <p:sp>
        <p:nvSpPr>
          <p:cNvPr id="7" name="Text 4"/>
          <p:cNvSpPr/>
          <p:nvPr/>
        </p:nvSpPr>
        <p:spPr>
          <a:xfrm>
            <a:off x="868680" y="5852160"/>
            <a:ext cx="10607040" cy="731520"/>
          </a:xfrm>
          <a:prstGeom prst="rect">
            <a:avLst/>
          </a:prstGeom>
          <a:noFill/>
          <a:ln/>
        </p:spPr>
        <p:txBody>
          <a:bodyPr wrap="square" lIns="0" tIns="0" rIns="0" bIns="0" rtlCol="0" anchor="ctr"/>
          <a:lstStyle/>
          <a:p>
            <a:pPr marL="0" indent="0" algn="l">
              <a:buNone/>
            </a:pPr>
            <a:r>
              <a:rPr lang="en-US" sz="1400" i="1" dirty="0">
                <a:solidFill>
                  <a:srgbClr val="3730A3"/>
                </a:solidFill>
              </a:rPr>
              <a:t>Every mathematical idea in the chapter that follows exists to explain this experiment.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Mathematical Representation of Polarization</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ket0 card">
            <a:extLst>
              <a:ext uri="{C183D7F6-B498-43B3-948B-1728B52AA6E4}">
                <adec:decorative xmlns:adec="http://schemas.microsoft.com/office/drawing/2017/decorative" val="1"/>
              </a:ext>
            </a:extLst>
          </p:cNvPr>
          <p:cNvSpPr/>
          <p:nvPr/>
        </p:nvSpPr>
        <p:spPr>
          <a:xfrm>
            <a:off x="731520" y="2148840"/>
            <a:ext cx="4937760" cy="1554480"/>
          </a:xfrm>
          <a:prstGeom prst="roundRect">
            <a:avLst>
              <a:gd name="adj" fmla="val 4706"/>
            </a:avLst>
          </a:prstGeom>
          <a:solidFill>
            <a:srgbClr val="EEF2FF"/>
          </a:solidFill>
          <a:ln/>
        </p:spPr>
        <p:txBody>
          <a:bodyPr/>
          <a:lstStyle/>
          <a:p>
            <a:endParaRPr lang="en-US"/>
          </a:p>
        </p:txBody>
      </p:sp>
      <p:sp>
        <p:nvSpPr>
          <p:cNvPr id="5" name="Text 3"/>
          <p:cNvSpPr/>
          <p:nvPr/>
        </p:nvSpPr>
        <p:spPr>
          <a:xfrm>
            <a:off x="1051560" y="2148840"/>
            <a:ext cx="2103120" cy="1554480"/>
          </a:xfrm>
          <a:prstGeom prst="rect">
            <a:avLst/>
          </a:prstGeom>
          <a:noFill/>
          <a:ln/>
        </p:spPr>
        <p:txBody>
          <a:bodyPr wrap="square" lIns="0" tIns="0" rIns="0" bIns="0" rtlCol="0" anchor="ctr"/>
          <a:lstStyle/>
          <a:p>
            <a:pPr marL="0" indent="0" algn="l">
              <a:buNone/>
            </a:pPr>
            <a:r>
              <a:rPr lang="en-US" sz="3000" b="1" dirty="0">
                <a:solidFill>
                  <a:srgbClr val="3730A3"/>
                </a:solidFill>
                <a:latin typeface="Cambria Math" pitchFamily="34" charset="0"/>
                <a:ea typeface="Cambria Math" pitchFamily="34" charset="-122"/>
                <a:cs typeface="Cambria Math" pitchFamily="34" charset="-120"/>
              </a:rPr>
              <a:t>|0⟩  =</a:t>
            </a:r>
            <a:endParaRPr lang="en-US" sz="3000" dirty="0"/>
          </a:p>
        </p:txBody>
      </p:sp>
      <p:sp>
        <p:nvSpPr>
          <p:cNvPr id="6" name="bracket">
            <a:extLst>
              <a:ext uri="{C183D7F6-B498-43B3-948B-1728B52AA6E4}">
                <adec:decorative xmlns:adec="http://schemas.microsoft.com/office/drawing/2017/decorative" val="1"/>
              </a:ext>
            </a:extLst>
          </p:cNvPr>
          <p:cNvSpPr/>
          <p:nvPr/>
        </p:nvSpPr>
        <p:spPr>
          <a:xfrm>
            <a:off x="3246120" y="2395728"/>
            <a:ext cx="41148" cy="1051560"/>
          </a:xfrm>
          <a:prstGeom prst="rect">
            <a:avLst/>
          </a:prstGeom>
          <a:solidFill>
            <a:srgbClr val="1F2937"/>
          </a:solidFill>
          <a:ln/>
        </p:spPr>
        <p:txBody>
          <a:bodyPr/>
          <a:lstStyle/>
          <a:p>
            <a:endParaRPr lang="en-US"/>
          </a:p>
        </p:txBody>
      </p:sp>
      <p:sp>
        <p:nvSpPr>
          <p:cNvPr id="7" name="bracket">
            <a:extLst>
              <a:ext uri="{C183D7F6-B498-43B3-948B-1728B52AA6E4}">
                <adec:decorative xmlns:adec="http://schemas.microsoft.com/office/drawing/2017/decorative" val="1"/>
              </a:ext>
            </a:extLst>
          </p:cNvPr>
          <p:cNvSpPr/>
          <p:nvPr/>
        </p:nvSpPr>
        <p:spPr>
          <a:xfrm>
            <a:off x="3246120" y="2395728"/>
            <a:ext cx="164592" cy="41148"/>
          </a:xfrm>
          <a:prstGeom prst="rect">
            <a:avLst/>
          </a:prstGeom>
          <a:solidFill>
            <a:srgbClr val="1F2937"/>
          </a:solidFill>
          <a:ln/>
        </p:spPr>
        <p:txBody>
          <a:bodyPr/>
          <a:lstStyle/>
          <a:p>
            <a:endParaRPr lang="en-US"/>
          </a:p>
        </p:txBody>
      </p:sp>
      <p:sp>
        <p:nvSpPr>
          <p:cNvPr id="8" name="bracket">
            <a:extLst>
              <a:ext uri="{C183D7F6-B498-43B3-948B-1728B52AA6E4}">
                <adec:decorative xmlns:adec="http://schemas.microsoft.com/office/drawing/2017/decorative" val="1"/>
              </a:ext>
            </a:extLst>
          </p:cNvPr>
          <p:cNvSpPr/>
          <p:nvPr/>
        </p:nvSpPr>
        <p:spPr>
          <a:xfrm>
            <a:off x="3246120" y="3406140"/>
            <a:ext cx="164592" cy="41148"/>
          </a:xfrm>
          <a:prstGeom prst="rect">
            <a:avLst/>
          </a:prstGeom>
          <a:solidFill>
            <a:srgbClr val="1F2937"/>
          </a:solidFill>
          <a:ln/>
        </p:spPr>
        <p:txBody>
          <a:bodyPr/>
          <a:lstStyle/>
          <a:p>
            <a:endParaRPr lang="en-US"/>
          </a:p>
        </p:txBody>
      </p:sp>
      <p:sp>
        <p:nvSpPr>
          <p:cNvPr id="9" name="bracket">
            <a:extLst>
              <a:ext uri="{C183D7F6-B498-43B3-948B-1728B52AA6E4}">
                <adec:decorative xmlns:adec="http://schemas.microsoft.com/office/drawing/2017/decorative" val="1"/>
              </a:ext>
            </a:extLst>
          </p:cNvPr>
          <p:cNvSpPr/>
          <p:nvPr/>
        </p:nvSpPr>
        <p:spPr>
          <a:xfrm>
            <a:off x="3863340" y="2395728"/>
            <a:ext cx="41148" cy="1051560"/>
          </a:xfrm>
          <a:prstGeom prst="rect">
            <a:avLst/>
          </a:prstGeom>
          <a:solidFill>
            <a:srgbClr val="1F2937"/>
          </a:solidFill>
          <a:ln/>
        </p:spPr>
        <p:txBody>
          <a:bodyPr/>
          <a:lstStyle/>
          <a:p>
            <a:endParaRPr lang="en-US"/>
          </a:p>
        </p:txBody>
      </p:sp>
      <p:sp>
        <p:nvSpPr>
          <p:cNvPr id="10" name="bracket">
            <a:extLst>
              <a:ext uri="{C183D7F6-B498-43B3-948B-1728B52AA6E4}">
                <adec:decorative xmlns:adec="http://schemas.microsoft.com/office/drawing/2017/decorative" val="1"/>
              </a:ext>
            </a:extLst>
          </p:cNvPr>
          <p:cNvSpPr/>
          <p:nvPr/>
        </p:nvSpPr>
        <p:spPr>
          <a:xfrm>
            <a:off x="3739896" y="2395728"/>
            <a:ext cx="164592" cy="41148"/>
          </a:xfrm>
          <a:prstGeom prst="rect">
            <a:avLst/>
          </a:prstGeom>
          <a:solidFill>
            <a:srgbClr val="1F2937"/>
          </a:solidFill>
          <a:ln/>
        </p:spPr>
        <p:txBody>
          <a:bodyPr/>
          <a:lstStyle/>
          <a:p>
            <a:endParaRPr lang="en-US"/>
          </a:p>
        </p:txBody>
      </p:sp>
      <p:sp>
        <p:nvSpPr>
          <p:cNvPr id="11" name="bracket">
            <a:extLst>
              <a:ext uri="{C183D7F6-B498-43B3-948B-1728B52AA6E4}">
                <adec:decorative xmlns:adec="http://schemas.microsoft.com/office/drawing/2017/decorative" val="1"/>
              </a:ext>
            </a:extLst>
          </p:cNvPr>
          <p:cNvSpPr/>
          <p:nvPr/>
        </p:nvSpPr>
        <p:spPr>
          <a:xfrm>
            <a:off x="3739896" y="3406140"/>
            <a:ext cx="164592" cy="41148"/>
          </a:xfrm>
          <a:prstGeom prst="rect">
            <a:avLst/>
          </a:prstGeom>
          <a:solidFill>
            <a:srgbClr val="1F2937"/>
          </a:solidFill>
          <a:ln/>
        </p:spPr>
        <p:txBody>
          <a:bodyPr/>
          <a:lstStyle/>
          <a:p>
            <a:endParaRPr lang="en-US"/>
          </a:p>
        </p:txBody>
      </p:sp>
      <p:sp>
        <p:nvSpPr>
          <p:cNvPr id="12" name="Text 10"/>
          <p:cNvSpPr/>
          <p:nvPr/>
        </p:nvSpPr>
        <p:spPr>
          <a:xfrm>
            <a:off x="3246120" y="2395728"/>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1</a:t>
            </a:r>
            <a:endParaRPr lang="en-US" sz="2200" dirty="0"/>
          </a:p>
          <a:p>
            <a:pPr marL="0" indent="0" algn="ctr">
              <a:lnSpc>
                <a:spcPct val="100000"/>
              </a:lnSpc>
              <a:buNone/>
            </a:pPr>
            <a:r>
              <a:rPr lang="en-US" sz="2200" b="1" dirty="0">
                <a:solidFill>
                  <a:srgbClr val="1F2937"/>
                </a:solidFill>
              </a:rPr>
              <a:t>0</a:t>
            </a:r>
            <a:endParaRPr lang="en-US" sz="2200" dirty="0"/>
          </a:p>
        </p:txBody>
      </p:sp>
      <p:sp>
        <p:nvSpPr>
          <p:cNvPr id="13" name="Text 11"/>
          <p:cNvSpPr/>
          <p:nvPr/>
        </p:nvSpPr>
        <p:spPr>
          <a:xfrm>
            <a:off x="4069080" y="2148840"/>
            <a:ext cx="1463040" cy="1554480"/>
          </a:xfrm>
          <a:prstGeom prst="rect">
            <a:avLst/>
          </a:prstGeom>
          <a:noFill/>
          <a:ln/>
        </p:spPr>
        <p:txBody>
          <a:bodyPr wrap="square" lIns="0" tIns="0" rIns="0" bIns="0" rtlCol="0" anchor="ctr"/>
          <a:lstStyle/>
          <a:p>
            <a:pPr marL="0" indent="0" algn="l">
              <a:buNone/>
            </a:pPr>
            <a:r>
              <a:rPr lang="en-US" sz="1300" i="1" dirty="0">
                <a:solidFill>
                  <a:srgbClr val="475569"/>
                </a:solidFill>
              </a:rPr>
              <a:t>Vertical</a:t>
            </a:r>
            <a:endParaRPr lang="en-US" sz="1300" dirty="0"/>
          </a:p>
        </p:txBody>
      </p:sp>
      <p:sp>
        <p:nvSpPr>
          <p:cNvPr id="14" name="ket1 card">
            <a:extLst>
              <a:ext uri="{C183D7F6-B498-43B3-948B-1728B52AA6E4}">
                <adec:decorative xmlns:adec="http://schemas.microsoft.com/office/drawing/2017/decorative" val="1"/>
              </a:ext>
            </a:extLst>
          </p:cNvPr>
          <p:cNvSpPr/>
          <p:nvPr/>
        </p:nvSpPr>
        <p:spPr>
          <a:xfrm>
            <a:off x="731520" y="3977640"/>
            <a:ext cx="4937760" cy="1554480"/>
          </a:xfrm>
          <a:prstGeom prst="roundRect">
            <a:avLst>
              <a:gd name="adj" fmla="val 4706"/>
            </a:avLst>
          </a:prstGeom>
          <a:solidFill>
            <a:srgbClr val="CCFBF1"/>
          </a:solidFill>
          <a:ln/>
        </p:spPr>
        <p:txBody>
          <a:bodyPr/>
          <a:lstStyle/>
          <a:p>
            <a:endParaRPr lang="en-US"/>
          </a:p>
        </p:txBody>
      </p:sp>
      <p:sp>
        <p:nvSpPr>
          <p:cNvPr id="15" name="Text 13"/>
          <p:cNvSpPr/>
          <p:nvPr/>
        </p:nvSpPr>
        <p:spPr>
          <a:xfrm>
            <a:off x="1051560" y="3977640"/>
            <a:ext cx="2103120" cy="1554480"/>
          </a:xfrm>
          <a:prstGeom prst="rect">
            <a:avLst/>
          </a:prstGeom>
          <a:noFill/>
          <a:ln/>
        </p:spPr>
        <p:txBody>
          <a:bodyPr wrap="square" lIns="0" tIns="0" rIns="0" bIns="0" rtlCol="0" anchor="ctr"/>
          <a:lstStyle/>
          <a:p>
            <a:pPr marL="0" indent="0" algn="l">
              <a:buNone/>
            </a:pPr>
            <a:r>
              <a:rPr lang="en-US" sz="3000" b="1" dirty="0">
                <a:solidFill>
                  <a:srgbClr val="0D9488"/>
                </a:solidFill>
                <a:latin typeface="Cambria Math" pitchFamily="34" charset="0"/>
                <a:ea typeface="Cambria Math" pitchFamily="34" charset="-122"/>
                <a:cs typeface="Cambria Math" pitchFamily="34" charset="-120"/>
              </a:rPr>
              <a:t>|1⟩  =</a:t>
            </a:r>
            <a:endParaRPr lang="en-US" sz="3000" dirty="0"/>
          </a:p>
        </p:txBody>
      </p:sp>
      <p:sp>
        <p:nvSpPr>
          <p:cNvPr id="16" name="bracket">
            <a:extLst>
              <a:ext uri="{C183D7F6-B498-43B3-948B-1728B52AA6E4}">
                <adec:decorative xmlns:adec="http://schemas.microsoft.com/office/drawing/2017/decorative" val="1"/>
              </a:ext>
            </a:extLst>
          </p:cNvPr>
          <p:cNvSpPr/>
          <p:nvPr/>
        </p:nvSpPr>
        <p:spPr>
          <a:xfrm>
            <a:off x="3246120" y="4224528"/>
            <a:ext cx="41148" cy="1051560"/>
          </a:xfrm>
          <a:prstGeom prst="rect">
            <a:avLst/>
          </a:prstGeom>
          <a:solidFill>
            <a:srgbClr val="1F2937"/>
          </a:solidFill>
          <a:ln/>
        </p:spPr>
        <p:txBody>
          <a:bodyPr/>
          <a:lstStyle/>
          <a:p>
            <a:endParaRPr lang="en-US"/>
          </a:p>
        </p:txBody>
      </p:sp>
      <p:sp>
        <p:nvSpPr>
          <p:cNvPr id="17" name="bracket">
            <a:extLst>
              <a:ext uri="{C183D7F6-B498-43B3-948B-1728B52AA6E4}">
                <adec:decorative xmlns:adec="http://schemas.microsoft.com/office/drawing/2017/decorative" val="1"/>
              </a:ext>
            </a:extLst>
          </p:cNvPr>
          <p:cNvSpPr/>
          <p:nvPr/>
        </p:nvSpPr>
        <p:spPr>
          <a:xfrm>
            <a:off x="3246120" y="4224528"/>
            <a:ext cx="164592" cy="41148"/>
          </a:xfrm>
          <a:prstGeom prst="rect">
            <a:avLst/>
          </a:prstGeom>
          <a:solidFill>
            <a:srgbClr val="1F2937"/>
          </a:solidFill>
          <a:ln/>
        </p:spPr>
        <p:txBody>
          <a:bodyPr/>
          <a:lstStyle/>
          <a:p>
            <a:endParaRPr lang="en-US"/>
          </a:p>
        </p:txBody>
      </p:sp>
      <p:sp>
        <p:nvSpPr>
          <p:cNvPr id="18" name="bracket">
            <a:extLst>
              <a:ext uri="{C183D7F6-B498-43B3-948B-1728B52AA6E4}">
                <adec:decorative xmlns:adec="http://schemas.microsoft.com/office/drawing/2017/decorative" val="1"/>
              </a:ext>
            </a:extLst>
          </p:cNvPr>
          <p:cNvSpPr/>
          <p:nvPr/>
        </p:nvSpPr>
        <p:spPr>
          <a:xfrm>
            <a:off x="3246120" y="5234940"/>
            <a:ext cx="164592" cy="41148"/>
          </a:xfrm>
          <a:prstGeom prst="rect">
            <a:avLst/>
          </a:prstGeom>
          <a:solidFill>
            <a:srgbClr val="1F2937"/>
          </a:solidFill>
          <a:ln/>
        </p:spPr>
        <p:txBody>
          <a:bodyPr/>
          <a:lstStyle/>
          <a:p>
            <a:endParaRPr lang="en-US"/>
          </a:p>
        </p:txBody>
      </p:sp>
      <p:sp>
        <p:nvSpPr>
          <p:cNvPr id="19" name="bracket">
            <a:extLst>
              <a:ext uri="{C183D7F6-B498-43B3-948B-1728B52AA6E4}">
                <adec:decorative xmlns:adec="http://schemas.microsoft.com/office/drawing/2017/decorative" val="1"/>
              </a:ext>
            </a:extLst>
          </p:cNvPr>
          <p:cNvSpPr/>
          <p:nvPr/>
        </p:nvSpPr>
        <p:spPr>
          <a:xfrm>
            <a:off x="3863340" y="4224528"/>
            <a:ext cx="41148" cy="1051560"/>
          </a:xfrm>
          <a:prstGeom prst="rect">
            <a:avLst/>
          </a:prstGeom>
          <a:solidFill>
            <a:srgbClr val="1F2937"/>
          </a:solidFill>
          <a:ln/>
        </p:spPr>
        <p:txBody>
          <a:bodyPr/>
          <a:lstStyle/>
          <a:p>
            <a:endParaRPr lang="en-US"/>
          </a:p>
        </p:txBody>
      </p:sp>
      <p:sp>
        <p:nvSpPr>
          <p:cNvPr id="20" name="bracket">
            <a:extLst>
              <a:ext uri="{C183D7F6-B498-43B3-948B-1728B52AA6E4}">
                <adec:decorative xmlns:adec="http://schemas.microsoft.com/office/drawing/2017/decorative" val="1"/>
              </a:ext>
            </a:extLst>
          </p:cNvPr>
          <p:cNvSpPr/>
          <p:nvPr/>
        </p:nvSpPr>
        <p:spPr>
          <a:xfrm>
            <a:off x="3739896" y="4224528"/>
            <a:ext cx="164592" cy="41148"/>
          </a:xfrm>
          <a:prstGeom prst="rect">
            <a:avLst/>
          </a:prstGeom>
          <a:solidFill>
            <a:srgbClr val="1F2937"/>
          </a:solidFill>
          <a:ln/>
        </p:spPr>
        <p:txBody>
          <a:bodyPr/>
          <a:lstStyle/>
          <a:p>
            <a:endParaRPr lang="en-US"/>
          </a:p>
        </p:txBody>
      </p:sp>
      <p:sp>
        <p:nvSpPr>
          <p:cNvPr id="21" name="bracket">
            <a:extLst>
              <a:ext uri="{C183D7F6-B498-43B3-948B-1728B52AA6E4}">
                <adec:decorative xmlns:adec="http://schemas.microsoft.com/office/drawing/2017/decorative" val="1"/>
              </a:ext>
            </a:extLst>
          </p:cNvPr>
          <p:cNvSpPr/>
          <p:nvPr/>
        </p:nvSpPr>
        <p:spPr>
          <a:xfrm>
            <a:off x="3739896" y="5234940"/>
            <a:ext cx="164592" cy="41148"/>
          </a:xfrm>
          <a:prstGeom prst="rect">
            <a:avLst/>
          </a:prstGeom>
          <a:solidFill>
            <a:srgbClr val="1F2937"/>
          </a:solidFill>
          <a:ln/>
        </p:spPr>
        <p:txBody>
          <a:bodyPr/>
          <a:lstStyle/>
          <a:p>
            <a:endParaRPr lang="en-US"/>
          </a:p>
        </p:txBody>
      </p:sp>
      <p:sp>
        <p:nvSpPr>
          <p:cNvPr id="22" name="Text 20"/>
          <p:cNvSpPr/>
          <p:nvPr/>
        </p:nvSpPr>
        <p:spPr>
          <a:xfrm>
            <a:off x="3246120" y="4224528"/>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0</a:t>
            </a:r>
            <a:endParaRPr lang="en-US" sz="2200" dirty="0"/>
          </a:p>
          <a:p>
            <a:pPr marL="0" indent="0" algn="ctr">
              <a:lnSpc>
                <a:spcPct val="100000"/>
              </a:lnSpc>
              <a:buNone/>
            </a:pPr>
            <a:r>
              <a:rPr lang="en-US" sz="2200" b="1" dirty="0">
                <a:solidFill>
                  <a:srgbClr val="1F2937"/>
                </a:solidFill>
              </a:rPr>
              <a:t>1</a:t>
            </a:r>
            <a:endParaRPr lang="en-US" sz="2200" dirty="0"/>
          </a:p>
        </p:txBody>
      </p:sp>
      <p:sp>
        <p:nvSpPr>
          <p:cNvPr id="23" name="Text 21"/>
          <p:cNvSpPr/>
          <p:nvPr/>
        </p:nvSpPr>
        <p:spPr>
          <a:xfrm>
            <a:off x="4069080" y="3977640"/>
            <a:ext cx="1463040" cy="1554480"/>
          </a:xfrm>
          <a:prstGeom prst="rect">
            <a:avLst/>
          </a:prstGeom>
          <a:noFill/>
          <a:ln/>
        </p:spPr>
        <p:txBody>
          <a:bodyPr wrap="square" lIns="0" tIns="0" rIns="0" bIns="0" rtlCol="0" anchor="ctr"/>
          <a:lstStyle/>
          <a:p>
            <a:pPr marL="0" indent="0" algn="l">
              <a:buNone/>
            </a:pPr>
            <a:r>
              <a:rPr lang="en-US" sz="1300" i="1" dirty="0">
                <a:solidFill>
                  <a:srgbClr val="475569"/>
                </a:solidFill>
              </a:rPr>
              <a:t>Horizontal</a:t>
            </a:r>
            <a:endParaRPr lang="en-US" sz="1300" dirty="0"/>
          </a:p>
        </p:txBody>
      </p:sp>
      <p:sp>
        <p:nvSpPr>
          <p:cNvPr id="24" name="Text 22"/>
          <p:cNvSpPr/>
          <p:nvPr/>
        </p:nvSpPr>
        <p:spPr>
          <a:xfrm>
            <a:off x="6126480" y="2240280"/>
            <a:ext cx="5486400" cy="3291840"/>
          </a:xfrm>
          <a:prstGeom prst="rect">
            <a:avLst/>
          </a:prstGeom>
          <a:noFill/>
          <a:ln/>
        </p:spPr>
        <p:txBody>
          <a:bodyPr wrap="square" rtlCol="0" anchor="t"/>
          <a:lstStyle/>
          <a:p>
            <a:pPr marL="228600" indent="-228600" algn="l">
              <a:lnSpc>
                <a:spcPct val="105000"/>
              </a:lnSpc>
              <a:spcAft>
                <a:spcPts val="1200"/>
              </a:spcAft>
              <a:buSzPct val="100000"/>
              <a:buChar char="•"/>
            </a:pPr>
            <a:r>
              <a:rPr lang="en-US" sz="1700" dirty="0">
                <a:solidFill>
                  <a:srgbClr val="1F2937"/>
                </a:solidFill>
                <a:latin typeface="Calibri" pitchFamily="34" charset="0"/>
                <a:ea typeface="Calibri" pitchFamily="34" charset="-122"/>
                <a:cs typeface="Calibri" pitchFamily="34" charset="-120"/>
              </a:rPr>
              <a:t>Vertical and horizontal polarization are orthogonal, so they form a natural two-dimensional basis.</a:t>
            </a:r>
            <a:endParaRPr lang="en-US" sz="1700" dirty="0"/>
          </a:p>
          <a:p>
            <a:pPr marL="228600" indent="-228600" algn="l">
              <a:lnSpc>
                <a:spcPct val="105000"/>
              </a:lnSpc>
              <a:spcAft>
                <a:spcPts val="1200"/>
              </a:spcAft>
              <a:buSzPct val="100000"/>
              <a:buChar char="•"/>
            </a:pPr>
            <a:r>
              <a:rPr lang="en-US" sz="1700" dirty="0">
                <a:solidFill>
                  <a:srgbClr val="1F2937"/>
                </a:solidFill>
                <a:latin typeface="Cambria Math" pitchFamily="34" charset="0"/>
                <a:ea typeface="Cambria Math" pitchFamily="34" charset="-122"/>
                <a:cs typeface="Cambria Math" pitchFamily="34" charset="-120"/>
              </a:rPr>
              <a:t>Any polarization state is a linear combination  α|0⟩ + β|1⟩.</a:t>
            </a:r>
            <a:endParaRPr lang="en-US" sz="1700" dirty="0"/>
          </a:p>
          <a:p>
            <a:pPr marL="228600" indent="-228600" algn="l">
              <a:lnSpc>
                <a:spcPct val="105000"/>
              </a:lnSpc>
              <a:buSzPct val="100000"/>
              <a:buChar char="•"/>
            </a:pPr>
            <a:r>
              <a:rPr lang="en-US" sz="1700" dirty="0">
                <a:solidFill>
                  <a:srgbClr val="1F2937"/>
                </a:solidFill>
                <a:latin typeface="Calibri" pitchFamily="34" charset="0"/>
                <a:ea typeface="Calibri" pitchFamily="34" charset="-122"/>
                <a:cs typeface="Calibri" pitchFamily="34" charset="-120"/>
              </a:rPr>
              <a:t>Writing states as vectors lets us describe polarization with the linear algebra we already know.</a:t>
            </a:r>
            <a:endParaRPr lang="en-US" sz="1700" dirty="0"/>
          </a:p>
        </p:txBody>
      </p:sp>
      <p:sp>
        <p:nvSpPr>
          <p:cNvPr id="25" name="Bottom note band">
            <a:extLst>
              <a:ext uri="{C183D7F6-B498-43B3-948B-1728B52AA6E4}">
                <adec:decorative xmlns:adec="http://schemas.microsoft.com/office/drawing/2017/decorative" val="1"/>
              </a:ext>
            </a:extLst>
          </p:cNvPr>
          <p:cNvSpPr/>
          <p:nvPr/>
        </p:nvSpPr>
        <p:spPr>
          <a:xfrm>
            <a:off x="548640" y="5989320"/>
            <a:ext cx="11091672" cy="566928"/>
          </a:xfrm>
          <a:prstGeom prst="rect">
            <a:avLst/>
          </a:prstGeom>
          <a:solidFill>
            <a:srgbClr val="EEF2FF"/>
          </a:solidFill>
          <a:ln/>
        </p:spPr>
        <p:txBody>
          <a:bodyPr/>
          <a:lstStyle/>
          <a:p>
            <a:endParaRPr lang="en-US"/>
          </a:p>
        </p:txBody>
      </p:sp>
      <p:sp>
        <p:nvSpPr>
          <p:cNvPr id="26" name="Bottom note accent">
            <a:extLst>
              <a:ext uri="{C183D7F6-B498-43B3-948B-1728B52AA6E4}">
                <adec:decorative xmlns:adec="http://schemas.microsoft.com/office/drawing/2017/decorative" val="1"/>
              </a:ext>
            </a:extLst>
          </p:cNvPr>
          <p:cNvSpPr/>
          <p:nvPr/>
        </p:nvSpPr>
        <p:spPr>
          <a:xfrm>
            <a:off x="548640" y="5989320"/>
            <a:ext cx="82296" cy="566928"/>
          </a:xfrm>
          <a:prstGeom prst="rect">
            <a:avLst/>
          </a:prstGeom>
          <a:solidFill>
            <a:srgbClr val="4F46E5"/>
          </a:solidFill>
          <a:ln/>
        </p:spPr>
        <p:txBody>
          <a:bodyPr/>
          <a:lstStyle/>
          <a:p>
            <a:endParaRPr lang="en-US"/>
          </a:p>
        </p:txBody>
      </p:sp>
      <p:sp>
        <p:nvSpPr>
          <p:cNvPr id="27" name="Text 25"/>
          <p:cNvSpPr/>
          <p:nvPr/>
        </p:nvSpPr>
        <p:spPr>
          <a:xfrm>
            <a:off x="777240" y="5989320"/>
            <a:ext cx="10744200" cy="566928"/>
          </a:xfrm>
          <a:prstGeom prst="rect">
            <a:avLst/>
          </a:prstGeom>
          <a:noFill/>
          <a:ln/>
        </p:spPr>
        <p:txBody>
          <a:bodyPr wrap="square" lIns="0" tIns="0" rIns="0" bIns="0" rtlCol="0" anchor="ctr"/>
          <a:lstStyle/>
          <a:p>
            <a:pPr marL="0" indent="0" algn="l">
              <a:buNone/>
            </a:pPr>
            <a:r>
              <a:rPr lang="en-US" sz="1350" i="1" dirty="0">
                <a:solidFill>
                  <a:srgbClr val="3730A3"/>
                </a:solidFill>
              </a:rPr>
              <a:t>Nature tells us that polarization behaves exactly like a vector.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From Physical Polarization to Mathematical States</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Illustration card">
            <a:extLst>
              <a:ext uri="{C183D7F6-B498-43B3-948B-1728B52AA6E4}">
                <adec:decorative xmlns:adec="http://schemas.microsoft.com/office/drawing/2017/decorative" val="1"/>
              </a:ext>
            </a:extLst>
          </p:cNvPr>
          <p:cNvSpPr/>
          <p:nvPr/>
        </p:nvSpPr>
        <p:spPr>
          <a:xfrm>
            <a:off x="731520" y="1874520"/>
            <a:ext cx="5212080" cy="3657600"/>
          </a:xfrm>
          <a:prstGeom prst="roundRect">
            <a:avLst>
              <a:gd name="adj" fmla="val 2000"/>
            </a:avLst>
          </a:prstGeom>
          <a:solidFill>
            <a:srgbClr val="FFFFFF"/>
          </a:solidFill>
          <a:ln w="15875">
            <a:solidFill>
              <a:srgbClr val="D1D5DB"/>
            </a:solidFill>
            <a:prstDash val="solid"/>
          </a:ln>
        </p:spPr>
        <p:txBody>
          <a:bodyPr/>
          <a:lstStyle/>
          <a:p>
            <a:endParaRPr lang="en-US"/>
          </a:p>
        </p:txBody>
      </p:sp>
      <p:sp>
        <p:nvSpPr>
          <p:cNvPr id="5" name="Polarization arrow">
            <a:extLst>
              <a:ext uri="{C183D7F6-B498-43B3-948B-1728B52AA6E4}">
                <adec:decorative xmlns:adec="http://schemas.microsoft.com/office/drawing/2017/decorative" val="1"/>
              </a:ext>
            </a:extLst>
          </p:cNvPr>
          <p:cNvSpPr/>
          <p:nvPr/>
        </p:nvSpPr>
        <p:spPr>
          <a:xfrm>
            <a:off x="1600200" y="2286000"/>
            <a:ext cx="0" cy="1051560"/>
          </a:xfrm>
          <a:prstGeom prst="line">
            <a:avLst/>
          </a:prstGeom>
          <a:noFill/>
          <a:ln w="44450">
            <a:solidFill>
              <a:srgbClr val="4F46E5"/>
            </a:solidFill>
            <a:prstDash val="solid"/>
            <a:headEnd type="triangle"/>
            <a:tailEnd type="triangle"/>
          </a:ln>
        </p:spPr>
        <p:txBody>
          <a:bodyPr/>
          <a:lstStyle/>
          <a:p>
            <a:endParaRPr lang="en-US"/>
          </a:p>
        </p:txBody>
      </p:sp>
      <p:sp>
        <p:nvSpPr>
          <p:cNvPr id="6" name="Text 4"/>
          <p:cNvSpPr/>
          <p:nvPr/>
        </p:nvSpPr>
        <p:spPr>
          <a:xfrm>
            <a:off x="2286000" y="2286000"/>
            <a:ext cx="3474720" cy="1051560"/>
          </a:xfrm>
          <a:prstGeom prst="rect">
            <a:avLst/>
          </a:prstGeom>
          <a:noFill/>
          <a:ln/>
        </p:spPr>
        <p:txBody>
          <a:bodyPr wrap="square" lIns="0" tIns="0" rIns="0" bIns="0" rtlCol="0" anchor="ctr"/>
          <a:lstStyle/>
          <a:p>
            <a:pPr marL="0" indent="0" algn="l">
              <a:lnSpc>
                <a:spcPct val="110000"/>
              </a:lnSpc>
              <a:buNone/>
            </a:pPr>
            <a:r>
              <a:rPr lang="en-US" sz="1500" dirty="0">
                <a:solidFill>
                  <a:srgbClr val="1F2937"/>
                </a:solidFill>
              </a:rPr>
              <a:t>Vertical polarization</a:t>
            </a:r>
            <a:endParaRPr lang="en-US" sz="1500" dirty="0"/>
          </a:p>
          <a:p>
            <a:pPr marL="0" indent="0" algn="l">
              <a:lnSpc>
                <a:spcPct val="110000"/>
              </a:lnSpc>
              <a:buNone/>
            </a:pPr>
            <a:r>
              <a:rPr lang="en-US" sz="1800" b="1" dirty="0">
                <a:solidFill>
                  <a:srgbClr val="0D9488"/>
                </a:solidFill>
                <a:latin typeface="Cambria Math" pitchFamily="34" charset="0"/>
                <a:ea typeface="Cambria Math" pitchFamily="34" charset="-122"/>
                <a:cs typeface="Cambria Math" pitchFamily="34" charset="-120"/>
              </a:rPr>
              <a:t>→  |0⟩</a:t>
            </a:r>
            <a:endParaRPr lang="en-US" sz="1500" dirty="0"/>
          </a:p>
        </p:txBody>
      </p:sp>
      <p:sp>
        <p:nvSpPr>
          <p:cNvPr id="7" name="Polarization arrow">
            <a:extLst>
              <a:ext uri="{C183D7F6-B498-43B3-948B-1728B52AA6E4}">
                <adec:decorative xmlns:adec="http://schemas.microsoft.com/office/drawing/2017/decorative" val="1"/>
              </a:ext>
            </a:extLst>
          </p:cNvPr>
          <p:cNvSpPr/>
          <p:nvPr/>
        </p:nvSpPr>
        <p:spPr>
          <a:xfrm>
            <a:off x="1143000" y="4526280"/>
            <a:ext cx="1051560" cy="0"/>
          </a:xfrm>
          <a:prstGeom prst="line">
            <a:avLst/>
          </a:prstGeom>
          <a:noFill/>
          <a:ln w="44450">
            <a:solidFill>
              <a:srgbClr val="4F46E5"/>
            </a:solidFill>
            <a:prstDash val="solid"/>
            <a:headEnd type="triangle"/>
            <a:tailEnd type="triangle"/>
          </a:ln>
        </p:spPr>
        <p:txBody>
          <a:bodyPr/>
          <a:lstStyle/>
          <a:p>
            <a:endParaRPr lang="en-US"/>
          </a:p>
        </p:txBody>
      </p:sp>
      <p:sp>
        <p:nvSpPr>
          <p:cNvPr id="8" name="Text 6"/>
          <p:cNvSpPr/>
          <p:nvPr/>
        </p:nvSpPr>
        <p:spPr>
          <a:xfrm>
            <a:off x="2468880" y="3977640"/>
            <a:ext cx="3291840" cy="1051560"/>
          </a:xfrm>
          <a:prstGeom prst="rect">
            <a:avLst/>
          </a:prstGeom>
          <a:noFill/>
          <a:ln/>
        </p:spPr>
        <p:txBody>
          <a:bodyPr wrap="square" lIns="0" tIns="0" rIns="0" bIns="0" rtlCol="0" anchor="ctr"/>
          <a:lstStyle/>
          <a:p>
            <a:pPr marL="0" indent="0" algn="l">
              <a:lnSpc>
                <a:spcPct val="110000"/>
              </a:lnSpc>
              <a:buNone/>
            </a:pPr>
            <a:r>
              <a:rPr lang="en-US" sz="1500" dirty="0">
                <a:solidFill>
                  <a:srgbClr val="1F2937"/>
                </a:solidFill>
              </a:rPr>
              <a:t>Horizontal polarization</a:t>
            </a:r>
            <a:endParaRPr lang="en-US" sz="1500" dirty="0"/>
          </a:p>
          <a:p>
            <a:pPr marL="0" indent="0" algn="l">
              <a:lnSpc>
                <a:spcPct val="110000"/>
              </a:lnSpc>
              <a:buNone/>
            </a:pPr>
            <a:r>
              <a:rPr lang="en-US" sz="1800" b="1" dirty="0">
                <a:solidFill>
                  <a:srgbClr val="0D9488"/>
                </a:solidFill>
                <a:latin typeface="Cambria Math" pitchFamily="34" charset="0"/>
                <a:ea typeface="Cambria Math" pitchFamily="34" charset="-122"/>
                <a:cs typeface="Cambria Math" pitchFamily="34" charset="-120"/>
              </a:rPr>
              <a:t>→  |1⟩</a:t>
            </a:r>
            <a:endParaRPr lang="en-US" sz="1500" dirty="0"/>
          </a:p>
        </p:txBody>
      </p:sp>
      <p:sp>
        <p:nvSpPr>
          <p:cNvPr id="9" name="Text 7"/>
          <p:cNvSpPr/>
          <p:nvPr/>
        </p:nvSpPr>
        <p:spPr>
          <a:xfrm>
            <a:off x="6400800" y="1783080"/>
            <a:ext cx="5029200" cy="457200"/>
          </a:xfrm>
          <a:prstGeom prst="rect">
            <a:avLst/>
          </a:prstGeom>
          <a:noFill/>
          <a:ln/>
        </p:spPr>
        <p:txBody>
          <a:bodyPr wrap="square" lIns="0" tIns="0" rIns="0" bIns="0" rtlCol="0" anchor="ctr"/>
          <a:lstStyle/>
          <a:p>
            <a:pPr marL="0" indent="0" algn="l">
              <a:buNone/>
            </a:pPr>
            <a:r>
              <a:rPr lang="en-US" sz="1600" b="1" dirty="0">
                <a:solidFill>
                  <a:srgbClr val="475569"/>
                </a:solidFill>
              </a:rPr>
              <a:t>State vectors</a:t>
            </a:r>
            <a:endParaRPr lang="en-US" sz="1600" dirty="0"/>
          </a:p>
        </p:txBody>
      </p:sp>
      <p:sp>
        <p:nvSpPr>
          <p:cNvPr id="10" name="ket0 card">
            <a:extLst>
              <a:ext uri="{C183D7F6-B498-43B3-948B-1728B52AA6E4}">
                <adec:decorative xmlns:adec="http://schemas.microsoft.com/office/drawing/2017/decorative" val="1"/>
              </a:ext>
            </a:extLst>
          </p:cNvPr>
          <p:cNvSpPr/>
          <p:nvPr/>
        </p:nvSpPr>
        <p:spPr>
          <a:xfrm>
            <a:off x="6400800" y="2331720"/>
            <a:ext cx="5029200" cy="1417320"/>
          </a:xfrm>
          <a:prstGeom prst="roundRect">
            <a:avLst>
              <a:gd name="adj" fmla="val 5161"/>
            </a:avLst>
          </a:prstGeom>
          <a:solidFill>
            <a:srgbClr val="EEF2FF"/>
          </a:solidFill>
          <a:ln/>
        </p:spPr>
        <p:txBody>
          <a:bodyPr/>
          <a:lstStyle/>
          <a:p>
            <a:endParaRPr lang="en-US"/>
          </a:p>
        </p:txBody>
      </p:sp>
      <p:sp>
        <p:nvSpPr>
          <p:cNvPr id="11" name="Text 9"/>
          <p:cNvSpPr/>
          <p:nvPr/>
        </p:nvSpPr>
        <p:spPr>
          <a:xfrm>
            <a:off x="6720840" y="2331720"/>
            <a:ext cx="2103120" cy="1417320"/>
          </a:xfrm>
          <a:prstGeom prst="rect">
            <a:avLst/>
          </a:prstGeom>
          <a:noFill/>
          <a:ln/>
        </p:spPr>
        <p:txBody>
          <a:bodyPr wrap="square" lIns="0" tIns="0" rIns="0" bIns="0" rtlCol="0" anchor="ctr"/>
          <a:lstStyle/>
          <a:p>
            <a:pPr marL="0" indent="0" algn="l">
              <a:buNone/>
            </a:pPr>
            <a:r>
              <a:rPr lang="en-US" sz="2800" b="1" dirty="0">
                <a:solidFill>
                  <a:srgbClr val="3730A3"/>
                </a:solidFill>
                <a:latin typeface="Cambria Math" pitchFamily="34" charset="0"/>
                <a:ea typeface="Cambria Math" pitchFamily="34" charset="-122"/>
                <a:cs typeface="Cambria Math" pitchFamily="34" charset="-120"/>
              </a:rPr>
              <a:t>|0⟩  =</a:t>
            </a:r>
            <a:endParaRPr lang="en-US" sz="2800" dirty="0"/>
          </a:p>
        </p:txBody>
      </p:sp>
      <p:sp>
        <p:nvSpPr>
          <p:cNvPr id="12" name="bracket">
            <a:extLst>
              <a:ext uri="{C183D7F6-B498-43B3-948B-1728B52AA6E4}">
                <adec:decorative xmlns:adec="http://schemas.microsoft.com/office/drawing/2017/decorative" val="1"/>
              </a:ext>
            </a:extLst>
          </p:cNvPr>
          <p:cNvSpPr/>
          <p:nvPr/>
        </p:nvSpPr>
        <p:spPr>
          <a:xfrm>
            <a:off x="8869680" y="2514600"/>
            <a:ext cx="41148" cy="1051560"/>
          </a:xfrm>
          <a:prstGeom prst="rect">
            <a:avLst/>
          </a:prstGeom>
          <a:solidFill>
            <a:srgbClr val="1F2937"/>
          </a:solidFill>
          <a:ln/>
        </p:spPr>
        <p:txBody>
          <a:bodyPr/>
          <a:lstStyle/>
          <a:p>
            <a:endParaRPr lang="en-US"/>
          </a:p>
        </p:txBody>
      </p:sp>
      <p:sp>
        <p:nvSpPr>
          <p:cNvPr id="13" name="bracket">
            <a:extLst>
              <a:ext uri="{C183D7F6-B498-43B3-948B-1728B52AA6E4}">
                <adec:decorative xmlns:adec="http://schemas.microsoft.com/office/drawing/2017/decorative" val="1"/>
              </a:ext>
            </a:extLst>
          </p:cNvPr>
          <p:cNvSpPr/>
          <p:nvPr/>
        </p:nvSpPr>
        <p:spPr>
          <a:xfrm>
            <a:off x="8869680" y="2514600"/>
            <a:ext cx="164592" cy="41148"/>
          </a:xfrm>
          <a:prstGeom prst="rect">
            <a:avLst/>
          </a:prstGeom>
          <a:solidFill>
            <a:srgbClr val="1F2937"/>
          </a:solidFill>
          <a:ln/>
        </p:spPr>
        <p:txBody>
          <a:bodyPr/>
          <a:lstStyle/>
          <a:p>
            <a:endParaRPr lang="en-US"/>
          </a:p>
        </p:txBody>
      </p:sp>
      <p:sp>
        <p:nvSpPr>
          <p:cNvPr id="14" name="bracket">
            <a:extLst>
              <a:ext uri="{C183D7F6-B498-43B3-948B-1728B52AA6E4}">
                <adec:decorative xmlns:adec="http://schemas.microsoft.com/office/drawing/2017/decorative" val="1"/>
              </a:ext>
            </a:extLst>
          </p:cNvPr>
          <p:cNvSpPr/>
          <p:nvPr/>
        </p:nvSpPr>
        <p:spPr>
          <a:xfrm>
            <a:off x="8869680" y="3525012"/>
            <a:ext cx="164592" cy="41148"/>
          </a:xfrm>
          <a:prstGeom prst="rect">
            <a:avLst/>
          </a:prstGeom>
          <a:solidFill>
            <a:srgbClr val="1F2937"/>
          </a:solidFill>
          <a:ln/>
        </p:spPr>
        <p:txBody>
          <a:bodyPr/>
          <a:lstStyle/>
          <a:p>
            <a:endParaRPr lang="en-US"/>
          </a:p>
        </p:txBody>
      </p:sp>
      <p:sp>
        <p:nvSpPr>
          <p:cNvPr id="15" name="bracket">
            <a:extLst>
              <a:ext uri="{C183D7F6-B498-43B3-948B-1728B52AA6E4}">
                <adec:decorative xmlns:adec="http://schemas.microsoft.com/office/drawing/2017/decorative" val="1"/>
              </a:ext>
            </a:extLst>
          </p:cNvPr>
          <p:cNvSpPr/>
          <p:nvPr/>
        </p:nvSpPr>
        <p:spPr>
          <a:xfrm>
            <a:off x="9486900" y="2514600"/>
            <a:ext cx="41148" cy="1051560"/>
          </a:xfrm>
          <a:prstGeom prst="rect">
            <a:avLst/>
          </a:prstGeom>
          <a:solidFill>
            <a:srgbClr val="1F2937"/>
          </a:solidFill>
          <a:ln/>
        </p:spPr>
        <p:txBody>
          <a:bodyPr/>
          <a:lstStyle/>
          <a:p>
            <a:endParaRPr lang="en-US"/>
          </a:p>
        </p:txBody>
      </p:sp>
      <p:sp>
        <p:nvSpPr>
          <p:cNvPr id="16" name="bracket">
            <a:extLst>
              <a:ext uri="{C183D7F6-B498-43B3-948B-1728B52AA6E4}">
                <adec:decorative xmlns:adec="http://schemas.microsoft.com/office/drawing/2017/decorative" val="1"/>
              </a:ext>
            </a:extLst>
          </p:cNvPr>
          <p:cNvSpPr/>
          <p:nvPr/>
        </p:nvSpPr>
        <p:spPr>
          <a:xfrm>
            <a:off x="9363456" y="2514600"/>
            <a:ext cx="164592" cy="41148"/>
          </a:xfrm>
          <a:prstGeom prst="rect">
            <a:avLst/>
          </a:prstGeom>
          <a:solidFill>
            <a:srgbClr val="1F2937"/>
          </a:solidFill>
          <a:ln/>
        </p:spPr>
        <p:txBody>
          <a:bodyPr/>
          <a:lstStyle/>
          <a:p>
            <a:endParaRPr lang="en-US"/>
          </a:p>
        </p:txBody>
      </p:sp>
      <p:sp>
        <p:nvSpPr>
          <p:cNvPr id="17" name="bracket">
            <a:extLst>
              <a:ext uri="{C183D7F6-B498-43B3-948B-1728B52AA6E4}">
                <adec:decorative xmlns:adec="http://schemas.microsoft.com/office/drawing/2017/decorative" val="1"/>
              </a:ext>
            </a:extLst>
          </p:cNvPr>
          <p:cNvSpPr/>
          <p:nvPr/>
        </p:nvSpPr>
        <p:spPr>
          <a:xfrm>
            <a:off x="9363456" y="3525012"/>
            <a:ext cx="164592" cy="41148"/>
          </a:xfrm>
          <a:prstGeom prst="rect">
            <a:avLst/>
          </a:prstGeom>
          <a:solidFill>
            <a:srgbClr val="1F2937"/>
          </a:solidFill>
          <a:ln/>
        </p:spPr>
        <p:txBody>
          <a:bodyPr/>
          <a:lstStyle/>
          <a:p>
            <a:endParaRPr lang="en-US"/>
          </a:p>
        </p:txBody>
      </p:sp>
      <p:sp>
        <p:nvSpPr>
          <p:cNvPr id="18" name="Text 16"/>
          <p:cNvSpPr/>
          <p:nvPr/>
        </p:nvSpPr>
        <p:spPr>
          <a:xfrm>
            <a:off x="8869680" y="2514600"/>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1</a:t>
            </a:r>
            <a:endParaRPr lang="en-US" sz="2200" dirty="0"/>
          </a:p>
          <a:p>
            <a:pPr marL="0" indent="0" algn="ctr">
              <a:lnSpc>
                <a:spcPct val="100000"/>
              </a:lnSpc>
              <a:buNone/>
            </a:pPr>
            <a:r>
              <a:rPr lang="en-US" sz="2200" b="1" dirty="0">
                <a:solidFill>
                  <a:srgbClr val="1F2937"/>
                </a:solidFill>
              </a:rPr>
              <a:t>0</a:t>
            </a:r>
            <a:endParaRPr lang="en-US" sz="2200" dirty="0"/>
          </a:p>
        </p:txBody>
      </p:sp>
      <p:sp>
        <p:nvSpPr>
          <p:cNvPr id="19" name="ket1 card">
            <a:extLst>
              <a:ext uri="{C183D7F6-B498-43B3-948B-1728B52AA6E4}">
                <adec:decorative xmlns:adec="http://schemas.microsoft.com/office/drawing/2017/decorative" val="1"/>
              </a:ext>
            </a:extLst>
          </p:cNvPr>
          <p:cNvSpPr/>
          <p:nvPr/>
        </p:nvSpPr>
        <p:spPr>
          <a:xfrm>
            <a:off x="6400800" y="3977640"/>
            <a:ext cx="5029200" cy="1417320"/>
          </a:xfrm>
          <a:prstGeom prst="roundRect">
            <a:avLst>
              <a:gd name="adj" fmla="val 5161"/>
            </a:avLst>
          </a:prstGeom>
          <a:solidFill>
            <a:srgbClr val="CCFBF1"/>
          </a:solidFill>
          <a:ln/>
        </p:spPr>
        <p:txBody>
          <a:bodyPr/>
          <a:lstStyle/>
          <a:p>
            <a:endParaRPr lang="en-US"/>
          </a:p>
        </p:txBody>
      </p:sp>
      <p:sp>
        <p:nvSpPr>
          <p:cNvPr id="20" name="Text 18"/>
          <p:cNvSpPr/>
          <p:nvPr/>
        </p:nvSpPr>
        <p:spPr>
          <a:xfrm>
            <a:off x="6720840" y="3977640"/>
            <a:ext cx="2103120" cy="1417320"/>
          </a:xfrm>
          <a:prstGeom prst="rect">
            <a:avLst/>
          </a:prstGeom>
          <a:noFill/>
          <a:ln/>
        </p:spPr>
        <p:txBody>
          <a:bodyPr wrap="square" lIns="0" tIns="0" rIns="0" bIns="0" rtlCol="0" anchor="ctr"/>
          <a:lstStyle/>
          <a:p>
            <a:pPr marL="0" indent="0" algn="l">
              <a:buNone/>
            </a:pPr>
            <a:r>
              <a:rPr lang="en-US" sz="2800" b="1" dirty="0">
                <a:solidFill>
                  <a:srgbClr val="0D9488"/>
                </a:solidFill>
                <a:latin typeface="Cambria Math" pitchFamily="34" charset="0"/>
                <a:ea typeface="Cambria Math" pitchFamily="34" charset="-122"/>
                <a:cs typeface="Cambria Math" pitchFamily="34" charset="-120"/>
              </a:rPr>
              <a:t>|1⟩  =</a:t>
            </a:r>
            <a:endParaRPr lang="en-US" sz="2800" dirty="0"/>
          </a:p>
        </p:txBody>
      </p:sp>
      <p:sp>
        <p:nvSpPr>
          <p:cNvPr id="21" name="bracket">
            <a:extLst>
              <a:ext uri="{C183D7F6-B498-43B3-948B-1728B52AA6E4}">
                <adec:decorative xmlns:adec="http://schemas.microsoft.com/office/drawing/2017/decorative" val="1"/>
              </a:ext>
            </a:extLst>
          </p:cNvPr>
          <p:cNvSpPr/>
          <p:nvPr/>
        </p:nvSpPr>
        <p:spPr>
          <a:xfrm>
            <a:off x="8869680" y="4160520"/>
            <a:ext cx="41148" cy="1051560"/>
          </a:xfrm>
          <a:prstGeom prst="rect">
            <a:avLst/>
          </a:prstGeom>
          <a:solidFill>
            <a:srgbClr val="1F2937"/>
          </a:solidFill>
          <a:ln/>
        </p:spPr>
        <p:txBody>
          <a:bodyPr/>
          <a:lstStyle/>
          <a:p>
            <a:endParaRPr lang="en-US"/>
          </a:p>
        </p:txBody>
      </p:sp>
      <p:sp>
        <p:nvSpPr>
          <p:cNvPr id="22" name="bracket">
            <a:extLst>
              <a:ext uri="{C183D7F6-B498-43B3-948B-1728B52AA6E4}">
                <adec:decorative xmlns:adec="http://schemas.microsoft.com/office/drawing/2017/decorative" val="1"/>
              </a:ext>
            </a:extLst>
          </p:cNvPr>
          <p:cNvSpPr/>
          <p:nvPr/>
        </p:nvSpPr>
        <p:spPr>
          <a:xfrm>
            <a:off x="8869680" y="4160520"/>
            <a:ext cx="164592" cy="41148"/>
          </a:xfrm>
          <a:prstGeom prst="rect">
            <a:avLst/>
          </a:prstGeom>
          <a:solidFill>
            <a:srgbClr val="1F2937"/>
          </a:solidFill>
          <a:ln/>
        </p:spPr>
        <p:txBody>
          <a:bodyPr/>
          <a:lstStyle/>
          <a:p>
            <a:endParaRPr lang="en-US"/>
          </a:p>
        </p:txBody>
      </p:sp>
      <p:sp>
        <p:nvSpPr>
          <p:cNvPr id="23" name="bracket">
            <a:extLst>
              <a:ext uri="{C183D7F6-B498-43B3-948B-1728B52AA6E4}">
                <adec:decorative xmlns:adec="http://schemas.microsoft.com/office/drawing/2017/decorative" val="1"/>
              </a:ext>
            </a:extLst>
          </p:cNvPr>
          <p:cNvSpPr/>
          <p:nvPr/>
        </p:nvSpPr>
        <p:spPr>
          <a:xfrm>
            <a:off x="8869680" y="5170932"/>
            <a:ext cx="164592" cy="41148"/>
          </a:xfrm>
          <a:prstGeom prst="rect">
            <a:avLst/>
          </a:prstGeom>
          <a:solidFill>
            <a:srgbClr val="1F2937"/>
          </a:solidFill>
          <a:ln/>
        </p:spPr>
        <p:txBody>
          <a:bodyPr/>
          <a:lstStyle/>
          <a:p>
            <a:endParaRPr lang="en-US"/>
          </a:p>
        </p:txBody>
      </p:sp>
      <p:sp>
        <p:nvSpPr>
          <p:cNvPr id="24" name="bracket">
            <a:extLst>
              <a:ext uri="{C183D7F6-B498-43B3-948B-1728B52AA6E4}">
                <adec:decorative xmlns:adec="http://schemas.microsoft.com/office/drawing/2017/decorative" val="1"/>
              </a:ext>
            </a:extLst>
          </p:cNvPr>
          <p:cNvSpPr/>
          <p:nvPr/>
        </p:nvSpPr>
        <p:spPr>
          <a:xfrm>
            <a:off x="9486900" y="4160520"/>
            <a:ext cx="41148" cy="1051560"/>
          </a:xfrm>
          <a:prstGeom prst="rect">
            <a:avLst/>
          </a:prstGeom>
          <a:solidFill>
            <a:srgbClr val="1F2937"/>
          </a:solidFill>
          <a:ln/>
        </p:spPr>
        <p:txBody>
          <a:bodyPr/>
          <a:lstStyle/>
          <a:p>
            <a:endParaRPr lang="en-US"/>
          </a:p>
        </p:txBody>
      </p:sp>
      <p:sp>
        <p:nvSpPr>
          <p:cNvPr id="25" name="bracket">
            <a:extLst>
              <a:ext uri="{C183D7F6-B498-43B3-948B-1728B52AA6E4}">
                <adec:decorative xmlns:adec="http://schemas.microsoft.com/office/drawing/2017/decorative" val="1"/>
              </a:ext>
            </a:extLst>
          </p:cNvPr>
          <p:cNvSpPr/>
          <p:nvPr/>
        </p:nvSpPr>
        <p:spPr>
          <a:xfrm>
            <a:off x="9363456" y="4160520"/>
            <a:ext cx="164592" cy="41148"/>
          </a:xfrm>
          <a:prstGeom prst="rect">
            <a:avLst/>
          </a:prstGeom>
          <a:solidFill>
            <a:srgbClr val="1F2937"/>
          </a:solidFill>
          <a:ln/>
        </p:spPr>
        <p:txBody>
          <a:bodyPr/>
          <a:lstStyle/>
          <a:p>
            <a:endParaRPr lang="en-US"/>
          </a:p>
        </p:txBody>
      </p:sp>
      <p:sp>
        <p:nvSpPr>
          <p:cNvPr id="26" name="bracket">
            <a:extLst>
              <a:ext uri="{C183D7F6-B498-43B3-948B-1728B52AA6E4}">
                <adec:decorative xmlns:adec="http://schemas.microsoft.com/office/drawing/2017/decorative" val="1"/>
              </a:ext>
            </a:extLst>
          </p:cNvPr>
          <p:cNvSpPr/>
          <p:nvPr/>
        </p:nvSpPr>
        <p:spPr>
          <a:xfrm>
            <a:off x="9363456" y="5170932"/>
            <a:ext cx="164592" cy="41148"/>
          </a:xfrm>
          <a:prstGeom prst="rect">
            <a:avLst/>
          </a:prstGeom>
          <a:solidFill>
            <a:srgbClr val="1F2937"/>
          </a:solidFill>
          <a:ln/>
        </p:spPr>
        <p:txBody>
          <a:bodyPr/>
          <a:lstStyle/>
          <a:p>
            <a:endParaRPr lang="en-US"/>
          </a:p>
        </p:txBody>
      </p:sp>
      <p:sp>
        <p:nvSpPr>
          <p:cNvPr id="27" name="Text 25"/>
          <p:cNvSpPr/>
          <p:nvPr/>
        </p:nvSpPr>
        <p:spPr>
          <a:xfrm>
            <a:off x="8869680" y="4160520"/>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0</a:t>
            </a:r>
            <a:endParaRPr lang="en-US" sz="2200" dirty="0"/>
          </a:p>
          <a:p>
            <a:pPr marL="0" indent="0" algn="ctr">
              <a:lnSpc>
                <a:spcPct val="100000"/>
              </a:lnSpc>
              <a:buNone/>
            </a:pPr>
            <a:r>
              <a:rPr lang="en-US" sz="2200" b="1" dirty="0">
                <a:solidFill>
                  <a:srgbClr val="1F2937"/>
                </a:solidFill>
              </a:rPr>
              <a:t>1</a:t>
            </a:r>
            <a:endParaRPr lang="en-US" sz="2200" dirty="0"/>
          </a:p>
        </p:txBody>
      </p:sp>
      <p:sp>
        <p:nvSpPr>
          <p:cNvPr id="28" name="Bottom note band">
            <a:extLst>
              <a:ext uri="{C183D7F6-B498-43B3-948B-1728B52AA6E4}">
                <adec:decorative xmlns:adec="http://schemas.microsoft.com/office/drawing/2017/decorative" val="1"/>
              </a:ext>
            </a:extLst>
          </p:cNvPr>
          <p:cNvSpPr/>
          <p:nvPr/>
        </p:nvSpPr>
        <p:spPr>
          <a:xfrm>
            <a:off x="548640" y="5989320"/>
            <a:ext cx="11091672" cy="566928"/>
          </a:xfrm>
          <a:prstGeom prst="rect">
            <a:avLst/>
          </a:prstGeom>
          <a:solidFill>
            <a:srgbClr val="EEF2FF"/>
          </a:solidFill>
          <a:ln/>
        </p:spPr>
        <p:txBody>
          <a:bodyPr/>
          <a:lstStyle/>
          <a:p>
            <a:endParaRPr lang="en-US"/>
          </a:p>
        </p:txBody>
      </p:sp>
      <p:sp>
        <p:nvSpPr>
          <p:cNvPr id="29" name="Bottom note accent">
            <a:extLst>
              <a:ext uri="{C183D7F6-B498-43B3-948B-1728B52AA6E4}">
                <adec:decorative xmlns:adec="http://schemas.microsoft.com/office/drawing/2017/decorative" val="1"/>
              </a:ext>
            </a:extLst>
          </p:cNvPr>
          <p:cNvSpPr/>
          <p:nvPr/>
        </p:nvSpPr>
        <p:spPr>
          <a:xfrm>
            <a:off x="548640" y="5989320"/>
            <a:ext cx="82296" cy="566928"/>
          </a:xfrm>
          <a:prstGeom prst="rect">
            <a:avLst/>
          </a:prstGeom>
          <a:solidFill>
            <a:srgbClr val="4F46E5"/>
          </a:solidFill>
          <a:ln/>
        </p:spPr>
        <p:txBody>
          <a:bodyPr/>
          <a:lstStyle/>
          <a:p>
            <a:endParaRPr lang="en-US"/>
          </a:p>
        </p:txBody>
      </p:sp>
      <p:sp>
        <p:nvSpPr>
          <p:cNvPr id="30" name="Text 28"/>
          <p:cNvSpPr/>
          <p:nvPr/>
        </p:nvSpPr>
        <p:spPr>
          <a:xfrm>
            <a:off x="777240" y="5989320"/>
            <a:ext cx="10744200" cy="566928"/>
          </a:xfrm>
          <a:prstGeom prst="rect">
            <a:avLst/>
          </a:prstGeom>
          <a:noFill/>
          <a:ln/>
        </p:spPr>
        <p:txBody>
          <a:bodyPr wrap="square" lIns="0" tIns="0" rIns="0" bIns="0" rtlCol="0" anchor="ctr"/>
          <a:lstStyle/>
          <a:p>
            <a:pPr marL="0" indent="0" algn="l">
              <a:buNone/>
            </a:pPr>
            <a:r>
              <a:rPr lang="en-US" sz="1350" i="1" dirty="0">
                <a:solidFill>
                  <a:srgbClr val="3730A3"/>
                </a:solidFill>
              </a:rPr>
              <a:t>These vectors form the computational basis of a single qubit.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Arbitrary Polarization State</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Equation band">
            <a:extLst>
              <a:ext uri="{C183D7F6-B498-43B3-948B-1728B52AA6E4}">
                <adec:decorative xmlns:adec="http://schemas.microsoft.com/office/drawing/2017/decorative" val="1"/>
              </a:ext>
            </a:extLst>
          </p:cNvPr>
          <p:cNvSpPr/>
          <p:nvPr/>
        </p:nvSpPr>
        <p:spPr>
          <a:xfrm>
            <a:off x="731520" y="1691640"/>
            <a:ext cx="10725912" cy="1097280"/>
          </a:xfrm>
          <a:prstGeom prst="roundRect">
            <a:avLst>
              <a:gd name="adj" fmla="val 5000"/>
            </a:avLst>
          </a:prstGeom>
          <a:solidFill>
            <a:srgbClr val="EEF2FF"/>
          </a:solidFill>
          <a:ln/>
        </p:spPr>
        <p:txBody>
          <a:bodyPr/>
          <a:lstStyle/>
          <a:p>
            <a:endParaRPr lang="en-US"/>
          </a:p>
        </p:txBody>
      </p:sp>
      <p:sp>
        <p:nvSpPr>
          <p:cNvPr id="5" name="Text 3"/>
          <p:cNvSpPr/>
          <p:nvPr/>
        </p:nvSpPr>
        <p:spPr>
          <a:xfrm>
            <a:off x="731520" y="1691640"/>
            <a:ext cx="10725912" cy="1097280"/>
          </a:xfrm>
          <a:prstGeom prst="rect">
            <a:avLst/>
          </a:prstGeom>
          <a:noFill/>
          <a:ln/>
        </p:spPr>
        <p:txBody>
          <a:bodyPr wrap="square" lIns="0" tIns="0" rIns="0" bIns="0" rtlCol="0" anchor="ctr"/>
          <a:lstStyle/>
          <a:p>
            <a:pPr marL="0" indent="0" algn="ctr">
              <a:buNone/>
            </a:pPr>
            <a:r>
              <a:rPr lang="en-US" sz="4000" b="1" dirty="0">
                <a:solidFill>
                  <a:srgbClr val="3730A3"/>
                </a:solidFill>
                <a:latin typeface="Cambria Math" pitchFamily="34" charset="0"/>
                <a:ea typeface="Cambria Math" pitchFamily="34" charset="-122"/>
                <a:cs typeface="Cambria Math" pitchFamily="34" charset="-120"/>
              </a:rPr>
              <a:t>|ψ⟩  =  α|0⟩  +  β|1⟩</a:t>
            </a:r>
            <a:endParaRPr lang="en-US" sz="4000" dirty="0"/>
          </a:p>
        </p:txBody>
      </p:sp>
      <p:sp>
        <p:nvSpPr>
          <p:cNvPr id="6" name="Conditions card">
            <a:extLst>
              <a:ext uri="{C183D7F6-B498-43B3-948B-1728B52AA6E4}">
                <adec:decorative xmlns:adec="http://schemas.microsoft.com/office/drawing/2017/decorative" val="1"/>
              </a:ext>
            </a:extLst>
          </p:cNvPr>
          <p:cNvSpPr/>
          <p:nvPr/>
        </p:nvSpPr>
        <p:spPr>
          <a:xfrm>
            <a:off x="731520" y="3063240"/>
            <a:ext cx="5029200" cy="233172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7" name="Text 5"/>
          <p:cNvSpPr/>
          <p:nvPr/>
        </p:nvSpPr>
        <p:spPr>
          <a:xfrm>
            <a:off x="1005840" y="3246120"/>
            <a:ext cx="4480560" cy="457200"/>
          </a:xfrm>
          <a:prstGeom prst="rect">
            <a:avLst/>
          </a:prstGeom>
          <a:noFill/>
          <a:ln/>
        </p:spPr>
        <p:txBody>
          <a:bodyPr wrap="square" lIns="0" tIns="0" rIns="0" bIns="0" rtlCol="0" anchor="ctr"/>
          <a:lstStyle/>
          <a:p>
            <a:pPr marL="0" indent="0" algn="l">
              <a:buNone/>
            </a:pPr>
            <a:r>
              <a:rPr lang="en-US" sz="1700" b="1" dirty="0">
                <a:solidFill>
                  <a:srgbClr val="475569"/>
                </a:solidFill>
              </a:rPr>
              <a:t>Conditions</a:t>
            </a:r>
            <a:endParaRPr lang="en-US" sz="1700" dirty="0"/>
          </a:p>
        </p:txBody>
      </p:sp>
      <p:sp>
        <p:nvSpPr>
          <p:cNvPr id="8" name="Text 6"/>
          <p:cNvSpPr/>
          <p:nvPr/>
        </p:nvSpPr>
        <p:spPr>
          <a:xfrm>
            <a:off x="1005840" y="3840480"/>
            <a:ext cx="4480560" cy="1371600"/>
          </a:xfrm>
          <a:prstGeom prst="rect">
            <a:avLst/>
          </a:prstGeom>
          <a:noFill/>
          <a:ln/>
        </p:spPr>
        <p:txBody>
          <a:bodyPr wrap="square" lIns="0" tIns="0" rIns="0" bIns="0" rtlCol="0" anchor="t"/>
          <a:lstStyle/>
          <a:p>
            <a:pPr marL="0" indent="0" algn="l">
              <a:spcAft>
                <a:spcPts val="1400"/>
              </a:spcAft>
              <a:buNone/>
            </a:pPr>
            <a:r>
              <a:rPr lang="en-US" sz="2600" b="1" dirty="0">
                <a:solidFill>
                  <a:srgbClr val="3730A3"/>
                </a:solidFill>
                <a:latin typeface="Cambria Math" pitchFamily="34" charset="0"/>
                <a:ea typeface="Cambria Math" pitchFamily="34" charset="-122"/>
                <a:cs typeface="Cambria Math" pitchFamily="34" charset="-120"/>
              </a:rPr>
              <a:t>α, β ∈ ℂ</a:t>
            </a:r>
            <a:endParaRPr lang="en-US" sz="2600" dirty="0"/>
          </a:p>
          <a:p>
            <a:pPr marL="0" indent="0" algn="l">
              <a:buNone/>
            </a:pPr>
            <a:r>
              <a:rPr lang="en-US" sz="2600" b="1" dirty="0">
                <a:solidFill>
                  <a:srgbClr val="3730A3"/>
                </a:solidFill>
                <a:latin typeface="Cambria Math" pitchFamily="34" charset="0"/>
                <a:ea typeface="Cambria Math" pitchFamily="34" charset="-122"/>
                <a:cs typeface="Cambria Math" pitchFamily="34" charset="-120"/>
              </a:rPr>
              <a:t>|α|² + |β|² = 1</a:t>
            </a:r>
            <a:endParaRPr lang="en-US" sz="2600" dirty="0"/>
          </a:p>
        </p:txBody>
      </p:sp>
      <p:sp>
        <p:nvSpPr>
          <p:cNvPr id="9" name="axis">
            <a:extLst>
              <a:ext uri="{C183D7F6-B498-43B3-948B-1728B52AA6E4}">
                <adec:decorative xmlns:adec="http://schemas.microsoft.com/office/drawing/2017/decorative" val="1"/>
              </a:ext>
            </a:extLst>
          </p:cNvPr>
          <p:cNvSpPr/>
          <p:nvPr/>
        </p:nvSpPr>
        <p:spPr>
          <a:xfrm flipV="1">
            <a:off x="6949440" y="3291840"/>
            <a:ext cx="0" cy="1828800"/>
          </a:xfrm>
          <a:prstGeom prst="line">
            <a:avLst/>
          </a:prstGeom>
          <a:noFill/>
          <a:ln w="25400">
            <a:solidFill>
              <a:srgbClr val="475569"/>
            </a:solidFill>
            <a:prstDash val="solid"/>
            <a:tailEnd type="triangle"/>
          </a:ln>
        </p:spPr>
        <p:txBody>
          <a:bodyPr/>
          <a:lstStyle/>
          <a:p>
            <a:endParaRPr lang="en-US"/>
          </a:p>
        </p:txBody>
      </p:sp>
      <p:sp>
        <p:nvSpPr>
          <p:cNvPr id="10" name="axis">
            <a:extLst>
              <a:ext uri="{C183D7F6-B498-43B3-948B-1728B52AA6E4}">
                <adec:decorative xmlns:adec="http://schemas.microsoft.com/office/drawing/2017/decorative" val="1"/>
              </a:ext>
            </a:extLst>
          </p:cNvPr>
          <p:cNvSpPr/>
          <p:nvPr/>
        </p:nvSpPr>
        <p:spPr>
          <a:xfrm>
            <a:off x="6949440" y="5120640"/>
            <a:ext cx="3566160" cy="0"/>
          </a:xfrm>
          <a:prstGeom prst="line">
            <a:avLst/>
          </a:prstGeom>
          <a:noFill/>
          <a:ln w="25400">
            <a:solidFill>
              <a:srgbClr val="475569"/>
            </a:solidFill>
            <a:prstDash val="solid"/>
            <a:tailEnd type="triangle"/>
          </a:ln>
        </p:spPr>
        <p:txBody>
          <a:bodyPr/>
          <a:lstStyle/>
          <a:p>
            <a:endParaRPr lang="en-US"/>
          </a:p>
        </p:txBody>
      </p:sp>
      <p:sp>
        <p:nvSpPr>
          <p:cNvPr id="11" name="state vector">
            <a:extLst>
              <a:ext uri="{C183D7F6-B498-43B3-948B-1728B52AA6E4}">
                <adec:decorative xmlns:adec="http://schemas.microsoft.com/office/drawing/2017/decorative" val="1"/>
              </a:ext>
            </a:extLst>
          </p:cNvPr>
          <p:cNvSpPr/>
          <p:nvPr/>
        </p:nvSpPr>
        <p:spPr>
          <a:xfrm flipV="1">
            <a:off x="6949440" y="3703320"/>
            <a:ext cx="2331720" cy="1417320"/>
          </a:xfrm>
          <a:prstGeom prst="line">
            <a:avLst/>
          </a:prstGeom>
          <a:noFill/>
          <a:ln w="50800">
            <a:solidFill>
              <a:srgbClr val="4F46E5"/>
            </a:solidFill>
            <a:prstDash val="solid"/>
            <a:tailEnd type="triangle"/>
          </a:ln>
        </p:spPr>
        <p:txBody>
          <a:bodyPr/>
          <a:lstStyle/>
          <a:p>
            <a:endParaRPr lang="en-US"/>
          </a:p>
        </p:txBody>
      </p:sp>
      <p:sp>
        <p:nvSpPr>
          <p:cNvPr id="12" name="Text 10"/>
          <p:cNvSpPr/>
          <p:nvPr/>
        </p:nvSpPr>
        <p:spPr>
          <a:xfrm>
            <a:off x="6263640" y="2971800"/>
            <a:ext cx="640080" cy="36576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Math" pitchFamily="34" charset="0"/>
                <a:ea typeface="Cambria Math" pitchFamily="34" charset="-122"/>
                <a:cs typeface="Cambria Math" pitchFamily="34" charset="-120"/>
              </a:rPr>
              <a:t>|0⟩</a:t>
            </a:r>
            <a:endParaRPr lang="en-US" sz="1600" dirty="0"/>
          </a:p>
        </p:txBody>
      </p:sp>
      <p:sp>
        <p:nvSpPr>
          <p:cNvPr id="13" name="Text 11"/>
          <p:cNvSpPr/>
          <p:nvPr/>
        </p:nvSpPr>
        <p:spPr>
          <a:xfrm>
            <a:off x="10424160" y="5074920"/>
            <a:ext cx="640080" cy="365760"/>
          </a:xfrm>
          <a:prstGeom prst="rect">
            <a:avLst/>
          </a:prstGeom>
          <a:noFill/>
          <a:ln/>
        </p:spPr>
        <p:txBody>
          <a:bodyPr wrap="square" lIns="0" tIns="0" rIns="0" bIns="0" rtlCol="0" anchor="ctr"/>
          <a:lstStyle/>
          <a:p>
            <a:pPr marL="0" indent="0" algn="l">
              <a:buNone/>
            </a:pPr>
            <a:r>
              <a:rPr lang="en-US" sz="1600" b="1" dirty="0">
                <a:solidFill>
                  <a:srgbClr val="0D9488"/>
                </a:solidFill>
                <a:latin typeface="Cambria Math" pitchFamily="34" charset="0"/>
                <a:ea typeface="Cambria Math" pitchFamily="34" charset="-122"/>
                <a:cs typeface="Cambria Math" pitchFamily="34" charset="-120"/>
              </a:rPr>
              <a:t>|1⟩</a:t>
            </a:r>
            <a:endParaRPr lang="en-US" sz="1600" dirty="0"/>
          </a:p>
        </p:txBody>
      </p:sp>
      <p:sp>
        <p:nvSpPr>
          <p:cNvPr id="14" name="Text 12"/>
          <p:cNvSpPr/>
          <p:nvPr/>
        </p:nvSpPr>
        <p:spPr>
          <a:xfrm>
            <a:off x="9098280" y="3337560"/>
            <a:ext cx="822960" cy="365760"/>
          </a:xfrm>
          <a:prstGeom prst="rect">
            <a:avLst/>
          </a:prstGeom>
          <a:noFill/>
          <a:ln/>
        </p:spPr>
        <p:txBody>
          <a:bodyPr wrap="square" lIns="0" tIns="0" rIns="0" bIns="0" rtlCol="0" anchor="ctr"/>
          <a:lstStyle/>
          <a:p>
            <a:pPr marL="0" indent="0" algn="l">
              <a:buNone/>
            </a:pPr>
            <a:r>
              <a:rPr lang="en-US" sz="1700" b="1" dirty="0">
                <a:solidFill>
                  <a:srgbClr val="4F46E5"/>
                </a:solidFill>
                <a:latin typeface="Cambria Math" pitchFamily="34" charset="0"/>
                <a:ea typeface="Cambria Math" pitchFamily="34" charset="-122"/>
                <a:cs typeface="Cambria Math" pitchFamily="34" charset="-120"/>
              </a:rPr>
              <a:t>|ψ⟩</a:t>
            </a:r>
            <a:endParaRPr lang="en-US" sz="1700" dirty="0"/>
          </a:p>
        </p:txBody>
      </p:sp>
      <p:sp>
        <p:nvSpPr>
          <p:cNvPr id="15" name="Bottom note band">
            <a:extLst>
              <a:ext uri="{C183D7F6-B498-43B3-948B-1728B52AA6E4}">
                <adec:decorative xmlns:adec="http://schemas.microsoft.com/office/drawing/2017/decorative" val="1"/>
              </a:ext>
            </a:extLst>
          </p:cNvPr>
          <p:cNvSpPr/>
          <p:nvPr/>
        </p:nvSpPr>
        <p:spPr>
          <a:xfrm>
            <a:off x="548640" y="5989320"/>
            <a:ext cx="11091672" cy="566928"/>
          </a:xfrm>
          <a:prstGeom prst="rect">
            <a:avLst/>
          </a:prstGeom>
          <a:solidFill>
            <a:srgbClr val="EEF2FF"/>
          </a:solidFill>
          <a:ln/>
        </p:spPr>
        <p:txBody>
          <a:bodyPr/>
          <a:lstStyle/>
          <a:p>
            <a:endParaRPr lang="en-US"/>
          </a:p>
        </p:txBody>
      </p:sp>
      <p:sp>
        <p:nvSpPr>
          <p:cNvPr id="16" name="Bottom note accent">
            <a:extLst>
              <a:ext uri="{C183D7F6-B498-43B3-948B-1728B52AA6E4}">
                <adec:decorative xmlns:adec="http://schemas.microsoft.com/office/drawing/2017/decorative" val="1"/>
              </a:ext>
            </a:extLst>
          </p:cNvPr>
          <p:cNvSpPr/>
          <p:nvPr/>
        </p:nvSpPr>
        <p:spPr>
          <a:xfrm>
            <a:off x="548640" y="5989320"/>
            <a:ext cx="82296" cy="566928"/>
          </a:xfrm>
          <a:prstGeom prst="rect">
            <a:avLst/>
          </a:prstGeom>
          <a:solidFill>
            <a:srgbClr val="4F46E5"/>
          </a:solidFill>
          <a:ln/>
        </p:spPr>
        <p:txBody>
          <a:bodyPr/>
          <a:lstStyle/>
          <a:p>
            <a:endParaRPr lang="en-US"/>
          </a:p>
        </p:txBody>
      </p:sp>
      <p:sp>
        <p:nvSpPr>
          <p:cNvPr id="17" name="Text 15"/>
          <p:cNvSpPr/>
          <p:nvPr/>
        </p:nvSpPr>
        <p:spPr>
          <a:xfrm>
            <a:off x="777240" y="5989320"/>
            <a:ext cx="10744200" cy="566928"/>
          </a:xfrm>
          <a:prstGeom prst="rect">
            <a:avLst/>
          </a:prstGeom>
          <a:noFill/>
          <a:ln/>
        </p:spPr>
        <p:txBody>
          <a:bodyPr wrap="square" lIns="0" tIns="0" rIns="0" bIns="0" rtlCol="0" anchor="ctr"/>
          <a:lstStyle/>
          <a:p>
            <a:pPr marL="0" indent="0" algn="l">
              <a:buNone/>
            </a:pPr>
            <a:r>
              <a:rPr lang="en-US" sz="1350" i="1" dirty="0">
                <a:solidFill>
                  <a:srgbClr val="3730A3"/>
                </a:solidFill>
              </a:rPr>
              <a:t>Every pure qubit state is a superposition of basis states.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Normalization of a Quantum State</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Equation band">
            <a:extLst>
              <a:ext uri="{C183D7F6-B498-43B3-948B-1728B52AA6E4}">
                <adec:decorative xmlns:adec="http://schemas.microsoft.com/office/drawing/2017/decorative" val="1"/>
              </a:ext>
            </a:extLst>
          </p:cNvPr>
          <p:cNvSpPr/>
          <p:nvPr/>
        </p:nvSpPr>
        <p:spPr>
          <a:xfrm>
            <a:off x="731520" y="1691640"/>
            <a:ext cx="10725912" cy="1097280"/>
          </a:xfrm>
          <a:prstGeom prst="roundRect">
            <a:avLst>
              <a:gd name="adj" fmla="val 5000"/>
            </a:avLst>
          </a:prstGeom>
          <a:solidFill>
            <a:srgbClr val="EEF2FF"/>
          </a:solidFill>
          <a:ln/>
        </p:spPr>
        <p:txBody>
          <a:bodyPr/>
          <a:lstStyle/>
          <a:p>
            <a:endParaRPr lang="en-US"/>
          </a:p>
        </p:txBody>
      </p:sp>
      <p:sp>
        <p:nvSpPr>
          <p:cNvPr id="5" name="Text 3"/>
          <p:cNvSpPr/>
          <p:nvPr/>
        </p:nvSpPr>
        <p:spPr>
          <a:xfrm>
            <a:off x="731520" y="1691640"/>
            <a:ext cx="10725912" cy="1097280"/>
          </a:xfrm>
          <a:prstGeom prst="rect">
            <a:avLst/>
          </a:prstGeom>
          <a:noFill/>
          <a:ln/>
        </p:spPr>
        <p:txBody>
          <a:bodyPr wrap="square" lIns="0" tIns="0" rIns="0" bIns="0" rtlCol="0" anchor="ctr"/>
          <a:lstStyle/>
          <a:p>
            <a:pPr marL="0" indent="0" algn="ctr">
              <a:buNone/>
            </a:pPr>
            <a:r>
              <a:rPr lang="en-US" sz="4000" b="1" dirty="0">
                <a:solidFill>
                  <a:srgbClr val="3730A3"/>
                </a:solidFill>
                <a:latin typeface="Cambria Math" pitchFamily="34" charset="0"/>
                <a:ea typeface="Cambria Math" pitchFamily="34" charset="-122"/>
                <a:cs typeface="Cambria Math" pitchFamily="34" charset="-120"/>
              </a:rPr>
              <a:t>|α|²  +  |β|²  =  1</a:t>
            </a:r>
            <a:endParaRPr lang="en-US" sz="4000" dirty="0"/>
          </a:p>
        </p:txBody>
      </p:sp>
      <p:sp>
        <p:nvSpPr>
          <p:cNvPr id="6" name="Why card">
            <a:extLst>
              <a:ext uri="{C183D7F6-B498-43B3-948B-1728B52AA6E4}">
                <adec:decorative xmlns:adec="http://schemas.microsoft.com/office/drawing/2017/decorative" val="1"/>
              </a:ext>
            </a:extLst>
          </p:cNvPr>
          <p:cNvSpPr/>
          <p:nvPr/>
        </p:nvSpPr>
        <p:spPr>
          <a:xfrm>
            <a:off x="731520" y="3108960"/>
            <a:ext cx="5486400" cy="2468880"/>
          </a:xfrm>
          <a:prstGeom prst="roundRect">
            <a:avLst>
              <a:gd name="adj" fmla="val 2963"/>
            </a:avLst>
          </a:prstGeom>
          <a:solidFill>
            <a:srgbClr val="FFFFFF"/>
          </a:solidFill>
          <a:ln w="15875">
            <a:solidFill>
              <a:srgbClr val="D1D5DB"/>
            </a:solidFill>
            <a:prstDash val="solid"/>
          </a:ln>
        </p:spPr>
        <p:txBody>
          <a:bodyPr/>
          <a:lstStyle/>
          <a:p>
            <a:endParaRPr lang="en-US"/>
          </a:p>
        </p:txBody>
      </p:sp>
      <p:sp>
        <p:nvSpPr>
          <p:cNvPr id="7" name="Text 5"/>
          <p:cNvSpPr/>
          <p:nvPr/>
        </p:nvSpPr>
        <p:spPr>
          <a:xfrm>
            <a:off x="1051560" y="3291840"/>
            <a:ext cx="4937760" cy="457200"/>
          </a:xfrm>
          <a:prstGeom prst="rect">
            <a:avLst/>
          </a:prstGeom>
          <a:noFill/>
          <a:ln/>
        </p:spPr>
        <p:txBody>
          <a:bodyPr wrap="square" lIns="0" tIns="0" rIns="0" bIns="0" rtlCol="0" anchor="ctr"/>
          <a:lstStyle/>
          <a:p>
            <a:pPr marL="0" indent="0" algn="l">
              <a:buNone/>
            </a:pPr>
            <a:r>
              <a:rPr lang="en-US" sz="1800" b="1" dirty="0">
                <a:solidFill>
                  <a:srgbClr val="0D9488"/>
                </a:solidFill>
              </a:rPr>
              <a:t>Why?</a:t>
            </a:r>
            <a:endParaRPr lang="en-US" sz="1800" dirty="0"/>
          </a:p>
        </p:txBody>
      </p:sp>
      <p:sp>
        <p:nvSpPr>
          <p:cNvPr id="8" name="Text 6"/>
          <p:cNvSpPr/>
          <p:nvPr/>
        </p:nvSpPr>
        <p:spPr>
          <a:xfrm>
            <a:off x="1051560" y="3886200"/>
            <a:ext cx="4937760" cy="1554480"/>
          </a:xfrm>
          <a:prstGeom prst="rect">
            <a:avLst/>
          </a:prstGeom>
          <a:noFill/>
          <a:ln/>
        </p:spPr>
        <p:txBody>
          <a:bodyPr wrap="square" rtlCol="0" anchor="t"/>
          <a:lstStyle/>
          <a:p>
            <a:pPr marL="228600" indent="-228600" algn="l">
              <a:lnSpc>
                <a:spcPct val="105000"/>
              </a:lnSpc>
              <a:spcAft>
                <a:spcPts val="1400"/>
              </a:spcAft>
              <a:buSzPct val="100000"/>
              <a:buChar char="•"/>
            </a:pPr>
            <a:r>
              <a:rPr lang="en-US" sz="1800" dirty="0">
                <a:solidFill>
                  <a:srgbClr val="1F2937"/>
                </a:solidFill>
                <a:latin typeface="Calibri" pitchFamily="34" charset="0"/>
                <a:ea typeface="Calibri" pitchFamily="34" charset="-122"/>
                <a:cs typeface="Calibri" pitchFamily="34" charset="-120"/>
              </a:rPr>
              <a:t>Total probability must equal one.</a:t>
            </a:r>
            <a:endParaRPr lang="en-US" sz="1800" dirty="0"/>
          </a:p>
          <a:p>
            <a:pPr marL="228600" indent="-228600" algn="l">
              <a:lnSpc>
                <a:spcPct val="105000"/>
              </a:lnSpc>
              <a:buSzPct val="100000"/>
              <a:buChar char="•"/>
            </a:pPr>
            <a:r>
              <a:rPr lang="en-US" sz="1800" dirty="0">
                <a:solidFill>
                  <a:srgbClr val="1F2937"/>
                </a:solidFill>
                <a:latin typeface="Calibri" pitchFamily="34" charset="0"/>
                <a:ea typeface="Calibri" pitchFamily="34" charset="-122"/>
                <a:cs typeface="Calibri" pitchFamily="34" charset="-120"/>
              </a:rPr>
              <a:t>The quantum state must have unit length.</a:t>
            </a:r>
            <a:endParaRPr lang="en-US" sz="1800" dirty="0"/>
          </a:p>
        </p:txBody>
      </p:sp>
      <p:sp>
        <p:nvSpPr>
          <p:cNvPr id="9" name="Unit circle">
            <a:extLst>
              <a:ext uri="{C183D7F6-B498-43B3-948B-1728B52AA6E4}">
                <adec:decorative xmlns:adec="http://schemas.microsoft.com/office/drawing/2017/decorative" val="1"/>
              </a:ext>
            </a:extLst>
          </p:cNvPr>
          <p:cNvSpPr/>
          <p:nvPr/>
        </p:nvSpPr>
        <p:spPr>
          <a:xfrm>
            <a:off x="7909560" y="3108960"/>
            <a:ext cx="2468880" cy="2468880"/>
          </a:xfrm>
          <a:prstGeom prst="ellipse">
            <a:avLst/>
          </a:prstGeom>
          <a:ln w="25400">
            <a:solidFill>
              <a:srgbClr val="3730A3"/>
            </a:solidFill>
            <a:prstDash val="solid"/>
          </a:ln>
        </p:spPr>
        <p:txBody>
          <a:bodyPr/>
          <a:lstStyle/>
          <a:p>
            <a:endParaRPr lang="en-US"/>
          </a:p>
        </p:txBody>
      </p:sp>
      <p:sp>
        <p:nvSpPr>
          <p:cNvPr id="10" name="axis">
            <a:extLst>
              <a:ext uri="{C183D7F6-B498-43B3-948B-1728B52AA6E4}">
                <adec:decorative xmlns:adec="http://schemas.microsoft.com/office/drawing/2017/decorative" val="1"/>
              </a:ext>
            </a:extLst>
          </p:cNvPr>
          <p:cNvSpPr/>
          <p:nvPr/>
        </p:nvSpPr>
        <p:spPr>
          <a:xfrm>
            <a:off x="7680960" y="4343400"/>
            <a:ext cx="2926080" cy="0"/>
          </a:xfrm>
          <a:prstGeom prst="line">
            <a:avLst/>
          </a:prstGeom>
          <a:noFill/>
          <a:ln w="12700">
            <a:solidFill>
              <a:srgbClr val="CBD5E1"/>
            </a:solidFill>
            <a:prstDash val="solid"/>
            <a:tailEnd type="triangle"/>
          </a:ln>
        </p:spPr>
        <p:txBody>
          <a:bodyPr/>
          <a:lstStyle/>
          <a:p>
            <a:endParaRPr lang="en-US"/>
          </a:p>
        </p:txBody>
      </p:sp>
      <p:sp>
        <p:nvSpPr>
          <p:cNvPr id="11" name="axis">
            <a:extLst>
              <a:ext uri="{C183D7F6-B498-43B3-948B-1728B52AA6E4}">
                <adec:decorative xmlns:adec="http://schemas.microsoft.com/office/drawing/2017/decorative" val="1"/>
              </a:ext>
            </a:extLst>
          </p:cNvPr>
          <p:cNvSpPr/>
          <p:nvPr/>
        </p:nvSpPr>
        <p:spPr>
          <a:xfrm flipV="1">
            <a:off x="9144000" y="2880360"/>
            <a:ext cx="0" cy="2926080"/>
          </a:xfrm>
          <a:prstGeom prst="line">
            <a:avLst/>
          </a:prstGeom>
          <a:noFill/>
          <a:ln w="12700">
            <a:solidFill>
              <a:srgbClr val="CBD5E1"/>
            </a:solidFill>
            <a:prstDash val="solid"/>
            <a:tailEnd type="triangle"/>
          </a:ln>
        </p:spPr>
        <p:txBody>
          <a:bodyPr/>
          <a:lstStyle/>
          <a:p>
            <a:endParaRPr lang="en-US"/>
          </a:p>
        </p:txBody>
      </p:sp>
      <p:sp>
        <p:nvSpPr>
          <p:cNvPr id="12" name="unit vector">
            <a:extLst>
              <a:ext uri="{C183D7F6-B498-43B3-948B-1728B52AA6E4}">
                <adec:decorative xmlns:adec="http://schemas.microsoft.com/office/drawing/2017/decorative" val="1"/>
              </a:ext>
            </a:extLst>
          </p:cNvPr>
          <p:cNvSpPr/>
          <p:nvPr/>
        </p:nvSpPr>
        <p:spPr>
          <a:xfrm flipV="1">
            <a:off x="9144000" y="3470651"/>
            <a:ext cx="872749" cy="872749"/>
          </a:xfrm>
          <a:prstGeom prst="line">
            <a:avLst/>
          </a:prstGeom>
          <a:noFill/>
          <a:ln w="50800">
            <a:solidFill>
              <a:srgbClr val="4F46E5"/>
            </a:solidFill>
            <a:prstDash val="solid"/>
            <a:tailEnd type="triangle"/>
          </a:ln>
        </p:spPr>
        <p:txBody>
          <a:bodyPr/>
          <a:lstStyle/>
          <a:p>
            <a:endParaRPr lang="en-US"/>
          </a:p>
        </p:txBody>
      </p:sp>
      <p:sp>
        <p:nvSpPr>
          <p:cNvPr id="13" name="Text 11"/>
          <p:cNvSpPr/>
          <p:nvPr/>
        </p:nvSpPr>
        <p:spPr>
          <a:xfrm>
            <a:off x="9464040" y="2926080"/>
            <a:ext cx="2011680" cy="365760"/>
          </a:xfrm>
          <a:prstGeom prst="rect">
            <a:avLst/>
          </a:prstGeom>
          <a:noFill/>
          <a:ln/>
        </p:spPr>
        <p:txBody>
          <a:bodyPr wrap="square" lIns="0" tIns="0" rIns="0" bIns="0" rtlCol="0" anchor="ctr"/>
          <a:lstStyle/>
          <a:p>
            <a:pPr marL="0" indent="0" algn="l">
              <a:buNone/>
            </a:pPr>
            <a:r>
              <a:rPr lang="en-US" sz="1300" b="1" i="1" dirty="0">
                <a:solidFill>
                  <a:srgbClr val="4F46E5"/>
                </a:solidFill>
              </a:rPr>
              <a:t>Normalization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The 45° Polarization State</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Equation band">
            <a:extLst>
              <a:ext uri="{C183D7F6-B498-43B3-948B-1728B52AA6E4}">
                <adec:decorative xmlns:adec="http://schemas.microsoft.com/office/drawing/2017/decorative" val="1"/>
              </a:ext>
            </a:extLst>
          </p:cNvPr>
          <p:cNvSpPr/>
          <p:nvPr/>
        </p:nvSpPr>
        <p:spPr>
          <a:xfrm>
            <a:off x="731520" y="1737360"/>
            <a:ext cx="10725912" cy="1371600"/>
          </a:xfrm>
          <a:prstGeom prst="roundRect">
            <a:avLst>
              <a:gd name="adj" fmla="val 4000"/>
            </a:avLst>
          </a:prstGeom>
          <a:solidFill>
            <a:srgbClr val="EEF2FF"/>
          </a:solidFill>
          <a:ln/>
        </p:spPr>
        <p:txBody>
          <a:bodyPr/>
          <a:lstStyle/>
          <a:p>
            <a:endParaRPr lang="en-US"/>
          </a:p>
        </p:txBody>
      </p:sp>
      <p:sp>
        <p:nvSpPr>
          <p:cNvPr id="5" name="Text 3"/>
          <p:cNvSpPr/>
          <p:nvPr/>
        </p:nvSpPr>
        <p:spPr>
          <a:xfrm>
            <a:off x="3200400" y="1965960"/>
            <a:ext cx="1737360" cy="914400"/>
          </a:xfrm>
          <a:prstGeom prst="rect">
            <a:avLst/>
          </a:prstGeom>
          <a:noFill/>
          <a:ln/>
        </p:spPr>
        <p:txBody>
          <a:bodyPr wrap="square" lIns="0" tIns="0" rIns="0" bIns="0" rtlCol="0" anchor="ctr"/>
          <a:lstStyle/>
          <a:p>
            <a:pPr marL="0" indent="0" algn="r">
              <a:buNone/>
            </a:pPr>
            <a:r>
              <a:rPr lang="en-US" sz="3600" b="1" dirty="0">
                <a:solidFill>
                  <a:srgbClr val="3730A3"/>
                </a:solidFill>
                <a:latin typeface="Cambria Math" pitchFamily="34" charset="0"/>
                <a:ea typeface="Cambria Math" pitchFamily="34" charset="-122"/>
                <a:cs typeface="Cambria Math" pitchFamily="34" charset="-120"/>
              </a:rPr>
              <a:t>|+⟩  =</a:t>
            </a:r>
            <a:endParaRPr lang="en-US" sz="3600" dirty="0"/>
          </a:p>
        </p:txBody>
      </p:sp>
      <p:sp>
        <p:nvSpPr>
          <p:cNvPr id="6" name="Text 4"/>
          <p:cNvSpPr/>
          <p:nvPr/>
        </p:nvSpPr>
        <p:spPr>
          <a:xfrm>
            <a:off x="5166360" y="1965960"/>
            <a:ext cx="548640" cy="384048"/>
          </a:xfrm>
          <a:prstGeom prst="rect">
            <a:avLst/>
          </a:prstGeom>
          <a:noFill/>
          <a:ln/>
        </p:spPr>
        <p:txBody>
          <a:bodyPr wrap="square" lIns="0" tIns="0" rIns="0" bIns="0" rtlCol="0" anchor="b"/>
          <a:lstStyle/>
          <a:p>
            <a:pPr marL="0" indent="0" algn="ctr">
              <a:buNone/>
            </a:pPr>
            <a:r>
              <a:rPr lang="en-US" sz="2400" b="1" dirty="0">
                <a:solidFill>
                  <a:srgbClr val="3730A3"/>
                </a:solidFill>
                <a:latin typeface="Cambria Math" pitchFamily="34" charset="0"/>
                <a:ea typeface="Cambria Math" pitchFamily="34" charset="-122"/>
                <a:cs typeface="Cambria Math" pitchFamily="34" charset="-120"/>
              </a:rPr>
              <a:t>1</a:t>
            </a:r>
            <a:endParaRPr lang="en-US" sz="2400" dirty="0"/>
          </a:p>
        </p:txBody>
      </p:sp>
      <p:sp>
        <p:nvSpPr>
          <p:cNvPr id="7" name="fraction bar">
            <a:extLst>
              <a:ext uri="{C183D7F6-B498-43B3-948B-1728B52AA6E4}">
                <adec:decorative xmlns:adec="http://schemas.microsoft.com/office/drawing/2017/decorative" val="1"/>
              </a:ext>
            </a:extLst>
          </p:cNvPr>
          <p:cNvSpPr/>
          <p:nvPr/>
        </p:nvSpPr>
        <p:spPr>
          <a:xfrm>
            <a:off x="5166360" y="2404872"/>
            <a:ext cx="548640" cy="32004"/>
          </a:xfrm>
          <a:prstGeom prst="rect">
            <a:avLst/>
          </a:prstGeom>
          <a:solidFill>
            <a:srgbClr val="3730A3"/>
          </a:solidFill>
          <a:ln/>
        </p:spPr>
        <p:txBody>
          <a:bodyPr/>
          <a:lstStyle/>
          <a:p>
            <a:endParaRPr lang="en-US"/>
          </a:p>
        </p:txBody>
      </p:sp>
      <p:sp>
        <p:nvSpPr>
          <p:cNvPr id="8" name="Text 6"/>
          <p:cNvSpPr/>
          <p:nvPr/>
        </p:nvSpPr>
        <p:spPr>
          <a:xfrm>
            <a:off x="5166360" y="2478024"/>
            <a:ext cx="548640" cy="402336"/>
          </a:xfrm>
          <a:prstGeom prst="rect">
            <a:avLst/>
          </a:prstGeom>
          <a:noFill/>
          <a:ln/>
        </p:spPr>
        <p:txBody>
          <a:bodyPr wrap="square" lIns="0" tIns="0" rIns="0" bIns="0" rtlCol="0" anchor="t"/>
          <a:lstStyle/>
          <a:p>
            <a:pPr marL="0" indent="0" algn="ctr">
              <a:buNone/>
            </a:pPr>
            <a:r>
              <a:rPr lang="en-US" sz="2400" b="1" dirty="0">
                <a:solidFill>
                  <a:srgbClr val="3730A3"/>
                </a:solidFill>
                <a:latin typeface="Cambria Math" pitchFamily="34" charset="0"/>
                <a:ea typeface="Cambria Math" pitchFamily="34" charset="-122"/>
                <a:cs typeface="Cambria Math" pitchFamily="34" charset="-120"/>
              </a:rPr>
              <a:t>√2</a:t>
            </a:r>
            <a:endParaRPr lang="en-US" sz="2400" dirty="0"/>
          </a:p>
        </p:txBody>
      </p:sp>
      <p:sp>
        <p:nvSpPr>
          <p:cNvPr id="9" name="Text 7"/>
          <p:cNvSpPr/>
          <p:nvPr/>
        </p:nvSpPr>
        <p:spPr>
          <a:xfrm>
            <a:off x="5852160" y="1965960"/>
            <a:ext cx="4023360" cy="914400"/>
          </a:xfrm>
          <a:prstGeom prst="rect">
            <a:avLst/>
          </a:prstGeom>
          <a:noFill/>
          <a:ln/>
        </p:spPr>
        <p:txBody>
          <a:bodyPr wrap="square" lIns="0" tIns="0" rIns="0" bIns="0" rtlCol="0" anchor="ctr"/>
          <a:lstStyle/>
          <a:p>
            <a:pPr marL="0" indent="0" algn="l">
              <a:buNone/>
            </a:pPr>
            <a:r>
              <a:rPr lang="en-US" sz="3400" b="1" dirty="0">
                <a:solidFill>
                  <a:srgbClr val="3730A3"/>
                </a:solidFill>
                <a:latin typeface="Cambria Math" pitchFamily="34" charset="0"/>
                <a:ea typeface="Cambria Math" pitchFamily="34" charset="-122"/>
                <a:cs typeface="Cambria Math" pitchFamily="34" charset="-120"/>
              </a:rPr>
              <a:t>( |0⟩  +  |1⟩ )</a:t>
            </a:r>
            <a:endParaRPr lang="en-US" sz="3400" dirty="0"/>
          </a:p>
        </p:txBody>
      </p:sp>
      <p:sp>
        <p:nvSpPr>
          <p:cNvPr id="10" name="axis">
            <a:extLst>
              <a:ext uri="{C183D7F6-B498-43B3-948B-1728B52AA6E4}">
                <adec:decorative xmlns:adec="http://schemas.microsoft.com/office/drawing/2017/decorative" val="1"/>
              </a:ext>
            </a:extLst>
          </p:cNvPr>
          <p:cNvSpPr/>
          <p:nvPr/>
        </p:nvSpPr>
        <p:spPr>
          <a:xfrm flipV="1">
            <a:off x="2651760" y="3474720"/>
            <a:ext cx="0" cy="1920240"/>
          </a:xfrm>
          <a:prstGeom prst="line">
            <a:avLst/>
          </a:prstGeom>
          <a:noFill/>
          <a:ln w="25400">
            <a:solidFill>
              <a:srgbClr val="475569"/>
            </a:solidFill>
            <a:prstDash val="solid"/>
            <a:tailEnd type="triangle"/>
          </a:ln>
        </p:spPr>
        <p:txBody>
          <a:bodyPr/>
          <a:lstStyle/>
          <a:p>
            <a:endParaRPr lang="en-US"/>
          </a:p>
        </p:txBody>
      </p:sp>
      <p:sp>
        <p:nvSpPr>
          <p:cNvPr id="11" name="axis">
            <a:extLst>
              <a:ext uri="{C183D7F6-B498-43B3-948B-1728B52AA6E4}">
                <adec:decorative xmlns:adec="http://schemas.microsoft.com/office/drawing/2017/decorative" val="1"/>
              </a:ext>
            </a:extLst>
          </p:cNvPr>
          <p:cNvSpPr/>
          <p:nvPr/>
        </p:nvSpPr>
        <p:spPr>
          <a:xfrm>
            <a:off x="2651760" y="5394960"/>
            <a:ext cx="2468880" cy="0"/>
          </a:xfrm>
          <a:prstGeom prst="line">
            <a:avLst/>
          </a:prstGeom>
          <a:noFill/>
          <a:ln w="25400">
            <a:solidFill>
              <a:srgbClr val="475569"/>
            </a:solidFill>
            <a:prstDash val="solid"/>
            <a:tailEnd type="triangle"/>
          </a:ln>
        </p:spPr>
        <p:txBody>
          <a:bodyPr/>
          <a:lstStyle/>
          <a:p>
            <a:endParaRPr lang="en-US"/>
          </a:p>
        </p:txBody>
      </p:sp>
      <p:sp>
        <p:nvSpPr>
          <p:cNvPr id="12" name="45 deg state vector">
            <a:extLst>
              <a:ext uri="{C183D7F6-B498-43B3-948B-1728B52AA6E4}">
                <adec:decorative xmlns:adec="http://schemas.microsoft.com/office/drawing/2017/decorative" val="1"/>
              </a:ext>
            </a:extLst>
          </p:cNvPr>
          <p:cNvSpPr/>
          <p:nvPr/>
        </p:nvSpPr>
        <p:spPr>
          <a:xfrm flipV="1">
            <a:off x="2651760" y="3474720"/>
            <a:ext cx="1920240" cy="1920240"/>
          </a:xfrm>
          <a:prstGeom prst="line">
            <a:avLst/>
          </a:prstGeom>
          <a:noFill/>
          <a:ln w="57150">
            <a:solidFill>
              <a:srgbClr val="0D9488"/>
            </a:solidFill>
            <a:prstDash val="solid"/>
            <a:tailEnd type="triangle"/>
          </a:ln>
        </p:spPr>
        <p:txBody>
          <a:bodyPr/>
          <a:lstStyle/>
          <a:p>
            <a:endParaRPr lang="en-US"/>
          </a:p>
        </p:txBody>
      </p:sp>
      <p:sp>
        <p:nvSpPr>
          <p:cNvPr id="13" name="Text 11"/>
          <p:cNvSpPr/>
          <p:nvPr/>
        </p:nvSpPr>
        <p:spPr>
          <a:xfrm>
            <a:off x="1965960" y="3200400"/>
            <a:ext cx="640080" cy="365760"/>
          </a:xfrm>
          <a:prstGeom prst="rect">
            <a:avLst/>
          </a:prstGeom>
          <a:noFill/>
          <a:ln/>
        </p:spPr>
        <p:txBody>
          <a:bodyPr wrap="square" lIns="0" tIns="0" rIns="0" bIns="0" rtlCol="0" anchor="ctr"/>
          <a:lstStyle/>
          <a:p>
            <a:pPr marL="0" indent="0" algn="ctr">
              <a:buNone/>
            </a:pPr>
            <a:r>
              <a:rPr lang="en-US" sz="1500" b="1" dirty="0">
                <a:solidFill>
                  <a:srgbClr val="475569"/>
                </a:solidFill>
                <a:latin typeface="Cambria Math" pitchFamily="34" charset="0"/>
                <a:ea typeface="Cambria Math" pitchFamily="34" charset="-122"/>
                <a:cs typeface="Cambria Math" pitchFamily="34" charset="-120"/>
              </a:rPr>
              <a:t>|0⟩</a:t>
            </a:r>
            <a:endParaRPr lang="en-US" sz="1500" dirty="0"/>
          </a:p>
        </p:txBody>
      </p:sp>
      <p:sp>
        <p:nvSpPr>
          <p:cNvPr id="14" name="Text 12"/>
          <p:cNvSpPr/>
          <p:nvPr/>
        </p:nvSpPr>
        <p:spPr>
          <a:xfrm>
            <a:off x="5074920" y="5349240"/>
            <a:ext cx="640080" cy="365760"/>
          </a:xfrm>
          <a:prstGeom prst="rect">
            <a:avLst/>
          </a:prstGeom>
          <a:noFill/>
          <a:ln/>
        </p:spPr>
        <p:txBody>
          <a:bodyPr wrap="square" lIns="0" tIns="0" rIns="0" bIns="0" rtlCol="0" anchor="ctr"/>
          <a:lstStyle/>
          <a:p>
            <a:pPr marL="0" indent="0" algn="l">
              <a:buNone/>
            </a:pPr>
            <a:r>
              <a:rPr lang="en-US" sz="1500" b="1" dirty="0">
                <a:solidFill>
                  <a:srgbClr val="475569"/>
                </a:solidFill>
                <a:latin typeface="Cambria Math" pitchFamily="34" charset="0"/>
                <a:ea typeface="Cambria Math" pitchFamily="34" charset="-122"/>
                <a:cs typeface="Cambria Math" pitchFamily="34" charset="-120"/>
              </a:rPr>
              <a:t>|1⟩</a:t>
            </a:r>
            <a:endParaRPr lang="en-US" sz="1500" dirty="0"/>
          </a:p>
        </p:txBody>
      </p:sp>
      <p:sp>
        <p:nvSpPr>
          <p:cNvPr id="15" name="Text 13"/>
          <p:cNvSpPr/>
          <p:nvPr/>
        </p:nvSpPr>
        <p:spPr>
          <a:xfrm>
            <a:off x="2971800" y="4892040"/>
            <a:ext cx="640080" cy="320040"/>
          </a:xfrm>
          <a:prstGeom prst="rect">
            <a:avLst/>
          </a:prstGeom>
          <a:noFill/>
          <a:ln/>
        </p:spPr>
        <p:txBody>
          <a:bodyPr wrap="square" lIns="0" tIns="0" rIns="0" bIns="0" rtlCol="0" anchor="ctr"/>
          <a:lstStyle/>
          <a:p>
            <a:pPr marL="0" indent="0" algn="l">
              <a:buNone/>
            </a:pPr>
            <a:r>
              <a:rPr lang="en-US" sz="1200" b="1" dirty="0">
                <a:solidFill>
                  <a:srgbClr val="0D9488"/>
                </a:solidFill>
              </a:rPr>
              <a:t>45°</a:t>
            </a:r>
            <a:endParaRPr lang="en-US" sz="1200" dirty="0"/>
          </a:p>
        </p:txBody>
      </p:sp>
      <p:sp>
        <p:nvSpPr>
          <p:cNvPr id="16" name="Text 14"/>
          <p:cNvSpPr/>
          <p:nvPr/>
        </p:nvSpPr>
        <p:spPr>
          <a:xfrm>
            <a:off x="4617720" y="3429000"/>
            <a:ext cx="2011680" cy="365760"/>
          </a:xfrm>
          <a:prstGeom prst="rect">
            <a:avLst/>
          </a:prstGeom>
          <a:noFill/>
          <a:ln/>
        </p:spPr>
        <p:txBody>
          <a:bodyPr wrap="square" lIns="0" tIns="0" rIns="0" bIns="0" rtlCol="0" anchor="ctr"/>
          <a:lstStyle/>
          <a:p>
            <a:pPr marL="0" indent="0" algn="l">
              <a:buNone/>
            </a:pPr>
            <a:r>
              <a:rPr lang="en-US" sz="1500" b="1" dirty="0">
                <a:solidFill>
                  <a:srgbClr val="0D9488"/>
                </a:solidFill>
                <a:latin typeface="Cambria Math" pitchFamily="34" charset="0"/>
                <a:ea typeface="Cambria Math" pitchFamily="34" charset="-122"/>
                <a:cs typeface="Cambria Math" pitchFamily="34" charset="-120"/>
              </a:rPr>
              <a:t>|+⟩  (diagonal)</a:t>
            </a:r>
            <a:endParaRPr lang="en-US" sz="1500" dirty="0"/>
          </a:p>
        </p:txBody>
      </p:sp>
      <p:sp>
        <p:nvSpPr>
          <p:cNvPr id="17" name="chip">
            <a:extLst>
              <a:ext uri="{C183D7F6-B498-43B3-948B-1728B52AA6E4}">
                <adec:decorative xmlns:adec="http://schemas.microsoft.com/office/drawing/2017/decorative" val="1"/>
              </a:ext>
            </a:extLst>
          </p:cNvPr>
          <p:cNvSpPr/>
          <p:nvPr/>
        </p:nvSpPr>
        <p:spPr>
          <a:xfrm>
            <a:off x="6492240" y="3566160"/>
            <a:ext cx="4937760" cy="868680"/>
          </a:xfrm>
          <a:prstGeom prst="roundRect">
            <a:avLst>
              <a:gd name="adj" fmla="val 10526"/>
            </a:avLst>
          </a:prstGeom>
          <a:solidFill>
            <a:srgbClr val="CCFBF1"/>
          </a:solidFill>
          <a:ln/>
        </p:spPr>
        <p:txBody>
          <a:bodyPr/>
          <a:lstStyle/>
          <a:p>
            <a:endParaRPr lang="en-US"/>
          </a:p>
        </p:txBody>
      </p:sp>
      <p:sp>
        <p:nvSpPr>
          <p:cNvPr id="18" name="Text 16"/>
          <p:cNvSpPr/>
          <p:nvPr/>
        </p:nvSpPr>
        <p:spPr>
          <a:xfrm>
            <a:off x="6766560" y="3566160"/>
            <a:ext cx="4480560" cy="868680"/>
          </a:xfrm>
          <a:prstGeom prst="rect">
            <a:avLst/>
          </a:prstGeom>
          <a:noFill/>
          <a:ln/>
        </p:spPr>
        <p:txBody>
          <a:bodyPr wrap="square" lIns="0" tIns="0" rIns="0" bIns="0" rtlCol="0" anchor="ctr"/>
          <a:lstStyle/>
          <a:p>
            <a:pPr marL="0" indent="0" algn="l">
              <a:lnSpc>
                <a:spcPct val="105000"/>
              </a:lnSpc>
              <a:buNone/>
            </a:pPr>
            <a:r>
              <a:rPr lang="en-US" sz="1800" b="1" dirty="0">
                <a:solidFill>
                  <a:srgbClr val="0D9488"/>
                </a:solidFill>
              </a:rPr>
              <a:t>Equal probability</a:t>
            </a:r>
            <a:endParaRPr lang="en-US" sz="1800" dirty="0"/>
          </a:p>
          <a:p>
            <a:pPr marL="0" indent="0" algn="l">
              <a:lnSpc>
                <a:spcPct val="105000"/>
              </a:lnSpc>
              <a:buNone/>
            </a:pPr>
            <a:r>
              <a:rPr lang="en-US" sz="1300" dirty="0">
                <a:solidFill>
                  <a:srgbClr val="1F2937"/>
                </a:solidFill>
                <a:latin typeface="Cambria Math" pitchFamily="34" charset="0"/>
                <a:ea typeface="Cambria Math" pitchFamily="34" charset="-122"/>
                <a:cs typeface="Cambria Math" pitchFamily="34" charset="-120"/>
              </a:rPr>
              <a:t>50% chance of |0⟩ and 50% chance of |1⟩</a:t>
            </a:r>
            <a:endParaRPr lang="en-US" sz="1800" dirty="0"/>
          </a:p>
        </p:txBody>
      </p:sp>
      <p:sp>
        <p:nvSpPr>
          <p:cNvPr id="19" name="chip">
            <a:extLst>
              <a:ext uri="{C183D7F6-B498-43B3-948B-1728B52AA6E4}">
                <adec:decorative xmlns:adec="http://schemas.microsoft.com/office/drawing/2017/decorative" val="1"/>
              </a:ext>
            </a:extLst>
          </p:cNvPr>
          <p:cNvSpPr/>
          <p:nvPr/>
        </p:nvSpPr>
        <p:spPr>
          <a:xfrm>
            <a:off x="6492240" y="4617720"/>
            <a:ext cx="4937760" cy="868680"/>
          </a:xfrm>
          <a:prstGeom prst="roundRect">
            <a:avLst>
              <a:gd name="adj" fmla="val 10526"/>
            </a:avLst>
          </a:prstGeom>
          <a:solidFill>
            <a:srgbClr val="EEF2FF"/>
          </a:solidFill>
          <a:ln/>
        </p:spPr>
        <p:txBody>
          <a:bodyPr/>
          <a:lstStyle/>
          <a:p>
            <a:endParaRPr lang="en-US"/>
          </a:p>
        </p:txBody>
      </p:sp>
      <p:sp>
        <p:nvSpPr>
          <p:cNvPr id="20" name="Text 18"/>
          <p:cNvSpPr/>
          <p:nvPr/>
        </p:nvSpPr>
        <p:spPr>
          <a:xfrm>
            <a:off x="6766560" y="4617720"/>
            <a:ext cx="4480560" cy="868680"/>
          </a:xfrm>
          <a:prstGeom prst="rect">
            <a:avLst/>
          </a:prstGeom>
          <a:noFill/>
          <a:ln/>
        </p:spPr>
        <p:txBody>
          <a:bodyPr wrap="square" lIns="0" tIns="0" rIns="0" bIns="0" rtlCol="0" anchor="ctr"/>
          <a:lstStyle/>
          <a:p>
            <a:pPr marL="0" indent="0" algn="l">
              <a:lnSpc>
                <a:spcPct val="105000"/>
              </a:lnSpc>
              <a:buNone/>
            </a:pPr>
            <a:r>
              <a:rPr lang="en-US" sz="1800" b="1" dirty="0">
                <a:solidFill>
                  <a:srgbClr val="3730A3"/>
                </a:solidFill>
              </a:rPr>
              <a:t>Different quantum state</a:t>
            </a:r>
            <a:endParaRPr lang="en-US" sz="1800" dirty="0"/>
          </a:p>
          <a:p>
            <a:pPr marL="0" indent="0" algn="l">
              <a:lnSpc>
                <a:spcPct val="105000"/>
              </a:lnSpc>
              <a:buNone/>
            </a:pPr>
            <a:r>
              <a:rPr lang="en-US" sz="1300" dirty="0">
                <a:solidFill>
                  <a:srgbClr val="1F2937"/>
                </a:solidFill>
                <a:latin typeface="Cambria Math" pitchFamily="34" charset="0"/>
                <a:ea typeface="Cambria Math" pitchFamily="34" charset="-122"/>
                <a:cs typeface="Cambria Math" pitchFamily="34" charset="-120"/>
              </a:rPr>
              <a:t>Distinct from |0⟩ and |1⟩, not a classical mixture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Why Dirac Notation?</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3108960"/>
        </p:xfrm>
        <a:graphic>
          <a:graphicData uri="http://schemas.openxmlformats.org/drawingml/2006/table">
            <a:tbl>
              <a:tblPr/>
              <a:tblGrid>
                <a:gridCol w="548640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tblGrid>
              <a:tr h="64008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Column vectors</a:t>
                      </a:r>
                      <a:endParaRPr lang="en-US" sz="18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730A3"/>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Dirac notation</a:t>
                      </a:r>
                      <a:endParaRPr lang="en-US" sz="1800" dirty="0">
                        <a:latin typeface="Calibri" charset="0"/>
                        <a:ea typeface="Calibri" charset="0"/>
                        <a:cs typeface="Calibri" charset="0"/>
                      </a:endParaRP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730A3"/>
                    </a:solidFill>
                  </a:tcPr>
                </a:tc>
                <a:extLst>
                  <a:ext uri="{0D108BD9-81ED-4DB2-BD59-A6C34878D82A}">
                    <a16:rowId xmlns:a16="http://schemas.microsoft.com/office/drawing/2014/main" val="10000"/>
                  </a:ext>
                </a:extLst>
              </a:tr>
              <a:tr h="822960">
                <a:tc>
                  <a:txBody>
                    <a:bodyPr/>
                    <a:lstStyle/>
                    <a:p>
                      <a:pPr marL="0" indent="0" algn="l">
                        <a:buNone/>
                      </a:pPr>
                      <a:r>
                        <a:rPr lang="en-US" sz="1700" dirty="0">
                          <a:solidFill>
                            <a:srgbClr val="1F2937"/>
                          </a:solidFill>
                          <a:latin typeface="Calibri" pitchFamily="34" charset="0"/>
                          <a:ea typeface="Calibri" pitchFamily="34" charset="-122"/>
                          <a:cs typeface="Calibri" pitchFamily="34" charset="-120"/>
                        </a:rPr>
                        <a:t>Long</a:t>
                      </a:r>
                      <a:endParaRPr lang="en-US" sz="1700" dirty="0">
                        <a:latin typeface="Calibri" charset="0"/>
                        <a:ea typeface="Calibri" charset="0"/>
                        <a:cs typeface="Calibri" charset="0"/>
                      </a:endParaRPr>
                    </a:p>
                  </a:txBody>
                  <a:tcPr marL="1778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2FF"/>
                    </a:solidFill>
                  </a:tcPr>
                </a:tc>
                <a:tc>
                  <a:txBody>
                    <a:bodyPr/>
                    <a:lstStyle/>
                    <a:p>
                      <a:pPr marL="0" indent="0" algn="l">
                        <a:buNone/>
                      </a:pPr>
                      <a:r>
                        <a:rPr lang="en-US" sz="1700" b="1" dirty="0">
                          <a:solidFill>
                            <a:srgbClr val="1F2937"/>
                          </a:solidFill>
                          <a:latin typeface="Calibri" pitchFamily="34" charset="0"/>
                          <a:ea typeface="Calibri" pitchFamily="34" charset="-122"/>
                          <a:cs typeface="Calibri" pitchFamily="34" charset="-120"/>
                        </a:rPr>
                        <a:t>Compact</a:t>
                      </a:r>
                      <a:endParaRPr lang="en-US" sz="1700" dirty="0">
                        <a:latin typeface="Calibri" charset="0"/>
                        <a:ea typeface="Calibri" charset="0"/>
                        <a:cs typeface="Calibri" charset="0"/>
                      </a:endParaRPr>
                    </a:p>
                  </a:txBody>
                  <a:tcPr marL="1778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CFBF1"/>
                    </a:solidFill>
                  </a:tcPr>
                </a:tc>
                <a:extLst>
                  <a:ext uri="{0D108BD9-81ED-4DB2-BD59-A6C34878D82A}">
                    <a16:rowId xmlns:a16="http://schemas.microsoft.com/office/drawing/2014/main" val="10001"/>
                  </a:ext>
                </a:extLst>
              </a:tr>
              <a:tr h="822960">
                <a:tc>
                  <a:txBody>
                    <a:bodyPr/>
                    <a:lstStyle/>
                    <a:p>
                      <a:pPr marL="0" indent="0" algn="l">
                        <a:buNone/>
                      </a:pPr>
                      <a:r>
                        <a:rPr lang="en-US" sz="1700" dirty="0">
                          <a:solidFill>
                            <a:srgbClr val="1F2937"/>
                          </a:solidFill>
                          <a:latin typeface="Calibri" pitchFamily="34" charset="0"/>
                          <a:ea typeface="Calibri" pitchFamily="34" charset="-122"/>
                          <a:cs typeface="Calibri" pitchFamily="34" charset="-120"/>
                        </a:rPr>
                        <a:t>Coordinate dependent</a:t>
                      </a:r>
                      <a:endParaRPr lang="en-US" sz="1700" dirty="0">
                        <a:latin typeface="Calibri" charset="0"/>
                        <a:ea typeface="Calibri" charset="0"/>
                        <a:cs typeface="Calibri" charset="0"/>
                      </a:endParaRPr>
                    </a:p>
                  </a:txBody>
                  <a:tcPr marL="1778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2FF"/>
                    </a:solidFill>
                  </a:tcPr>
                </a:tc>
                <a:tc>
                  <a:txBody>
                    <a:bodyPr/>
                    <a:lstStyle/>
                    <a:p>
                      <a:pPr marL="0" indent="0" algn="l">
                        <a:buNone/>
                      </a:pPr>
                      <a:r>
                        <a:rPr lang="en-US" sz="1700" b="1" dirty="0">
                          <a:solidFill>
                            <a:srgbClr val="1F2937"/>
                          </a:solidFill>
                          <a:latin typeface="Calibri" pitchFamily="34" charset="0"/>
                          <a:ea typeface="Calibri" pitchFamily="34" charset="-122"/>
                          <a:cs typeface="Calibri" pitchFamily="34" charset="-120"/>
                        </a:rPr>
                        <a:t>Basis independent</a:t>
                      </a:r>
                      <a:endParaRPr lang="en-US" sz="1700" dirty="0">
                        <a:latin typeface="Calibri" charset="0"/>
                        <a:ea typeface="Calibri" charset="0"/>
                        <a:cs typeface="Calibri" charset="0"/>
                      </a:endParaRPr>
                    </a:p>
                  </a:txBody>
                  <a:tcPr marL="1778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CFBF1"/>
                    </a:solidFill>
                  </a:tcPr>
                </a:tc>
                <a:extLst>
                  <a:ext uri="{0D108BD9-81ED-4DB2-BD59-A6C34878D82A}">
                    <a16:rowId xmlns:a16="http://schemas.microsoft.com/office/drawing/2014/main" val="10002"/>
                  </a:ext>
                </a:extLst>
              </a:tr>
              <a:tr h="822960">
                <a:tc>
                  <a:txBody>
                    <a:bodyPr/>
                    <a:lstStyle/>
                    <a:p>
                      <a:pPr marL="0" indent="0" algn="l">
                        <a:buNone/>
                      </a:pPr>
                      <a:r>
                        <a:rPr lang="en-US" sz="1700" dirty="0">
                          <a:solidFill>
                            <a:srgbClr val="1F2937"/>
                          </a:solidFill>
                          <a:latin typeface="Calibri" pitchFamily="34" charset="0"/>
                          <a:ea typeface="Calibri" pitchFamily="34" charset="-122"/>
                          <a:cs typeface="Calibri" pitchFamily="34" charset="-120"/>
                        </a:rPr>
                        <a:t>Hard for multi-qubits</a:t>
                      </a:r>
                      <a:endParaRPr lang="en-US" sz="1700" dirty="0">
                        <a:latin typeface="Calibri" charset="0"/>
                        <a:ea typeface="Calibri" charset="0"/>
                        <a:cs typeface="Calibri" charset="0"/>
                      </a:endParaRPr>
                    </a:p>
                  </a:txBody>
                  <a:tcPr marL="1778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2FF"/>
                    </a:solidFill>
                  </a:tcPr>
                </a:tc>
                <a:tc>
                  <a:txBody>
                    <a:bodyPr/>
                    <a:lstStyle/>
                    <a:p>
                      <a:pPr marL="0" indent="0" algn="l">
                        <a:buNone/>
                      </a:pPr>
                      <a:r>
                        <a:rPr lang="en-US" sz="1700" b="1" dirty="0">
                          <a:solidFill>
                            <a:srgbClr val="1F2937"/>
                          </a:solidFill>
                          <a:latin typeface="Calibri" pitchFamily="34" charset="0"/>
                          <a:ea typeface="Calibri" pitchFamily="34" charset="-122"/>
                          <a:cs typeface="Calibri" pitchFamily="34" charset="-120"/>
                        </a:rPr>
                        <a:t>Naturally extends</a:t>
                      </a:r>
                      <a:endParaRPr lang="en-US" sz="1700" dirty="0">
                        <a:latin typeface="Calibri" charset="0"/>
                        <a:ea typeface="Calibri" charset="0"/>
                        <a:cs typeface="Calibri" charset="0"/>
                      </a:endParaRPr>
                    </a:p>
                  </a:txBody>
                  <a:tcPr marL="177800" marR="127000" marT="50800" marB="508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CFBF1"/>
                    </a:solidFill>
                  </a:tcPr>
                </a:tc>
                <a:extLst>
                  <a:ext uri="{0D108BD9-81ED-4DB2-BD59-A6C34878D82A}">
                    <a16:rowId xmlns:a16="http://schemas.microsoft.com/office/drawing/2014/main" val="10003"/>
                  </a:ext>
                </a:extLst>
              </a:tr>
            </a:tbl>
          </a:graphicData>
        </a:graphic>
      </p:graphicFrame>
      <p:sp>
        <p:nvSpPr>
          <p:cNvPr id="5" name="Example band">
            <a:extLst>
              <a:ext uri="{C183D7F6-B498-43B3-948B-1728B52AA6E4}">
                <adec:decorative xmlns:adec="http://schemas.microsoft.com/office/drawing/2017/decorative" val="1"/>
              </a:ext>
            </a:extLst>
          </p:cNvPr>
          <p:cNvSpPr/>
          <p:nvPr/>
        </p:nvSpPr>
        <p:spPr>
          <a:xfrm>
            <a:off x="548640" y="5166360"/>
            <a:ext cx="11091672" cy="1188720"/>
          </a:xfrm>
          <a:prstGeom prst="roundRect">
            <a:avLst>
              <a:gd name="adj" fmla="val 4615"/>
            </a:avLst>
          </a:prstGeom>
          <a:solidFill>
            <a:srgbClr val="EEF2FF"/>
          </a:solidFill>
          <a:ln/>
        </p:spPr>
        <p:txBody>
          <a:bodyPr/>
          <a:lstStyle/>
          <a:p>
            <a:endParaRPr lang="en-US"/>
          </a:p>
        </p:txBody>
      </p:sp>
      <p:sp>
        <p:nvSpPr>
          <p:cNvPr id="6" name="Example accent">
            <a:extLst>
              <a:ext uri="{C183D7F6-B498-43B3-948B-1728B52AA6E4}">
                <adec:decorative xmlns:adec="http://schemas.microsoft.com/office/drawing/2017/decorative" val="1"/>
              </a:ext>
            </a:extLst>
          </p:cNvPr>
          <p:cNvSpPr/>
          <p:nvPr/>
        </p:nvSpPr>
        <p:spPr>
          <a:xfrm>
            <a:off x="548640" y="5166360"/>
            <a:ext cx="100584" cy="1188720"/>
          </a:xfrm>
          <a:prstGeom prst="rect">
            <a:avLst/>
          </a:prstGeom>
          <a:solidFill>
            <a:srgbClr val="4F46E5"/>
          </a:solidFill>
          <a:ln/>
        </p:spPr>
        <p:txBody>
          <a:bodyPr/>
          <a:lstStyle/>
          <a:p>
            <a:endParaRPr lang="en-US"/>
          </a:p>
        </p:txBody>
      </p:sp>
      <p:sp>
        <p:nvSpPr>
          <p:cNvPr id="7" name="Text 4"/>
          <p:cNvSpPr/>
          <p:nvPr/>
        </p:nvSpPr>
        <p:spPr>
          <a:xfrm>
            <a:off x="868680" y="5166360"/>
            <a:ext cx="1737360" cy="1188720"/>
          </a:xfrm>
          <a:prstGeom prst="rect">
            <a:avLst/>
          </a:prstGeom>
          <a:noFill/>
          <a:ln/>
        </p:spPr>
        <p:txBody>
          <a:bodyPr wrap="square" lIns="0" tIns="0" rIns="0" bIns="0" rtlCol="0" anchor="ctr"/>
          <a:lstStyle/>
          <a:p>
            <a:pPr marL="0" indent="0" algn="l">
              <a:buNone/>
            </a:pPr>
            <a:r>
              <a:rPr lang="en-US" sz="1600" b="1" dirty="0">
                <a:solidFill>
                  <a:srgbClr val="3730A3"/>
                </a:solidFill>
              </a:rPr>
              <a:t>Example</a:t>
            </a:r>
            <a:endParaRPr lang="en-US" sz="1600" dirty="0"/>
          </a:p>
        </p:txBody>
      </p:sp>
      <p:sp>
        <p:nvSpPr>
          <p:cNvPr id="8" name="bracket">
            <a:extLst>
              <a:ext uri="{C183D7F6-B498-43B3-948B-1728B52AA6E4}">
                <adec:decorative xmlns:adec="http://schemas.microsoft.com/office/drawing/2017/decorative" val="1"/>
              </a:ext>
            </a:extLst>
          </p:cNvPr>
          <p:cNvSpPr/>
          <p:nvPr/>
        </p:nvSpPr>
        <p:spPr>
          <a:xfrm>
            <a:off x="2834640" y="5239512"/>
            <a:ext cx="41148" cy="1051560"/>
          </a:xfrm>
          <a:prstGeom prst="rect">
            <a:avLst/>
          </a:prstGeom>
          <a:solidFill>
            <a:srgbClr val="1F2937"/>
          </a:solidFill>
          <a:ln/>
        </p:spPr>
        <p:txBody>
          <a:bodyPr/>
          <a:lstStyle/>
          <a:p>
            <a:endParaRPr lang="en-US"/>
          </a:p>
        </p:txBody>
      </p:sp>
      <p:sp>
        <p:nvSpPr>
          <p:cNvPr id="9" name="bracket">
            <a:extLst>
              <a:ext uri="{C183D7F6-B498-43B3-948B-1728B52AA6E4}">
                <adec:decorative xmlns:adec="http://schemas.microsoft.com/office/drawing/2017/decorative" val="1"/>
              </a:ext>
            </a:extLst>
          </p:cNvPr>
          <p:cNvSpPr/>
          <p:nvPr/>
        </p:nvSpPr>
        <p:spPr>
          <a:xfrm>
            <a:off x="2834640" y="5239512"/>
            <a:ext cx="164592" cy="41148"/>
          </a:xfrm>
          <a:prstGeom prst="rect">
            <a:avLst/>
          </a:prstGeom>
          <a:solidFill>
            <a:srgbClr val="1F2937"/>
          </a:solidFill>
          <a:ln/>
        </p:spPr>
        <p:txBody>
          <a:bodyPr/>
          <a:lstStyle/>
          <a:p>
            <a:endParaRPr lang="en-US"/>
          </a:p>
        </p:txBody>
      </p:sp>
      <p:sp>
        <p:nvSpPr>
          <p:cNvPr id="10" name="bracket">
            <a:extLst>
              <a:ext uri="{C183D7F6-B498-43B3-948B-1728B52AA6E4}">
                <adec:decorative xmlns:adec="http://schemas.microsoft.com/office/drawing/2017/decorative" val="1"/>
              </a:ext>
            </a:extLst>
          </p:cNvPr>
          <p:cNvSpPr/>
          <p:nvPr/>
        </p:nvSpPr>
        <p:spPr>
          <a:xfrm>
            <a:off x="2834640" y="6249924"/>
            <a:ext cx="164592" cy="41148"/>
          </a:xfrm>
          <a:prstGeom prst="rect">
            <a:avLst/>
          </a:prstGeom>
          <a:solidFill>
            <a:srgbClr val="1F2937"/>
          </a:solidFill>
          <a:ln/>
        </p:spPr>
        <p:txBody>
          <a:bodyPr/>
          <a:lstStyle/>
          <a:p>
            <a:endParaRPr lang="en-US"/>
          </a:p>
        </p:txBody>
      </p:sp>
      <p:sp>
        <p:nvSpPr>
          <p:cNvPr id="4" name="bracket">
            <a:extLst>
              <a:ext uri="{C183D7F6-B498-43B3-948B-1728B52AA6E4}">
                <adec:decorative xmlns:adec="http://schemas.microsoft.com/office/drawing/2017/decorative" val="1"/>
              </a:ext>
            </a:extLst>
          </p:cNvPr>
          <p:cNvSpPr/>
          <p:nvPr/>
        </p:nvSpPr>
        <p:spPr>
          <a:xfrm>
            <a:off x="3451860" y="5239512"/>
            <a:ext cx="41148" cy="1051560"/>
          </a:xfrm>
          <a:prstGeom prst="rect">
            <a:avLst/>
          </a:prstGeom>
          <a:solidFill>
            <a:srgbClr val="1F2937"/>
          </a:solidFill>
          <a:ln/>
        </p:spPr>
        <p:txBody>
          <a:bodyPr/>
          <a:lstStyle/>
          <a:p>
            <a:endParaRPr lang="en-US"/>
          </a:p>
        </p:txBody>
      </p:sp>
      <p:sp>
        <p:nvSpPr>
          <p:cNvPr id="12" name="bracket">
            <a:extLst>
              <a:ext uri="{C183D7F6-B498-43B3-948B-1728B52AA6E4}">
                <adec:decorative xmlns:adec="http://schemas.microsoft.com/office/drawing/2017/decorative" val="1"/>
              </a:ext>
            </a:extLst>
          </p:cNvPr>
          <p:cNvSpPr/>
          <p:nvPr/>
        </p:nvSpPr>
        <p:spPr>
          <a:xfrm>
            <a:off x="3328416" y="5239512"/>
            <a:ext cx="164592" cy="41148"/>
          </a:xfrm>
          <a:prstGeom prst="rect">
            <a:avLst/>
          </a:prstGeom>
          <a:solidFill>
            <a:srgbClr val="1F2937"/>
          </a:solidFill>
          <a:ln/>
        </p:spPr>
        <p:txBody>
          <a:bodyPr/>
          <a:lstStyle/>
          <a:p>
            <a:endParaRPr lang="en-US"/>
          </a:p>
        </p:txBody>
      </p:sp>
      <p:sp>
        <p:nvSpPr>
          <p:cNvPr id="13" name="bracket">
            <a:extLst>
              <a:ext uri="{C183D7F6-B498-43B3-948B-1728B52AA6E4}">
                <adec:decorative xmlns:adec="http://schemas.microsoft.com/office/drawing/2017/decorative" val="1"/>
              </a:ext>
            </a:extLst>
          </p:cNvPr>
          <p:cNvSpPr/>
          <p:nvPr/>
        </p:nvSpPr>
        <p:spPr>
          <a:xfrm>
            <a:off x="3328416" y="6249924"/>
            <a:ext cx="164592" cy="41148"/>
          </a:xfrm>
          <a:prstGeom prst="rect">
            <a:avLst/>
          </a:prstGeom>
          <a:solidFill>
            <a:srgbClr val="1F2937"/>
          </a:solidFill>
          <a:ln/>
        </p:spPr>
        <p:txBody>
          <a:bodyPr/>
          <a:lstStyle/>
          <a:p>
            <a:endParaRPr lang="en-US"/>
          </a:p>
        </p:txBody>
      </p:sp>
      <p:sp>
        <p:nvSpPr>
          <p:cNvPr id="14" name="Text 11"/>
          <p:cNvSpPr/>
          <p:nvPr/>
        </p:nvSpPr>
        <p:spPr>
          <a:xfrm>
            <a:off x="2834640" y="5239512"/>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1</a:t>
            </a:r>
            <a:endParaRPr lang="en-US" sz="2200" dirty="0"/>
          </a:p>
          <a:p>
            <a:pPr marL="0" indent="0" algn="ctr">
              <a:lnSpc>
                <a:spcPct val="100000"/>
              </a:lnSpc>
              <a:buNone/>
            </a:pPr>
            <a:r>
              <a:rPr lang="en-US" sz="2200" b="1" dirty="0">
                <a:solidFill>
                  <a:srgbClr val="1F2937"/>
                </a:solidFill>
              </a:rPr>
              <a:t>0</a:t>
            </a:r>
            <a:endParaRPr lang="en-US" sz="2200" dirty="0"/>
          </a:p>
        </p:txBody>
      </p:sp>
      <p:sp>
        <p:nvSpPr>
          <p:cNvPr id="15" name="Text 12"/>
          <p:cNvSpPr/>
          <p:nvPr/>
        </p:nvSpPr>
        <p:spPr>
          <a:xfrm>
            <a:off x="3657600" y="5166360"/>
            <a:ext cx="2377440" cy="1188720"/>
          </a:xfrm>
          <a:prstGeom prst="rect">
            <a:avLst/>
          </a:prstGeom>
          <a:noFill/>
          <a:ln/>
        </p:spPr>
        <p:txBody>
          <a:bodyPr wrap="square" lIns="0" tIns="0" rIns="0" bIns="0" rtlCol="0" anchor="ctr"/>
          <a:lstStyle/>
          <a:p>
            <a:pPr marL="0" indent="0" algn="l">
              <a:buNone/>
            </a:pPr>
            <a:r>
              <a:rPr lang="en-US" sz="3000" b="1" dirty="0">
                <a:solidFill>
                  <a:srgbClr val="3730A3"/>
                </a:solidFill>
                <a:latin typeface="Cambria Math" pitchFamily="34" charset="0"/>
                <a:ea typeface="Cambria Math" pitchFamily="34" charset="-122"/>
                <a:cs typeface="Cambria Math" pitchFamily="34" charset="-120"/>
              </a:rPr>
              <a:t>=  |0⟩</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Ket Vectors</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Definition card">
            <a:extLst>
              <a:ext uri="{C183D7F6-B498-43B3-948B-1728B52AA6E4}">
                <adec:decorative xmlns:adec="http://schemas.microsoft.com/office/drawing/2017/decorative" val="1"/>
              </a:ext>
            </a:extLst>
          </p:cNvPr>
          <p:cNvSpPr/>
          <p:nvPr/>
        </p:nvSpPr>
        <p:spPr>
          <a:xfrm>
            <a:off x="548640" y="1920240"/>
            <a:ext cx="5394960" cy="1280160"/>
          </a:xfrm>
          <a:prstGeom prst="roundRect">
            <a:avLst>
              <a:gd name="adj" fmla="val 5714"/>
            </a:avLst>
          </a:prstGeom>
          <a:solidFill>
            <a:srgbClr val="FFFFFF"/>
          </a:solidFill>
          <a:ln w="15875">
            <a:solidFill>
              <a:srgbClr val="D1D5DB"/>
            </a:solidFill>
            <a:prstDash val="solid"/>
          </a:ln>
        </p:spPr>
        <p:txBody>
          <a:bodyPr/>
          <a:lstStyle/>
          <a:p>
            <a:endParaRPr lang="en-US"/>
          </a:p>
        </p:txBody>
      </p:sp>
      <p:sp>
        <p:nvSpPr>
          <p:cNvPr id="5" name="Text 3"/>
          <p:cNvSpPr/>
          <p:nvPr/>
        </p:nvSpPr>
        <p:spPr>
          <a:xfrm>
            <a:off x="868680" y="2103120"/>
            <a:ext cx="4754880" cy="411480"/>
          </a:xfrm>
          <a:prstGeom prst="rect">
            <a:avLst/>
          </a:prstGeom>
          <a:noFill/>
          <a:ln/>
        </p:spPr>
        <p:txBody>
          <a:bodyPr wrap="square" lIns="0" tIns="0" rIns="0" bIns="0" rtlCol="0" anchor="ctr"/>
          <a:lstStyle/>
          <a:p>
            <a:pPr marL="0" indent="0" algn="l">
              <a:buNone/>
            </a:pPr>
            <a:r>
              <a:rPr lang="en-US" sz="1700" b="1" dirty="0">
                <a:solidFill>
                  <a:srgbClr val="0D9488"/>
                </a:solidFill>
              </a:rPr>
              <a:t>Definition</a:t>
            </a:r>
            <a:endParaRPr lang="en-US" sz="1700" dirty="0"/>
          </a:p>
        </p:txBody>
      </p:sp>
      <p:sp>
        <p:nvSpPr>
          <p:cNvPr id="6" name="Text 4"/>
          <p:cNvSpPr/>
          <p:nvPr/>
        </p:nvSpPr>
        <p:spPr>
          <a:xfrm>
            <a:off x="868680" y="2560320"/>
            <a:ext cx="4754880" cy="502920"/>
          </a:xfrm>
          <a:prstGeom prst="rect">
            <a:avLst/>
          </a:prstGeom>
          <a:noFill/>
          <a:ln/>
        </p:spPr>
        <p:txBody>
          <a:bodyPr wrap="square" lIns="0" tIns="0" rIns="0" bIns="0" rtlCol="0" anchor="ctr"/>
          <a:lstStyle/>
          <a:p>
            <a:pPr marL="0" indent="0" algn="l">
              <a:buNone/>
            </a:pPr>
            <a:r>
              <a:rPr lang="en-US" sz="1800" dirty="0">
                <a:solidFill>
                  <a:srgbClr val="1F2937"/>
                </a:solidFill>
              </a:rPr>
              <a:t>A ket represents a quantum state.</a:t>
            </a:r>
            <a:endParaRPr lang="en-US" sz="1800" dirty="0"/>
          </a:p>
        </p:txBody>
      </p:sp>
      <p:sp>
        <p:nvSpPr>
          <p:cNvPr id="7" name="Examples card">
            <a:extLst>
              <a:ext uri="{C183D7F6-B498-43B3-948B-1728B52AA6E4}">
                <adec:decorative xmlns:adec="http://schemas.microsoft.com/office/drawing/2017/decorative" val="1"/>
              </a:ext>
            </a:extLst>
          </p:cNvPr>
          <p:cNvSpPr/>
          <p:nvPr/>
        </p:nvSpPr>
        <p:spPr>
          <a:xfrm>
            <a:off x="548640" y="3383280"/>
            <a:ext cx="5394960" cy="1280160"/>
          </a:xfrm>
          <a:prstGeom prst="roundRect">
            <a:avLst>
              <a:gd name="adj" fmla="val 5714"/>
            </a:avLst>
          </a:prstGeom>
          <a:solidFill>
            <a:srgbClr val="FFFFFF"/>
          </a:solidFill>
          <a:ln w="15875">
            <a:solidFill>
              <a:srgbClr val="D1D5DB"/>
            </a:solidFill>
            <a:prstDash val="solid"/>
          </a:ln>
        </p:spPr>
        <p:txBody>
          <a:bodyPr/>
          <a:lstStyle/>
          <a:p>
            <a:endParaRPr lang="en-US"/>
          </a:p>
        </p:txBody>
      </p:sp>
      <p:sp>
        <p:nvSpPr>
          <p:cNvPr id="8" name="Text 6"/>
          <p:cNvSpPr/>
          <p:nvPr/>
        </p:nvSpPr>
        <p:spPr>
          <a:xfrm>
            <a:off x="868680" y="3566160"/>
            <a:ext cx="4754880" cy="411480"/>
          </a:xfrm>
          <a:prstGeom prst="rect">
            <a:avLst/>
          </a:prstGeom>
          <a:noFill/>
          <a:ln/>
        </p:spPr>
        <p:txBody>
          <a:bodyPr wrap="square" lIns="0" tIns="0" rIns="0" bIns="0" rtlCol="0" anchor="ctr"/>
          <a:lstStyle/>
          <a:p>
            <a:pPr marL="0" indent="0" algn="l">
              <a:buNone/>
            </a:pPr>
            <a:r>
              <a:rPr lang="en-US" sz="1700" b="1" dirty="0">
                <a:solidFill>
                  <a:srgbClr val="0D9488"/>
                </a:solidFill>
              </a:rPr>
              <a:t>Examples</a:t>
            </a:r>
            <a:endParaRPr lang="en-US" sz="1700" dirty="0"/>
          </a:p>
        </p:txBody>
      </p:sp>
      <p:sp>
        <p:nvSpPr>
          <p:cNvPr id="9" name="ket chip">
            <a:extLst>
              <a:ext uri="{C183D7F6-B498-43B3-948B-1728B52AA6E4}">
                <adec:decorative xmlns:adec="http://schemas.microsoft.com/office/drawing/2017/decorative" val="1"/>
              </a:ext>
            </a:extLst>
          </p:cNvPr>
          <p:cNvSpPr/>
          <p:nvPr/>
        </p:nvSpPr>
        <p:spPr>
          <a:xfrm>
            <a:off x="868680" y="4023360"/>
            <a:ext cx="1417320" cy="566928"/>
          </a:xfrm>
          <a:prstGeom prst="roundRect">
            <a:avLst>
              <a:gd name="adj" fmla="val 16129"/>
            </a:avLst>
          </a:prstGeom>
          <a:solidFill>
            <a:srgbClr val="EEF2FF"/>
          </a:solidFill>
          <a:ln/>
        </p:spPr>
        <p:txBody>
          <a:bodyPr/>
          <a:lstStyle/>
          <a:p>
            <a:endParaRPr lang="en-US"/>
          </a:p>
        </p:txBody>
      </p:sp>
      <p:sp>
        <p:nvSpPr>
          <p:cNvPr id="10" name="Text 8"/>
          <p:cNvSpPr/>
          <p:nvPr/>
        </p:nvSpPr>
        <p:spPr>
          <a:xfrm>
            <a:off x="868680" y="4023360"/>
            <a:ext cx="1417320" cy="566928"/>
          </a:xfrm>
          <a:prstGeom prst="rect">
            <a:avLst/>
          </a:prstGeom>
          <a:noFill/>
          <a:ln/>
        </p:spPr>
        <p:txBody>
          <a:bodyPr wrap="square" lIns="0" tIns="0" rIns="0" bIns="0" rtlCol="0" anchor="ctr"/>
          <a:lstStyle/>
          <a:p>
            <a:pPr marL="0" indent="0" algn="ctr">
              <a:buNone/>
            </a:pPr>
            <a:r>
              <a:rPr lang="en-US" sz="2200" b="1" dirty="0">
                <a:solidFill>
                  <a:srgbClr val="3730A3"/>
                </a:solidFill>
                <a:latin typeface="Cambria Math" pitchFamily="34" charset="0"/>
                <a:ea typeface="Cambria Math" pitchFamily="34" charset="-122"/>
                <a:cs typeface="Cambria Math" pitchFamily="34" charset="-120"/>
              </a:rPr>
              <a:t>|0⟩</a:t>
            </a:r>
            <a:endParaRPr lang="en-US" sz="2200" dirty="0"/>
          </a:p>
        </p:txBody>
      </p:sp>
      <p:sp>
        <p:nvSpPr>
          <p:cNvPr id="11" name="ket chip">
            <a:extLst>
              <a:ext uri="{C183D7F6-B498-43B3-948B-1728B52AA6E4}">
                <adec:decorative xmlns:adec="http://schemas.microsoft.com/office/drawing/2017/decorative" val="1"/>
              </a:ext>
            </a:extLst>
          </p:cNvPr>
          <p:cNvSpPr/>
          <p:nvPr/>
        </p:nvSpPr>
        <p:spPr>
          <a:xfrm>
            <a:off x="2468880" y="4023360"/>
            <a:ext cx="1417320" cy="566928"/>
          </a:xfrm>
          <a:prstGeom prst="roundRect">
            <a:avLst>
              <a:gd name="adj" fmla="val 16129"/>
            </a:avLst>
          </a:prstGeom>
          <a:solidFill>
            <a:srgbClr val="EEF2FF"/>
          </a:solidFill>
          <a:ln/>
        </p:spPr>
        <p:txBody>
          <a:bodyPr/>
          <a:lstStyle/>
          <a:p>
            <a:endParaRPr lang="en-US"/>
          </a:p>
        </p:txBody>
      </p:sp>
      <p:sp>
        <p:nvSpPr>
          <p:cNvPr id="12" name="Text 10"/>
          <p:cNvSpPr/>
          <p:nvPr/>
        </p:nvSpPr>
        <p:spPr>
          <a:xfrm>
            <a:off x="2468880" y="4023360"/>
            <a:ext cx="1417320" cy="566928"/>
          </a:xfrm>
          <a:prstGeom prst="rect">
            <a:avLst/>
          </a:prstGeom>
          <a:noFill/>
          <a:ln/>
        </p:spPr>
        <p:txBody>
          <a:bodyPr wrap="square" lIns="0" tIns="0" rIns="0" bIns="0" rtlCol="0" anchor="ctr"/>
          <a:lstStyle/>
          <a:p>
            <a:pPr marL="0" indent="0" algn="ctr">
              <a:buNone/>
            </a:pPr>
            <a:r>
              <a:rPr lang="en-US" sz="2200" b="1" dirty="0">
                <a:solidFill>
                  <a:srgbClr val="3730A3"/>
                </a:solidFill>
                <a:latin typeface="Cambria Math" pitchFamily="34" charset="0"/>
                <a:ea typeface="Cambria Math" pitchFamily="34" charset="-122"/>
                <a:cs typeface="Cambria Math" pitchFamily="34" charset="-120"/>
              </a:rPr>
              <a:t>|1⟩</a:t>
            </a:r>
            <a:endParaRPr lang="en-US" sz="2200" dirty="0"/>
          </a:p>
        </p:txBody>
      </p:sp>
      <p:sp>
        <p:nvSpPr>
          <p:cNvPr id="13" name="ket chip">
            <a:extLst>
              <a:ext uri="{C183D7F6-B498-43B3-948B-1728B52AA6E4}">
                <adec:decorative xmlns:adec="http://schemas.microsoft.com/office/drawing/2017/decorative" val="1"/>
              </a:ext>
            </a:extLst>
          </p:cNvPr>
          <p:cNvSpPr/>
          <p:nvPr/>
        </p:nvSpPr>
        <p:spPr>
          <a:xfrm>
            <a:off x="4069080" y="4023360"/>
            <a:ext cx="1417320" cy="566928"/>
          </a:xfrm>
          <a:prstGeom prst="roundRect">
            <a:avLst>
              <a:gd name="adj" fmla="val 16129"/>
            </a:avLst>
          </a:prstGeom>
          <a:solidFill>
            <a:srgbClr val="EEF2FF"/>
          </a:solidFill>
          <a:ln/>
        </p:spPr>
        <p:txBody>
          <a:bodyPr/>
          <a:lstStyle/>
          <a:p>
            <a:endParaRPr lang="en-US"/>
          </a:p>
        </p:txBody>
      </p:sp>
      <p:sp>
        <p:nvSpPr>
          <p:cNvPr id="14" name="Text 12"/>
          <p:cNvSpPr/>
          <p:nvPr/>
        </p:nvSpPr>
        <p:spPr>
          <a:xfrm>
            <a:off x="4069080" y="4023360"/>
            <a:ext cx="1417320" cy="566928"/>
          </a:xfrm>
          <a:prstGeom prst="rect">
            <a:avLst/>
          </a:prstGeom>
          <a:noFill/>
          <a:ln/>
        </p:spPr>
        <p:txBody>
          <a:bodyPr wrap="square" lIns="0" tIns="0" rIns="0" bIns="0" rtlCol="0" anchor="ctr"/>
          <a:lstStyle/>
          <a:p>
            <a:pPr marL="0" indent="0" algn="ctr">
              <a:buNone/>
            </a:pPr>
            <a:r>
              <a:rPr lang="en-US" sz="2200" b="1" dirty="0">
                <a:solidFill>
                  <a:srgbClr val="3730A3"/>
                </a:solidFill>
                <a:latin typeface="Cambria Math" pitchFamily="34" charset="0"/>
                <a:ea typeface="Cambria Math" pitchFamily="34" charset="-122"/>
                <a:cs typeface="Cambria Math" pitchFamily="34" charset="-120"/>
              </a:rPr>
              <a:t>|ψ⟩</a:t>
            </a:r>
            <a:endParaRPr lang="en-US" sz="2200" dirty="0"/>
          </a:p>
        </p:txBody>
      </p:sp>
      <p:sp>
        <p:nvSpPr>
          <p:cNvPr id="15" name="Relationship band">
            <a:extLst>
              <a:ext uri="{C183D7F6-B498-43B3-948B-1728B52AA6E4}">
                <adec:decorative xmlns:adec="http://schemas.microsoft.com/office/drawing/2017/decorative" val="1"/>
              </a:ext>
            </a:extLst>
          </p:cNvPr>
          <p:cNvSpPr/>
          <p:nvPr/>
        </p:nvSpPr>
        <p:spPr>
          <a:xfrm>
            <a:off x="548640" y="4846320"/>
            <a:ext cx="5394960" cy="914400"/>
          </a:xfrm>
          <a:prstGeom prst="roundRect">
            <a:avLst>
              <a:gd name="adj" fmla="val 8000"/>
            </a:avLst>
          </a:prstGeom>
          <a:solidFill>
            <a:srgbClr val="CCFBF1"/>
          </a:solidFill>
          <a:ln/>
        </p:spPr>
        <p:txBody>
          <a:bodyPr/>
          <a:lstStyle/>
          <a:p>
            <a:endParaRPr lang="en-US"/>
          </a:p>
        </p:txBody>
      </p:sp>
      <p:sp>
        <p:nvSpPr>
          <p:cNvPr id="16" name="Text 14"/>
          <p:cNvSpPr/>
          <p:nvPr/>
        </p:nvSpPr>
        <p:spPr>
          <a:xfrm>
            <a:off x="548640" y="4846320"/>
            <a:ext cx="5394960" cy="914400"/>
          </a:xfrm>
          <a:prstGeom prst="rect">
            <a:avLst/>
          </a:prstGeom>
          <a:noFill/>
          <a:ln/>
        </p:spPr>
        <p:txBody>
          <a:bodyPr wrap="square" lIns="0" tIns="0" rIns="0" bIns="0" rtlCol="0" anchor="ctr"/>
          <a:lstStyle/>
          <a:p>
            <a:pPr marL="0" indent="0" algn="ctr">
              <a:buNone/>
            </a:pPr>
            <a:r>
              <a:rPr lang="en-US" sz="2000" b="1" dirty="0">
                <a:solidFill>
                  <a:srgbClr val="0D9488"/>
                </a:solidFill>
              </a:rPr>
              <a:t>Ket   =   Column vector</a:t>
            </a:r>
            <a:endParaRPr lang="en-US" sz="2000" dirty="0"/>
          </a:p>
        </p:txBody>
      </p:sp>
      <p:sp>
        <p:nvSpPr>
          <p:cNvPr id="17" name="Illustration card">
            <a:extLst>
              <a:ext uri="{C183D7F6-B498-43B3-948B-1728B52AA6E4}">
                <adec:decorative xmlns:adec="http://schemas.microsoft.com/office/drawing/2017/decorative" val="1"/>
              </a:ext>
            </a:extLst>
          </p:cNvPr>
          <p:cNvSpPr/>
          <p:nvPr/>
        </p:nvSpPr>
        <p:spPr>
          <a:xfrm>
            <a:off x="6172200" y="1920240"/>
            <a:ext cx="5468112" cy="3840480"/>
          </a:xfrm>
          <a:prstGeom prst="roundRect">
            <a:avLst>
              <a:gd name="adj" fmla="val 1905"/>
            </a:avLst>
          </a:prstGeom>
          <a:solidFill>
            <a:srgbClr val="FFFFFF"/>
          </a:solidFill>
          <a:ln w="15875">
            <a:solidFill>
              <a:srgbClr val="D1D5DB"/>
            </a:solidFill>
            <a:prstDash val="solid"/>
          </a:ln>
        </p:spPr>
        <p:txBody>
          <a:bodyPr/>
          <a:lstStyle/>
          <a:p>
            <a:endParaRPr lang="en-US"/>
          </a:p>
        </p:txBody>
      </p:sp>
      <p:sp>
        <p:nvSpPr>
          <p:cNvPr id="18" name="Text 16"/>
          <p:cNvSpPr/>
          <p:nvPr/>
        </p:nvSpPr>
        <p:spPr>
          <a:xfrm>
            <a:off x="6537960" y="3127248"/>
            <a:ext cx="1554480" cy="914400"/>
          </a:xfrm>
          <a:prstGeom prst="rect">
            <a:avLst/>
          </a:prstGeom>
          <a:noFill/>
          <a:ln/>
        </p:spPr>
        <p:txBody>
          <a:bodyPr wrap="square" lIns="0" tIns="0" rIns="0" bIns="0" rtlCol="0" anchor="ctr"/>
          <a:lstStyle/>
          <a:p>
            <a:pPr marL="0" indent="0" algn="ctr">
              <a:buNone/>
            </a:pPr>
            <a:r>
              <a:rPr lang="en-US" sz="4400" b="1" dirty="0">
                <a:solidFill>
                  <a:srgbClr val="3730A3"/>
                </a:solidFill>
                <a:latin typeface="Cambria Math" pitchFamily="34" charset="0"/>
                <a:ea typeface="Cambria Math" pitchFamily="34" charset="-122"/>
                <a:cs typeface="Cambria Math" pitchFamily="34" charset="-120"/>
              </a:rPr>
              <a:t>|ψ⟩</a:t>
            </a:r>
            <a:endParaRPr lang="en-US" sz="4400" dirty="0"/>
          </a:p>
        </p:txBody>
      </p:sp>
      <p:sp>
        <p:nvSpPr>
          <p:cNvPr id="19" name="Flow arrow">
            <a:extLst>
              <a:ext uri="{C183D7F6-B498-43B3-948B-1728B52AA6E4}">
                <adec:decorative xmlns:adec="http://schemas.microsoft.com/office/drawing/2017/decorative" val="1"/>
              </a:ext>
            </a:extLst>
          </p:cNvPr>
          <p:cNvSpPr/>
          <p:nvPr/>
        </p:nvSpPr>
        <p:spPr>
          <a:xfrm>
            <a:off x="8183880" y="3584448"/>
            <a:ext cx="960120" cy="0"/>
          </a:xfrm>
          <a:prstGeom prst="line">
            <a:avLst/>
          </a:prstGeom>
          <a:noFill/>
          <a:ln w="28575">
            <a:solidFill>
              <a:srgbClr val="475569"/>
            </a:solidFill>
            <a:prstDash val="solid"/>
            <a:tailEnd type="triangle"/>
          </a:ln>
        </p:spPr>
        <p:txBody>
          <a:bodyPr/>
          <a:lstStyle/>
          <a:p>
            <a:endParaRPr lang="en-US"/>
          </a:p>
        </p:txBody>
      </p:sp>
      <p:sp>
        <p:nvSpPr>
          <p:cNvPr id="20" name="bracket">
            <a:extLst>
              <a:ext uri="{C183D7F6-B498-43B3-948B-1728B52AA6E4}">
                <adec:decorative xmlns:adec="http://schemas.microsoft.com/office/drawing/2017/decorative" val="1"/>
              </a:ext>
            </a:extLst>
          </p:cNvPr>
          <p:cNvSpPr/>
          <p:nvPr/>
        </p:nvSpPr>
        <p:spPr>
          <a:xfrm>
            <a:off x="9464040" y="3063240"/>
            <a:ext cx="41148" cy="1051560"/>
          </a:xfrm>
          <a:prstGeom prst="rect">
            <a:avLst/>
          </a:prstGeom>
          <a:solidFill>
            <a:srgbClr val="1F2937"/>
          </a:solidFill>
          <a:ln/>
        </p:spPr>
        <p:txBody>
          <a:bodyPr/>
          <a:lstStyle/>
          <a:p>
            <a:endParaRPr lang="en-US"/>
          </a:p>
        </p:txBody>
      </p:sp>
      <p:sp>
        <p:nvSpPr>
          <p:cNvPr id="21" name="bracket">
            <a:extLst>
              <a:ext uri="{C183D7F6-B498-43B3-948B-1728B52AA6E4}">
                <adec:decorative xmlns:adec="http://schemas.microsoft.com/office/drawing/2017/decorative" val="1"/>
              </a:ext>
            </a:extLst>
          </p:cNvPr>
          <p:cNvSpPr/>
          <p:nvPr/>
        </p:nvSpPr>
        <p:spPr>
          <a:xfrm>
            <a:off x="9464040" y="3063240"/>
            <a:ext cx="164592" cy="41148"/>
          </a:xfrm>
          <a:prstGeom prst="rect">
            <a:avLst/>
          </a:prstGeom>
          <a:solidFill>
            <a:srgbClr val="1F2937"/>
          </a:solidFill>
          <a:ln/>
        </p:spPr>
        <p:txBody>
          <a:bodyPr/>
          <a:lstStyle/>
          <a:p>
            <a:endParaRPr lang="en-US"/>
          </a:p>
        </p:txBody>
      </p:sp>
      <p:sp>
        <p:nvSpPr>
          <p:cNvPr id="22" name="bracket">
            <a:extLst>
              <a:ext uri="{C183D7F6-B498-43B3-948B-1728B52AA6E4}">
                <adec:decorative xmlns:adec="http://schemas.microsoft.com/office/drawing/2017/decorative" val="1"/>
              </a:ext>
            </a:extLst>
          </p:cNvPr>
          <p:cNvSpPr/>
          <p:nvPr/>
        </p:nvSpPr>
        <p:spPr>
          <a:xfrm>
            <a:off x="9464040" y="4073652"/>
            <a:ext cx="164592" cy="41148"/>
          </a:xfrm>
          <a:prstGeom prst="rect">
            <a:avLst/>
          </a:prstGeom>
          <a:solidFill>
            <a:srgbClr val="1F2937"/>
          </a:solidFill>
          <a:ln/>
        </p:spPr>
        <p:txBody>
          <a:bodyPr/>
          <a:lstStyle/>
          <a:p>
            <a:endParaRPr lang="en-US"/>
          </a:p>
        </p:txBody>
      </p:sp>
      <p:sp>
        <p:nvSpPr>
          <p:cNvPr id="23" name="bracket">
            <a:extLst>
              <a:ext uri="{C183D7F6-B498-43B3-948B-1728B52AA6E4}">
                <adec:decorative xmlns:adec="http://schemas.microsoft.com/office/drawing/2017/decorative" val="1"/>
              </a:ext>
            </a:extLst>
          </p:cNvPr>
          <p:cNvSpPr/>
          <p:nvPr/>
        </p:nvSpPr>
        <p:spPr>
          <a:xfrm>
            <a:off x="10081260" y="3063240"/>
            <a:ext cx="41148" cy="1051560"/>
          </a:xfrm>
          <a:prstGeom prst="rect">
            <a:avLst/>
          </a:prstGeom>
          <a:solidFill>
            <a:srgbClr val="1F2937"/>
          </a:solidFill>
          <a:ln/>
        </p:spPr>
        <p:txBody>
          <a:bodyPr/>
          <a:lstStyle/>
          <a:p>
            <a:endParaRPr lang="en-US"/>
          </a:p>
        </p:txBody>
      </p:sp>
      <p:sp>
        <p:nvSpPr>
          <p:cNvPr id="24" name="bracket">
            <a:extLst>
              <a:ext uri="{C183D7F6-B498-43B3-948B-1728B52AA6E4}">
                <adec:decorative xmlns:adec="http://schemas.microsoft.com/office/drawing/2017/decorative" val="1"/>
              </a:ext>
            </a:extLst>
          </p:cNvPr>
          <p:cNvSpPr/>
          <p:nvPr/>
        </p:nvSpPr>
        <p:spPr>
          <a:xfrm>
            <a:off x="9957816" y="3063240"/>
            <a:ext cx="164592" cy="41148"/>
          </a:xfrm>
          <a:prstGeom prst="rect">
            <a:avLst/>
          </a:prstGeom>
          <a:solidFill>
            <a:srgbClr val="1F2937"/>
          </a:solidFill>
          <a:ln/>
        </p:spPr>
        <p:txBody>
          <a:bodyPr/>
          <a:lstStyle/>
          <a:p>
            <a:endParaRPr lang="en-US"/>
          </a:p>
        </p:txBody>
      </p:sp>
      <p:sp>
        <p:nvSpPr>
          <p:cNvPr id="25" name="bracket">
            <a:extLst>
              <a:ext uri="{C183D7F6-B498-43B3-948B-1728B52AA6E4}">
                <adec:decorative xmlns:adec="http://schemas.microsoft.com/office/drawing/2017/decorative" val="1"/>
              </a:ext>
            </a:extLst>
          </p:cNvPr>
          <p:cNvSpPr/>
          <p:nvPr/>
        </p:nvSpPr>
        <p:spPr>
          <a:xfrm>
            <a:off x="9957816" y="4073652"/>
            <a:ext cx="164592" cy="41148"/>
          </a:xfrm>
          <a:prstGeom prst="rect">
            <a:avLst/>
          </a:prstGeom>
          <a:solidFill>
            <a:srgbClr val="1F2937"/>
          </a:solidFill>
          <a:ln/>
        </p:spPr>
        <p:txBody>
          <a:bodyPr/>
          <a:lstStyle/>
          <a:p>
            <a:endParaRPr lang="en-US"/>
          </a:p>
        </p:txBody>
      </p:sp>
      <p:sp>
        <p:nvSpPr>
          <p:cNvPr id="26" name="Text 24"/>
          <p:cNvSpPr/>
          <p:nvPr/>
        </p:nvSpPr>
        <p:spPr>
          <a:xfrm>
            <a:off x="9464040" y="3063240"/>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a</a:t>
            </a:r>
            <a:endParaRPr lang="en-US" sz="2200" dirty="0"/>
          </a:p>
          <a:p>
            <a:pPr marL="0" indent="0" algn="ctr">
              <a:lnSpc>
                <a:spcPct val="100000"/>
              </a:lnSpc>
              <a:buNone/>
            </a:pPr>
            <a:r>
              <a:rPr lang="en-US" sz="2200" b="1" dirty="0">
                <a:solidFill>
                  <a:srgbClr val="1F2937"/>
                </a:solidFill>
              </a:rPr>
              <a:t>b</a:t>
            </a:r>
            <a:endParaRPr lang="en-US" sz="2200" dirty="0"/>
          </a:p>
        </p:txBody>
      </p:sp>
      <p:sp>
        <p:nvSpPr>
          <p:cNvPr id="27" name="Text 25"/>
          <p:cNvSpPr/>
          <p:nvPr/>
        </p:nvSpPr>
        <p:spPr>
          <a:xfrm>
            <a:off x="8732520" y="4251960"/>
            <a:ext cx="2377440" cy="365760"/>
          </a:xfrm>
          <a:prstGeom prst="rect">
            <a:avLst/>
          </a:prstGeom>
          <a:noFill/>
          <a:ln/>
        </p:spPr>
        <p:txBody>
          <a:bodyPr wrap="square" lIns="0" tIns="0" rIns="0" bIns="0" rtlCol="0" anchor="ctr"/>
          <a:lstStyle/>
          <a:p>
            <a:pPr marL="0" indent="0" algn="ctr">
              <a:buNone/>
            </a:pPr>
            <a:r>
              <a:rPr lang="en-US" sz="1400" i="1" dirty="0">
                <a:solidFill>
                  <a:srgbClr val="475569"/>
                </a:solidFill>
              </a:rPr>
              <a:t>Column vector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dirty="0">
                <a:solidFill>
                  <a:srgbClr val="3730A3"/>
                </a:solidFill>
                <a:latin typeface="Calibri" pitchFamily="34" charset="0"/>
                <a:ea typeface="Calibri" pitchFamily="34" charset="-122"/>
                <a:cs typeface="Calibri" pitchFamily="34" charset="-120"/>
              </a:rPr>
              <a:t>Bra Vectors</a:t>
            </a:r>
            <a:endParaRPr lang="en-US" sz="3000" dirty="0"/>
          </a:p>
        </p:txBody>
      </p:sp>
      <p:sp>
        <p:nvSpPr>
          <p:cNvPr id="3" name="Title accent rule">
            <a:extLst>
              <a:ext uri="{C183D7F6-B498-43B3-948B-1728B52AA6E4}">
                <adec:decorative xmlns:adec="http://schemas.microsoft.com/office/drawing/2017/decorative" val="1"/>
              </a:ext>
            </a:extLst>
          </p:cNvPr>
          <p:cNvSpPr/>
          <p:nvPr/>
        </p:nvSpPr>
        <p:spPr>
          <a:xfrm>
            <a:off x="566928" y="1371600"/>
            <a:ext cx="2743200" cy="50292"/>
          </a:xfrm>
          <a:prstGeom prst="rect">
            <a:avLst/>
          </a:prstGeom>
          <a:solidFill>
            <a:srgbClr val="0D9488"/>
          </a:solidFill>
          <a:ln/>
        </p:spPr>
        <p:txBody>
          <a:bodyPr/>
          <a:lstStyle/>
          <a:p>
            <a:endParaRPr lang="en-US"/>
          </a:p>
        </p:txBody>
      </p:sp>
      <p:sp>
        <p:nvSpPr>
          <p:cNvPr id="4" name="Equation band">
            <a:extLst>
              <a:ext uri="{C183D7F6-B498-43B3-948B-1728B52AA6E4}">
                <adec:decorative xmlns:adec="http://schemas.microsoft.com/office/drawing/2017/decorative" val="1"/>
              </a:ext>
            </a:extLst>
          </p:cNvPr>
          <p:cNvSpPr/>
          <p:nvPr/>
        </p:nvSpPr>
        <p:spPr>
          <a:xfrm>
            <a:off x="548640" y="1691640"/>
            <a:ext cx="11091672" cy="1600200"/>
          </a:xfrm>
          <a:prstGeom prst="roundRect">
            <a:avLst>
              <a:gd name="adj" fmla="val 3429"/>
            </a:avLst>
          </a:prstGeom>
          <a:solidFill>
            <a:srgbClr val="EEF2FF"/>
          </a:solidFill>
          <a:ln/>
        </p:spPr>
        <p:txBody>
          <a:bodyPr/>
          <a:lstStyle/>
          <a:p>
            <a:endParaRPr lang="en-US"/>
          </a:p>
        </p:txBody>
      </p:sp>
      <p:sp>
        <p:nvSpPr>
          <p:cNvPr id="5" name="Text 3"/>
          <p:cNvSpPr/>
          <p:nvPr/>
        </p:nvSpPr>
        <p:spPr>
          <a:xfrm>
            <a:off x="914400" y="2029968"/>
            <a:ext cx="1554480" cy="914400"/>
          </a:xfrm>
          <a:prstGeom prst="rect">
            <a:avLst/>
          </a:prstGeom>
          <a:noFill/>
          <a:ln/>
        </p:spPr>
        <p:txBody>
          <a:bodyPr wrap="square" lIns="0" tIns="0" rIns="0" bIns="0" rtlCol="0" anchor="ctr"/>
          <a:lstStyle/>
          <a:p>
            <a:pPr marL="0" indent="0" algn="r">
              <a:buNone/>
            </a:pPr>
            <a:r>
              <a:rPr lang="en-US" sz="3000" b="1" dirty="0">
                <a:solidFill>
                  <a:srgbClr val="3730A3"/>
                </a:solidFill>
                <a:latin typeface="Cambria Math" pitchFamily="34" charset="0"/>
                <a:ea typeface="Cambria Math" pitchFamily="34" charset="-122"/>
                <a:cs typeface="Cambria Math" pitchFamily="34" charset="-120"/>
              </a:rPr>
              <a:t>|ψ⟩  =</a:t>
            </a:r>
            <a:endParaRPr lang="en-US" sz="3000" dirty="0"/>
          </a:p>
        </p:txBody>
      </p:sp>
      <p:sp>
        <p:nvSpPr>
          <p:cNvPr id="6" name="bracket">
            <a:extLst>
              <a:ext uri="{C183D7F6-B498-43B3-948B-1728B52AA6E4}">
                <adec:decorative xmlns:adec="http://schemas.microsoft.com/office/drawing/2017/decorative" val="1"/>
              </a:ext>
            </a:extLst>
          </p:cNvPr>
          <p:cNvSpPr/>
          <p:nvPr/>
        </p:nvSpPr>
        <p:spPr>
          <a:xfrm>
            <a:off x="2697480" y="1961388"/>
            <a:ext cx="41148" cy="1051560"/>
          </a:xfrm>
          <a:prstGeom prst="rect">
            <a:avLst/>
          </a:prstGeom>
          <a:solidFill>
            <a:srgbClr val="1F2937"/>
          </a:solidFill>
          <a:ln/>
        </p:spPr>
        <p:txBody>
          <a:bodyPr/>
          <a:lstStyle/>
          <a:p>
            <a:endParaRPr lang="en-US"/>
          </a:p>
        </p:txBody>
      </p:sp>
      <p:sp>
        <p:nvSpPr>
          <p:cNvPr id="7" name="bracket">
            <a:extLst>
              <a:ext uri="{C183D7F6-B498-43B3-948B-1728B52AA6E4}">
                <adec:decorative xmlns:adec="http://schemas.microsoft.com/office/drawing/2017/decorative" val="1"/>
              </a:ext>
            </a:extLst>
          </p:cNvPr>
          <p:cNvSpPr/>
          <p:nvPr/>
        </p:nvSpPr>
        <p:spPr>
          <a:xfrm>
            <a:off x="2697480" y="1961388"/>
            <a:ext cx="164592" cy="41148"/>
          </a:xfrm>
          <a:prstGeom prst="rect">
            <a:avLst/>
          </a:prstGeom>
          <a:solidFill>
            <a:srgbClr val="1F2937"/>
          </a:solidFill>
          <a:ln/>
        </p:spPr>
        <p:txBody>
          <a:bodyPr/>
          <a:lstStyle/>
          <a:p>
            <a:endParaRPr lang="en-US"/>
          </a:p>
        </p:txBody>
      </p:sp>
      <p:sp>
        <p:nvSpPr>
          <p:cNvPr id="8" name="bracket">
            <a:extLst>
              <a:ext uri="{C183D7F6-B498-43B3-948B-1728B52AA6E4}">
                <adec:decorative xmlns:adec="http://schemas.microsoft.com/office/drawing/2017/decorative" val="1"/>
              </a:ext>
            </a:extLst>
          </p:cNvPr>
          <p:cNvSpPr/>
          <p:nvPr/>
        </p:nvSpPr>
        <p:spPr>
          <a:xfrm>
            <a:off x="2697480" y="2971800"/>
            <a:ext cx="164592" cy="41148"/>
          </a:xfrm>
          <a:prstGeom prst="rect">
            <a:avLst/>
          </a:prstGeom>
          <a:solidFill>
            <a:srgbClr val="1F2937"/>
          </a:solidFill>
          <a:ln/>
        </p:spPr>
        <p:txBody>
          <a:bodyPr/>
          <a:lstStyle/>
          <a:p>
            <a:endParaRPr lang="en-US"/>
          </a:p>
        </p:txBody>
      </p:sp>
      <p:sp>
        <p:nvSpPr>
          <p:cNvPr id="9" name="bracket">
            <a:extLst>
              <a:ext uri="{C183D7F6-B498-43B3-948B-1728B52AA6E4}">
                <adec:decorative xmlns:adec="http://schemas.microsoft.com/office/drawing/2017/decorative" val="1"/>
              </a:ext>
            </a:extLst>
          </p:cNvPr>
          <p:cNvSpPr/>
          <p:nvPr/>
        </p:nvSpPr>
        <p:spPr>
          <a:xfrm>
            <a:off x="3314700" y="1961388"/>
            <a:ext cx="41148" cy="1051560"/>
          </a:xfrm>
          <a:prstGeom prst="rect">
            <a:avLst/>
          </a:prstGeom>
          <a:solidFill>
            <a:srgbClr val="1F2937"/>
          </a:solidFill>
          <a:ln/>
        </p:spPr>
        <p:txBody>
          <a:bodyPr/>
          <a:lstStyle/>
          <a:p>
            <a:endParaRPr lang="en-US"/>
          </a:p>
        </p:txBody>
      </p:sp>
      <p:sp>
        <p:nvSpPr>
          <p:cNvPr id="10" name="bracket">
            <a:extLst>
              <a:ext uri="{C183D7F6-B498-43B3-948B-1728B52AA6E4}">
                <adec:decorative xmlns:adec="http://schemas.microsoft.com/office/drawing/2017/decorative" val="1"/>
              </a:ext>
            </a:extLst>
          </p:cNvPr>
          <p:cNvSpPr/>
          <p:nvPr/>
        </p:nvSpPr>
        <p:spPr>
          <a:xfrm>
            <a:off x="3191256" y="1961388"/>
            <a:ext cx="164592" cy="41148"/>
          </a:xfrm>
          <a:prstGeom prst="rect">
            <a:avLst/>
          </a:prstGeom>
          <a:solidFill>
            <a:srgbClr val="1F2937"/>
          </a:solidFill>
          <a:ln/>
        </p:spPr>
        <p:txBody>
          <a:bodyPr/>
          <a:lstStyle/>
          <a:p>
            <a:endParaRPr lang="en-US"/>
          </a:p>
        </p:txBody>
      </p:sp>
      <p:sp>
        <p:nvSpPr>
          <p:cNvPr id="11" name="bracket">
            <a:extLst>
              <a:ext uri="{C183D7F6-B498-43B3-948B-1728B52AA6E4}">
                <adec:decorative xmlns:adec="http://schemas.microsoft.com/office/drawing/2017/decorative" val="1"/>
              </a:ext>
            </a:extLst>
          </p:cNvPr>
          <p:cNvSpPr/>
          <p:nvPr/>
        </p:nvSpPr>
        <p:spPr>
          <a:xfrm>
            <a:off x="3191256" y="2971800"/>
            <a:ext cx="164592" cy="41148"/>
          </a:xfrm>
          <a:prstGeom prst="rect">
            <a:avLst/>
          </a:prstGeom>
          <a:solidFill>
            <a:srgbClr val="1F2937"/>
          </a:solidFill>
          <a:ln/>
        </p:spPr>
        <p:txBody>
          <a:bodyPr/>
          <a:lstStyle/>
          <a:p>
            <a:endParaRPr lang="en-US"/>
          </a:p>
        </p:txBody>
      </p:sp>
      <p:sp>
        <p:nvSpPr>
          <p:cNvPr id="12" name="Text 10"/>
          <p:cNvSpPr/>
          <p:nvPr/>
        </p:nvSpPr>
        <p:spPr>
          <a:xfrm>
            <a:off x="2697480" y="1961388"/>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a</a:t>
            </a:r>
            <a:endParaRPr lang="en-US" sz="2200" dirty="0"/>
          </a:p>
          <a:p>
            <a:pPr marL="0" indent="0" algn="ctr">
              <a:lnSpc>
                <a:spcPct val="100000"/>
              </a:lnSpc>
              <a:buNone/>
            </a:pPr>
            <a:r>
              <a:rPr lang="en-US" sz="2200" b="1" dirty="0">
                <a:solidFill>
                  <a:srgbClr val="1F2937"/>
                </a:solidFill>
              </a:rPr>
              <a:t>b</a:t>
            </a:r>
            <a:endParaRPr lang="en-US" sz="2200" dirty="0"/>
          </a:p>
        </p:txBody>
      </p:sp>
      <p:sp>
        <p:nvSpPr>
          <p:cNvPr id="13" name="Flow arrow">
            <a:extLst>
              <a:ext uri="{C183D7F6-B498-43B3-948B-1728B52AA6E4}">
                <adec:decorative xmlns:adec="http://schemas.microsoft.com/office/drawing/2017/decorative" val="1"/>
              </a:ext>
            </a:extLst>
          </p:cNvPr>
          <p:cNvSpPr/>
          <p:nvPr/>
        </p:nvSpPr>
        <p:spPr>
          <a:xfrm>
            <a:off x="3611880" y="2487168"/>
            <a:ext cx="1234440" cy="0"/>
          </a:xfrm>
          <a:prstGeom prst="line">
            <a:avLst/>
          </a:prstGeom>
          <a:noFill/>
          <a:ln w="28575">
            <a:solidFill>
              <a:srgbClr val="475569"/>
            </a:solidFill>
            <a:prstDash val="solid"/>
            <a:tailEnd type="triangle"/>
          </a:ln>
        </p:spPr>
        <p:txBody>
          <a:bodyPr/>
          <a:lstStyle/>
          <a:p>
            <a:endParaRPr lang="en-US"/>
          </a:p>
        </p:txBody>
      </p:sp>
      <p:sp>
        <p:nvSpPr>
          <p:cNvPr id="14" name="Text 12"/>
          <p:cNvSpPr/>
          <p:nvPr/>
        </p:nvSpPr>
        <p:spPr>
          <a:xfrm>
            <a:off x="3611880" y="1984248"/>
            <a:ext cx="1234440" cy="365760"/>
          </a:xfrm>
          <a:prstGeom prst="rect">
            <a:avLst/>
          </a:prstGeom>
          <a:noFill/>
          <a:ln/>
        </p:spPr>
        <p:txBody>
          <a:bodyPr wrap="square" lIns="0" tIns="0" rIns="0" bIns="0" rtlCol="0" anchor="ctr"/>
          <a:lstStyle/>
          <a:p>
            <a:pPr marL="0" indent="0" algn="ctr">
              <a:buNone/>
            </a:pPr>
            <a:r>
              <a:rPr lang="en-US" sz="1200" i="1" dirty="0">
                <a:solidFill>
                  <a:srgbClr val="475569"/>
                </a:solidFill>
              </a:rPr>
              <a:t>becomes</a:t>
            </a:r>
            <a:endParaRPr lang="en-US" sz="1200" dirty="0"/>
          </a:p>
        </p:txBody>
      </p:sp>
      <p:sp>
        <p:nvSpPr>
          <p:cNvPr id="15" name="Text 13"/>
          <p:cNvSpPr/>
          <p:nvPr/>
        </p:nvSpPr>
        <p:spPr>
          <a:xfrm>
            <a:off x="5029200" y="2029968"/>
            <a:ext cx="1737360" cy="914400"/>
          </a:xfrm>
          <a:prstGeom prst="rect">
            <a:avLst/>
          </a:prstGeom>
          <a:noFill/>
          <a:ln/>
        </p:spPr>
        <p:txBody>
          <a:bodyPr wrap="square" lIns="0" tIns="0" rIns="0" bIns="0" rtlCol="0" anchor="ctr"/>
          <a:lstStyle/>
          <a:p>
            <a:pPr marL="0" indent="0" algn="r">
              <a:buNone/>
            </a:pPr>
            <a:r>
              <a:rPr lang="en-US" sz="3000" b="1" dirty="0">
                <a:solidFill>
                  <a:srgbClr val="3730A3"/>
                </a:solidFill>
                <a:latin typeface="Cambria Math" pitchFamily="34" charset="0"/>
                <a:ea typeface="Cambria Math" pitchFamily="34" charset="-122"/>
                <a:cs typeface="Cambria Math" pitchFamily="34" charset="-120"/>
              </a:rPr>
              <a:t>⟨ψ|  =</a:t>
            </a:r>
            <a:endParaRPr lang="en-US" sz="3000" dirty="0"/>
          </a:p>
        </p:txBody>
      </p:sp>
      <p:sp>
        <p:nvSpPr>
          <p:cNvPr id="16" name="Text 14"/>
          <p:cNvSpPr/>
          <p:nvPr/>
        </p:nvSpPr>
        <p:spPr>
          <a:xfrm>
            <a:off x="6949440" y="2029968"/>
            <a:ext cx="3291840" cy="914400"/>
          </a:xfrm>
          <a:prstGeom prst="rect">
            <a:avLst/>
          </a:prstGeom>
          <a:noFill/>
          <a:ln/>
        </p:spPr>
        <p:txBody>
          <a:bodyPr wrap="square" lIns="0" tIns="0" rIns="0" bIns="0" rtlCol="0" anchor="ctr"/>
          <a:lstStyle/>
          <a:p>
            <a:pPr marL="0" indent="0" algn="l">
              <a:buNone/>
            </a:pPr>
            <a:r>
              <a:rPr lang="en-US" sz="3000" b="1" dirty="0">
                <a:solidFill>
                  <a:srgbClr val="3730A3"/>
                </a:solidFill>
                <a:latin typeface="Cambria Math" pitchFamily="34" charset="0"/>
                <a:ea typeface="Cambria Math" pitchFamily="34" charset="-122"/>
                <a:cs typeface="Cambria Math" pitchFamily="34" charset="-120"/>
              </a:rPr>
              <a:t>[ a*   b* ]</a:t>
            </a:r>
            <a:endParaRPr lang="en-US" sz="3000" dirty="0"/>
          </a:p>
        </p:txBody>
      </p:sp>
      <p:sp>
        <p:nvSpPr>
          <p:cNvPr id="17" name="Illustration card">
            <a:extLst>
              <a:ext uri="{C183D7F6-B498-43B3-948B-1728B52AA6E4}">
                <adec:decorative xmlns:adec="http://schemas.microsoft.com/office/drawing/2017/decorative" val="1"/>
              </a:ext>
            </a:extLst>
          </p:cNvPr>
          <p:cNvSpPr/>
          <p:nvPr/>
        </p:nvSpPr>
        <p:spPr>
          <a:xfrm>
            <a:off x="548640" y="3611880"/>
            <a:ext cx="5120640" cy="2697480"/>
          </a:xfrm>
          <a:prstGeom prst="roundRect">
            <a:avLst>
              <a:gd name="adj" fmla="val 2712"/>
            </a:avLst>
          </a:prstGeom>
          <a:solidFill>
            <a:srgbClr val="FFFFFF"/>
          </a:solidFill>
          <a:ln w="15875">
            <a:solidFill>
              <a:srgbClr val="D1D5DB"/>
            </a:solidFill>
            <a:prstDash val="solid"/>
          </a:ln>
        </p:spPr>
        <p:txBody>
          <a:bodyPr/>
          <a:lstStyle/>
          <a:p>
            <a:endParaRPr lang="en-US"/>
          </a:p>
        </p:txBody>
      </p:sp>
      <p:sp>
        <p:nvSpPr>
          <p:cNvPr id="18" name="Text 16"/>
          <p:cNvSpPr/>
          <p:nvPr/>
        </p:nvSpPr>
        <p:spPr>
          <a:xfrm>
            <a:off x="2194560" y="3703320"/>
            <a:ext cx="1828800" cy="292608"/>
          </a:xfrm>
          <a:prstGeom prst="rect">
            <a:avLst/>
          </a:prstGeom>
          <a:noFill/>
          <a:ln/>
        </p:spPr>
        <p:txBody>
          <a:bodyPr wrap="square" lIns="0" tIns="0" rIns="0" bIns="0" rtlCol="0" anchor="ctr"/>
          <a:lstStyle/>
          <a:p>
            <a:pPr marL="0" indent="0" algn="ctr">
              <a:buNone/>
            </a:pPr>
            <a:r>
              <a:rPr lang="en-US" sz="1400" i="1" dirty="0">
                <a:solidFill>
                  <a:srgbClr val="475569"/>
                </a:solidFill>
              </a:rPr>
              <a:t>Column</a:t>
            </a:r>
            <a:endParaRPr lang="en-US" sz="1400" dirty="0"/>
          </a:p>
        </p:txBody>
      </p:sp>
      <p:sp>
        <p:nvSpPr>
          <p:cNvPr id="19" name="bracket">
            <a:extLst>
              <a:ext uri="{C183D7F6-B498-43B3-948B-1728B52AA6E4}">
                <adec:decorative xmlns:adec="http://schemas.microsoft.com/office/drawing/2017/decorative" val="1"/>
              </a:ext>
            </a:extLst>
          </p:cNvPr>
          <p:cNvSpPr/>
          <p:nvPr/>
        </p:nvSpPr>
        <p:spPr>
          <a:xfrm>
            <a:off x="2779776" y="4041648"/>
            <a:ext cx="41148" cy="1051560"/>
          </a:xfrm>
          <a:prstGeom prst="rect">
            <a:avLst/>
          </a:prstGeom>
          <a:solidFill>
            <a:srgbClr val="1F2937"/>
          </a:solidFill>
          <a:ln/>
        </p:spPr>
        <p:txBody>
          <a:bodyPr/>
          <a:lstStyle/>
          <a:p>
            <a:endParaRPr lang="en-US"/>
          </a:p>
        </p:txBody>
      </p:sp>
      <p:sp>
        <p:nvSpPr>
          <p:cNvPr id="20" name="bracket">
            <a:extLst>
              <a:ext uri="{C183D7F6-B498-43B3-948B-1728B52AA6E4}">
                <adec:decorative xmlns:adec="http://schemas.microsoft.com/office/drawing/2017/decorative" val="1"/>
              </a:ext>
            </a:extLst>
          </p:cNvPr>
          <p:cNvSpPr/>
          <p:nvPr/>
        </p:nvSpPr>
        <p:spPr>
          <a:xfrm>
            <a:off x="2779776" y="4041648"/>
            <a:ext cx="164592" cy="41148"/>
          </a:xfrm>
          <a:prstGeom prst="rect">
            <a:avLst/>
          </a:prstGeom>
          <a:solidFill>
            <a:srgbClr val="1F2937"/>
          </a:solidFill>
          <a:ln/>
        </p:spPr>
        <p:txBody>
          <a:bodyPr/>
          <a:lstStyle/>
          <a:p>
            <a:endParaRPr lang="en-US"/>
          </a:p>
        </p:txBody>
      </p:sp>
      <p:sp>
        <p:nvSpPr>
          <p:cNvPr id="21" name="bracket">
            <a:extLst>
              <a:ext uri="{C183D7F6-B498-43B3-948B-1728B52AA6E4}">
                <adec:decorative xmlns:adec="http://schemas.microsoft.com/office/drawing/2017/decorative" val="1"/>
              </a:ext>
            </a:extLst>
          </p:cNvPr>
          <p:cNvSpPr/>
          <p:nvPr/>
        </p:nvSpPr>
        <p:spPr>
          <a:xfrm>
            <a:off x="2779776" y="5052060"/>
            <a:ext cx="164592" cy="41148"/>
          </a:xfrm>
          <a:prstGeom prst="rect">
            <a:avLst/>
          </a:prstGeom>
          <a:solidFill>
            <a:srgbClr val="1F2937"/>
          </a:solidFill>
          <a:ln/>
        </p:spPr>
        <p:txBody>
          <a:bodyPr/>
          <a:lstStyle/>
          <a:p>
            <a:endParaRPr lang="en-US"/>
          </a:p>
        </p:txBody>
      </p:sp>
      <p:sp>
        <p:nvSpPr>
          <p:cNvPr id="22" name="bracket">
            <a:extLst>
              <a:ext uri="{C183D7F6-B498-43B3-948B-1728B52AA6E4}">
                <adec:decorative xmlns:adec="http://schemas.microsoft.com/office/drawing/2017/decorative" val="1"/>
              </a:ext>
            </a:extLst>
          </p:cNvPr>
          <p:cNvSpPr/>
          <p:nvPr/>
        </p:nvSpPr>
        <p:spPr>
          <a:xfrm>
            <a:off x="3396996" y="4041648"/>
            <a:ext cx="41148" cy="1051560"/>
          </a:xfrm>
          <a:prstGeom prst="rect">
            <a:avLst/>
          </a:prstGeom>
          <a:solidFill>
            <a:srgbClr val="1F2937"/>
          </a:solidFill>
          <a:ln/>
        </p:spPr>
        <p:txBody>
          <a:bodyPr/>
          <a:lstStyle/>
          <a:p>
            <a:endParaRPr lang="en-US"/>
          </a:p>
        </p:txBody>
      </p:sp>
      <p:sp>
        <p:nvSpPr>
          <p:cNvPr id="23" name="bracket">
            <a:extLst>
              <a:ext uri="{C183D7F6-B498-43B3-948B-1728B52AA6E4}">
                <adec:decorative xmlns:adec="http://schemas.microsoft.com/office/drawing/2017/decorative" val="1"/>
              </a:ext>
            </a:extLst>
          </p:cNvPr>
          <p:cNvSpPr/>
          <p:nvPr/>
        </p:nvSpPr>
        <p:spPr>
          <a:xfrm>
            <a:off x="3273552" y="4041648"/>
            <a:ext cx="164592" cy="41148"/>
          </a:xfrm>
          <a:prstGeom prst="rect">
            <a:avLst/>
          </a:prstGeom>
          <a:solidFill>
            <a:srgbClr val="1F2937"/>
          </a:solidFill>
          <a:ln/>
        </p:spPr>
        <p:txBody>
          <a:bodyPr/>
          <a:lstStyle/>
          <a:p>
            <a:endParaRPr lang="en-US"/>
          </a:p>
        </p:txBody>
      </p:sp>
      <p:sp>
        <p:nvSpPr>
          <p:cNvPr id="24" name="bracket">
            <a:extLst>
              <a:ext uri="{C183D7F6-B498-43B3-948B-1728B52AA6E4}">
                <adec:decorative xmlns:adec="http://schemas.microsoft.com/office/drawing/2017/decorative" val="1"/>
              </a:ext>
            </a:extLst>
          </p:cNvPr>
          <p:cNvSpPr/>
          <p:nvPr/>
        </p:nvSpPr>
        <p:spPr>
          <a:xfrm>
            <a:off x="3273552" y="5052060"/>
            <a:ext cx="164592" cy="41148"/>
          </a:xfrm>
          <a:prstGeom prst="rect">
            <a:avLst/>
          </a:prstGeom>
          <a:solidFill>
            <a:srgbClr val="1F2937"/>
          </a:solidFill>
          <a:ln/>
        </p:spPr>
        <p:txBody>
          <a:bodyPr/>
          <a:lstStyle/>
          <a:p>
            <a:endParaRPr lang="en-US"/>
          </a:p>
        </p:txBody>
      </p:sp>
      <p:sp>
        <p:nvSpPr>
          <p:cNvPr id="25" name="Text 23"/>
          <p:cNvSpPr/>
          <p:nvPr/>
        </p:nvSpPr>
        <p:spPr>
          <a:xfrm>
            <a:off x="2779776" y="4041648"/>
            <a:ext cx="658368" cy="1051560"/>
          </a:xfrm>
          <a:prstGeom prst="rect">
            <a:avLst/>
          </a:prstGeom>
          <a:noFill/>
          <a:ln/>
        </p:spPr>
        <p:txBody>
          <a:bodyPr wrap="square" lIns="0" tIns="0" rIns="0" bIns="0" rtlCol="0" anchor="ctr"/>
          <a:lstStyle/>
          <a:p>
            <a:pPr marL="0" indent="0" algn="ctr">
              <a:lnSpc>
                <a:spcPct val="100000"/>
              </a:lnSpc>
              <a:buNone/>
            </a:pPr>
            <a:r>
              <a:rPr lang="en-US" sz="2200" b="1" dirty="0">
                <a:solidFill>
                  <a:srgbClr val="1F2937"/>
                </a:solidFill>
              </a:rPr>
              <a:t>a</a:t>
            </a:r>
            <a:endParaRPr lang="en-US" sz="2200" dirty="0"/>
          </a:p>
          <a:p>
            <a:pPr marL="0" indent="0" algn="ctr">
              <a:lnSpc>
                <a:spcPct val="100000"/>
              </a:lnSpc>
              <a:buNone/>
            </a:pPr>
            <a:r>
              <a:rPr lang="en-US" sz="2200" b="1" dirty="0">
                <a:solidFill>
                  <a:srgbClr val="1F2937"/>
                </a:solidFill>
              </a:rPr>
              <a:t>b</a:t>
            </a:r>
            <a:endParaRPr lang="en-US" sz="2200" dirty="0"/>
          </a:p>
        </p:txBody>
      </p:sp>
      <p:sp>
        <p:nvSpPr>
          <p:cNvPr id="26" name="axis">
            <a:extLst>
              <a:ext uri="{C183D7F6-B498-43B3-948B-1728B52AA6E4}">
                <adec:decorative xmlns:adec="http://schemas.microsoft.com/office/drawing/2017/decorative" val="1"/>
              </a:ext>
            </a:extLst>
          </p:cNvPr>
          <p:cNvSpPr/>
          <p:nvPr/>
        </p:nvSpPr>
        <p:spPr>
          <a:xfrm>
            <a:off x="3108960" y="5148072"/>
            <a:ext cx="0" cy="365760"/>
          </a:xfrm>
          <a:prstGeom prst="line">
            <a:avLst/>
          </a:prstGeom>
          <a:noFill/>
          <a:ln w="38100">
            <a:solidFill>
              <a:srgbClr val="4F46E5"/>
            </a:solidFill>
            <a:prstDash val="solid"/>
            <a:tailEnd type="triangle"/>
          </a:ln>
        </p:spPr>
        <p:txBody>
          <a:bodyPr/>
          <a:lstStyle/>
          <a:p>
            <a:endParaRPr lang="en-US"/>
          </a:p>
        </p:txBody>
      </p:sp>
      <p:sp>
        <p:nvSpPr>
          <p:cNvPr id="27" name="Text 25"/>
          <p:cNvSpPr/>
          <p:nvPr/>
        </p:nvSpPr>
        <p:spPr>
          <a:xfrm>
            <a:off x="2194560" y="5486400"/>
            <a:ext cx="1828800" cy="411480"/>
          </a:xfrm>
          <a:prstGeom prst="rect">
            <a:avLst/>
          </a:prstGeom>
          <a:noFill/>
          <a:ln/>
        </p:spPr>
        <p:txBody>
          <a:bodyPr wrap="square" lIns="0" tIns="0" rIns="0" bIns="0" rtlCol="0" anchor="ctr"/>
          <a:lstStyle/>
          <a:p>
            <a:pPr marL="0" indent="0" algn="ctr">
              <a:buNone/>
            </a:pPr>
            <a:r>
              <a:rPr lang="en-US" sz="2200" b="1" dirty="0">
                <a:solidFill>
                  <a:srgbClr val="3730A3"/>
                </a:solidFill>
                <a:latin typeface="Cambria Math" pitchFamily="34" charset="0"/>
                <a:ea typeface="Cambria Math" pitchFamily="34" charset="-122"/>
                <a:cs typeface="Cambria Math" pitchFamily="34" charset="-120"/>
              </a:rPr>
              <a:t>[ a*   b* ]</a:t>
            </a:r>
            <a:endParaRPr lang="en-US" sz="2200" dirty="0"/>
          </a:p>
        </p:txBody>
      </p:sp>
      <p:sp>
        <p:nvSpPr>
          <p:cNvPr id="28" name="Text 26"/>
          <p:cNvSpPr/>
          <p:nvPr/>
        </p:nvSpPr>
        <p:spPr>
          <a:xfrm>
            <a:off x="2194560" y="5925312"/>
            <a:ext cx="1828800" cy="274320"/>
          </a:xfrm>
          <a:prstGeom prst="rect">
            <a:avLst/>
          </a:prstGeom>
          <a:noFill/>
          <a:ln/>
        </p:spPr>
        <p:txBody>
          <a:bodyPr wrap="square" lIns="0" tIns="0" rIns="0" bIns="0" rtlCol="0" anchor="ctr"/>
          <a:lstStyle/>
          <a:p>
            <a:pPr marL="0" indent="0" algn="ctr">
              <a:buNone/>
            </a:pPr>
            <a:r>
              <a:rPr lang="en-US" sz="1400" i="1" dirty="0">
                <a:solidFill>
                  <a:srgbClr val="475569"/>
                </a:solidFill>
              </a:rPr>
              <a:t>Row</a:t>
            </a:r>
            <a:endParaRPr lang="en-US" sz="1400" dirty="0"/>
          </a:p>
        </p:txBody>
      </p:sp>
      <p:sp>
        <p:nvSpPr>
          <p:cNvPr id="29" name="Highlight card">
            <a:extLst>
              <a:ext uri="{C183D7F6-B498-43B3-948B-1728B52AA6E4}">
                <adec:decorative xmlns:adec="http://schemas.microsoft.com/office/drawing/2017/decorative" val="1"/>
              </a:ext>
            </a:extLst>
          </p:cNvPr>
          <p:cNvSpPr/>
          <p:nvPr/>
        </p:nvSpPr>
        <p:spPr>
          <a:xfrm>
            <a:off x="5943600" y="3611880"/>
            <a:ext cx="5696712" cy="2697480"/>
          </a:xfrm>
          <a:prstGeom prst="roundRect">
            <a:avLst>
              <a:gd name="adj" fmla="val 2712"/>
            </a:avLst>
          </a:prstGeom>
          <a:solidFill>
            <a:srgbClr val="CCFBF1"/>
          </a:solidFill>
          <a:ln/>
        </p:spPr>
        <p:txBody>
          <a:bodyPr/>
          <a:lstStyle/>
          <a:p>
            <a:endParaRPr lang="en-US"/>
          </a:p>
        </p:txBody>
      </p:sp>
      <p:sp>
        <p:nvSpPr>
          <p:cNvPr id="30" name="Highlight accent">
            <a:extLst>
              <a:ext uri="{C183D7F6-B498-43B3-948B-1728B52AA6E4}">
                <adec:decorative xmlns:adec="http://schemas.microsoft.com/office/drawing/2017/decorative" val="1"/>
              </a:ext>
            </a:extLst>
          </p:cNvPr>
          <p:cNvSpPr/>
          <p:nvPr/>
        </p:nvSpPr>
        <p:spPr>
          <a:xfrm>
            <a:off x="5943600" y="3611880"/>
            <a:ext cx="100584" cy="2697480"/>
          </a:xfrm>
          <a:prstGeom prst="rect">
            <a:avLst/>
          </a:prstGeom>
          <a:solidFill>
            <a:srgbClr val="0D9488"/>
          </a:solidFill>
          <a:ln/>
        </p:spPr>
        <p:txBody>
          <a:bodyPr/>
          <a:lstStyle/>
          <a:p>
            <a:endParaRPr lang="en-US"/>
          </a:p>
        </p:txBody>
      </p:sp>
      <p:sp>
        <p:nvSpPr>
          <p:cNvPr id="31" name="Text 29"/>
          <p:cNvSpPr/>
          <p:nvPr/>
        </p:nvSpPr>
        <p:spPr>
          <a:xfrm>
            <a:off x="6263640" y="3840480"/>
            <a:ext cx="5120640" cy="502920"/>
          </a:xfrm>
          <a:prstGeom prst="rect">
            <a:avLst/>
          </a:prstGeom>
          <a:noFill/>
          <a:ln/>
        </p:spPr>
        <p:txBody>
          <a:bodyPr wrap="square" lIns="0" tIns="0" rIns="0" bIns="0" rtlCol="0" anchor="ctr"/>
          <a:lstStyle/>
          <a:p>
            <a:pPr marL="0" indent="0" algn="l">
              <a:buNone/>
            </a:pPr>
            <a:r>
              <a:rPr lang="en-US" sz="2000" b="1" dirty="0">
                <a:solidFill>
                  <a:srgbClr val="0D9488"/>
                </a:solidFill>
              </a:rPr>
              <a:t>Conjugate transpose</a:t>
            </a:r>
            <a:endParaRPr lang="en-US" sz="2000" dirty="0"/>
          </a:p>
        </p:txBody>
      </p:sp>
      <p:sp>
        <p:nvSpPr>
          <p:cNvPr id="32" name="Text 30"/>
          <p:cNvSpPr/>
          <p:nvPr/>
        </p:nvSpPr>
        <p:spPr>
          <a:xfrm>
            <a:off x="6355080" y="4434840"/>
            <a:ext cx="5029200" cy="1737360"/>
          </a:xfrm>
          <a:prstGeom prst="rect">
            <a:avLst/>
          </a:prstGeom>
          <a:noFill/>
          <a:ln/>
        </p:spPr>
        <p:txBody>
          <a:bodyPr wrap="square" rtlCol="0" anchor="t"/>
          <a:lstStyle/>
          <a:p>
            <a:pPr marL="228600" indent="-228600" algn="l">
              <a:lnSpc>
                <a:spcPct val="105000"/>
              </a:lnSpc>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Transpose the column into a row.</a:t>
            </a:r>
            <a:endParaRPr lang="en-US" sz="1600" dirty="0"/>
          </a:p>
          <a:p>
            <a:pPr marL="228600" indent="-228600" algn="l">
              <a:lnSpc>
                <a:spcPct val="105000"/>
              </a:lnSpc>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Take the complex conjugate of each entry.</a:t>
            </a:r>
            <a:endParaRPr lang="en-US" sz="1600" dirty="0"/>
          </a:p>
          <a:p>
            <a:pPr marL="228600" indent="-228600" algn="l">
              <a:lnSpc>
                <a:spcPct val="105000"/>
              </a:lnSpc>
              <a:buSzPct val="100000"/>
              <a:buChar char="•"/>
            </a:pPr>
            <a:r>
              <a:rPr lang="en-US" sz="1600" b="1" dirty="0">
                <a:solidFill>
                  <a:srgbClr val="3730A3"/>
                </a:solidFill>
                <a:latin typeface="Calibri" pitchFamily="34" charset="0"/>
                <a:ea typeface="Calibri" pitchFamily="34" charset="-122"/>
                <a:cs typeface="Calibri" pitchFamily="34" charset="-120"/>
              </a:rPr>
              <a:t>A bra is not merely a row vector.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2400" b="1">
                <a:solidFill>
                  <a:srgbClr val="3730A3"/>
                </a:solidFill>
                <a:latin typeface="Calibri" pitchFamily="34" charset="0"/>
                <a:ea typeface="Calibri" pitchFamily="34" charset="-122"/>
                <a:cs typeface="Calibri" pitchFamily="34" charset="-120"/>
              </a:rPr>
              <a:t>Inner Product: Quantifying Overlap Between Quantum States</a:t>
            </a:r>
            <a:endParaRPr lang="en-US" sz="24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4592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Recall from Unit 1</a:t>
            </a:r>
          </a:p>
        </p:txBody>
      </p:sp>
      <p:sp>
        <p:nvSpPr>
          <p:cNvPr id="5" name="band"/>
          <p:cNvSpPr/>
          <p:nvPr/>
        </p:nvSpPr>
        <p:spPr>
          <a:xfrm>
            <a:off x="731520" y="2011680"/>
            <a:ext cx="5029200" cy="100584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2011680"/>
            <a:ext cx="5029200" cy="1005840"/>
          </a:xfrm>
          <a:prstGeom prst="rect">
            <a:avLst/>
          </a:prstGeom>
          <a:noFill/>
          <a:ln/>
        </p:spPr>
        <p:txBody>
          <a:bodyPr wrap="square" lIns="45720" tIns="0" rIns="45720" bIns="0" rtlCol="0" anchor="ctr"/>
          <a:lstStyle/>
          <a:p>
            <a:pPr marL="0" indent="0" algn="ctr">
              <a:buNone/>
            </a:pPr>
            <a:r>
              <a:rPr lang="en-US" sz="2600" dirty="0">
                <a:solidFill>
                  <a:srgbClr val="3730A3"/>
                </a:solidFill>
                <a:latin typeface="Cambria Math" pitchFamily="34" charset="0"/>
                <a:ea typeface="Cambria Math" pitchFamily="34" charset="-122"/>
                <a:cs typeface="Cambria Math" pitchFamily="34" charset="-120"/>
              </a:rPr>
              <a:t>⟨</a:t>
            </a:r>
            <a:r>
              <a:rPr lang="en-US" sz="2600" dirty="0" err="1">
                <a:solidFill>
                  <a:srgbClr val="3730A3"/>
                </a:solidFill>
                <a:latin typeface="Cambria Math" pitchFamily="34" charset="0"/>
                <a:ea typeface="Cambria Math" pitchFamily="34" charset="-122"/>
                <a:cs typeface="Cambria Math" pitchFamily="34" charset="-120"/>
              </a:rPr>
              <a:t>u|v</a:t>
            </a:r>
            <a:r>
              <a:rPr lang="en-US" sz="2600" dirty="0">
                <a:solidFill>
                  <a:srgbClr val="3730A3"/>
                </a:solidFill>
                <a:latin typeface="Cambria Math" pitchFamily="34" charset="0"/>
                <a:ea typeface="Cambria Math" pitchFamily="34" charset="-122"/>
                <a:cs typeface="Cambria Math" pitchFamily="34" charset="-120"/>
              </a:rPr>
              <a:t>⟩ = u</a:t>
            </a:r>
            <a:r>
              <a:rPr lang="en-US" sz="2600" baseline="30000" dirty="0">
                <a:solidFill>
                  <a:srgbClr val="3730A3"/>
                </a:solidFill>
                <a:latin typeface="Cambria Math" pitchFamily="34" charset="0"/>
                <a:ea typeface="Cambria Math" pitchFamily="34" charset="-122"/>
                <a:cs typeface="Cambria Math" pitchFamily="34" charset="-120"/>
              </a:rPr>
              <a:t>†</a:t>
            </a:r>
            <a:r>
              <a:rPr lang="en-US" sz="2600" dirty="0">
                <a:solidFill>
                  <a:srgbClr val="3730A3"/>
                </a:solidFill>
                <a:latin typeface="Cambria Math" pitchFamily="34" charset="0"/>
                <a:ea typeface="Cambria Math" pitchFamily="34" charset="-122"/>
                <a:cs typeface="Cambria Math" pitchFamily="34" charset="-120"/>
              </a:rPr>
              <a:t> v</a:t>
            </a:r>
          </a:p>
        </p:txBody>
      </p:sp>
      <p:sp>
        <p:nvSpPr>
          <p:cNvPr id="7" name="Text 7"/>
          <p:cNvSpPr/>
          <p:nvPr/>
        </p:nvSpPr>
        <p:spPr>
          <a:xfrm>
            <a:off x="731520" y="32004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Example</a:t>
            </a:r>
          </a:p>
        </p:txBody>
      </p:sp>
      <p:sp>
        <p:nvSpPr>
          <p:cNvPr id="8" name="Example card"/>
          <p:cNvSpPr/>
          <p:nvPr/>
        </p:nvSpPr>
        <p:spPr>
          <a:xfrm>
            <a:off x="731520" y="3566160"/>
            <a:ext cx="5029200" cy="178308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9" name="Text 9"/>
          <p:cNvSpPr/>
          <p:nvPr/>
        </p:nvSpPr>
        <p:spPr>
          <a:xfrm>
            <a:off x="960120" y="3566160"/>
            <a:ext cx="4572000" cy="1783080"/>
          </a:xfrm>
          <a:prstGeom prst="rect">
            <a:avLst/>
          </a:prstGeom>
          <a:noFill/>
          <a:ln/>
        </p:spPr>
        <p:txBody>
          <a:bodyPr wrap="square" lIns="45720" tIns="0" rIns="45720" bIns="0" rtlCol="0" anchor="ctr"/>
          <a:lstStyle/>
          <a:p>
            <a:pPr marL="0" indent="0" algn="l">
              <a:lnSpc>
                <a:spcPct val="130000"/>
              </a:lnSpc>
              <a:buNone/>
            </a:pPr>
            <a:r>
              <a:rPr lang="en-US" sz="1900">
                <a:solidFill>
                  <a:srgbClr val="1F2937"/>
                </a:solidFill>
                <a:latin typeface="Cambria Math" pitchFamily="34" charset="0"/>
                <a:ea typeface="Cambria Math" pitchFamily="34" charset="-122"/>
                <a:cs typeface="Cambria Math" pitchFamily="34" charset="-120"/>
              </a:rPr>
              <a:t>⟨0|0⟩ = </a:t>
            </a:r>
            <a:r>
              <a:rPr lang="en-US" sz="1900" b="1">
                <a:solidFill>
                  <a:srgbClr val="0D9488"/>
                </a:solidFill>
                <a:latin typeface="Cambria Math" pitchFamily="34" charset="0"/>
                <a:ea typeface="Cambria Math" pitchFamily="34" charset="-122"/>
                <a:cs typeface="Cambria Math" pitchFamily="34" charset="-120"/>
              </a:rPr>
              <a:t>1</a:t>
            </a:r>
          </a:p>
          <a:p>
            <a:pPr marL="0" indent="0" algn="l">
              <a:lnSpc>
                <a:spcPct val="130000"/>
              </a:lnSpc>
              <a:buNone/>
            </a:pPr>
            <a:r>
              <a:rPr lang="en-US" sz="1900">
                <a:solidFill>
                  <a:srgbClr val="1F2937"/>
                </a:solidFill>
                <a:latin typeface="Cambria Math" pitchFamily="34" charset="0"/>
                <a:ea typeface="Cambria Math" pitchFamily="34" charset="-122"/>
                <a:cs typeface="Cambria Math" pitchFamily="34" charset="-120"/>
              </a:rPr>
              <a:t>⟨1|1⟩ = </a:t>
            </a:r>
            <a:r>
              <a:rPr lang="en-US" sz="1900" b="1">
                <a:solidFill>
                  <a:srgbClr val="0D9488"/>
                </a:solidFill>
                <a:latin typeface="Cambria Math" pitchFamily="34" charset="0"/>
                <a:ea typeface="Cambria Math" pitchFamily="34" charset="-122"/>
                <a:cs typeface="Cambria Math" pitchFamily="34" charset="-120"/>
              </a:rPr>
              <a:t>1</a:t>
            </a:r>
          </a:p>
          <a:p>
            <a:pPr marL="0" indent="0" algn="l">
              <a:lnSpc>
                <a:spcPct val="130000"/>
              </a:lnSpc>
              <a:buNone/>
            </a:pPr>
            <a:r>
              <a:rPr lang="en-US" sz="1900">
                <a:solidFill>
                  <a:srgbClr val="1F2937"/>
                </a:solidFill>
                <a:latin typeface="Cambria Math" pitchFamily="34" charset="0"/>
                <a:ea typeface="Cambria Math" pitchFamily="34" charset="-122"/>
                <a:cs typeface="Cambria Math" pitchFamily="34" charset="-120"/>
              </a:rPr>
              <a:t>⟨0|1⟩ = </a:t>
            </a:r>
            <a:r>
              <a:rPr lang="en-US" sz="1900" b="1">
                <a:solidFill>
                  <a:srgbClr val="3730A3"/>
                </a:solidFill>
                <a:latin typeface="Cambria Math" pitchFamily="34" charset="0"/>
                <a:ea typeface="Cambria Math" pitchFamily="34" charset="-122"/>
                <a:cs typeface="Cambria Math" pitchFamily="34" charset="-120"/>
              </a:rPr>
              <a:t>0</a:t>
            </a:r>
          </a:p>
        </p:txBody>
      </p:sp>
      <p:sp>
        <p:nvSpPr>
          <p:cNvPr id="10" name="Figure card"/>
          <p:cNvSpPr/>
          <p:nvPr/>
        </p:nvSpPr>
        <p:spPr>
          <a:xfrm>
            <a:off x="6400800" y="1737360"/>
            <a:ext cx="5059680" cy="2249424"/>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1" name="Illustration"/>
          <p:cNvPicPr>
            <a:picLocks noChangeAspect="1"/>
          </p:cNvPicPr>
          <p:nvPr/>
        </p:nvPicPr>
        <p:blipFill>
          <a:blip r:embed="rId3"/>
          <a:srcRect t="15211" b="22818"/>
          <a:stretch>
            <a:fillRect/>
          </a:stretch>
        </p:blipFill>
        <p:spPr>
          <a:xfrm>
            <a:off x="6537960" y="1874520"/>
            <a:ext cx="4785360" cy="1975104"/>
          </a:xfrm>
          <a:prstGeom prst="rect">
            <a:avLst/>
          </a:prstGeom>
        </p:spPr>
      </p:pic>
      <p:sp>
        <p:nvSpPr>
          <p:cNvPr id="12" name="band"/>
          <p:cNvSpPr/>
          <p:nvPr/>
        </p:nvSpPr>
        <p:spPr>
          <a:xfrm>
            <a:off x="6400800" y="4160520"/>
            <a:ext cx="5059680" cy="685800"/>
          </a:xfrm>
          <a:prstGeom prst="roundRect">
            <a:avLst>
              <a:gd name="adj" fmla="val 10526"/>
            </a:avLst>
          </a:prstGeom>
          <a:solidFill>
            <a:srgbClr val="CCFBF1"/>
          </a:solidFill>
          <a:ln/>
        </p:spPr>
        <p:txBody>
          <a:bodyPr/>
          <a:lstStyle/>
          <a:p>
            <a:endParaRPr lang="en-US"/>
          </a:p>
        </p:txBody>
      </p:sp>
      <p:sp>
        <p:nvSpPr>
          <p:cNvPr id="13" name="Text 13"/>
          <p:cNvSpPr/>
          <p:nvPr/>
        </p:nvSpPr>
        <p:spPr>
          <a:xfrm>
            <a:off x="6675120" y="4160520"/>
            <a:ext cx="4511040" cy="685800"/>
          </a:xfrm>
          <a:prstGeom prst="rect">
            <a:avLst/>
          </a:prstGeom>
          <a:noFill/>
          <a:ln/>
        </p:spPr>
        <p:txBody>
          <a:bodyPr wrap="square" lIns="45720" tIns="0" rIns="45720" bIns="0" rtlCol="0" anchor="ctr"/>
          <a:lstStyle/>
          <a:p>
            <a:pPr marL="0" indent="0" algn="l">
              <a:buNone/>
            </a:pPr>
            <a:r>
              <a:rPr lang="en-US" sz="1300" b="1">
                <a:solidFill>
                  <a:srgbClr val="0D9488"/>
                </a:solidFill>
                <a:latin typeface="Calibri" pitchFamily="34" charset="0"/>
                <a:ea typeface="Calibri" pitchFamily="34" charset="-122"/>
                <a:cs typeface="Calibri" pitchFamily="34" charset="-120"/>
              </a:rPr>
              <a:t>Parallel vectors</a:t>
            </a:r>
            <a:r>
              <a:rPr lang="en-US" sz="1300">
                <a:solidFill>
                  <a:srgbClr val="1F2937"/>
                </a:solidFill>
                <a:latin typeface="Calibri" pitchFamily="34" charset="0"/>
                <a:ea typeface="Calibri" pitchFamily="34" charset="-122"/>
                <a:cs typeface="Calibri" pitchFamily="34" charset="-120"/>
              </a:rPr>
              <a:t>  →  Maximum overlap</a:t>
            </a:r>
          </a:p>
        </p:txBody>
      </p:sp>
      <p:sp>
        <p:nvSpPr>
          <p:cNvPr id="14" name="band"/>
          <p:cNvSpPr/>
          <p:nvPr/>
        </p:nvSpPr>
        <p:spPr>
          <a:xfrm>
            <a:off x="6400800" y="4983480"/>
            <a:ext cx="5059680" cy="685800"/>
          </a:xfrm>
          <a:prstGeom prst="roundRect">
            <a:avLst>
              <a:gd name="adj" fmla="val 10526"/>
            </a:avLst>
          </a:prstGeom>
          <a:solidFill>
            <a:srgbClr val="EEF2FF"/>
          </a:solidFill>
          <a:ln/>
        </p:spPr>
        <p:txBody>
          <a:bodyPr/>
          <a:lstStyle/>
          <a:p>
            <a:endParaRPr lang="en-US"/>
          </a:p>
        </p:txBody>
      </p:sp>
      <p:sp>
        <p:nvSpPr>
          <p:cNvPr id="15" name="Text 15"/>
          <p:cNvSpPr/>
          <p:nvPr/>
        </p:nvSpPr>
        <p:spPr>
          <a:xfrm>
            <a:off x="6675120" y="4983480"/>
            <a:ext cx="4511040" cy="685800"/>
          </a:xfrm>
          <a:prstGeom prst="rect">
            <a:avLst/>
          </a:prstGeom>
          <a:noFill/>
          <a:ln/>
        </p:spPr>
        <p:txBody>
          <a:bodyPr wrap="square" lIns="45720" tIns="0" rIns="45720" bIns="0" rtlCol="0" anchor="ctr"/>
          <a:lstStyle/>
          <a:p>
            <a:pPr marL="0" indent="0" algn="l">
              <a:buNone/>
            </a:pPr>
            <a:r>
              <a:rPr lang="en-US" sz="1300" b="1">
                <a:solidFill>
                  <a:srgbClr val="3730A3"/>
                </a:solidFill>
                <a:latin typeface="Calibri" pitchFamily="34" charset="0"/>
                <a:ea typeface="Calibri" pitchFamily="34" charset="-122"/>
                <a:cs typeface="Calibri" pitchFamily="34" charset="-120"/>
              </a:rPr>
              <a:t>Perpendicular vectors</a:t>
            </a:r>
            <a:r>
              <a:rPr lang="en-US" sz="1300">
                <a:solidFill>
                  <a:srgbClr val="1F2937"/>
                </a:solidFill>
                <a:latin typeface="Calibri" pitchFamily="34" charset="0"/>
                <a:ea typeface="Calibri" pitchFamily="34" charset="-122"/>
                <a:cs typeface="Calibri" pitchFamily="34" charset="-120"/>
              </a:rPr>
              <a:t>  →  Zero overlap</a:t>
            </a:r>
          </a:p>
        </p:txBody>
      </p:sp>
      <p:sp>
        <p:nvSpPr>
          <p:cNvPr id="16" name="Text 16"/>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The inner product determines how likely one quantum state appears as another during measurement.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Orthonormal Basis</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4592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Definition</a:t>
            </a:r>
          </a:p>
        </p:txBody>
      </p:sp>
      <p:sp>
        <p:nvSpPr>
          <p:cNvPr id="5" name="Text 5"/>
          <p:cNvSpPr/>
          <p:nvPr/>
        </p:nvSpPr>
        <p:spPr>
          <a:xfrm>
            <a:off x="731520" y="2011680"/>
            <a:ext cx="5029200" cy="457200"/>
          </a:xfrm>
          <a:prstGeom prst="rect">
            <a:avLst/>
          </a:prstGeom>
          <a:noFill/>
          <a:ln/>
        </p:spPr>
        <p:txBody>
          <a:bodyPr wrap="square" lIns="45720" tIns="0" rIns="45720" bIns="0" rtlCol="0" anchor="ctr"/>
          <a:lstStyle/>
          <a:p>
            <a:pPr marL="0" indent="0" algn="l">
              <a:buNone/>
            </a:pPr>
            <a:r>
              <a:rPr lang="en-US" sz="1600">
                <a:solidFill>
                  <a:srgbClr val="1F2937"/>
                </a:solidFill>
                <a:latin typeface="Calibri" pitchFamily="34" charset="0"/>
                <a:ea typeface="Calibri" pitchFamily="34" charset="-122"/>
                <a:cs typeface="Calibri" pitchFamily="34" charset="-120"/>
              </a:rPr>
              <a:t>A valid quantum basis satisfies</a:t>
            </a:r>
          </a:p>
        </p:txBody>
      </p:sp>
      <p:sp>
        <p:nvSpPr>
          <p:cNvPr id="6" name="band"/>
          <p:cNvSpPr/>
          <p:nvPr/>
        </p:nvSpPr>
        <p:spPr>
          <a:xfrm>
            <a:off x="731520" y="2606040"/>
            <a:ext cx="5029200" cy="1188720"/>
          </a:xfrm>
          <a:prstGeom prst="roundRect">
            <a:avLst>
              <a:gd name="adj" fmla="val 4000"/>
            </a:avLst>
          </a:prstGeom>
          <a:solidFill>
            <a:srgbClr val="EEF2FF"/>
          </a:solidFill>
          <a:ln/>
        </p:spPr>
        <p:txBody>
          <a:bodyPr/>
          <a:lstStyle/>
          <a:p>
            <a:endParaRPr lang="en-US"/>
          </a:p>
        </p:txBody>
      </p:sp>
      <p:sp>
        <p:nvSpPr>
          <p:cNvPr id="7" name="Text 7"/>
          <p:cNvSpPr/>
          <p:nvPr/>
        </p:nvSpPr>
        <p:spPr>
          <a:xfrm>
            <a:off x="1005840" y="2606040"/>
            <a:ext cx="4480560" cy="1188720"/>
          </a:xfrm>
          <a:prstGeom prst="rect">
            <a:avLst/>
          </a:prstGeom>
          <a:noFill/>
          <a:ln/>
        </p:spPr>
        <p:txBody>
          <a:bodyPr wrap="square" lIns="45720" tIns="0" rIns="45720" bIns="0" rtlCol="0" anchor="ctr"/>
          <a:lstStyle/>
          <a:p>
            <a:pPr marL="0" indent="0" algn="l">
              <a:lnSpc>
                <a:spcPct val="110000"/>
              </a:lnSpc>
              <a:buNone/>
            </a:pPr>
            <a:r>
              <a:rPr lang="en-US" sz="1400" b="1">
                <a:solidFill>
                  <a:srgbClr val="3730A3"/>
                </a:solidFill>
                <a:latin typeface="Calibri" pitchFamily="34" charset="0"/>
                <a:ea typeface="Calibri" pitchFamily="34" charset="-122"/>
                <a:cs typeface="Calibri" pitchFamily="34" charset="-120"/>
              </a:rPr>
              <a:t>Orthogonality</a:t>
            </a:r>
          </a:p>
          <a:p>
            <a:pPr marL="0" indent="0" algn="l">
              <a:lnSpc>
                <a:spcPct val="110000"/>
              </a:lnSpc>
              <a:buNone/>
            </a:pPr>
            <a:r>
              <a:rPr lang="en-US" sz="2200">
                <a:solidFill>
                  <a:srgbClr val="1F2937"/>
                </a:solidFill>
                <a:latin typeface="Cambria Math" pitchFamily="34" charset="0"/>
                <a:ea typeface="Cambria Math" pitchFamily="34" charset="-122"/>
                <a:cs typeface="Cambria Math" pitchFamily="34" charset="-120"/>
              </a:rPr>
              <a:t>⟨i|j⟩ = δ</a:t>
            </a:r>
            <a:r>
              <a:rPr lang="en-US" sz="1300">
                <a:solidFill>
                  <a:srgbClr val="1F2937"/>
                </a:solidFill>
                <a:latin typeface="Cambria Math" pitchFamily="34" charset="0"/>
                <a:ea typeface="Cambria Math" pitchFamily="34" charset="-122"/>
                <a:cs typeface="Cambria Math" pitchFamily="34" charset="-120"/>
              </a:rPr>
              <a:t>ij</a:t>
            </a:r>
          </a:p>
        </p:txBody>
      </p:sp>
      <p:sp>
        <p:nvSpPr>
          <p:cNvPr id="8" name="band"/>
          <p:cNvSpPr/>
          <p:nvPr/>
        </p:nvSpPr>
        <p:spPr>
          <a:xfrm>
            <a:off x="731520" y="3977640"/>
            <a:ext cx="5029200" cy="1188720"/>
          </a:xfrm>
          <a:prstGeom prst="roundRect">
            <a:avLst>
              <a:gd name="adj" fmla="val 4000"/>
            </a:avLst>
          </a:prstGeom>
          <a:solidFill>
            <a:srgbClr val="CCFBF1"/>
          </a:solidFill>
          <a:ln/>
        </p:spPr>
        <p:txBody>
          <a:bodyPr/>
          <a:lstStyle/>
          <a:p>
            <a:endParaRPr lang="en-US"/>
          </a:p>
        </p:txBody>
      </p:sp>
      <p:sp>
        <p:nvSpPr>
          <p:cNvPr id="9" name="Text 9"/>
          <p:cNvSpPr/>
          <p:nvPr/>
        </p:nvSpPr>
        <p:spPr>
          <a:xfrm>
            <a:off x="1005840" y="3977640"/>
            <a:ext cx="4480560" cy="1188720"/>
          </a:xfrm>
          <a:prstGeom prst="rect">
            <a:avLst/>
          </a:prstGeom>
          <a:noFill/>
          <a:ln/>
        </p:spPr>
        <p:txBody>
          <a:bodyPr wrap="square" lIns="45720" tIns="0" rIns="45720" bIns="0" rtlCol="0" anchor="ctr"/>
          <a:lstStyle/>
          <a:p>
            <a:pPr marL="0" indent="0" algn="l">
              <a:lnSpc>
                <a:spcPct val="110000"/>
              </a:lnSpc>
              <a:buNone/>
            </a:pPr>
            <a:r>
              <a:rPr lang="en-US" sz="1400" b="1">
                <a:solidFill>
                  <a:srgbClr val="0D9488"/>
                </a:solidFill>
                <a:latin typeface="Calibri" pitchFamily="34" charset="0"/>
                <a:ea typeface="Calibri" pitchFamily="34" charset="-122"/>
                <a:cs typeface="Calibri" pitchFamily="34" charset="-120"/>
              </a:rPr>
              <a:t>Normalization</a:t>
            </a:r>
          </a:p>
          <a:p>
            <a:pPr marL="0" indent="0" algn="l">
              <a:lnSpc>
                <a:spcPct val="110000"/>
              </a:lnSpc>
              <a:buNone/>
            </a:pPr>
            <a:r>
              <a:rPr lang="en-US" sz="2200">
                <a:solidFill>
                  <a:srgbClr val="1F2937"/>
                </a:solidFill>
                <a:latin typeface="Cambria Math" pitchFamily="34" charset="0"/>
                <a:ea typeface="Cambria Math" pitchFamily="34" charset="-122"/>
                <a:cs typeface="Cambria Math" pitchFamily="34" charset="-120"/>
              </a:rPr>
              <a:t>⟨i|i⟩ = 1</a:t>
            </a:r>
          </a:p>
        </p:txBody>
      </p:sp>
      <p:sp>
        <p:nvSpPr>
          <p:cNvPr id="10" name="Figure card"/>
          <p:cNvSpPr/>
          <p:nvPr/>
        </p:nvSpPr>
        <p:spPr>
          <a:xfrm>
            <a:off x="6400800" y="1965960"/>
            <a:ext cx="5059680" cy="27432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1" name="Illustration"/>
          <p:cNvPicPr>
            <a:picLocks noChangeAspect="1"/>
          </p:cNvPicPr>
          <p:nvPr/>
        </p:nvPicPr>
        <p:blipFill>
          <a:blip r:embed="rId3"/>
          <a:srcRect t="6720" b="15816"/>
          <a:stretch>
            <a:fillRect/>
          </a:stretch>
        </p:blipFill>
        <p:spPr>
          <a:xfrm>
            <a:off x="6537960" y="2103120"/>
            <a:ext cx="4785360" cy="2468880"/>
          </a:xfrm>
          <a:prstGeom prst="rect">
            <a:avLst/>
          </a:prstGeom>
        </p:spPr>
      </p:pic>
      <p:sp>
        <p:nvSpPr>
          <p:cNvPr id="12" name="band"/>
          <p:cNvSpPr/>
          <p:nvPr/>
        </p:nvSpPr>
        <p:spPr>
          <a:xfrm>
            <a:off x="6400800" y="4891680"/>
            <a:ext cx="5059680" cy="685800"/>
          </a:xfrm>
          <a:prstGeom prst="roundRect">
            <a:avLst>
              <a:gd name="adj" fmla="val 10526"/>
            </a:avLst>
          </a:prstGeom>
          <a:solidFill>
            <a:srgbClr val="EEF2FF"/>
          </a:solidFill>
          <a:ln/>
        </p:spPr>
        <p:txBody>
          <a:bodyPr/>
          <a:lstStyle/>
          <a:p>
            <a:endParaRPr lang="en-US"/>
          </a:p>
        </p:txBody>
      </p:sp>
      <p:sp>
        <p:nvSpPr>
          <p:cNvPr id="13" name="Text 13"/>
          <p:cNvSpPr/>
          <p:nvPr/>
        </p:nvSpPr>
        <p:spPr>
          <a:xfrm>
            <a:off x="6675120" y="4891680"/>
            <a:ext cx="4511040" cy="685800"/>
          </a:xfrm>
          <a:prstGeom prst="rect">
            <a:avLst/>
          </a:prstGeom>
          <a:noFill/>
          <a:ln/>
        </p:spPr>
        <p:txBody>
          <a:bodyPr wrap="square" lIns="45720" tIns="0" rIns="45720" bIns="0" rtlCol="0" anchor="ctr"/>
          <a:lstStyle/>
          <a:p>
            <a:pPr marL="0" indent="0" algn="l">
              <a:buNone/>
            </a:pPr>
            <a:r>
              <a:rPr lang="en-US" sz="1300">
                <a:solidFill>
                  <a:srgbClr val="1F2937"/>
                </a:solidFill>
                <a:latin typeface="Calibri" pitchFamily="34" charset="0"/>
                <a:ea typeface="Calibri" pitchFamily="34" charset="-122"/>
                <a:cs typeface="Calibri" pitchFamily="34" charset="-120"/>
              </a:rPr>
              <a:t>Two perpendicular axes: </a:t>
            </a:r>
            <a:r>
              <a:rPr lang="en-US" sz="1300" b="1">
                <a:solidFill>
                  <a:srgbClr val="3730A3"/>
                </a:solidFill>
                <a:latin typeface="Cambria Math" pitchFamily="34" charset="0"/>
                <a:ea typeface="Cambria Math" pitchFamily="34" charset="-122"/>
                <a:cs typeface="Cambria Math" pitchFamily="34" charset="-120"/>
              </a:rPr>
              <a:t>|0⟩</a:t>
            </a:r>
            <a:r>
              <a:rPr lang="en-US" sz="1300">
                <a:solidFill>
                  <a:srgbClr val="1F2937"/>
                </a:solidFill>
                <a:latin typeface="Calibri" pitchFamily="34" charset="0"/>
                <a:ea typeface="Calibri" pitchFamily="34" charset="-122"/>
                <a:cs typeface="Calibri" pitchFamily="34" charset="-120"/>
              </a:rPr>
              <a:t> and </a:t>
            </a:r>
            <a:r>
              <a:rPr lang="en-US" sz="1300" b="1">
                <a:solidFill>
                  <a:srgbClr val="0D9488"/>
                </a:solidFill>
                <a:latin typeface="Cambria Math" pitchFamily="34" charset="0"/>
                <a:ea typeface="Cambria Math" pitchFamily="34" charset="-122"/>
                <a:cs typeface="Cambria Math" pitchFamily="34" charset="-120"/>
              </a:rPr>
              <a:t>|1⟩</a:t>
            </a:r>
          </a:p>
        </p:txBody>
      </p:sp>
      <p:sp>
        <p:nvSpPr>
          <p:cNvPr id="14" name="Text 14"/>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A qubit can always be expressed using an orthonormal basis.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The Hadamard Basis</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4592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Introduce</a:t>
            </a:r>
          </a:p>
        </p:txBody>
      </p:sp>
      <p:sp>
        <p:nvSpPr>
          <p:cNvPr id="5" name="band"/>
          <p:cNvSpPr/>
          <p:nvPr/>
        </p:nvSpPr>
        <p:spPr>
          <a:xfrm>
            <a:off x="731520" y="2011680"/>
            <a:ext cx="5029200" cy="1371600"/>
          </a:xfrm>
          <a:prstGeom prst="roundRect">
            <a:avLst>
              <a:gd name="adj" fmla="val 4000"/>
            </a:avLst>
          </a:prstGeom>
          <a:solidFill>
            <a:srgbClr val="EEF2FF"/>
          </a:solidFill>
          <a:ln/>
        </p:spPr>
        <p:txBody>
          <a:bodyPr/>
          <a:lstStyle/>
          <a:p>
            <a:endParaRPr lang="en-US"/>
          </a:p>
        </p:txBody>
      </p:sp>
      <p:sp>
        <p:nvSpPr>
          <p:cNvPr id="6" name="Text 6"/>
          <p:cNvSpPr/>
          <p:nvPr/>
        </p:nvSpPr>
        <p:spPr>
          <a:xfrm>
            <a:off x="960120" y="2011680"/>
            <a:ext cx="1188720" cy="1371600"/>
          </a:xfrm>
          <a:prstGeom prst="rect">
            <a:avLst/>
          </a:prstGeom>
          <a:noFill/>
          <a:ln/>
        </p:spPr>
        <p:txBody>
          <a:bodyPr wrap="square" lIns="45720" tIns="0" rIns="45720" bIns="0" rtlCol="0" anchor="ctr"/>
          <a:lstStyle/>
          <a:p>
            <a:pPr marL="0" indent="0" algn="r">
              <a:buNone/>
            </a:pPr>
            <a:r>
              <a:rPr lang="en-US" sz="2400">
                <a:solidFill>
                  <a:srgbClr val="3730A3"/>
                </a:solidFill>
                <a:latin typeface="Cambria Math" pitchFamily="34" charset="0"/>
                <a:ea typeface="Cambria Math" pitchFamily="34" charset="-122"/>
                <a:cs typeface="Cambria Math" pitchFamily="34" charset="-120"/>
              </a:rPr>
              <a:t>|+⟩ =</a:t>
            </a:r>
          </a:p>
        </p:txBody>
      </p:sp>
      <p:sp>
        <p:nvSpPr>
          <p:cNvPr id="7" name="Text 7"/>
          <p:cNvSpPr/>
          <p:nvPr/>
        </p:nvSpPr>
        <p:spPr>
          <a:xfrm>
            <a:off x="2248840" y="2148840"/>
            <a:ext cx="2137360" cy="480000"/>
          </a:xfrm>
          <a:prstGeom prst="rect">
            <a:avLst/>
          </a:prstGeom>
          <a:noFill/>
          <a:ln/>
        </p:spPr>
        <p:txBody>
          <a:bodyPr wrap="square" lIns="45720" tIns="0" rIns="45720" bIns="0" rtlCol="0" anchor="b"/>
          <a:lstStyle/>
          <a:p>
            <a:pPr marL="0" indent="0" algn="ctr">
              <a:buNone/>
            </a:pPr>
            <a:r>
              <a:rPr lang="en-US" sz="1900">
                <a:solidFill>
                  <a:srgbClr val="1F2937"/>
                </a:solidFill>
                <a:latin typeface="Cambria Math" pitchFamily="34" charset="0"/>
                <a:ea typeface="Cambria Math" pitchFamily="34" charset="-122"/>
                <a:cs typeface="Cambria Math" pitchFamily="34" charset="-120"/>
              </a:rPr>
              <a:t>|0⟩ + |1⟩</a:t>
            </a:r>
          </a:p>
        </p:txBody>
      </p:sp>
      <p:sp>
        <p:nvSpPr>
          <p:cNvPr id="8" name="bar"/>
          <p:cNvSpPr/>
          <p:nvPr/>
        </p:nvSpPr>
        <p:spPr>
          <a:xfrm>
            <a:off x="2448840" y="2668840"/>
            <a:ext cx="1737360" cy="24384"/>
          </a:xfrm>
          <a:prstGeom prst="rect">
            <a:avLst/>
          </a:prstGeom>
          <a:solidFill>
            <a:srgbClr val="3730A3"/>
          </a:solidFill>
          <a:ln/>
        </p:spPr>
        <p:txBody>
          <a:bodyPr/>
          <a:lstStyle/>
          <a:p>
            <a:endParaRPr lang="en-US"/>
          </a:p>
        </p:txBody>
      </p:sp>
      <p:sp>
        <p:nvSpPr>
          <p:cNvPr id="9" name="Text 9"/>
          <p:cNvSpPr/>
          <p:nvPr/>
        </p:nvSpPr>
        <p:spPr>
          <a:xfrm>
            <a:off x="2248840" y="2708840"/>
            <a:ext cx="2137360" cy="470000"/>
          </a:xfrm>
          <a:prstGeom prst="rect">
            <a:avLst/>
          </a:prstGeom>
          <a:noFill/>
          <a:ln/>
        </p:spPr>
        <p:txBody>
          <a:bodyPr wrap="square" lIns="45720" tIns="0" rIns="45720" bIns="0" rtlCol="0" anchor="t"/>
          <a:lstStyle/>
          <a:p>
            <a:pPr marL="0" indent="0" algn="ctr">
              <a:buNone/>
            </a:pPr>
            <a:r>
              <a:rPr lang="en-US" sz="1900">
                <a:solidFill>
                  <a:srgbClr val="1F2937"/>
                </a:solidFill>
                <a:latin typeface="Cambria Math" pitchFamily="34" charset="0"/>
                <a:ea typeface="Cambria Math" pitchFamily="34" charset="-122"/>
                <a:cs typeface="Cambria Math" pitchFamily="34" charset="-120"/>
              </a:rPr>
              <a:t>√2</a:t>
            </a:r>
          </a:p>
        </p:txBody>
      </p:sp>
      <p:sp>
        <p:nvSpPr>
          <p:cNvPr id="10" name="band"/>
          <p:cNvSpPr/>
          <p:nvPr/>
        </p:nvSpPr>
        <p:spPr>
          <a:xfrm>
            <a:off x="731520" y="3566160"/>
            <a:ext cx="5029200" cy="1371600"/>
          </a:xfrm>
          <a:prstGeom prst="roundRect">
            <a:avLst>
              <a:gd name="adj" fmla="val 4000"/>
            </a:avLst>
          </a:prstGeom>
          <a:solidFill>
            <a:srgbClr val="CCFBF1"/>
          </a:solidFill>
          <a:ln/>
        </p:spPr>
        <p:txBody>
          <a:bodyPr/>
          <a:lstStyle/>
          <a:p>
            <a:endParaRPr lang="en-US"/>
          </a:p>
        </p:txBody>
      </p:sp>
      <p:sp>
        <p:nvSpPr>
          <p:cNvPr id="11" name="Text 11"/>
          <p:cNvSpPr/>
          <p:nvPr/>
        </p:nvSpPr>
        <p:spPr>
          <a:xfrm>
            <a:off x="960120" y="3566160"/>
            <a:ext cx="1188720" cy="1371600"/>
          </a:xfrm>
          <a:prstGeom prst="rect">
            <a:avLst/>
          </a:prstGeom>
          <a:noFill/>
          <a:ln/>
        </p:spPr>
        <p:txBody>
          <a:bodyPr wrap="square" lIns="45720" tIns="0" rIns="45720" bIns="0" rtlCol="0" anchor="ctr"/>
          <a:lstStyle/>
          <a:p>
            <a:pPr marL="0" indent="0" algn="r">
              <a:buNone/>
            </a:pPr>
            <a:r>
              <a:rPr lang="en-US" sz="2400">
                <a:solidFill>
                  <a:srgbClr val="0D9488"/>
                </a:solidFill>
                <a:latin typeface="Cambria Math" pitchFamily="34" charset="0"/>
                <a:ea typeface="Cambria Math" pitchFamily="34" charset="-122"/>
                <a:cs typeface="Cambria Math" pitchFamily="34" charset="-120"/>
              </a:rPr>
              <a:t>|−⟩ =</a:t>
            </a:r>
          </a:p>
        </p:txBody>
      </p:sp>
      <p:sp>
        <p:nvSpPr>
          <p:cNvPr id="12" name="Text 12"/>
          <p:cNvSpPr/>
          <p:nvPr/>
        </p:nvSpPr>
        <p:spPr>
          <a:xfrm>
            <a:off x="2248840" y="3703320"/>
            <a:ext cx="2137360" cy="480000"/>
          </a:xfrm>
          <a:prstGeom prst="rect">
            <a:avLst/>
          </a:prstGeom>
          <a:noFill/>
          <a:ln/>
        </p:spPr>
        <p:txBody>
          <a:bodyPr wrap="square" lIns="45720" tIns="0" rIns="45720" bIns="0" rtlCol="0" anchor="b"/>
          <a:lstStyle/>
          <a:p>
            <a:pPr marL="0" indent="0" algn="ctr">
              <a:buNone/>
            </a:pPr>
            <a:r>
              <a:rPr lang="en-US" sz="1900">
                <a:solidFill>
                  <a:srgbClr val="1F2937"/>
                </a:solidFill>
                <a:latin typeface="Cambria Math" pitchFamily="34" charset="0"/>
                <a:ea typeface="Cambria Math" pitchFamily="34" charset="-122"/>
                <a:cs typeface="Cambria Math" pitchFamily="34" charset="-120"/>
              </a:rPr>
              <a:t>|0⟩ − |1⟩</a:t>
            </a:r>
          </a:p>
        </p:txBody>
      </p:sp>
      <p:sp>
        <p:nvSpPr>
          <p:cNvPr id="13" name="bar"/>
          <p:cNvSpPr/>
          <p:nvPr/>
        </p:nvSpPr>
        <p:spPr>
          <a:xfrm>
            <a:off x="2448840" y="4223320"/>
            <a:ext cx="1737360" cy="24384"/>
          </a:xfrm>
          <a:prstGeom prst="rect">
            <a:avLst/>
          </a:prstGeom>
          <a:solidFill>
            <a:srgbClr val="3730A3"/>
          </a:solidFill>
          <a:ln/>
        </p:spPr>
        <p:txBody>
          <a:bodyPr/>
          <a:lstStyle/>
          <a:p>
            <a:endParaRPr lang="en-US"/>
          </a:p>
        </p:txBody>
      </p:sp>
      <p:sp>
        <p:nvSpPr>
          <p:cNvPr id="14" name="Text 14"/>
          <p:cNvSpPr/>
          <p:nvPr/>
        </p:nvSpPr>
        <p:spPr>
          <a:xfrm>
            <a:off x="2248840" y="4263320"/>
            <a:ext cx="2137360" cy="470000"/>
          </a:xfrm>
          <a:prstGeom prst="rect">
            <a:avLst/>
          </a:prstGeom>
          <a:noFill/>
          <a:ln/>
        </p:spPr>
        <p:txBody>
          <a:bodyPr wrap="square" lIns="45720" tIns="0" rIns="45720" bIns="0" rtlCol="0" anchor="t"/>
          <a:lstStyle/>
          <a:p>
            <a:pPr marL="0" indent="0" algn="ctr">
              <a:buNone/>
            </a:pPr>
            <a:r>
              <a:rPr lang="en-US" sz="1900">
                <a:solidFill>
                  <a:srgbClr val="1F2937"/>
                </a:solidFill>
                <a:latin typeface="Cambria Math" pitchFamily="34" charset="0"/>
                <a:ea typeface="Cambria Math" pitchFamily="34" charset="-122"/>
                <a:cs typeface="Cambria Math" pitchFamily="34" charset="-120"/>
              </a:rPr>
              <a:t>√2</a:t>
            </a:r>
          </a:p>
        </p:txBody>
      </p:sp>
      <p:sp>
        <p:nvSpPr>
          <p:cNvPr id="15" name="Figure card"/>
          <p:cNvSpPr/>
          <p:nvPr/>
        </p:nvSpPr>
        <p:spPr>
          <a:xfrm>
            <a:off x="6400800" y="1965960"/>
            <a:ext cx="5059680" cy="27432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6" name="Illustration"/>
          <p:cNvPicPr>
            <a:picLocks noChangeAspect="1"/>
          </p:cNvPicPr>
          <p:nvPr/>
        </p:nvPicPr>
        <p:blipFill>
          <a:blip r:embed="rId3"/>
          <a:stretch>
            <a:fillRect/>
          </a:stretch>
        </p:blipFill>
        <p:spPr>
          <a:xfrm>
            <a:off x="7350600" y="2103120"/>
            <a:ext cx="3160080" cy="2468880"/>
          </a:xfrm>
          <a:prstGeom prst="rect">
            <a:avLst/>
          </a:prstGeom>
        </p:spPr>
      </p:pic>
      <p:sp>
        <p:nvSpPr>
          <p:cNvPr id="17" name="band"/>
          <p:cNvSpPr/>
          <p:nvPr/>
        </p:nvSpPr>
        <p:spPr>
          <a:xfrm>
            <a:off x="6400800" y="4891680"/>
            <a:ext cx="5059680" cy="685800"/>
          </a:xfrm>
          <a:prstGeom prst="roundRect">
            <a:avLst>
              <a:gd name="adj" fmla="val 10526"/>
            </a:avLst>
          </a:prstGeom>
          <a:solidFill>
            <a:srgbClr val="EEF2FF"/>
          </a:solidFill>
          <a:ln/>
        </p:spPr>
        <p:txBody>
          <a:bodyPr/>
          <a:lstStyle/>
          <a:p>
            <a:endParaRPr lang="en-US"/>
          </a:p>
        </p:txBody>
      </p:sp>
      <p:sp>
        <p:nvSpPr>
          <p:cNvPr id="18" name="Text 18"/>
          <p:cNvSpPr/>
          <p:nvPr/>
        </p:nvSpPr>
        <p:spPr>
          <a:xfrm>
            <a:off x="6675120" y="4891680"/>
            <a:ext cx="4511040" cy="685800"/>
          </a:xfrm>
          <a:prstGeom prst="rect">
            <a:avLst/>
          </a:prstGeom>
          <a:noFill/>
          <a:ln/>
        </p:spPr>
        <p:txBody>
          <a:bodyPr wrap="square" lIns="45720" tIns="0" rIns="45720" bIns="0" rtlCol="0" anchor="ctr"/>
          <a:lstStyle/>
          <a:p>
            <a:pPr marL="0" indent="0" algn="l">
              <a:buNone/>
            </a:pPr>
            <a:r>
              <a:rPr lang="en-US" sz="1300">
                <a:solidFill>
                  <a:srgbClr val="1F2937"/>
                </a:solidFill>
                <a:latin typeface="Calibri" pitchFamily="34" charset="0"/>
                <a:ea typeface="Calibri" pitchFamily="34" charset="-122"/>
                <a:cs typeface="Calibri" pitchFamily="34" charset="-120"/>
              </a:rPr>
              <a:t>Axes rotated 45° — same space, new coordinates</a:t>
            </a:r>
          </a:p>
        </p:txBody>
      </p:sp>
      <p:sp>
        <p:nvSpPr>
          <p:cNvPr id="19" name="Text 19"/>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Changing basis changes the coordinate system—not the physical state.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Basis Transformation</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45920"/>
            <a:ext cx="5029200" cy="320040"/>
          </a:xfrm>
          <a:prstGeom prst="rect">
            <a:avLst/>
          </a:prstGeom>
          <a:noFill/>
          <a:ln/>
        </p:spPr>
        <p:txBody>
          <a:bodyPr wrap="square" lIns="45720" tIns="0" rIns="45720" bIns="0" rtlCol="0" anchor="b"/>
          <a:lstStyle/>
          <a:p>
            <a:pPr marL="0" indent="0" algn="l">
              <a:buNone/>
            </a:pPr>
            <a:r>
              <a:rPr lang="en-US" sz="1200" b="1">
                <a:solidFill>
                  <a:srgbClr val="475569"/>
                </a:solidFill>
                <a:latin typeface="Calibri" pitchFamily="34" charset="0"/>
                <a:ea typeface="Calibri" pitchFamily="34" charset="-122"/>
                <a:cs typeface="Calibri" pitchFamily="34" charset="-120"/>
              </a:rPr>
              <a:t>Start with</a:t>
            </a:r>
          </a:p>
        </p:txBody>
      </p:sp>
      <p:sp>
        <p:nvSpPr>
          <p:cNvPr id="5" name="band"/>
          <p:cNvSpPr/>
          <p:nvPr/>
        </p:nvSpPr>
        <p:spPr>
          <a:xfrm>
            <a:off x="731520" y="1965960"/>
            <a:ext cx="5029200" cy="82296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65960"/>
            <a:ext cx="5029200" cy="822960"/>
          </a:xfrm>
          <a:prstGeom prst="rect">
            <a:avLst/>
          </a:prstGeom>
          <a:noFill/>
          <a:ln/>
        </p:spPr>
        <p:txBody>
          <a:bodyPr wrap="square" lIns="45720" tIns="0" rIns="45720" bIns="0" rtlCol="0" anchor="ctr"/>
          <a:lstStyle/>
          <a:p>
            <a:pPr marL="0" indent="0" algn="ctr">
              <a:buNone/>
            </a:pPr>
            <a:r>
              <a:rPr lang="en-US" sz="2000">
                <a:solidFill>
                  <a:srgbClr val="1F2937"/>
                </a:solidFill>
                <a:latin typeface="Cambria Math" pitchFamily="34" charset="0"/>
                <a:ea typeface="Cambria Math" pitchFamily="34" charset="-122"/>
                <a:cs typeface="Cambria Math" pitchFamily="34" charset="-120"/>
              </a:rPr>
              <a:t>|ψ⟩ = α|0⟩ + β|1⟩</a:t>
            </a:r>
          </a:p>
        </p:txBody>
      </p:sp>
      <p:sp>
        <p:nvSpPr>
          <p:cNvPr id="7" name="Text 7"/>
          <p:cNvSpPr/>
          <p:nvPr/>
        </p:nvSpPr>
        <p:spPr>
          <a:xfrm>
            <a:off x="731520" y="2971800"/>
            <a:ext cx="5029200" cy="320040"/>
          </a:xfrm>
          <a:prstGeom prst="rect">
            <a:avLst/>
          </a:prstGeom>
          <a:noFill/>
          <a:ln/>
        </p:spPr>
        <p:txBody>
          <a:bodyPr wrap="square" lIns="45720" tIns="0" rIns="45720" bIns="0" rtlCol="0" anchor="b"/>
          <a:lstStyle/>
          <a:p>
            <a:pPr marL="0" indent="0" algn="l">
              <a:buNone/>
            </a:pPr>
            <a:r>
              <a:rPr lang="en-US" sz="1200" b="1">
                <a:solidFill>
                  <a:srgbClr val="475569"/>
                </a:solidFill>
                <a:latin typeface="Calibri" pitchFamily="34" charset="0"/>
                <a:ea typeface="Calibri" pitchFamily="34" charset="-122"/>
                <a:cs typeface="Calibri" pitchFamily="34" charset="-120"/>
              </a:rPr>
              <a:t>Rewrite each basis state</a:t>
            </a:r>
          </a:p>
        </p:txBody>
      </p:sp>
      <p:sp>
        <p:nvSpPr>
          <p:cNvPr id="8" name="Rewrite card"/>
          <p:cNvSpPr/>
          <p:nvPr/>
        </p:nvSpPr>
        <p:spPr>
          <a:xfrm>
            <a:off x="731520" y="3291840"/>
            <a:ext cx="5029200" cy="118872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9" name="Text 9"/>
          <p:cNvSpPr/>
          <p:nvPr/>
        </p:nvSpPr>
        <p:spPr>
          <a:xfrm>
            <a:off x="960120" y="3291840"/>
            <a:ext cx="4572000" cy="1188720"/>
          </a:xfrm>
          <a:prstGeom prst="rect">
            <a:avLst/>
          </a:prstGeom>
          <a:noFill/>
          <a:ln/>
        </p:spPr>
        <p:txBody>
          <a:bodyPr wrap="square" lIns="45720" tIns="0" rIns="45720" bIns="0" rtlCol="0" anchor="ctr"/>
          <a:lstStyle/>
          <a:p>
            <a:pPr marL="0" indent="0" algn="ctr">
              <a:lnSpc>
                <a:spcPct val="120000"/>
              </a:lnSpc>
              <a:buNone/>
            </a:pPr>
            <a:r>
              <a:rPr lang="en-US" sz="1600">
                <a:solidFill>
                  <a:srgbClr val="1F2937"/>
                </a:solidFill>
                <a:latin typeface="Cambria Math" pitchFamily="34" charset="0"/>
                <a:ea typeface="Cambria Math" pitchFamily="34" charset="-122"/>
                <a:cs typeface="Cambria Math" pitchFamily="34" charset="-120"/>
              </a:rPr>
              <a:t>|0⟩ = ( |+⟩ + |−⟩ ) / √2</a:t>
            </a:r>
          </a:p>
          <a:p>
            <a:pPr marL="0" indent="0" algn="ctr">
              <a:lnSpc>
                <a:spcPct val="120000"/>
              </a:lnSpc>
              <a:buNone/>
            </a:pPr>
            <a:r>
              <a:rPr lang="en-US" sz="1600">
                <a:solidFill>
                  <a:srgbClr val="1F2937"/>
                </a:solidFill>
                <a:latin typeface="Cambria Math" pitchFamily="34" charset="0"/>
                <a:ea typeface="Cambria Math" pitchFamily="34" charset="-122"/>
                <a:cs typeface="Cambria Math" pitchFamily="34" charset="-120"/>
              </a:rPr>
              <a:t>|1⟩ = ( |+⟩ − |−⟩ ) / √2</a:t>
            </a:r>
          </a:p>
        </p:txBody>
      </p:sp>
      <p:sp>
        <p:nvSpPr>
          <p:cNvPr id="10" name="Figure card"/>
          <p:cNvSpPr/>
          <p:nvPr/>
        </p:nvSpPr>
        <p:spPr>
          <a:xfrm>
            <a:off x="6400800" y="1965960"/>
            <a:ext cx="5059680" cy="25146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1" name="Illustration"/>
          <p:cNvPicPr>
            <a:picLocks noChangeAspect="1"/>
          </p:cNvPicPr>
          <p:nvPr/>
        </p:nvPicPr>
        <p:blipFill>
          <a:blip r:embed="rId3"/>
          <a:srcRect t="11708" b="18000"/>
          <a:stretch>
            <a:fillRect/>
          </a:stretch>
        </p:blipFill>
        <p:spPr>
          <a:xfrm>
            <a:off x="6537960" y="2103120"/>
            <a:ext cx="4785360" cy="2240280"/>
          </a:xfrm>
          <a:prstGeom prst="rect">
            <a:avLst/>
          </a:prstGeom>
        </p:spPr>
      </p:pic>
      <p:sp>
        <p:nvSpPr>
          <p:cNvPr id="12" name="Text 12"/>
          <p:cNvSpPr/>
          <p:nvPr/>
        </p:nvSpPr>
        <p:spPr>
          <a:xfrm>
            <a:off x="6400800" y="4663440"/>
            <a:ext cx="5059680" cy="548640"/>
          </a:xfrm>
          <a:prstGeom prst="rect">
            <a:avLst/>
          </a:prstGeom>
          <a:noFill/>
          <a:ln/>
        </p:spPr>
        <p:txBody>
          <a:bodyPr wrap="square" lIns="45720" tIns="0" rIns="45720" bIns="0" rtlCol="0" anchor="ctr"/>
          <a:lstStyle/>
          <a:p>
            <a:pPr marL="0" indent="0" algn="l">
              <a:buNone/>
            </a:pPr>
            <a:r>
              <a:rPr lang="en-US" sz="1300" i="1">
                <a:solidFill>
                  <a:srgbClr val="475569"/>
                </a:solidFill>
                <a:latin typeface="Calibri" pitchFamily="34" charset="0"/>
                <a:ea typeface="Calibri" pitchFamily="34" charset="-122"/>
                <a:cs typeface="Calibri" pitchFamily="34" charset="-120"/>
              </a:rPr>
              <a:t>The state is unchanged — only its coordinates rotate</a:t>
            </a:r>
          </a:p>
        </p:txBody>
      </p:sp>
      <p:sp>
        <p:nvSpPr>
          <p:cNvPr id="13" name="Text 13"/>
          <p:cNvSpPr/>
          <p:nvPr/>
        </p:nvSpPr>
        <p:spPr>
          <a:xfrm>
            <a:off x="731520" y="4526280"/>
            <a:ext cx="5029200" cy="285750"/>
          </a:xfrm>
          <a:prstGeom prst="rect">
            <a:avLst/>
          </a:prstGeom>
          <a:noFill/>
          <a:ln/>
        </p:spPr>
        <p:txBody>
          <a:bodyPr wrap="square" lIns="45720" tIns="0" rIns="45720" bIns="0" rtlCol="0" anchor="b"/>
          <a:lstStyle/>
          <a:p>
            <a:pPr marL="0" indent="0" algn="l">
              <a:buNone/>
            </a:pPr>
            <a:r>
              <a:rPr lang="en-US" sz="1200" b="1">
                <a:solidFill>
                  <a:srgbClr val="475569"/>
                </a:solidFill>
                <a:latin typeface="Calibri" pitchFamily="34" charset="0"/>
                <a:ea typeface="Calibri" pitchFamily="34" charset="-122"/>
                <a:cs typeface="Calibri" pitchFamily="34" charset="-120"/>
              </a:rPr>
              <a:t>Final result</a:t>
            </a:r>
          </a:p>
        </p:txBody>
      </p:sp>
      <p:sp>
        <p:nvSpPr>
          <p:cNvPr id="14" name="band"/>
          <p:cNvSpPr/>
          <p:nvPr/>
        </p:nvSpPr>
        <p:spPr>
          <a:xfrm>
            <a:off x="731520" y="4846320"/>
            <a:ext cx="10728960" cy="914400"/>
          </a:xfrm>
          <a:prstGeom prst="roundRect">
            <a:avLst>
              <a:gd name="adj" fmla="val 4000"/>
            </a:avLst>
          </a:prstGeom>
          <a:solidFill>
            <a:srgbClr val="CCFBF1"/>
          </a:solidFill>
          <a:ln/>
        </p:spPr>
        <p:txBody>
          <a:bodyPr/>
          <a:lstStyle/>
          <a:p>
            <a:endParaRPr lang="en-US"/>
          </a:p>
        </p:txBody>
      </p:sp>
      <p:sp>
        <p:nvSpPr>
          <p:cNvPr id="15" name="Text 15"/>
          <p:cNvSpPr/>
          <p:nvPr/>
        </p:nvSpPr>
        <p:spPr>
          <a:xfrm>
            <a:off x="2331520" y="4846320"/>
            <a:ext cx="1600200" cy="914400"/>
          </a:xfrm>
          <a:prstGeom prst="rect">
            <a:avLst/>
          </a:prstGeom>
          <a:noFill/>
          <a:ln/>
        </p:spPr>
        <p:txBody>
          <a:bodyPr wrap="square" lIns="45720" tIns="0" rIns="45720" bIns="0" rtlCol="0" anchor="ctr"/>
          <a:lstStyle/>
          <a:p>
            <a:pPr marL="0" indent="0" algn="r">
              <a:buNone/>
            </a:pPr>
            <a:r>
              <a:rPr lang="en-US" sz="2000">
                <a:solidFill>
                  <a:srgbClr val="3730A3"/>
                </a:solidFill>
                <a:latin typeface="Cambria Math" pitchFamily="34" charset="0"/>
                <a:ea typeface="Cambria Math" pitchFamily="34" charset="-122"/>
                <a:cs typeface="Cambria Math" pitchFamily="34" charset="-120"/>
              </a:rPr>
              <a:t>|ψ⟩ =</a:t>
            </a:r>
          </a:p>
        </p:txBody>
      </p:sp>
      <p:sp>
        <p:nvSpPr>
          <p:cNvPr id="16" name="Text 16"/>
          <p:cNvSpPr/>
          <p:nvPr/>
        </p:nvSpPr>
        <p:spPr>
          <a:xfrm>
            <a:off x="4031720" y="4915440"/>
            <a:ext cx="3920440" cy="480000"/>
          </a:xfrm>
          <a:prstGeom prst="rect">
            <a:avLst/>
          </a:prstGeom>
          <a:noFill/>
          <a:ln/>
        </p:spPr>
        <p:txBody>
          <a:bodyPr wrap="square" lIns="45720" tIns="0" rIns="45720" bIns="0" rtlCol="0" anchor="b"/>
          <a:lstStyle/>
          <a:p>
            <a:pPr marL="0" indent="0" algn="ctr">
              <a:buNone/>
            </a:pPr>
            <a:r>
              <a:rPr lang="en-US" sz="1600">
                <a:solidFill>
                  <a:srgbClr val="1F2937"/>
                </a:solidFill>
                <a:latin typeface="Cambria Math" pitchFamily="34" charset="0"/>
                <a:ea typeface="Cambria Math" pitchFamily="34" charset="-122"/>
                <a:cs typeface="Cambria Math" pitchFamily="34" charset="-120"/>
              </a:rPr>
              <a:t>(α+β)|+⟩ + (α−β)|−⟩</a:t>
            </a:r>
          </a:p>
        </p:txBody>
      </p:sp>
      <p:sp>
        <p:nvSpPr>
          <p:cNvPr id="17" name="bar"/>
          <p:cNvSpPr/>
          <p:nvPr/>
        </p:nvSpPr>
        <p:spPr>
          <a:xfrm>
            <a:off x="4231720" y="5435440"/>
            <a:ext cx="3520440" cy="24384"/>
          </a:xfrm>
          <a:prstGeom prst="rect">
            <a:avLst/>
          </a:prstGeom>
          <a:solidFill>
            <a:srgbClr val="3730A3"/>
          </a:solidFill>
          <a:ln/>
        </p:spPr>
        <p:txBody>
          <a:bodyPr/>
          <a:lstStyle/>
          <a:p>
            <a:endParaRPr lang="en-US"/>
          </a:p>
        </p:txBody>
      </p:sp>
      <p:sp>
        <p:nvSpPr>
          <p:cNvPr id="18" name="Text 18"/>
          <p:cNvSpPr/>
          <p:nvPr/>
        </p:nvSpPr>
        <p:spPr>
          <a:xfrm>
            <a:off x="4031720" y="5475440"/>
            <a:ext cx="3920440" cy="470000"/>
          </a:xfrm>
          <a:prstGeom prst="rect">
            <a:avLst/>
          </a:prstGeom>
          <a:noFill/>
          <a:ln/>
        </p:spPr>
        <p:txBody>
          <a:bodyPr wrap="square" lIns="45720" tIns="0" rIns="45720" bIns="0" rtlCol="0" anchor="t"/>
          <a:lstStyle/>
          <a:p>
            <a:pPr marL="0" indent="0" algn="ctr">
              <a:buNone/>
            </a:pPr>
            <a:r>
              <a:rPr lang="en-US" sz="1700">
                <a:solidFill>
                  <a:srgbClr val="1F2937"/>
                </a:solidFill>
                <a:latin typeface="Cambria Math" pitchFamily="34" charset="0"/>
                <a:ea typeface="Cambria Math" pitchFamily="34" charset="-122"/>
                <a:cs typeface="Cambria Math" pitchFamily="34" charset="-120"/>
              </a:rPr>
              <a:t>√2</a:t>
            </a:r>
          </a:p>
        </p:txBody>
      </p:sp>
      <p:sp>
        <p:nvSpPr>
          <p:cNvPr id="19" name="Text 19"/>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Changing basis never changes the physical state—only its coordinates.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What Does It Mean to Measure a Qubit?</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band"/>
          <p:cNvSpPr/>
          <p:nvPr/>
        </p:nvSpPr>
        <p:spPr>
          <a:xfrm>
            <a:off x="731520" y="1874520"/>
            <a:ext cx="3149600" cy="1737360"/>
          </a:xfrm>
          <a:prstGeom prst="roundRect">
            <a:avLst>
              <a:gd name="adj" fmla="val 6000"/>
            </a:avLst>
          </a:prstGeom>
          <a:solidFill>
            <a:srgbClr val="EEF2FF"/>
          </a:solidFill>
          <a:ln/>
        </p:spPr>
        <p:txBody>
          <a:bodyPr/>
          <a:lstStyle/>
          <a:p>
            <a:endParaRPr lang="en-US"/>
          </a:p>
        </p:txBody>
      </p:sp>
      <p:sp>
        <p:nvSpPr>
          <p:cNvPr id="5" name="Text 5"/>
          <p:cNvSpPr/>
          <p:nvPr/>
        </p:nvSpPr>
        <p:spPr>
          <a:xfrm>
            <a:off x="731520" y="1874520"/>
            <a:ext cx="3149600" cy="1737360"/>
          </a:xfrm>
          <a:prstGeom prst="rect">
            <a:avLst/>
          </a:prstGeom>
          <a:noFill/>
          <a:ln/>
        </p:spPr>
        <p:txBody>
          <a:bodyPr wrap="square" lIns="45720" tIns="0" rIns="45720" bIns="0" rtlCol="0" anchor="ctr"/>
          <a:lstStyle/>
          <a:p>
            <a:pPr marL="0" indent="0" algn="ctr">
              <a:spcAft>
                <a:spcPts val="600"/>
              </a:spcAft>
              <a:buNone/>
            </a:pPr>
            <a:r>
              <a:rPr lang="en-US" sz="1400" b="1">
                <a:solidFill>
                  <a:srgbClr val="3730A3"/>
                </a:solidFill>
                <a:latin typeface="Calibri" pitchFamily="34" charset="0"/>
                <a:ea typeface="Calibri" pitchFamily="34" charset="-122"/>
                <a:cs typeface="Calibri" pitchFamily="34" charset="-120"/>
              </a:rPr>
              <a:t>Unknown state</a:t>
            </a:r>
          </a:p>
          <a:p>
            <a:pPr marL="0" indent="0" algn="ctr">
              <a:buNone/>
            </a:pPr>
            <a:r>
              <a:rPr lang="en-US" sz="3600">
                <a:solidFill>
                  <a:srgbClr val="3730A3"/>
                </a:solidFill>
                <a:latin typeface="Cambria Math" pitchFamily="34" charset="0"/>
                <a:ea typeface="Cambria Math" pitchFamily="34" charset="-122"/>
                <a:cs typeface="Cambria Math" pitchFamily="34" charset="-120"/>
              </a:rPr>
              <a:t>|ψ⟩</a:t>
            </a:r>
          </a:p>
        </p:txBody>
      </p:sp>
      <p:sp>
        <p:nvSpPr>
          <p:cNvPr id="6" name="band"/>
          <p:cNvSpPr/>
          <p:nvPr/>
        </p:nvSpPr>
        <p:spPr>
          <a:xfrm>
            <a:off x="4521200" y="1874520"/>
            <a:ext cx="3149600" cy="1737360"/>
          </a:xfrm>
          <a:prstGeom prst="roundRect">
            <a:avLst>
              <a:gd name="adj" fmla="val 6000"/>
            </a:avLst>
          </a:prstGeom>
          <a:solidFill>
            <a:srgbClr val="FFFFFF"/>
          </a:solidFill>
          <a:ln w="25400">
            <a:solidFill>
              <a:srgbClr val="0D9488"/>
            </a:solidFill>
            <a:prstDash val="solid"/>
          </a:ln>
        </p:spPr>
        <p:txBody>
          <a:bodyPr/>
          <a:lstStyle/>
          <a:p>
            <a:endParaRPr lang="en-US"/>
          </a:p>
        </p:txBody>
      </p:sp>
      <p:pic>
        <p:nvPicPr>
          <p:cNvPr id="7" name="Illustration"/>
          <p:cNvPicPr>
            <a:picLocks noChangeAspect="1"/>
          </p:cNvPicPr>
          <p:nvPr/>
        </p:nvPicPr>
        <p:blipFill>
          <a:blip r:embed="rId3"/>
          <a:stretch>
            <a:fillRect/>
          </a:stretch>
        </p:blipFill>
        <p:spPr>
          <a:xfrm>
            <a:off x="5593080" y="2011680"/>
            <a:ext cx="1005840" cy="1005840"/>
          </a:xfrm>
          <a:prstGeom prst="rect">
            <a:avLst/>
          </a:prstGeom>
        </p:spPr>
      </p:pic>
      <p:sp>
        <p:nvSpPr>
          <p:cNvPr id="8" name="Text 8"/>
          <p:cNvSpPr/>
          <p:nvPr/>
        </p:nvSpPr>
        <p:spPr>
          <a:xfrm>
            <a:off x="4521200" y="3081528"/>
            <a:ext cx="3149600" cy="457200"/>
          </a:xfrm>
          <a:prstGeom prst="rect">
            <a:avLst/>
          </a:prstGeom>
          <a:noFill/>
          <a:ln/>
        </p:spPr>
        <p:txBody>
          <a:bodyPr wrap="square" lIns="45720" tIns="0" rIns="45720" bIns="0" rtlCol="0" anchor="ctr"/>
          <a:lstStyle/>
          <a:p>
            <a:pPr marL="0" indent="0" algn="ctr">
              <a:buNone/>
            </a:pPr>
            <a:r>
              <a:rPr lang="en-US" sz="1400" b="1">
                <a:solidFill>
                  <a:srgbClr val="1F2937"/>
                </a:solidFill>
                <a:latin typeface="Calibri" pitchFamily="34" charset="0"/>
                <a:ea typeface="Calibri" pitchFamily="34" charset="-122"/>
                <a:cs typeface="Calibri" pitchFamily="34" charset="-120"/>
              </a:rPr>
              <a:t>Measurement device</a:t>
            </a:r>
          </a:p>
        </p:txBody>
      </p:sp>
      <p:sp>
        <p:nvSpPr>
          <p:cNvPr id="9" name="band"/>
          <p:cNvSpPr/>
          <p:nvPr/>
        </p:nvSpPr>
        <p:spPr>
          <a:xfrm>
            <a:off x="8310880" y="1874520"/>
            <a:ext cx="3149600" cy="1737360"/>
          </a:xfrm>
          <a:prstGeom prst="roundRect">
            <a:avLst>
              <a:gd name="adj" fmla="val 6000"/>
            </a:avLst>
          </a:prstGeom>
          <a:solidFill>
            <a:srgbClr val="CCFBF1"/>
          </a:solidFill>
          <a:ln/>
        </p:spPr>
        <p:txBody>
          <a:bodyPr/>
          <a:lstStyle/>
          <a:p>
            <a:endParaRPr lang="en-US"/>
          </a:p>
        </p:txBody>
      </p:sp>
      <p:sp>
        <p:nvSpPr>
          <p:cNvPr id="10" name="Text 10"/>
          <p:cNvSpPr/>
          <p:nvPr/>
        </p:nvSpPr>
        <p:spPr>
          <a:xfrm>
            <a:off x="8310880" y="1874520"/>
            <a:ext cx="3149600" cy="1737360"/>
          </a:xfrm>
          <a:prstGeom prst="rect">
            <a:avLst/>
          </a:prstGeom>
          <a:noFill/>
          <a:ln/>
        </p:spPr>
        <p:txBody>
          <a:bodyPr wrap="square" lIns="45720" tIns="0" rIns="45720" bIns="0" rtlCol="0" anchor="ctr"/>
          <a:lstStyle/>
          <a:p>
            <a:pPr marL="0" indent="0" algn="ctr">
              <a:spcAft>
                <a:spcPts val="600"/>
              </a:spcAft>
              <a:buNone/>
            </a:pPr>
            <a:r>
              <a:rPr lang="en-US" sz="1400" b="1">
                <a:solidFill>
                  <a:srgbClr val="0D9488"/>
                </a:solidFill>
                <a:latin typeface="Calibri" pitchFamily="34" charset="0"/>
                <a:ea typeface="Calibri" pitchFamily="34" charset="-122"/>
                <a:cs typeface="Calibri" pitchFamily="34" charset="-120"/>
              </a:rPr>
              <a:t>Outcome</a:t>
            </a:r>
          </a:p>
          <a:p>
            <a:pPr marL="0" indent="0" algn="ctr">
              <a:buNone/>
            </a:pPr>
            <a:r>
              <a:rPr lang="en-US" sz="2600">
                <a:solidFill>
                  <a:srgbClr val="0D9488"/>
                </a:solidFill>
                <a:latin typeface="Cambria Math" pitchFamily="34" charset="0"/>
                <a:ea typeface="Cambria Math" pitchFamily="34" charset="-122"/>
                <a:cs typeface="Cambria Math" pitchFamily="34" charset="-120"/>
              </a:rPr>
              <a:t>|0⟩</a:t>
            </a:r>
            <a:r>
              <a:rPr lang="en-US" sz="2000">
                <a:solidFill>
                  <a:srgbClr val="1F2937"/>
                </a:solidFill>
                <a:latin typeface="Calibri" pitchFamily="34" charset="0"/>
                <a:ea typeface="Calibri" pitchFamily="34" charset="-122"/>
                <a:cs typeface="Calibri" pitchFamily="34" charset="-120"/>
              </a:rPr>
              <a:t>  or  </a:t>
            </a:r>
            <a:r>
              <a:rPr lang="en-US" sz="2600">
                <a:solidFill>
                  <a:srgbClr val="0D9488"/>
                </a:solidFill>
                <a:latin typeface="Cambria Math" pitchFamily="34" charset="0"/>
                <a:ea typeface="Cambria Math" pitchFamily="34" charset="-122"/>
                <a:cs typeface="Cambria Math" pitchFamily="34" charset="-120"/>
              </a:rPr>
              <a:t>|1⟩</a:t>
            </a:r>
          </a:p>
        </p:txBody>
      </p:sp>
      <p:sp>
        <p:nvSpPr>
          <p:cNvPr id="11" name="flow arrow"/>
          <p:cNvSpPr/>
          <p:nvPr/>
        </p:nvSpPr>
        <p:spPr>
          <a:xfrm>
            <a:off x="3881120" y="2743200"/>
            <a:ext cx="640080" cy="0"/>
          </a:xfrm>
          <a:prstGeom prst="line">
            <a:avLst/>
          </a:prstGeom>
          <a:ln w="38100">
            <a:solidFill>
              <a:srgbClr val="3730A3"/>
            </a:solidFill>
            <a:prstDash val="solid"/>
            <a:tailEnd type="triangle"/>
          </a:ln>
        </p:spPr>
        <p:txBody>
          <a:bodyPr/>
          <a:lstStyle/>
          <a:p>
            <a:endParaRPr lang="en-US"/>
          </a:p>
        </p:txBody>
      </p:sp>
      <p:sp>
        <p:nvSpPr>
          <p:cNvPr id="12" name="flow arrow"/>
          <p:cNvSpPr/>
          <p:nvPr/>
        </p:nvSpPr>
        <p:spPr>
          <a:xfrm>
            <a:off x="7670800" y="2743200"/>
            <a:ext cx="640080" cy="0"/>
          </a:xfrm>
          <a:prstGeom prst="line">
            <a:avLst/>
          </a:prstGeom>
          <a:ln w="38100">
            <a:solidFill>
              <a:srgbClr val="3730A3"/>
            </a:solidFill>
            <a:prstDash val="solid"/>
            <a:tailEnd type="triangle"/>
          </a:ln>
        </p:spPr>
        <p:txBody>
          <a:bodyPr/>
          <a:lstStyle/>
          <a:p>
            <a:endParaRPr lang="en-US"/>
          </a:p>
        </p:txBody>
      </p:sp>
      <p:sp>
        <p:nvSpPr>
          <p:cNvPr id="13" name="band"/>
          <p:cNvSpPr/>
          <p:nvPr/>
        </p:nvSpPr>
        <p:spPr>
          <a:xfrm>
            <a:off x="731520" y="4297680"/>
            <a:ext cx="3149600" cy="1188720"/>
          </a:xfrm>
          <a:prstGeom prst="roundRect">
            <a:avLst>
              <a:gd name="adj" fmla="val 4000"/>
            </a:avLst>
          </a:prstGeom>
          <a:solidFill>
            <a:srgbClr val="FFFFFF"/>
          </a:solidFill>
          <a:ln w="15875">
            <a:solidFill>
              <a:srgbClr val="D1D5DB"/>
            </a:solidFill>
            <a:prstDash val="solid"/>
          </a:ln>
        </p:spPr>
        <p:txBody>
          <a:bodyPr/>
          <a:lstStyle/>
          <a:p>
            <a:endParaRPr lang="en-US"/>
          </a:p>
        </p:txBody>
      </p:sp>
      <p:sp>
        <p:nvSpPr>
          <p:cNvPr id="14" name="Text 14"/>
          <p:cNvSpPr/>
          <p:nvPr/>
        </p:nvSpPr>
        <p:spPr>
          <a:xfrm>
            <a:off x="822960" y="4297680"/>
            <a:ext cx="2966720" cy="1188720"/>
          </a:xfrm>
          <a:prstGeom prst="rect">
            <a:avLst/>
          </a:prstGeom>
          <a:noFill/>
          <a:ln/>
        </p:spPr>
        <p:txBody>
          <a:bodyPr wrap="square" lIns="45720" tIns="0" rIns="45720" bIns="0" rtlCol="0" anchor="ctr"/>
          <a:lstStyle/>
          <a:p>
            <a:pPr marL="0" indent="0" algn="ctr">
              <a:spcAft>
                <a:spcPts val="400"/>
              </a:spcAft>
              <a:buNone/>
            </a:pPr>
            <a:r>
              <a:rPr lang="en-US" sz="2000" b="1">
                <a:solidFill>
                  <a:srgbClr val="3730A3"/>
                </a:solidFill>
                <a:latin typeface="Calibri" pitchFamily="34" charset="0"/>
                <a:ea typeface="Calibri" pitchFamily="34" charset="-122"/>
                <a:cs typeface="Calibri" pitchFamily="34" charset="-120"/>
              </a:rPr>
              <a:t>1</a:t>
            </a:r>
          </a:p>
          <a:p>
            <a:pPr marL="0" indent="0" algn="ctr">
              <a:lnSpc>
                <a:spcPct val="105000"/>
              </a:lnSpc>
              <a:buNone/>
            </a:pPr>
            <a:r>
              <a:rPr lang="en-US" sz="1400">
                <a:solidFill>
                  <a:srgbClr val="1F2937"/>
                </a:solidFill>
                <a:latin typeface="Calibri" pitchFamily="34" charset="0"/>
                <a:ea typeface="Calibri" pitchFamily="34" charset="-122"/>
                <a:cs typeface="Calibri" pitchFamily="34" charset="-120"/>
              </a:rPr>
              <a:t>Measurement produces one classical outcome.</a:t>
            </a:r>
          </a:p>
        </p:txBody>
      </p:sp>
      <p:sp>
        <p:nvSpPr>
          <p:cNvPr id="15" name="band"/>
          <p:cNvSpPr/>
          <p:nvPr/>
        </p:nvSpPr>
        <p:spPr>
          <a:xfrm>
            <a:off x="4521200" y="4297680"/>
            <a:ext cx="3149600" cy="1188720"/>
          </a:xfrm>
          <a:prstGeom prst="roundRect">
            <a:avLst>
              <a:gd name="adj" fmla="val 4000"/>
            </a:avLst>
          </a:prstGeom>
          <a:solidFill>
            <a:srgbClr val="FFFFFF"/>
          </a:solidFill>
          <a:ln w="15875">
            <a:solidFill>
              <a:srgbClr val="D1D5DB"/>
            </a:solidFill>
            <a:prstDash val="solid"/>
          </a:ln>
        </p:spPr>
        <p:txBody>
          <a:bodyPr/>
          <a:lstStyle/>
          <a:p>
            <a:endParaRPr lang="en-US"/>
          </a:p>
        </p:txBody>
      </p:sp>
      <p:sp>
        <p:nvSpPr>
          <p:cNvPr id="16" name="Text 16"/>
          <p:cNvSpPr/>
          <p:nvPr/>
        </p:nvSpPr>
        <p:spPr>
          <a:xfrm>
            <a:off x="4612640" y="4297680"/>
            <a:ext cx="2966720" cy="1188720"/>
          </a:xfrm>
          <a:prstGeom prst="rect">
            <a:avLst/>
          </a:prstGeom>
          <a:noFill/>
          <a:ln/>
        </p:spPr>
        <p:txBody>
          <a:bodyPr wrap="square" lIns="45720" tIns="0" rIns="45720" bIns="0" rtlCol="0" anchor="ctr"/>
          <a:lstStyle/>
          <a:p>
            <a:pPr marL="0" indent="0" algn="ctr">
              <a:spcAft>
                <a:spcPts val="400"/>
              </a:spcAft>
              <a:buNone/>
            </a:pPr>
            <a:r>
              <a:rPr lang="en-US" sz="2000" b="1">
                <a:solidFill>
                  <a:srgbClr val="0D9488"/>
                </a:solidFill>
                <a:latin typeface="Calibri" pitchFamily="34" charset="0"/>
                <a:ea typeface="Calibri" pitchFamily="34" charset="-122"/>
                <a:cs typeface="Calibri" pitchFamily="34" charset="-120"/>
              </a:rPr>
              <a:t>2</a:t>
            </a:r>
          </a:p>
          <a:p>
            <a:pPr marL="0" indent="0" algn="ctr">
              <a:lnSpc>
                <a:spcPct val="105000"/>
              </a:lnSpc>
              <a:buNone/>
            </a:pPr>
            <a:r>
              <a:rPr lang="en-US" sz="1400">
                <a:solidFill>
                  <a:srgbClr val="1F2937"/>
                </a:solidFill>
                <a:latin typeface="Calibri" pitchFamily="34" charset="0"/>
                <a:ea typeface="Calibri" pitchFamily="34" charset="-122"/>
                <a:cs typeface="Calibri" pitchFamily="34" charset="-120"/>
              </a:rPr>
              <a:t>The outcome is probabilistic.</a:t>
            </a:r>
          </a:p>
        </p:txBody>
      </p:sp>
      <p:sp>
        <p:nvSpPr>
          <p:cNvPr id="17" name="band"/>
          <p:cNvSpPr/>
          <p:nvPr/>
        </p:nvSpPr>
        <p:spPr>
          <a:xfrm>
            <a:off x="8310880" y="4297680"/>
            <a:ext cx="3149600" cy="1188720"/>
          </a:xfrm>
          <a:prstGeom prst="roundRect">
            <a:avLst>
              <a:gd name="adj" fmla="val 4000"/>
            </a:avLst>
          </a:prstGeom>
          <a:solidFill>
            <a:srgbClr val="FFFFFF"/>
          </a:solidFill>
          <a:ln w="15875">
            <a:solidFill>
              <a:srgbClr val="D1D5DB"/>
            </a:solidFill>
            <a:prstDash val="solid"/>
          </a:ln>
        </p:spPr>
        <p:txBody>
          <a:bodyPr/>
          <a:lstStyle/>
          <a:p>
            <a:endParaRPr lang="en-US"/>
          </a:p>
        </p:txBody>
      </p:sp>
      <p:sp>
        <p:nvSpPr>
          <p:cNvPr id="18" name="Text 18"/>
          <p:cNvSpPr/>
          <p:nvPr/>
        </p:nvSpPr>
        <p:spPr>
          <a:xfrm>
            <a:off x="8402320" y="4297680"/>
            <a:ext cx="2966720" cy="1188720"/>
          </a:xfrm>
          <a:prstGeom prst="rect">
            <a:avLst/>
          </a:prstGeom>
          <a:noFill/>
          <a:ln/>
        </p:spPr>
        <p:txBody>
          <a:bodyPr wrap="square" lIns="45720" tIns="0" rIns="45720" bIns="0" rtlCol="0" anchor="ctr"/>
          <a:lstStyle/>
          <a:p>
            <a:pPr marL="0" indent="0" algn="ctr">
              <a:spcAft>
                <a:spcPts val="400"/>
              </a:spcAft>
              <a:buNone/>
            </a:pPr>
            <a:r>
              <a:rPr lang="en-US" sz="2000" b="1">
                <a:solidFill>
                  <a:srgbClr val="3730A3"/>
                </a:solidFill>
                <a:latin typeface="Calibri" pitchFamily="34" charset="0"/>
                <a:ea typeface="Calibri" pitchFamily="34" charset="-122"/>
                <a:cs typeface="Calibri" pitchFamily="34" charset="-120"/>
              </a:rPr>
              <a:t>3</a:t>
            </a:r>
          </a:p>
          <a:p>
            <a:pPr marL="0" indent="0" algn="ctr">
              <a:lnSpc>
                <a:spcPct val="105000"/>
              </a:lnSpc>
              <a:buNone/>
            </a:pPr>
            <a:r>
              <a:rPr lang="en-US" sz="1400">
                <a:solidFill>
                  <a:srgbClr val="1F2937"/>
                </a:solidFill>
                <a:latin typeface="Calibri" pitchFamily="34" charset="0"/>
                <a:ea typeface="Calibri" pitchFamily="34" charset="-122"/>
                <a:cs typeface="Calibri" pitchFamily="34" charset="-120"/>
              </a:rPr>
              <a:t>The quantum state changes after measurement.</a:t>
            </a:r>
          </a:p>
        </p:txBody>
      </p:sp>
      <p:sp>
        <p:nvSpPr>
          <p:cNvPr id="19" name="Text 19"/>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Measurement is an active physical process.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The Born Rule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002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State</a:t>
            </a:r>
          </a:p>
        </p:txBody>
      </p:sp>
      <p:sp>
        <p:nvSpPr>
          <p:cNvPr id="5" name="band"/>
          <p:cNvSpPr/>
          <p:nvPr/>
        </p:nvSpPr>
        <p:spPr>
          <a:xfrm>
            <a:off x="731520" y="1920240"/>
            <a:ext cx="5029200" cy="86868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20240"/>
            <a:ext cx="5029200" cy="868680"/>
          </a:xfrm>
          <a:prstGeom prst="rect">
            <a:avLst/>
          </a:prstGeom>
          <a:noFill/>
          <a:ln/>
        </p:spPr>
        <p:txBody>
          <a:bodyPr wrap="square" lIns="45720" tIns="0" rIns="45720" bIns="0" rtlCol="0" anchor="ctr"/>
          <a:lstStyle/>
          <a:p>
            <a:pPr marL="0" indent="0" algn="ctr">
              <a:buNone/>
            </a:pPr>
            <a:r>
              <a:rPr lang="en-US" sz="2200">
                <a:solidFill>
                  <a:srgbClr val="3730A3"/>
                </a:solidFill>
                <a:latin typeface="Cambria Math" pitchFamily="34" charset="0"/>
                <a:ea typeface="Cambria Math" pitchFamily="34" charset="-122"/>
                <a:cs typeface="Cambria Math" pitchFamily="34" charset="-120"/>
              </a:rPr>
              <a:t>|ψ⟩ = α|0⟩ + β|1⟩</a:t>
            </a:r>
          </a:p>
        </p:txBody>
      </p:sp>
      <p:sp>
        <p:nvSpPr>
          <p:cNvPr id="7" name="Text 7"/>
          <p:cNvSpPr/>
          <p:nvPr/>
        </p:nvSpPr>
        <p:spPr>
          <a:xfrm>
            <a:off x="731520" y="2910840"/>
            <a:ext cx="5029200" cy="320040"/>
          </a:xfrm>
          <a:prstGeom prst="rect">
            <a:avLst/>
          </a:prstGeom>
          <a:noFill/>
          <a:ln/>
        </p:spPr>
        <p:txBody>
          <a:bodyPr wrap="square" lIns="45720" tIns="0" rIns="45720" bIns="0" rtlCol="0" anchor="ctr"/>
          <a:lstStyle/>
          <a:p>
            <a:pPr marL="0" indent="0" algn="l">
              <a:buNone/>
            </a:pPr>
            <a:r>
              <a:rPr lang="en-US" sz="1400">
                <a:solidFill>
                  <a:srgbClr val="1F2937"/>
                </a:solidFill>
                <a:latin typeface="Calibri" pitchFamily="34" charset="0"/>
                <a:ea typeface="Calibri" pitchFamily="34" charset="-122"/>
                <a:cs typeface="Calibri" pitchFamily="34" charset="-120"/>
              </a:rPr>
              <a:t>Measured in the computational basis</a:t>
            </a:r>
          </a:p>
        </p:txBody>
      </p:sp>
      <p:sp>
        <p:nvSpPr>
          <p:cNvPr id="8" name="band"/>
          <p:cNvSpPr/>
          <p:nvPr/>
        </p:nvSpPr>
        <p:spPr>
          <a:xfrm>
            <a:off x="731520" y="3383280"/>
            <a:ext cx="2423160" cy="132000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9" name="Text 9"/>
          <p:cNvSpPr/>
          <p:nvPr/>
        </p:nvSpPr>
        <p:spPr>
          <a:xfrm>
            <a:off x="731520" y="3383280"/>
            <a:ext cx="2423160" cy="1320000"/>
          </a:xfrm>
          <a:prstGeom prst="rect">
            <a:avLst/>
          </a:prstGeom>
          <a:noFill/>
          <a:ln/>
        </p:spPr>
        <p:txBody>
          <a:bodyPr wrap="square" lIns="45720" tIns="0" rIns="45720" bIns="0" rtlCol="0" anchor="ctr"/>
          <a:lstStyle/>
          <a:p>
            <a:pPr marL="0" indent="0" algn="ctr">
              <a:spcAft>
                <a:spcPts val="500"/>
              </a:spcAft>
              <a:buNone/>
            </a:pPr>
            <a:r>
              <a:rPr lang="en-US" sz="1500" b="1">
                <a:solidFill>
                  <a:srgbClr val="3730A3"/>
                </a:solidFill>
                <a:latin typeface="Calibri" pitchFamily="34" charset="0"/>
                <a:ea typeface="Calibri" pitchFamily="34" charset="-122"/>
                <a:cs typeface="Calibri" pitchFamily="34" charset="-120"/>
              </a:rPr>
              <a:t>P(0)</a:t>
            </a:r>
          </a:p>
          <a:p>
            <a:pPr marL="0" indent="0" algn="ctr">
              <a:buNone/>
            </a:pPr>
            <a:r>
              <a:rPr lang="en-US" sz="3000">
                <a:solidFill>
                  <a:srgbClr val="3730A3"/>
                </a:solidFill>
                <a:latin typeface="Cambria Math" pitchFamily="34" charset="0"/>
                <a:ea typeface="Cambria Math" pitchFamily="34" charset="-122"/>
                <a:cs typeface="Cambria Math" pitchFamily="34" charset="-120"/>
              </a:rPr>
              <a:t>|α|²</a:t>
            </a:r>
          </a:p>
        </p:txBody>
      </p:sp>
      <p:sp>
        <p:nvSpPr>
          <p:cNvPr id="10" name="band"/>
          <p:cNvSpPr/>
          <p:nvPr/>
        </p:nvSpPr>
        <p:spPr>
          <a:xfrm>
            <a:off x="3337560" y="3383280"/>
            <a:ext cx="2423160" cy="132000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11" name="Text 11"/>
          <p:cNvSpPr/>
          <p:nvPr/>
        </p:nvSpPr>
        <p:spPr>
          <a:xfrm>
            <a:off x="3337560" y="3383280"/>
            <a:ext cx="2423160" cy="1320000"/>
          </a:xfrm>
          <a:prstGeom prst="rect">
            <a:avLst/>
          </a:prstGeom>
          <a:noFill/>
          <a:ln/>
        </p:spPr>
        <p:txBody>
          <a:bodyPr wrap="square" lIns="45720" tIns="0" rIns="45720" bIns="0" rtlCol="0" anchor="ctr"/>
          <a:lstStyle/>
          <a:p>
            <a:pPr marL="0" indent="0" algn="ctr">
              <a:spcAft>
                <a:spcPts val="500"/>
              </a:spcAft>
              <a:buNone/>
            </a:pPr>
            <a:r>
              <a:rPr lang="en-US" sz="1500" b="1">
                <a:solidFill>
                  <a:srgbClr val="0D9488"/>
                </a:solidFill>
                <a:latin typeface="Calibri" pitchFamily="34" charset="0"/>
                <a:ea typeface="Calibri" pitchFamily="34" charset="-122"/>
                <a:cs typeface="Calibri" pitchFamily="34" charset="-120"/>
              </a:rPr>
              <a:t>P(1)</a:t>
            </a:r>
          </a:p>
          <a:p>
            <a:pPr marL="0" indent="0" algn="ctr">
              <a:buNone/>
            </a:pPr>
            <a:r>
              <a:rPr lang="en-US" sz="3000">
                <a:solidFill>
                  <a:srgbClr val="0D9488"/>
                </a:solidFill>
                <a:latin typeface="Cambria Math" pitchFamily="34" charset="0"/>
                <a:ea typeface="Cambria Math" pitchFamily="34" charset="-122"/>
                <a:cs typeface="Cambria Math" pitchFamily="34" charset="-120"/>
              </a:rPr>
              <a:t>|β|²</a:t>
            </a:r>
          </a:p>
        </p:txBody>
      </p:sp>
      <p:sp>
        <p:nvSpPr>
          <p:cNvPr id="12" name="Figure card"/>
          <p:cNvSpPr/>
          <p:nvPr/>
        </p:nvSpPr>
        <p:spPr>
          <a:xfrm>
            <a:off x="6400800" y="1737360"/>
            <a:ext cx="5059680" cy="29718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3" name="Illustration"/>
          <p:cNvPicPr>
            <a:picLocks noChangeAspect="1"/>
          </p:cNvPicPr>
          <p:nvPr/>
        </p:nvPicPr>
        <p:blipFill>
          <a:blip r:embed="rId3"/>
          <a:srcRect t="6769" b="6769"/>
          <a:stretch>
            <a:fillRect/>
          </a:stretch>
        </p:blipFill>
        <p:spPr>
          <a:xfrm>
            <a:off x="6469380" y="1805940"/>
            <a:ext cx="4922520" cy="2834640"/>
          </a:xfrm>
          <a:prstGeom prst="rect">
            <a:avLst/>
          </a:prstGeom>
        </p:spPr>
      </p:pic>
      <p:sp>
        <p:nvSpPr>
          <p:cNvPr id="14" name="Text 14"/>
          <p:cNvSpPr/>
          <p:nvPr/>
        </p:nvSpPr>
        <p:spPr>
          <a:xfrm>
            <a:off x="6400800" y="4800600"/>
            <a:ext cx="5059680" cy="300000"/>
          </a:xfrm>
          <a:prstGeom prst="rect">
            <a:avLst/>
          </a:prstGeom>
          <a:noFill/>
          <a:ln/>
        </p:spPr>
        <p:txBody>
          <a:bodyPr wrap="square" lIns="45720" tIns="0" rIns="45720" bIns="0" rtlCol="0" anchor="ctr"/>
          <a:lstStyle/>
          <a:p>
            <a:pPr marL="0" indent="0" algn="ctr">
              <a:buNone/>
            </a:pPr>
            <a:r>
              <a:rPr lang="en-US" sz="1250" i="1">
                <a:solidFill>
                  <a:srgbClr val="475569"/>
                </a:solidFill>
                <a:latin typeface="Calibri" pitchFamily="34" charset="0"/>
                <a:ea typeface="Calibri" pitchFamily="34" charset="-122"/>
                <a:cs typeface="Calibri" pitchFamily="34" charset="-120"/>
              </a:rPr>
              <a:t>The state branches into two possible outcomes</a:t>
            </a:r>
          </a:p>
        </p:txBody>
      </p:sp>
      <p:sp>
        <p:nvSpPr>
          <p:cNvPr id="15" name="band"/>
          <p:cNvSpPr/>
          <p:nvPr/>
        </p:nvSpPr>
        <p:spPr>
          <a:xfrm>
            <a:off x="731520" y="5135880"/>
            <a:ext cx="10728960" cy="594360"/>
          </a:xfrm>
          <a:prstGeom prst="roundRect">
            <a:avLst>
              <a:gd name="adj" fmla="val 10000"/>
            </a:avLst>
          </a:prstGeom>
          <a:solidFill>
            <a:srgbClr val="CCFBF1"/>
          </a:solidFill>
          <a:ln/>
        </p:spPr>
        <p:txBody>
          <a:bodyPr/>
          <a:lstStyle/>
          <a:p>
            <a:endParaRPr lang="en-US"/>
          </a:p>
        </p:txBody>
      </p:sp>
      <p:sp>
        <p:nvSpPr>
          <p:cNvPr id="16" name="Text 16"/>
          <p:cNvSpPr/>
          <p:nvPr/>
        </p:nvSpPr>
        <p:spPr>
          <a:xfrm>
            <a:off x="731520" y="5135880"/>
            <a:ext cx="10728960" cy="594360"/>
          </a:xfrm>
          <a:prstGeom prst="rect">
            <a:avLst/>
          </a:prstGeom>
          <a:noFill/>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Probability = the modulus squared of the probability amplitude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Measurement as Projection</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Figure card"/>
          <p:cNvSpPr/>
          <p:nvPr/>
        </p:nvSpPr>
        <p:spPr>
          <a:xfrm>
            <a:off x="731520" y="1737360"/>
            <a:ext cx="6248400" cy="29718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5" name="Illustration"/>
          <p:cNvPicPr>
            <a:picLocks noChangeAspect="1"/>
          </p:cNvPicPr>
          <p:nvPr/>
        </p:nvPicPr>
        <p:blipFill>
          <a:blip r:embed="rId3"/>
          <a:stretch>
            <a:fillRect/>
          </a:stretch>
        </p:blipFill>
        <p:spPr>
          <a:xfrm>
            <a:off x="1518354" y="1874520"/>
            <a:ext cx="4674732" cy="2697480"/>
          </a:xfrm>
          <a:prstGeom prst="rect">
            <a:avLst/>
          </a:prstGeom>
        </p:spPr>
      </p:pic>
      <p:sp>
        <p:nvSpPr>
          <p:cNvPr id="6" name="Text 6"/>
          <p:cNvSpPr/>
          <p:nvPr/>
        </p:nvSpPr>
        <p:spPr>
          <a:xfrm>
            <a:off x="731520" y="4760400"/>
            <a:ext cx="6248400" cy="320040"/>
          </a:xfrm>
          <a:prstGeom prst="rect">
            <a:avLst/>
          </a:prstGeom>
          <a:noFill/>
          <a:ln/>
        </p:spPr>
        <p:txBody>
          <a:bodyPr wrap="square" lIns="45720" tIns="0" rIns="45720" bIns="0" rtlCol="0" anchor="ctr"/>
          <a:lstStyle/>
          <a:p>
            <a:pPr marL="0" indent="0" algn="ctr">
              <a:buNone/>
            </a:pPr>
            <a:r>
              <a:rPr lang="en-US" sz="1250" i="1">
                <a:solidFill>
                  <a:srgbClr val="475569"/>
                </a:solidFill>
                <a:latin typeface="Calibri" pitchFamily="34" charset="0"/>
                <a:ea typeface="Calibri" pitchFamily="34" charset="-122"/>
                <a:cs typeface="Calibri" pitchFamily="34" charset="-120"/>
              </a:rPr>
              <a:t>The state vector projected onto the </a:t>
            </a:r>
            <a:r>
              <a:rPr lang="en-US" sz="1250" i="1">
                <a:solidFill>
                  <a:srgbClr val="3730A3"/>
                </a:solidFill>
                <a:latin typeface="Cambria Math" pitchFamily="34" charset="0"/>
                <a:ea typeface="Cambria Math" pitchFamily="34" charset="-122"/>
                <a:cs typeface="Cambria Math" pitchFamily="34" charset="-120"/>
              </a:rPr>
              <a:t>|0⟩</a:t>
            </a:r>
            <a:r>
              <a:rPr lang="en-US" sz="1250" i="1">
                <a:solidFill>
                  <a:srgbClr val="475569"/>
                </a:solidFill>
                <a:latin typeface="Calibri" pitchFamily="34" charset="0"/>
                <a:ea typeface="Calibri" pitchFamily="34" charset="-122"/>
                <a:cs typeface="Calibri" pitchFamily="34" charset="-120"/>
              </a:rPr>
              <a:t> axis</a:t>
            </a:r>
          </a:p>
        </p:txBody>
      </p:sp>
      <p:sp>
        <p:nvSpPr>
          <p:cNvPr id="7" name="Text 7"/>
          <p:cNvSpPr/>
          <p:nvPr/>
        </p:nvSpPr>
        <p:spPr>
          <a:xfrm>
            <a:off x="7132320" y="1737360"/>
            <a:ext cx="432816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Probability</a:t>
            </a:r>
          </a:p>
        </p:txBody>
      </p:sp>
      <p:sp>
        <p:nvSpPr>
          <p:cNvPr id="8" name="band"/>
          <p:cNvSpPr/>
          <p:nvPr/>
        </p:nvSpPr>
        <p:spPr>
          <a:xfrm>
            <a:off x="7132320" y="2057400"/>
            <a:ext cx="4328160" cy="868680"/>
          </a:xfrm>
          <a:prstGeom prst="roundRect">
            <a:avLst>
              <a:gd name="adj" fmla="val 4000"/>
            </a:avLst>
          </a:prstGeom>
          <a:solidFill>
            <a:srgbClr val="EEF2FF"/>
          </a:solidFill>
          <a:ln/>
        </p:spPr>
        <p:txBody>
          <a:bodyPr/>
          <a:lstStyle/>
          <a:p>
            <a:endParaRPr lang="en-US"/>
          </a:p>
        </p:txBody>
      </p:sp>
      <p:sp>
        <p:nvSpPr>
          <p:cNvPr id="9" name="Text 9"/>
          <p:cNvSpPr/>
          <p:nvPr/>
        </p:nvSpPr>
        <p:spPr>
          <a:xfrm>
            <a:off x="7132320" y="2057400"/>
            <a:ext cx="4328160" cy="868680"/>
          </a:xfrm>
          <a:prstGeom prst="rect">
            <a:avLst/>
          </a:prstGeom>
          <a:noFill/>
          <a:ln/>
        </p:spPr>
        <p:txBody>
          <a:bodyPr wrap="square" lIns="45720" tIns="0" rIns="45720" bIns="0" rtlCol="0" anchor="ctr"/>
          <a:lstStyle/>
          <a:p>
            <a:pPr marL="0" indent="0" algn="ctr">
              <a:buNone/>
            </a:pPr>
            <a:r>
              <a:rPr lang="en-US" sz="2200">
                <a:solidFill>
                  <a:srgbClr val="3730A3"/>
                </a:solidFill>
                <a:latin typeface="Cambria Math" pitchFamily="34" charset="0"/>
                <a:ea typeface="Cambria Math" pitchFamily="34" charset="-122"/>
                <a:cs typeface="Cambria Math" pitchFamily="34" charset="-120"/>
              </a:rPr>
              <a:t>P(0) = |⟨0|ψ⟩|²</a:t>
            </a:r>
          </a:p>
        </p:txBody>
      </p:sp>
      <p:sp>
        <p:nvSpPr>
          <p:cNvPr id="10" name="band"/>
          <p:cNvSpPr/>
          <p:nvPr/>
        </p:nvSpPr>
        <p:spPr>
          <a:xfrm>
            <a:off x="7132320" y="3200400"/>
            <a:ext cx="4328160" cy="457200"/>
          </a:xfrm>
          <a:prstGeom prst="roundRect">
            <a:avLst>
              <a:gd name="adj" fmla="val 8000"/>
            </a:avLst>
          </a:prstGeom>
          <a:solidFill>
            <a:srgbClr val="FFFFFF"/>
          </a:solidFill>
          <a:ln w="15875">
            <a:solidFill>
              <a:srgbClr val="D1D5DB"/>
            </a:solidFill>
            <a:prstDash val="solid"/>
          </a:ln>
        </p:spPr>
        <p:txBody>
          <a:bodyPr/>
          <a:lstStyle/>
          <a:p>
            <a:endParaRPr lang="en-US"/>
          </a:p>
        </p:txBody>
      </p:sp>
      <p:sp>
        <p:nvSpPr>
          <p:cNvPr id="11" name="Text 11"/>
          <p:cNvSpPr/>
          <p:nvPr/>
        </p:nvSpPr>
        <p:spPr>
          <a:xfrm>
            <a:off x="7360920" y="3200400"/>
            <a:ext cx="4008160" cy="457200"/>
          </a:xfrm>
          <a:prstGeom prst="rect">
            <a:avLst/>
          </a:prstGeom>
          <a:noFill/>
          <a:ln/>
        </p:spPr>
        <p:txBody>
          <a:bodyPr wrap="square" lIns="45720" tIns="0" rIns="45720" bIns="0" rtlCol="0" anchor="ctr"/>
          <a:lstStyle/>
          <a:p>
            <a:pPr marL="0" indent="0" algn="l">
              <a:buNone/>
            </a:pPr>
            <a:r>
              <a:rPr lang="en-US" sz="1400" b="1">
                <a:solidFill>
                  <a:srgbClr val="3730A3"/>
                </a:solidFill>
                <a:latin typeface="Calibri" pitchFamily="34" charset="0"/>
                <a:ea typeface="Calibri" pitchFamily="34" charset="-122"/>
                <a:cs typeface="Calibri" pitchFamily="34" charset="-120"/>
              </a:rPr>
              <a:t>1  </a:t>
            </a:r>
            <a:r>
              <a:rPr lang="en-US" sz="1350">
                <a:solidFill>
                  <a:srgbClr val="1F2937"/>
                </a:solidFill>
                <a:latin typeface="Calibri" pitchFamily="34" charset="0"/>
                <a:ea typeface="Calibri" pitchFamily="34" charset="-122"/>
                <a:cs typeface="Calibri" pitchFamily="34" charset="-120"/>
              </a:rPr>
              <a:t>Project the state onto |0⟩</a:t>
            </a:r>
          </a:p>
        </p:txBody>
      </p:sp>
      <p:sp>
        <p:nvSpPr>
          <p:cNvPr id="12" name="band"/>
          <p:cNvSpPr/>
          <p:nvPr/>
        </p:nvSpPr>
        <p:spPr>
          <a:xfrm>
            <a:off x="7132320" y="3794760"/>
            <a:ext cx="4328160" cy="457200"/>
          </a:xfrm>
          <a:prstGeom prst="roundRect">
            <a:avLst>
              <a:gd name="adj" fmla="val 8000"/>
            </a:avLst>
          </a:prstGeom>
          <a:solidFill>
            <a:srgbClr val="FFFFFF"/>
          </a:solidFill>
          <a:ln w="15875">
            <a:solidFill>
              <a:srgbClr val="D1D5DB"/>
            </a:solidFill>
            <a:prstDash val="solid"/>
          </a:ln>
        </p:spPr>
        <p:txBody>
          <a:bodyPr/>
          <a:lstStyle/>
          <a:p>
            <a:endParaRPr lang="en-US"/>
          </a:p>
        </p:txBody>
      </p:sp>
      <p:sp>
        <p:nvSpPr>
          <p:cNvPr id="13" name="Text 13"/>
          <p:cNvSpPr/>
          <p:nvPr/>
        </p:nvSpPr>
        <p:spPr>
          <a:xfrm>
            <a:off x="7360920" y="3794760"/>
            <a:ext cx="4008160" cy="457200"/>
          </a:xfrm>
          <a:prstGeom prst="rect">
            <a:avLst/>
          </a:prstGeom>
          <a:noFill/>
          <a:ln/>
        </p:spPr>
        <p:txBody>
          <a:bodyPr wrap="square" lIns="45720" tIns="0" rIns="45720" bIns="0" rtlCol="0" anchor="ctr"/>
          <a:lstStyle/>
          <a:p>
            <a:pPr marL="0" indent="0" algn="l">
              <a:buNone/>
            </a:pPr>
            <a:r>
              <a:rPr lang="en-US" sz="1400" b="1">
                <a:solidFill>
                  <a:srgbClr val="0D9488"/>
                </a:solidFill>
                <a:latin typeface="Calibri" pitchFamily="34" charset="0"/>
                <a:ea typeface="Calibri" pitchFamily="34" charset="-122"/>
                <a:cs typeface="Calibri" pitchFamily="34" charset="-120"/>
              </a:rPr>
              <a:t>2  </a:t>
            </a:r>
            <a:r>
              <a:rPr lang="en-US" sz="1350">
                <a:solidFill>
                  <a:srgbClr val="1F2937"/>
                </a:solidFill>
                <a:latin typeface="Calibri" pitchFamily="34" charset="0"/>
                <a:ea typeface="Calibri" pitchFamily="34" charset="-122"/>
                <a:cs typeface="Calibri" pitchFamily="34" charset="-120"/>
              </a:rPr>
              <a:t>The projection length is the amplitude ⟨0|ψ⟩</a:t>
            </a:r>
          </a:p>
        </p:txBody>
      </p:sp>
      <p:sp>
        <p:nvSpPr>
          <p:cNvPr id="14" name="band"/>
          <p:cNvSpPr/>
          <p:nvPr/>
        </p:nvSpPr>
        <p:spPr>
          <a:xfrm>
            <a:off x="7132320" y="4389120"/>
            <a:ext cx="4328160" cy="457200"/>
          </a:xfrm>
          <a:prstGeom prst="roundRect">
            <a:avLst>
              <a:gd name="adj" fmla="val 8000"/>
            </a:avLst>
          </a:prstGeom>
          <a:solidFill>
            <a:srgbClr val="FFFFFF"/>
          </a:solidFill>
          <a:ln w="15875">
            <a:solidFill>
              <a:srgbClr val="D1D5DB"/>
            </a:solidFill>
            <a:prstDash val="solid"/>
          </a:ln>
        </p:spPr>
        <p:txBody>
          <a:bodyPr/>
          <a:lstStyle/>
          <a:p>
            <a:endParaRPr lang="en-US"/>
          </a:p>
        </p:txBody>
      </p:sp>
      <p:sp>
        <p:nvSpPr>
          <p:cNvPr id="15" name="Text 15"/>
          <p:cNvSpPr/>
          <p:nvPr/>
        </p:nvSpPr>
        <p:spPr>
          <a:xfrm>
            <a:off x="7360920" y="4389120"/>
            <a:ext cx="4008160" cy="457200"/>
          </a:xfrm>
          <a:prstGeom prst="rect">
            <a:avLst/>
          </a:prstGeom>
          <a:noFill/>
          <a:ln/>
        </p:spPr>
        <p:txBody>
          <a:bodyPr wrap="square" lIns="45720" tIns="0" rIns="45720" bIns="0" rtlCol="0" anchor="ctr"/>
          <a:lstStyle/>
          <a:p>
            <a:pPr marL="0" indent="0" algn="l">
              <a:buNone/>
            </a:pPr>
            <a:r>
              <a:rPr lang="en-US" sz="1400" b="1">
                <a:solidFill>
                  <a:srgbClr val="3730A3"/>
                </a:solidFill>
                <a:latin typeface="Calibri" pitchFamily="34" charset="0"/>
                <a:ea typeface="Calibri" pitchFamily="34" charset="-122"/>
                <a:cs typeface="Calibri" pitchFamily="34" charset="-120"/>
              </a:rPr>
              <a:t>3  </a:t>
            </a:r>
            <a:r>
              <a:rPr lang="en-US" sz="1350">
                <a:solidFill>
                  <a:srgbClr val="1F2937"/>
                </a:solidFill>
                <a:latin typeface="Calibri" pitchFamily="34" charset="0"/>
                <a:ea typeface="Calibri" pitchFamily="34" charset="-122"/>
                <a:cs typeface="Calibri" pitchFamily="34" charset="-120"/>
              </a:rPr>
              <a:t>Square its modulus to get the probability</a:t>
            </a:r>
          </a:p>
        </p:txBody>
      </p:sp>
      <p:sp>
        <p:nvSpPr>
          <p:cNvPr id="16" name="Text 16"/>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Measurement is mathematically a projection onto a basis state.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Deriving Measurement Probability</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002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Start with</a:t>
            </a:r>
          </a:p>
        </p:txBody>
      </p:sp>
      <p:sp>
        <p:nvSpPr>
          <p:cNvPr id="5" name="band"/>
          <p:cNvSpPr/>
          <p:nvPr/>
        </p:nvSpPr>
        <p:spPr>
          <a:xfrm>
            <a:off x="731520" y="1920240"/>
            <a:ext cx="5029200" cy="82296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20240"/>
            <a:ext cx="5029200" cy="822960"/>
          </a:xfrm>
          <a:prstGeom prst="rect">
            <a:avLst/>
          </a:prstGeom>
          <a:noFill/>
          <a:ln/>
        </p:spPr>
        <p:txBody>
          <a:bodyPr wrap="square" lIns="45720" tIns="0" rIns="45720" bIns="0" rtlCol="0" anchor="ctr"/>
          <a:lstStyle/>
          <a:p>
            <a:pPr marL="0" indent="0" algn="ctr">
              <a:buNone/>
            </a:pPr>
            <a:r>
              <a:rPr lang="en-US" sz="2000">
                <a:solidFill>
                  <a:srgbClr val="1F2937"/>
                </a:solidFill>
                <a:latin typeface="Cambria Math" pitchFamily="34" charset="0"/>
                <a:ea typeface="Cambria Math" pitchFamily="34" charset="-122"/>
                <a:cs typeface="Cambria Math" pitchFamily="34" charset="-120"/>
              </a:rPr>
              <a:t>|ψ⟩ = α|0⟩ + β|1⟩</a:t>
            </a:r>
          </a:p>
        </p:txBody>
      </p:sp>
      <p:sp>
        <p:nvSpPr>
          <p:cNvPr id="7" name="Text 7"/>
          <p:cNvSpPr/>
          <p:nvPr/>
        </p:nvSpPr>
        <p:spPr>
          <a:xfrm>
            <a:off x="731520" y="28956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Compute the amplitude  ⟨0|ψ⟩</a:t>
            </a:r>
          </a:p>
        </p:txBody>
      </p:sp>
      <p:sp>
        <p:nvSpPr>
          <p:cNvPr id="8" name="Derivation card"/>
          <p:cNvSpPr/>
          <p:nvPr/>
        </p:nvSpPr>
        <p:spPr>
          <a:xfrm>
            <a:off x="731520" y="3215640"/>
            <a:ext cx="5029200" cy="150876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9" name="Text 9"/>
          <p:cNvSpPr/>
          <p:nvPr/>
        </p:nvSpPr>
        <p:spPr>
          <a:xfrm>
            <a:off x="960120" y="3215640"/>
            <a:ext cx="4572000" cy="1508760"/>
          </a:xfrm>
          <a:prstGeom prst="rect">
            <a:avLst/>
          </a:prstGeom>
          <a:noFill/>
          <a:ln/>
        </p:spPr>
        <p:txBody>
          <a:bodyPr wrap="square" lIns="45720" tIns="0" rIns="45720" bIns="0" rtlCol="0" anchor="ctr"/>
          <a:lstStyle/>
          <a:p>
            <a:pPr marL="0" indent="0" algn="l">
              <a:lnSpc>
                <a:spcPct val="150000"/>
              </a:lnSpc>
              <a:buNone/>
            </a:pPr>
            <a:r>
              <a:rPr lang="en-US" sz="1800">
                <a:solidFill>
                  <a:srgbClr val="1F2937"/>
                </a:solidFill>
                <a:latin typeface="Cambria Math" pitchFamily="34" charset="0"/>
                <a:ea typeface="Cambria Math" pitchFamily="34" charset="-122"/>
                <a:cs typeface="Cambria Math" pitchFamily="34" charset="-120"/>
              </a:rPr>
              <a:t>= α⟨0|0⟩ + β⟨0|1⟩</a:t>
            </a:r>
          </a:p>
          <a:p>
            <a:pPr marL="0" indent="0" algn="l">
              <a:lnSpc>
                <a:spcPct val="150000"/>
              </a:lnSpc>
              <a:buNone/>
            </a:pPr>
            <a:r>
              <a:rPr lang="en-US" sz="1800" b="1">
                <a:solidFill>
                  <a:srgbClr val="0D9488"/>
                </a:solidFill>
                <a:latin typeface="Cambria Math" pitchFamily="34" charset="0"/>
                <a:ea typeface="Cambria Math" pitchFamily="34" charset="-122"/>
                <a:cs typeface="Cambria Math" pitchFamily="34" charset="-120"/>
              </a:rPr>
              <a:t>= α</a:t>
            </a:r>
          </a:p>
        </p:txBody>
      </p:sp>
      <p:sp>
        <p:nvSpPr>
          <p:cNvPr id="10" name="Text 10"/>
          <p:cNvSpPr/>
          <p:nvPr/>
        </p:nvSpPr>
        <p:spPr>
          <a:xfrm>
            <a:off x="731520" y="484632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Probability</a:t>
            </a:r>
          </a:p>
        </p:txBody>
      </p:sp>
      <p:sp>
        <p:nvSpPr>
          <p:cNvPr id="11" name="band"/>
          <p:cNvSpPr/>
          <p:nvPr/>
        </p:nvSpPr>
        <p:spPr>
          <a:xfrm>
            <a:off x="731520" y="5135880"/>
            <a:ext cx="5029200" cy="594360"/>
          </a:xfrm>
          <a:prstGeom prst="roundRect">
            <a:avLst>
              <a:gd name="adj" fmla="val 10000"/>
            </a:avLst>
          </a:prstGeom>
          <a:solidFill>
            <a:srgbClr val="CCFBF1"/>
          </a:solidFill>
          <a:ln/>
        </p:spPr>
        <p:txBody>
          <a:bodyPr/>
          <a:lstStyle/>
          <a:p>
            <a:endParaRPr lang="en-US"/>
          </a:p>
        </p:txBody>
      </p:sp>
      <p:sp>
        <p:nvSpPr>
          <p:cNvPr id="12" name="Text 12"/>
          <p:cNvSpPr/>
          <p:nvPr/>
        </p:nvSpPr>
        <p:spPr>
          <a:xfrm>
            <a:off x="731520" y="5135880"/>
            <a:ext cx="5029200" cy="594360"/>
          </a:xfrm>
          <a:prstGeom prst="rect">
            <a:avLst/>
          </a:prstGeom>
          <a:noFill/>
          <a:ln/>
        </p:spPr>
        <p:txBody>
          <a:bodyPr wrap="square" lIns="45720" tIns="0" rIns="45720" bIns="0" rtlCol="0" anchor="ctr"/>
          <a:lstStyle/>
          <a:p>
            <a:pPr marL="0" indent="0" algn="ctr">
              <a:buNone/>
            </a:pPr>
            <a:r>
              <a:rPr lang="en-US" sz="1900" b="1">
                <a:solidFill>
                  <a:srgbClr val="0D9488"/>
                </a:solidFill>
                <a:latin typeface="Cambria Math" pitchFamily="34" charset="0"/>
                <a:ea typeface="Cambria Math" pitchFamily="34" charset="-122"/>
                <a:cs typeface="Cambria Math" pitchFamily="34" charset="-120"/>
              </a:rPr>
              <a:t>P(0) = |α|²</a:t>
            </a:r>
          </a:p>
        </p:txBody>
      </p:sp>
      <p:sp>
        <p:nvSpPr>
          <p:cNvPr id="13" name="Highlight card"/>
          <p:cNvSpPr/>
          <p:nvPr/>
        </p:nvSpPr>
        <p:spPr>
          <a:xfrm>
            <a:off x="6400800" y="1737360"/>
            <a:ext cx="5059680" cy="2971800"/>
          </a:xfrm>
          <a:prstGeom prst="roundRect">
            <a:avLst>
              <a:gd name="adj" fmla="val 4500"/>
            </a:avLst>
          </a:prstGeom>
          <a:solidFill>
            <a:srgbClr val="EEF2FF"/>
          </a:solidFill>
          <a:ln/>
        </p:spPr>
        <p:txBody>
          <a:bodyPr/>
          <a:lstStyle/>
          <a:p>
            <a:endParaRPr lang="en-US"/>
          </a:p>
        </p:txBody>
      </p:sp>
      <p:sp>
        <p:nvSpPr>
          <p:cNvPr id="14" name="Text 14"/>
          <p:cNvSpPr/>
          <p:nvPr/>
        </p:nvSpPr>
        <p:spPr>
          <a:xfrm>
            <a:off x="6720840" y="1920240"/>
            <a:ext cx="4419600" cy="600000"/>
          </a:xfrm>
          <a:prstGeom prst="rect">
            <a:avLst/>
          </a:prstGeom>
          <a:noFill/>
          <a:ln/>
        </p:spPr>
        <p:txBody>
          <a:bodyPr wrap="square" lIns="45720" tIns="0" rIns="45720" bIns="0" rtlCol="0" anchor="t"/>
          <a:lstStyle/>
          <a:p>
            <a:pPr marL="0" indent="0" algn="l">
              <a:buNone/>
            </a:pPr>
            <a:r>
              <a:rPr lang="en-US" sz="1700" b="1">
                <a:solidFill>
                  <a:srgbClr val="3730A3"/>
                </a:solidFill>
                <a:latin typeface="Calibri" pitchFamily="34" charset="0"/>
                <a:ea typeface="Calibri" pitchFamily="34" charset="-122"/>
                <a:cs typeface="Calibri" pitchFamily="34" charset="-120"/>
              </a:rPr>
              <a:t>Orthogonality removes one term</a:t>
            </a:r>
          </a:p>
        </p:txBody>
      </p:sp>
      <p:sp>
        <p:nvSpPr>
          <p:cNvPr id="15" name="band"/>
          <p:cNvSpPr/>
          <p:nvPr/>
        </p:nvSpPr>
        <p:spPr>
          <a:xfrm>
            <a:off x="6720840" y="2743200"/>
            <a:ext cx="4419600" cy="685800"/>
          </a:xfrm>
          <a:prstGeom prst="roundRect">
            <a:avLst>
              <a:gd name="adj" fmla="val 10000"/>
            </a:avLst>
          </a:prstGeom>
          <a:solidFill>
            <a:srgbClr val="FFFFFF"/>
          </a:solidFill>
          <a:ln/>
        </p:spPr>
        <p:txBody>
          <a:bodyPr/>
          <a:lstStyle/>
          <a:p>
            <a:endParaRPr lang="en-US"/>
          </a:p>
        </p:txBody>
      </p:sp>
      <p:sp>
        <p:nvSpPr>
          <p:cNvPr id="16" name="Text 16"/>
          <p:cNvSpPr/>
          <p:nvPr/>
        </p:nvSpPr>
        <p:spPr>
          <a:xfrm>
            <a:off x="6720840" y="2743200"/>
            <a:ext cx="4419600" cy="685800"/>
          </a:xfrm>
          <a:prstGeom prst="rect">
            <a:avLst/>
          </a:prstGeom>
          <a:noFill/>
          <a:ln/>
        </p:spPr>
        <p:txBody>
          <a:bodyPr wrap="square" lIns="45720" tIns="0" rIns="45720" bIns="0" rtlCol="0" anchor="ctr"/>
          <a:lstStyle/>
          <a:p>
            <a:pPr marL="0" indent="0" algn="ctr">
              <a:buNone/>
            </a:pPr>
            <a:r>
              <a:rPr lang="en-US" sz="1900">
                <a:solidFill>
                  <a:srgbClr val="1F2937"/>
                </a:solidFill>
                <a:latin typeface="Cambria Math" pitchFamily="34" charset="0"/>
                <a:ea typeface="Cambria Math" pitchFamily="34" charset="-122"/>
                <a:cs typeface="Cambria Math" pitchFamily="34" charset="-120"/>
              </a:rPr>
              <a:t>⟨0|0⟩ = </a:t>
            </a:r>
            <a:r>
              <a:rPr lang="en-US" sz="1900" b="1">
                <a:solidFill>
                  <a:srgbClr val="0D9488"/>
                </a:solidFill>
                <a:latin typeface="Cambria Math" pitchFamily="34" charset="0"/>
                <a:ea typeface="Cambria Math" pitchFamily="34" charset="-122"/>
                <a:cs typeface="Cambria Math" pitchFamily="34" charset="-120"/>
              </a:rPr>
              <a:t>1</a:t>
            </a:r>
          </a:p>
        </p:txBody>
      </p:sp>
      <p:sp>
        <p:nvSpPr>
          <p:cNvPr id="17" name="band"/>
          <p:cNvSpPr/>
          <p:nvPr/>
        </p:nvSpPr>
        <p:spPr>
          <a:xfrm>
            <a:off x="6720840" y="3566160"/>
            <a:ext cx="4419600" cy="685800"/>
          </a:xfrm>
          <a:prstGeom prst="roundRect">
            <a:avLst>
              <a:gd name="adj" fmla="val 10000"/>
            </a:avLst>
          </a:prstGeom>
          <a:solidFill>
            <a:srgbClr val="FFFFFF"/>
          </a:solidFill>
          <a:ln/>
        </p:spPr>
        <p:txBody>
          <a:bodyPr/>
          <a:lstStyle/>
          <a:p>
            <a:endParaRPr lang="en-US"/>
          </a:p>
        </p:txBody>
      </p:sp>
      <p:sp>
        <p:nvSpPr>
          <p:cNvPr id="18" name="Text 18"/>
          <p:cNvSpPr/>
          <p:nvPr/>
        </p:nvSpPr>
        <p:spPr>
          <a:xfrm>
            <a:off x="6720840" y="3566160"/>
            <a:ext cx="4419600" cy="685800"/>
          </a:xfrm>
          <a:prstGeom prst="rect">
            <a:avLst/>
          </a:prstGeom>
          <a:noFill/>
          <a:ln/>
        </p:spPr>
        <p:txBody>
          <a:bodyPr wrap="square" lIns="45720" tIns="0" rIns="45720" bIns="0" rtlCol="0" anchor="ctr"/>
          <a:lstStyle/>
          <a:p>
            <a:pPr marL="0" indent="0" algn="ctr">
              <a:buNone/>
            </a:pPr>
            <a:r>
              <a:rPr lang="en-US" sz="1900">
                <a:solidFill>
                  <a:srgbClr val="1F2937"/>
                </a:solidFill>
                <a:latin typeface="Cambria Math" pitchFamily="34" charset="0"/>
                <a:ea typeface="Cambria Math" pitchFamily="34" charset="-122"/>
                <a:cs typeface="Cambria Math" pitchFamily="34" charset="-120"/>
              </a:rPr>
              <a:t>⟨0|1⟩ = </a:t>
            </a:r>
            <a:r>
              <a:rPr lang="en-US" sz="1900" b="1">
                <a:solidFill>
                  <a:srgbClr val="3730A3"/>
                </a:solidFill>
                <a:latin typeface="Cambria Math" pitchFamily="34" charset="0"/>
                <a:ea typeface="Cambria Math" pitchFamily="34" charset="-122"/>
                <a:cs typeface="Cambria Math" pitchFamily="34" charset="-120"/>
              </a:rPr>
              <a:t>0</a:t>
            </a:r>
          </a:p>
        </p:txBody>
      </p:sp>
      <p:sp>
        <p:nvSpPr>
          <p:cNvPr id="19" name="Text 19"/>
          <p:cNvSpPr/>
          <p:nvPr/>
        </p:nvSpPr>
        <p:spPr>
          <a:xfrm>
            <a:off x="6720840" y="4297680"/>
            <a:ext cx="4419600" cy="320040"/>
          </a:xfrm>
          <a:prstGeom prst="rect">
            <a:avLst/>
          </a:prstGeom>
          <a:noFill/>
          <a:ln/>
        </p:spPr>
        <p:txBody>
          <a:bodyPr wrap="square" lIns="45720" tIns="0" rIns="45720" bIns="0" rtlCol="0" anchor="ctr"/>
          <a:lstStyle/>
          <a:p>
            <a:pPr marL="0" indent="0" algn="l">
              <a:buNone/>
            </a:pPr>
            <a:r>
              <a:rPr lang="en-US" sz="1300" i="1">
                <a:solidFill>
                  <a:srgbClr val="475569"/>
                </a:solidFill>
                <a:latin typeface="Calibri" pitchFamily="34" charset="0"/>
                <a:ea typeface="Calibri" pitchFamily="34" charset="-122"/>
                <a:cs typeface="Calibri" pitchFamily="34" charset="-120"/>
              </a:rPr>
              <a:t>The β term vanishes, leaving only α.</a:t>
            </a:r>
          </a:p>
        </p:txBody>
      </p:sp>
      <p:sp>
        <p:nvSpPr>
          <p:cNvPr id="20" name="Text 20"/>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Orthogonality of basis states is what makes measurement probabilities clean.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Complete Measurement in the Computational Basis</a:t>
            </a:r>
            <a:endParaRPr lang="en-US" sz="22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4592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Measurement outcomes</a:t>
            </a:r>
          </a:p>
        </p:txBody>
      </p:sp>
      <p:graphicFrame>
        <p:nvGraphicFramePr>
          <p:cNvPr id="5" name="Measurement table"/>
          <p:cNvGraphicFramePr>
            <a:graphicFrameLocks noGrp="1"/>
          </p:cNvGraphicFramePr>
          <p:nvPr>
            <p:extLst>
              <p:ext uri="{D42A27DB-BD31-4B8C-83A1-F6EECF244321}">
                <p14:modId xmlns:p14="http://schemas.microsoft.com/office/powerpoint/2010/main" val="2750497451"/>
              </p:ext>
            </p:extLst>
          </p:nvPr>
        </p:nvGraphicFramePr>
        <p:xfrm>
          <a:off x="731520" y="1965960"/>
          <a:ext cx="4663440" cy="178308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594360">
                <a:tc>
                  <a:txBody>
                    <a:bodyPr/>
                    <a:lstStyle/>
                    <a:p>
                      <a:pPr algn="ctr"/>
                      <a:r>
                        <a:rPr lang="en-US" sz="1500" b="1" dirty="0">
                          <a:solidFill>
                            <a:srgbClr val="FFFFFF"/>
                          </a:solidFill>
                          <a:latin typeface="Calibri" pitchFamily="34" charset="0"/>
                          <a:ea typeface="Calibri" pitchFamily="34" charset="-122"/>
                          <a:cs typeface="Calibri" pitchFamily="34" charset="-120"/>
                        </a:rPr>
                        <a:t>Outcome</a:t>
                      </a:r>
                    </a:p>
                  </a:txBody>
                  <a:tcPr marL="45720" marR="45720" marT="27432" marB="27432" anchor="ctr">
                    <a:solidFill>
                      <a:srgbClr val="3730A3"/>
                    </a:solidFill>
                  </a:tcPr>
                </a:tc>
                <a:tc>
                  <a:txBody>
                    <a:bodyPr/>
                    <a:lstStyle/>
                    <a:p>
                      <a:pPr algn="ctr"/>
                      <a:r>
                        <a:rPr lang="en-US" sz="1500" b="1" dirty="0">
                          <a:solidFill>
                            <a:srgbClr val="FFFFFF"/>
                          </a:solidFill>
                          <a:latin typeface="Calibri" pitchFamily="34" charset="0"/>
                          <a:ea typeface="Calibri" pitchFamily="34" charset="-122"/>
                          <a:cs typeface="Calibri" pitchFamily="34" charset="-120"/>
                        </a:rPr>
                        <a:t>Probability</a:t>
                      </a:r>
                    </a:p>
                  </a:txBody>
                  <a:tcPr marL="45720" marR="45720" marT="27432" marB="27432" anchor="ctr">
                    <a:solidFill>
                      <a:srgbClr val="3730A3"/>
                    </a:solidFill>
                  </a:tcPr>
                </a:tc>
                <a:extLst>
                  <a:ext uri="{0D108BD9-81ED-4DB2-BD59-A6C34878D82A}">
                    <a16:rowId xmlns:a16="http://schemas.microsoft.com/office/drawing/2014/main" val="10000"/>
                  </a:ext>
                </a:extLst>
              </a:tr>
              <a:tr h="594360">
                <a:tc>
                  <a:txBody>
                    <a:bodyPr/>
                    <a:lstStyle/>
                    <a:p>
                      <a:pPr algn="ctr"/>
                      <a:r>
                        <a:rPr lang="en-US" sz="1800" b="1" dirty="0">
                          <a:solidFill>
                            <a:srgbClr val="1F2937"/>
                          </a:solidFill>
                          <a:latin typeface="Cambria Math" pitchFamily="34" charset="0"/>
                          <a:ea typeface="Cambria Math" pitchFamily="34" charset="-122"/>
                          <a:cs typeface="Cambria Math" pitchFamily="34" charset="-120"/>
                        </a:rPr>
                        <a:t>|0⟩</a:t>
                      </a:r>
                    </a:p>
                  </a:txBody>
                  <a:tcPr marL="45720" marR="45720" marT="27432" marB="27432" anchor="ctr">
                    <a:solidFill>
                      <a:srgbClr val="FFFFFF"/>
                    </a:solidFill>
                  </a:tcPr>
                </a:tc>
                <a:tc>
                  <a:txBody>
                    <a:bodyPr/>
                    <a:lstStyle/>
                    <a:p>
                      <a:pPr algn="ctr"/>
                      <a:r>
                        <a:rPr lang="en-US" sz="1800" b="1" dirty="0">
                          <a:solidFill>
                            <a:srgbClr val="3730A3"/>
                          </a:solidFill>
                          <a:latin typeface="Cambria Math" pitchFamily="34" charset="0"/>
                          <a:ea typeface="Cambria Math" pitchFamily="34" charset="-122"/>
                          <a:cs typeface="Cambria Math" pitchFamily="34" charset="-120"/>
                        </a:rPr>
                        <a:t>|α|²</a:t>
                      </a:r>
                    </a:p>
                  </a:txBody>
                  <a:tcPr marL="45720" marR="45720" marT="27432" marB="27432" anchor="ctr">
                    <a:solidFill>
                      <a:srgbClr val="EEF2FF"/>
                    </a:solidFill>
                  </a:tcPr>
                </a:tc>
                <a:extLst>
                  <a:ext uri="{0D108BD9-81ED-4DB2-BD59-A6C34878D82A}">
                    <a16:rowId xmlns:a16="http://schemas.microsoft.com/office/drawing/2014/main" val="10001"/>
                  </a:ext>
                </a:extLst>
              </a:tr>
              <a:tr h="594360">
                <a:tc>
                  <a:txBody>
                    <a:bodyPr/>
                    <a:lstStyle/>
                    <a:p>
                      <a:pPr algn="ctr"/>
                      <a:r>
                        <a:rPr lang="en-US" sz="1800" b="1" dirty="0">
                          <a:solidFill>
                            <a:srgbClr val="1F2937"/>
                          </a:solidFill>
                          <a:latin typeface="Cambria Math" pitchFamily="34" charset="0"/>
                          <a:ea typeface="Cambria Math" pitchFamily="34" charset="-122"/>
                          <a:cs typeface="Cambria Math" pitchFamily="34" charset="-120"/>
                        </a:rPr>
                        <a:t>|1⟩</a:t>
                      </a:r>
                    </a:p>
                  </a:txBody>
                  <a:tcPr marL="45720" marR="45720" marT="27432" marB="27432" anchor="ctr">
                    <a:solidFill>
                      <a:srgbClr val="FFFFFF"/>
                    </a:solidFill>
                  </a:tcPr>
                </a:tc>
                <a:tc>
                  <a:txBody>
                    <a:bodyPr/>
                    <a:lstStyle/>
                    <a:p>
                      <a:pPr algn="ctr"/>
                      <a:r>
                        <a:rPr lang="en-US" sz="1800" b="1" dirty="0">
                          <a:solidFill>
                            <a:srgbClr val="0D9488"/>
                          </a:solidFill>
                          <a:latin typeface="Cambria Math" pitchFamily="34" charset="0"/>
                          <a:ea typeface="Cambria Math" pitchFamily="34" charset="-122"/>
                          <a:cs typeface="Cambria Math" pitchFamily="34" charset="-120"/>
                        </a:rPr>
                        <a:t>|β|²</a:t>
                      </a:r>
                    </a:p>
                  </a:txBody>
                  <a:tcPr marL="45720" marR="45720" marT="27432" marB="27432" anchor="ctr">
                    <a:solidFill>
                      <a:srgbClr val="CCFBF1"/>
                    </a:solidFill>
                  </a:tcPr>
                </a:tc>
                <a:extLst>
                  <a:ext uri="{0D108BD9-81ED-4DB2-BD59-A6C34878D82A}">
                    <a16:rowId xmlns:a16="http://schemas.microsoft.com/office/drawing/2014/main" val="10002"/>
                  </a:ext>
                </a:extLst>
              </a:tr>
            </a:tbl>
          </a:graphicData>
        </a:graphic>
      </p:graphicFrame>
      <p:sp>
        <p:nvSpPr>
          <p:cNvPr id="6" name="band"/>
          <p:cNvSpPr/>
          <p:nvPr/>
        </p:nvSpPr>
        <p:spPr>
          <a:xfrm>
            <a:off x="731520" y="3931920"/>
            <a:ext cx="4663440" cy="822960"/>
          </a:xfrm>
          <a:prstGeom prst="roundRect">
            <a:avLst>
              <a:gd name="adj" fmla="val 8000"/>
            </a:avLst>
          </a:prstGeom>
          <a:solidFill>
            <a:srgbClr val="CCFBF1"/>
          </a:solidFill>
          <a:ln/>
        </p:spPr>
        <p:txBody>
          <a:bodyPr/>
          <a:lstStyle/>
          <a:p>
            <a:endParaRPr lang="en-US"/>
          </a:p>
        </p:txBody>
      </p:sp>
      <p:sp>
        <p:nvSpPr>
          <p:cNvPr id="7" name="Text 7"/>
          <p:cNvSpPr/>
          <p:nvPr/>
        </p:nvSpPr>
        <p:spPr>
          <a:xfrm>
            <a:off x="731520" y="3931920"/>
            <a:ext cx="4663440" cy="822960"/>
          </a:xfrm>
          <a:prstGeom prst="rect">
            <a:avLst/>
          </a:prstGeom>
          <a:noFill/>
          <a:ln/>
        </p:spPr>
        <p:txBody>
          <a:bodyPr wrap="square" lIns="45720" tIns="0" rIns="45720" bIns="0" rtlCol="0" anchor="ctr"/>
          <a:lstStyle/>
          <a:p>
            <a:pPr marL="0" indent="0" algn="ctr">
              <a:spcAft>
                <a:spcPts val="300"/>
              </a:spcAft>
              <a:buNone/>
            </a:pPr>
            <a:r>
              <a:rPr lang="en-US" sz="1300" b="1">
                <a:solidFill>
                  <a:srgbClr val="0D9488"/>
                </a:solidFill>
                <a:latin typeface="Calibri" pitchFamily="34" charset="0"/>
                <a:ea typeface="Calibri" pitchFamily="34" charset="-122"/>
                <a:cs typeface="Calibri" pitchFamily="34" charset="-120"/>
              </a:rPr>
              <a:t>Normalization check</a:t>
            </a:r>
          </a:p>
          <a:p>
            <a:pPr marL="0" indent="0" algn="ctr">
              <a:buNone/>
            </a:pPr>
            <a:r>
              <a:rPr lang="en-US" sz="2000">
                <a:solidFill>
                  <a:srgbClr val="1F2937"/>
                </a:solidFill>
                <a:latin typeface="Cambria Math" pitchFamily="34" charset="0"/>
                <a:ea typeface="Cambria Math" pitchFamily="34" charset="-122"/>
                <a:cs typeface="Cambria Math" pitchFamily="34" charset="-120"/>
              </a:rPr>
              <a:t>|α|² + |β|² = 1</a:t>
            </a:r>
          </a:p>
        </p:txBody>
      </p:sp>
      <p:sp>
        <p:nvSpPr>
          <p:cNvPr id="8" name="Figure card"/>
          <p:cNvSpPr/>
          <p:nvPr/>
        </p:nvSpPr>
        <p:spPr>
          <a:xfrm>
            <a:off x="6400800" y="1737360"/>
            <a:ext cx="5059680" cy="30168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9" name="Illustration"/>
          <p:cNvPicPr>
            <a:picLocks noChangeAspect="1"/>
          </p:cNvPicPr>
          <p:nvPr/>
        </p:nvPicPr>
        <p:blipFill>
          <a:blip r:embed="rId3"/>
          <a:stretch>
            <a:fillRect/>
          </a:stretch>
        </p:blipFill>
        <p:spPr>
          <a:xfrm>
            <a:off x="7503179" y="1874520"/>
            <a:ext cx="2854921" cy="2742480"/>
          </a:xfrm>
          <a:prstGeom prst="rect">
            <a:avLst/>
          </a:prstGeom>
        </p:spPr>
      </p:pic>
      <p:sp>
        <p:nvSpPr>
          <p:cNvPr id="10" name="Text 10"/>
          <p:cNvSpPr/>
          <p:nvPr/>
        </p:nvSpPr>
        <p:spPr>
          <a:xfrm>
            <a:off x="6400800" y="4846320"/>
            <a:ext cx="5059680" cy="320040"/>
          </a:xfrm>
          <a:prstGeom prst="rect">
            <a:avLst/>
          </a:prstGeom>
          <a:noFill/>
          <a:ln/>
        </p:spPr>
        <p:txBody>
          <a:bodyPr wrap="square" lIns="45720" tIns="0" rIns="45720" bIns="0" rtlCol="0" anchor="ctr"/>
          <a:lstStyle/>
          <a:p>
            <a:pPr marL="0" indent="0" algn="ctr">
              <a:buNone/>
            </a:pPr>
            <a:r>
              <a:rPr lang="en-US" sz="1300">
                <a:solidFill>
                  <a:srgbClr val="3730A3"/>
                </a:solidFill>
                <a:latin typeface="Calibri" pitchFamily="34" charset="0"/>
                <a:ea typeface="Calibri" pitchFamily="34" charset="-122"/>
                <a:cs typeface="Calibri" pitchFamily="34" charset="-120"/>
              </a:rPr>
              <a:t>■ </a:t>
            </a:r>
            <a:r>
              <a:rPr lang="en-US" sz="1300">
                <a:solidFill>
                  <a:srgbClr val="1F2937"/>
                </a:solidFill>
                <a:latin typeface="Calibri" pitchFamily="34" charset="0"/>
                <a:ea typeface="Calibri" pitchFamily="34" charset="-122"/>
                <a:cs typeface="Calibri" pitchFamily="34" charset="-120"/>
              </a:rPr>
              <a:t>P(0) = |α|²</a:t>
            </a:r>
            <a:r>
              <a:rPr lang="en-US" sz="1300">
                <a:solidFill>
                  <a:srgbClr val="0D9488"/>
                </a:solidFill>
                <a:latin typeface="Calibri" pitchFamily="34" charset="0"/>
                <a:ea typeface="Calibri" pitchFamily="34" charset="-122"/>
                <a:cs typeface="Calibri" pitchFamily="34" charset="-120"/>
              </a:rPr>
              <a:t>     ■ </a:t>
            </a:r>
            <a:r>
              <a:rPr lang="en-US" sz="1300">
                <a:solidFill>
                  <a:srgbClr val="1F2937"/>
                </a:solidFill>
                <a:latin typeface="Calibri" pitchFamily="34" charset="0"/>
                <a:ea typeface="Calibri" pitchFamily="34" charset="-122"/>
                <a:cs typeface="Calibri" pitchFamily="34" charset="-120"/>
              </a:rPr>
              <a:t>P(1) = |β|²</a:t>
            </a:r>
          </a:p>
        </p:txBody>
      </p:sp>
      <p:sp>
        <p:nvSpPr>
          <p:cNvPr id="11" name="Text 11"/>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The probabilities of all outcomes always sum to 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2800" b="1">
                <a:solidFill>
                  <a:srgbClr val="3730A3"/>
                </a:solidFill>
                <a:latin typeface="Calibri" pitchFamily="34" charset="0"/>
                <a:ea typeface="Calibri" pitchFamily="34" charset="-122"/>
                <a:cs typeface="Calibri" pitchFamily="34" charset="-120"/>
              </a:rPr>
              <a:t>Measurement Depends on the Basis</a:t>
            </a:r>
            <a:endParaRPr lang="en-US" sz="28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002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Prepared state</a:t>
            </a:r>
          </a:p>
        </p:txBody>
      </p:sp>
      <p:sp>
        <p:nvSpPr>
          <p:cNvPr id="5" name="band"/>
          <p:cNvSpPr/>
          <p:nvPr/>
        </p:nvSpPr>
        <p:spPr>
          <a:xfrm>
            <a:off x="731520" y="1920240"/>
            <a:ext cx="5029200" cy="82296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20240"/>
            <a:ext cx="5029200" cy="822960"/>
          </a:xfrm>
          <a:prstGeom prst="rect">
            <a:avLst/>
          </a:prstGeom>
          <a:noFill/>
          <a:ln/>
        </p:spPr>
        <p:txBody>
          <a:bodyPr wrap="square" lIns="45720" tIns="0" rIns="45720" bIns="0" rtlCol="0" anchor="ctr"/>
          <a:lstStyle/>
          <a:p>
            <a:pPr marL="0" indent="0" algn="ctr">
              <a:buNone/>
            </a:pPr>
            <a:r>
              <a:rPr lang="en-US" sz="1900">
                <a:solidFill>
                  <a:srgbClr val="3730A3"/>
                </a:solidFill>
                <a:latin typeface="Cambria Math" pitchFamily="34" charset="0"/>
                <a:ea typeface="Cambria Math" pitchFamily="34" charset="-122"/>
                <a:cs typeface="Cambria Math" pitchFamily="34" charset="-120"/>
              </a:rPr>
              <a:t>|+⟩ = ( |0⟩ + |1⟩ ) / √2</a:t>
            </a:r>
          </a:p>
        </p:txBody>
      </p:sp>
      <p:sp>
        <p:nvSpPr>
          <p:cNvPr id="7" name="band"/>
          <p:cNvSpPr/>
          <p:nvPr/>
        </p:nvSpPr>
        <p:spPr>
          <a:xfrm>
            <a:off x="731520" y="2971800"/>
            <a:ext cx="5029200" cy="86868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8" name="Text 8"/>
          <p:cNvSpPr/>
          <p:nvPr/>
        </p:nvSpPr>
        <p:spPr>
          <a:xfrm>
            <a:off x="960120" y="2971800"/>
            <a:ext cx="4572000" cy="868680"/>
          </a:xfrm>
          <a:prstGeom prst="rect">
            <a:avLst/>
          </a:prstGeom>
          <a:noFill/>
          <a:ln/>
        </p:spPr>
        <p:txBody>
          <a:bodyPr wrap="square" lIns="45720" tIns="0" rIns="45720" bIns="0" rtlCol="0" anchor="ctr"/>
          <a:lstStyle/>
          <a:p>
            <a:pPr marL="0" indent="0" algn="l">
              <a:spcAft>
                <a:spcPts val="200"/>
              </a:spcAft>
              <a:buNone/>
            </a:pPr>
            <a:r>
              <a:rPr lang="en-US" sz="1350" b="1">
                <a:solidFill>
                  <a:srgbClr val="3730A3"/>
                </a:solidFill>
                <a:latin typeface="Calibri" pitchFamily="34" charset="0"/>
                <a:ea typeface="Calibri" pitchFamily="34" charset="-122"/>
                <a:cs typeface="Calibri" pitchFamily="34" charset="-120"/>
              </a:rPr>
              <a:t>Computational basis</a:t>
            </a:r>
          </a:p>
          <a:p>
            <a:pPr marL="0" indent="0" algn="l">
              <a:buNone/>
            </a:pPr>
            <a:r>
              <a:rPr lang="en-US" sz="1500" b="1">
                <a:solidFill>
                  <a:srgbClr val="1F2937"/>
                </a:solidFill>
                <a:latin typeface="Calibri" pitchFamily="34" charset="0"/>
                <a:ea typeface="Calibri" pitchFamily="34" charset="-122"/>
                <a:cs typeface="Calibri" pitchFamily="34" charset="-120"/>
              </a:rPr>
              <a:t>50% </a:t>
            </a:r>
            <a:r>
              <a:rPr lang="en-US" sz="1500">
                <a:solidFill>
                  <a:srgbClr val="1F2937"/>
                </a:solidFill>
                <a:latin typeface="Cambria Math" pitchFamily="34" charset="0"/>
                <a:ea typeface="Cambria Math" pitchFamily="34" charset="-122"/>
                <a:cs typeface="Cambria Math" pitchFamily="34" charset="-120"/>
              </a:rPr>
              <a:t>|0⟩</a:t>
            </a:r>
            <a:r>
              <a:rPr lang="en-US" sz="1500" b="1">
                <a:solidFill>
                  <a:srgbClr val="1F2937"/>
                </a:solidFill>
                <a:latin typeface="Calibri" pitchFamily="34" charset="0"/>
                <a:ea typeface="Calibri" pitchFamily="34" charset="-122"/>
                <a:cs typeface="Calibri" pitchFamily="34" charset="-120"/>
              </a:rPr>
              <a:t>   /   50% </a:t>
            </a:r>
            <a:r>
              <a:rPr lang="en-US" sz="1500">
                <a:solidFill>
                  <a:srgbClr val="1F2937"/>
                </a:solidFill>
                <a:latin typeface="Cambria Math" pitchFamily="34" charset="0"/>
                <a:ea typeface="Cambria Math" pitchFamily="34" charset="-122"/>
                <a:cs typeface="Cambria Math" pitchFamily="34" charset="-120"/>
              </a:rPr>
              <a:t>|1⟩</a:t>
            </a:r>
          </a:p>
        </p:txBody>
      </p:sp>
      <p:sp>
        <p:nvSpPr>
          <p:cNvPr id="9" name="band"/>
          <p:cNvSpPr/>
          <p:nvPr/>
        </p:nvSpPr>
        <p:spPr>
          <a:xfrm>
            <a:off x="731520" y="4023360"/>
            <a:ext cx="5029200" cy="86868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10" name="Text 10"/>
          <p:cNvSpPr/>
          <p:nvPr/>
        </p:nvSpPr>
        <p:spPr>
          <a:xfrm>
            <a:off x="960120" y="4023360"/>
            <a:ext cx="4572000" cy="868680"/>
          </a:xfrm>
          <a:prstGeom prst="rect">
            <a:avLst/>
          </a:prstGeom>
          <a:noFill/>
          <a:ln/>
        </p:spPr>
        <p:txBody>
          <a:bodyPr wrap="square" lIns="45720" tIns="0" rIns="45720" bIns="0" rtlCol="0" anchor="ctr"/>
          <a:lstStyle/>
          <a:p>
            <a:pPr marL="0" indent="0" algn="l">
              <a:spcAft>
                <a:spcPts val="200"/>
              </a:spcAft>
              <a:buNone/>
            </a:pPr>
            <a:r>
              <a:rPr lang="en-US" sz="1350" b="1">
                <a:solidFill>
                  <a:srgbClr val="0D9488"/>
                </a:solidFill>
                <a:latin typeface="Calibri" pitchFamily="34" charset="0"/>
                <a:ea typeface="Calibri" pitchFamily="34" charset="-122"/>
                <a:cs typeface="Calibri" pitchFamily="34" charset="-120"/>
              </a:rPr>
              <a:t>Hadamard basis</a:t>
            </a:r>
          </a:p>
          <a:p>
            <a:pPr marL="0" indent="0" algn="l">
              <a:buNone/>
            </a:pPr>
            <a:r>
              <a:rPr lang="en-US" sz="1500" b="1">
                <a:solidFill>
                  <a:srgbClr val="1F2937"/>
                </a:solidFill>
                <a:latin typeface="Calibri" pitchFamily="34" charset="0"/>
                <a:ea typeface="Calibri" pitchFamily="34" charset="-122"/>
                <a:cs typeface="Calibri" pitchFamily="34" charset="-120"/>
              </a:rPr>
              <a:t>100% </a:t>
            </a:r>
            <a:r>
              <a:rPr lang="en-US" sz="1500">
                <a:solidFill>
                  <a:srgbClr val="0D9488"/>
                </a:solidFill>
                <a:latin typeface="Cambria Math" pitchFamily="34" charset="0"/>
                <a:ea typeface="Cambria Math" pitchFamily="34" charset="-122"/>
                <a:cs typeface="Cambria Math" pitchFamily="34" charset="-120"/>
              </a:rPr>
              <a:t>|+⟩</a:t>
            </a:r>
            <a:r>
              <a:rPr lang="en-US" sz="1500" b="1">
                <a:solidFill>
                  <a:srgbClr val="1F2937"/>
                </a:solidFill>
                <a:latin typeface="Calibri" pitchFamily="34" charset="0"/>
                <a:ea typeface="Calibri" pitchFamily="34" charset="-122"/>
                <a:cs typeface="Calibri" pitchFamily="34" charset="-120"/>
              </a:rPr>
              <a:t>   /   0% </a:t>
            </a:r>
            <a:r>
              <a:rPr lang="en-US" sz="1500">
                <a:solidFill>
                  <a:srgbClr val="0D9488"/>
                </a:solidFill>
                <a:latin typeface="Cambria Math" pitchFamily="34" charset="0"/>
                <a:ea typeface="Cambria Math" pitchFamily="34" charset="-122"/>
                <a:cs typeface="Cambria Math" pitchFamily="34" charset="-120"/>
              </a:rPr>
              <a:t>|−⟩</a:t>
            </a:r>
          </a:p>
        </p:txBody>
      </p:sp>
      <p:sp>
        <p:nvSpPr>
          <p:cNvPr id="11" name="Figure card"/>
          <p:cNvSpPr/>
          <p:nvPr/>
        </p:nvSpPr>
        <p:spPr>
          <a:xfrm>
            <a:off x="6400800" y="1737360"/>
            <a:ext cx="5059680" cy="315468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2" name="Illustration"/>
          <p:cNvPicPr>
            <a:picLocks noChangeAspect="1"/>
          </p:cNvPicPr>
          <p:nvPr/>
        </p:nvPicPr>
        <p:blipFill>
          <a:blip r:embed="rId3"/>
          <a:stretch>
            <a:fillRect/>
          </a:stretch>
        </p:blipFill>
        <p:spPr>
          <a:xfrm>
            <a:off x="6770370" y="1874520"/>
            <a:ext cx="4320540" cy="2880360"/>
          </a:xfrm>
          <a:prstGeom prst="rect">
            <a:avLst/>
          </a:prstGeom>
        </p:spPr>
      </p:pic>
      <p:sp>
        <p:nvSpPr>
          <p:cNvPr id="13" name="Text 13"/>
          <p:cNvSpPr/>
          <p:nvPr/>
        </p:nvSpPr>
        <p:spPr>
          <a:xfrm>
            <a:off x="6400800" y="4960620"/>
            <a:ext cx="5059680" cy="300000"/>
          </a:xfrm>
          <a:prstGeom prst="rect">
            <a:avLst/>
          </a:prstGeom>
          <a:noFill/>
          <a:ln/>
        </p:spPr>
        <p:txBody>
          <a:bodyPr wrap="square" lIns="45720" tIns="0" rIns="45720" bIns="0" rtlCol="0" anchor="ctr"/>
          <a:lstStyle/>
          <a:p>
            <a:pPr marL="0" indent="0" algn="ctr">
              <a:buNone/>
            </a:pPr>
            <a:r>
              <a:rPr lang="en-US" sz="1250" i="1">
                <a:solidFill>
                  <a:srgbClr val="475569"/>
                </a:solidFill>
                <a:latin typeface="Calibri" pitchFamily="34" charset="0"/>
                <a:ea typeface="Calibri" pitchFamily="34" charset="-122"/>
                <a:cs typeface="Calibri" pitchFamily="34" charset="-120"/>
              </a:rPr>
              <a:t>Same state, two different measurement bases</a:t>
            </a:r>
          </a:p>
        </p:txBody>
      </p:sp>
      <p:sp>
        <p:nvSpPr>
          <p:cNvPr id="14" name="Text 14"/>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Measurement outcomes depend on the chosen basis.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05256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State Collapse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Figure card"/>
          <p:cNvSpPr/>
          <p:nvPr/>
        </p:nvSpPr>
        <p:spPr>
          <a:xfrm>
            <a:off x="1752600" y="1691640"/>
            <a:ext cx="8686800" cy="237744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5" name="Illustration"/>
          <p:cNvPicPr>
            <a:picLocks noChangeAspect="1"/>
          </p:cNvPicPr>
          <p:nvPr/>
        </p:nvPicPr>
        <p:blipFill>
          <a:blip r:embed="rId3"/>
          <a:srcRect t="16033" b="44624"/>
          <a:stretch>
            <a:fillRect/>
          </a:stretch>
        </p:blipFill>
        <p:spPr>
          <a:xfrm>
            <a:off x="1821180" y="1760220"/>
            <a:ext cx="8549640" cy="2240280"/>
          </a:xfrm>
          <a:prstGeom prst="rect">
            <a:avLst/>
          </a:prstGeom>
        </p:spPr>
      </p:pic>
      <p:sp>
        <p:nvSpPr>
          <p:cNvPr id="6" name="band"/>
          <p:cNvSpPr/>
          <p:nvPr/>
        </p:nvSpPr>
        <p:spPr>
          <a:xfrm>
            <a:off x="731520" y="4389120"/>
            <a:ext cx="3393440" cy="822960"/>
          </a:xfrm>
          <a:prstGeom prst="roundRect">
            <a:avLst>
              <a:gd name="adj" fmla="val 6000"/>
            </a:avLst>
          </a:prstGeom>
          <a:solidFill>
            <a:srgbClr val="EEF2FF"/>
          </a:solidFill>
          <a:ln/>
        </p:spPr>
        <p:txBody>
          <a:bodyPr/>
          <a:lstStyle/>
          <a:p>
            <a:endParaRPr lang="en-US"/>
          </a:p>
        </p:txBody>
      </p:sp>
      <p:sp>
        <p:nvSpPr>
          <p:cNvPr id="7" name="Text 7"/>
          <p:cNvSpPr/>
          <p:nvPr/>
        </p:nvSpPr>
        <p:spPr>
          <a:xfrm>
            <a:off x="822960" y="4389120"/>
            <a:ext cx="3210560" cy="822960"/>
          </a:xfrm>
          <a:prstGeom prst="rect">
            <a:avLst/>
          </a:prstGeom>
          <a:noFill/>
          <a:ln/>
        </p:spPr>
        <p:txBody>
          <a:bodyPr wrap="square" lIns="45720" tIns="0" rIns="45720" bIns="0" rtlCol="0" anchor="ctr"/>
          <a:lstStyle/>
          <a:p>
            <a:pPr marL="0" indent="0" algn="ctr">
              <a:spcAft>
                <a:spcPts val="200"/>
              </a:spcAft>
              <a:buNone/>
            </a:pPr>
            <a:r>
              <a:rPr lang="en-US" sz="1300" b="1">
                <a:solidFill>
                  <a:srgbClr val="3730A3"/>
                </a:solidFill>
                <a:latin typeface="Calibri" pitchFamily="34" charset="0"/>
                <a:ea typeface="Calibri" pitchFamily="34" charset="-122"/>
                <a:cs typeface="Calibri" pitchFamily="34" charset="-120"/>
              </a:rPr>
              <a:t>Before</a:t>
            </a:r>
          </a:p>
          <a:p>
            <a:pPr marL="0" indent="0" algn="ctr">
              <a:buNone/>
            </a:pPr>
            <a:r>
              <a:rPr lang="en-US" sz="1500">
                <a:solidFill>
                  <a:srgbClr val="1F2937"/>
                </a:solidFill>
                <a:latin typeface="Cambria Math" pitchFamily="34" charset="0"/>
                <a:ea typeface="Cambria Math" pitchFamily="34" charset="-122"/>
                <a:cs typeface="Cambria Math" pitchFamily="34" charset="-120"/>
              </a:rPr>
              <a:t>|ψ⟩ = α|0⟩ + β|1⟩</a:t>
            </a:r>
          </a:p>
        </p:txBody>
      </p:sp>
      <p:sp>
        <p:nvSpPr>
          <p:cNvPr id="8" name="band"/>
          <p:cNvSpPr/>
          <p:nvPr/>
        </p:nvSpPr>
        <p:spPr>
          <a:xfrm>
            <a:off x="4399280" y="4389120"/>
            <a:ext cx="3393440" cy="82296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9" name="Text 9"/>
          <p:cNvSpPr/>
          <p:nvPr/>
        </p:nvSpPr>
        <p:spPr>
          <a:xfrm>
            <a:off x="4490720" y="4389120"/>
            <a:ext cx="3210560" cy="822960"/>
          </a:xfrm>
          <a:prstGeom prst="rect">
            <a:avLst/>
          </a:prstGeom>
          <a:noFill/>
          <a:ln/>
        </p:spPr>
        <p:txBody>
          <a:bodyPr wrap="square" lIns="45720" tIns="0" rIns="45720" bIns="0" rtlCol="0" anchor="ctr"/>
          <a:lstStyle/>
          <a:p>
            <a:pPr marL="0" indent="0" algn="ctr">
              <a:spcAft>
                <a:spcPts val="200"/>
              </a:spcAft>
              <a:buNone/>
            </a:pPr>
            <a:r>
              <a:rPr lang="en-US" sz="1300" b="1">
                <a:solidFill>
                  <a:srgbClr val="475569"/>
                </a:solidFill>
                <a:latin typeface="Calibri" pitchFamily="34" charset="0"/>
                <a:ea typeface="Calibri" pitchFamily="34" charset="-122"/>
                <a:cs typeface="Calibri" pitchFamily="34" charset="-120"/>
              </a:rPr>
              <a:t>Measurement</a:t>
            </a:r>
          </a:p>
          <a:p>
            <a:pPr marL="0" indent="0" algn="ctr">
              <a:buNone/>
            </a:pPr>
            <a:r>
              <a:rPr lang="en-US" sz="1250">
                <a:solidFill>
                  <a:srgbClr val="1F2937"/>
                </a:solidFill>
                <a:latin typeface="Calibri" pitchFamily="34" charset="0"/>
                <a:ea typeface="Calibri" pitchFamily="34" charset="-122"/>
                <a:cs typeface="Calibri" pitchFamily="34" charset="-120"/>
              </a:rPr>
              <a:t>physical process</a:t>
            </a:r>
          </a:p>
        </p:txBody>
      </p:sp>
      <p:sp>
        <p:nvSpPr>
          <p:cNvPr id="10" name="band"/>
          <p:cNvSpPr/>
          <p:nvPr/>
        </p:nvSpPr>
        <p:spPr>
          <a:xfrm>
            <a:off x="8067040" y="4389120"/>
            <a:ext cx="3393440" cy="822960"/>
          </a:xfrm>
          <a:prstGeom prst="roundRect">
            <a:avLst>
              <a:gd name="adj" fmla="val 6000"/>
            </a:avLst>
          </a:prstGeom>
          <a:solidFill>
            <a:srgbClr val="CCFBF1"/>
          </a:solidFill>
          <a:ln/>
        </p:spPr>
        <p:txBody>
          <a:bodyPr/>
          <a:lstStyle/>
          <a:p>
            <a:endParaRPr lang="en-US"/>
          </a:p>
        </p:txBody>
      </p:sp>
      <p:sp>
        <p:nvSpPr>
          <p:cNvPr id="11" name="Text 11"/>
          <p:cNvSpPr/>
          <p:nvPr/>
        </p:nvSpPr>
        <p:spPr>
          <a:xfrm>
            <a:off x="8158480" y="4389120"/>
            <a:ext cx="3210560" cy="822960"/>
          </a:xfrm>
          <a:prstGeom prst="rect">
            <a:avLst/>
          </a:prstGeom>
          <a:noFill/>
          <a:ln/>
        </p:spPr>
        <p:txBody>
          <a:bodyPr wrap="square" lIns="45720" tIns="0" rIns="45720" bIns="0" rtlCol="0" anchor="ctr"/>
          <a:lstStyle/>
          <a:p>
            <a:pPr marL="0" indent="0" algn="ctr">
              <a:spcAft>
                <a:spcPts val="200"/>
              </a:spcAft>
              <a:buNone/>
            </a:pPr>
            <a:r>
              <a:rPr lang="en-US" sz="1300" b="1">
                <a:solidFill>
                  <a:srgbClr val="0D9488"/>
                </a:solidFill>
                <a:latin typeface="Calibri" pitchFamily="34" charset="0"/>
                <a:ea typeface="Calibri" pitchFamily="34" charset="-122"/>
                <a:cs typeface="Calibri" pitchFamily="34" charset="-120"/>
              </a:rPr>
              <a:t>After</a:t>
            </a:r>
          </a:p>
          <a:p>
            <a:pPr marL="0" indent="0" algn="ctr">
              <a:buNone/>
            </a:pPr>
            <a:r>
              <a:rPr lang="en-US" sz="1500">
                <a:solidFill>
                  <a:srgbClr val="1F2937"/>
                </a:solidFill>
                <a:latin typeface="Cambria Math" pitchFamily="34" charset="0"/>
                <a:ea typeface="Cambria Math" pitchFamily="34" charset="-122"/>
                <a:cs typeface="Cambria Math" pitchFamily="34" charset="-120"/>
              </a:rPr>
              <a:t>|0⟩  or  |1⟩</a:t>
            </a:r>
          </a:p>
        </p:txBody>
      </p:sp>
      <p:sp>
        <p:nvSpPr>
          <p:cNvPr id="12" name="flow arrow"/>
          <p:cNvSpPr/>
          <p:nvPr/>
        </p:nvSpPr>
        <p:spPr>
          <a:xfrm>
            <a:off x="4144960" y="4800600"/>
            <a:ext cx="234320" cy="0"/>
          </a:xfrm>
          <a:prstGeom prst="line">
            <a:avLst/>
          </a:prstGeom>
          <a:ln w="38100">
            <a:solidFill>
              <a:srgbClr val="3730A3"/>
            </a:solidFill>
            <a:prstDash val="solid"/>
            <a:tailEnd type="triangle"/>
          </a:ln>
        </p:spPr>
        <p:txBody>
          <a:bodyPr/>
          <a:lstStyle/>
          <a:p>
            <a:endParaRPr lang="en-US"/>
          </a:p>
        </p:txBody>
      </p:sp>
      <p:sp>
        <p:nvSpPr>
          <p:cNvPr id="13" name="flow arrow"/>
          <p:cNvSpPr/>
          <p:nvPr/>
        </p:nvSpPr>
        <p:spPr>
          <a:xfrm>
            <a:off x="7812720" y="4800600"/>
            <a:ext cx="234320" cy="0"/>
          </a:xfrm>
          <a:prstGeom prst="line">
            <a:avLst/>
          </a:prstGeom>
          <a:ln w="38100">
            <a:solidFill>
              <a:srgbClr val="3730A3"/>
            </a:solidFill>
            <a:prstDash val="solid"/>
            <a:tailEnd type="triangle"/>
          </a:ln>
        </p:spPr>
        <p:txBody>
          <a:bodyPr/>
          <a:lstStyle/>
          <a:p>
            <a:endParaRPr lang="en-US"/>
          </a:p>
        </p:txBody>
      </p:sp>
      <p:sp>
        <p:nvSpPr>
          <p:cNvPr id="14" name="band"/>
          <p:cNvSpPr/>
          <p:nvPr/>
        </p:nvSpPr>
        <p:spPr>
          <a:xfrm>
            <a:off x="731520" y="5449440"/>
            <a:ext cx="10728960" cy="470000"/>
          </a:xfrm>
          <a:prstGeom prst="roundRect">
            <a:avLst>
              <a:gd name="adj" fmla="val 12000"/>
            </a:avLst>
          </a:prstGeom>
          <a:solidFill>
            <a:srgbClr val="EEF2FF"/>
          </a:solidFill>
          <a:ln/>
        </p:spPr>
        <p:txBody>
          <a:bodyPr/>
          <a:lstStyle/>
          <a:p>
            <a:endParaRPr lang="en-US"/>
          </a:p>
        </p:txBody>
      </p:sp>
      <p:sp>
        <p:nvSpPr>
          <p:cNvPr id="15" name="Text 15"/>
          <p:cNvSpPr/>
          <p:nvPr/>
        </p:nvSpPr>
        <p:spPr>
          <a:xfrm>
            <a:off x="731520" y="5449440"/>
            <a:ext cx="10728960" cy="470000"/>
          </a:xfrm>
          <a:prstGeom prst="rect">
            <a:avLst/>
          </a:prstGeom>
          <a:noFill/>
          <a:ln/>
        </p:spPr>
        <p:txBody>
          <a:bodyPr wrap="square" lIns="45720" tIns="0" rIns="45720" bIns="0" rtlCol="0" anchor="ctr"/>
          <a:lstStyle/>
          <a:p>
            <a:pPr marL="0" indent="0" algn="ctr">
              <a:buNone/>
            </a:pPr>
            <a:r>
              <a:rPr lang="en-US" sz="1450" b="1">
                <a:solidFill>
                  <a:srgbClr val="3730A3"/>
                </a:solidFill>
                <a:latin typeface="Calibri" pitchFamily="34" charset="0"/>
                <a:ea typeface="Calibri" pitchFamily="34" charset="-122"/>
                <a:cs typeface="Calibri" pitchFamily="34" charset="-120"/>
              </a:rPr>
              <a:t>After measurement, the original superposition no longer exists.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Are These Two Quantum States Different?</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480000"/>
            <a:ext cx="6000000" cy="300000"/>
          </a:xfrm>
          <a:prstGeom prst="rect">
            <a:avLst/>
          </a:prstGeom>
          <a:noFill/>
          <a:ln/>
        </p:spPr>
        <p:txBody>
          <a:bodyPr wrap="square" lIns="45720" tIns="0" rIns="45720" bIns="0" rtlCol="0" anchor="ctr"/>
          <a:lstStyle/>
          <a:p>
            <a:pPr marL="0" indent="0" algn="l">
              <a:buNone/>
            </a:pPr>
            <a:r>
              <a:rPr lang="en-US" sz="1300" i="1">
                <a:solidFill>
                  <a:srgbClr val="0D9488"/>
                </a:solidFill>
                <a:latin typeface="Calibri" pitchFamily="34" charset="0"/>
                <a:ea typeface="Calibri" pitchFamily="34" charset="-122"/>
                <a:cs typeface="Calibri" pitchFamily="34" charset="-120"/>
              </a:rPr>
              <a:t>A surprisingly difficult question</a:t>
            </a:r>
          </a:p>
        </p:txBody>
      </p:sp>
      <p:sp>
        <p:nvSpPr>
          <p:cNvPr id="5" name="Text 5"/>
          <p:cNvSpPr/>
          <p:nvPr/>
        </p:nvSpPr>
        <p:spPr>
          <a:xfrm>
            <a:off x="731520" y="1880000"/>
            <a:ext cx="5029200" cy="320040"/>
          </a:xfrm>
          <a:prstGeom prst="rect">
            <a:avLst/>
          </a:prstGeom>
          <a:noFill/>
          <a:ln/>
        </p:spPr>
        <p:txBody>
          <a:bodyPr wrap="square" lIns="45720" tIns="0" rIns="45720" bIns="0" rtlCol="0" anchor="b"/>
          <a:lstStyle/>
          <a:p>
            <a:pPr marL="0" indent="0" algn="l">
              <a:buNone/>
            </a:pPr>
            <a:r>
              <a:rPr lang="en-US" sz="1300" b="1">
                <a:solidFill>
                  <a:srgbClr val="3730A3"/>
                </a:solidFill>
                <a:latin typeface="Calibri" pitchFamily="34" charset="0"/>
                <a:ea typeface="Calibri" pitchFamily="34" charset="-122"/>
                <a:cs typeface="Calibri" pitchFamily="34" charset="-120"/>
              </a:rPr>
              <a:t>State A</a:t>
            </a:r>
          </a:p>
        </p:txBody>
      </p:sp>
      <p:sp>
        <p:nvSpPr>
          <p:cNvPr id="6" name="band"/>
          <p:cNvSpPr/>
          <p:nvPr/>
        </p:nvSpPr>
        <p:spPr>
          <a:xfrm>
            <a:off x="731520" y="2200000"/>
            <a:ext cx="5029200" cy="900000"/>
          </a:xfrm>
          <a:prstGeom prst="roundRect">
            <a:avLst>
              <a:gd name="adj" fmla="val 4000"/>
            </a:avLst>
          </a:prstGeom>
          <a:solidFill>
            <a:srgbClr val="EEF2FF"/>
          </a:solidFill>
          <a:ln/>
        </p:spPr>
        <p:txBody>
          <a:bodyPr/>
          <a:lstStyle/>
          <a:p>
            <a:endParaRPr lang="en-US"/>
          </a:p>
        </p:txBody>
      </p:sp>
      <p:sp>
        <p:nvSpPr>
          <p:cNvPr id="7" name="Text 7"/>
          <p:cNvSpPr/>
          <p:nvPr/>
        </p:nvSpPr>
        <p:spPr>
          <a:xfrm>
            <a:off x="731520" y="2200000"/>
            <a:ext cx="5029200" cy="900000"/>
          </a:xfrm>
          <a:prstGeom prst="rect">
            <a:avLst/>
          </a:prstGeom>
          <a:noFill/>
          <a:ln/>
        </p:spPr>
        <p:txBody>
          <a:bodyPr wrap="square" lIns="45720" tIns="0" rIns="45720" bIns="0" rtlCol="0" anchor="ctr"/>
          <a:lstStyle/>
          <a:p>
            <a:pPr marL="0" indent="0" algn="ctr">
              <a:buNone/>
            </a:pPr>
            <a:r>
              <a:rPr lang="en-US" sz="1800">
                <a:solidFill>
                  <a:srgbClr val="3730A3"/>
                </a:solidFill>
                <a:latin typeface="Cambria Math" pitchFamily="34" charset="0"/>
                <a:ea typeface="Cambria Math" pitchFamily="34" charset="-122"/>
                <a:cs typeface="Cambria Math" pitchFamily="34" charset="-120"/>
              </a:rPr>
              <a:t>|ψ₁⟩ = ( |0⟩ + |1⟩ ) / √2</a:t>
            </a:r>
          </a:p>
        </p:txBody>
      </p:sp>
      <p:sp>
        <p:nvSpPr>
          <p:cNvPr id="8" name="Text 8"/>
          <p:cNvSpPr/>
          <p:nvPr/>
        </p:nvSpPr>
        <p:spPr>
          <a:xfrm>
            <a:off x="731520" y="3260000"/>
            <a:ext cx="5029200" cy="320040"/>
          </a:xfrm>
          <a:prstGeom prst="rect">
            <a:avLst/>
          </a:prstGeom>
          <a:noFill/>
          <a:ln/>
        </p:spPr>
        <p:txBody>
          <a:bodyPr wrap="square" lIns="45720" tIns="0" rIns="45720" bIns="0" rtlCol="0" anchor="b"/>
          <a:lstStyle/>
          <a:p>
            <a:pPr marL="0" indent="0" algn="l">
              <a:buNone/>
            </a:pPr>
            <a:r>
              <a:rPr lang="en-US" sz="1300" b="1">
                <a:solidFill>
                  <a:srgbClr val="0D9488"/>
                </a:solidFill>
                <a:latin typeface="Calibri" pitchFamily="34" charset="0"/>
                <a:ea typeface="Calibri" pitchFamily="34" charset="-122"/>
                <a:cs typeface="Calibri" pitchFamily="34" charset="-120"/>
              </a:rPr>
              <a:t>State B</a:t>
            </a:r>
          </a:p>
        </p:txBody>
      </p:sp>
      <p:sp>
        <p:nvSpPr>
          <p:cNvPr id="9" name="band"/>
          <p:cNvSpPr/>
          <p:nvPr/>
        </p:nvSpPr>
        <p:spPr>
          <a:xfrm>
            <a:off x="731520" y="3580000"/>
            <a:ext cx="5029200" cy="900000"/>
          </a:xfrm>
          <a:prstGeom prst="roundRect">
            <a:avLst>
              <a:gd name="adj" fmla="val 4000"/>
            </a:avLst>
          </a:prstGeom>
          <a:solidFill>
            <a:srgbClr val="CCFBF1"/>
          </a:solidFill>
          <a:ln/>
        </p:spPr>
        <p:txBody>
          <a:bodyPr/>
          <a:lstStyle/>
          <a:p>
            <a:endParaRPr lang="en-US"/>
          </a:p>
        </p:txBody>
      </p:sp>
      <p:sp>
        <p:nvSpPr>
          <p:cNvPr id="10" name="Text 10"/>
          <p:cNvSpPr/>
          <p:nvPr/>
        </p:nvSpPr>
        <p:spPr>
          <a:xfrm>
            <a:off x="731520" y="3580000"/>
            <a:ext cx="5029200" cy="900000"/>
          </a:xfrm>
          <a:prstGeom prst="rect">
            <a:avLst/>
          </a:prstGeom>
          <a:noFill/>
          <a:ln/>
        </p:spPr>
        <p:txBody>
          <a:bodyPr wrap="square" lIns="45720" tIns="0" rIns="45720" bIns="0" rtlCol="0" anchor="ctr"/>
          <a:lstStyle/>
          <a:p>
            <a:pPr marL="0" indent="0" algn="ctr">
              <a:buNone/>
            </a:pPr>
            <a:r>
              <a:rPr lang="en-US" sz="1800">
                <a:solidFill>
                  <a:srgbClr val="0D9488"/>
                </a:solidFill>
                <a:latin typeface="Cambria Math" pitchFamily="34" charset="0"/>
                <a:ea typeface="Cambria Math" pitchFamily="34" charset="-122"/>
                <a:cs typeface="Cambria Math" pitchFamily="34" charset="-120"/>
              </a:rPr>
              <a:t>|ψ₂⟩ = − ( |0⟩ + |1⟩ ) / √2</a:t>
            </a:r>
          </a:p>
        </p:txBody>
      </p:sp>
      <p:sp>
        <p:nvSpPr>
          <p:cNvPr id="11" name="Text 11"/>
          <p:cNvSpPr/>
          <p:nvPr/>
        </p:nvSpPr>
        <p:spPr>
          <a:xfrm>
            <a:off x="6400800" y="1880000"/>
            <a:ext cx="505968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Question</a:t>
            </a:r>
          </a:p>
        </p:txBody>
      </p:sp>
      <p:sp>
        <p:nvSpPr>
          <p:cNvPr id="12" name="band"/>
          <p:cNvSpPr/>
          <p:nvPr/>
        </p:nvSpPr>
        <p:spPr>
          <a:xfrm>
            <a:off x="6400800" y="2200000"/>
            <a:ext cx="5059680" cy="90000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13" name="Text 13"/>
          <p:cNvSpPr/>
          <p:nvPr/>
        </p:nvSpPr>
        <p:spPr>
          <a:xfrm>
            <a:off x="6583680" y="2200000"/>
            <a:ext cx="4693920" cy="900000"/>
          </a:xfrm>
          <a:prstGeom prst="rect">
            <a:avLst/>
          </a:prstGeom>
          <a:noFill/>
          <a:ln/>
        </p:spPr>
        <p:txBody>
          <a:bodyPr wrap="square" lIns="45720" tIns="0" rIns="45720" bIns="0" rtlCol="0" anchor="ctr"/>
          <a:lstStyle/>
          <a:p>
            <a:pPr marL="0" indent="0" algn="ctr">
              <a:lnSpc>
                <a:spcPct val="110000"/>
              </a:lnSpc>
              <a:buNone/>
            </a:pPr>
            <a:r>
              <a:rPr lang="en-US" sz="1600">
                <a:solidFill>
                  <a:srgbClr val="1F2937"/>
                </a:solidFill>
                <a:latin typeface="Calibri" pitchFamily="34" charset="0"/>
                <a:ea typeface="Calibri" pitchFamily="34" charset="-122"/>
                <a:cs typeface="Calibri" pitchFamily="34" charset="-120"/>
              </a:rPr>
              <a:t>Do these represent two different physical states?</a:t>
            </a:r>
          </a:p>
        </p:txBody>
      </p:sp>
      <p:sp>
        <p:nvSpPr>
          <p:cNvPr id="14" name="Figure card"/>
          <p:cNvSpPr/>
          <p:nvPr/>
        </p:nvSpPr>
        <p:spPr>
          <a:xfrm>
            <a:off x="6400800" y="3260000"/>
            <a:ext cx="5059680" cy="118000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15" name="up arrow"/>
          <p:cNvSpPr/>
          <p:nvPr/>
        </p:nvSpPr>
        <p:spPr>
          <a:xfrm>
            <a:off x="7880640" y="3360000"/>
            <a:ext cx="430000" cy="760000"/>
          </a:xfrm>
          <a:prstGeom prst="upArrow">
            <a:avLst>
              <a:gd name="adj1" fmla="val 55000"/>
              <a:gd name="adj2" fmla="val 55000"/>
            </a:avLst>
          </a:prstGeom>
          <a:solidFill>
            <a:srgbClr val="3730A3"/>
          </a:solidFill>
          <a:ln/>
        </p:spPr>
        <p:txBody>
          <a:bodyPr/>
          <a:lstStyle/>
          <a:p>
            <a:endParaRPr lang="en-US"/>
          </a:p>
        </p:txBody>
      </p:sp>
      <p:sp>
        <p:nvSpPr>
          <p:cNvPr id="16" name="Text 16"/>
          <p:cNvSpPr/>
          <p:nvPr/>
        </p:nvSpPr>
        <p:spPr>
          <a:xfrm>
            <a:off x="7530640" y="4150000"/>
            <a:ext cx="1130000" cy="260000"/>
          </a:xfrm>
          <a:prstGeom prst="rect">
            <a:avLst/>
          </a:prstGeom>
          <a:noFill/>
          <a:ln/>
        </p:spPr>
        <p:txBody>
          <a:bodyPr wrap="square" lIns="45720" tIns="0" rIns="45720" bIns="0" rtlCol="0" anchor="ctr"/>
          <a:lstStyle/>
          <a:p>
            <a:pPr marL="0" indent="0" algn="ctr">
              <a:buNone/>
            </a:pPr>
            <a:r>
              <a:rPr lang="en-US" sz="1500">
                <a:solidFill>
                  <a:srgbClr val="1F2937"/>
                </a:solidFill>
                <a:latin typeface="Cambria Math" pitchFamily="34" charset="0"/>
                <a:ea typeface="Cambria Math" pitchFamily="34" charset="-122"/>
                <a:cs typeface="Cambria Math" pitchFamily="34" charset="-120"/>
              </a:rPr>
              <a:t>|ψ⟩</a:t>
            </a:r>
          </a:p>
        </p:txBody>
      </p:sp>
      <p:sp>
        <p:nvSpPr>
          <p:cNvPr id="17" name="up arrow"/>
          <p:cNvSpPr/>
          <p:nvPr/>
        </p:nvSpPr>
        <p:spPr>
          <a:xfrm>
            <a:off x="9550640" y="3360000"/>
            <a:ext cx="430000" cy="760000"/>
          </a:xfrm>
          <a:prstGeom prst="upArrow">
            <a:avLst>
              <a:gd name="adj1" fmla="val 55000"/>
              <a:gd name="adj2" fmla="val 55000"/>
            </a:avLst>
          </a:prstGeom>
          <a:solidFill>
            <a:srgbClr val="3730A3"/>
          </a:solidFill>
          <a:ln/>
        </p:spPr>
        <p:txBody>
          <a:bodyPr/>
          <a:lstStyle/>
          <a:p>
            <a:endParaRPr lang="en-US"/>
          </a:p>
        </p:txBody>
      </p:sp>
      <p:sp>
        <p:nvSpPr>
          <p:cNvPr id="18" name="Text 18"/>
          <p:cNvSpPr/>
          <p:nvPr/>
        </p:nvSpPr>
        <p:spPr>
          <a:xfrm>
            <a:off x="9200640" y="4150000"/>
            <a:ext cx="1130000" cy="260000"/>
          </a:xfrm>
          <a:prstGeom prst="rect">
            <a:avLst/>
          </a:prstGeom>
          <a:noFill/>
          <a:ln/>
        </p:spPr>
        <p:txBody>
          <a:bodyPr wrap="square" lIns="45720" tIns="0" rIns="45720" bIns="0" rtlCol="0" anchor="ctr"/>
          <a:lstStyle/>
          <a:p>
            <a:pPr marL="0" indent="0" algn="ctr">
              <a:buNone/>
            </a:pPr>
            <a:r>
              <a:rPr lang="en-US" sz="1500">
                <a:solidFill>
                  <a:srgbClr val="0D9488"/>
                </a:solidFill>
                <a:latin typeface="Cambria Math" pitchFamily="34" charset="0"/>
                <a:ea typeface="Cambria Math" pitchFamily="34" charset="-122"/>
                <a:cs typeface="Cambria Math" pitchFamily="34" charset="-120"/>
              </a:rPr>
              <a:t>−|ψ⟩</a:t>
            </a:r>
          </a:p>
        </p:txBody>
      </p:sp>
      <p:sp>
        <p:nvSpPr>
          <p:cNvPr id="19" name="Prediction box"/>
          <p:cNvSpPr/>
          <p:nvPr/>
        </p:nvSpPr>
        <p:spPr>
          <a:xfrm>
            <a:off x="6400800" y="4600000"/>
            <a:ext cx="5059680" cy="900000"/>
          </a:xfrm>
          <a:prstGeom prst="roundRect">
            <a:avLst>
              <a:gd name="adj" fmla="val 6000"/>
            </a:avLst>
          </a:prstGeom>
          <a:solidFill>
            <a:srgbClr val="EEF2FF"/>
          </a:solidFill>
          <a:ln w="19050">
            <a:solidFill>
              <a:srgbClr val="3730A3"/>
            </a:solidFill>
            <a:prstDash val="solid"/>
          </a:ln>
        </p:spPr>
        <p:txBody>
          <a:bodyPr/>
          <a:lstStyle/>
          <a:p>
            <a:endParaRPr lang="en-US"/>
          </a:p>
        </p:txBody>
      </p:sp>
      <p:sp>
        <p:nvSpPr>
          <p:cNvPr id="20" name="Text 20"/>
          <p:cNvSpPr/>
          <p:nvPr/>
        </p:nvSpPr>
        <p:spPr>
          <a:xfrm>
            <a:off x="6400800" y="4600000"/>
            <a:ext cx="5059680" cy="900000"/>
          </a:xfrm>
          <a:prstGeom prst="rect">
            <a:avLst/>
          </a:prstGeom>
          <a:noFill/>
          <a:ln/>
        </p:spPr>
        <p:txBody>
          <a:bodyPr wrap="square" lIns="45720" tIns="0" rIns="45720" bIns="0" rtlCol="0" anchor="ctr"/>
          <a:lstStyle/>
          <a:p>
            <a:pPr marL="0" indent="0" algn="ctr">
              <a:spcAft>
                <a:spcPts val="200"/>
              </a:spcAft>
              <a:buNone/>
            </a:pPr>
            <a:r>
              <a:rPr lang="en-US" sz="2000" b="1">
                <a:solidFill>
                  <a:srgbClr val="3730A3"/>
                </a:solidFill>
                <a:latin typeface="Calibri" pitchFamily="34" charset="0"/>
                <a:ea typeface="Calibri" pitchFamily="34" charset="-122"/>
                <a:cs typeface="Calibri" pitchFamily="34" charset="-120"/>
              </a:rPr>
              <a:t>Prediction?</a:t>
            </a:r>
          </a:p>
          <a:p>
            <a:pPr marL="0" indent="0" algn="ctr">
              <a:buNone/>
            </a:pPr>
            <a:r>
              <a:rPr lang="en-US" sz="1150" i="1">
                <a:solidFill>
                  <a:srgbClr val="475569"/>
                </a:solidFill>
                <a:latin typeface="Calibri" pitchFamily="34" charset="0"/>
                <a:ea typeface="Calibri" pitchFamily="34" charset="-122"/>
                <a:cs typeface="Calibri" pitchFamily="34" charset="-120"/>
              </a:rPr>
              <a:t>Cast your vote before we reveal the answer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Global Phase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0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General expression</a:t>
            </a:r>
          </a:p>
        </p:txBody>
      </p:sp>
      <p:sp>
        <p:nvSpPr>
          <p:cNvPr id="5" name="band"/>
          <p:cNvSpPr/>
          <p:nvPr/>
        </p:nvSpPr>
        <p:spPr>
          <a:xfrm>
            <a:off x="731520" y="1920000"/>
            <a:ext cx="5029200" cy="90000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20000"/>
            <a:ext cx="5029200" cy="900000"/>
          </a:xfrm>
          <a:prstGeom prst="rect">
            <a:avLst/>
          </a:prstGeom>
          <a:noFill/>
          <a:ln/>
        </p:spPr>
        <p:txBody>
          <a:bodyPr wrap="square" lIns="45720" tIns="0" rIns="45720" bIns="0" rtlCol="0" anchor="ctr"/>
          <a:lstStyle/>
          <a:p>
            <a:pPr marL="0" indent="0" algn="ctr">
              <a:buNone/>
            </a:pPr>
            <a:r>
              <a:rPr lang="en-US" sz="2200">
                <a:solidFill>
                  <a:srgbClr val="3730A3"/>
                </a:solidFill>
                <a:latin typeface="Cambria Math" pitchFamily="34" charset="0"/>
                <a:ea typeface="Cambria Math" pitchFamily="34" charset="-122"/>
                <a:cs typeface="Cambria Math" pitchFamily="34" charset="-120"/>
              </a:rPr>
              <a:t>|ψ⟩   ⟶   e</a:t>
            </a:r>
            <a:r>
              <a:rPr lang="en-US" sz="1500" baseline="30000">
                <a:solidFill>
                  <a:srgbClr val="3730A3"/>
                </a:solidFill>
                <a:latin typeface="Cambria Math" pitchFamily="34" charset="0"/>
                <a:ea typeface="Cambria Math" pitchFamily="34" charset="-122"/>
                <a:cs typeface="Cambria Math" pitchFamily="34" charset="-120"/>
              </a:rPr>
              <a:t>iθ</a:t>
            </a:r>
            <a:r>
              <a:rPr lang="en-US" sz="2200">
                <a:solidFill>
                  <a:srgbClr val="3730A3"/>
                </a:solidFill>
                <a:latin typeface="Cambria Math" pitchFamily="34" charset="0"/>
                <a:ea typeface="Cambria Math" pitchFamily="34" charset="-122"/>
                <a:cs typeface="Cambria Math" pitchFamily="34" charset="-120"/>
              </a:rPr>
              <a:t>|ψ⟩</a:t>
            </a:r>
          </a:p>
        </p:txBody>
      </p:sp>
      <p:sp>
        <p:nvSpPr>
          <p:cNvPr id="7" name="Text 7"/>
          <p:cNvSpPr/>
          <p:nvPr/>
        </p:nvSpPr>
        <p:spPr>
          <a:xfrm>
            <a:off x="731520" y="294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Examples</a:t>
            </a:r>
          </a:p>
        </p:txBody>
      </p:sp>
      <p:sp>
        <p:nvSpPr>
          <p:cNvPr id="8" name="band"/>
          <p:cNvSpPr/>
          <p:nvPr/>
        </p:nvSpPr>
        <p:spPr>
          <a:xfrm>
            <a:off x="731520" y="3250000"/>
            <a:ext cx="5029200" cy="520000"/>
          </a:xfrm>
          <a:prstGeom prst="roundRect">
            <a:avLst>
              <a:gd name="adj" fmla="val 9000"/>
            </a:avLst>
          </a:prstGeom>
          <a:solidFill>
            <a:srgbClr val="FFFFFF"/>
          </a:solidFill>
          <a:ln w="15875">
            <a:solidFill>
              <a:srgbClr val="D1D5DB"/>
            </a:solidFill>
            <a:prstDash val="solid"/>
          </a:ln>
        </p:spPr>
        <p:txBody>
          <a:bodyPr/>
          <a:lstStyle/>
          <a:p>
            <a:endParaRPr lang="en-US"/>
          </a:p>
        </p:txBody>
      </p:sp>
      <p:sp>
        <p:nvSpPr>
          <p:cNvPr id="9" name="Text 9"/>
          <p:cNvSpPr/>
          <p:nvPr/>
        </p:nvSpPr>
        <p:spPr>
          <a:xfrm>
            <a:off x="731520" y="3250000"/>
            <a:ext cx="5029200" cy="520000"/>
          </a:xfrm>
          <a:prstGeom prst="rect">
            <a:avLst/>
          </a:prstGeom>
          <a:noFill/>
          <a:ln/>
        </p:spPr>
        <p:txBody>
          <a:bodyPr wrap="square" lIns="45720" tIns="0" rIns="45720" bIns="0" rtlCol="0" anchor="ctr"/>
          <a:lstStyle/>
          <a:p>
            <a:pPr marL="0" indent="0" algn="ctr">
              <a:buNone/>
            </a:pPr>
            <a:r>
              <a:rPr lang="en-US" sz="1900">
                <a:solidFill>
                  <a:srgbClr val="1F2937"/>
                </a:solidFill>
                <a:latin typeface="Cambria Math" pitchFamily="34" charset="0"/>
                <a:ea typeface="Cambria Math" pitchFamily="34" charset="-122"/>
                <a:cs typeface="Cambria Math" pitchFamily="34" charset="-120"/>
              </a:rPr>
              <a:t>−|ψ⟩</a:t>
            </a:r>
          </a:p>
        </p:txBody>
      </p:sp>
      <p:sp>
        <p:nvSpPr>
          <p:cNvPr id="10" name="band"/>
          <p:cNvSpPr/>
          <p:nvPr/>
        </p:nvSpPr>
        <p:spPr>
          <a:xfrm>
            <a:off x="731520" y="3870000"/>
            <a:ext cx="5029200" cy="520000"/>
          </a:xfrm>
          <a:prstGeom prst="roundRect">
            <a:avLst>
              <a:gd name="adj" fmla="val 9000"/>
            </a:avLst>
          </a:prstGeom>
          <a:solidFill>
            <a:srgbClr val="FFFFFF"/>
          </a:solidFill>
          <a:ln w="15875">
            <a:solidFill>
              <a:srgbClr val="D1D5DB"/>
            </a:solidFill>
            <a:prstDash val="solid"/>
          </a:ln>
        </p:spPr>
        <p:txBody>
          <a:bodyPr/>
          <a:lstStyle/>
          <a:p>
            <a:endParaRPr lang="en-US"/>
          </a:p>
        </p:txBody>
      </p:sp>
      <p:sp>
        <p:nvSpPr>
          <p:cNvPr id="11" name="Text 11"/>
          <p:cNvSpPr/>
          <p:nvPr/>
        </p:nvSpPr>
        <p:spPr>
          <a:xfrm>
            <a:off x="731520" y="3870000"/>
            <a:ext cx="5029200" cy="520000"/>
          </a:xfrm>
          <a:prstGeom prst="rect">
            <a:avLst/>
          </a:prstGeom>
          <a:noFill/>
          <a:ln/>
        </p:spPr>
        <p:txBody>
          <a:bodyPr wrap="square" lIns="45720" tIns="0" rIns="45720" bIns="0" rtlCol="0" anchor="ctr"/>
          <a:lstStyle/>
          <a:p>
            <a:pPr marL="0" indent="0" algn="ctr">
              <a:buNone/>
            </a:pPr>
            <a:r>
              <a:rPr lang="en-US" sz="1900">
                <a:solidFill>
                  <a:srgbClr val="1F2937"/>
                </a:solidFill>
                <a:latin typeface="Cambria Math" pitchFamily="34" charset="0"/>
                <a:ea typeface="Cambria Math" pitchFamily="34" charset="-122"/>
                <a:cs typeface="Cambria Math" pitchFamily="34" charset="-120"/>
              </a:rPr>
              <a:t>i|ψ⟩</a:t>
            </a:r>
          </a:p>
        </p:txBody>
      </p:sp>
      <p:sp>
        <p:nvSpPr>
          <p:cNvPr id="12" name="band"/>
          <p:cNvSpPr/>
          <p:nvPr/>
        </p:nvSpPr>
        <p:spPr>
          <a:xfrm>
            <a:off x="731520" y="4490000"/>
            <a:ext cx="5029200" cy="520000"/>
          </a:xfrm>
          <a:prstGeom prst="roundRect">
            <a:avLst>
              <a:gd name="adj" fmla="val 9000"/>
            </a:avLst>
          </a:prstGeom>
          <a:solidFill>
            <a:srgbClr val="FFFFFF"/>
          </a:solidFill>
          <a:ln w="15875">
            <a:solidFill>
              <a:srgbClr val="D1D5DB"/>
            </a:solidFill>
            <a:prstDash val="solid"/>
          </a:ln>
        </p:spPr>
        <p:txBody>
          <a:bodyPr/>
          <a:lstStyle/>
          <a:p>
            <a:endParaRPr lang="en-US"/>
          </a:p>
        </p:txBody>
      </p:sp>
      <p:sp>
        <p:nvSpPr>
          <p:cNvPr id="13" name="Text 13"/>
          <p:cNvSpPr/>
          <p:nvPr/>
        </p:nvSpPr>
        <p:spPr>
          <a:xfrm>
            <a:off x="731520" y="4490000"/>
            <a:ext cx="5029200" cy="520000"/>
          </a:xfrm>
          <a:prstGeom prst="rect">
            <a:avLst/>
          </a:prstGeom>
          <a:noFill/>
          <a:ln/>
        </p:spPr>
        <p:txBody>
          <a:bodyPr wrap="square" lIns="45720" tIns="0" rIns="45720" bIns="0" rtlCol="0" anchor="ctr"/>
          <a:lstStyle/>
          <a:p>
            <a:pPr marL="0" indent="0" algn="ctr">
              <a:buNone/>
            </a:pPr>
            <a:r>
              <a:rPr lang="en-US" sz="1900">
                <a:solidFill>
                  <a:srgbClr val="1F2937"/>
                </a:solidFill>
                <a:latin typeface="Cambria Math" pitchFamily="34" charset="0"/>
                <a:ea typeface="Cambria Math" pitchFamily="34" charset="-122"/>
                <a:cs typeface="Cambria Math" pitchFamily="34" charset="-120"/>
              </a:rPr>
              <a:t>e</a:t>
            </a:r>
            <a:r>
              <a:rPr lang="en-US" sz="1250" baseline="30000">
                <a:solidFill>
                  <a:srgbClr val="1F2937"/>
                </a:solidFill>
                <a:latin typeface="Cambria Math" pitchFamily="34" charset="0"/>
                <a:ea typeface="Cambria Math" pitchFamily="34" charset="-122"/>
                <a:cs typeface="Cambria Math" pitchFamily="34" charset="-120"/>
              </a:rPr>
              <a:t>iπ/4</a:t>
            </a:r>
            <a:r>
              <a:rPr lang="en-US" sz="1900">
                <a:solidFill>
                  <a:srgbClr val="1F2937"/>
                </a:solidFill>
                <a:latin typeface="Cambria Math" pitchFamily="34" charset="0"/>
                <a:ea typeface="Cambria Math" pitchFamily="34" charset="-122"/>
                <a:cs typeface="Cambria Math" pitchFamily="34" charset="-120"/>
              </a:rPr>
              <a:t>|ψ⟩</a:t>
            </a:r>
          </a:p>
        </p:txBody>
      </p:sp>
      <p:sp>
        <p:nvSpPr>
          <p:cNvPr id="14" name="Figure card"/>
          <p:cNvSpPr/>
          <p:nvPr/>
        </p:nvSpPr>
        <p:spPr>
          <a:xfrm>
            <a:off x="6400800" y="1737360"/>
            <a:ext cx="5059680" cy="29718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15" name="Illustration"/>
          <p:cNvPicPr>
            <a:picLocks noChangeAspect="1"/>
          </p:cNvPicPr>
          <p:nvPr/>
        </p:nvPicPr>
        <p:blipFill>
          <a:blip r:embed="rId3"/>
          <a:stretch>
            <a:fillRect/>
          </a:stretch>
        </p:blipFill>
        <p:spPr>
          <a:xfrm>
            <a:off x="7434887" y="1874520"/>
            <a:ext cx="2991505" cy="2697480"/>
          </a:xfrm>
          <a:prstGeom prst="rect">
            <a:avLst/>
          </a:prstGeom>
        </p:spPr>
      </p:pic>
      <p:sp>
        <p:nvSpPr>
          <p:cNvPr id="16" name="Text 16"/>
          <p:cNvSpPr/>
          <p:nvPr/>
        </p:nvSpPr>
        <p:spPr>
          <a:xfrm>
            <a:off x="6400800" y="4780000"/>
            <a:ext cx="5059680" cy="300000"/>
          </a:xfrm>
          <a:prstGeom prst="rect">
            <a:avLst/>
          </a:prstGeom>
          <a:noFill/>
          <a:ln/>
        </p:spPr>
        <p:txBody>
          <a:bodyPr wrap="square" lIns="45720" tIns="0" rIns="45720" bIns="0" rtlCol="0" anchor="ctr"/>
          <a:lstStyle/>
          <a:p>
            <a:pPr marL="0" indent="0" algn="ctr">
              <a:buNone/>
            </a:pPr>
            <a:r>
              <a:rPr lang="en-US" sz="1250" i="1">
                <a:solidFill>
                  <a:srgbClr val="475569"/>
                </a:solidFill>
                <a:latin typeface="Calibri" pitchFamily="34" charset="0"/>
                <a:ea typeface="Calibri" pitchFamily="34" charset="-122"/>
                <a:cs typeface="Calibri" pitchFamily="34" charset="-120"/>
              </a:rPr>
              <a:t>Every amplitude rotates by the same angle</a:t>
            </a:r>
          </a:p>
        </p:txBody>
      </p:sp>
      <p:sp>
        <p:nvSpPr>
          <p:cNvPr id="17" name="band"/>
          <p:cNvSpPr/>
          <p:nvPr/>
        </p:nvSpPr>
        <p:spPr>
          <a:xfrm>
            <a:off x="731520" y="5135880"/>
            <a:ext cx="10728960" cy="594360"/>
          </a:xfrm>
          <a:prstGeom prst="roundRect">
            <a:avLst>
              <a:gd name="adj" fmla="val 10000"/>
            </a:avLst>
          </a:prstGeom>
          <a:solidFill>
            <a:srgbClr val="CCFBF1"/>
          </a:solidFill>
          <a:ln/>
        </p:spPr>
        <p:txBody>
          <a:bodyPr/>
          <a:lstStyle/>
          <a:p>
            <a:endParaRPr lang="en-US"/>
          </a:p>
        </p:txBody>
      </p:sp>
      <p:sp>
        <p:nvSpPr>
          <p:cNvPr id="18" name="Text 18"/>
          <p:cNvSpPr/>
          <p:nvPr/>
        </p:nvSpPr>
        <p:spPr>
          <a:xfrm>
            <a:off x="731520" y="5135880"/>
            <a:ext cx="10728960" cy="594360"/>
          </a:xfrm>
          <a:prstGeom prst="rect">
            <a:avLst/>
          </a:prstGeom>
          <a:noFill/>
          <a:ln/>
        </p:spPr>
        <p:txBody>
          <a:bodyPr wrap="square" lIns="45720" tIns="0" rIns="45720" bIns="0" rtlCol="0" anchor="ctr"/>
          <a:lstStyle/>
          <a:p>
            <a:pPr marL="0" indent="0" algn="ctr">
              <a:buNone/>
            </a:pPr>
            <a:r>
              <a:rPr lang="en-US" sz="1450" b="1">
                <a:solidFill>
                  <a:srgbClr val="0D9488"/>
                </a:solidFill>
                <a:latin typeface="Calibri" pitchFamily="34" charset="0"/>
                <a:ea typeface="Calibri" pitchFamily="34" charset="-122"/>
                <a:cs typeface="Calibri" pitchFamily="34" charset="-120"/>
              </a:rPr>
              <a:t>Multiplying every amplitude by the same complex number changes no measurement probability.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Relative Phase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2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Compare two states</a:t>
            </a:r>
          </a:p>
        </p:txBody>
      </p:sp>
      <p:sp>
        <p:nvSpPr>
          <p:cNvPr id="5" name="band"/>
          <p:cNvSpPr/>
          <p:nvPr/>
        </p:nvSpPr>
        <p:spPr>
          <a:xfrm>
            <a:off x="731520" y="1940000"/>
            <a:ext cx="5029200" cy="90000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40000"/>
            <a:ext cx="5029200" cy="900000"/>
          </a:xfrm>
          <a:prstGeom prst="rect">
            <a:avLst/>
          </a:prstGeom>
          <a:noFill/>
          <a:ln/>
        </p:spPr>
        <p:txBody>
          <a:bodyPr wrap="square" lIns="45720" tIns="0" rIns="45720" bIns="0" rtlCol="0" anchor="ctr"/>
          <a:lstStyle/>
          <a:p>
            <a:pPr marL="0" indent="0" algn="ctr">
              <a:buNone/>
            </a:pPr>
            <a:r>
              <a:rPr lang="en-US" sz="1800">
                <a:solidFill>
                  <a:srgbClr val="3730A3"/>
                </a:solidFill>
                <a:latin typeface="Cambria Math" pitchFamily="34" charset="0"/>
                <a:ea typeface="Cambria Math" pitchFamily="34" charset="-122"/>
                <a:cs typeface="Cambria Math" pitchFamily="34" charset="-120"/>
              </a:rPr>
              <a:t>|+⟩ = ( |0⟩ + |1⟩ ) / √2</a:t>
            </a:r>
          </a:p>
        </p:txBody>
      </p:sp>
      <p:sp>
        <p:nvSpPr>
          <p:cNvPr id="7" name="band"/>
          <p:cNvSpPr/>
          <p:nvPr/>
        </p:nvSpPr>
        <p:spPr>
          <a:xfrm>
            <a:off x="731520" y="3000000"/>
            <a:ext cx="5029200" cy="900000"/>
          </a:xfrm>
          <a:prstGeom prst="roundRect">
            <a:avLst>
              <a:gd name="adj" fmla="val 4000"/>
            </a:avLst>
          </a:prstGeom>
          <a:solidFill>
            <a:srgbClr val="CCFBF1"/>
          </a:solidFill>
          <a:ln/>
        </p:spPr>
        <p:txBody>
          <a:bodyPr/>
          <a:lstStyle/>
          <a:p>
            <a:endParaRPr lang="en-US"/>
          </a:p>
        </p:txBody>
      </p:sp>
      <p:sp>
        <p:nvSpPr>
          <p:cNvPr id="8" name="Text 8"/>
          <p:cNvSpPr/>
          <p:nvPr/>
        </p:nvSpPr>
        <p:spPr>
          <a:xfrm>
            <a:off x="731520" y="3000000"/>
            <a:ext cx="5029200" cy="900000"/>
          </a:xfrm>
          <a:prstGeom prst="rect">
            <a:avLst/>
          </a:prstGeom>
          <a:noFill/>
          <a:ln/>
        </p:spPr>
        <p:txBody>
          <a:bodyPr wrap="square" lIns="45720" tIns="0" rIns="45720" bIns="0" rtlCol="0" anchor="ctr"/>
          <a:lstStyle/>
          <a:p>
            <a:pPr marL="0" indent="0" algn="ctr">
              <a:buNone/>
            </a:pPr>
            <a:r>
              <a:rPr lang="en-US" sz="1800">
                <a:solidFill>
                  <a:srgbClr val="0D9488"/>
                </a:solidFill>
                <a:latin typeface="Cambria Math" pitchFamily="34" charset="0"/>
                <a:ea typeface="Cambria Math" pitchFamily="34" charset="-122"/>
                <a:cs typeface="Cambria Math" pitchFamily="34" charset="-120"/>
              </a:rPr>
              <a:t>|−⟩ = ( |0⟩ − |1⟩ ) / √2</a:t>
            </a:r>
          </a:p>
        </p:txBody>
      </p:sp>
      <p:sp>
        <p:nvSpPr>
          <p:cNvPr id="9" name="Text 9"/>
          <p:cNvSpPr/>
          <p:nvPr/>
        </p:nvSpPr>
        <p:spPr>
          <a:xfrm>
            <a:off x="6400800" y="1620000"/>
            <a:ext cx="505968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Measurement in the computational basis</a:t>
            </a:r>
          </a:p>
        </p:txBody>
      </p:sp>
      <p:graphicFrame>
        <p:nvGraphicFramePr>
          <p:cNvPr id="10" name="Prob table"/>
          <p:cNvGraphicFramePr>
            <a:graphicFrameLocks noGrp="1"/>
          </p:cNvGraphicFramePr>
          <p:nvPr>
            <p:extLst>
              <p:ext uri="{D42A27DB-BD31-4B8C-83A1-F6EECF244321}">
                <p14:modId xmlns:p14="http://schemas.microsoft.com/office/powerpoint/2010/main" val="2499578897"/>
              </p:ext>
            </p:extLst>
          </p:nvPr>
        </p:nvGraphicFramePr>
        <p:xfrm>
          <a:off x="6400800" y="1940000"/>
          <a:ext cx="5059680" cy="1680000"/>
        </p:xfrm>
        <a:graphic>
          <a:graphicData uri="http://schemas.openxmlformats.org/drawingml/2006/table">
            <a:tbl>
              <a:tblPr firstRow="1" bandRow="1"/>
              <a:tblGrid>
                <a:gridCol w="1700000">
                  <a:extLst>
                    <a:ext uri="{9D8B030D-6E8A-4147-A177-3AD203B41FA5}">
                      <a16:colId xmlns:a16="http://schemas.microsoft.com/office/drawing/2014/main" val="20000"/>
                    </a:ext>
                  </a:extLst>
                </a:gridCol>
                <a:gridCol w="1679840">
                  <a:extLst>
                    <a:ext uri="{9D8B030D-6E8A-4147-A177-3AD203B41FA5}">
                      <a16:colId xmlns:a16="http://schemas.microsoft.com/office/drawing/2014/main" val="20001"/>
                    </a:ext>
                  </a:extLst>
                </a:gridCol>
                <a:gridCol w="1679840">
                  <a:extLst>
                    <a:ext uri="{9D8B030D-6E8A-4147-A177-3AD203B41FA5}">
                      <a16:colId xmlns:a16="http://schemas.microsoft.com/office/drawing/2014/main" val="20002"/>
                    </a:ext>
                  </a:extLst>
                </a:gridCol>
              </a:tblGrid>
              <a:tr h="560000">
                <a:tc>
                  <a:txBody>
                    <a:bodyPr/>
                    <a:lstStyle/>
                    <a:p>
                      <a:pPr algn="ctr"/>
                      <a:r>
                        <a:rPr lang="en-US" sz="1400" b="1" dirty="0">
                          <a:solidFill>
                            <a:srgbClr val="FFFFFF"/>
                          </a:solidFill>
                          <a:latin typeface="Calibri" pitchFamily="34" charset="0"/>
                          <a:ea typeface="Calibri" pitchFamily="34" charset="-122"/>
                          <a:cs typeface="Calibri" pitchFamily="34" charset="-120"/>
                        </a:rPr>
                        <a:t>State</a:t>
                      </a:r>
                    </a:p>
                  </a:txBody>
                  <a:tcPr marL="82296" marR="82296" marT="36576" marB="36576" anchor="ctr">
                    <a:solidFill>
                      <a:srgbClr val="3730A3"/>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P(0)</a:t>
                      </a:r>
                    </a:p>
                  </a:txBody>
                  <a:tcPr marL="82296" marR="82296" marT="36576" marB="36576" anchor="ctr">
                    <a:solidFill>
                      <a:srgbClr val="3730A3"/>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P(1)</a:t>
                      </a:r>
                    </a:p>
                  </a:txBody>
                  <a:tcPr marL="82296" marR="82296" marT="36576" marB="36576" anchor="ctr">
                    <a:solidFill>
                      <a:srgbClr val="3730A3"/>
                    </a:solidFill>
                  </a:tcPr>
                </a:tc>
                <a:extLst>
                  <a:ext uri="{0D108BD9-81ED-4DB2-BD59-A6C34878D82A}">
                    <a16:rowId xmlns:a16="http://schemas.microsoft.com/office/drawing/2014/main" val="10000"/>
                  </a:ext>
                </a:extLst>
              </a:tr>
              <a:tr h="560000">
                <a:tc>
                  <a:txBody>
                    <a:bodyPr/>
                    <a:lstStyle/>
                    <a:p>
                      <a:pPr algn="ctr"/>
                      <a:r>
                        <a:rPr lang="en-US" sz="1700" b="1" dirty="0">
                          <a:solidFill>
                            <a:srgbClr val="3730A3"/>
                          </a:solidFill>
                          <a:latin typeface="Cambria Math" pitchFamily="34" charset="0"/>
                          <a:ea typeface="Cambria Math" pitchFamily="34" charset="-122"/>
                          <a:cs typeface="Cambria Math" pitchFamily="34" charset="-120"/>
                        </a:rPr>
                        <a:t>|+⟩</a:t>
                      </a:r>
                    </a:p>
                  </a:txBody>
                  <a:tcPr marL="82296" marR="82296" marT="36576" marB="36576" anchor="ctr">
                    <a:solidFill>
                      <a:srgbClr val="FFFFFF"/>
                    </a:solidFill>
                  </a:tcPr>
                </a:tc>
                <a:tc>
                  <a:txBody>
                    <a:bodyPr/>
                    <a:lstStyle/>
                    <a:p>
                      <a:pPr algn="ctr"/>
                      <a:r>
                        <a:rPr lang="en-US" sz="1500" dirty="0">
                          <a:solidFill>
                            <a:srgbClr val="1F2937"/>
                          </a:solidFill>
                          <a:latin typeface="Cambria Math" pitchFamily="34" charset="0"/>
                          <a:ea typeface="Cambria Math" pitchFamily="34" charset="-122"/>
                          <a:cs typeface="Cambria Math" pitchFamily="34" charset="-120"/>
                        </a:rPr>
                        <a:t>0.5</a:t>
                      </a:r>
                    </a:p>
                  </a:txBody>
                  <a:tcPr marL="82296" marR="82296" marT="36576" marB="36576" anchor="ctr">
                    <a:solidFill>
                      <a:srgbClr val="EEF2FF"/>
                    </a:solidFill>
                  </a:tcPr>
                </a:tc>
                <a:tc>
                  <a:txBody>
                    <a:bodyPr/>
                    <a:lstStyle/>
                    <a:p>
                      <a:pPr algn="ctr"/>
                      <a:r>
                        <a:rPr lang="en-US" sz="1500" dirty="0">
                          <a:solidFill>
                            <a:srgbClr val="1F2937"/>
                          </a:solidFill>
                          <a:latin typeface="Cambria Math" pitchFamily="34" charset="0"/>
                          <a:ea typeface="Cambria Math" pitchFamily="34" charset="-122"/>
                          <a:cs typeface="Cambria Math" pitchFamily="34" charset="-120"/>
                        </a:rPr>
                        <a:t>0.5</a:t>
                      </a:r>
                    </a:p>
                  </a:txBody>
                  <a:tcPr marL="82296" marR="82296" marT="36576" marB="36576" anchor="ctr">
                    <a:solidFill>
                      <a:srgbClr val="EEF2FF"/>
                    </a:solidFill>
                  </a:tcPr>
                </a:tc>
                <a:extLst>
                  <a:ext uri="{0D108BD9-81ED-4DB2-BD59-A6C34878D82A}">
                    <a16:rowId xmlns:a16="http://schemas.microsoft.com/office/drawing/2014/main" val="10001"/>
                  </a:ext>
                </a:extLst>
              </a:tr>
              <a:tr h="560000">
                <a:tc>
                  <a:txBody>
                    <a:bodyPr/>
                    <a:lstStyle/>
                    <a:p>
                      <a:pPr algn="ctr"/>
                      <a:r>
                        <a:rPr lang="en-US" sz="1700" b="1" dirty="0">
                          <a:solidFill>
                            <a:srgbClr val="0D9488"/>
                          </a:solidFill>
                          <a:latin typeface="Cambria Math" pitchFamily="34" charset="0"/>
                          <a:ea typeface="Cambria Math" pitchFamily="34" charset="-122"/>
                          <a:cs typeface="Cambria Math" pitchFamily="34" charset="-120"/>
                        </a:rPr>
                        <a:t>|−⟩</a:t>
                      </a:r>
                    </a:p>
                  </a:txBody>
                  <a:tcPr marL="82296" marR="82296" marT="36576" marB="36576" anchor="ctr">
                    <a:solidFill>
                      <a:srgbClr val="FFFFFF"/>
                    </a:solidFill>
                  </a:tcPr>
                </a:tc>
                <a:tc>
                  <a:txBody>
                    <a:bodyPr/>
                    <a:lstStyle/>
                    <a:p>
                      <a:pPr algn="ctr"/>
                      <a:r>
                        <a:rPr lang="en-US" sz="1500" dirty="0">
                          <a:solidFill>
                            <a:srgbClr val="1F2937"/>
                          </a:solidFill>
                          <a:latin typeface="Cambria Math" pitchFamily="34" charset="0"/>
                          <a:ea typeface="Cambria Math" pitchFamily="34" charset="-122"/>
                          <a:cs typeface="Cambria Math" pitchFamily="34" charset="-120"/>
                        </a:rPr>
                        <a:t>0.5</a:t>
                      </a:r>
                    </a:p>
                  </a:txBody>
                  <a:tcPr marL="82296" marR="82296" marT="36576" marB="36576" anchor="ctr">
                    <a:solidFill>
                      <a:srgbClr val="CCFBF1"/>
                    </a:solidFill>
                  </a:tcPr>
                </a:tc>
                <a:tc>
                  <a:txBody>
                    <a:bodyPr/>
                    <a:lstStyle/>
                    <a:p>
                      <a:pPr algn="ctr"/>
                      <a:r>
                        <a:rPr lang="en-US" sz="1500" dirty="0">
                          <a:solidFill>
                            <a:srgbClr val="1F2937"/>
                          </a:solidFill>
                          <a:latin typeface="Cambria Math" pitchFamily="34" charset="0"/>
                          <a:ea typeface="Cambria Math" pitchFamily="34" charset="-122"/>
                          <a:cs typeface="Cambria Math" pitchFamily="34" charset="-120"/>
                        </a:rPr>
                        <a:t>0.5</a:t>
                      </a:r>
                    </a:p>
                  </a:txBody>
                  <a:tcPr marL="82296" marR="82296" marT="36576" marB="36576" anchor="ctr">
                    <a:solidFill>
                      <a:srgbClr val="CCFBF1"/>
                    </a:solidFill>
                  </a:tcPr>
                </a:tc>
                <a:extLst>
                  <a:ext uri="{0D108BD9-81ED-4DB2-BD59-A6C34878D82A}">
                    <a16:rowId xmlns:a16="http://schemas.microsoft.com/office/drawing/2014/main" val="10002"/>
                  </a:ext>
                </a:extLst>
              </a:tr>
            </a:tbl>
          </a:graphicData>
        </a:graphic>
      </p:graphicFrame>
      <p:sp>
        <p:nvSpPr>
          <p:cNvPr id="11" name="Question box"/>
          <p:cNvSpPr/>
          <p:nvPr/>
        </p:nvSpPr>
        <p:spPr>
          <a:xfrm>
            <a:off x="6400800" y="3760000"/>
            <a:ext cx="5059680" cy="1140000"/>
          </a:xfrm>
          <a:prstGeom prst="roundRect">
            <a:avLst>
              <a:gd name="adj" fmla="val 3137"/>
            </a:avLst>
          </a:prstGeom>
          <a:solidFill>
            <a:srgbClr val="FFFFFF"/>
          </a:solidFill>
          <a:ln w="19050">
            <a:solidFill>
              <a:srgbClr val="3730A3"/>
            </a:solidFill>
            <a:prstDash val="solid"/>
          </a:ln>
        </p:spPr>
        <p:txBody>
          <a:bodyPr/>
          <a:lstStyle/>
          <a:p>
            <a:endParaRPr lang="en-US"/>
          </a:p>
        </p:txBody>
      </p:sp>
      <p:sp>
        <p:nvSpPr>
          <p:cNvPr id="12" name="Text 12"/>
          <p:cNvSpPr/>
          <p:nvPr/>
        </p:nvSpPr>
        <p:spPr>
          <a:xfrm>
            <a:off x="6583680" y="3760000"/>
            <a:ext cx="4693920" cy="1140000"/>
          </a:xfrm>
          <a:prstGeom prst="rect">
            <a:avLst/>
          </a:prstGeom>
          <a:noFill/>
          <a:ln/>
        </p:spPr>
        <p:txBody>
          <a:bodyPr wrap="square" lIns="45720" tIns="0" rIns="45720" bIns="0" rtlCol="0" anchor="ctr"/>
          <a:lstStyle/>
          <a:p>
            <a:pPr marL="0" indent="0" algn="ctr">
              <a:lnSpc>
                <a:spcPct val="115000"/>
              </a:lnSpc>
              <a:buNone/>
            </a:pPr>
            <a:r>
              <a:rPr lang="en-US" sz="1600" b="1">
                <a:solidFill>
                  <a:srgbClr val="3730A3"/>
                </a:solidFill>
                <a:latin typeface="Calibri" pitchFamily="34" charset="0"/>
                <a:ea typeface="Calibri" pitchFamily="34" charset="-122"/>
                <a:cs typeface="Calibri" pitchFamily="34" charset="-120"/>
              </a:rPr>
              <a:t>If the probabilities are identical, are the states identical?</a:t>
            </a:r>
          </a:p>
        </p:txBody>
      </p:sp>
      <p:sp>
        <p:nvSpPr>
          <p:cNvPr id="13" name="Text 13"/>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The computational basis tells only part of the story.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Measuring Relative Phase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2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Outcomes by measurement basis</a:t>
            </a:r>
          </a:p>
        </p:txBody>
      </p:sp>
      <p:graphicFrame>
        <p:nvGraphicFramePr>
          <p:cNvPr id="5" name="Basis table"/>
          <p:cNvGraphicFramePr>
            <a:graphicFrameLocks noGrp="1"/>
          </p:cNvGraphicFramePr>
          <p:nvPr>
            <p:extLst>
              <p:ext uri="{D42A27DB-BD31-4B8C-83A1-F6EECF244321}">
                <p14:modId xmlns:p14="http://schemas.microsoft.com/office/powerpoint/2010/main" val="1779414812"/>
              </p:ext>
            </p:extLst>
          </p:nvPr>
        </p:nvGraphicFramePr>
        <p:xfrm>
          <a:off x="731520" y="1940000"/>
          <a:ext cx="5029200" cy="1860000"/>
        </p:xfrm>
        <a:graphic>
          <a:graphicData uri="http://schemas.openxmlformats.org/drawingml/2006/table">
            <a:tbl>
              <a:tblPr firstRow="1" bandRow="1"/>
              <a:tblGrid>
                <a:gridCol w="1300000">
                  <a:extLst>
                    <a:ext uri="{9D8B030D-6E8A-4147-A177-3AD203B41FA5}">
                      <a16:colId xmlns:a16="http://schemas.microsoft.com/office/drawing/2014/main" val="20000"/>
                    </a:ext>
                  </a:extLst>
                </a:gridCol>
                <a:gridCol w="1864600">
                  <a:extLst>
                    <a:ext uri="{9D8B030D-6E8A-4147-A177-3AD203B41FA5}">
                      <a16:colId xmlns:a16="http://schemas.microsoft.com/office/drawing/2014/main" val="20001"/>
                    </a:ext>
                  </a:extLst>
                </a:gridCol>
                <a:gridCol w="1864600">
                  <a:extLst>
                    <a:ext uri="{9D8B030D-6E8A-4147-A177-3AD203B41FA5}">
                      <a16:colId xmlns:a16="http://schemas.microsoft.com/office/drawing/2014/main" val="20002"/>
                    </a:ext>
                  </a:extLst>
                </a:gridCol>
              </a:tblGrid>
              <a:tr h="620000">
                <a:tc>
                  <a:txBody>
                    <a:bodyPr/>
                    <a:lstStyle/>
                    <a:p>
                      <a:pPr algn="ctr"/>
                      <a:r>
                        <a:rPr lang="en-US" sz="1350" b="1" dirty="0">
                          <a:solidFill>
                            <a:srgbClr val="FFFFFF"/>
                          </a:solidFill>
                          <a:latin typeface="Calibri" pitchFamily="34" charset="0"/>
                          <a:ea typeface="Calibri" pitchFamily="34" charset="-122"/>
                          <a:cs typeface="Calibri" pitchFamily="34" charset="-120"/>
                        </a:rPr>
                        <a:t>State</a:t>
                      </a:r>
                    </a:p>
                  </a:txBody>
                  <a:tcPr marL="82296" marR="82296" marT="36576" marB="36576" anchor="ctr">
                    <a:solidFill>
                      <a:srgbClr val="3730A3"/>
                    </a:solidFill>
                  </a:tcPr>
                </a:tc>
                <a:tc>
                  <a:txBody>
                    <a:bodyPr/>
                    <a:lstStyle/>
                    <a:p>
                      <a:pPr algn="ctr"/>
                      <a:r>
                        <a:rPr lang="en-US" sz="1350" b="1" dirty="0">
                          <a:solidFill>
                            <a:srgbClr val="FFFFFF"/>
                          </a:solidFill>
                          <a:latin typeface="Calibri" pitchFamily="34" charset="0"/>
                          <a:ea typeface="Calibri" pitchFamily="34" charset="-122"/>
                          <a:cs typeface="Calibri" pitchFamily="34" charset="-120"/>
                        </a:rPr>
                        <a:t>Computational</a:t>
                      </a:r>
                    </a:p>
                  </a:txBody>
                  <a:tcPr marL="82296" marR="82296" marT="36576" marB="36576" anchor="ctr">
                    <a:solidFill>
                      <a:srgbClr val="3730A3"/>
                    </a:solidFill>
                  </a:tcPr>
                </a:tc>
                <a:tc>
                  <a:txBody>
                    <a:bodyPr/>
                    <a:lstStyle/>
                    <a:p>
                      <a:pPr algn="ctr"/>
                      <a:r>
                        <a:rPr lang="en-US" sz="1350" b="1" dirty="0">
                          <a:solidFill>
                            <a:srgbClr val="FFFFFF"/>
                          </a:solidFill>
                          <a:latin typeface="Calibri" pitchFamily="34" charset="0"/>
                          <a:ea typeface="Calibri" pitchFamily="34" charset="-122"/>
                          <a:cs typeface="Calibri" pitchFamily="34" charset="-120"/>
                        </a:rPr>
                        <a:t>Hadamard</a:t>
                      </a:r>
                    </a:p>
                  </a:txBody>
                  <a:tcPr marL="82296" marR="82296" marT="36576" marB="36576" anchor="ctr">
                    <a:solidFill>
                      <a:srgbClr val="3730A3"/>
                    </a:solidFill>
                  </a:tcPr>
                </a:tc>
                <a:extLst>
                  <a:ext uri="{0D108BD9-81ED-4DB2-BD59-A6C34878D82A}">
                    <a16:rowId xmlns:a16="http://schemas.microsoft.com/office/drawing/2014/main" val="10000"/>
                  </a:ext>
                </a:extLst>
              </a:tr>
              <a:tr h="620000">
                <a:tc>
                  <a:txBody>
                    <a:bodyPr/>
                    <a:lstStyle/>
                    <a:p>
                      <a:pPr algn="ctr"/>
                      <a:r>
                        <a:rPr lang="en-US" sz="1600" b="1" dirty="0">
                          <a:solidFill>
                            <a:srgbClr val="3730A3"/>
                          </a:solidFill>
                          <a:latin typeface="Cambria Math" pitchFamily="34" charset="0"/>
                          <a:ea typeface="Cambria Math" pitchFamily="34" charset="-122"/>
                          <a:cs typeface="Cambria Math" pitchFamily="34" charset="-120"/>
                        </a:rPr>
                        <a:t>|+⟩</a:t>
                      </a:r>
                    </a:p>
                  </a:txBody>
                  <a:tcPr marL="82296" marR="82296" marT="36576" marB="36576" anchor="ctr">
                    <a:solidFill>
                      <a:srgbClr val="FFFFFF"/>
                    </a:solidFill>
                  </a:tcPr>
                </a:tc>
                <a:tc>
                  <a:txBody>
                    <a:bodyPr/>
                    <a:lstStyle/>
                    <a:p>
                      <a:pPr algn="ctr"/>
                      <a:r>
                        <a:rPr lang="en-US" sz="1400" dirty="0">
                          <a:solidFill>
                            <a:srgbClr val="1F2937"/>
                          </a:solidFill>
                          <a:latin typeface="Cambria Math" pitchFamily="34" charset="0"/>
                          <a:ea typeface="Cambria Math" pitchFamily="34" charset="-122"/>
                          <a:cs typeface="Cambria Math" pitchFamily="34" charset="-120"/>
                        </a:rPr>
                        <a:t>50 / 50</a:t>
                      </a:r>
                    </a:p>
                  </a:txBody>
                  <a:tcPr marL="82296" marR="82296" marT="36576" marB="36576" anchor="ctr">
                    <a:solidFill>
                      <a:srgbClr val="EEF2FF"/>
                    </a:solidFill>
                  </a:tcPr>
                </a:tc>
                <a:tc>
                  <a:txBody>
                    <a:bodyPr/>
                    <a:lstStyle/>
                    <a:p>
                      <a:pPr algn="ctr"/>
                      <a:r>
                        <a:rPr lang="en-US" sz="1350" b="1" dirty="0">
                          <a:solidFill>
                            <a:srgbClr val="3730A3"/>
                          </a:solidFill>
                          <a:latin typeface="Cambria Math" pitchFamily="34" charset="0"/>
                          <a:ea typeface="Cambria Math" pitchFamily="34" charset="-122"/>
                          <a:cs typeface="Cambria Math" pitchFamily="34" charset="-120"/>
                        </a:rPr>
                        <a:t>Always |+⟩</a:t>
                      </a:r>
                    </a:p>
                  </a:txBody>
                  <a:tcPr marL="82296" marR="82296" marT="36576" marB="36576" anchor="ctr">
                    <a:solidFill>
                      <a:srgbClr val="EEF2FF"/>
                    </a:solidFill>
                  </a:tcPr>
                </a:tc>
                <a:extLst>
                  <a:ext uri="{0D108BD9-81ED-4DB2-BD59-A6C34878D82A}">
                    <a16:rowId xmlns:a16="http://schemas.microsoft.com/office/drawing/2014/main" val="10001"/>
                  </a:ext>
                </a:extLst>
              </a:tr>
              <a:tr h="620000">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a:t>
                      </a:r>
                    </a:p>
                  </a:txBody>
                  <a:tcPr marL="82296" marR="82296" marT="36576" marB="36576" anchor="ctr">
                    <a:solidFill>
                      <a:srgbClr val="FFFFFF"/>
                    </a:solidFill>
                  </a:tcPr>
                </a:tc>
                <a:tc>
                  <a:txBody>
                    <a:bodyPr/>
                    <a:lstStyle/>
                    <a:p>
                      <a:pPr algn="ctr"/>
                      <a:r>
                        <a:rPr lang="en-US" sz="1400" dirty="0">
                          <a:solidFill>
                            <a:srgbClr val="1F2937"/>
                          </a:solidFill>
                          <a:latin typeface="Cambria Math" pitchFamily="34" charset="0"/>
                          <a:ea typeface="Cambria Math" pitchFamily="34" charset="-122"/>
                          <a:cs typeface="Cambria Math" pitchFamily="34" charset="-120"/>
                        </a:rPr>
                        <a:t>50 / 50</a:t>
                      </a:r>
                    </a:p>
                  </a:txBody>
                  <a:tcPr marL="82296" marR="82296" marT="36576" marB="36576" anchor="ctr">
                    <a:solidFill>
                      <a:srgbClr val="CCFBF1"/>
                    </a:solidFill>
                  </a:tcPr>
                </a:tc>
                <a:tc>
                  <a:txBody>
                    <a:bodyPr/>
                    <a:lstStyle/>
                    <a:p>
                      <a:pPr algn="ctr"/>
                      <a:r>
                        <a:rPr lang="en-US" sz="1350" b="1" dirty="0">
                          <a:solidFill>
                            <a:srgbClr val="0D9488"/>
                          </a:solidFill>
                          <a:latin typeface="Cambria Math" pitchFamily="34" charset="0"/>
                          <a:ea typeface="Cambria Math" pitchFamily="34" charset="-122"/>
                          <a:cs typeface="Cambria Math" pitchFamily="34" charset="-120"/>
                        </a:rPr>
                        <a:t>Always |−⟩</a:t>
                      </a:r>
                    </a:p>
                  </a:txBody>
                  <a:tcPr marL="82296" marR="82296" marT="36576" marB="36576" anchor="ctr">
                    <a:solidFill>
                      <a:srgbClr val="CCFBF1"/>
                    </a:solidFill>
                  </a:tcPr>
                </a:tc>
                <a:extLst>
                  <a:ext uri="{0D108BD9-81ED-4DB2-BD59-A6C34878D82A}">
                    <a16:rowId xmlns:a16="http://schemas.microsoft.com/office/drawing/2014/main" val="10002"/>
                  </a:ext>
                </a:extLst>
              </a:tr>
            </a:tbl>
          </a:graphicData>
        </a:graphic>
      </p:graphicFrame>
      <p:sp>
        <p:nvSpPr>
          <p:cNvPr id="6" name="callout"/>
          <p:cNvSpPr/>
          <p:nvPr/>
        </p:nvSpPr>
        <p:spPr>
          <a:xfrm>
            <a:off x="731520" y="3980000"/>
            <a:ext cx="5029200" cy="1080000"/>
          </a:xfrm>
          <a:prstGeom prst="roundRect">
            <a:avLst>
              <a:gd name="adj" fmla="val 5000"/>
            </a:avLst>
          </a:prstGeom>
          <a:solidFill>
            <a:srgbClr val="EEF2FF"/>
          </a:solidFill>
          <a:ln/>
        </p:spPr>
        <p:txBody>
          <a:bodyPr/>
          <a:lstStyle/>
          <a:p>
            <a:endParaRPr lang="en-US"/>
          </a:p>
        </p:txBody>
      </p:sp>
      <p:sp>
        <p:nvSpPr>
          <p:cNvPr id="7" name="Text 7"/>
          <p:cNvSpPr/>
          <p:nvPr/>
        </p:nvSpPr>
        <p:spPr>
          <a:xfrm>
            <a:off x="960120" y="3980000"/>
            <a:ext cx="4572000" cy="1080000"/>
          </a:xfrm>
          <a:prstGeom prst="rect">
            <a:avLst/>
          </a:prstGeom>
          <a:noFill/>
          <a:ln/>
        </p:spPr>
        <p:txBody>
          <a:bodyPr wrap="square" lIns="45720" tIns="0" rIns="45720" bIns="0" rtlCol="0" anchor="ctr"/>
          <a:lstStyle/>
          <a:p>
            <a:pPr marL="0" indent="0" algn="l">
              <a:lnSpc>
                <a:spcPct val="112000"/>
              </a:lnSpc>
              <a:spcAft>
                <a:spcPts val="200"/>
              </a:spcAft>
              <a:buNone/>
            </a:pPr>
            <a:r>
              <a:rPr lang="en-US" sz="1350">
                <a:solidFill>
                  <a:srgbClr val="1F2937"/>
                </a:solidFill>
                <a:latin typeface="Calibri" pitchFamily="34" charset="0"/>
                <a:ea typeface="Calibri" pitchFamily="34" charset="-122"/>
                <a:cs typeface="Calibri" pitchFamily="34" charset="-120"/>
              </a:rPr>
              <a:t>Same in the computational basis — different in the Hadamard basis.</a:t>
            </a:r>
          </a:p>
          <a:p>
            <a:pPr marL="0" indent="0" algn="l">
              <a:buNone/>
            </a:pPr>
            <a:r>
              <a:rPr lang="en-US" sz="1350" b="1">
                <a:solidFill>
                  <a:srgbClr val="3730A3"/>
                </a:solidFill>
                <a:latin typeface="Calibri" pitchFamily="34" charset="0"/>
                <a:ea typeface="Calibri" pitchFamily="34" charset="-122"/>
                <a:cs typeface="Calibri" pitchFamily="34" charset="-120"/>
              </a:rPr>
              <a:t>The minus sign is physically real.</a:t>
            </a:r>
          </a:p>
        </p:txBody>
      </p:sp>
      <p:sp>
        <p:nvSpPr>
          <p:cNvPr id="8" name="Figure card"/>
          <p:cNvSpPr/>
          <p:nvPr/>
        </p:nvSpPr>
        <p:spPr>
          <a:xfrm>
            <a:off x="6400800" y="1737360"/>
            <a:ext cx="5059680" cy="3016800"/>
          </a:xfrm>
          <a:prstGeom prst="roundRect">
            <a:avLst>
              <a:gd name="adj" fmla="val 3137"/>
            </a:avLst>
          </a:prstGeom>
          <a:solidFill>
            <a:srgbClr val="FFFFFF"/>
          </a:solidFill>
          <a:ln w="15875">
            <a:solidFill>
              <a:srgbClr val="D1D5DB"/>
            </a:solidFill>
            <a:prstDash val="solid"/>
          </a:ln>
        </p:spPr>
        <p:txBody>
          <a:bodyPr/>
          <a:lstStyle/>
          <a:p>
            <a:endParaRPr lang="en-US"/>
          </a:p>
        </p:txBody>
      </p:sp>
      <p:pic>
        <p:nvPicPr>
          <p:cNvPr id="9" name="Illustration"/>
          <p:cNvPicPr>
            <a:picLocks noChangeAspect="1"/>
          </p:cNvPicPr>
          <p:nvPr/>
        </p:nvPicPr>
        <p:blipFill>
          <a:blip r:embed="rId3"/>
          <a:stretch>
            <a:fillRect/>
          </a:stretch>
        </p:blipFill>
        <p:spPr>
          <a:xfrm>
            <a:off x="6537960" y="1931101"/>
            <a:ext cx="4785360" cy="2629318"/>
          </a:xfrm>
          <a:prstGeom prst="rect">
            <a:avLst/>
          </a:prstGeom>
        </p:spPr>
      </p:pic>
      <p:sp>
        <p:nvSpPr>
          <p:cNvPr id="10" name="Text 10"/>
          <p:cNvSpPr/>
          <p:nvPr/>
        </p:nvSpPr>
        <p:spPr>
          <a:xfrm>
            <a:off x="6400800" y="4840000"/>
            <a:ext cx="5059680" cy="300000"/>
          </a:xfrm>
          <a:prstGeom prst="rect">
            <a:avLst/>
          </a:prstGeom>
          <a:noFill/>
          <a:ln/>
        </p:spPr>
        <p:txBody>
          <a:bodyPr wrap="square" lIns="45720" tIns="0" rIns="45720" bIns="0" rtlCol="0" anchor="ctr"/>
          <a:lstStyle/>
          <a:p>
            <a:pPr marL="0" indent="0" algn="ctr">
              <a:buNone/>
            </a:pPr>
            <a:r>
              <a:rPr lang="en-US" sz="1250" i="1">
                <a:solidFill>
                  <a:srgbClr val="475569"/>
                </a:solidFill>
                <a:latin typeface="Calibri" pitchFamily="34" charset="0"/>
                <a:ea typeface="Calibri" pitchFamily="34" charset="-122"/>
                <a:cs typeface="Calibri" pitchFamily="34" charset="-120"/>
              </a:rPr>
              <a:t>One state, two measurement bases, two outcomes</a:t>
            </a:r>
          </a:p>
        </p:txBody>
      </p:sp>
      <p:sp>
        <p:nvSpPr>
          <p:cNvPr id="11" name="Text 11"/>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Relative phase changes interference.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400" b="1">
                <a:solidFill>
                  <a:srgbClr val="3730A3"/>
                </a:solidFill>
                <a:latin typeface="Calibri" pitchFamily="34" charset="0"/>
                <a:ea typeface="Calibri" pitchFamily="34" charset="-122"/>
                <a:cs typeface="Calibri" pitchFamily="34" charset="-120"/>
              </a:rPr>
              <a:t>Summary: Global Phase vs Relative Phase</a:t>
            </a:r>
            <a:endParaRPr lang="en-US" sz="24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graphicFrame>
        <p:nvGraphicFramePr>
          <p:cNvPr id="4" name="Comparison table"/>
          <p:cNvGraphicFramePr>
            <a:graphicFrameLocks noGrp="1"/>
          </p:cNvGraphicFramePr>
          <p:nvPr>
            <p:extLst>
              <p:ext uri="{D42A27DB-BD31-4B8C-83A1-F6EECF244321}">
                <p14:modId xmlns:p14="http://schemas.microsoft.com/office/powerpoint/2010/main" val="2363488696"/>
              </p:ext>
            </p:extLst>
          </p:nvPr>
        </p:nvGraphicFramePr>
        <p:xfrm>
          <a:off x="731520" y="1720000"/>
          <a:ext cx="10728960" cy="3100000"/>
        </p:xfrm>
        <a:graphic>
          <a:graphicData uri="http://schemas.openxmlformats.org/drawingml/2006/table">
            <a:tbl>
              <a:tblPr firstRow="1" bandRow="1"/>
              <a:tblGrid>
                <a:gridCol w="5364480">
                  <a:extLst>
                    <a:ext uri="{9D8B030D-6E8A-4147-A177-3AD203B41FA5}">
                      <a16:colId xmlns:a16="http://schemas.microsoft.com/office/drawing/2014/main" val="20000"/>
                    </a:ext>
                  </a:extLst>
                </a:gridCol>
                <a:gridCol w="5364480">
                  <a:extLst>
                    <a:ext uri="{9D8B030D-6E8A-4147-A177-3AD203B41FA5}">
                      <a16:colId xmlns:a16="http://schemas.microsoft.com/office/drawing/2014/main" val="20001"/>
                    </a:ext>
                  </a:extLst>
                </a:gridCol>
              </a:tblGrid>
              <a:tr h="620000">
                <a:tc>
                  <a:txBody>
                    <a:bodyPr/>
                    <a:lstStyle/>
                    <a:p>
                      <a:pPr algn="ctr"/>
                      <a:r>
                        <a:rPr lang="en-US" sz="1600" b="1" dirty="0">
                          <a:solidFill>
                            <a:srgbClr val="FFFFFF"/>
                          </a:solidFill>
                          <a:latin typeface="Calibri" pitchFamily="34" charset="0"/>
                          <a:ea typeface="Calibri" pitchFamily="34" charset="-122"/>
                          <a:cs typeface="Calibri" pitchFamily="34" charset="-120"/>
                        </a:rPr>
                        <a:t>Global Phase</a:t>
                      </a:r>
                    </a:p>
                  </a:txBody>
                  <a:tcPr marL="82296" marR="82296" marT="36576" marB="36576" anchor="ctr">
                    <a:solidFill>
                      <a:srgbClr val="3730A3"/>
                    </a:solidFill>
                  </a:tcPr>
                </a:tc>
                <a:tc>
                  <a:txBody>
                    <a:bodyPr/>
                    <a:lstStyle/>
                    <a:p>
                      <a:pPr algn="ctr"/>
                      <a:r>
                        <a:rPr lang="en-US" sz="1600" b="1" dirty="0">
                          <a:solidFill>
                            <a:srgbClr val="FFFFFF"/>
                          </a:solidFill>
                          <a:latin typeface="Calibri" pitchFamily="34" charset="0"/>
                          <a:ea typeface="Calibri" pitchFamily="34" charset="-122"/>
                          <a:cs typeface="Calibri" pitchFamily="34" charset="-120"/>
                        </a:rPr>
                        <a:t>Relative Phase</a:t>
                      </a:r>
                    </a:p>
                  </a:txBody>
                  <a:tcPr marL="82296" marR="82296" marT="36576" marB="36576" anchor="ctr">
                    <a:solidFill>
                      <a:srgbClr val="0D9488"/>
                    </a:solidFill>
                  </a:tcPr>
                </a:tc>
                <a:extLst>
                  <a:ext uri="{0D108BD9-81ED-4DB2-BD59-A6C34878D82A}">
                    <a16:rowId xmlns:a16="http://schemas.microsoft.com/office/drawing/2014/main" val="10000"/>
                  </a:ext>
                </a:extLst>
              </a:tr>
              <a:tr h="620000">
                <a:tc>
                  <a:txBody>
                    <a:bodyPr/>
                    <a:lstStyle/>
                    <a:p>
                      <a:pPr algn="l"/>
                      <a:r>
                        <a:rPr lang="en-US" sz="1450" dirty="0">
                          <a:solidFill>
                            <a:srgbClr val="1F2937"/>
                          </a:solidFill>
                          <a:latin typeface="Calibri" pitchFamily="34" charset="0"/>
                          <a:ea typeface="Calibri" pitchFamily="34" charset="-122"/>
                          <a:cs typeface="Calibri" pitchFamily="34" charset="-120"/>
                        </a:rPr>
                        <a:t>Multiplies every amplitude equally</a:t>
                      </a:r>
                    </a:p>
                  </a:txBody>
                  <a:tcPr marL="82296" marR="82296" marT="36576" marB="36576" anchor="ctr">
                    <a:solidFill>
                      <a:srgbClr val="EEF2FF"/>
                    </a:solidFill>
                  </a:tcPr>
                </a:tc>
                <a:tc>
                  <a:txBody>
                    <a:bodyPr/>
                    <a:lstStyle/>
                    <a:p>
                      <a:pPr algn="l"/>
                      <a:r>
                        <a:rPr lang="en-US" sz="1450" dirty="0">
                          <a:solidFill>
                            <a:srgbClr val="1F2937"/>
                          </a:solidFill>
                          <a:latin typeface="Calibri" pitchFamily="34" charset="0"/>
                          <a:ea typeface="Calibri" pitchFamily="34" charset="-122"/>
                          <a:cs typeface="Calibri" pitchFamily="34" charset="-120"/>
                        </a:rPr>
                        <a:t>Changes amplitudes relative to each other</a:t>
                      </a:r>
                    </a:p>
                  </a:txBody>
                  <a:tcPr marL="82296" marR="82296" marT="36576" marB="36576" anchor="ctr">
                    <a:solidFill>
                      <a:srgbClr val="CCFBF1"/>
                    </a:solidFill>
                  </a:tcPr>
                </a:tc>
                <a:extLst>
                  <a:ext uri="{0D108BD9-81ED-4DB2-BD59-A6C34878D82A}">
                    <a16:rowId xmlns:a16="http://schemas.microsoft.com/office/drawing/2014/main" val="10001"/>
                  </a:ext>
                </a:extLst>
              </a:tr>
              <a:tr h="620000">
                <a:tc>
                  <a:txBody>
                    <a:bodyPr/>
                    <a:lstStyle/>
                    <a:p>
                      <a:pPr algn="l"/>
                      <a:r>
                        <a:rPr lang="en-US" sz="1450" dirty="0">
                          <a:solidFill>
                            <a:srgbClr val="1F2937"/>
                          </a:solidFill>
                          <a:latin typeface="Calibri" pitchFamily="34" charset="0"/>
                          <a:ea typeface="Calibri" pitchFamily="34" charset="-122"/>
                          <a:cs typeface="Calibri" pitchFamily="34" charset="-120"/>
                        </a:rPr>
                        <a:t>Cannot be measured</a:t>
                      </a:r>
                    </a:p>
                  </a:txBody>
                  <a:tcPr marL="82296" marR="82296" marT="36576" marB="36576" anchor="ctr">
                    <a:solidFill>
                      <a:srgbClr val="FFFFFF"/>
                    </a:solidFill>
                  </a:tcPr>
                </a:tc>
                <a:tc>
                  <a:txBody>
                    <a:bodyPr/>
                    <a:lstStyle/>
                    <a:p>
                      <a:pPr algn="l"/>
                      <a:r>
                        <a:rPr lang="en-US" sz="1450" dirty="0">
                          <a:solidFill>
                            <a:srgbClr val="1F2937"/>
                          </a:solidFill>
                          <a:latin typeface="Calibri" pitchFamily="34" charset="0"/>
                          <a:ea typeface="Calibri" pitchFamily="34" charset="-122"/>
                          <a:cs typeface="Calibri" pitchFamily="34" charset="-120"/>
                        </a:rPr>
                        <a:t>Can be measured</a:t>
                      </a:r>
                    </a:p>
                  </a:txBody>
                  <a:tcPr marL="82296" marR="82296" marT="36576" marB="36576" anchor="ctr">
                    <a:solidFill>
                      <a:srgbClr val="FFFFFF"/>
                    </a:solidFill>
                  </a:tcPr>
                </a:tc>
                <a:extLst>
                  <a:ext uri="{0D108BD9-81ED-4DB2-BD59-A6C34878D82A}">
                    <a16:rowId xmlns:a16="http://schemas.microsoft.com/office/drawing/2014/main" val="10002"/>
                  </a:ext>
                </a:extLst>
              </a:tr>
              <a:tr h="620000">
                <a:tc>
                  <a:txBody>
                    <a:bodyPr/>
                    <a:lstStyle/>
                    <a:p>
                      <a:pPr algn="l"/>
                      <a:r>
                        <a:rPr lang="en-US" sz="1450" dirty="0">
                          <a:solidFill>
                            <a:srgbClr val="1F2937"/>
                          </a:solidFill>
                          <a:latin typeface="Calibri" pitchFamily="34" charset="0"/>
                          <a:ea typeface="Calibri" pitchFamily="34" charset="-122"/>
                          <a:cs typeface="Calibri" pitchFamily="34" charset="-120"/>
                        </a:rPr>
                        <a:t>Does not affect probabilities</a:t>
                      </a:r>
                    </a:p>
                  </a:txBody>
                  <a:tcPr marL="82296" marR="82296" marT="36576" marB="36576" anchor="ctr">
                    <a:solidFill>
                      <a:srgbClr val="EEF2FF"/>
                    </a:solidFill>
                  </a:tcPr>
                </a:tc>
                <a:tc>
                  <a:txBody>
                    <a:bodyPr/>
                    <a:lstStyle/>
                    <a:p>
                      <a:pPr algn="l"/>
                      <a:r>
                        <a:rPr lang="en-US" sz="1450" dirty="0">
                          <a:solidFill>
                            <a:srgbClr val="1F2937"/>
                          </a:solidFill>
                          <a:latin typeface="Calibri" pitchFamily="34" charset="0"/>
                          <a:ea typeface="Calibri" pitchFamily="34" charset="-122"/>
                          <a:cs typeface="Calibri" pitchFamily="34" charset="-120"/>
                        </a:rPr>
                        <a:t>Affects interference</a:t>
                      </a:r>
                    </a:p>
                  </a:txBody>
                  <a:tcPr marL="82296" marR="82296" marT="36576" marB="36576" anchor="ctr">
                    <a:solidFill>
                      <a:srgbClr val="CCFBF1"/>
                    </a:solidFill>
                  </a:tcPr>
                </a:tc>
                <a:extLst>
                  <a:ext uri="{0D108BD9-81ED-4DB2-BD59-A6C34878D82A}">
                    <a16:rowId xmlns:a16="http://schemas.microsoft.com/office/drawing/2014/main" val="10003"/>
                  </a:ext>
                </a:extLst>
              </a:tr>
              <a:tr h="620000">
                <a:tc>
                  <a:txBody>
                    <a:bodyPr/>
                    <a:lstStyle/>
                    <a:p>
                      <a:pPr algn="l"/>
                      <a:r>
                        <a:rPr lang="en-US" sz="1450" dirty="0">
                          <a:solidFill>
                            <a:srgbClr val="1F2937"/>
                          </a:solidFill>
                          <a:latin typeface="Calibri" pitchFamily="34" charset="0"/>
                          <a:ea typeface="Calibri" pitchFamily="34" charset="-122"/>
                          <a:cs typeface="Calibri" pitchFamily="34" charset="-120"/>
                        </a:rPr>
                        <a:t>Physically irrelevant</a:t>
                      </a:r>
                    </a:p>
                  </a:txBody>
                  <a:tcPr marL="82296" marR="82296" marT="36576" marB="36576" anchor="ctr">
                    <a:solidFill>
                      <a:srgbClr val="FFFFFF"/>
                    </a:solidFill>
                  </a:tcPr>
                </a:tc>
                <a:tc>
                  <a:txBody>
                    <a:bodyPr/>
                    <a:lstStyle/>
                    <a:p>
                      <a:pPr algn="l"/>
                      <a:r>
                        <a:rPr lang="en-US" sz="1450" dirty="0">
                          <a:solidFill>
                            <a:srgbClr val="1F2937"/>
                          </a:solidFill>
                          <a:latin typeface="Calibri" pitchFamily="34" charset="0"/>
                          <a:ea typeface="Calibri" pitchFamily="34" charset="-122"/>
                          <a:cs typeface="Calibri" pitchFamily="34" charset="-120"/>
                        </a:rPr>
                        <a:t>Physically observable</a:t>
                      </a:r>
                    </a:p>
                  </a:txBody>
                  <a:tcPr marL="82296" marR="82296"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akeaway box"/>
          <p:cNvSpPr/>
          <p:nvPr/>
        </p:nvSpPr>
        <p:spPr>
          <a:xfrm>
            <a:off x="731520" y="4900000"/>
            <a:ext cx="10728960" cy="900000"/>
          </a:xfrm>
          <a:prstGeom prst="roundRect">
            <a:avLst>
              <a:gd name="adj" fmla="val 6000"/>
            </a:avLst>
          </a:prstGeom>
          <a:solidFill>
            <a:srgbClr val="EEF2FF"/>
          </a:solidFill>
          <a:ln w="19050">
            <a:solidFill>
              <a:srgbClr val="3730A3"/>
            </a:solidFill>
            <a:prstDash val="solid"/>
          </a:ln>
        </p:spPr>
        <p:txBody>
          <a:bodyPr/>
          <a:lstStyle/>
          <a:p>
            <a:endParaRPr lang="en-US"/>
          </a:p>
        </p:txBody>
      </p:sp>
      <p:sp>
        <p:nvSpPr>
          <p:cNvPr id="6" name="Text 6"/>
          <p:cNvSpPr/>
          <p:nvPr/>
        </p:nvSpPr>
        <p:spPr>
          <a:xfrm>
            <a:off x="960120" y="4900000"/>
            <a:ext cx="10271760" cy="900000"/>
          </a:xfrm>
          <a:prstGeom prst="rect">
            <a:avLst/>
          </a:prstGeom>
          <a:noFill/>
          <a:ln/>
        </p:spPr>
        <p:txBody>
          <a:bodyPr wrap="square" lIns="45720" tIns="0" rIns="45720" bIns="0" rtlCol="0" anchor="ctr"/>
          <a:lstStyle/>
          <a:p>
            <a:pPr marL="0" indent="0" algn="ctr">
              <a:lnSpc>
                <a:spcPct val="112000"/>
              </a:lnSpc>
              <a:buNone/>
            </a:pPr>
            <a:r>
              <a:rPr lang="en-US" sz="1700" b="1">
                <a:solidFill>
                  <a:srgbClr val="3730A3"/>
                </a:solidFill>
                <a:latin typeface="Calibri" pitchFamily="34" charset="0"/>
                <a:ea typeface="Calibri" pitchFamily="34" charset="-122"/>
                <a:cs typeface="Calibri" pitchFamily="34" charset="-120"/>
              </a:rPr>
              <a:t>Quantum information is encoded not only in probabilities, but also in relative phase.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From Algebra to Geometry</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470000"/>
            <a:ext cx="6600000" cy="300000"/>
          </a:xfrm>
          <a:prstGeom prst="rect">
            <a:avLst/>
          </a:prstGeom>
          <a:noFill/>
          <a:ln/>
        </p:spPr>
        <p:txBody>
          <a:bodyPr wrap="square" lIns="45720" tIns="0" rIns="45720" bIns="0" rtlCol="0" anchor="ctr"/>
          <a:lstStyle/>
          <a:p>
            <a:pPr marL="0" indent="0" algn="l">
              <a:buNone/>
            </a:pPr>
            <a:r>
              <a:rPr lang="en-US" sz="1300" i="1">
                <a:solidFill>
                  <a:srgbClr val="0D9488"/>
                </a:solidFill>
                <a:latin typeface="Calibri" pitchFamily="34" charset="0"/>
                <a:ea typeface="Calibri" pitchFamily="34" charset="-122"/>
                <a:cs typeface="Calibri" pitchFamily="34" charset="-120"/>
              </a:rPr>
              <a:t>Why do we need another representation?</a:t>
            </a:r>
          </a:p>
        </p:txBody>
      </p:sp>
      <p:sp>
        <p:nvSpPr>
          <p:cNvPr id="5" name="Text 5"/>
          <p:cNvSpPr/>
          <p:nvPr/>
        </p:nvSpPr>
        <p:spPr>
          <a:xfrm>
            <a:off x="731520" y="188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Current description</a:t>
            </a:r>
          </a:p>
        </p:txBody>
      </p:sp>
      <p:sp>
        <p:nvSpPr>
          <p:cNvPr id="6" name="band"/>
          <p:cNvSpPr/>
          <p:nvPr/>
        </p:nvSpPr>
        <p:spPr>
          <a:xfrm>
            <a:off x="731520" y="2200000"/>
            <a:ext cx="5029200" cy="900000"/>
          </a:xfrm>
          <a:prstGeom prst="roundRect">
            <a:avLst>
              <a:gd name="adj" fmla="val 4000"/>
            </a:avLst>
          </a:prstGeom>
          <a:solidFill>
            <a:srgbClr val="EEF2FF"/>
          </a:solidFill>
          <a:ln/>
        </p:spPr>
        <p:txBody>
          <a:bodyPr/>
          <a:lstStyle/>
          <a:p>
            <a:endParaRPr lang="en-US"/>
          </a:p>
        </p:txBody>
      </p:sp>
      <p:sp>
        <p:nvSpPr>
          <p:cNvPr id="7" name="Text 7"/>
          <p:cNvSpPr/>
          <p:nvPr/>
        </p:nvSpPr>
        <p:spPr>
          <a:xfrm>
            <a:off x="731520" y="2200000"/>
            <a:ext cx="5029200" cy="900000"/>
          </a:xfrm>
          <a:prstGeom prst="rect">
            <a:avLst/>
          </a:prstGeom>
          <a:noFill/>
          <a:ln/>
        </p:spPr>
        <p:txBody>
          <a:bodyPr wrap="square" lIns="45720" tIns="0" rIns="45720" bIns="0" rtlCol="0" anchor="ctr"/>
          <a:lstStyle/>
          <a:p>
            <a:pPr marL="0" indent="0" algn="ctr">
              <a:spcAft>
                <a:spcPts val="200"/>
              </a:spcAft>
              <a:buNone/>
            </a:pPr>
            <a:r>
              <a:rPr lang="en-US" sz="2000">
                <a:solidFill>
                  <a:srgbClr val="3730A3"/>
                </a:solidFill>
                <a:latin typeface="Cambria Math" pitchFamily="34" charset="0"/>
                <a:ea typeface="Cambria Math" pitchFamily="34" charset="-122"/>
                <a:cs typeface="Cambria Math" pitchFamily="34" charset="-120"/>
              </a:rPr>
              <a:t>|ψ⟩ = α|0⟩ + β|1⟩</a:t>
            </a:r>
          </a:p>
          <a:p>
            <a:pPr marL="0" indent="0" algn="ctr">
              <a:buNone/>
            </a:pPr>
            <a:r>
              <a:rPr lang="en-US" sz="1350" i="1">
                <a:solidFill>
                  <a:srgbClr val="475569"/>
                </a:solidFill>
                <a:latin typeface="Cambria Math" pitchFamily="34" charset="0"/>
                <a:ea typeface="Cambria Math" pitchFamily="34" charset="-122"/>
                <a:cs typeface="Cambria Math" pitchFamily="34" charset="-120"/>
              </a:rPr>
              <a:t>where  α, β ∈ ℂ</a:t>
            </a:r>
          </a:p>
        </p:txBody>
      </p:sp>
      <p:sp>
        <p:nvSpPr>
          <p:cNvPr id="8" name="Text 8"/>
          <p:cNvSpPr/>
          <p:nvPr/>
        </p:nvSpPr>
        <p:spPr>
          <a:xfrm>
            <a:off x="731520" y="323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Open questions</a:t>
            </a:r>
          </a:p>
        </p:txBody>
      </p:sp>
      <p:sp>
        <p:nvSpPr>
          <p:cNvPr id="9" name="band"/>
          <p:cNvSpPr/>
          <p:nvPr/>
        </p:nvSpPr>
        <p:spPr>
          <a:xfrm>
            <a:off x="731520" y="3540000"/>
            <a:ext cx="5029200" cy="5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10" name="Text 10"/>
          <p:cNvSpPr/>
          <p:nvPr/>
        </p:nvSpPr>
        <p:spPr>
          <a:xfrm>
            <a:off x="881520" y="3540000"/>
            <a:ext cx="4629200" cy="560000"/>
          </a:xfrm>
          <a:prstGeom prst="rect">
            <a:avLst/>
          </a:prstGeom>
          <a:noFill/>
          <a:ln/>
        </p:spPr>
        <p:txBody>
          <a:bodyPr wrap="square" lIns="45720" tIns="0" rIns="45720" bIns="0" rtlCol="0" anchor="ctr"/>
          <a:lstStyle/>
          <a:p>
            <a:pPr marL="0" indent="0" algn="l">
              <a:buNone/>
            </a:pPr>
            <a:r>
              <a:rPr lang="en-US" sz="1400" b="1">
                <a:solidFill>
                  <a:srgbClr val="0D9488"/>
                </a:solidFill>
                <a:latin typeface="Calibri" pitchFamily="34" charset="0"/>
                <a:ea typeface="Calibri" pitchFamily="34" charset="-122"/>
                <a:cs typeface="Calibri" pitchFamily="34" charset="-120"/>
              </a:rPr>
              <a:t>?  </a:t>
            </a:r>
            <a:r>
              <a:rPr lang="en-US" sz="1300">
                <a:solidFill>
                  <a:srgbClr val="1F2937"/>
                </a:solidFill>
                <a:latin typeface="Calibri" pitchFamily="34" charset="0"/>
                <a:ea typeface="Calibri" pitchFamily="34" charset="-122"/>
                <a:cs typeface="Calibri" pitchFamily="34" charset="-120"/>
              </a:rPr>
              <a:t>Can we visualize every possible qubit?</a:t>
            </a:r>
          </a:p>
        </p:txBody>
      </p:sp>
      <p:sp>
        <p:nvSpPr>
          <p:cNvPr id="11" name="band"/>
          <p:cNvSpPr/>
          <p:nvPr/>
        </p:nvSpPr>
        <p:spPr>
          <a:xfrm>
            <a:off x="731520" y="4220000"/>
            <a:ext cx="5029200" cy="5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12" name="Text 12"/>
          <p:cNvSpPr/>
          <p:nvPr/>
        </p:nvSpPr>
        <p:spPr>
          <a:xfrm>
            <a:off x="881520" y="4220000"/>
            <a:ext cx="4629200" cy="560000"/>
          </a:xfrm>
          <a:prstGeom prst="rect">
            <a:avLst/>
          </a:prstGeom>
          <a:noFill/>
          <a:ln/>
        </p:spPr>
        <p:txBody>
          <a:bodyPr wrap="square" lIns="45720" tIns="0" rIns="45720" bIns="0" rtlCol="0" anchor="ctr"/>
          <a:lstStyle/>
          <a:p>
            <a:pPr marL="0" indent="0" algn="l">
              <a:buNone/>
            </a:pPr>
            <a:r>
              <a:rPr lang="en-US" sz="1400" b="1">
                <a:solidFill>
                  <a:srgbClr val="0D9488"/>
                </a:solidFill>
                <a:latin typeface="Calibri" pitchFamily="34" charset="0"/>
                <a:ea typeface="Calibri" pitchFamily="34" charset="-122"/>
                <a:cs typeface="Calibri" pitchFamily="34" charset="-120"/>
              </a:rPr>
              <a:t>?  </a:t>
            </a:r>
            <a:r>
              <a:rPr lang="en-US" sz="1300">
                <a:solidFill>
                  <a:srgbClr val="1F2937"/>
                </a:solidFill>
                <a:latin typeface="Calibri" pitchFamily="34" charset="0"/>
                <a:ea typeface="Calibri" pitchFamily="34" charset="-122"/>
                <a:cs typeface="Calibri" pitchFamily="34" charset="-120"/>
              </a:rPr>
              <a:t>Can we compare quantum states geometrically?</a:t>
            </a:r>
          </a:p>
        </p:txBody>
      </p:sp>
      <p:sp>
        <p:nvSpPr>
          <p:cNvPr id="13" name="band"/>
          <p:cNvSpPr/>
          <p:nvPr/>
        </p:nvSpPr>
        <p:spPr>
          <a:xfrm>
            <a:off x="731520" y="4900000"/>
            <a:ext cx="5029200" cy="5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14" name="Text 14"/>
          <p:cNvSpPr/>
          <p:nvPr/>
        </p:nvSpPr>
        <p:spPr>
          <a:xfrm>
            <a:off x="881520" y="4900000"/>
            <a:ext cx="4629200" cy="560000"/>
          </a:xfrm>
          <a:prstGeom prst="rect">
            <a:avLst/>
          </a:prstGeom>
          <a:noFill/>
          <a:ln/>
        </p:spPr>
        <p:txBody>
          <a:bodyPr wrap="square" lIns="45720" tIns="0" rIns="45720" bIns="0" rtlCol="0" anchor="ctr"/>
          <a:lstStyle/>
          <a:p>
            <a:pPr marL="0" indent="0" algn="l">
              <a:buNone/>
            </a:pPr>
            <a:r>
              <a:rPr lang="en-US" sz="1400" b="1">
                <a:solidFill>
                  <a:srgbClr val="0D9488"/>
                </a:solidFill>
                <a:latin typeface="Calibri" pitchFamily="34" charset="0"/>
                <a:ea typeface="Calibri" pitchFamily="34" charset="-122"/>
                <a:cs typeface="Calibri" pitchFamily="34" charset="-120"/>
              </a:rPr>
              <a:t>?  </a:t>
            </a:r>
            <a:r>
              <a:rPr lang="en-US" sz="1300">
                <a:solidFill>
                  <a:srgbClr val="1F2937"/>
                </a:solidFill>
                <a:latin typeface="Calibri" pitchFamily="34" charset="0"/>
                <a:ea typeface="Calibri" pitchFamily="34" charset="-122"/>
                <a:cs typeface="Calibri" pitchFamily="34" charset="-120"/>
              </a:rPr>
              <a:t>Can quantum gates be viewed as rotations?</a:t>
            </a:r>
          </a:p>
        </p:txBody>
      </p:sp>
      <p:sp>
        <p:nvSpPr>
          <p:cNvPr id="15" name="Figure card"/>
          <p:cNvSpPr/>
          <p:nvPr/>
        </p:nvSpPr>
        <p:spPr>
          <a:xfrm>
            <a:off x="6400800" y="1880000"/>
            <a:ext cx="5059680" cy="356000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16" name="sphere"/>
          <p:cNvSpPr/>
          <p:nvPr/>
        </p:nvSpPr>
        <p:spPr>
          <a:xfrm>
            <a:off x="7750640" y="2480000"/>
            <a:ext cx="2360000" cy="2360000"/>
          </a:xfrm>
          <a:prstGeom prst="ellipse">
            <a:avLst/>
          </a:prstGeom>
          <a:solidFill>
            <a:srgbClr val="EEF2FF"/>
          </a:solidFill>
          <a:ln w="22225">
            <a:solidFill>
              <a:srgbClr val="3730A3"/>
            </a:solidFill>
            <a:prstDash val="solid"/>
          </a:ln>
        </p:spPr>
        <p:txBody>
          <a:bodyPr/>
          <a:lstStyle/>
          <a:p>
            <a:endParaRPr lang="en-US"/>
          </a:p>
        </p:txBody>
      </p:sp>
      <p:sp>
        <p:nvSpPr>
          <p:cNvPr id="17" name="equator"/>
          <p:cNvSpPr/>
          <p:nvPr/>
        </p:nvSpPr>
        <p:spPr>
          <a:xfrm>
            <a:off x="7750640" y="3306000"/>
            <a:ext cx="2360000" cy="708000"/>
          </a:xfrm>
          <a:prstGeom prst="ellipse">
            <a:avLst/>
          </a:prstGeom>
          <a:noFill/>
          <a:ln w="12700">
            <a:solidFill>
              <a:srgbClr val="475569"/>
            </a:solidFill>
            <a:prstDash val="dash"/>
          </a:ln>
        </p:spPr>
        <p:txBody>
          <a:bodyPr/>
          <a:lstStyle/>
          <a:p>
            <a:endParaRPr lang="en-US"/>
          </a:p>
        </p:txBody>
      </p:sp>
      <p:sp>
        <p:nvSpPr>
          <p:cNvPr id="18" name="axis"/>
          <p:cNvSpPr/>
          <p:nvPr/>
        </p:nvSpPr>
        <p:spPr>
          <a:xfrm flipV="1">
            <a:off x="8930640" y="2480000"/>
            <a:ext cx="0" cy="2360000"/>
          </a:xfrm>
          <a:prstGeom prst="line">
            <a:avLst/>
          </a:prstGeom>
          <a:ln w="15875">
            <a:solidFill>
              <a:srgbClr val="475569"/>
            </a:solidFill>
            <a:prstDash val="solid"/>
            <a:tailEnd type="triangle" w="med" len="med"/>
          </a:ln>
        </p:spPr>
        <p:txBody>
          <a:bodyPr/>
          <a:lstStyle/>
          <a:p>
            <a:endParaRPr lang="en-US"/>
          </a:p>
        </p:txBody>
      </p:sp>
      <p:sp>
        <p:nvSpPr>
          <p:cNvPr id="19" name="axis"/>
          <p:cNvSpPr/>
          <p:nvPr/>
        </p:nvSpPr>
        <p:spPr>
          <a:xfrm>
            <a:off x="8930640" y="3660000"/>
            <a:ext cx="1180000" cy="0"/>
          </a:xfrm>
          <a:prstGeom prst="line">
            <a:avLst/>
          </a:prstGeom>
          <a:ln w="15875">
            <a:solidFill>
              <a:srgbClr val="475569"/>
            </a:solidFill>
            <a:prstDash val="solid"/>
            <a:tailEnd type="triangle" w="med" len="med"/>
          </a:ln>
        </p:spPr>
        <p:txBody>
          <a:bodyPr/>
          <a:lstStyle/>
          <a:p>
            <a:endParaRPr lang="en-US"/>
          </a:p>
        </p:txBody>
      </p:sp>
      <p:sp>
        <p:nvSpPr>
          <p:cNvPr id="20" name="axis"/>
          <p:cNvSpPr/>
          <p:nvPr/>
        </p:nvSpPr>
        <p:spPr>
          <a:xfrm flipV="1">
            <a:off x="7750640" y="3660000"/>
            <a:ext cx="1180000" cy="0"/>
          </a:xfrm>
          <a:prstGeom prst="line">
            <a:avLst/>
          </a:prstGeom>
          <a:ln w="12700">
            <a:solidFill>
              <a:srgbClr val="475569"/>
            </a:solidFill>
            <a:prstDash val="dash"/>
          </a:ln>
        </p:spPr>
        <p:txBody>
          <a:bodyPr/>
          <a:lstStyle/>
          <a:p>
            <a:endParaRPr lang="en-US"/>
          </a:p>
        </p:txBody>
      </p:sp>
      <p:sp>
        <p:nvSpPr>
          <p:cNvPr id="21" name="axis"/>
          <p:cNvSpPr/>
          <p:nvPr/>
        </p:nvSpPr>
        <p:spPr>
          <a:xfrm flipV="1">
            <a:off x="8151840" y="3660000"/>
            <a:ext cx="778800" cy="354000"/>
          </a:xfrm>
          <a:prstGeom prst="line">
            <a:avLst/>
          </a:prstGeom>
          <a:ln w="15875">
            <a:solidFill>
              <a:srgbClr val="475569"/>
            </a:solidFill>
            <a:prstDash val="solid"/>
            <a:tailEnd type="triangle" w="med" len="med"/>
          </a:ln>
        </p:spPr>
        <p:txBody>
          <a:bodyPr/>
          <a:lstStyle/>
          <a:p>
            <a:endParaRPr lang="en-US"/>
          </a:p>
        </p:txBody>
      </p:sp>
      <p:sp>
        <p:nvSpPr>
          <p:cNvPr id="22" name="axis"/>
          <p:cNvSpPr/>
          <p:nvPr/>
        </p:nvSpPr>
        <p:spPr>
          <a:xfrm flipV="1">
            <a:off x="8930640" y="3306000"/>
            <a:ext cx="778800" cy="354000"/>
          </a:xfrm>
          <a:prstGeom prst="line">
            <a:avLst/>
          </a:prstGeom>
          <a:ln w="12700">
            <a:solidFill>
              <a:srgbClr val="475569"/>
            </a:solidFill>
            <a:prstDash val="dash"/>
          </a:ln>
        </p:spPr>
        <p:txBody>
          <a:bodyPr/>
          <a:lstStyle/>
          <a:p>
            <a:endParaRPr lang="en-US"/>
          </a:p>
        </p:txBody>
      </p:sp>
      <p:sp>
        <p:nvSpPr>
          <p:cNvPr id="23" name="dot"/>
          <p:cNvSpPr/>
          <p:nvPr/>
        </p:nvSpPr>
        <p:spPr>
          <a:xfrm>
            <a:off x="8897600" y="3626960"/>
            <a:ext cx="66080" cy="66080"/>
          </a:xfrm>
          <a:prstGeom prst="ellipse">
            <a:avLst/>
          </a:prstGeom>
          <a:solidFill>
            <a:srgbClr val="1F2937"/>
          </a:solidFill>
          <a:ln/>
        </p:spPr>
        <p:txBody>
          <a:bodyPr/>
          <a:lstStyle/>
          <a:p>
            <a:endParaRPr lang="en-US"/>
          </a:p>
        </p:txBody>
      </p:sp>
      <p:sp>
        <p:nvSpPr>
          <p:cNvPr id="24" name="Text 24"/>
          <p:cNvSpPr/>
          <p:nvPr/>
        </p:nvSpPr>
        <p:spPr>
          <a:xfrm>
            <a:off x="9026240" y="2738000"/>
            <a:ext cx="800000" cy="900000"/>
          </a:xfrm>
          <a:prstGeom prst="rect">
            <a:avLst/>
          </a:prstGeom>
          <a:noFill/>
          <a:ln/>
        </p:spPr>
        <p:txBody>
          <a:bodyPr wrap="square" lIns="45720" tIns="0" rIns="45720" bIns="0" rtlCol="0" anchor="ctr"/>
          <a:lstStyle/>
          <a:p>
            <a:pPr marL="0" indent="0" algn="ctr">
              <a:buNone/>
            </a:pPr>
            <a:r>
              <a:rPr lang="en-US" sz="4000" b="1">
                <a:solidFill>
                  <a:srgbClr val="B45309"/>
                </a:solidFill>
                <a:latin typeface="Calibri" pitchFamily="34" charset="0"/>
                <a:ea typeface="Calibri" pitchFamily="34" charset="-122"/>
                <a:cs typeface="Calibri" pitchFamily="34" charset="-120"/>
              </a:rPr>
              <a:t>?</a:t>
            </a:r>
          </a:p>
        </p:txBody>
      </p:sp>
      <p:sp>
        <p:nvSpPr>
          <p:cNvPr id="25" name="Text 25"/>
          <p:cNvSpPr/>
          <p:nvPr/>
        </p:nvSpPr>
        <p:spPr>
          <a:xfrm>
            <a:off x="6400800" y="5140000"/>
            <a:ext cx="5059680" cy="280000"/>
          </a:xfrm>
          <a:prstGeom prst="rect">
            <a:avLst/>
          </a:prstGeom>
          <a:noFill/>
          <a:ln/>
        </p:spPr>
        <p:txBody>
          <a:bodyPr wrap="square" lIns="45720" tIns="0" rIns="4572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Which point on the sphere is this state?</a:t>
            </a:r>
          </a:p>
        </p:txBody>
      </p:sp>
      <p:sp>
        <p:nvSpPr>
          <p:cNvPr id="26" name="band"/>
          <p:cNvSpPr/>
          <p:nvPr/>
        </p:nvSpPr>
        <p:spPr>
          <a:xfrm>
            <a:off x="731520" y="5560000"/>
            <a:ext cx="10728960" cy="540000"/>
          </a:xfrm>
          <a:prstGeom prst="roundRect">
            <a:avLst>
              <a:gd name="adj" fmla="val 10000"/>
            </a:avLst>
          </a:prstGeom>
          <a:solidFill>
            <a:srgbClr val="CCFBF1"/>
          </a:solidFill>
          <a:ln/>
        </p:spPr>
        <p:txBody>
          <a:bodyPr/>
          <a:lstStyle/>
          <a:p>
            <a:endParaRPr lang="en-US"/>
          </a:p>
        </p:txBody>
      </p:sp>
      <p:sp>
        <p:nvSpPr>
          <p:cNvPr id="27" name="Text 27"/>
          <p:cNvSpPr/>
          <p:nvPr/>
        </p:nvSpPr>
        <p:spPr>
          <a:xfrm>
            <a:off x="731520" y="5560000"/>
            <a:ext cx="10728960" cy="540000"/>
          </a:xfrm>
          <a:prstGeom prst="rect">
            <a:avLst/>
          </a:prstGeom>
          <a:noFill/>
          <a:ln/>
        </p:spPr>
        <p:txBody>
          <a:bodyPr wrap="square" lIns="45720" tIns="0" rIns="45720" bIns="0" rtlCol="0" anchor="ctr"/>
          <a:lstStyle/>
          <a:p>
            <a:pPr marL="0" indent="0" algn="ctr">
              <a:buNone/>
            </a:pPr>
            <a:r>
              <a:rPr lang="en-US" sz="1450" b="1">
                <a:solidFill>
                  <a:srgbClr val="0D9488"/>
                </a:solidFill>
                <a:latin typeface="Calibri" pitchFamily="34" charset="0"/>
                <a:ea typeface="Calibri" pitchFamily="34" charset="-122"/>
                <a:cs typeface="Calibri" pitchFamily="34" charset="-120"/>
              </a:rPr>
              <a:t>We need a geometric representation that captures every pure single-qubit state.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How Many Independent Parameters Describe a Qubit?</a:t>
            </a:r>
            <a:endParaRPr lang="en-US" sz="22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00000"/>
            <a:ext cx="46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Count the raw numbers</a:t>
            </a:r>
          </a:p>
        </p:txBody>
      </p:sp>
      <p:sp>
        <p:nvSpPr>
          <p:cNvPr id="5" name="band"/>
          <p:cNvSpPr/>
          <p:nvPr/>
        </p:nvSpPr>
        <p:spPr>
          <a:xfrm>
            <a:off x="731520" y="1920000"/>
            <a:ext cx="2400000" cy="900000"/>
          </a:xfrm>
          <a:prstGeom prst="roundRect">
            <a:avLst>
              <a:gd name="adj" fmla="val 6000"/>
            </a:avLst>
          </a:prstGeom>
          <a:solidFill>
            <a:srgbClr val="EEF2FF"/>
          </a:solidFill>
          <a:ln/>
        </p:spPr>
        <p:txBody>
          <a:bodyPr/>
          <a:lstStyle/>
          <a:p>
            <a:endParaRPr lang="en-US"/>
          </a:p>
        </p:txBody>
      </p:sp>
      <p:sp>
        <p:nvSpPr>
          <p:cNvPr id="6" name="Text 6"/>
          <p:cNvSpPr/>
          <p:nvPr/>
        </p:nvSpPr>
        <p:spPr>
          <a:xfrm>
            <a:off x="731520" y="1920000"/>
            <a:ext cx="2400000" cy="900000"/>
          </a:xfrm>
          <a:prstGeom prst="rect">
            <a:avLst/>
          </a:prstGeom>
          <a:noFill/>
          <a:ln/>
        </p:spPr>
        <p:txBody>
          <a:bodyPr wrap="square" lIns="45720" tIns="0" rIns="45720" bIns="0" rtlCol="0" anchor="ctr"/>
          <a:lstStyle/>
          <a:p>
            <a:pPr marL="0" indent="0" algn="ctr">
              <a:spcAft>
                <a:spcPts val="150"/>
              </a:spcAft>
              <a:buNone/>
            </a:pPr>
            <a:r>
              <a:rPr lang="en-US" sz="1800">
                <a:solidFill>
                  <a:srgbClr val="3730A3"/>
                </a:solidFill>
                <a:latin typeface="Cambria Math" pitchFamily="34" charset="0"/>
                <a:ea typeface="Cambria Math" pitchFamily="34" charset="-122"/>
                <a:cs typeface="Cambria Math" pitchFamily="34" charset="-120"/>
              </a:rPr>
              <a:t>α ∈ ℂ</a:t>
            </a:r>
          </a:p>
          <a:p>
            <a:pPr marL="0" indent="0" algn="ctr">
              <a:buNone/>
            </a:pPr>
            <a:r>
              <a:rPr lang="en-US" sz="1200">
                <a:solidFill>
                  <a:srgbClr val="1F2937"/>
                </a:solidFill>
                <a:latin typeface="Calibri" pitchFamily="34" charset="0"/>
                <a:ea typeface="Calibri" pitchFamily="34" charset="-122"/>
                <a:cs typeface="Calibri" pitchFamily="34" charset="-120"/>
              </a:rPr>
              <a:t>2 real numbers</a:t>
            </a:r>
          </a:p>
        </p:txBody>
      </p:sp>
      <p:sp>
        <p:nvSpPr>
          <p:cNvPr id="7" name="band"/>
          <p:cNvSpPr/>
          <p:nvPr/>
        </p:nvSpPr>
        <p:spPr>
          <a:xfrm>
            <a:off x="3360720" y="1920000"/>
            <a:ext cx="2400000" cy="900000"/>
          </a:xfrm>
          <a:prstGeom prst="roundRect">
            <a:avLst>
              <a:gd name="adj" fmla="val 6000"/>
            </a:avLst>
          </a:prstGeom>
          <a:solidFill>
            <a:srgbClr val="CCFBF1"/>
          </a:solidFill>
          <a:ln/>
        </p:spPr>
        <p:txBody>
          <a:bodyPr/>
          <a:lstStyle/>
          <a:p>
            <a:endParaRPr lang="en-US"/>
          </a:p>
        </p:txBody>
      </p:sp>
      <p:sp>
        <p:nvSpPr>
          <p:cNvPr id="8" name="Text 8"/>
          <p:cNvSpPr/>
          <p:nvPr/>
        </p:nvSpPr>
        <p:spPr>
          <a:xfrm>
            <a:off x="3360720" y="1920000"/>
            <a:ext cx="2400000" cy="900000"/>
          </a:xfrm>
          <a:prstGeom prst="rect">
            <a:avLst/>
          </a:prstGeom>
          <a:noFill/>
          <a:ln/>
        </p:spPr>
        <p:txBody>
          <a:bodyPr wrap="square" lIns="45720" tIns="0" rIns="45720" bIns="0" rtlCol="0" anchor="ctr"/>
          <a:lstStyle/>
          <a:p>
            <a:pPr marL="0" indent="0" algn="ctr">
              <a:spcAft>
                <a:spcPts val="150"/>
              </a:spcAft>
              <a:buNone/>
            </a:pPr>
            <a:r>
              <a:rPr lang="en-US" sz="1800">
                <a:solidFill>
                  <a:srgbClr val="0D9488"/>
                </a:solidFill>
                <a:latin typeface="Cambria Math" pitchFamily="34" charset="0"/>
                <a:ea typeface="Cambria Math" pitchFamily="34" charset="-122"/>
                <a:cs typeface="Cambria Math" pitchFamily="34" charset="-120"/>
              </a:rPr>
              <a:t>β ∈ ℂ</a:t>
            </a:r>
          </a:p>
          <a:p>
            <a:pPr marL="0" indent="0" algn="ctr">
              <a:buNone/>
            </a:pPr>
            <a:r>
              <a:rPr lang="en-US" sz="1200">
                <a:solidFill>
                  <a:srgbClr val="1F2937"/>
                </a:solidFill>
                <a:latin typeface="Calibri" pitchFamily="34" charset="0"/>
                <a:ea typeface="Calibri" pitchFamily="34" charset="-122"/>
                <a:cs typeface="Calibri" pitchFamily="34" charset="-120"/>
              </a:rPr>
              <a:t>2 real numbers</a:t>
            </a:r>
          </a:p>
        </p:txBody>
      </p:sp>
      <p:sp>
        <p:nvSpPr>
          <p:cNvPr id="9" name="axis"/>
          <p:cNvSpPr/>
          <p:nvPr/>
        </p:nvSpPr>
        <p:spPr>
          <a:xfrm>
            <a:off x="5880720" y="2370000"/>
            <a:ext cx="380000" cy="0"/>
          </a:xfrm>
          <a:prstGeom prst="line">
            <a:avLst/>
          </a:prstGeom>
          <a:ln w="28575">
            <a:solidFill>
              <a:srgbClr val="3730A3"/>
            </a:solidFill>
            <a:prstDash val="solid"/>
            <a:tailEnd type="triangle" w="med" len="med"/>
          </a:ln>
        </p:spPr>
        <p:txBody>
          <a:bodyPr/>
          <a:lstStyle/>
          <a:p>
            <a:endParaRPr lang="en-US"/>
          </a:p>
        </p:txBody>
      </p:sp>
      <p:sp>
        <p:nvSpPr>
          <p:cNvPr id="10" name="four"/>
          <p:cNvSpPr/>
          <p:nvPr/>
        </p:nvSpPr>
        <p:spPr>
          <a:xfrm>
            <a:off x="6320720" y="1920000"/>
            <a:ext cx="1360000" cy="900000"/>
          </a:xfrm>
          <a:prstGeom prst="roundRect">
            <a:avLst>
              <a:gd name="adj" fmla="val 8000"/>
            </a:avLst>
          </a:prstGeom>
          <a:solidFill>
            <a:srgbClr val="FFFFFF"/>
          </a:solidFill>
          <a:ln w="19050">
            <a:solidFill>
              <a:srgbClr val="3730A3"/>
            </a:solidFill>
            <a:prstDash val="solid"/>
          </a:ln>
        </p:spPr>
        <p:txBody>
          <a:bodyPr/>
          <a:lstStyle/>
          <a:p>
            <a:endParaRPr lang="en-US"/>
          </a:p>
        </p:txBody>
      </p:sp>
      <p:sp>
        <p:nvSpPr>
          <p:cNvPr id="11" name="Text 11"/>
          <p:cNvSpPr/>
          <p:nvPr/>
        </p:nvSpPr>
        <p:spPr>
          <a:xfrm>
            <a:off x="6320720" y="1920000"/>
            <a:ext cx="1360000" cy="900000"/>
          </a:xfrm>
          <a:prstGeom prst="rect">
            <a:avLst/>
          </a:prstGeom>
          <a:noFill/>
          <a:ln/>
        </p:spPr>
        <p:txBody>
          <a:bodyPr wrap="square" lIns="45720" tIns="0" rIns="45720" bIns="0" rtlCol="0" anchor="ctr"/>
          <a:lstStyle/>
          <a:p>
            <a:pPr marL="0" indent="0" algn="ctr">
              <a:buNone/>
            </a:pPr>
            <a:r>
              <a:rPr lang="en-US" sz="4000" b="1">
                <a:solidFill>
                  <a:srgbClr val="3730A3"/>
                </a:solidFill>
                <a:latin typeface="Calibri" pitchFamily="34" charset="0"/>
                <a:ea typeface="Calibri" pitchFamily="34" charset="-122"/>
                <a:cs typeface="Calibri" pitchFamily="34" charset="-120"/>
              </a:rPr>
              <a:t>4</a:t>
            </a:r>
          </a:p>
          <a:p>
            <a:pPr marL="0" indent="0" algn="ctr">
              <a:buNone/>
            </a:pPr>
            <a:r>
              <a:rPr lang="en-US" sz="1050">
                <a:solidFill>
                  <a:srgbClr val="475569"/>
                </a:solidFill>
                <a:latin typeface="Calibri" pitchFamily="34" charset="0"/>
                <a:ea typeface="Calibri" pitchFamily="34" charset="-122"/>
                <a:cs typeface="Calibri" pitchFamily="34" charset="-120"/>
              </a:rPr>
              <a:t>real params</a:t>
            </a:r>
          </a:p>
        </p:txBody>
      </p:sp>
      <p:sp>
        <p:nvSpPr>
          <p:cNvPr id="12" name="Text 12"/>
          <p:cNvSpPr/>
          <p:nvPr/>
        </p:nvSpPr>
        <p:spPr>
          <a:xfrm>
            <a:off x="731520" y="3230000"/>
            <a:ext cx="8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Remove the redundant degrees of freedom</a:t>
            </a:r>
          </a:p>
        </p:txBody>
      </p:sp>
      <p:sp>
        <p:nvSpPr>
          <p:cNvPr id="13" name="num0"/>
          <p:cNvSpPr/>
          <p:nvPr/>
        </p:nvSpPr>
        <p:spPr>
          <a:xfrm>
            <a:off x="731520" y="3560000"/>
            <a:ext cx="1180000" cy="1120000"/>
          </a:xfrm>
          <a:prstGeom prst="roundRect">
            <a:avLst>
              <a:gd name="adj" fmla="val 7000"/>
            </a:avLst>
          </a:prstGeom>
          <a:solidFill>
            <a:srgbClr val="EEF2FF"/>
          </a:solidFill>
          <a:ln w="19050">
            <a:solidFill>
              <a:srgbClr val="3730A3"/>
            </a:solidFill>
            <a:prstDash val="solid"/>
          </a:ln>
        </p:spPr>
        <p:txBody>
          <a:bodyPr/>
          <a:lstStyle/>
          <a:p>
            <a:endParaRPr lang="en-US"/>
          </a:p>
        </p:txBody>
      </p:sp>
      <p:sp>
        <p:nvSpPr>
          <p:cNvPr id="14" name="Text 14"/>
          <p:cNvSpPr/>
          <p:nvPr/>
        </p:nvSpPr>
        <p:spPr>
          <a:xfrm>
            <a:off x="731520" y="3560000"/>
            <a:ext cx="1180000" cy="1120000"/>
          </a:xfrm>
          <a:prstGeom prst="rect">
            <a:avLst/>
          </a:prstGeom>
          <a:noFill/>
          <a:ln/>
        </p:spPr>
        <p:txBody>
          <a:bodyPr wrap="square" lIns="45720" tIns="0" rIns="45720" bIns="0" rtlCol="0" anchor="ctr"/>
          <a:lstStyle/>
          <a:p>
            <a:pPr marL="0" indent="0" algn="ctr">
              <a:buNone/>
            </a:pPr>
            <a:r>
              <a:rPr lang="en-US" sz="4200" b="1">
                <a:solidFill>
                  <a:srgbClr val="3730A3"/>
                </a:solidFill>
                <a:latin typeface="Calibri" pitchFamily="34" charset="0"/>
                <a:ea typeface="Calibri" pitchFamily="34" charset="-122"/>
                <a:cs typeface="Calibri" pitchFamily="34" charset="-120"/>
              </a:rPr>
              <a:t>4</a:t>
            </a:r>
          </a:p>
        </p:txBody>
      </p:sp>
      <p:sp>
        <p:nvSpPr>
          <p:cNvPr id="15" name="num1"/>
          <p:cNvSpPr/>
          <p:nvPr/>
        </p:nvSpPr>
        <p:spPr>
          <a:xfrm>
            <a:off x="5506000" y="3560000"/>
            <a:ext cx="1180000" cy="1120000"/>
          </a:xfrm>
          <a:prstGeom prst="roundRect">
            <a:avLst>
              <a:gd name="adj" fmla="val 7000"/>
            </a:avLst>
          </a:prstGeom>
          <a:solidFill>
            <a:srgbClr val="FFFFFF"/>
          </a:solidFill>
          <a:ln w="19050">
            <a:solidFill>
              <a:srgbClr val="D1D5DB"/>
            </a:solidFill>
            <a:prstDash val="solid"/>
          </a:ln>
        </p:spPr>
        <p:txBody>
          <a:bodyPr/>
          <a:lstStyle/>
          <a:p>
            <a:endParaRPr lang="en-US"/>
          </a:p>
        </p:txBody>
      </p:sp>
      <p:sp>
        <p:nvSpPr>
          <p:cNvPr id="16" name="Text 16"/>
          <p:cNvSpPr/>
          <p:nvPr/>
        </p:nvSpPr>
        <p:spPr>
          <a:xfrm>
            <a:off x="5506000" y="3560000"/>
            <a:ext cx="1180000" cy="1120000"/>
          </a:xfrm>
          <a:prstGeom prst="rect">
            <a:avLst/>
          </a:prstGeom>
          <a:noFill/>
          <a:ln/>
        </p:spPr>
        <p:txBody>
          <a:bodyPr wrap="square" lIns="45720" tIns="0" rIns="45720" bIns="0" rtlCol="0" anchor="ctr"/>
          <a:lstStyle/>
          <a:p>
            <a:pPr marL="0" indent="0" algn="ctr">
              <a:buNone/>
            </a:pPr>
            <a:r>
              <a:rPr lang="en-US" sz="4200" b="1">
                <a:solidFill>
                  <a:srgbClr val="3730A3"/>
                </a:solidFill>
                <a:latin typeface="Calibri" pitchFamily="34" charset="0"/>
                <a:ea typeface="Calibri" pitchFamily="34" charset="-122"/>
                <a:cs typeface="Calibri" pitchFamily="34" charset="-120"/>
              </a:rPr>
              <a:t>3</a:t>
            </a:r>
          </a:p>
        </p:txBody>
      </p:sp>
      <p:sp>
        <p:nvSpPr>
          <p:cNvPr id="17" name="num2"/>
          <p:cNvSpPr/>
          <p:nvPr/>
        </p:nvSpPr>
        <p:spPr>
          <a:xfrm>
            <a:off x="10280480" y="3560000"/>
            <a:ext cx="1180000" cy="1120000"/>
          </a:xfrm>
          <a:prstGeom prst="roundRect">
            <a:avLst>
              <a:gd name="adj" fmla="val 7000"/>
            </a:avLst>
          </a:prstGeom>
          <a:solidFill>
            <a:srgbClr val="CCFBF1"/>
          </a:solidFill>
          <a:ln w="19050">
            <a:solidFill>
              <a:srgbClr val="0D9488"/>
            </a:solidFill>
            <a:prstDash val="solid"/>
          </a:ln>
        </p:spPr>
        <p:txBody>
          <a:bodyPr/>
          <a:lstStyle/>
          <a:p>
            <a:endParaRPr lang="en-US"/>
          </a:p>
        </p:txBody>
      </p:sp>
      <p:sp>
        <p:nvSpPr>
          <p:cNvPr id="18" name="Text 18"/>
          <p:cNvSpPr/>
          <p:nvPr/>
        </p:nvSpPr>
        <p:spPr>
          <a:xfrm>
            <a:off x="10280480" y="3560000"/>
            <a:ext cx="1180000" cy="1120000"/>
          </a:xfrm>
          <a:prstGeom prst="rect">
            <a:avLst/>
          </a:prstGeom>
          <a:noFill/>
          <a:ln/>
        </p:spPr>
        <p:txBody>
          <a:bodyPr wrap="square" lIns="45720" tIns="0" rIns="45720" bIns="0" rtlCol="0" anchor="ctr"/>
          <a:lstStyle/>
          <a:p>
            <a:pPr marL="0" indent="0" algn="ctr">
              <a:buNone/>
            </a:pPr>
            <a:r>
              <a:rPr lang="en-US" sz="4200" b="1">
                <a:solidFill>
                  <a:srgbClr val="0D9488"/>
                </a:solidFill>
                <a:latin typeface="Calibri" pitchFamily="34" charset="0"/>
                <a:ea typeface="Calibri" pitchFamily="34" charset="-122"/>
                <a:cs typeface="Calibri" pitchFamily="34" charset="-120"/>
              </a:rPr>
              <a:t>2</a:t>
            </a:r>
          </a:p>
        </p:txBody>
      </p:sp>
      <p:sp>
        <p:nvSpPr>
          <p:cNvPr id="19" name="axis"/>
          <p:cNvSpPr/>
          <p:nvPr/>
        </p:nvSpPr>
        <p:spPr>
          <a:xfrm>
            <a:off x="1951520" y="4120000"/>
            <a:ext cx="3514480" cy="0"/>
          </a:xfrm>
          <a:prstGeom prst="line">
            <a:avLst/>
          </a:prstGeom>
          <a:ln w="28575">
            <a:solidFill>
              <a:srgbClr val="3730A3"/>
            </a:solidFill>
            <a:prstDash val="solid"/>
            <a:tailEnd type="triangle" w="med" len="med"/>
          </a:ln>
        </p:spPr>
        <p:txBody>
          <a:bodyPr/>
          <a:lstStyle/>
          <a:p>
            <a:endParaRPr lang="en-US"/>
          </a:p>
        </p:txBody>
      </p:sp>
      <p:sp>
        <p:nvSpPr>
          <p:cNvPr id="20" name="Text 20"/>
          <p:cNvSpPr/>
          <p:nvPr/>
        </p:nvSpPr>
        <p:spPr>
          <a:xfrm>
            <a:off x="3008760" y="3500000"/>
            <a:ext cx="1400000" cy="300000"/>
          </a:xfrm>
          <a:prstGeom prst="rect">
            <a:avLst/>
          </a:prstGeom>
          <a:noFill/>
          <a:ln/>
        </p:spPr>
        <p:txBody>
          <a:bodyPr wrap="square" lIns="45720" tIns="0" rIns="45720" bIns="0" rtlCol="0" anchor="b"/>
          <a:lstStyle/>
          <a:p>
            <a:pPr marL="0" indent="0" algn="ctr">
              <a:buNone/>
            </a:pPr>
            <a:r>
              <a:rPr lang="en-US" sz="1200" b="1">
                <a:solidFill>
                  <a:srgbClr val="3730A3"/>
                </a:solidFill>
                <a:latin typeface="Calibri" pitchFamily="34" charset="0"/>
                <a:ea typeface="Calibri" pitchFamily="34" charset="-122"/>
                <a:cs typeface="Calibri" pitchFamily="34" charset="-120"/>
              </a:rPr>
              <a:t>−1  Normalization</a:t>
            </a:r>
          </a:p>
        </p:txBody>
      </p:sp>
      <mc:AlternateContent xmlns:mc="http://schemas.openxmlformats.org/markup-compatibility/2006">
        <mc:Choice xmlns:a14="http://schemas.microsoft.com/office/drawing/2010/main" Requires="a14">
          <p:sp>
            <p:nvSpPr>
              <p:cNvPr id="21" name="Text 21"/>
              <p:cNvSpPr/>
              <p:nvPr/>
            </p:nvSpPr>
            <p:spPr>
              <a:xfrm>
                <a:off x="2948760" y="4660000"/>
                <a:ext cx="1520000" cy="300000"/>
              </a:xfrm>
              <a:prstGeom prst="rect">
                <a:avLst/>
              </a:prstGeom>
              <a:noFill/>
              <a:ln/>
            </p:spPr>
            <p:txBody>
              <a:bodyPr wrap="square" lIns="45720" tIns="0" rIns="45720" bIns="0" rtlCol="0" anchor="t"/>
              <a:lstStyle/>
              <a:p>
                <a:pPr marL="0" indent="0" algn="ctr">
                  <a:buNone/>
                </a:pPr>
                <a14:m>
                  <m:oMathPara xmlns:m="http://schemas.openxmlformats.org/officeDocument/2006/math">
                    <m:oMath>
                      <m:r>
                        <a:rPr lang="en-US" sz="1050" i="1" dirty="0" smtClean="0">
                          <a:solidFill>
                            <a:srgbClr val="475569"/>
                          </a:solidFill>
                          <a:latin typeface="Cambria Math" panose="02040503050406030204" pitchFamily="18" charset="0"/>
                          <a:ea typeface="Calibri" pitchFamily="34" charset="-122"/>
                          <a:cs typeface="Calibri" pitchFamily="34" charset="-120"/>
                        </a:rPr>
                        <m:t>|</m:t>
                      </m:r>
                      <m:r>
                        <a:rPr lang="en-US" sz="1050" i="1" dirty="0" smtClean="0">
                          <a:solidFill>
                            <a:srgbClr val="475569"/>
                          </a:solidFill>
                          <a:latin typeface="Cambria Math" panose="02040503050406030204" pitchFamily="18" charset="0"/>
                          <a:ea typeface="Calibri" pitchFamily="34" charset="-122"/>
                          <a:cs typeface="Calibri" pitchFamily="34" charset="-120"/>
                        </a:rPr>
                        <m:t>𝛼</m:t>
                      </m:r>
                      <m:r>
                        <a:rPr lang="en-US" sz="1050" i="1" dirty="0" smtClean="0">
                          <a:solidFill>
                            <a:srgbClr val="475569"/>
                          </a:solidFill>
                          <a:latin typeface="Cambria Math" panose="02040503050406030204" pitchFamily="18" charset="0"/>
                          <a:ea typeface="Calibri" pitchFamily="34" charset="-122"/>
                          <a:cs typeface="Calibri" pitchFamily="34" charset="-120"/>
                        </a:rPr>
                        <m:t>|² + |</m:t>
                      </m:r>
                      <m:r>
                        <a:rPr lang="en-US" sz="1050" i="1" dirty="0" smtClean="0">
                          <a:solidFill>
                            <a:srgbClr val="475569"/>
                          </a:solidFill>
                          <a:latin typeface="Cambria Math" panose="02040503050406030204" pitchFamily="18" charset="0"/>
                          <a:ea typeface="Calibri" pitchFamily="34" charset="-122"/>
                          <a:cs typeface="Calibri" pitchFamily="34" charset="-120"/>
                        </a:rPr>
                        <m:t>𝛽</m:t>
                      </m:r>
                      <m:r>
                        <a:rPr lang="en-US" sz="1050" i="1" dirty="0" smtClean="0">
                          <a:solidFill>
                            <a:srgbClr val="475569"/>
                          </a:solidFill>
                          <a:latin typeface="Cambria Math" panose="02040503050406030204" pitchFamily="18" charset="0"/>
                          <a:ea typeface="Calibri" pitchFamily="34" charset="-122"/>
                          <a:cs typeface="Calibri" pitchFamily="34" charset="-120"/>
                        </a:rPr>
                        <m:t>|² = 1</m:t>
                      </m:r>
                    </m:oMath>
                  </m:oMathPara>
                </a14:m>
                <a:endParaRPr lang="en-US" sz="1050" i="1" dirty="0">
                  <a:solidFill>
                    <a:srgbClr val="475569"/>
                  </a:solidFill>
                  <a:latin typeface="Calibri" pitchFamily="34" charset="0"/>
                  <a:ea typeface="Calibri" pitchFamily="34" charset="-122"/>
                  <a:cs typeface="Calibri" pitchFamily="34" charset="-120"/>
                </a:endParaRPr>
              </a:p>
            </p:txBody>
          </p:sp>
        </mc:Choice>
        <mc:Fallback>
          <p:sp>
            <p:nvSpPr>
              <p:cNvPr id="21" name="Text 21"/>
              <p:cNvSpPr>
                <a:spLocks noRot="1" noChangeAspect="1" noMove="1" noResize="1" noEditPoints="1" noAdjustHandles="1" noChangeArrowheads="1" noChangeShapeType="1" noTextEdit="1"/>
              </p:cNvSpPr>
              <p:nvPr/>
            </p:nvSpPr>
            <p:spPr>
              <a:xfrm>
                <a:off x="2948760" y="4660000"/>
                <a:ext cx="1520000" cy="300000"/>
              </a:xfrm>
              <a:prstGeom prst="rect">
                <a:avLst/>
              </a:prstGeom>
              <a:blipFill>
                <a:blip r:embed="rId3"/>
                <a:stretch>
                  <a:fillRect t="-4000"/>
                </a:stretch>
              </a:blipFill>
              <a:ln/>
            </p:spPr>
            <p:txBody>
              <a:bodyPr/>
              <a:lstStyle/>
              <a:p>
                <a:r>
                  <a:rPr lang="en-US">
                    <a:noFill/>
                  </a:rPr>
                  <a:t> </a:t>
                </a:r>
              </a:p>
            </p:txBody>
          </p:sp>
        </mc:Fallback>
      </mc:AlternateContent>
      <p:sp>
        <p:nvSpPr>
          <p:cNvPr id="22" name="axis"/>
          <p:cNvSpPr/>
          <p:nvPr/>
        </p:nvSpPr>
        <p:spPr>
          <a:xfrm>
            <a:off x="6726000" y="4120000"/>
            <a:ext cx="3514480" cy="0"/>
          </a:xfrm>
          <a:prstGeom prst="line">
            <a:avLst/>
          </a:prstGeom>
          <a:ln w="28575">
            <a:solidFill>
              <a:srgbClr val="3730A3"/>
            </a:solidFill>
            <a:prstDash val="solid"/>
            <a:tailEnd type="triangle" w="med" len="med"/>
          </a:ln>
        </p:spPr>
        <p:txBody>
          <a:bodyPr/>
          <a:lstStyle/>
          <a:p>
            <a:endParaRPr lang="en-US"/>
          </a:p>
        </p:txBody>
      </p:sp>
      <p:sp>
        <p:nvSpPr>
          <p:cNvPr id="23" name="Text 23"/>
          <p:cNvSpPr/>
          <p:nvPr/>
        </p:nvSpPr>
        <p:spPr>
          <a:xfrm>
            <a:off x="7783240" y="3500000"/>
            <a:ext cx="1400000" cy="300000"/>
          </a:xfrm>
          <a:prstGeom prst="rect">
            <a:avLst/>
          </a:prstGeom>
          <a:noFill/>
          <a:ln/>
        </p:spPr>
        <p:txBody>
          <a:bodyPr wrap="square" lIns="45720" tIns="0" rIns="45720" bIns="0" rtlCol="0" anchor="b"/>
          <a:lstStyle/>
          <a:p>
            <a:pPr marL="0" indent="0" algn="ctr">
              <a:buNone/>
            </a:pPr>
            <a:r>
              <a:rPr lang="en-US" sz="1200" b="1">
                <a:solidFill>
                  <a:srgbClr val="3730A3"/>
                </a:solidFill>
                <a:latin typeface="Calibri" pitchFamily="34" charset="0"/>
                <a:ea typeface="Calibri" pitchFamily="34" charset="-122"/>
                <a:cs typeface="Calibri" pitchFamily="34" charset="-120"/>
              </a:rPr>
              <a:t>−1  Global phase</a:t>
            </a:r>
          </a:p>
        </p:txBody>
      </p:sp>
      <p:sp>
        <p:nvSpPr>
          <p:cNvPr id="24" name="Text 24"/>
          <p:cNvSpPr/>
          <p:nvPr/>
        </p:nvSpPr>
        <p:spPr>
          <a:xfrm>
            <a:off x="7723240" y="4660000"/>
            <a:ext cx="1520000" cy="300000"/>
          </a:xfrm>
          <a:prstGeom prst="rect">
            <a:avLst/>
          </a:prstGeom>
          <a:noFill/>
          <a:ln/>
        </p:spPr>
        <p:txBody>
          <a:bodyPr wrap="square" lIns="45720" tIns="0" rIns="45720" bIns="0" rtlCol="0" anchor="t"/>
          <a:lstStyle/>
          <a:p>
            <a:pPr marL="0" indent="0" algn="ctr">
              <a:buNone/>
            </a:pPr>
            <a:r>
              <a:rPr lang="en-US" sz="1050" i="1">
                <a:solidFill>
                  <a:srgbClr val="475569"/>
                </a:solidFill>
                <a:latin typeface="Calibri" pitchFamily="34" charset="0"/>
                <a:ea typeface="Calibri" pitchFamily="34" charset="-122"/>
                <a:cs typeface="Calibri" pitchFamily="34" charset="-120"/>
              </a:rPr>
              <a:t>an overall phase is unobservable</a:t>
            </a:r>
          </a:p>
        </p:txBody>
      </p:sp>
      <p:sp>
        <p:nvSpPr>
          <p:cNvPr id="25" name="Takeaway"/>
          <p:cNvSpPr/>
          <p:nvPr/>
        </p:nvSpPr>
        <p:spPr>
          <a:xfrm>
            <a:off x="731520" y="5320000"/>
            <a:ext cx="10728960" cy="560000"/>
          </a:xfrm>
          <a:prstGeom prst="roundRect">
            <a:avLst>
              <a:gd name="adj" fmla="val 8000"/>
            </a:avLst>
          </a:prstGeom>
          <a:solidFill>
            <a:srgbClr val="EEF2FF"/>
          </a:solidFill>
          <a:ln w="19050">
            <a:solidFill>
              <a:srgbClr val="3730A3"/>
            </a:solidFill>
            <a:prstDash val="solid"/>
          </a:ln>
        </p:spPr>
        <p:txBody>
          <a:bodyPr/>
          <a:lstStyle/>
          <a:p>
            <a:endParaRPr lang="en-US"/>
          </a:p>
        </p:txBody>
      </p:sp>
      <p:sp>
        <p:nvSpPr>
          <p:cNvPr id="26" name="Text 26"/>
          <p:cNvSpPr/>
          <p:nvPr/>
        </p:nvSpPr>
        <p:spPr>
          <a:xfrm>
            <a:off x="731520" y="5320000"/>
            <a:ext cx="10728960" cy="56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Every pure qubit is completely described by only two real numbers.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Parameterizing a Single Qubit</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600000"/>
            <a:ext cx="50292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Standard parameterization</a:t>
            </a:r>
          </a:p>
        </p:txBody>
      </p:sp>
      <p:sp>
        <p:nvSpPr>
          <p:cNvPr id="5" name="band"/>
          <p:cNvSpPr/>
          <p:nvPr/>
        </p:nvSpPr>
        <p:spPr>
          <a:xfrm>
            <a:off x="731520" y="1920000"/>
            <a:ext cx="5029200" cy="1080000"/>
          </a:xfrm>
          <a:prstGeom prst="roundRect">
            <a:avLst>
              <a:gd name="adj" fmla="val 4000"/>
            </a:avLst>
          </a:prstGeom>
          <a:solidFill>
            <a:srgbClr val="EEF2FF"/>
          </a:solidFill>
          <a:ln/>
        </p:spPr>
        <p:txBody>
          <a:bodyPr/>
          <a:lstStyle/>
          <a:p>
            <a:endParaRPr lang="en-US"/>
          </a:p>
        </p:txBody>
      </p:sp>
      <p:sp>
        <p:nvSpPr>
          <p:cNvPr id="6" name="Text 6"/>
          <p:cNvSpPr/>
          <p:nvPr/>
        </p:nvSpPr>
        <p:spPr>
          <a:xfrm>
            <a:off x="731520" y="1920000"/>
            <a:ext cx="5029200" cy="1080000"/>
          </a:xfrm>
          <a:prstGeom prst="rect">
            <a:avLst/>
          </a:prstGeom>
          <a:noFill/>
          <a:ln/>
        </p:spPr>
        <p:txBody>
          <a:bodyPr wrap="square" lIns="45720" tIns="0" rIns="45720" bIns="0" rtlCol="0" anchor="ctr"/>
          <a:lstStyle/>
          <a:p>
            <a:pPr marL="0" indent="0" algn="ctr">
              <a:buNone/>
            </a:pPr>
            <a:r>
              <a:rPr lang="en-US" sz="1700" dirty="0">
                <a:solidFill>
                  <a:srgbClr val="3730A3"/>
                </a:solidFill>
                <a:latin typeface="Cambria Math" pitchFamily="34" charset="0"/>
                <a:ea typeface="Cambria Math" pitchFamily="34" charset="-122"/>
                <a:cs typeface="Cambria Math" pitchFamily="34" charset="-120"/>
              </a:rPr>
              <a:t>|ψ⟩ = cos</a:t>
            </a:r>
            <a:r>
              <a:rPr lang="en-US" sz="1700" i="1" dirty="0">
                <a:solidFill>
                  <a:srgbClr val="3730A3"/>
                </a:solidFill>
                <a:latin typeface="Cambria Math" pitchFamily="34" charset="0"/>
                <a:ea typeface="Cambria Math" pitchFamily="34" charset="-122"/>
                <a:cs typeface="Cambria Math" pitchFamily="34" charset="-120"/>
              </a:rPr>
              <a:t>θ</a:t>
            </a:r>
            <a:r>
              <a:rPr lang="en-US" sz="1700" dirty="0">
                <a:solidFill>
                  <a:srgbClr val="3730A3"/>
                </a:solidFill>
                <a:latin typeface="Cambria Math" pitchFamily="34" charset="0"/>
                <a:ea typeface="Cambria Math" pitchFamily="34" charset="-122"/>
                <a:cs typeface="Cambria Math" pitchFamily="34" charset="-120"/>
              </a:rPr>
              <a:t>⁄2 |0⟩ + </a:t>
            </a:r>
            <a:r>
              <a:rPr lang="en-US" sz="1700" dirty="0" err="1">
                <a:solidFill>
                  <a:srgbClr val="3730A3"/>
                </a:solidFill>
                <a:latin typeface="Cambria Math" pitchFamily="34" charset="0"/>
                <a:ea typeface="Cambria Math" pitchFamily="34" charset="-122"/>
                <a:cs typeface="Cambria Math" pitchFamily="34" charset="-120"/>
              </a:rPr>
              <a:t>e</a:t>
            </a:r>
            <a:r>
              <a:rPr lang="en-US" sz="1150" baseline="30000" dirty="0" err="1">
                <a:solidFill>
                  <a:srgbClr val="3730A3"/>
                </a:solidFill>
                <a:latin typeface="Cambria Math" pitchFamily="34" charset="0"/>
                <a:ea typeface="Cambria Math" pitchFamily="34" charset="-122"/>
                <a:cs typeface="Cambria Math" pitchFamily="34" charset="-120"/>
              </a:rPr>
              <a:t>iφ</a:t>
            </a:r>
            <a:r>
              <a:rPr lang="en-US" sz="1700" dirty="0">
                <a:solidFill>
                  <a:srgbClr val="3730A3"/>
                </a:solidFill>
                <a:latin typeface="Cambria Math" pitchFamily="34" charset="0"/>
                <a:ea typeface="Cambria Math" pitchFamily="34" charset="-122"/>
                <a:cs typeface="Cambria Math" pitchFamily="34" charset="-120"/>
              </a:rPr>
              <a:t> sin</a:t>
            </a:r>
            <a:r>
              <a:rPr lang="en-US" sz="1700" i="1" dirty="0">
                <a:solidFill>
                  <a:srgbClr val="3730A3"/>
                </a:solidFill>
                <a:latin typeface="Cambria Math" pitchFamily="34" charset="0"/>
                <a:ea typeface="Cambria Math" pitchFamily="34" charset="-122"/>
                <a:cs typeface="Cambria Math" pitchFamily="34" charset="-120"/>
              </a:rPr>
              <a:t>θ</a:t>
            </a:r>
            <a:r>
              <a:rPr lang="en-US" sz="1700" dirty="0">
                <a:solidFill>
                  <a:srgbClr val="3730A3"/>
                </a:solidFill>
                <a:latin typeface="Cambria Math" pitchFamily="34" charset="0"/>
                <a:ea typeface="Cambria Math" pitchFamily="34" charset="-122"/>
                <a:cs typeface="Cambria Math" pitchFamily="34" charset="-120"/>
              </a:rPr>
              <a:t>⁄2 |1⟩</a:t>
            </a:r>
          </a:p>
        </p:txBody>
      </p:sp>
      <p:sp>
        <p:nvSpPr>
          <p:cNvPr id="7" name="band"/>
          <p:cNvSpPr/>
          <p:nvPr/>
        </p:nvSpPr>
        <p:spPr>
          <a:xfrm>
            <a:off x="731520" y="3260000"/>
            <a:ext cx="5029200" cy="780000"/>
          </a:xfrm>
          <a:prstGeom prst="roundRect">
            <a:avLst>
              <a:gd name="adj" fmla="val 5000"/>
            </a:avLst>
          </a:prstGeom>
          <a:solidFill>
            <a:srgbClr val="EEF2FF"/>
          </a:solidFill>
          <a:ln/>
        </p:spPr>
        <p:txBody>
          <a:bodyPr/>
          <a:lstStyle/>
          <a:p>
            <a:endParaRPr lang="en-US"/>
          </a:p>
        </p:txBody>
      </p:sp>
      <p:sp>
        <p:nvSpPr>
          <p:cNvPr id="8" name="Text 8"/>
          <p:cNvSpPr/>
          <p:nvPr/>
        </p:nvSpPr>
        <p:spPr>
          <a:xfrm>
            <a:off x="851520" y="3260000"/>
            <a:ext cx="900000" cy="780000"/>
          </a:xfrm>
          <a:prstGeom prst="rect">
            <a:avLst/>
          </a:prstGeom>
          <a:noFill/>
          <a:ln/>
        </p:spPr>
        <p:txBody>
          <a:bodyPr wrap="square" lIns="45720" tIns="0" rIns="45720" bIns="0" rtlCol="0" anchor="ctr"/>
          <a:lstStyle/>
          <a:p>
            <a:pPr marL="0" indent="0" algn="ctr">
              <a:buNone/>
            </a:pPr>
            <a:r>
              <a:rPr lang="en-US" sz="2600" b="1" i="1">
                <a:solidFill>
                  <a:srgbClr val="3730A3"/>
                </a:solidFill>
                <a:latin typeface="Cambria Math" pitchFamily="34" charset="0"/>
                <a:ea typeface="Cambria Math" pitchFamily="34" charset="-122"/>
                <a:cs typeface="Cambria Math" pitchFamily="34" charset="-120"/>
              </a:rPr>
              <a:t>θ</a:t>
            </a:r>
          </a:p>
        </p:txBody>
      </p:sp>
      <p:sp>
        <p:nvSpPr>
          <p:cNvPr id="9" name="Text 9"/>
          <p:cNvSpPr/>
          <p:nvPr/>
        </p:nvSpPr>
        <p:spPr>
          <a:xfrm>
            <a:off x="1751520" y="3260000"/>
            <a:ext cx="3909200" cy="780000"/>
          </a:xfrm>
          <a:prstGeom prst="rect">
            <a:avLst/>
          </a:prstGeom>
          <a:noFill/>
          <a:ln/>
        </p:spPr>
        <p:txBody>
          <a:bodyPr wrap="square" lIns="45720" tIns="0" rIns="45720" bIns="0" rtlCol="0" anchor="ctr"/>
          <a:lstStyle/>
          <a:p>
            <a:pPr marL="0" indent="0" algn="l">
              <a:spcAft>
                <a:spcPts val="120"/>
              </a:spcAft>
              <a:buNone/>
            </a:pPr>
            <a:r>
              <a:rPr lang="en-US" sz="1400" b="1">
                <a:solidFill>
                  <a:srgbClr val="3730A3"/>
                </a:solidFill>
                <a:latin typeface="Calibri" pitchFamily="34" charset="0"/>
                <a:ea typeface="Calibri" pitchFamily="34" charset="-122"/>
                <a:cs typeface="Calibri" pitchFamily="34" charset="-120"/>
              </a:rPr>
              <a:t>Polar angle</a:t>
            </a:r>
          </a:p>
          <a:p>
            <a:pPr marL="0" indent="0" algn="l">
              <a:buNone/>
            </a:pPr>
            <a:r>
              <a:rPr lang="en-US" sz="1200">
                <a:solidFill>
                  <a:srgbClr val="1F2937"/>
                </a:solidFill>
                <a:latin typeface="Calibri" pitchFamily="34" charset="0"/>
                <a:ea typeface="Calibri" pitchFamily="34" charset="-122"/>
                <a:cs typeface="Calibri" pitchFamily="34" charset="-120"/>
              </a:rPr>
              <a:t>sets the measurement probabilities</a:t>
            </a:r>
          </a:p>
        </p:txBody>
      </p:sp>
      <p:sp>
        <p:nvSpPr>
          <p:cNvPr id="10" name="band"/>
          <p:cNvSpPr/>
          <p:nvPr/>
        </p:nvSpPr>
        <p:spPr>
          <a:xfrm>
            <a:off x="731520" y="4200000"/>
            <a:ext cx="5029200" cy="780000"/>
          </a:xfrm>
          <a:prstGeom prst="roundRect">
            <a:avLst>
              <a:gd name="adj" fmla="val 5000"/>
            </a:avLst>
          </a:prstGeom>
          <a:solidFill>
            <a:srgbClr val="CCFBF1"/>
          </a:solidFill>
          <a:ln/>
        </p:spPr>
        <p:txBody>
          <a:bodyPr/>
          <a:lstStyle/>
          <a:p>
            <a:endParaRPr lang="en-US"/>
          </a:p>
        </p:txBody>
      </p:sp>
      <p:sp>
        <p:nvSpPr>
          <p:cNvPr id="11" name="Text 11"/>
          <p:cNvSpPr/>
          <p:nvPr/>
        </p:nvSpPr>
        <p:spPr>
          <a:xfrm>
            <a:off x="851520" y="4200000"/>
            <a:ext cx="900000" cy="780000"/>
          </a:xfrm>
          <a:prstGeom prst="rect">
            <a:avLst/>
          </a:prstGeom>
          <a:noFill/>
          <a:ln/>
        </p:spPr>
        <p:txBody>
          <a:bodyPr wrap="square" lIns="45720" tIns="0" rIns="45720" bIns="0" rtlCol="0" anchor="ctr"/>
          <a:lstStyle/>
          <a:p>
            <a:pPr marL="0" indent="0" algn="ctr">
              <a:buNone/>
            </a:pPr>
            <a:r>
              <a:rPr lang="en-US" sz="2600" b="1" i="1">
                <a:solidFill>
                  <a:srgbClr val="0D9488"/>
                </a:solidFill>
                <a:latin typeface="Cambria Math" pitchFamily="34" charset="0"/>
                <a:ea typeface="Cambria Math" pitchFamily="34" charset="-122"/>
                <a:cs typeface="Cambria Math" pitchFamily="34" charset="-120"/>
              </a:rPr>
              <a:t>φ</a:t>
            </a:r>
          </a:p>
        </p:txBody>
      </p:sp>
      <p:sp>
        <p:nvSpPr>
          <p:cNvPr id="12" name="Text 12"/>
          <p:cNvSpPr/>
          <p:nvPr/>
        </p:nvSpPr>
        <p:spPr>
          <a:xfrm>
            <a:off x="1751520" y="4200000"/>
            <a:ext cx="3909200" cy="780000"/>
          </a:xfrm>
          <a:prstGeom prst="rect">
            <a:avLst/>
          </a:prstGeom>
          <a:noFill/>
          <a:ln/>
        </p:spPr>
        <p:txBody>
          <a:bodyPr wrap="square" lIns="45720" tIns="0" rIns="45720" bIns="0" rtlCol="0" anchor="ctr"/>
          <a:lstStyle/>
          <a:p>
            <a:pPr marL="0" indent="0" algn="l">
              <a:spcAft>
                <a:spcPts val="120"/>
              </a:spcAft>
              <a:buNone/>
            </a:pPr>
            <a:r>
              <a:rPr lang="en-US" sz="1400" b="1">
                <a:solidFill>
                  <a:srgbClr val="0D9488"/>
                </a:solidFill>
                <a:latin typeface="Calibri" pitchFamily="34" charset="0"/>
                <a:ea typeface="Calibri" pitchFamily="34" charset="-122"/>
                <a:cs typeface="Calibri" pitchFamily="34" charset="-120"/>
              </a:rPr>
              <a:t>Azimuthal angle</a:t>
            </a:r>
          </a:p>
          <a:p>
            <a:pPr marL="0" indent="0" algn="l">
              <a:buNone/>
            </a:pPr>
            <a:r>
              <a:rPr lang="en-US" sz="1200">
                <a:solidFill>
                  <a:srgbClr val="1F2937"/>
                </a:solidFill>
                <a:latin typeface="Calibri" pitchFamily="34" charset="0"/>
                <a:ea typeface="Calibri" pitchFamily="34" charset="-122"/>
                <a:cs typeface="Calibri" pitchFamily="34" charset="-120"/>
              </a:rPr>
              <a:t>sets the relative phase</a:t>
            </a:r>
          </a:p>
        </p:txBody>
      </p:sp>
      <p:sp>
        <p:nvSpPr>
          <p:cNvPr id="13" name="Figure card"/>
          <p:cNvSpPr/>
          <p:nvPr/>
        </p:nvSpPr>
        <p:spPr>
          <a:xfrm>
            <a:off x="6400800" y="1737360"/>
            <a:ext cx="5059680" cy="3620000"/>
          </a:xfrm>
          <a:prstGeom prst="roundRect">
            <a:avLst>
              <a:gd name="adj" fmla="val 3137"/>
            </a:avLst>
          </a:prstGeom>
          <a:solidFill>
            <a:srgbClr val="FFFFFF"/>
          </a:solidFill>
          <a:ln w="15875">
            <a:solidFill>
              <a:srgbClr val="D1D5DB"/>
            </a:solidFill>
            <a:prstDash val="solid"/>
          </a:ln>
        </p:spPr>
        <p:txBody>
          <a:bodyPr/>
          <a:lstStyle/>
          <a:p>
            <a:endParaRPr lang="en-US"/>
          </a:p>
        </p:txBody>
      </p:sp>
      <p:sp>
        <p:nvSpPr>
          <p:cNvPr id="14" name="sphere"/>
          <p:cNvSpPr/>
          <p:nvPr/>
        </p:nvSpPr>
        <p:spPr>
          <a:xfrm>
            <a:off x="7630640" y="2260000"/>
            <a:ext cx="2600000" cy="2600000"/>
          </a:xfrm>
          <a:prstGeom prst="ellipse">
            <a:avLst/>
          </a:prstGeom>
          <a:solidFill>
            <a:srgbClr val="EEF2FF"/>
          </a:solidFill>
          <a:ln w="22225">
            <a:solidFill>
              <a:srgbClr val="3730A3"/>
            </a:solidFill>
            <a:prstDash val="solid"/>
          </a:ln>
        </p:spPr>
        <p:txBody>
          <a:bodyPr/>
          <a:lstStyle/>
          <a:p>
            <a:endParaRPr lang="en-US"/>
          </a:p>
        </p:txBody>
      </p:sp>
      <p:sp>
        <p:nvSpPr>
          <p:cNvPr id="15" name="equator"/>
          <p:cNvSpPr/>
          <p:nvPr/>
        </p:nvSpPr>
        <p:spPr>
          <a:xfrm>
            <a:off x="7630640" y="3170000"/>
            <a:ext cx="2600000" cy="780000"/>
          </a:xfrm>
          <a:prstGeom prst="ellipse">
            <a:avLst/>
          </a:prstGeom>
          <a:noFill/>
          <a:ln w="12700">
            <a:solidFill>
              <a:srgbClr val="475569"/>
            </a:solidFill>
            <a:prstDash val="dash"/>
          </a:ln>
        </p:spPr>
        <p:txBody>
          <a:bodyPr/>
          <a:lstStyle/>
          <a:p>
            <a:endParaRPr lang="en-US"/>
          </a:p>
        </p:txBody>
      </p:sp>
      <p:sp>
        <p:nvSpPr>
          <p:cNvPr id="16" name="axis"/>
          <p:cNvSpPr/>
          <p:nvPr/>
        </p:nvSpPr>
        <p:spPr>
          <a:xfrm flipV="1">
            <a:off x="8930640" y="2260000"/>
            <a:ext cx="0" cy="2600000"/>
          </a:xfrm>
          <a:prstGeom prst="line">
            <a:avLst/>
          </a:prstGeom>
          <a:ln w="15875">
            <a:solidFill>
              <a:srgbClr val="475569"/>
            </a:solidFill>
            <a:prstDash val="solid"/>
            <a:tailEnd type="triangle" w="med" len="med"/>
          </a:ln>
        </p:spPr>
        <p:txBody>
          <a:bodyPr/>
          <a:lstStyle/>
          <a:p>
            <a:endParaRPr lang="en-US"/>
          </a:p>
        </p:txBody>
      </p:sp>
      <p:sp>
        <p:nvSpPr>
          <p:cNvPr id="17" name="axis"/>
          <p:cNvSpPr/>
          <p:nvPr/>
        </p:nvSpPr>
        <p:spPr>
          <a:xfrm>
            <a:off x="8930640" y="3560000"/>
            <a:ext cx="1300000" cy="0"/>
          </a:xfrm>
          <a:prstGeom prst="line">
            <a:avLst/>
          </a:prstGeom>
          <a:ln w="15875">
            <a:solidFill>
              <a:srgbClr val="475569"/>
            </a:solidFill>
            <a:prstDash val="solid"/>
            <a:tailEnd type="triangle" w="med" len="med"/>
          </a:ln>
        </p:spPr>
        <p:txBody>
          <a:bodyPr/>
          <a:lstStyle/>
          <a:p>
            <a:endParaRPr lang="en-US"/>
          </a:p>
        </p:txBody>
      </p:sp>
      <p:sp>
        <p:nvSpPr>
          <p:cNvPr id="18" name="axis"/>
          <p:cNvSpPr/>
          <p:nvPr/>
        </p:nvSpPr>
        <p:spPr>
          <a:xfrm flipV="1">
            <a:off x="7630640" y="3560000"/>
            <a:ext cx="1300000" cy="0"/>
          </a:xfrm>
          <a:prstGeom prst="line">
            <a:avLst/>
          </a:prstGeom>
          <a:ln w="12700">
            <a:solidFill>
              <a:srgbClr val="475569"/>
            </a:solidFill>
            <a:prstDash val="dash"/>
          </a:ln>
        </p:spPr>
        <p:txBody>
          <a:bodyPr/>
          <a:lstStyle/>
          <a:p>
            <a:endParaRPr lang="en-US"/>
          </a:p>
        </p:txBody>
      </p:sp>
      <p:sp>
        <p:nvSpPr>
          <p:cNvPr id="19" name="axis"/>
          <p:cNvSpPr/>
          <p:nvPr/>
        </p:nvSpPr>
        <p:spPr>
          <a:xfrm flipV="1">
            <a:off x="8072640" y="3560000"/>
            <a:ext cx="858000" cy="390000"/>
          </a:xfrm>
          <a:prstGeom prst="line">
            <a:avLst/>
          </a:prstGeom>
          <a:ln w="15875">
            <a:solidFill>
              <a:srgbClr val="475569"/>
            </a:solidFill>
            <a:prstDash val="solid"/>
            <a:tailEnd type="triangle" w="med" len="med"/>
          </a:ln>
        </p:spPr>
        <p:txBody>
          <a:bodyPr/>
          <a:lstStyle/>
          <a:p>
            <a:endParaRPr lang="en-US"/>
          </a:p>
        </p:txBody>
      </p:sp>
      <p:sp>
        <p:nvSpPr>
          <p:cNvPr id="20" name="axis"/>
          <p:cNvSpPr/>
          <p:nvPr/>
        </p:nvSpPr>
        <p:spPr>
          <a:xfrm flipV="1">
            <a:off x="8930640" y="3170000"/>
            <a:ext cx="858000" cy="390000"/>
          </a:xfrm>
          <a:prstGeom prst="line">
            <a:avLst/>
          </a:prstGeom>
          <a:ln w="12700">
            <a:solidFill>
              <a:srgbClr val="475569"/>
            </a:solidFill>
            <a:prstDash val="dash"/>
          </a:ln>
        </p:spPr>
        <p:txBody>
          <a:bodyPr/>
          <a:lstStyle/>
          <a:p>
            <a:endParaRPr lang="en-US"/>
          </a:p>
        </p:txBody>
      </p:sp>
      <p:sp>
        <p:nvSpPr>
          <p:cNvPr id="21" name="dot"/>
          <p:cNvSpPr/>
          <p:nvPr/>
        </p:nvSpPr>
        <p:spPr>
          <a:xfrm>
            <a:off x="8894240" y="3523600"/>
            <a:ext cx="72800" cy="72800"/>
          </a:xfrm>
          <a:prstGeom prst="ellipse">
            <a:avLst/>
          </a:prstGeom>
          <a:solidFill>
            <a:srgbClr val="1F2937"/>
          </a:solidFill>
          <a:ln/>
        </p:spPr>
        <p:txBody>
          <a:bodyPr/>
          <a:lstStyle/>
          <a:p>
            <a:endParaRPr lang="en-US"/>
          </a:p>
        </p:txBody>
      </p:sp>
      <p:sp>
        <p:nvSpPr>
          <p:cNvPr id="22" name="Text 22"/>
          <p:cNvSpPr/>
          <p:nvPr/>
        </p:nvSpPr>
        <p:spPr>
          <a:xfrm>
            <a:off x="8650640" y="18750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|0⟩</a:t>
            </a:r>
          </a:p>
        </p:txBody>
      </p:sp>
      <p:sp>
        <p:nvSpPr>
          <p:cNvPr id="23" name="Text 23"/>
          <p:cNvSpPr/>
          <p:nvPr/>
        </p:nvSpPr>
        <p:spPr>
          <a:xfrm>
            <a:off x="8650640" y="49450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|1⟩</a:t>
            </a:r>
          </a:p>
        </p:txBody>
      </p:sp>
      <p:sp>
        <p:nvSpPr>
          <p:cNvPr id="24" name="Text 24"/>
          <p:cNvSpPr/>
          <p:nvPr/>
        </p:nvSpPr>
        <p:spPr>
          <a:xfrm>
            <a:off x="10205640" y="3410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25" name="Text 25"/>
          <p:cNvSpPr/>
          <p:nvPr/>
        </p:nvSpPr>
        <p:spPr>
          <a:xfrm>
            <a:off x="7055640" y="3410000"/>
            <a:ext cx="64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26" name="Text 26"/>
          <p:cNvSpPr/>
          <p:nvPr/>
        </p:nvSpPr>
        <p:spPr>
          <a:xfrm>
            <a:off x="7597640" y="3975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27" name="Text 27"/>
          <p:cNvSpPr/>
          <p:nvPr/>
        </p:nvSpPr>
        <p:spPr>
          <a:xfrm>
            <a:off x="9703640" y="2845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28" name="axis"/>
          <p:cNvSpPr/>
          <p:nvPr/>
        </p:nvSpPr>
        <p:spPr>
          <a:xfrm flipV="1">
            <a:off x="8930640" y="2780000"/>
            <a:ext cx="754000" cy="780000"/>
          </a:xfrm>
          <a:prstGeom prst="line">
            <a:avLst/>
          </a:prstGeom>
          <a:ln w="34925">
            <a:solidFill>
              <a:srgbClr val="3730A3"/>
            </a:solidFill>
            <a:prstDash val="solid"/>
            <a:tailEnd type="triangle" w="med" len="med"/>
          </a:ln>
        </p:spPr>
        <p:txBody>
          <a:bodyPr/>
          <a:lstStyle/>
          <a:p>
            <a:endParaRPr lang="en-US"/>
          </a:p>
        </p:txBody>
      </p:sp>
      <p:sp>
        <p:nvSpPr>
          <p:cNvPr id="29" name="dot"/>
          <p:cNvSpPr/>
          <p:nvPr/>
        </p:nvSpPr>
        <p:spPr>
          <a:xfrm>
            <a:off x="9619640" y="2715000"/>
            <a:ext cx="130000" cy="130000"/>
          </a:xfrm>
          <a:prstGeom prst="ellipse">
            <a:avLst/>
          </a:prstGeom>
          <a:solidFill>
            <a:srgbClr val="3730A3"/>
          </a:solidFill>
          <a:ln w="9525">
            <a:solidFill>
              <a:srgbClr val="FFFFFF"/>
            </a:solidFill>
            <a:prstDash val="solid"/>
          </a:ln>
        </p:spPr>
        <p:txBody>
          <a:bodyPr/>
          <a:lstStyle/>
          <a:p>
            <a:endParaRPr lang="en-US"/>
          </a:p>
        </p:txBody>
      </p:sp>
      <p:sp>
        <p:nvSpPr>
          <p:cNvPr id="30" name="Text 30"/>
          <p:cNvSpPr/>
          <p:nvPr/>
        </p:nvSpPr>
        <p:spPr>
          <a:xfrm>
            <a:off x="9544640" y="25400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|ψ⟩</a:t>
            </a:r>
          </a:p>
        </p:txBody>
      </p:sp>
      <p:sp>
        <p:nvSpPr>
          <p:cNvPr id="31" name="arc"/>
          <p:cNvSpPr/>
          <p:nvPr/>
        </p:nvSpPr>
        <p:spPr>
          <a:xfrm>
            <a:off x="8488640" y="3118000"/>
            <a:ext cx="884000" cy="884000"/>
          </a:xfrm>
          <a:prstGeom prst="arc">
            <a:avLst>
              <a:gd name="adj1" fmla="val 16200000"/>
              <a:gd name="adj2" fmla="val 2641738"/>
            </a:avLst>
          </a:prstGeom>
          <a:noFill/>
          <a:ln w="15875">
            <a:solidFill>
              <a:srgbClr val="3730A3"/>
            </a:solidFill>
          </a:ln>
        </p:spPr>
        <p:txBody>
          <a:bodyPr/>
          <a:lstStyle/>
          <a:p>
            <a:endParaRPr lang="en-US"/>
          </a:p>
        </p:txBody>
      </p:sp>
      <p:sp>
        <p:nvSpPr>
          <p:cNvPr id="32" name="Text 32"/>
          <p:cNvSpPr/>
          <p:nvPr/>
        </p:nvSpPr>
        <p:spPr>
          <a:xfrm>
            <a:off x="8953640" y="2838000"/>
            <a:ext cx="24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θ</a:t>
            </a:r>
          </a:p>
        </p:txBody>
      </p:sp>
      <p:sp>
        <p:nvSpPr>
          <p:cNvPr id="33" name="arc"/>
          <p:cNvSpPr/>
          <p:nvPr/>
        </p:nvSpPr>
        <p:spPr>
          <a:xfrm>
            <a:off x="8540640" y="3318200"/>
            <a:ext cx="780000" cy="483600"/>
          </a:xfrm>
          <a:prstGeom prst="arc">
            <a:avLst>
              <a:gd name="adj1" fmla="val 11400000"/>
              <a:gd name="adj2" fmla="val 3600000"/>
            </a:avLst>
          </a:prstGeom>
          <a:noFill/>
          <a:ln w="15875">
            <a:solidFill>
              <a:srgbClr val="0D9488"/>
            </a:solidFill>
          </a:ln>
        </p:spPr>
        <p:txBody>
          <a:bodyPr/>
          <a:lstStyle/>
          <a:p>
            <a:endParaRPr lang="en-US"/>
          </a:p>
        </p:txBody>
      </p:sp>
      <p:sp>
        <p:nvSpPr>
          <p:cNvPr id="34" name="Text 34"/>
          <p:cNvSpPr/>
          <p:nvPr/>
        </p:nvSpPr>
        <p:spPr>
          <a:xfrm>
            <a:off x="8784640" y="3631000"/>
            <a:ext cx="24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φ</a:t>
            </a:r>
          </a:p>
        </p:txBody>
      </p:sp>
      <p:sp>
        <p:nvSpPr>
          <p:cNvPr id="35" name="Text 35"/>
          <p:cNvSpPr/>
          <p:nvPr/>
        </p:nvSpPr>
        <p:spPr>
          <a:xfrm>
            <a:off x="6400800" y="5420000"/>
            <a:ext cx="5059680" cy="280000"/>
          </a:xfrm>
          <a:prstGeom prst="rect">
            <a:avLst/>
          </a:prstGeom>
          <a:noFill/>
          <a:ln/>
        </p:spPr>
        <p:txBody>
          <a:bodyPr wrap="square" lIns="45720" tIns="0" rIns="4572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θ and φ locate the state on the sphere</a:t>
            </a:r>
          </a:p>
        </p:txBody>
      </p:sp>
      <p:sp>
        <p:nvSpPr>
          <p:cNvPr id="36" name="Text 36"/>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Every pure qubit corresponds to exactly one point on the sphere.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The Bloch Sphere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phere"/>
          <p:cNvSpPr/>
          <p:nvPr/>
        </p:nvSpPr>
        <p:spPr>
          <a:xfrm>
            <a:off x="4276000" y="1780000"/>
            <a:ext cx="3640000" cy="3640000"/>
          </a:xfrm>
          <a:prstGeom prst="ellipse">
            <a:avLst/>
          </a:prstGeom>
          <a:solidFill>
            <a:srgbClr val="EEF2FF"/>
          </a:solidFill>
          <a:ln w="22225">
            <a:solidFill>
              <a:srgbClr val="3730A3"/>
            </a:solidFill>
            <a:prstDash val="solid"/>
          </a:ln>
        </p:spPr>
        <p:txBody>
          <a:bodyPr/>
          <a:lstStyle/>
          <a:p>
            <a:endParaRPr lang="en-US"/>
          </a:p>
        </p:txBody>
      </p:sp>
      <p:sp>
        <p:nvSpPr>
          <p:cNvPr id="5" name="equator"/>
          <p:cNvSpPr/>
          <p:nvPr/>
        </p:nvSpPr>
        <p:spPr>
          <a:xfrm>
            <a:off x="4276000" y="3054000"/>
            <a:ext cx="3640000" cy="1092000"/>
          </a:xfrm>
          <a:prstGeom prst="ellipse">
            <a:avLst/>
          </a:prstGeom>
          <a:noFill/>
          <a:ln w="12700">
            <a:solidFill>
              <a:srgbClr val="475569"/>
            </a:solidFill>
            <a:prstDash val="dash"/>
          </a:ln>
        </p:spPr>
        <p:txBody>
          <a:bodyPr/>
          <a:lstStyle/>
          <a:p>
            <a:endParaRPr lang="en-US"/>
          </a:p>
        </p:txBody>
      </p:sp>
      <p:sp>
        <p:nvSpPr>
          <p:cNvPr id="6" name="axis"/>
          <p:cNvSpPr/>
          <p:nvPr/>
        </p:nvSpPr>
        <p:spPr>
          <a:xfrm flipV="1">
            <a:off x="6096000" y="1780000"/>
            <a:ext cx="0" cy="3640000"/>
          </a:xfrm>
          <a:prstGeom prst="line">
            <a:avLst/>
          </a:prstGeom>
          <a:ln w="15875">
            <a:solidFill>
              <a:srgbClr val="475569"/>
            </a:solidFill>
            <a:prstDash val="solid"/>
            <a:tailEnd type="triangle" w="med" len="med"/>
          </a:ln>
        </p:spPr>
        <p:txBody>
          <a:bodyPr/>
          <a:lstStyle/>
          <a:p>
            <a:endParaRPr lang="en-US"/>
          </a:p>
        </p:txBody>
      </p:sp>
      <p:sp>
        <p:nvSpPr>
          <p:cNvPr id="7" name="axis"/>
          <p:cNvSpPr/>
          <p:nvPr/>
        </p:nvSpPr>
        <p:spPr>
          <a:xfrm>
            <a:off x="6096000" y="3600000"/>
            <a:ext cx="1820000" cy="0"/>
          </a:xfrm>
          <a:prstGeom prst="line">
            <a:avLst/>
          </a:prstGeom>
          <a:ln w="15875">
            <a:solidFill>
              <a:srgbClr val="475569"/>
            </a:solidFill>
            <a:prstDash val="solid"/>
            <a:tailEnd type="triangle" w="med" len="med"/>
          </a:ln>
        </p:spPr>
        <p:txBody>
          <a:bodyPr/>
          <a:lstStyle/>
          <a:p>
            <a:endParaRPr lang="en-US"/>
          </a:p>
        </p:txBody>
      </p:sp>
      <p:sp>
        <p:nvSpPr>
          <p:cNvPr id="8" name="axis"/>
          <p:cNvSpPr/>
          <p:nvPr/>
        </p:nvSpPr>
        <p:spPr>
          <a:xfrm flipV="1">
            <a:off x="4276000" y="3600000"/>
            <a:ext cx="1820000" cy="0"/>
          </a:xfrm>
          <a:prstGeom prst="line">
            <a:avLst/>
          </a:prstGeom>
          <a:ln w="12700">
            <a:solidFill>
              <a:srgbClr val="475569"/>
            </a:solidFill>
            <a:prstDash val="dash"/>
          </a:ln>
        </p:spPr>
        <p:txBody>
          <a:bodyPr/>
          <a:lstStyle/>
          <a:p>
            <a:endParaRPr lang="en-US"/>
          </a:p>
        </p:txBody>
      </p:sp>
      <p:sp>
        <p:nvSpPr>
          <p:cNvPr id="9" name="axis"/>
          <p:cNvSpPr/>
          <p:nvPr/>
        </p:nvSpPr>
        <p:spPr>
          <a:xfrm flipV="1">
            <a:off x="4894800" y="3600000"/>
            <a:ext cx="1201200" cy="546000"/>
          </a:xfrm>
          <a:prstGeom prst="line">
            <a:avLst/>
          </a:prstGeom>
          <a:ln w="15875">
            <a:solidFill>
              <a:srgbClr val="475569"/>
            </a:solidFill>
            <a:prstDash val="solid"/>
            <a:tailEnd type="triangle" w="med" len="med"/>
          </a:ln>
        </p:spPr>
        <p:txBody>
          <a:bodyPr/>
          <a:lstStyle/>
          <a:p>
            <a:endParaRPr lang="en-US"/>
          </a:p>
        </p:txBody>
      </p:sp>
      <p:sp>
        <p:nvSpPr>
          <p:cNvPr id="10" name="axis"/>
          <p:cNvSpPr/>
          <p:nvPr/>
        </p:nvSpPr>
        <p:spPr>
          <a:xfrm flipV="1">
            <a:off x="6096000" y="3054000"/>
            <a:ext cx="1201200" cy="546000"/>
          </a:xfrm>
          <a:prstGeom prst="line">
            <a:avLst/>
          </a:prstGeom>
          <a:ln w="12700">
            <a:solidFill>
              <a:srgbClr val="475569"/>
            </a:solidFill>
            <a:prstDash val="dash"/>
          </a:ln>
        </p:spPr>
        <p:txBody>
          <a:bodyPr/>
          <a:lstStyle/>
          <a:p>
            <a:endParaRPr lang="en-US"/>
          </a:p>
        </p:txBody>
      </p:sp>
      <p:sp>
        <p:nvSpPr>
          <p:cNvPr id="11" name="dot"/>
          <p:cNvSpPr/>
          <p:nvPr/>
        </p:nvSpPr>
        <p:spPr>
          <a:xfrm>
            <a:off x="6045040" y="3549040"/>
            <a:ext cx="101920" cy="101920"/>
          </a:xfrm>
          <a:prstGeom prst="ellipse">
            <a:avLst/>
          </a:prstGeom>
          <a:solidFill>
            <a:srgbClr val="1F2937"/>
          </a:solidFill>
          <a:ln/>
        </p:spPr>
        <p:txBody>
          <a:bodyPr/>
          <a:lstStyle/>
          <a:p>
            <a:endParaRPr lang="en-US"/>
          </a:p>
        </p:txBody>
      </p:sp>
      <p:sp>
        <p:nvSpPr>
          <p:cNvPr id="12" name="Text 12"/>
          <p:cNvSpPr/>
          <p:nvPr/>
        </p:nvSpPr>
        <p:spPr>
          <a:xfrm>
            <a:off x="5816000" y="1317000"/>
            <a:ext cx="560000" cy="300000"/>
          </a:xfrm>
          <a:prstGeom prst="rect">
            <a:avLst/>
          </a:prstGeom>
          <a:noFill/>
          <a:ln/>
        </p:spPr>
        <p:txBody>
          <a:bodyPr wrap="square" lIns="45720" tIns="0" rIns="45720" bIns="0" rtlCol="0" anchor="ctr"/>
          <a:lstStyle/>
          <a:p>
            <a:pPr marL="0" indent="0" algn="ctr">
              <a:buNone/>
            </a:pPr>
            <a:r>
              <a:rPr lang="en-US" sz="1700" b="1">
                <a:solidFill>
                  <a:srgbClr val="3730A3"/>
                </a:solidFill>
                <a:latin typeface="Cambria Math" pitchFamily="34" charset="0"/>
                <a:ea typeface="Cambria Math" pitchFamily="34" charset="-122"/>
                <a:cs typeface="Cambria Math" pitchFamily="34" charset="-120"/>
              </a:rPr>
              <a:t>|0⟩</a:t>
            </a:r>
          </a:p>
        </p:txBody>
      </p:sp>
      <p:sp>
        <p:nvSpPr>
          <p:cNvPr id="13" name="Text 13"/>
          <p:cNvSpPr/>
          <p:nvPr/>
        </p:nvSpPr>
        <p:spPr>
          <a:xfrm>
            <a:off x="5816000" y="5583000"/>
            <a:ext cx="560000" cy="300000"/>
          </a:xfrm>
          <a:prstGeom prst="rect">
            <a:avLst/>
          </a:prstGeom>
          <a:noFill/>
          <a:ln/>
        </p:spPr>
        <p:txBody>
          <a:bodyPr wrap="square" lIns="45720" tIns="0" rIns="45720" bIns="0" rtlCol="0" anchor="ctr"/>
          <a:lstStyle/>
          <a:p>
            <a:pPr marL="0" indent="0" algn="ctr">
              <a:buNone/>
            </a:pPr>
            <a:r>
              <a:rPr lang="en-US" sz="1700" b="1">
                <a:solidFill>
                  <a:srgbClr val="3730A3"/>
                </a:solidFill>
                <a:latin typeface="Cambria Math" pitchFamily="34" charset="0"/>
                <a:ea typeface="Cambria Math" pitchFamily="34" charset="-122"/>
                <a:cs typeface="Cambria Math" pitchFamily="34" charset="-120"/>
              </a:rPr>
              <a:t>|1⟩</a:t>
            </a:r>
          </a:p>
        </p:txBody>
      </p:sp>
      <p:sp>
        <p:nvSpPr>
          <p:cNvPr id="14" name="Text 14"/>
          <p:cNvSpPr/>
          <p:nvPr/>
        </p:nvSpPr>
        <p:spPr>
          <a:xfrm>
            <a:off x="7969000" y="3450000"/>
            <a:ext cx="560000" cy="300000"/>
          </a:xfrm>
          <a:prstGeom prst="rect">
            <a:avLst/>
          </a:prstGeom>
          <a:noFill/>
          <a:ln/>
        </p:spPr>
        <p:txBody>
          <a:bodyPr wrap="square" lIns="45720" tIns="0" rIns="45720" bIns="0" rtlCol="0" anchor="ctr"/>
          <a:lstStyle/>
          <a:p>
            <a:pPr marL="0" indent="0" algn="ctr">
              <a:buNone/>
            </a:pPr>
            <a:r>
              <a:rPr lang="en-US" sz="1700" b="1">
                <a:solidFill>
                  <a:srgbClr val="0D9488"/>
                </a:solidFill>
                <a:latin typeface="Cambria Math" pitchFamily="34" charset="0"/>
                <a:ea typeface="Cambria Math" pitchFamily="34" charset="-122"/>
                <a:cs typeface="Cambria Math" pitchFamily="34" charset="-120"/>
              </a:rPr>
              <a:t>|i⟩</a:t>
            </a:r>
          </a:p>
        </p:txBody>
      </p:sp>
      <p:sp>
        <p:nvSpPr>
          <p:cNvPr id="15" name="Text 15"/>
          <p:cNvSpPr/>
          <p:nvPr/>
        </p:nvSpPr>
        <p:spPr>
          <a:xfrm>
            <a:off x="3623000" y="3450000"/>
            <a:ext cx="640000" cy="300000"/>
          </a:xfrm>
          <a:prstGeom prst="rect">
            <a:avLst/>
          </a:prstGeom>
          <a:noFill/>
          <a:ln/>
        </p:spPr>
        <p:txBody>
          <a:bodyPr wrap="square" lIns="45720" tIns="0" rIns="45720" bIns="0" rtlCol="0" anchor="ctr"/>
          <a:lstStyle/>
          <a:p>
            <a:pPr marL="0" indent="0" algn="ctr">
              <a:buNone/>
            </a:pPr>
            <a:r>
              <a:rPr lang="en-US" sz="1700" b="1">
                <a:solidFill>
                  <a:srgbClr val="0D9488"/>
                </a:solidFill>
                <a:latin typeface="Cambria Math" pitchFamily="34" charset="0"/>
                <a:ea typeface="Cambria Math" pitchFamily="34" charset="-122"/>
                <a:cs typeface="Cambria Math" pitchFamily="34" charset="-120"/>
              </a:rPr>
              <a:t>|−i⟩</a:t>
            </a:r>
          </a:p>
        </p:txBody>
      </p:sp>
      <p:sp>
        <p:nvSpPr>
          <p:cNvPr id="16" name="Text 16"/>
          <p:cNvSpPr/>
          <p:nvPr/>
        </p:nvSpPr>
        <p:spPr>
          <a:xfrm>
            <a:off x="4341800" y="4249000"/>
            <a:ext cx="560000" cy="300000"/>
          </a:xfrm>
          <a:prstGeom prst="rect">
            <a:avLst/>
          </a:prstGeom>
          <a:noFill/>
          <a:ln/>
        </p:spPr>
        <p:txBody>
          <a:bodyPr wrap="square" lIns="45720" tIns="0" rIns="45720" bIns="0" rtlCol="0" anchor="ctr"/>
          <a:lstStyle/>
          <a:p>
            <a:pPr marL="0" indent="0" algn="ctr">
              <a:buNone/>
            </a:pPr>
            <a:r>
              <a:rPr lang="en-US" sz="1700" b="1">
                <a:solidFill>
                  <a:srgbClr val="0D9488"/>
                </a:solidFill>
                <a:latin typeface="Cambria Math" pitchFamily="34" charset="0"/>
                <a:ea typeface="Cambria Math" pitchFamily="34" charset="-122"/>
                <a:cs typeface="Cambria Math" pitchFamily="34" charset="-120"/>
              </a:rPr>
              <a:t>|+⟩</a:t>
            </a:r>
          </a:p>
        </p:txBody>
      </p:sp>
      <p:sp>
        <p:nvSpPr>
          <p:cNvPr id="17" name="Text 17"/>
          <p:cNvSpPr/>
          <p:nvPr/>
        </p:nvSpPr>
        <p:spPr>
          <a:xfrm>
            <a:off x="7290200" y="2651000"/>
            <a:ext cx="560000" cy="300000"/>
          </a:xfrm>
          <a:prstGeom prst="rect">
            <a:avLst/>
          </a:prstGeom>
          <a:noFill/>
          <a:ln/>
        </p:spPr>
        <p:txBody>
          <a:bodyPr wrap="square" lIns="45720" tIns="0" rIns="45720" bIns="0" rtlCol="0" anchor="ctr"/>
          <a:lstStyle/>
          <a:p>
            <a:pPr marL="0" indent="0" algn="ctr">
              <a:buNone/>
            </a:pPr>
            <a:r>
              <a:rPr lang="en-US" sz="1700" b="1">
                <a:solidFill>
                  <a:srgbClr val="0D9488"/>
                </a:solidFill>
                <a:latin typeface="Cambria Math" pitchFamily="34" charset="0"/>
                <a:ea typeface="Cambria Math" pitchFamily="34" charset="-122"/>
                <a:cs typeface="Cambria Math" pitchFamily="34" charset="-120"/>
              </a:rPr>
              <a:t>|−⟩</a:t>
            </a:r>
          </a:p>
        </p:txBody>
      </p:sp>
      <p:sp>
        <p:nvSpPr>
          <p:cNvPr id="18" name="axis"/>
          <p:cNvSpPr/>
          <p:nvPr/>
        </p:nvSpPr>
        <p:spPr>
          <a:xfrm flipV="1">
            <a:off x="6096000" y="2508000"/>
            <a:ext cx="1055600" cy="1092000"/>
          </a:xfrm>
          <a:prstGeom prst="line">
            <a:avLst/>
          </a:prstGeom>
          <a:ln w="34925">
            <a:solidFill>
              <a:srgbClr val="3730A3"/>
            </a:solidFill>
            <a:prstDash val="solid"/>
            <a:tailEnd type="triangle" w="med" len="med"/>
          </a:ln>
        </p:spPr>
        <p:txBody>
          <a:bodyPr/>
          <a:lstStyle/>
          <a:p>
            <a:endParaRPr lang="en-US"/>
          </a:p>
        </p:txBody>
      </p:sp>
      <p:sp>
        <p:nvSpPr>
          <p:cNvPr id="19" name="dot"/>
          <p:cNvSpPr/>
          <p:nvPr/>
        </p:nvSpPr>
        <p:spPr>
          <a:xfrm>
            <a:off x="7060600" y="2417000"/>
            <a:ext cx="182000" cy="182000"/>
          </a:xfrm>
          <a:prstGeom prst="ellipse">
            <a:avLst/>
          </a:prstGeom>
          <a:solidFill>
            <a:srgbClr val="3730A3"/>
          </a:solidFill>
          <a:ln w="9525">
            <a:solidFill>
              <a:srgbClr val="FFFFFF"/>
            </a:solidFill>
            <a:prstDash val="solid"/>
          </a:ln>
        </p:spPr>
        <p:txBody>
          <a:bodyPr/>
          <a:lstStyle/>
          <a:p>
            <a:endParaRPr lang="en-US"/>
          </a:p>
        </p:txBody>
      </p:sp>
      <p:sp>
        <p:nvSpPr>
          <p:cNvPr id="20" name="Text 20"/>
          <p:cNvSpPr/>
          <p:nvPr/>
        </p:nvSpPr>
        <p:spPr>
          <a:xfrm>
            <a:off x="7011600" y="2268000"/>
            <a:ext cx="560000" cy="300000"/>
          </a:xfrm>
          <a:prstGeom prst="rect">
            <a:avLst/>
          </a:prstGeom>
          <a:noFill/>
          <a:ln/>
        </p:spPr>
        <p:txBody>
          <a:bodyPr wrap="square" lIns="45720" tIns="0" rIns="45720" bIns="0" rtlCol="0" anchor="ctr"/>
          <a:lstStyle/>
          <a:p>
            <a:pPr marL="0" indent="0" algn="ctr">
              <a:buNone/>
            </a:pPr>
            <a:r>
              <a:rPr lang="en-US" sz="1800" b="1">
                <a:solidFill>
                  <a:srgbClr val="3730A3"/>
                </a:solidFill>
                <a:latin typeface="Cambria Math" pitchFamily="34" charset="0"/>
                <a:ea typeface="Cambria Math" pitchFamily="34" charset="-122"/>
                <a:cs typeface="Cambria Math" pitchFamily="34" charset="-120"/>
              </a:rPr>
              <a:t>|ψ⟩</a:t>
            </a:r>
          </a:p>
        </p:txBody>
      </p:sp>
      <p:sp>
        <p:nvSpPr>
          <p:cNvPr id="21" name="arc"/>
          <p:cNvSpPr/>
          <p:nvPr/>
        </p:nvSpPr>
        <p:spPr>
          <a:xfrm>
            <a:off x="5477200" y="2981200"/>
            <a:ext cx="1237600" cy="1237600"/>
          </a:xfrm>
          <a:prstGeom prst="arc">
            <a:avLst>
              <a:gd name="adj1" fmla="val 16200000"/>
              <a:gd name="adj2" fmla="val 2641738"/>
            </a:avLst>
          </a:prstGeom>
          <a:noFill/>
          <a:ln w="15875">
            <a:solidFill>
              <a:srgbClr val="3730A3"/>
            </a:solidFill>
          </a:ln>
        </p:spPr>
        <p:txBody>
          <a:bodyPr/>
          <a:lstStyle/>
          <a:p>
            <a:endParaRPr lang="en-US"/>
          </a:p>
        </p:txBody>
      </p:sp>
      <p:sp>
        <p:nvSpPr>
          <p:cNvPr id="22" name="Text 22"/>
          <p:cNvSpPr/>
          <p:nvPr/>
        </p:nvSpPr>
        <p:spPr>
          <a:xfrm>
            <a:off x="6176200" y="2649200"/>
            <a:ext cx="24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θ</a:t>
            </a:r>
          </a:p>
        </p:txBody>
      </p:sp>
      <p:sp>
        <p:nvSpPr>
          <p:cNvPr id="23" name="arc"/>
          <p:cNvSpPr/>
          <p:nvPr/>
        </p:nvSpPr>
        <p:spPr>
          <a:xfrm>
            <a:off x="5550000" y="3261480"/>
            <a:ext cx="1092000" cy="677040"/>
          </a:xfrm>
          <a:prstGeom prst="arc">
            <a:avLst>
              <a:gd name="adj1" fmla="val 11400000"/>
              <a:gd name="adj2" fmla="val 3600000"/>
            </a:avLst>
          </a:prstGeom>
          <a:noFill/>
          <a:ln w="15875">
            <a:solidFill>
              <a:srgbClr val="0D9488"/>
            </a:solidFill>
          </a:ln>
        </p:spPr>
        <p:txBody>
          <a:bodyPr/>
          <a:lstStyle/>
          <a:p>
            <a:endParaRPr lang="en-US"/>
          </a:p>
        </p:txBody>
      </p:sp>
      <p:sp>
        <p:nvSpPr>
          <p:cNvPr id="24" name="Text 24"/>
          <p:cNvSpPr/>
          <p:nvPr/>
        </p:nvSpPr>
        <p:spPr>
          <a:xfrm>
            <a:off x="5939600" y="3759400"/>
            <a:ext cx="24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φ</a:t>
            </a:r>
          </a:p>
        </p:txBody>
      </p:sp>
      <p:sp>
        <p:nvSpPr>
          <p:cNvPr id="25" name="band"/>
          <p:cNvSpPr/>
          <p:nvPr/>
        </p:nvSpPr>
        <p:spPr>
          <a:xfrm>
            <a:off x="731520" y="5900000"/>
            <a:ext cx="10728960" cy="500000"/>
          </a:xfrm>
          <a:prstGeom prst="roundRect">
            <a:avLst>
              <a:gd name="adj" fmla="val 9000"/>
            </a:avLst>
          </a:prstGeom>
          <a:solidFill>
            <a:srgbClr val="EEF2FF"/>
          </a:solidFill>
          <a:ln/>
        </p:spPr>
        <p:txBody>
          <a:bodyPr/>
          <a:lstStyle/>
          <a:p>
            <a:endParaRPr lang="en-US"/>
          </a:p>
        </p:txBody>
      </p:sp>
      <p:sp>
        <p:nvSpPr>
          <p:cNvPr id="26" name="Text 26"/>
          <p:cNvSpPr/>
          <p:nvPr/>
        </p:nvSpPr>
        <p:spPr>
          <a:xfrm>
            <a:off x="731520" y="5900000"/>
            <a:ext cx="10728960" cy="500000"/>
          </a:xfrm>
          <a:prstGeom prst="rect">
            <a:avLst/>
          </a:prstGeom>
          <a:noFill/>
          <a:ln/>
        </p:spPr>
        <p:txBody>
          <a:bodyPr wrap="square" lIns="45720" tIns="0" rIns="45720" bIns="0" rtlCol="0" anchor="ctr"/>
          <a:lstStyle/>
          <a:p>
            <a:pPr marL="0" indent="0" algn="ctr">
              <a:buNone/>
            </a:pPr>
            <a:r>
              <a:rPr lang="en-US" sz="1450" b="1">
                <a:solidFill>
                  <a:srgbClr val="3730A3"/>
                </a:solidFill>
                <a:latin typeface="Calibri" pitchFamily="34" charset="0"/>
                <a:ea typeface="Calibri" pitchFamily="34" charset="-122"/>
                <a:cs typeface="Calibri" pitchFamily="34" charset="-120"/>
              </a:rPr>
              <a:t>Every pure single-qubit state corresponds to a unique point on the surface of the Bloch sphere.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Important States on the Bloch Sphere</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graphicFrame>
        <p:nvGraphicFramePr>
          <p:cNvPr id="4" name="States table"/>
          <p:cNvGraphicFramePr>
            <a:graphicFrameLocks noGrp="1"/>
          </p:cNvGraphicFramePr>
          <p:nvPr>
            <p:extLst>
              <p:ext uri="{D42A27DB-BD31-4B8C-83A1-F6EECF244321}">
                <p14:modId xmlns:p14="http://schemas.microsoft.com/office/powerpoint/2010/main" val="4129539573"/>
              </p:ext>
            </p:extLst>
          </p:nvPr>
        </p:nvGraphicFramePr>
        <p:xfrm>
          <a:off x="731520" y="1760000"/>
          <a:ext cx="6180000" cy="3880000"/>
        </p:xfrm>
        <a:graphic>
          <a:graphicData uri="http://schemas.openxmlformats.org/drawingml/2006/table">
            <a:tbl>
              <a:tblPr firstRow="1" bandRow="1"/>
              <a:tblGrid>
                <a:gridCol w="1180000">
                  <a:extLst>
                    <a:ext uri="{9D8B030D-6E8A-4147-A177-3AD203B41FA5}">
                      <a16:colId xmlns:a16="http://schemas.microsoft.com/office/drawing/2014/main" val="20000"/>
                    </a:ext>
                  </a:extLst>
                </a:gridCol>
                <a:gridCol w="1560000">
                  <a:extLst>
                    <a:ext uri="{9D8B030D-6E8A-4147-A177-3AD203B41FA5}">
                      <a16:colId xmlns:a16="http://schemas.microsoft.com/office/drawing/2014/main" val="20001"/>
                    </a:ext>
                  </a:extLst>
                </a:gridCol>
                <a:gridCol w="3440000">
                  <a:extLst>
                    <a:ext uri="{9D8B030D-6E8A-4147-A177-3AD203B41FA5}">
                      <a16:colId xmlns:a16="http://schemas.microsoft.com/office/drawing/2014/main" val="20002"/>
                    </a:ext>
                  </a:extLst>
                </a:gridCol>
              </a:tblGrid>
              <a:tr h="520000">
                <a:tc>
                  <a:txBody>
                    <a:bodyPr/>
                    <a:lstStyle/>
                    <a:p>
                      <a:pPr algn="ctr"/>
                      <a:r>
                        <a:rPr lang="en-US" sz="1350" b="1" dirty="0">
                          <a:solidFill>
                            <a:srgbClr val="FFFFFF"/>
                          </a:solidFill>
                          <a:latin typeface="Calibri" pitchFamily="34" charset="0"/>
                          <a:ea typeface="Calibri" pitchFamily="34" charset="-122"/>
                          <a:cs typeface="Calibri" pitchFamily="34" charset="-120"/>
                        </a:rPr>
                        <a:t>State</a:t>
                      </a:r>
                    </a:p>
                  </a:txBody>
                  <a:tcPr marL="82296" marR="82296" marT="36576" marB="36576" anchor="ctr">
                    <a:solidFill>
                      <a:srgbClr val="3730A3"/>
                    </a:solidFill>
                  </a:tcPr>
                </a:tc>
                <a:tc>
                  <a:txBody>
                    <a:bodyPr/>
                    <a:lstStyle/>
                    <a:p>
                      <a:pPr algn="ctr"/>
                      <a:r>
                        <a:rPr lang="en-US" sz="1350" b="1" dirty="0">
                          <a:solidFill>
                            <a:srgbClr val="FFFFFF"/>
                          </a:solidFill>
                          <a:latin typeface="Calibri" pitchFamily="34" charset="0"/>
                          <a:ea typeface="Calibri" pitchFamily="34" charset="-122"/>
                          <a:cs typeface="Calibri" pitchFamily="34" charset="-120"/>
                        </a:rPr>
                        <a:t>Coordinates</a:t>
                      </a:r>
                    </a:p>
                  </a:txBody>
                  <a:tcPr marL="82296" marR="82296" marT="36576" marB="36576" anchor="ctr">
                    <a:solidFill>
                      <a:srgbClr val="3730A3"/>
                    </a:solidFill>
                  </a:tcPr>
                </a:tc>
                <a:tc>
                  <a:txBody>
                    <a:bodyPr/>
                    <a:lstStyle/>
                    <a:p>
                      <a:pPr algn="ctr"/>
                      <a:r>
                        <a:rPr lang="en-US" sz="1350" b="1" dirty="0">
                          <a:solidFill>
                            <a:srgbClr val="FFFFFF"/>
                          </a:solidFill>
                          <a:latin typeface="Calibri" pitchFamily="34" charset="0"/>
                          <a:ea typeface="Calibri" pitchFamily="34" charset="-122"/>
                          <a:cs typeface="Calibri" pitchFamily="34" charset="-120"/>
                        </a:rPr>
                        <a:t>Physical meaning</a:t>
                      </a:r>
                    </a:p>
                  </a:txBody>
                  <a:tcPr marL="82296" marR="82296" marT="36576" marB="36576" anchor="ctr">
                    <a:solidFill>
                      <a:srgbClr val="3730A3"/>
                    </a:solidFill>
                  </a:tcPr>
                </a:tc>
                <a:extLst>
                  <a:ext uri="{0D108BD9-81ED-4DB2-BD59-A6C34878D82A}">
                    <a16:rowId xmlns:a16="http://schemas.microsoft.com/office/drawing/2014/main" val="10000"/>
                  </a:ext>
                </a:extLst>
              </a:tr>
              <a:tr h="560000">
                <a:tc>
                  <a:txBody>
                    <a:bodyPr/>
                    <a:lstStyle/>
                    <a:p>
                      <a:pPr algn="ctr"/>
                      <a:r>
                        <a:rPr lang="en-US" sz="1600" b="1" dirty="0">
                          <a:solidFill>
                            <a:srgbClr val="3730A3"/>
                          </a:solidFill>
                          <a:latin typeface="Cambria Math" pitchFamily="34" charset="0"/>
                          <a:ea typeface="Cambria Math" pitchFamily="34" charset="-122"/>
                          <a:cs typeface="Cambria Math" pitchFamily="34" charset="-120"/>
                        </a:rPr>
                        <a:t>|0⟩</a:t>
                      </a:r>
                    </a:p>
                  </a:txBody>
                  <a:tcPr marL="82296" marR="82296" marT="36576" marB="36576" anchor="ctr">
                    <a:solidFill>
                      <a:srgbClr val="FFFFFF"/>
                    </a:solidFill>
                  </a:tcPr>
                </a:tc>
                <a:tc>
                  <a:txBody>
                    <a:bodyPr/>
                    <a:lstStyle/>
                    <a:p>
                      <a:pPr algn="l"/>
                      <a:r>
                        <a:rPr lang="en-US" sz="1300" dirty="0">
                          <a:solidFill>
                            <a:srgbClr val="1F2937"/>
                          </a:solidFill>
                          <a:latin typeface="Calibri" pitchFamily="34" charset="0"/>
                          <a:ea typeface="Calibri" pitchFamily="34" charset="-122"/>
                          <a:cs typeface="Calibri" pitchFamily="34" charset="-120"/>
                        </a:rPr>
                        <a:t>North pole</a:t>
                      </a:r>
                    </a:p>
                  </a:txBody>
                  <a:tcPr marL="82296" marR="82296" marT="36576" marB="36576" anchor="ctr">
                    <a:solidFill>
                      <a:srgbClr val="EEF2FF"/>
                    </a:solidFill>
                  </a:tcPr>
                </a:tc>
                <a:tc>
                  <a:txBody>
                    <a:bodyPr/>
                    <a:lstStyle/>
                    <a:p>
                      <a:pPr algn="l"/>
                      <a:r>
                        <a:rPr lang="en-US" sz="1250" dirty="0">
                          <a:solidFill>
                            <a:srgbClr val="1F2937"/>
                          </a:solidFill>
                          <a:latin typeface="Calibri" pitchFamily="34" charset="0"/>
                          <a:ea typeface="Calibri" pitchFamily="34" charset="-122"/>
                          <a:cs typeface="Calibri" pitchFamily="34" charset="-120"/>
                        </a:rPr>
                        <a:t>spin up along z</a:t>
                      </a:r>
                    </a:p>
                  </a:txBody>
                  <a:tcPr marL="82296" marR="82296" marT="36576" marB="36576" anchor="ctr">
                    <a:solidFill>
                      <a:srgbClr val="EEF2FF"/>
                    </a:solidFill>
                  </a:tcPr>
                </a:tc>
                <a:extLst>
                  <a:ext uri="{0D108BD9-81ED-4DB2-BD59-A6C34878D82A}">
                    <a16:rowId xmlns:a16="http://schemas.microsoft.com/office/drawing/2014/main" val="10001"/>
                  </a:ext>
                </a:extLst>
              </a:tr>
              <a:tr h="560000">
                <a:tc>
                  <a:txBody>
                    <a:bodyPr/>
                    <a:lstStyle/>
                    <a:p>
                      <a:pPr algn="ctr"/>
                      <a:r>
                        <a:rPr lang="en-US" sz="1600" b="1" dirty="0">
                          <a:solidFill>
                            <a:srgbClr val="3730A3"/>
                          </a:solidFill>
                          <a:latin typeface="Cambria Math" pitchFamily="34" charset="0"/>
                          <a:ea typeface="Cambria Math" pitchFamily="34" charset="-122"/>
                          <a:cs typeface="Cambria Math" pitchFamily="34" charset="-120"/>
                        </a:rPr>
                        <a:t>|1⟩</a:t>
                      </a:r>
                    </a:p>
                  </a:txBody>
                  <a:tcPr marL="82296" marR="82296" marT="36576" marB="36576" anchor="ctr">
                    <a:solidFill>
                      <a:srgbClr val="FFFFFF"/>
                    </a:solidFill>
                  </a:tcPr>
                </a:tc>
                <a:tc>
                  <a:txBody>
                    <a:bodyPr/>
                    <a:lstStyle/>
                    <a:p>
                      <a:pPr algn="l"/>
                      <a:r>
                        <a:rPr lang="en-US" sz="1300" dirty="0">
                          <a:solidFill>
                            <a:srgbClr val="1F2937"/>
                          </a:solidFill>
                          <a:latin typeface="Calibri" pitchFamily="34" charset="0"/>
                          <a:ea typeface="Calibri" pitchFamily="34" charset="-122"/>
                          <a:cs typeface="Calibri" pitchFamily="34" charset="-120"/>
                        </a:rPr>
                        <a:t>South pole</a:t>
                      </a:r>
                    </a:p>
                  </a:txBody>
                  <a:tcPr marL="82296" marR="82296" marT="36576" marB="36576" anchor="ctr">
                    <a:solidFill>
                      <a:srgbClr val="EEF2FF"/>
                    </a:solidFill>
                  </a:tcPr>
                </a:tc>
                <a:tc>
                  <a:txBody>
                    <a:bodyPr/>
                    <a:lstStyle/>
                    <a:p>
                      <a:pPr algn="l"/>
                      <a:r>
                        <a:rPr lang="en-US" sz="1250" dirty="0">
                          <a:solidFill>
                            <a:srgbClr val="1F2937"/>
                          </a:solidFill>
                          <a:latin typeface="Calibri" pitchFamily="34" charset="0"/>
                          <a:ea typeface="Calibri" pitchFamily="34" charset="-122"/>
                          <a:cs typeface="Calibri" pitchFamily="34" charset="-120"/>
                        </a:rPr>
                        <a:t>spin down along z</a:t>
                      </a:r>
                    </a:p>
                  </a:txBody>
                  <a:tcPr marL="82296" marR="82296" marT="36576" marB="36576" anchor="ctr">
                    <a:solidFill>
                      <a:srgbClr val="EEF2FF"/>
                    </a:solidFill>
                  </a:tcPr>
                </a:tc>
                <a:extLst>
                  <a:ext uri="{0D108BD9-81ED-4DB2-BD59-A6C34878D82A}">
                    <a16:rowId xmlns:a16="http://schemas.microsoft.com/office/drawing/2014/main" val="10002"/>
                  </a:ext>
                </a:extLst>
              </a:tr>
              <a:tr h="560000">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a:t>
                      </a:r>
                    </a:p>
                  </a:txBody>
                  <a:tcPr marL="82296" marR="82296" marT="36576" marB="36576" anchor="ctr">
                    <a:solidFill>
                      <a:srgbClr val="FFFFFF"/>
                    </a:solidFill>
                  </a:tcPr>
                </a:tc>
                <a:tc>
                  <a:txBody>
                    <a:bodyPr/>
                    <a:lstStyle/>
                    <a:p>
                      <a:pPr algn="l"/>
                      <a:r>
                        <a:rPr lang="en-US" sz="1300" dirty="0">
                          <a:solidFill>
                            <a:srgbClr val="1F2937"/>
                          </a:solidFill>
                          <a:latin typeface="Calibri" pitchFamily="34" charset="0"/>
                          <a:ea typeface="Calibri" pitchFamily="34" charset="-122"/>
                          <a:cs typeface="Calibri" pitchFamily="34" charset="-120"/>
                        </a:rPr>
                        <a:t>+x axis</a:t>
                      </a:r>
                    </a:p>
                  </a:txBody>
                  <a:tcPr marL="82296" marR="82296" marT="36576" marB="36576" anchor="ctr">
                    <a:solidFill>
                      <a:srgbClr val="CCFBF1"/>
                    </a:solidFill>
                  </a:tcPr>
                </a:tc>
                <a:tc>
                  <a:txBody>
                    <a:bodyPr/>
                    <a:lstStyle/>
                    <a:p>
                      <a:pPr algn="l"/>
                      <a:r>
                        <a:rPr lang="en-US" sz="1250" dirty="0">
                          <a:solidFill>
                            <a:srgbClr val="1F2937"/>
                          </a:solidFill>
                          <a:latin typeface="Calibri" pitchFamily="34" charset="0"/>
                          <a:ea typeface="Calibri" pitchFamily="34" charset="-122"/>
                          <a:cs typeface="Calibri" pitchFamily="34" charset="-120"/>
                        </a:rPr>
                        <a:t>equal superposition</a:t>
                      </a:r>
                    </a:p>
                  </a:txBody>
                  <a:tcPr marL="82296" marR="82296" marT="36576" marB="36576" anchor="ctr">
                    <a:solidFill>
                      <a:srgbClr val="CCFBF1"/>
                    </a:solidFill>
                  </a:tcPr>
                </a:tc>
                <a:extLst>
                  <a:ext uri="{0D108BD9-81ED-4DB2-BD59-A6C34878D82A}">
                    <a16:rowId xmlns:a16="http://schemas.microsoft.com/office/drawing/2014/main" val="10003"/>
                  </a:ext>
                </a:extLst>
              </a:tr>
              <a:tr h="560000">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a:t>
                      </a:r>
                    </a:p>
                  </a:txBody>
                  <a:tcPr marL="82296" marR="82296" marT="36576" marB="36576" anchor="ctr">
                    <a:solidFill>
                      <a:srgbClr val="FFFFFF"/>
                    </a:solidFill>
                  </a:tcPr>
                </a:tc>
                <a:tc>
                  <a:txBody>
                    <a:bodyPr/>
                    <a:lstStyle/>
                    <a:p>
                      <a:pPr algn="l"/>
                      <a:r>
                        <a:rPr lang="en-US" sz="1300" dirty="0">
                          <a:solidFill>
                            <a:srgbClr val="1F2937"/>
                          </a:solidFill>
                          <a:latin typeface="Calibri" pitchFamily="34" charset="0"/>
                          <a:ea typeface="Calibri" pitchFamily="34" charset="-122"/>
                          <a:cs typeface="Calibri" pitchFamily="34" charset="-120"/>
                        </a:rPr>
                        <a:t>−x axis</a:t>
                      </a:r>
                    </a:p>
                  </a:txBody>
                  <a:tcPr marL="82296" marR="82296" marT="36576" marB="36576" anchor="ctr">
                    <a:solidFill>
                      <a:srgbClr val="CCFBF1"/>
                    </a:solidFill>
                  </a:tcPr>
                </a:tc>
                <a:tc>
                  <a:txBody>
                    <a:bodyPr/>
                    <a:lstStyle/>
                    <a:p>
                      <a:pPr algn="l"/>
                      <a:r>
                        <a:rPr lang="en-US" sz="1250" dirty="0">
                          <a:solidFill>
                            <a:srgbClr val="1F2937"/>
                          </a:solidFill>
                          <a:latin typeface="Calibri" pitchFamily="34" charset="0"/>
                          <a:ea typeface="Calibri" pitchFamily="34" charset="-122"/>
                          <a:cs typeface="Calibri" pitchFamily="34" charset="-120"/>
                        </a:rPr>
                        <a:t>opposite relative phase</a:t>
                      </a:r>
                    </a:p>
                  </a:txBody>
                  <a:tcPr marL="82296" marR="82296" marT="36576" marB="36576" anchor="ctr">
                    <a:solidFill>
                      <a:srgbClr val="CCFBF1"/>
                    </a:solidFill>
                  </a:tcPr>
                </a:tc>
                <a:extLst>
                  <a:ext uri="{0D108BD9-81ED-4DB2-BD59-A6C34878D82A}">
                    <a16:rowId xmlns:a16="http://schemas.microsoft.com/office/drawing/2014/main" val="10004"/>
                  </a:ext>
                </a:extLst>
              </a:tr>
              <a:tr h="560000">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|i⟩</a:t>
                      </a:r>
                    </a:p>
                  </a:txBody>
                  <a:tcPr marL="82296" marR="82296" marT="36576" marB="36576" anchor="ctr">
                    <a:solidFill>
                      <a:srgbClr val="FFFFFF"/>
                    </a:solidFill>
                  </a:tcPr>
                </a:tc>
                <a:tc>
                  <a:txBody>
                    <a:bodyPr/>
                    <a:lstStyle/>
                    <a:p>
                      <a:pPr algn="l"/>
                      <a:r>
                        <a:rPr lang="en-US" sz="1300" dirty="0">
                          <a:solidFill>
                            <a:srgbClr val="1F2937"/>
                          </a:solidFill>
                          <a:latin typeface="Calibri" pitchFamily="34" charset="0"/>
                          <a:ea typeface="Calibri" pitchFamily="34" charset="-122"/>
                          <a:cs typeface="Calibri" pitchFamily="34" charset="-120"/>
                        </a:rPr>
                        <a:t>+y axis</a:t>
                      </a:r>
                    </a:p>
                  </a:txBody>
                  <a:tcPr marL="82296" marR="82296" marT="36576" marB="36576" anchor="ctr">
                    <a:solidFill>
                      <a:srgbClr val="CCFBF1"/>
                    </a:solidFill>
                  </a:tcPr>
                </a:tc>
                <a:tc>
                  <a:txBody>
                    <a:bodyPr/>
                    <a:lstStyle/>
                    <a:p>
                      <a:pPr algn="l"/>
                      <a:r>
                        <a:rPr lang="en-US" sz="1250" dirty="0">
                          <a:solidFill>
                            <a:srgbClr val="1F2937"/>
                          </a:solidFill>
                          <a:latin typeface="Calibri" pitchFamily="34" charset="0"/>
                          <a:ea typeface="Calibri" pitchFamily="34" charset="-122"/>
                          <a:cs typeface="Calibri" pitchFamily="34" charset="-120"/>
                        </a:rPr>
                        <a:t>phase +90°</a:t>
                      </a:r>
                    </a:p>
                  </a:txBody>
                  <a:tcPr marL="82296" marR="82296" marT="36576" marB="36576" anchor="ctr">
                    <a:solidFill>
                      <a:srgbClr val="CCFBF1"/>
                    </a:solidFill>
                  </a:tcPr>
                </a:tc>
                <a:extLst>
                  <a:ext uri="{0D108BD9-81ED-4DB2-BD59-A6C34878D82A}">
                    <a16:rowId xmlns:a16="http://schemas.microsoft.com/office/drawing/2014/main" val="10005"/>
                  </a:ext>
                </a:extLst>
              </a:tr>
              <a:tr h="560000">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|−i⟩</a:t>
                      </a:r>
                    </a:p>
                  </a:txBody>
                  <a:tcPr marL="82296" marR="82296" marT="36576" marB="36576" anchor="ctr">
                    <a:solidFill>
                      <a:srgbClr val="FFFFFF"/>
                    </a:solidFill>
                  </a:tcPr>
                </a:tc>
                <a:tc>
                  <a:txBody>
                    <a:bodyPr/>
                    <a:lstStyle/>
                    <a:p>
                      <a:pPr algn="l"/>
                      <a:r>
                        <a:rPr lang="en-US" sz="1300" dirty="0">
                          <a:solidFill>
                            <a:srgbClr val="1F2937"/>
                          </a:solidFill>
                          <a:latin typeface="Calibri" pitchFamily="34" charset="0"/>
                          <a:ea typeface="Calibri" pitchFamily="34" charset="-122"/>
                          <a:cs typeface="Calibri" pitchFamily="34" charset="-120"/>
                        </a:rPr>
                        <a:t>−y axis</a:t>
                      </a:r>
                    </a:p>
                  </a:txBody>
                  <a:tcPr marL="82296" marR="82296" marT="36576" marB="36576" anchor="ctr">
                    <a:solidFill>
                      <a:srgbClr val="CCFBF1"/>
                    </a:solidFill>
                  </a:tcPr>
                </a:tc>
                <a:tc>
                  <a:txBody>
                    <a:bodyPr/>
                    <a:lstStyle/>
                    <a:p>
                      <a:pPr algn="l"/>
                      <a:r>
                        <a:rPr lang="en-US" sz="1250" dirty="0">
                          <a:solidFill>
                            <a:srgbClr val="1F2937"/>
                          </a:solidFill>
                          <a:latin typeface="Calibri" pitchFamily="34" charset="0"/>
                          <a:ea typeface="Calibri" pitchFamily="34" charset="-122"/>
                          <a:cs typeface="Calibri" pitchFamily="34" charset="-120"/>
                        </a:rPr>
                        <a:t>phase −90°</a:t>
                      </a:r>
                    </a:p>
                  </a:txBody>
                  <a:tcPr marL="82296" marR="82296" marT="36576" marB="36576" anchor="ctr">
                    <a:solidFill>
                      <a:srgbClr val="CCFBF1"/>
                    </a:solidFill>
                  </a:tcPr>
                </a:tc>
                <a:extLst>
                  <a:ext uri="{0D108BD9-81ED-4DB2-BD59-A6C34878D82A}">
                    <a16:rowId xmlns:a16="http://schemas.microsoft.com/office/drawing/2014/main" val="10006"/>
                  </a:ext>
                </a:extLst>
              </a:tr>
            </a:tbl>
          </a:graphicData>
        </a:graphic>
      </p:graphicFrame>
      <p:sp>
        <p:nvSpPr>
          <p:cNvPr id="5" name="sphere"/>
          <p:cNvSpPr/>
          <p:nvPr/>
        </p:nvSpPr>
        <p:spPr>
          <a:xfrm>
            <a:off x="8200000" y="2200000"/>
            <a:ext cx="2720000" cy="2720000"/>
          </a:xfrm>
          <a:prstGeom prst="ellipse">
            <a:avLst/>
          </a:prstGeom>
          <a:solidFill>
            <a:srgbClr val="EEF2FF"/>
          </a:solidFill>
          <a:ln w="22225">
            <a:solidFill>
              <a:srgbClr val="3730A3"/>
            </a:solidFill>
            <a:prstDash val="solid"/>
          </a:ln>
        </p:spPr>
        <p:txBody>
          <a:bodyPr/>
          <a:lstStyle/>
          <a:p>
            <a:endParaRPr lang="en-US"/>
          </a:p>
        </p:txBody>
      </p:sp>
      <p:sp>
        <p:nvSpPr>
          <p:cNvPr id="6" name="equator"/>
          <p:cNvSpPr/>
          <p:nvPr/>
        </p:nvSpPr>
        <p:spPr>
          <a:xfrm>
            <a:off x="8200000" y="3152000"/>
            <a:ext cx="2720000" cy="816000"/>
          </a:xfrm>
          <a:prstGeom prst="ellipse">
            <a:avLst/>
          </a:prstGeom>
          <a:noFill/>
          <a:ln w="12700">
            <a:solidFill>
              <a:srgbClr val="475569"/>
            </a:solidFill>
            <a:prstDash val="dash"/>
          </a:ln>
        </p:spPr>
        <p:txBody>
          <a:bodyPr/>
          <a:lstStyle/>
          <a:p>
            <a:endParaRPr lang="en-US"/>
          </a:p>
        </p:txBody>
      </p:sp>
      <p:sp>
        <p:nvSpPr>
          <p:cNvPr id="7" name="axis"/>
          <p:cNvSpPr/>
          <p:nvPr/>
        </p:nvSpPr>
        <p:spPr>
          <a:xfrm flipV="1">
            <a:off x="9560000" y="2200000"/>
            <a:ext cx="0" cy="2720000"/>
          </a:xfrm>
          <a:prstGeom prst="line">
            <a:avLst/>
          </a:prstGeom>
          <a:ln w="15875">
            <a:solidFill>
              <a:srgbClr val="475569"/>
            </a:solidFill>
            <a:prstDash val="solid"/>
            <a:tailEnd type="triangle" w="med" len="med"/>
          </a:ln>
        </p:spPr>
        <p:txBody>
          <a:bodyPr/>
          <a:lstStyle/>
          <a:p>
            <a:endParaRPr lang="en-US"/>
          </a:p>
        </p:txBody>
      </p:sp>
      <p:sp>
        <p:nvSpPr>
          <p:cNvPr id="8" name="axis"/>
          <p:cNvSpPr/>
          <p:nvPr/>
        </p:nvSpPr>
        <p:spPr>
          <a:xfrm>
            <a:off x="9560000" y="3560000"/>
            <a:ext cx="1360000" cy="0"/>
          </a:xfrm>
          <a:prstGeom prst="line">
            <a:avLst/>
          </a:prstGeom>
          <a:ln w="15875">
            <a:solidFill>
              <a:srgbClr val="475569"/>
            </a:solidFill>
            <a:prstDash val="solid"/>
            <a:tailEnd type="triangle" w="med" len="med"/>
          </a:ln>
        </p:spPr>
        <p:txBody>
          <a:bodyPr/>
          <a:lstStyle/>
          <a:p>
            <a:endParaRPr lang="en-US"/>
          </a:p>
        </p:txBody>
      </p:sp>
      <p:sp>
        <p:nvSpPr>
          <p:cNvPr id="9" name="axis"/>
          <p:cNvSpPr/>
          <p:nvPr/>
        </p:nvSpPr>
        <p:spPr>
          <a:xfrm flipV="1">
            <a:off x="8200000" y="3560000"/>
            <a:ext cx="1360000" cy="0"/>
          </a:xfrm>
          <a:prstGeom prst="line">
            <a:avLst/>
          </a:prstGeom>
          <a:ln w="12700">
            <a:solidFill>
              <a:srgbClr val="475569"/>
            </a:solidFill>
            <a:prstDash val="dash"/>
          </a:ln>
        </p:spPr>
        <p:txBody>
          <a:bodyPr/>
          <a:lstStyle/>
          <a:p>
            <a:endParaRPr lang="en-US"/>
          </a:p>
        </p:txBody>
      </p:sp>
      <p:sp>
        <p:nvSpPr>
          <p:cNvPr id="10" name="axis"/>
          <p:cNvSpPr/>
          <p:nvPr/>
        </p:nvSpPr>
        <p:spPr>
          <a:xfrm flipV="1">
            <a:off x="8662400" y="3560000"/>
            <a:ext cx="897600" cy="408000"/>
          </a:xfrm>
          <a:prstGeom prst="line">
            <a:avLst/>
          </a:prstGeom>
          <a:ln w="15875">
            <a:solidFill>
              <a:srgbClr val="475569"/>
            </a:solidFill>
            <a:prstDash val="solid"/>
            <a:tailEnd type="triangle" w="med" len="med"/>
          </a:ln>
        </p:spPr>
        <p:txBody>
          <a:bodyPr/>
          <a:lstStyle/>
          <a:p>
            <a:endParaRPr lang="en-US"/>
          </a:p>
        </p:txBody>
      </p:sp>
      <p:sp>
        <p:nvSpPr>
          <p:cNvPr id="11" name="axis"/>
          <p:cNvSpPr/>
          <p:nvPr/>
        </p:nvSpPr>
        <p:spPr>
          <a:xfrm flipV="1">
            <a:off x="9560000" y="3152000"/>
            <a:ext cx="897600" cy="408000"/>
          </a:xfrm>
          <a:prstGeom prst="line">
            <a:avLst/>
          </a:prstGeom>
          <a:ln w="12700">
            <a:solidFill>
              <a:srgbClr val="475569"/>
            </a:solidFill>
            <a:prstDash val="dash"/>
          </a:ln>
        </p:spPr>
        <p:txBody>
          <a:bodyPr/>
          <a:lstStyle/>
          <a:p>
            <a:endParaRPr lang="en-US"/>
          </a:p>
        </p:txBody>
      </p:sp>
      <p:sp>
        <p:nvSpPr>
          <p:cNvPr id="12" name="dot"/>
          <p:cNvSpPr/>
          <p:nvPr/>
        </p:nvSpPr>
        <p:spPr>
          <a:xfrm>
            <a:off x="9521920" y="3521920"/>
            <a:ext cx="76160" cy="76160"/>
          </a:xfrm>
          <a:prstGeom prst="ellipse">
            <a:avLst/>
          </a:prstGeom>
          <a:solidFill>
            <a:srgbClr val="1F2937"/>
          </a:solidFill>
          <a:ln/>
        </p:spPr>
        <p:txBody>
          <a:bodyPr/>
          <a:lstStyle/>
          <a:p>
            <a:endParaRPr lang="en-US"/>
          </a:p>
        </p:txBody>
      </p:sp>
      <p:sp>
        <p:nvSpPr>
          <p:cNvPr id="13" name="dot"/>
          <p:cNvSpPr/>
          <p:nvPr/>
        </p:nvSpPr>
        <p:spPr>
          <a:xfrm>
            <a:off x="9498800" y="2138800"/>
            <a:ext cx="122400" cy="122400"/>
          </a:xfrm>
          <a:prstGeom prst="ellipse">
            <a:avLst/>
          </a:prstGeom>
          <a:solidFill>
            <a:srgbClr val="3730A3"/>
          </a:solidFill>
          <a:ln w="9525">
            <a:solidFill>
              <a:srgbClr val="FFFFFF"/>
            </a:solidFill>
            <a:prstDash val="solid"/>
          </a:ln>
        </p:spPr>
        <p:txBody>
          <a:bodyPr/>
          <a:lstStyle/>
          <a:p>
            <a:endParaRPr lang="en-US"/>
          </a:p>
        </p:txBody>
      </p:sp>
      <p:sp>
        <p:nvSpPr>
          <p:cNvPr id="14" name="dot"/>
          <p:cNvSpPr/>
          <p:nvPr/>
        </p:nvSpPr>
        <p:spPr>
          <a:xfrm>
            <a:off x="9498800" y="4858800"/>
            <a:ext cx="122400" cy="122400"/>
          </a:xfrm>
          <a:prstGeom prst="ellipse">
            <a:avLst/>
          </a:prstGeom>
          <a:solidFill>
            <a:srgbClr val="3730A3"/>
          </a:solidFill>
          <a:ln w="9525">
            <a:solidFill>
              <a:srgbClr val="FFFFFF"/>
            </a:solidFill>
            <a:prstDash val="solid"/>
          </a:ln>
        </p:spPr>
        <p:txBody>
          <a:bodyPr/>
          <a:lstStyle/>
          <a:p>
            <a:endParaRPr lang="en-US"/>
          </a:p>
        </p:txBody>
      </p:sp>
      <p:sp>
        <p:nvSpPr>
          <p:cNvPr id="15" name="dot"/>
          <p:cNvSpPr/>
          <p:nvPr/>
        </p:nvSpPr>
        <p:spPr>
          <a:xfrm>
            <a:off x="10858800" y="3498800"/>
            <a:ext cx="122400" cy="122400"/>
          </a:xfrm>
          <a:prstGeom prst="ellipse">
            <a:avLst/>
          </a:prstGeom>
          <a:solidFill>
            <a:srgbClr val="0D9488"/>
          </a:solidFill>
          <a:ln w="9525">
            <a:solidFill>
              <a:srgbClr val="FFFFFF"/>
            </a:solidFill>
            <a:prstDash val="solid"/>
          </a:ln>
        </p:spPr>
        <p:txBody>
          <a:bodyPr/>
          <a:lstStyle/>
          <a:p>
            <a:endParaRPr lang="en-US"/>
          </a:p>
        </p:txBody>
      </p:sp>
      <p:sp>
        <p:nvSpPr>
          <p:cNvPr id="16" name="dot"/>
          <p:cNvSpPr/>
          <p:nvPr/>
        </p:nvSpPr>
        <p:spPr>
          <a:xfrm>
            <a:off x="8138800" y="3498800"/>
            <a:ext cx="122400" cy="122400"/>
          </a:xfrm>
          <a:prstGeom prst="ellipse">
            <a:avLst/>
          </a:prstGeom>
          <a:solidFill>
            <a:srgbClr val="0D9488"/>
          </a:solidFill>
          <a:ln w="9525">
            <a:solidFill>
              <a:srgbClr val="FFFFFF"/>
            </a:solidFill>
            <a:prstDash val="solid"/>
          </a:ln>
        </p:spPr>
        <p:txBody>
          <a:bodyPr/>
          <a:lstStyle/>
          <a:p>
            <a:endParaRPr lang="en-US"/>
          </a:p>
        </p:txBody>
      </p:sp>
      <p:sp>
        <p:nvSpPr>
          <p:cNvPr id="17" name="dot"/>
          <p:cNvSpPr/>
          <p:nvPr/>
        </p:nvSpPr>
        <p:spPr>
          <a:xfrm>
            <a:off x="8601200" y="3906800"/>
            <a:ext cx="122400" cy="122400"/>
          </a:xfrm>
          <a:prstGeom prst="ellipse">
            <a:avLst/>
          </a:prstGeom>
          <a:solidFill>
            <a:srgbClr val="0D9488"/>
          </a:solidFill>
          <a:ln w="9525">
            <a:solidFill>
              <a:srgbClr val="FFFFFF"/>
            </a:solidFill>
            <a:prstDash val="solid"/>
          </a:ln>
        </p:spPr>
        <p:txBody>
          <a:bodyPr/>
          <a:lstStyle/>
          <a:p>
            <a:endParaRPr lang="en-US"/>
          </a:p>
        </p:txBody>
      </p:sp>
      <p:sp>
        <p:nvSpPr>
          <p:cNvPr id="18" name="dot"/>
          <p:cNvSpPr/>
          <p:nvPr/>
        </p:nvSpPr>
        <p:spPr>
          <a:xfrm>
            <a:off x="10396400" y="3090800"/>
            <a:ext cx="122400" cy="122400"/>
          </a:xfrm>
          <a:prstGeom prst="ellipse">
            <a:avLst/>
          </a:prstGeom>
          <a:solidFill>
            <a:srgbClr val="0D9488"/>
          </a:solidFill>
          <a:ln w="9525">
            <a:solidFill>
              <a:srgbClr val="FFFFFF"/>
            </a:solidFill>
            <a:prstDash val="solid"/>
          </a:ln>
        </p:spPr>
        <p:txBody>
          <a:bodyPr/>
          <a:lstStyle/>
          <a:p>
            <a:endParaRPr lang="en-US"/>
          </a:p>
        </p:txBody>
      </p:sp>
      <p:sp>
        <p:nvSpPr>
          <p:cNvPr id="19" name="Text 19"/>
          <p:cNvSpPr/>
          <p:nvPr/>
        </p:nvSpPr>
        <p:spPr>
          <a:xfrm>
            <a:off x="9280000" y="18060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|0⟩</a:t>
            </a:r>
          </a:p>
        </p:txBody>
      </p:sp>
      <p:sp>
        <p:nvSpPr>
          <p:cNvPr id="20" name="Text 20"/>
          <p:cNvSpPr/>
          <p:nvPr/>
        </p:nvSpPr>
        <p:spPr>
          <a:xfrm>
            <a:off x="9280000" y="50140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|1⟩</a:t>
            </a:r>
          </a:p>
        </p:txBody>
      </p:sp>
      <p:sp>
        <p:nvSpPr>
          <p:cNvPr id="21" name="Text 21"/>
          <p:cNvSpPr/>
          <p:nvPr/>
        </p:nvSpPr>
        <p:spPr>
          <a:xfrm>
            <a:off x="10904000" y="3410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22" name="Text 22"/>
          <p:cNvSpPr/>
          <p:nvPr/>
        </p:nvSpPr>
        <p:spPr>
          <a:xfrm>
            <a:off x="7616000" y="3410000"/>
            <a:ext cx="64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23" name="Text 23"/>
          <p:cNvSpPr/>
          <p:nvPr/>
        </p:nvSpPr>
        <p:spPr>
          <a:xfrm>
            <a:off x="8178400" y="4002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24" name="Text 24"/>
          <p:cNvSpPr/>
          <p:nvPr/>
        </p:nvSpPr>
        <p:spPr>
          <a:xfrm>
            <a:off x="10381600" y="2818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25" name="Text 25"/>
          <p:cNvSpPr/>
          <p:nvPr/>
        </p:nvSpPr>
        <p:spPr>
          <a:xfrm>
            <a:off x="731520" y="5989320"/>
            <a:ext cx="10728960" cy="540000"/>
          </a:xfrm>
          <a:prstGeom prst="rect">
            <a:avLst/>
          </a:prstGeom>
          <a:noFill/>
          <a:ln/>
        </p:spPr>
        <p:txBody>
          <a:bodyPr wrap="square" lIns="45720" tIns="0" rIns="45720" bIns="0" rtlCol="0" anchor="ctr"/>
          <a:lstStyle/>
          <a:p>
            <a:pPr marL="0" indent="0" algn="l">
              <a:buNone/>
            </a:pPr>
            <a:r>
              <a:rPr lang="en-US" sz="1350" i="1">
                <a:solidFill>
                  <a:srgbClr val="3730A3"/>
                </a:solidFill>
                <a:latin typeface="Calibri" pitchFamily="34" charset="0"/>
                <a:ea typeface="Calibri" pitchFamily="34" charset="-122"/>
                <a:cs typeface="Calibri" pitchFamily="34" charset="-120"/>
              </a:rPr>
              <a:t>Poles encode measurement probability; equator points encode relative phase.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400" b="1">
                <a:solidFill>
                  <a:srgbClr val="3730A3"/>
                </a:solidFill>
                <a:latin typeface="Calibri" pitchFamily="34" charset="0"/>
                <a:ea typeface="Calibri" pitchFamily="34" charset="-122"/>
                <a:cs typeface="Calibri" pitchFamily="34" charset="-120"/>
              </a:rPr>
              <a:t>Orthogonal States are Diametrically Opposite</a:t>
            </a:r>
            <a:endParaRPr lang="en-US" sz="24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1260000" y="1520000"/>
            <a:ext cx="260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libri" pitchFamily="34" charset="0"/>
                <a:ea typeface="Calibri" pitchFamily="34" charset="-122"/>
                <a:cs typeface="Calibri" pitchFamily="34" charset="-120"/>
              </a:rPr>
              <a:t>Computational basis</a:t>
            </a:r>
          </a:p>
        </p:txBody>
      </p:sp>
      <p:sp>
        <p:nvSpPr>
          <p:cNvPr id="5" name="sphere"/>
          <p:cNvSpPr/>
          <p:nvPr/>
        </p:nvSpPr>
        <p:spPr>
          <a:xfrm>
            <a:off x="1500000" y="2240000"/>
            <a:ext cx="2120000" cy="2120000"/>
          </a:xfrm>
          <a:prstGeom prst="ellipse">
            <a:avLst/>
          </a:prstGeom>
          <a:solidFill>
            <a:srgbClr val="EEF2FF"/>
          </a:solidFill>
          <a:ln w="20320">
            <a:solidFill>
              <a:srgbClr val="3730A3"/>
            </a:solidFill>
            <a:prstDash val="solid"/>
          </a:ln>
        </p:spPr>
        <p:txBody>
          <a:bodyPr/>
          <a:lstStyle/>
          <a:p>
            <a:endParaRPr lang="en-US"/>
          </a:p>
        </p:txBody>
      </p:sp>
      <p:sp>
        <p:nvSpPr>
          <p:cNvPr id="6" name="equator"/>
          <p:cNvSpPr/>
          <p:nvPr/>
        </p:nvSpPr>
        <p:spPr>
          <a:xfrm>
            <a:off x="1500000" y="2982000"/>
            <a:ext cx="2120000" cy="636000"/>
          </a:xfrm>
          <a:prstGeom prst="ellipse">
            <a:avLst/>
          </a:prstGeom>
          <a:noFill/>
          <a:ln w="11430">
            <a:solidFill>
              <a:srgbClr val="475569"/>
            </a:solidFill>
            <a:prstDash val="dash"/>
          </a:ln>
        </p:spPr>
        <p:txBody>
          <a:bodyPr/>
          <a:lstStyle/>
          <a:p>
            <a:endParaRPr lang="en-US"/>
          </a:p>
        </p:txBody>
      </p:sp>
      <p:sp>
        <p:nvSpPr>
          <p:cNvPr id="7" name="axis"/>
          <p:cNvSpPr/>
          <p:nvPr/>
        </p:nvSpPr>
        <p:spPr>
          <a:xfrm flipV="1">
            <a:off x="2560000" y="2240000"/>
            <a:ext cx="0" cy="2120000"/>
          </a:xfrm>
          <a:prstGeom prst="line">
            <a:avLst/>
          </a:prstGeom>
          <a:ln w="9525">
            <a:solidFill>
              <a:srgbClr val="C7CBD1"/>
            </a:solidFill>
            <a:prstDash val="solid"/>
          </a:ln>
        </p:spPr>
        <p:txBody>
          <a:bodyPr/>
          <a:lstStyle/>
          <a:p>
            <a:endParaRPr lang="en-US"/>
          </a:p>
        </p:txBody>
      </p:sp>
      <p:sp>
        <p:nvSpPr>
          <p:cNvPr id="8" name="axis"/>
          <p:cNvSpPr/>
          <p:nvPr/>
        </p:nvSpPr>
        <p:spPr>
          <a:xfrm>
            <a:off x="1500000" y="3300000"/>
            <a:ext cx="2120000" cy="0"/>
          </a:xfrm>
          <a:prstGeom prst="line">
            <a:avLst/>
          </a:prstGeom>
          <a:ln w="9525">
            <a:solidFill>
              <a:srgbClr val="C7CBD1"/>
            </a:solidFill>
            <a:prstDash val="solid"/>
          </a:ln>
        </p:spPr>
        <p:txBody>
          <a:bodyPr/>
          <a:lstStyle/>
          <a:p>
            <a:endParaRPr lang="en-US"/>
          </a:p>
        </p:txBody>
      </p:sp>
      <p:sp>
        <p:nvSpPr>
          <p:cNvPr id="9" name="axis"/>
          <p:cNvSpPr/>
          <p:nvPr/>
        </p:nvSpPr>
        <p:spPr>
          <a:xfrm flipV="1">
            <a:off x="1860400" y="2982000"/>
            <a:ext cx="1399200" cy="636000"/>
          </a:xfrm>
          <a:prstGeom prst="line">
            <a:avLst/>
          </a:prstGeom>
          <a:ln w="9525">
            <a:solidFill>
              <a:srgbClr val="C7CBD1"/>
            </a:solidFill>
            <a:prstDash val="solid"/>
          </a:ln>
        </p:spPr>
        <p:txBody>
          <a:bodyPr/>
          <a:lstStyle/>
          <a:p>
            <a:endParaRPr lang="en-US"/>
          </a:p>
        </p:txBody>
      </p:sp>
      <p:sp>
        <p:nvSpPr>
          <p:cNvPr id="10" name="dot"/>
          <p:cNvSpPr/>
          <p:nvPr/>
        </p:nvSpPr>
        <p:spPr>
          <a:xfrm>
            <a:off x="2538800" y="3278800"/>
            <a:ext cx="42400" cy="42400"/>
          </a:xfrm>
          <a:prstGeom prst="ellipse">
            <a:avLst/>
          </a:prstGeom>
          <a:solidFill>
            <a:srgbClr val="1F2937"/>
          </a:solidFill>
          <a:ln/>
        </p:spPr>
        <p:txBody>
          <a:bodyPr/>
          <a:lstStyle/>
          <a:p>
            <a:endParaRPr lang="en-US"/>
          </a:p>
        </p:txBody>
      </p:sp>
      <p:sp>
        <p:nvSpPr>
          <p:cNvPr id="11" name="axis"/>
          <p:cNvSpPr/>
          <p:nvPr/>
        </p:nvSpPr>
        <p:spPr>
          <a:xfrm>
            <a:off x="2560000" y="2240000"/>
            <a:ext cx="0" cy="2120000"/>
          </a:xfrm>
          <a:prstGeom prst="line">
            <a:avLst/>
          </a:prstGeom>
          <a:ln w="38100">
            <a:solidFill>
              <a:srgbClr val="3730A3"/>
            </a:solidFill>
            <a:prstDash val="solid"/>
          </a:ln>
        </p:spPr>
        <p:txBody>
          <a:bodyPr/>
          <a:lstStyle/>
          <a:p>
            <a:endParaRPr lang="en-US"/>
          </a:p>
        </p:txBody>
      </p:sp>
      <p:sp>
        <p:nvSpPr>
          <p:cNvPr id="12" name="dot"/>
          <p:cNvSpPr/>
          <p:nvPr/>
        </p:nvSpPr>
        <p:spPr>
          <a:xfrm>
            <a:off x="2501700" y="2181700"/>
            <a:ext cx="116600" cy="116600"/>
          </a:xfrm>
          <a:prstGeom prst="ellipse">
            <a:avLst/>
          </a:prstGeom>
          <a:solidFill>
            <a:srgbClr val="3730A3"/>
          </a:solidFill>
          <a:ln w="9525">
            <a:solidFill>
              <a:srgbClr val="FFFFFF"/>
            </a:solidFill>
            <a:prstDash val="solid"/>
          </a:ln>
        </p:spPr>
        <p:txBody>
          <a:bodyPr/>
          <a:lstStyle/>
          <a:p>
            <a:endParaRPr lang="en-US"/>
          </a:p>
        </p:txBody>
      </p:sp>
      <p:sp>
        <p:nvSpPr>
          <p:cNvPr id="13" name="dot"/>
          <p:cNvSpPr/>
          <p:nvPr/>
        </p:nvSpPr>
        <p:spPr>
          <a:xfrm>
            <a:off x="2501700" y="4301700"/>
            <a:ext cx="116600" cy="116600"/>
          </a:xfrm>
          <a:prstGeom prst="ellipse">
            <a:avLst/>
          </a:prstGeom>
          <a:solidFill>
            <a:srgbClr val="3730A3"/>
          </a:solidFill>
          <a:ln w="9525">
            <a:solidFill>
              <a:srgbClr val="FFFFFF"/>
            </a:solidFill>
            <a:prstDash val="solid"/>
          </a:ln>
        </p:spPr>
        <p:txBody>
          <a:bodyPr/>
          <a:lstStyle/>
          <a:p>
            <a:endParaRPr lang="en-US"/>
          </a:p>
        </p:txBody>
      </p:sp>
      <p:sp>
        <p:nvSpPr>
          <p:cNvPr id="14" name="Text 14"/>
          <p:cNvSpPr/>
          <p:nvPr/>
        </p:nvSpPr>
        <p:spPr>
          <a:xfrm>
            <a:off x="2280000" y="18886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|0⟩</a:t>
            </a:r>
          </a:p>
        </p:txBody>
      </p:sp>
      <p:sp>
        <p:nvSpPr>
          <p:cNvPr id="15" name="Text 15"/>
          <p:cNvSpPr/>
          <p:nvPr/>
        </p:nvSpPr>
        <p:spPr>
          <a:xfrm>
            <a:off x="2280000" y="44114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|1⟩</a:t>
            </a:r>
          </a:p>
        </p:txBody>
      </p:sp>
      <p:sp>
        <p:nvSpPr>
          <p:cNvPr id="16" name="Text 16"/>
          <p:cNvSpPr/>
          <p:nvPr/>
        </p:nvSpPr>
        <p:spPr>
          <a:xfrm>
            <a:off x="4796000" y="1520000"/>
            <a:ext cx="260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libri" pitchFamily="34" charset="0"/>
                <a:ea typeface="Calibri" pitchFamily="34" charset="-122"/>
                <a:cs typeface="Calibri" pitchFamily="34" charset="-120"/>
              </a:rPr>
              <a:t>Hadamard basis</a:t>
            </a:r>
          </a:p>
        </p:txBody>
      </p:sp>
      <p:sp>
        <p:nvSpPr>
          <p:cNvPr id="17" name="sphere"/>
          <p:cNvSpPr/>
          <p:nvPr/>
        </p:nvSpPr>
        <p:spPr>
          <a:xfrm>
            <a:off x="5036000" y="2240000"/>
            <a:ext cx="2120000" cy="2120000"/>
          </a:xfrm>
          <a:prstGeom prst="ellipse">
            <a:avLst/>
          </a:prstGeom>
          <a:solidFill>
            <a:srgbClr val="EEF2FF"/>
          </a:solidFill>
          <a:ln w="20320">
            <a:solidFill>
              <a:srgbClr val="3730A3"/>
            </a:solidFill>
            <a:prstDash val="solid"/>
          </a:ln>
        </p:spPr>
        <p:txBody>
          <a:bodyPr/>
          <a:lstStyle/>
          <a:p>
            <a:endParaRPr lang="en-US"/>
          </a:p>
        </p:txBody>
      </p:sp>
      <p:sp>
        <p:nvSpPr>
          <p:cNvPr id="18" name="equator"/>
          <p:cNvSpPr/>
          <p:nvPr/>
        </p:nvSpPr>
        <p:spPr>
          <a:xfrm>
            <a:off x="5036000" y="2982000"/>
            <a:ext cx="2120000" cy="636000"/>
          </a:xfrm>
          <a:prstGeom prst="ellipse">
            <a:avLst/>
          </a:prstGeom>
          <a:noFill/>
          <a:ln w="11430">
            <a:solidFill>
              <a:srgbClr val="475569"/>
            </a:solidFill>
            <a:prstDash val="dash"/>
          </a:ln>
        </p:spPr>
        <p:txBody>
          <a:bodyPr/>
          <a:lstStyle/>
          <a:p>
            <a:endParaRPr lang="en-US"/>
          </a:p>
        </p:txBody>
      </p:sp>
      <p:sp>
        <p:nvSpPr>
          <p:cNvPr id="19" name="axis"/>
          <p:cNvSpPr/>
          <p:nvPr/>
        </p:nvSpPr>
        <p:spPr>
          <a:xfrm flipV="1">
            <a:off x="6096000" y="2240000"/>
            <a:ext cx="0" cy="2120000"/>
          </a:xfrm>
          <a:prstGeom prst="line">
            <a:avLst/>
          </a:prstGeom>
          <a:ln w="9525">
            <a:solidFill>
              <a:srgbClr val="C7CBD1"/>
            </a:solidFill>
            <a:prstDash val="solid"/>
          </a:ln>
        </p:spPr>
        <p:txBody>
          <a:bodyPr/>
          <a:lstStyle/>
          <a:p>
            <a:endParaRPr lang="en-US"/>
          </a:p>
        </p:txBody>
      </p:sp>
      <p:sp>
        <p:nvSpPr>
          <p:cNvPr id="20" name="axis"/>
          <p:cNvSpPr/>
          <p:nvPr/>
        </p:nvSpPr>
        <p:spPr>
          <a:xfrm>
            <a:off x="5036000" y="3300000"/>
            <a:ext cx="2120000" cy="0"/>
          </a:xfrm>
          <a:prstGeom prst="line">
            <a:avLst/>
          </a:prstGeom>
          <a:ln w="9525">
            <a:solidFill>
              <a:srgbClr val="C7CBD1"/>
            </a:solidFill>
            <a:prstDash val="solid"/>
          </a:ln>
        </p:spPr>
        <p:txBody>
          <a:bodyPr/>
          <a:lstStyle/>
          <a:p>
            <a:endParaRPr lang="en-US"/>
          </a:p>
        </p:txBody>
      </p:sp>
      <p:sp>
        <p:nvSpPr>
          <p:cNvPr id="21" name="axis"/>
          <p:cNvSpPr/>
          <p:nvPr/>
        </p:nvSpPr>
        <p:spPr>
          <a:xfrm flipV="1">
            <a:off x="5396400" y="2982000"/>
            <a:ext cx="1399200" cy="636000"/>
          </a:xfrm>
          <a:prstGeom prst="line">
            <a:avLst/>
          </a:prstGeom>
          <a:ln w="9525">
            <a:solidFill>
              <a:srgbClr val="C7CBD1"/>
            </a:solidFill>
            <a:prstDash val="solid"/>
          </a:ln>
        </p:spPr>
        <p:txBody>
          <a:bodyPr/>
          <a:lstStyle/>
          <a:p>
            <a:endParaRPr lang="en-US"/>
          </a:p>
        </p:txBody>
      </p:sp>
      <p:sp>
        <p:nvSpPr>
          <p:cNvPr id="22" name="dot"/>
          <p:cNvSpPr/>
          <p:nvPr/>
        </p:nvSpPr>
        <p:spPr>
          <a:xfrm>
            <a:off x="6074800" y="3278800"/>
            <a:ext cx="42400" cy="42400"/>
          </a:xfrm>
          <a:prstGeom prst="ellipse">
            <a:avLst/>
          </a:prstGeom>
          <a:solidFill>
            <a:srgbClr val="1F2937"/>
          </a:solidFill>
          <a:ln/>
        </p:spPr>
        <p:txBody>
          <a:bodyPr/>
          <a:lstStyle/>
          <a:p>
            <a:endParaRPr lang="en-US"/>
          </a:p>
        </p:txBody>
      </p:sp>
      <p:sp>
        <p:nvSpPr>
          <p:cNvPr id="23" name="axis"/>
          <p:cNvSpPr/>
          <p:nvPr/>
        </p:nvSpPr>
        <p:spPr>
          <a:xfrm flipV="1">
            <a:off x="5396400" y="2982000"/>
            <a:ext cx="1399200" cy="636000"/>
          </a:xfrm>
          <a:prstGeom prst="line">
            <a:avLst/>
          </a:prstGeom>
          <a:ln w="38100">
            <a:solidFill>
              <a:srgbClr val="0D9488"/>
            </a:solidFill>
            <a:prstDash val="solid"/>
          </a:ln>
        </p:spPr>
        <p:txBody>
          <a:bodyPr/>
          <a:lstStyle/>
          <a:p>
            <a:endParaRPr lang="en-US"/>
          </a:p>
        </p:txBody>
      </p:sp>
      <p:sp>
        <p:nvSpPr>
          <p:cNvPr id="24" name="dot"/>
          <p:cNvSpPr/>
          <p:nvPr/>
        </p:nvSpPr>
        <p:spPr>
          <a:xfrm>
            <a:off x="5338100" y="3559700"/>
            <a:ext cx="116600" cy="116600"/>
          </a:xfrm>
          <a:prstGeom prst="ellipse">
            <a:avLst/>
          </a:prstGeom>
          <a:solidFill>
            <a:srgbClr val="0D9488"/>
          </a:solidFill>
          <a:ln w="9525">
            <a:solidFill>
              <a:srgbClr val="FFFFFF"/>
            </a:solidFill>
            <a:prstDash val="solid"/>
          </a:ln>
        </p:spPr>
        <p:txBody>
          <a:bodyPr/>
          <a:lstStyle/>
          <a:p>
            <a:endParaRPr lang="en-US"/>
          </a:p>
        </p:txBody>
      </p:sp>
      <p:sp>
        <p:nvSpPr>
          <p:cNvPr id="25" name="dot"/>
          <p:cNvSpPr/>
          <p:nvPr/>
        </p:nvSpPr>
        <p:spPr>
          <a:xfrm>
            <a:off x="6737300" y="2923700"/>
            <a:ext cx="116600" cy="116600"/>
          </a:xfrm>
          <a:prstGeom prst="ellipse">
            <a:avLst/>
          </a:prstGeom>
          <a:solidFill>
            <a:srgbClr val="0D9488"/>
          </a:solidFill>
          <a:ln w="9525">
            <a:solidFill>
              <a:srgbClr val="FFFFFF"/>
            </a:solidFill>
            <a:prstDash val="solid"/>
          </a:ln>
        </p:spPr>
        <p:txBody>
          <a:bodyPr/>
          <a:lstStyle/>
          <a:p>
            <a:endParaRPr lang="en-US"/>
          </a:p>
        </p:txBody>
      </p:sp>
      <p:sp>
        <p:nvSpPr>
          <p:cNvPr id="26" name="Text 26"/>
          <p:cNvSpPr/>
          <p:nvPr/>
        </p:nvSpPr>
        <p:spPr>
          <a:xfrm>
            <a:off x="4975420" y="3608980"/>
            <a:ext cx="5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mbria Math" pitchFamily="34" charset="0"/>
                <a:ea typeface="Cambria Math" pitchFamily="34" charset="-122"/>
                <a:cs typeface="Cambria Math" pitchFamily="34" charset="-120"/>
              </a:rPr>
              <a:t>|+⟩</a:t>
            </a:r>
          </a:p>
        </p:txBody>
      </p:sp>
      <p:sp>
        <p:nvSpPr>
          <p:cNvPr id="27" name="Text 27"/>
          <p:cNvSpPr/>
          <p:nvPr/>
        </p:nvSpPr>
        <p:spPr>
          <a:xfrm>
            <a:off x="6656580" y="2691020"/>
            <a:ext cx="5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mbria Math" pitchFamily="34" charset="0"/>
                <a:ea typeface="Cambria Math" pitchFamily="34" charset="-122"/>
                <a:cs typeface="Cambria Math" pitchFamily="34" charset="-120"/>
              </a:rPr>
              <a:t>|−⟩</a:t>
            </a:r>
          </a:p>
        </p:txBody>
      </p:sp>
      <p:sp>
        <p:nvSpPr>
          <p:cNvPr id="28" name="Text 28"/>
          <p:cNvSpPr/>
          <p:nvPr/>
        </p:nvSpPr>
        <p:spPr>
          <a:xfrm>
            <a:off x="8332000" y="1520000"/>
            <a:ext cx="2600000" cy="300000"/>
          </a:xfrm>
          <a:prstGeom prst="rect">
            <a:avLst/>
          </a:prstGeom>
          <a:noFill/>
          <a:ln/>
        </p:spPr>
        <p:txBody>
          <a:bodyPr wrap="square" lIns="45720" tIns="0" rIns="45720" bIns="0" rtlCol="0" anchor="ctr"/>
          <a:lstStyle/>
          <a:p>
            <a:pPr marL="0" indent="0" algn="ctr">
              <a:buNone/>
            </a:pPr>
            <a:r>
              <a:rPr lang="en-US" sz="1300" b="1">
                <a:solidFill>
                  <a:srgbClr val="B45309"/>
                </a:solidFill>
                <a:latin typeface="Calibri" pitchFamily="34" charset="0"/>
                <a:ea typeface="Calibri" pitchFamily="34" charset="-122"/>
                <a:cs typeface="Calibri" pitchFamily="34" charset="-120"/>
              </a:rPr>
              <a:t>Circular basis</a:t>
            </a:r>
          </a:p>
        </p:txBody>
      </p:sp>
      <p:sp>
        <p:nvSpPr>
          <p:cNvPr id="29" name="sphere"/>
          <p:cNvSpPr/>
          <p:nvPr/>
        </p:nvSpPr>
        <p:spPr>
          <a:xfrm>
            <a:off x="8572000" y="2240000"/>
            <a:ext cx="2120000" cy="2120000"/>
          </a:xfrm>
          <a:prstGeom prst="ellipse">
            <a:avLst/>
          </a:prstGeom>
          <a:solidFill>
            <a:srgbClr val="EEF2FF"/>
          </a:solidFill>
          <a:ln w="20320">
            <a:solidFill>
              <a:srgbClr val="3730A3"/>
            </a:solidFill>
            <a:prstDash val="solid"/>
          </a:ln>
        </p:spPr>
        <p:txBody>
          <a:bodyPr/>
          <a:lstStyle/>
          <a:p>
            <a:endParaRPr lang="en-US"/>
          </a:p>
        </p:txBody>
      </p:sp>
      <p:sp>
        <p:nvSpPr>
          <p:cNvPr id="30" name="equator"/>
          <p:cNvSpPr/>
          <p:nvPr/>
        </p:nvSpPr>
        <p:spPr>
          <a:xfrm>
            <a:off x="8572000" y="2982000"/>
            <a:ext cx="2120000" cy="636000"/>
          </a:xfrm>
          <a:prstGeom prst="ellipse">
            <a:avLst/>
          </a:prstGeom>
          <a:noFill/>
          <a:ln w="11430">
            <a:solidFill>
              <a:srgbClr val="475569"/>
            </a:solidFill>
            <a:prstDash val="dash"/>
          </a:ln>
        </p:spPr>
        <p:txBody>
          <a:bodyPr/>
          <a:lstStyle/>
          <a:p>
            <a:endParaRPr lang="en-US"/>
          </a:p>
        </p:txBody>
      </p:sp>
      <p:sp>
        <p:nvSpPr>
          <p:cNvPr id="31" name="axis"/>
          <p:cNvSpPr/>
          <p:nvPr/>
        </p:nvSpPr>
        <p:spPr>
          <a:xfrm flipV="1">
            <a:off x="9632000" y="2240000"/>
            <a:ext cx="0" cy="2120000"/>
          </a:xfrm>
          <a:prstGeom prst="line">
            <a:avLst/>
          </a:prstGeom>
          <a:ln w="9525">
            <a:solidFill>
              <a:srgbClr val="C7CBD1"/>
            </a:solidFill>
            <a:prstDash val="solid"/>
          </a:ln>
        </p:spPr>
        <p:txBody>
          <a:bodyPr/>
          <a:lstStyle/>
          <a:p>
            <a:endParaRPr lang="en-US"/>
          </a:p>
        </p:txBody>
      </p:sp>
      <p:sp>
        <p:nvSpPr>
          <p:cNvPr id="32" name="axis"/>
          <p:cNvSpPr/>
          <p:nvPr/>
        </p:nvSpPr>
        <p:spPr>
          <a:xfrm>
            <a:off x="8572000" y="3300000"/>
            <a:ext cx="2120000" cy="0"/>
          </a:xfrm>
          <a:prstGeom prst="line">
            <a:avLst/>
          </a:prstGeom>
          <a:ln w="9525">
            <a:solidFill>
              <a:srgbClr val="C7CBD1"/>
            </a:solidFill>
            <a:prstDash val="solid"/>
          </a:ln>
        </p:spPr>
        <p:txBody>
          <a:bodyPr/>
          <a:lstStyle/>
          <a:p>
            <a:endParaRPr lang="en-US"/>
          </a:p>
        </p:txBody>
      </p:sp>
      <p:sp>
        <p:nvSpPr>
          <p:cNvPr id="33" name="axis"/>
          <p:cNvSpPr/>
          <p:nvPr/>
        </p:nvSpPr>
        <p:spPr>
          <a:xfrm flipV="1">
            <a:off x="8932400" y="2982000"/>
            <a:ext cx="1399200" cy="636000"/>
          </a:xfrm>
          <a:prstGeom prst="line">
            <a:avLst/>
          </a:prstGeom>
          <a:ln w="9525">
            <a:solidFill>
              <a:srgbClr val="C7CBD1"/>
            </a:solidFill>
            <a:prstDash val="solid"/>
          </a:ln>
        </p:spPr>
        <p:txBody>
          <a:bodyPr/>
          <a:lstStyle/>
          <a:p>
            <a:endParaRPr lang="en-US"/>
          </a:p>
        </p:txBody>
      </p:sp>
      <p:sp>
        <p:nvSpPr>
          <p:cNvPr id="34" name="dot"/>
          <p:cNvSpPr/>
          <p:nvPr/>
        </p:nvSpPr>
        <p:spPr>
          <a:xfrm>
            <a:off x="9610800" y="3278800"/>
            <a:ext cx="42400" cy="42400"/>
          </a:xfrm>
          <a:prstGeom prst="ellipse">
            <a:avLst/>
          </a:prstGeom>
          <a:solidFill>
            <a:srgbClr val="1F2937"/>
          </a:solidFill>
          <a:ln/>
        </p:spPr>
        <p:txBody>
          <a:bodyPr/>
          <a:lstStyle/>
          <a:p>
            <a:endParaRPr lang="en-US"/>
          </a:p>
        </p:txBody>
      </p:sp>
      <p:sp>
        <p:nvSpPr>
          <p:cNvPr id="35" name="axis"/>
          <p:cNvSpPr/>
          <p:nvPr/>
        </p:nvSpPr>
        <p:spPr>
          <a:xfrm flipV="1">
            <a:off x="8572000" y="3300000"/>
            <a:ext cx="2120000" cy="0"/>
          </a:xfrm>
          <a:prstGeom prst="line">
            <a:avLst/>
          </a:prstGeom>
          <a:ln w="38100">
            <a:solidFill>
              <a:srgbClr val="B45309"/>
            </a:solidFill>
            <a:prstDash val="solid"/>
          </a:ln>
        </p:spPr>
        <p:txBody>
          <a:bodyPr/>
          <a:lstStyle/>
          <a:p>
            <a:endParaRPr lang="en-US"/>
          </a:p>
        </p:txBody>
      </p:sp>
      <p:sp>
        <p:nvSpPr>
          <p:cNvPr id="36" name="dot"/>
          <p:cNvSpPr/>
          <p:nvPr/>
        </p:nvSpPr>
        <p:spPr>
          <a:xfrm>
            <a:off x="10633700" y="3241700"/>
            <a:ext cx="116600" cy="116600"/>
          </a:xfrm>
          <a:prstGeom prst="ellipse">
            <a:avLst/>
          </a:prstGeom>
          <a:solidFill>
            <a:srgbClr val="B45309"/>
          </a:solidFill>
          <a:ln w="9525">
            <a:solidFill>
              <a:srgbClr val="FFFFFF"/>
            </a:solidFill>
            <a:prstDash val="solid"/>
          </a:ln>
        </p:spPr>
        <p:txBody>
          <a:bodyPr/>
          <a:lstStyle/>
          <a:p>
            <a:endParaRPr lang="en-US"/>
          </a:p>
        </p:txBody>
      </p:sp>
      <p:sp>
        <p:nvSpPr>
          <p:cNvPr id="37" name="dot"/>
          <p:cNvSpPr/>
          <p:nvPr/>
        </p:nvSpPr>
        <p:spPr>
          <a:xfrm>
            <a:off x="8513700" y="3241700"/>
            <a:ext cx="116600" cy="116600"/>
          </a:xfrm>
          <a:prstGeom prst="ellipse">
            <a:avLst/>
          </a:prstGeom>
          <a:solidFill>
            <a:srgbClr val="B45309"/>
          </a:solidFill>
          <a:ln w="9525">
            <a:solidFill>
              <a:srgbClr val="FFFFFF"/>
            </a:solidFill>
            <a:prstDash val="solid"/>
          </a:ln>
        </p:spPr>
        <p:txBody>
          <a:bodyPr/>
          <a:lstStyle/>
          <a:p>
            <a:endParaRPr lang="en-US"/>
          </a:p>
        </p:txBody>
      </p:sp>
      <p:sp>
        <p:nvSpPr>
          <p:cNvPr id="38" name="Text 38"/>
          <p:cNvSpPr/>
          <p:nvPr/>
        </p:nvSpPr>
        <p:spPr>
          <a:xfrm>
            <a:off x="10613400" y="3150000"/>
            <a:ext cx="560000" cy="300000"/>
          </a:xfrm>
          <a:prstGeom prst="rect">
            <a:avLst/>
          </a:prstGeom>
          <a:noFill/>
          <a:ln/>
        </p:spPr>
        <p:txBody>
          <a:bodyPr wrap="square" lIns="45720" tIns="0" rIns="45720" bIns="0" rtlCol="0" anchor="ctr"/>
          <a:lstStyle/>
          <a:p>
            <a:pPr marL="0" indent="0" algn="ctr">
              <a:buNone/>
            </a:pPr>
            <a:r>
              <a:rPr lang="en-US" sz="1400" b="1">
                <a:solidFill>
                  <a:srgbClr val="B45309"/>
                </a:solidFill>
                <a:latin typeface="Cambria Math" pitchFamily="34" charset="0"/>
                <a:ea typeface="Cambria Math" pitchFamily="34" charset="-122"/>
                <a:cs typeface="Cambria Math" pitchFamily="34" charset="-120"/>
              </a:rPr>
              <a:t>|i⟩</a:t>
            </a:r>
          </a:p>
        </p:txBody>
      </p:sp>
      <p:sp>
        <p:nvSpPr>
          <p:cNvPr id="39" name="Text 39"/>
          <p:cNvSpPr/>
          <p:nvPr/>
        </p:nvSpPr>
        <p:spPr>
          <a:xfrm>
            <a:off x="8050600" y="3150000"/>
            <a:ext cx="640000" cy="300000"/>
          </a:xfrm>
          <a:prstGeom prst="rect">
            <a:avLst/>
          </a:prstGeom>
          <a:noFill/>
          <a:ln/>
        </p:spPr>
        <p:txBody>
          <a:bodyPr wrap="square" lIns="45720" tIns="0" rIns="45720" bIns="0" rtlCol="0" anchor="ctr"/>
          <a:lstStyle/>
          <a:p>
            <a:pPr marL="0" indent="0" algn="ctr">
              <a:buNone/>
            </a:pPr>
            <a:r>
              <a:rPr lang="en-US" sz="1400" b="1">
                <a:solidFill>
                  <a:srgbClr val="B45309"/>
                </a:solidFill>
                <a:latin typeface="Cambria Math" pitchFamily="34" charset="0"/>
                <a:ea typeface="Cambria Math" pitchFamily="34" charset="-122"/>
                <a:cs typeface="Cambria Math" pitchFamily="34" charset="-120"/>
              </a:rPr>
              <a:t>|−i⟩</a:t>
            </a:r>
          </a:p>
        </p:txBody>
      </p:sp>
      <p:sp>
        <p:nvSpPr>
          <p:cNvPr id="40" name="band"/>
          <p:cNvSpPr/>
          <p:nvPr/>
        </p:nvSpPr>
        <p:spPr>
          <a:xfrm>
            <a:off x="731520" y="4760000"/>
            <a:ext cx="10728960" cy="980000"/>
          </a:xfrm>
          <a:prstGeom prst="roundRect">
            <a:avLst>
              <a:gd name="adj" fmla="val 8000"/>
            </a:avLst>
          </a:prstGeom>
          <a:solidFill>
            <a:srgbClr val="CCFBF1"/>
          </a:solidFill>
          <a:ln/>
        </p:spPr>
        <p:txBody>
          <a:bodyPr/>
          <a:lstStyle/>
          <a:p>
            <a:endParaRPr lang="en-US"/>
          </a:p>
        </p:txBody>
      </p:sp>
      <p:sp>
        <p:nvSpPr>
          <p:cNvPr id="41" name="Text 41"/>
          <p:cNvSpPr/>
          <p:nvPr/>
        </p:nvSpPr>
        <p:spPr>
          <a:xfrm>
            <a:off x="731520" y="4760000"/>
            <a:ext cx="3576320" cy="980000"/>
          </a:xfrm>
          <a:prstGeom prst="rect">
            <a:avLst/>
          </a:prstGeom>
          <a:noFill/>
          <a:ln/>
        </p:spPr>
        <p:txBody>
          <a:bodyPr wrap="square" lIns="45720" tIns="0" rIns="45720" bIns="0" rtlCol="0" anchor="ctr"/>
          <a:lstStyle/>
          <a:p>
            <a:pPr marL="0" indent="0" algn="ctr">
              <a:buNone/>
            </a:pPr>
            <a:r>
              <a:rPr lang="en-US" sz="1900" b="1">
                <a:solidFill>
                  <a:srgbClr val="0D9488"/>
                </a:solidFill>
                <a:latin typeface="Cambria Math" pitchFamily="34" charset="0"/>
                <a:ea typeface="Cambria Math" pitchFamily="34" charset="-122"/>
                <a:cs typeface="Cambria Math" pitchFamily="34" charset="-120"/>
              </a:rPr>
              <a:t>⟨ψ|φ⟩ = 0</a:t>
            </a:r>
          </a:p>
        </p:txBody>
      </p:sp>
      <p:sp>
        <p:nvSpPr>
          <p:cNvPr id="42" name="Text 42"/>
          <p:cNvSpPr/>
          <p:nvPr/>
        </p:nvSpPr>
        <p:spPr>
          <a:xfrm>
            <a:off x="4307840" y="4760000"/>
            <a:ext cx="3576320" cy="980000"/>
          </a:xfrm>
          <a:prstGeom prst="rect">
            <a:avLst/>
          </a:prstGeom>
          <a:noFill/>
          <a:ln/>
        </p:spPr>
        <p:txBody>
          <a:bodyPr wrap="square" lIns="45720" tIns="0" rIns="45720" bIns="0" rtlCol="0" anchor="ctr"/>
          <a:lstStyle/>
          <a:p>
            <a:pPr marL="0" indent="0" algn="ctr">
              <a:buNone/>
            </a:pPr>
            <a:r>
              <a:rPr lang="en-US" sz="1500" b="1">
                <a:solidFill>
                  <a:srgbClr val="1F2937"/>
                </a:solidFill>
                <a:latin typeface="Calibri" pitchFamily="34" charset="0"/>
                <a:ea typeface="Calibri" pitchFamily="34" charset="-122"/>
                <a:cs typeface="Calibri" pitchFamily="34" charset="-120"/>
              </a:rPr>
              <a:t>Orthogonal states</a:t>
            </a:r>
          </a:p>
        </p:txBody>
      </p:sp>
      <p:sp>
        <p:nvSpPr>
          <p:cNvPr id="43" name="Text 43"/>
          <p:cNvSpPr/>
          <p:nvPr/>
        </p:nvSpPr>
        <p:spPr>
          <a:xfrm>
            <a:off x="7884160" y="4760000"/>
            <a:ext cx="3576320" cy="980000"/>
          </a:xfrm>
          <a:prstGeom prst="rect">
            <a:avLst/>
          </a:prstGeom>
          <a:noFill/>
          <a:ln/>
        </p:spPr>
        <p:txBody>
          <a:bodyPr wrap="square" lIns="45720" tIns="0" rIns="45720" bIns="0" rtlCol="0" anchor="ctr"/>
          <a:lstStyle/>
          <a:p>
            <a:pPr marL="0" indent="0" algn="ctr">
              <a:spcAft>
                <a:spcPts val="100"/>
              </a:spcAft>
              <a:buNone/>
            </a:pPr>
            <a:r>
              <a:rPr lang="en-US" sz="1350">
                <a:solidFill>
                  <a:srgbClr val="1F2937"/>
                </a:solidFill>
                <a:latin typeface="Calibri" pitchFamily="34" charset="0"/>
                <a:ea typeface="Calibri" pitchFamily="34" charset="-122"/>
                <a:cs typeface="Calibri" pitchFamily="34" charset="-120"/>
              </a:rPr>
              <a:t>Opposite points on the</a:t>
            </a:r>
          </a:p>
          <a:p>
            <a:pPr marL="0" indent="0" algn="ctr">
              <a:buNone/>
            </a:pPr>
            <a:r>
              <a:rPr lang="en-US" sz="1350" b="1">
                <a:solidFill>
                  <a:srgbClr val="3730A3"/>
                </a:solidFill>
                <a:latin typeface="Calibri" pitchFamily="34" charset="0"/>
                <a:ea typeface="Calibri" pitchFamily="34" charset="-122"/>
                <a:cs typeface="Calibri" pitchFamily="34" charset="-120"/>
              </a:rPr>
              <a:t>Bloch sphere</a:t>
            </a:r>
          </a:p>
        </p:txBody>
      </p:sp>
      <p:sp>
        <p:nvSpPr>
          <p:cNvPr id="44" name="axis"/>
          <p:cNvSpPr/>
          <p:nvPr/>
        </p:nvSpPr>
        <p:spPr>
          <a:xfrm>
            <a:off x="4217840" y="5250000"/>
            <a:ext cx="180000" cy="0"/>
          </a:xfrm>
          <a:prstGeom prst="line">
            <a:avLst/>
          </a:prstGeom>
          <a:ln w="28575">
            <a:solidFill>
              <a:srgbClr val="0D9488"/>
            </a:solidFill>
            <a:prstDash val="solid"/>
            <a:tailEnd type="triangle" w="med" len="med"/>
          </a:ln>
        </p:spPr>
        <p:txBody>
          <a:bodyPr/>
          <a:lstStyle/>
          <a:p>
            <a:endParaRPr lang="en-US"/>
          </a:p>
        </p:txBody>
      </p:sp>
      <p:sp>
        <p:nvSpPr>
          <p:cNvPr id="45" name="axis"/>
          <p:cNvSpPr/>
          <p:nvPr/>
        </p:nvSpPr>
        <p:spPr>
          <a:xfrm>
            <a:off x="7794160" y="5250000"/>
            <a:ext cx="180000" cy="0"/>
          </a:xfrm>
          <a:prstGeom prst="line">
            <a:avLst/>
          </a:prstGeom>
          <a:ln w="28575">
            <a:solidFill>
              <a:srgbClr val="0D9488"/>
            </a:solidFill>
            <a:prstDash val="solid"/>
            <a:tailEnd type="triangle" w="med" len="med"/>
          </a:ln>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Measurement on the Bloch Sphere</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1250000" y="1560000"/>
            <a:ext cx="420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Measure along the Z-axis</a:t>
            </a:r>
          </a:p>
        </p:txBody>
      </p:sp>
      <p:sp>
        <p:nvSpPr>
          <p:cNvPr id="5" name="sphere"/>
          <p:cNvSpPr/>
          <p:nvPr/>
        </p:nvSpPr>
        <p:spPr>
          <a:xfrm>
            <a:off x="1990000" y="2240000"/>
            <a:ext cx="2720000" cy="2720000"/>
          </a:xfrm>
          <a:prstGeom prst="ellipse">
            <a:avLst/>
          </a:prstGeom>
          <a:solidFill>
            <a:srgbClr val="EEF2FF"/>
          </a:solidFill>
          <a:ln w="20320">
            <a:solidFill>
              <a:srgbClr val="3730A3"/>
            </a:solidFill>
            <a:prstDash val="solid"/>
          </a:ln>
        </p:spPr>
        <p:txBody>
          <a:bodyPr/>
          <a:lstStyle/>
          <a:p>
            <a:endParaRPr lang="en-US"/>
          </a:p>
        </p:txBody>
      </p:sp>
      <p:sp>
        <p:nvSpPr>
          <p:cNvPr id="6" name="equator"/>
          <p:cNvSpPr/>
          <p:nvPr/>
        </p:nvSpPr>
        <p:spPr>
          <a:xfrm>
            <a:off x="1990000" y="3192000"/>
            <a:ext cx="2720000" cy="816000"/>
          </a:xfrm>
          <a:prstGeom prst="ellipse">
            <a:avLst/>
          </a:prstGeom>
          <a:noFill/>
          <a:ln w="11430">
            <a:solidFill>
              <a:srgbClr val="475569"/>
            </a:solidFill>
            <a:prstDash val="dash"/>
          </a:ln>
        </p:spPr>
        <p:txBody>
          <a:bodyPr/>
          <a:lstStyle/>
          <a:p>
            <a:endParaRPr lang="en-US"/>
          </a:p>
        </p:txBody>
      </p:sp>
      <p:sp>
        <p:nvSpPr>
          <p:cNvPr id="7" name="axis"/>
          <p:cNvSpPr/>
          <p:nvPr/>
        </p:nvSpPr>
        <p:spPr>
          <a:xfrm flipV="1">
            <a:off x="3350000" y="2240000"/>
            <a:ext cx="0" cy="1360000"/>
          </a:xfrm>
          <a:prstGeom prst="line">
            <a:avLst/>
          </a:prstGeom>
          <a:ln w="41275">
            <a:solidFill>
              <a:srgbClr val="3730A3"/>
            </a:solidFill>
            <a:prstDash val="solid"/>
            <a:tailEnd type="triangle" w="med" len="med"/>
          </a:ln>
        </p:spPr>
        <p:txBody>
          <a:bodyPr/>
          <a:lstStyle/>
          <a:p>
            <a:endParaRPr lang="en-US"/>
          </a:p>
        </p:txBody>
      </p:sp>
      <p:sp>
        <p:nvSpPr>
          <p:cNvPr id="8" name="axis"/>
          <p:cNvSpPr/>
          <p:nvPr/>
        </p:nvSpPr>
        <p:spPr>
          <a:xfrm>
            <a:off x="3350000" y="3600000"/>
            <a:ext cx="0" cy="1360000"/>
          </a:xfrm>
          <a:prstGeom prst="line">
            <a:avLst/>
          </a:prstGeom>
          <a:ln w="28892">
            <a:solidFill>
              <a:srgbClr val="3730A3"/>
            </a:solidFill>
            <a:prstDash val="dash"/>
          </a:ln>
        </p:spPr>
        <p:txBody>
          <a:bodyPr/>
          <a:lstStyle/>
          <a:p>
            <a:endParaRPr lang="en-US"/>
          </a:p>
        </p:txBody>
      </p:sp>
      <p:sp>
        <p:nvSpPr>
          <p:cNvPr id="9" name="axis"/>
          <p:cNvSpPr/>
          <p:nvPr/>
        </p:nvSpPr>
        <p:spPr>
          <a:xfrm>
            <a:off x="3350000" y="3600000"/>
            <a:ext cx="1360000" cy="0"/>
          </a:xfrm>
          <a:prstGeom prst="line">
            <a:avLst/>
          </a:prstGeom>
          <a:ln w="15875">
            <a:solidFill>
              <a:srgbClr val="475569"/>
            </a:solidFill>
            <a:prstDash val="solid"/>
            <a:tailEnd type="triangle" w="med" len="med"/>
          </a:ln>
        </p:spPr>
        <p:txBody>
          <a:bodyPr/>
          <a:lstStyle/>
          <a:p>
            <a:endParaRPr lang="en-US"/>
          </a:p>
        </p:txBody>
      </p:sp>
      <p:sp>
        <p:nvSpPr>
          <p:cNvPr id="10" name="axis"/>
          <p:cNvSpPr/>
          <p:nvPr/>
        </p:nvSpPr>
        <p:spPr>
          <a:xfrm flipV="1">
            <a:off x="1990000" y="3600000"/>
            <a:ext cx="1360000" cy="0"/>
          </a:xfrm>
          <a:prstGeom prst="line">
            <a:avLst/>
          </a:prstGeom>
          <a:ln w="11112">
            <a:solidFill>
              <a:srgbClr val="475569"/>
            </a:solidFill>
            <a:prstDash val="dash"/>
          </a:ln>
        </p:spPr>
        <p:txBody>
          <a:bodyPr/>
          <a:lstStyle/>
          <a:p>
            <a:endParaRPr lang="en-US"/>
          </a:p>
        </p:txBody>
      </p:sp>
      <p:sp>
        <p:nvSpPr>
          <p:cNvPr id="11" name="axis"/>
          <p:cNvSpPr/>
          <p:nvPr/>
        </p:nvSpPr>
        <p:spPr>
          <a:xfrm flipV="1">
            <a:off x="2452400" y="3600000"/>
            <a:ext cx="897600" cy="408000"/>
          </a:xfrm>
          <a:prstGeom prst="line">
            <a:avLst/>
          </a:prstGeom>
          <a:ln w="15875">
            <a:solidFill>
              <a:srgbClr val="475569"/>
            </a:solidFill>
            <a:prstDash val="solid"/>
            <a:tailEnd type="triangle" w="med" len="med"/>
          </a:ln>
        </p:spPr>
        <p:txBody>
          <a:bodyPr/>
          <a:lstStyle/>
          <a:p>
            <a:endParaRPr lang="en-US"/>
          </a:p>
        </p:txBody>
      </p:sp>
      <p:sp>
        <p:nvSpPr>
          <p:cNvPr id="12" name="axis"/>
          <p:cNvSpPr/>
          <p:nvPr/>
        </p:nvSpPr>
        <p:spPr>
          <a:xfrm flipV="1">
            <a:off x="3350000" y="3192000"/>
            <a:ext cx="897600" cy="408000"/>
          </a:xfrm>
          <a:prstGeom prst="line">
            <a:avLst/>
          </a:prstGeom>
          <a:ln w="11112">
            <a:solidFill>
              <a:srgbClr val="475569"/>
            </a:solidFill>
            <a:prstDash val="dash"/>
          </a:ln>
        </p:spPr>
        <p:txBody>
          <a:bodyPr/>
          <a:lstStyle/>
          <a:p>
            <a:endParaRPr lang="en-US"/>
          </a:p>
        </p:txBody>
      </p:sp>
      <p:sp>
        <p:nvSpPr>
          <p:cNvPr id="13" name="dot"/>
          <p:cNvSpPr/>
          <p:nvPr/>
        </p:nvSpPr>
        <p:spPr>
          <a:xfrm>
            <a:off x="3311920" y="3561920"/>
            <a:ext cx="76160" cy="76160"/>
          </a:xfrm>
          <a:prstGeom prst="ellipse">
            <a:avLst/>
          </a:prstGeom>
          <a:solidFill>
            <a:srgbClr val="1F2937"/>
          </a:solidFill>
          <a:ln/>
        </p:spPr>
        <p:txBody>
          <a:bodyPr/>
          <a:lstStyle/>
          <a:p>
            <a:endParaRPr lang="en-US"/>
          </a:p>
        </p:txBody>
      </p:sp>
      <p:sp>
        <p:nvSpPr>
          <p:cNvPr id="14" name="Text 14"/>
          <p:cNvSpPr/>
          <p:nvPr/>
        </p:nvSpPr>
        <p:spPr>
          <a:xfrm>
            <a:off x="3070000" y="18724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|0⟩</a:t>
            </a:r>
          </a:p>
        </p:txBody>
      </p:sp>
      <p:sp>
        <p:nvSpPr>
          <p:cNvPr id="15" name="Text 15"/>
          <p:cNvSpPr/>
          <p:nvPr/>
        </p:nvSpPr>
        <p:spPr>
          <a:xfrm>
            <a:off x="3070000" y="50276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|1⟩</a:t>
            </a:r>
          </a:p>
        </p:txBody>
      </p:sp>
      <p:sp>
        <p:nvSpPr>
          <p:cNvPr id="16" name="Text 16"/>
          <p:cNvSpPr/>
          <p:nvPr/>
        </p:nvSpPr>
        <p:spPr>
          <a:xfrm>
            <a:off x="4647600" y="3450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17" name="Text 17"/>
          <p:cNvSpPr/>
          <p:nvPr/>
        </p:nvSpPr>
        <p:spPr>
          <a:xfrm>
            <a:off x="1452400" y="3450000"/>
            <a:ext cx="64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18" name="Text 18"/>
          <p:cNvSpPr/>
          <p:nvPr/>
        </p:nvSpPr>
        <p:spPr>
          <a:xfrm>
            <a:off x="2020080" y="401032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19" name="Text 19"/>
          <p:cNvSpPr/>
          <p:nvPr/>
        </p:nvSpPr>
        <p:spPr>
          <a:xfrm>
            <a:off x="4119920" y="288968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20" name="axis"/>
          <p:cNvSpPr/>
          <p:nvPr/>
        </p:nvSpPr>
        <p:spPr>
          <a:xfrm flipV="1">
            <a:off x="3350000" y="2974400"/>
            <a:ext cx="707200" cy="625600"/>
          </a:xfrm>
          <a:prstGeom prst="line">
            <a:avLst/>
          </a:prstGeom>
          <a:ln w="34925">
            <a:solidFill>
              <a:srgbClr val="1F2937"/>
            </a:solidFill>
            <a:prstDash val="solid"/>
            <a:tailEnd type="triangle" w="med" len="med"/>
          </a:ln>
        </p:spPr>
        <p:txBody>
          <a:bodyPr/>
          <a:lstStyle/>
          <a:p>
            <a:endParaRPr lang="en-US"/>
          </a:p>
        </p:txBody>
      </p:sp>
      <p:sp>
        <p:nvSpPr>
          <p:cNvPr id="21" name="dot"/>
          <p:cNvSpPr/>
          <p:nvPr/>
        </p:nvSpPr>
        <p:spPr>
          <a:xfrm>
            <a:off x="3991920" y="2909120"/>
            <a:ext cx="130560" cy="130560"/>
          </a:xfrm>
          <a:prstGeom prst="ellipse">
            <a:avLst/>
          </a:prstGeom>
          <a:solidFill>
            <a:srgbClr val="1F2937"/>
          </a:solidFill>
          <a:ln w="9525">
            <a:solidFill>
              <a:srgbClr val="FFFFFF"/>
            </a:solidFill>
            <a:prstDash val="solid"/>
          </a:ln>
        </p:spPr>
        <p:txBody>
          <a:bodyPr/>
          <a:lstStyle/>
          <a:p>
            <a:endParaRPr lang="en-US"/>
          </a:p>
        </p:txBody>
      </p:sp>
      <p:sp>
        <p:nvSpPr>
          <p:cNvPr id="22" name="Text 22"/>
          <p:cNvSpPr/>
          <p:nvPr/>
        </p:nvSpPr>
        <p:spPr>
          <a:xfrm>
            <a:off x="3907200" y="2734400"/>
            <a:ext cx="560000" cy="300000"/>
          </a:xfrm>
          <a:prstGeom prst="rect">
            <a:avLst/>
          </a:prstGeom>
          <a:noFill/>
          <a:ln/>
        </p:spPr>
        <p:txBody>
          <a:bodyPr wrap="square" lIns="45720" tIns="0" rIns="45720" bIns="0" rtlCol="0" anchor="ctr"/>
          <a:lstStyle/>
          <a:p>
            <a:pPr marL="0" indent="0" algn="ctr">
              <a:buNone/>
            </a:pPr>
            <a:r>
              <a:rPr lang="en-US" sz="1300" b="1">
                <a:solidFill>
                  <a:srgbClr val="1F2937"/>
                </a:solidFill>
                <a:latin typeface="Cambria Math" pitchFamily="34" charset="0"/>
                <a:ea typeface="Cambria Math" pitchFamily="34" charset="-122"/>
                <a:cs typeface="Cambria Math" pitchFamily="34" charset="-120"/>
              </a:rPr>
              <a:t>|ψ⟩</a:t>
            </a:r>
          </a:p>
        </p:txBody>
      </p:sp>
      <p:sp>
        <p:nvSpPr>
          <p:cNvPr id="23" name="axis"/>
          <p:cNvSpPr/>
          <p:nvPr/>
        </p:nvSpPr>
        <p:spPr>
          <a:xfrm flipV="1">
            <a:off x="3350000" y="2974400"/>
            <a:ext cx="707200" cy="0"/>
          </a:xfrm>
          <a:prstGeom prst="line">
            <a:avLst/>
          </a:prstGeom>
          <a:ln w="12700">
            <a:solidFill>
              <a:srgbClr val="3730A3"/>
            </a:solidFill>
            <a:prstDash val="sysDash"/>
          </a:ln>
        </p:spPr>
        <p:txBody>
          <a:bodyPr/>
          <a:lstStyle/>
          <a:p>
            <a:endParaRPr lang="en-US"/>
          </a:p>
        </p:txBody>
      </p:sp>
      <p:sp>
        <p:nvSpPr>
          <p:cNvPr id="24" name="dot"/>
          <p:cNvSpPr/>
          <p:nvPr/>
        </p:nvSpPr>
        <p:spPr>
          <a:xfrm>
            <a:off x="3282000" y="2906400"/>
            <a:ext cx="136000" cy="136000"/>
          </a:xfrm>
          <a:prstGeom prst="ellipse">
            <a:avLst/>
          </a:prstGeom>
          <a:solidFill>
            <a:srgbClr val="3730A3"/>
          </a:solidFill>
          <a:ln w="9525">
            <a:solidFill>
              <a:srgbClr val="FFFFFF"/>
            </a:solidFill>
            <a:prstDash val="solid"/>
          </a:ln>
        </p:spPr>
        <p:txBody>
          <a:bodyPr/>
          <a:lstStyle/>
          <a:p>
            <a:endParaRPr lang="en-US"/>
          </a:p>
        </p:txBody>
      </p:sp>
      <p:sp>
        <p:nvSpPr>
          <p:cNvPr id="25" name="Text 25"/>
          <p:cNvSpPr/>
          <p:nvPr/>
        </p:nvSpPr>
        <p:spPr>
          <a:xfrm>
            <a:off x="6750000" y="1560000"/>
            <a:ext cx="420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Measure along the X-axis</a:t>
            </a:r>
          </a:p>
        </p:txBody>
      </p:sp>
      <p:sp>
        <p:nvSpPr>
          <p:cNvPr id="26" name="sphere"/>
          <p:cNvSpPr/>
          <p:nvPr/>
        </p:nvSpPr>
        <p:spPr>
          <a:xfrm>
            <a:off x="7490000" y="2240000"/>
            <a:ext cx="2720000" cy="2720000"/>
          </a:xfrm>
          <a:prstGeom prst="ellipse">
            <a:avLst/>
          </a:prstGeom>
          <a:solidFill>
            <a:srgbClr val="EEF2FF"/>
          </a:solidFill>
          <a:ln w="20320">
            <a:solidFill>
              <a:srgbClr val="3730A3"/>
            </a:solidFill>
            <a:prstDash val="solid"/>
          </a:ln>
        </p:spPr>
        <p:txBody>
          <a:bodyPr/>
          <a:lstStyle/>
          <a:p>
            <a:endParaRPr lang="en-US"/>
          </a:p>
        </p:txBody>
      </p:sp>
      <p:sp>
        <p:nvSpPr>
          <p:cNvPr id="27" name="equator"/>
          <p:cNvSpPr/>
          <p:nvPr/>
        </p:nvSpPr>
        <p:spPr>
          <a:xfrm>
            <a:off x="7490000" y="3192000"/>
            <a:ext cx="2720000" cy="816000"/>
          </a:xfrm>
          <a:prstGeom prst="ellipse">
            <a:avLst/>
          </a:prstGeom>
          <a:noFill/>
          <a:ln w="11430">
            <a:solidFill>
              <a:srgbClr val="475569"/>
            </a:solidFill>
            <a:prstDash val="dash"/>
          </a:ln>
        </p:spPr>
        <p:txBody>
          <a:bodyPr/>
          <a:lstStyle/>
          <a:p>
            <a:endParaRPr lang="en-US"/>
          </a:p>
        </p:txBody>
      </p:sp>
      <p:sp>
        <p:nvSpPr>
          <p:cNvPr id="28" name="axis"/>
          <p:cNvSpPr/>
          <p:nvPr/>
        </p:nvSpPr>
        <p:spPr>
          <a:xfrm flipV="1">
            <a:off x="8850000" y="2240000"/>
            <a:ext cx="0" cy="1360000"/>
          </a:xfrm>
          <a:prstGeom prst="line">
            <a:avLst/>
          </a:prstGeom>
          <a:ln w="15875">
            <a:solidFill>
              <a:srgbClr val="475569"/>
            </a:solidFill>
            <a:prstDash val="solid"/>
            <a:tailEnd type="triangle" w="med" len="med"/>
          </a:ln>
        </p:spPr>
        <p:txBody>
          <a:bodyPr/>
          <a:lstStyle/>
          <a:p>
            <a:endParaRPr lang="en-US"/>
          </a:p>
        </p:txBody>
      </p:sp>
      <p:sp>
        <p:nvSpPr>
          <p:cNvPr id="29" name="axis"/>
          <p:cNvSpPr/>
          <p:nvPr/>
        </p:nvSpPr>
        <p:spPr>
          <a:xfrm>
            <a:off x="8850000" y="3600000"/>
            <a:ext cx="0" cy="1360000"/>
          </a:xfrm>
          <a:prstGeom prst="line">
            <a:avLst/>
          </a:prstGeom>
          <a:ln w="11112">
            <a:solidFill>
              <a:srgbClr val="475569"/>
            </a:solidFill>
            <a:prstDash val="dash"/>
          </a:ln>
        </p:spPr>
        <p:txBody>
          <a:bodyPr/>
          <a:lstStyle/>
          <a:p>
            <a:endParaRPr lang="en-US"/>
          </a:p>
        </p:txBody>
      </p:sp>
      <p:sp>
        <p:nvSpPr>
          <p:cNvPr id="30" name="axis"/>
          <p:cNvSpPr/>
          <p:nvPr/>
        </p:nvSpPr>
        <p:spPr>
          <a:xfrm>
            <a:off x="8850000" y="3600000"/>
            <a:ext cx="1360000" cy="0"/>
          </a:xfrm>
          <a:prstGeom prst="line">
            <a:avLst/>
          </a:prstGeom>
          <a:ln w="15875">
            <a:solidFill>
              <a:srgbClr val="475569"/>
            </a:solidFill>
            <a:prstDash val="solid"/>
            <a:tailEnd type="triangle" w="med" len="med"/>
          </a:ln>
        </p:spPr>
        <p:txBody>
          <a:bodyPr/>
          <a:lstStyle/>
          <a:p>
            <a:endParaRPr lang="en-US"/>
          </a:p>
        </p:txBody>
      </p:sp>
      <p:sp>
        <p:nvSpPr>
          <p:cNvPr id="31" name="axis"/>
          <p:cNvSpPr/>
          <p:nvPr/>
        </p:nvSpPr>
        <p:spPr>
          <a:xfrm flipV="1">
            <a:off x="7490000" y="3600000"/>
            <a:ext cx="1360000" cy="0"/>
          </a:xfrm>
          <a:prstGeom prst="line">
            <a:avLst/>
          </a:prstGeom>
          <a:ln w="11112">
            <a:solidFill>
              <a:srgbClr val="475569"/>
            </a:solidFill>
            <a:prstDash val="dash"/>
          </a:ln>
        </p:spPr>
        <p:txBody>
          <a:bodyPr/>
          <a:lstStyle/>
          <a:p>
            <a:endParaRPr lang="en-US"/>
          </a:p>
        </p:txBody>
      </p:sp>
      <p:sp>
        <p:nvSpPr>
          <p:cNvPr id="32" name="axis"/>
          <p:cNvSpPr/>
          <p:nvPr/>
        </p:nvSpPr>
        <p:spPr>
          <a:xfrm flipV="1">
            <a:off x="7952400" y="3600000"/>
            <a:ext cx="897600" cy="408000"/>
          </a:xfrm>
          <a:prstGeom prst="line">
            <a:avLst/>
          </a:prstGeom>
          <a:ln w="41275">
            <a:solidFill>
              <a:srgbClr val="0D9488"/>
            </a:solidFill>
            <a:prstDash val="solid"/>
            <a:tailEnd type="triangle" w="med" len="med"/>
          </a:ln>
        </p:spPr>
        <p:txBody>
          <a:bodyPr/>
          <a:lstStyle/>
          <a:p>
            <a:endParaRPr lang="en-US"/>
          </a:p>
        </p:txBody>
      </p:sp>
      <p:sp>
        <p:nvSpPr>
          <p:cNvPr id="33" name="axis"/>
          <p:cNvSpPr/>
          <p:nvPr/>
        </p:nvSpPr>
        <p:spPr>
          <a:xfrm flipV="1">
            <a:off x="8850000" y="3192000"/>
            <a:ext cx="897600" cy="408000"/>
          </a:xfrm>
          <a:prstGeom prst="line">
            <a:avLst/>
          </a:prstGeom>
          <a:ln w="28892">
            <a:solidFill>
              <a:srgbClr val="0D9488"/>
            </a:solidFill>
            <a:prstDash val="dash"/>
          </a:ln>
        </p:spPr>
        <p:txBody>
          <a:bodyPr/>
          <a:lstStyle/>
          <a:p>
            <a:endParaRPr lang="en-US"/>
          </a:p>
        </p:txBody>
      </p:sp>
      <p:sp>
        <p:nvSpPr>
          <p:cNvPr id="34" name="dot"/>
          <p:cNvSpPr/>
          <p:nvPr/>
        </p:nvSpPr>
        <p:spPr>
          <a:xfrm>
            <a:off x="8811920" y="3561920"/>
            <a:ext cx="76160" cy="76160"/>
          </a:xfrm>
          <a:prstGeom prst="ellipse">
            <a:avLst/>
          </a:prstGeom>
          <a:solidFill>
            <a:srgbClr val="1F2937"/>
          </a:solidFill>
          <a:ln/>
        </p:spPr>
        <p:txBody>
          <a:bodyPr/>
          <a:lstStyle/>
          <a:p>
            <a:endParaRPr lang="en-US"/>
          </a:p>
        </p:txBody>
      </p:sp>
      <p:sp>
        <p:nvSpPr>
          <p:cNvPr id="35" name="Text 35"/>
          <p:cNvSpPr/>
          <p:nvPr/>
        </p:nvSpPr>
        <p:spPr>
          <a:xfrm>
            <a:off x="8570000" y="18724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|0⟩</a:t>
            </a:r>
          </a:p>
        </p:txBody>
      </p:sp>
      <p:sp>
        <p:nvSpPr>
          <p:cNvPr id="36" name="Text 36"/>
          <p:cNvSpPr/>
          <p:nvPr/>
        </p:nvSpPr>
        <p:spPr>
          <a:xfrm>
            <a:off x="8570000" y="50276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|1⟩</a:t>
            </a:r>
          </a:p>
        </p:txBody>
      </p:sp>
      <p:sp>
        <p:nvSpPr>
          <p:cNvPr id="37" name="Text 37"/>
          <p:cNvSpPr/>
          <p:nvPr/>
        </p:nvSpPr>
        <p:spPr>
          <a:xfrm>
            <a:off x="10147600" y="345000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38" name="Text 38"/>
          <p:cNvSpPr/>
          <p:nvPr/>
        </p:nvSpPr>
        <p:spPr>
          <a:xfrm>
            <a:off x="6952400" y="3450000"/>
            <a:ext cx="64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|−i⟩</a:t>
            </a:r>
          </a:p>
        </p:txBody>
      </p:sp>
      <p:sp>
        <p:nvSpPr>
          <p:cNvPr id="39" name="Text 39"/>
          <p:cNvSpPr/>
          <p:nvPr/>
        </p:nvSpPr>
        <p:spPr>
          <a:xfrm>
            <a:off x="7520080" y="401032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40" name="Text 40"/>
          <p:cNvSpPr/>
          <p:nvPr/>
        </p:nvSpPr>
        <p:spPr>
          <a:xfrm>
            <a:off x="9619920" y="2889680"/>
            <a:ext cx="560000" cy="300000"/>
          </a:xfrm>
          <a:prstGeom prst="rect">
            <a:avLst/>
          </a:prstGeom>
          <a:noFill/>
          <a:ln/>
        </p:spPr>
        <p:txBody>
          <a:bodyPr wrap="square" lIns="45720" tIns="0" rIns="45720" bIns="0" rtlCol="0" anchor="ctr"/>
          <a:lstStyle/>
          <a:p>
            <a:pPr marL="0" indent="0" algn="ctr">
              <a:buNone/>
            </a:pPr>
            <a:r>
              <a:rPr lang="en-US" sz="1300" b="1">
                <a:solidFill>
                  <a:srgbClr val="0D9488"/>
                </a:solidFill>
                <a:latin typeface="Cambria Math" pitchFamily="34" charset="0"/>
                <a:ea typeface="Cambria Math" pitchFamily="34" charset="-122"/>
                <a:cs typeface="Cambria Math" pitchFamily="34" charset="-120"/>
              </a:rPr>
              <a:t>|−⟩</a:t>
            </a:r>
          </a:p>
        </p:txBody>
      </p:sp>
      <p:sp>
        <p:nvSpPr>
          <p:cNvPr id="41" name="axis"/>
          <p:cNvSpPr/>
          <p:nvPr/>
        </p:nvSpPr>
        <p:spPr>
          <a:xfrm flipV="1">
            <a:off x="8850000" y="2974400"/>
            <a:ext cx="707200" cy="625600"/>
          </a:xfrm>
          <a:prstGeom prst="line">
            <a:avLst/>
          </a:prstGeom>
          <a:ln w="34925">
            <a:solidFill>
              <a:srgbClr val="1F2937"/>
            </a:solidFill>
            <a:prstDash val="solid"/>
            <a:tailEnd type="triangle" w="med" len="med"/>
          </a:ln>
        </p:spPr>
        <p:txBody>
          <a:bodyPr/>
          <a:lstStyle/>
          <a:p>
            <a:endParaRPr lang="en-US"/>
          </a:p>
        </p:txBody>
      </p:sp>
      <p:sp>
        <p:nvSpPr>
          <p:cNvPr id="42" name="dot"/>
          <p:cNvSpPr/>
          <p:nvPr/>
        </p:nvSpPr>
        <p:spPr>
          <a:xfrm>
            <a:off x="9491920" y="2909120"/>
            <a:ext cx="130560" cy="130560"/>
          </a:xfrm>
          <a:prstGeom prst="ellipse">
            <a:avLst/>
          </a:prstGeom>
          <a:solidFill>
            <a:srgbClr val="1F2937"/>
          </a:solidFill>
          <a:ln w="9525">
            <a:solidFill>
              <a:srgbClr val="FFFFFF"/>
            </a:solidFill>
            <a:prstDash val="solid"/>
          </a:ln>
        </p:spPr>
        <p:txBody>
          <a:bodyPr/>
          <a:lstStyle/>
          <a:p>
            <a:endParaRPr lang="en-US"/>
          </a:p>
        </p:txBody>
      </p:sp>
      <p:sp>
        <p:nvSpPr>
          <p:cNvPr id="43" name="Text 43"/>
          <p:cNvSpPr/>
          <p:nvPr/>
        </p:nvSpPr>
        <p:spPr>
          <a:xfrm>
            <a:off x="9407200" y="2734400"/>
            <a:ext cx="560000" cy="300000"/>
          </a:xfrm>
          <a:prstGeom prst="rect">
            <a:avLst/>
          </a:prstGeom>
          <a:noFill/>
          <a:ln/>
        </p:spPr>
        <p:txBody>
          <a:bodyPr wrap="square" lIns="45720" tIns="0" rIns="45720" bIns="0" rtlCol="0" anchor="ctr"/>
          <a:lstStyle/>
          <a:p>
            <a:pPr marL="0" indent="0" algn="ctr">
              <a:buNone/>
            </a:pPr>
            <a:r>
              <a:rPr lang="en-US" sz="1300" b="1">
                <a:solidFill>
                  <a:srgbClr val="1F2937"/>
                </a:solidFill>
                <a:latin typeface="Cambria Math" pitchFamily="34" charset="0"/>
                <a:ea typeface="Cambria Math" pitchFamily="34" charset="-122"/>
                <a:cs typeface="Cambria Math" pitchFamily="34" charset="-120"/>
              </a:rPr>
              <a:t>|ψ⟩</a:t>
            </a:r>
          </a:p>
        </p:txBody>
      </p:sp>
      <p:sp>
        <p:nvSpPr>
          <p:cNvPr id="44" name="axis"/>
          <p:cNvSpPr/>
          <p:nvPr/>
        </p:nvSpPr>
        <p:spPr>
          <a:xfrm>
            <a:off x="9557200" y="2974400"/>
            <a:ext cx="114120" cy="251944"/>
          </a:xfrm>
          <a:prstGeom prst="line">
            <a:avLst/>
          </a:prstGeom>
          <a:ln w="12700">
            <a:solidFill>
              <a:srgbClr val="0D9488"/>
            </a:solidFill>
            <a:prstDash val="sysDash"/>
          </a:ln>
        </p:spPr>
        <p:txBody>
          <a:bodyPr/>
          <a:lstStyle/>
          <a:p>
            <a:endParaRPr lang="en-US"/>
          </a:p>
        </p:txBody>
      </p:sp>
      <p:sp>
        <p:nvSpPr>
          <p:cNvPr id="45" name="dot"/>
          <p:cNvSpPr/>
          <p:nvPr/>
        </p:nvSpPr>
        <p:spPr>
          <a:xfrm>
            <a:off x="9603320" y="3158344"/>
            <a:ext cx="136000" cy="136000"/>
          </a:xfrm>
          <a:prstGeom prst="ellipse">
            <a:avLst/>
          </a:prstGeom>
          <a:solidFill>
            <a:srgbClr val="0D9488"/>
          </a:solidFill>
          <a:ln w="9525">
            <a:solidFill>
              <a:srgbClr val="FFFFFF"/>
            </a:solidFill>
            <a:prstDash val="solid"/>
          </a:ln>
        </p:spPr>
        <p:txBody>
          <a:bodyPr/>
          <a:lstStyle/>
          <a:p>
            <a:endParaRPr lang="en-US"/>
          </a:p>
        </p:txBody>
      </p:sp>
      <p:sp>
        <p:nvSpPr>
          <p:cNvPr id="46" name="Text 46"/>
          <p:cNvSpPr/>
          <p:nvPr/>
        </p:nvSpPr>
        <p:spPr>
          <a:xfrm>
            <a:off x="1250000" y="5380000"/>
            <a:ext cx="4200000" cy="280000"/>
          </a:xfrm>
          <a:prstGeom prst="rect">
            <a:avLst/>
          </a:prstGeom>
          <a:noFill/>
          <a:ln/>
        </p:spPr>
        <p:txBody>
          <a:bodyPr wrap="square" lIns="45720" tIns="0" rIns="45720" bIns="0" rtlCol="0" anchor="ctr"/>
          <a:lstStyle/>
          <a:p>
            <a:pPr marL="0" indent="0" algn="ctr">
              <a:buNone/>
            </a:pPr>
            <a:r>
              <a:rPr lang="en-US" sz="1250">
                <a:solidFill>
                  <a:srgbClr val="475569"/>
                </a:solidFill>
                <a:latin typeface="Calibri" pitchFamily="34" charset="0"/>
                <a:ea typeface="Calibri" pitchFamily="34" charset="-122"/>
                <a:cs typeface="Calibri" pitchFamily="34" charset="-120"/>
              </a:rPr>
              <a:t>Outcome: </a:t>
            </a:r>
            <a:r>
              <a:rPr lang="en-US" sz="1250">
                <a:solidFill>
                  <a:srgbClr val="3730A3"/>
                </a:solidFill>
                <a:latin typeface="Cambria Math" pitchFamily="34" charset="0"/>
                <a:ea typeface="Cambria Math" pitchFamily="34" charset="-122"/>
                <a:cs typeface="Cambria Math" pitchFamily="34" charset="-120"/>
              </a:rPr>
              <a:t>|0⟩</a:t>
            </a:r>
            <a:r>
              <a:rPr lang="en-US" sz="1250">
                <a:solidFill>
                  <a:srgbClr val="475569"/>
                </a:solidFill>
                <a:latin typeface="Calibri" pitchFamily="34" charset="0"/>
                <a:ea typeface="Calibri" pitchFamily="34" charset="-122"/>
                <a:cs typeface="Calibri" pitchFamily="34" charset="-120"/>
              </a:rPr>
              <a:t> or </a:t>
            </a:r>
            <a:r>
              <a:rPr lang="en-US" sz="1250">
                <a:solidFill>
                  <a:srgbClr val="3730A3"/>
                </a:solidFill>
                <a:latin typeface="Cambria Math" pitchFamily="34" charset="0"/>
                <a:ea typeface="Cambria Math" pitchFamily="34" charset="-122"/>
                <a:cs typeface="Cambria Math" pitchFamily="34" charset="-120"/>
              </a:rPr>
              <a:t>|1⟩</a:t>
            </a:r>
          </a:p>
        </p:txBody>
      </p:sp>
      <p:sp>
        <p:nvSpPr>
          <p:cNvPr id="47" name="Text 47"/>
          <p:cNvSpPr/>
          <p:nvPr/>
        </p:nvSpPr>
        <p:spPr>
          <a:xfrm>
            <a:off x="6750000" y="5380000"/>
            <a:ext cx="4200000" cy="280000"/>
          </a:xfrm>
          <a:prstGeom prst="rect">
            <a:avLst/>
          </a:prstGeom>
          <a:noFill/>
          <a:ln/>
        </p:spPr>
        <p:txBody>
          <a:bodyPr wrap="square" lIns="45720" tIns="0" rIns="45720" bIns="0" rtlCol="0" anchor="ctr"/>
          <a:lstStyle/>
          <a:p>
            <a:pPr marL="0" indent="0" algn="ctr">
              <a:buNone/>
            </a:pPr>
            <a:r>
              <a:rPr lang="en-US" sz="1250">
                <a:solidFill>
                  <a:srgbClr val="475569"/>
                </a:solidFill>
                <a:latin typeface="Calibri" pitchFamily="34" charset="0"/>
                <a:ea typeface="Calibri" pitchFamily="34" charset="-122"/>
                <a:cs typeface="Calibri" pitchFamily="34" charset="-120"/>
              </a:rPr>
              <a:t>Outcome: </a:t>
            </a:r>
            <a:r>
              <a:rPr lang="en-US" sz="1250">
                <a:solidFill>
                  <a:srgbClr val="0D9488"/>
                </a:solidFill>
                <a:latin typeface="Cambria Math" pitchFamily="34" charset="0"/>
                <a:ea typeface="Cambria Math" pitchFamily="34" charset="-122"/>
                <a:cs typeface="Cambria Math" pitchFamily="34" charset="-120"/>
              </a:rPr>
              <a:t>|+⟩</a:t>
            </a:r>
            <a:r>
              <a:rPr lang="en-US" sz="1250">
                <a:solidFill>
                  <a:srgbClr val="475569"/>
                </a:solidFill>
                <a:latin typeface="Calibri" pitchFamily="34" charset="0"/>
                <a:ea typeface="Calibri" pitchFamily="34" charset="-122"/>
                <a:cs typeface="Calibri" pitchFamily="34" charset="-120"/>
              </a:rPr>
              <a:t> or </a:t>
            </a:r>
            <a:r>
              <a:rPr lang="en-US" sz="1250">
                <a:solidFill>
                  <a:srgbClr val="0D9488"/>
                </a:solidFill>
                <a:latin typeface="Cambria Math" pitchFamily="34" charset="0"/>
                <a:ea typeface="Cambria Math" pitchFamily="34" charset="-122"/>
                <a:cs typeface="Cambria Math" pitchFamily="34" charset="-120"/>
              </a:rPr>
              <a:t>|−⟩</a:t>
            </a:r>
          </a:p>
        </p:txBody>
      </p:sp>
      <p:sp>
        <p:nvSpPr>
          <p:cNvPr id="48" name="band"/>
          <p:cNvSpPr/>
          <p:nvPr/>
        </p:nvSpPr>
        <p:spPr>
          <a:xfrm>
            <a:off x="731520" y="5760000"/>
            <a:ext cx="10728960" cy="540000"/>
          </a:xfrm>
          <a:prstGeom prst="roundRect">
            <a:avLst>
              <a:gd name="adj" fmla="val 9000"/>
            </a:avLst>
          </a:prstGeom>
          <a:solidFill>
            <a:srgbClr val="EEF2FF"/>
          </a:solidFill>
          <a:ln/>
        </p:spPr>
        <p:txBody>
          <a:bodyPr/>
          <a:lstStyle/>
          <a:p>
            <a:endParaRPr lang="en-US"/>
          </a:p>
        </p:txBody>
      </p:sp>
      <p:sp>
        <p:nvSpPr>
          <p:cNvPr id="49" name="Text 49"/>
          <p:cNvSpPr/>
          <p:nvPr/>
        </p:nvSpPr>
        <p:spPr>
          <a:xfrm>
            <a:off x="731520" y="5760000"/>
            <a:ext cx="10728960" cy="540000"/>
          </a:xfrm>
          <a:prstGeom prst="rect">
            <a:avLst/>
          </a:prstGeom>
          <a:noFill/>
          <a:ln/>
        </p:spPr>
        <p:txBody>
          <a:bodyPr wrap="square" lIns="45720" tIns="0" rIns="45720" bIns="0" rtlCol="0" anchor="ctr"/>
          <a:lstStyle/>
          <a:p>
            <a:pPr marL="0" indent="0" algn="ctr">
              <a:buNone/>
            </a:pPr>
            <a:r>
              <a:rPr lang="en-US" sz="1450" b="1">
                <a:solidFill>
                  <a:srgbClr val="3730A3"/>
                </a:solidFill>
                <a:latin typeface="Calibri" pitchFamily="34" charset="0"/>
                <a:ea typeface="Calibri" pitchFamily="34" charset="-122"/>
                <a:cs typeface="Calibri" pitchFamily="34" charset="-120"/>
              </a:rPr>
              <a:t>The measurement axis determines the possible outcomes — the state itself does not move.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Quantum Gates as Rotations</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phere"/>
          <p:cNvSpPr/>
          <p:nvPr/>
        </p:nvSpPr>
        <p:spPr>
          <a:xfrm>
            <a:off x="2330000" y="1740000"/>
            <a:ext cx="3640000" cy="3640000"/>
          </a:xfrm>
          <a:prstGeom prst="ellipse">
            <a:avLst/>
          </a:prstGeom>
          <a:solidFill>
            <a:srgbClr val="EEF2FF"/>
          </a:solidFill>
          <a:ln w="20320">
            <a:solidFill>
              <a:srgbClr val="3730A3"/>
            </a:solidFill>
            <a:prstDash val="solid"/>
          </a:ln>
        </p:spPr>
        <p:txBody>
          <a:bodyPr/>
          <a:lstStyle/>
          <a:p>
            <a:endParaRPr lang="en-US"/>
          </a:p>
        </p:txBody>
      </p:sp>
      <p:sp>
        <p:nvSpPr>
          <p:cNvPr id="5" name="equator"/>
          <p:cNvSpPr/>
          <p:nvPr/>
        </p:nvSpPr>
        <p:spPr>
          <a:xfrm>
            <a:off x="2330000" y="3014000"/>
            <a:ext cx="3640000" cy="1092000"/>
          </a:xfrm>
          <a:prstGeom prst="ellipse">
            <a:avLst/>
          </a:prstGeom>
          <a:noFill/>
          <a:ln w="11430">
            <a:solidFill>
              <a:srgbClr val="475569"/>
            </a:solidFill>
            <a:prstDash val="dash"/>
          </a:ln>
        </p:spPr>
        <p:txBody>
          <a:bodyPr/>
          <a:lstStyle/>
          <a:p>
            <a:endParaRPr lang="en-US"/>
          </a:p>
        </p:txBody>
      </p:sp>
      <p:sp>
        <p:nvSpPr>
          <p:cNvPr id="6" name="axis"/>
          <p:cNvSpPr/>
          <p:nvPr/>
        </p:nvSpPr>
        <p:spPr>
          <a:xfrm flipV="1">
            <a:off x="4150000" y="1740000"/>
            <a:ext cx="0" cy="1820000"/>
          </a:xfrm>
          <a:prstGeom prst="line">
            <a:avLst/>
          </a:prstGeom>
          <a:ln w="15875">
            <a:solidFill>
              <a:srgbClr val="475569"/>
            </a:solidFill>
            <a:prstDash val="solid"/>
            <a:tailEnd type="triangle" w="med" len="med"/>
          </a:ln>
        </p:spPr>
        <p:txBody>
          <a:bodyPr/>
          <a:lstStyle/>
          <a:p>
            <a:endParaRPr lang="en-US"/>
          </a:p>
        </p:txBody>
      </p:sp>
      <p:sp>
        <p:nvSpPr>
          <p:cNvPr id="7" name="axis"/>
          <p:cNvSpPr/>
          <p:nvPr/>
        </p:nvSpPr>
        <p:spPr>
          <a:xfrm>
            <a:off x="4150000" y="3560000"/>
            <a:ext cx="0" cy="1820000"/>
          </a:xfrm>
          <a:prstGeom prst="line">
            <a:avLst/>
          </a:prstGeom>
          <a:ln w="11112">
            <a:solidFill>
              <a:srgbClr val="475569"/>
            </a:solidFill>
            <a:prstDash val="dash"/>
          </a:ln>
        </p:spPr>
        <p:txBody>
          <a:bodyPr/>
          <a:lstStyle/>
          <a:p>
            <a:endParaRPr lang="en-US"/>
          </a:p>
        </p:txBody>
      </p:sp>
      <p:sp>
        <p:nvSpPr>
          <p:cNvPr id="8" name="axis"/>
          <p:cNvSpPr/>
          <p:nvPr/>
        </p:nvSpPr>
        <p:spPr>
          <a:xfrm>
            <a:off x="4150000" y="3560000"/>
            <a:ext cx="1820000" cy="0"/>
          </a:xfrm>
          <a:prstGeom prst="line">
            <a:avLst/>
          </a:prstGeom>
          <a:ln w="15875">
            <a:solidFill>
              <a:srgbClr val="475569"/>
            </a:solidFill>
            <a:prstDash val="solid"/>
            <a:tailEnd type="triangle" w="med" len="med"/>
          </a:ln>
        </p:spPr>
        <p:txBody>
          <a:bodyPr/>
          <a:lstStyle/>
          <a:p>
            <a:endParaRPr lang="en-US"/>
          </a:p>
        </p:txBody>
      </p:sp>
      <p:sp>
        <p:nvSpPr>
          <p:cNvPr id="9" name="axis"/>
          <p:cNvSpPr/>
          <p:nvPr/>
        </p:nvSpPr>
        <p:spPr>
          <a:xfrm flipV="1">
            <a:off x="2330000" y="3560000"/>
            <a:ext cx="1820000" cy="0"/>
          </a:xfrm>
          <a:prstGeom prst="line">
            <a:avLst/>
          </a:prstGeom>
          <a:ln w="11112">
            <a:solidFill>
              <a:srgbClr val="475569"/>
            </a:solidFill>
            <a:prstDash val="dash"/>
          </a:ln>
        </p:spPr>
        <p:txBody>
          <a:bodyPr/>
          <a:lstStyle/>
          <a:p>
            <a:endParaRPr lang="en-US"/>
          </a:p>
        </p:txBody>
      </p:sp>
      <p:sp>
        <p:nvSpPr>
          <p:cNvPr id="10" name="axis"/>
          <p:cNvSpPr/>
          <p:nvPr/>
        </p:nvSpPr>
        <p:spPr>
          <a:xfrm flipV="1">
            <a:off x="2948800" y="3560000"/>
            <a:ext cx="1201200" cy="546000"/>
          </a:xfrm>
          <a:prstGeom prst="line">
            <a:avLst/>
          </a:prstGeom>
          <a:ln w="15875">
            <a:solidFill>
              <a:srgbClr val="475569"/>
            </a:solidFill>
            <a:prstDash val="solid"/>
            <a:tailEnd type="triangle" w="med" len="med"/>
          </a:ln>
        </p:spPr>
        <p:txBody>
          <a:bodyPr/>
          <a:lstStyle/>
          <a:p>
            <a:endParaRPr lang="en-US"/>
          </a:p>
        </p:txBody>
      </p:sp>
      <p:sp>
        <p:nvSpPr>
          <p:cNvPr id="11" name="axis"/>
          <p:cNvSpPr/>
          <p:nvPr/>
        </p:nvSpPr>
        <p:spPr>
          <a:xfrm flipV="1">
            <a:off x="4150000" y="3014000"/>
            <a:ext cx="1201200" cy="546000"/>
          </a:xfrm>
          <a:prstGeom prst="line">
            <a:avLst/>
          </a:prstGeom>
          <a:ln w="11112">
            <a:solidFill>
              <a:srgbClr val="475569"/>
            </a:solidFill>
            <a:prstDash val="dash"/>
          </a:ln>
        </p:spPr>
        <p:txBody>
          <a:bodyPr/>
          <a:lstStyle/>
          <a:p>
            <a:endParaRPr lang="en-US"/>
          </a:p>
        </p:txBody>
      </p:sp>
      <p:sp>
        <p:nvSpPr>
          <p:cNvPr id="12" name="dot"/>
          <p:cNvSpPr/>
          <p:nvPr/>
        </p:nvSpPr>
        <p:spPr>
          <a:xfrm>
            <a:off x="4099040" y="3509040"/>
            <a:ext cx="101920" cy="101920"/>
          </a:xfrm>
          <a:prstGeom prst="ellipse">
            <a:avLst/>
          </a:prstGeom>
          <a:solidFill>
            <a:srgbClr val="1F2937"/>
          </a:solidFill>
          <a:ln/>
        </p:spPr>
        <p:txBody>
          <a:bodyPr/>
          <a:lstStyle/>
          <a:p>
            <a:endParaRPr lang="en-US"/>
          </a:p>
        </p:txBody>
      </p:sp>
      <p:sp>
        <p:nvSpPr>
          <p:cNvPr id="13" name="Text 13"/>
          <p:cNvSpPr/>
          <p:nvPr/>
        </p:nvSpPr>
        <p:spPr>
          <a:xfrm>
            <a:off x="3870000" y="1298800"/>
            <a:ext cx="560000" cy="30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mbria Math" pitchFamily="34" charset="0"/>
                <a:ea typeface="Cambria Math" pitchFamily="34" charset="-122"/>
                <a:cs typeface="Cambria Math" pitchFamily="34" charset="-120"/>
              </a:rPr>
              <a:t>|0⟩</a:t>
            </a:r>
          </a:p>
        </p:txBody>
      </p:sp>
      <p:sp>
        <p:nvSpPr>
          <p:cNvPr id="14" name="Text 14"/>
          <p:cNvSpPr/>
          <p:nvPr/>
        </p:nvSpPr>
        <p:spPr>
          <a:xfrm>
            <a:off x="3870000" y="5521200"/>
            <a:ext cx="560000" cy="30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mbria Math" pitchFamily="34" charset="0"/>
                <a:ea typeface="Cambria Math" pitchFamily="34" charset="-122"/>
                <a:cs typeface="Cambria Math" pitchFamily="34" charset="-120"/>
              </a:rPr>
              <a:t>|1⟩</a:t>
            </a:r>
          </a:p>
        </p:txBody>
      </p:sp>
      <p:sp>
        <p:nvSpPr>
          <p:cNvPr id="15" name="Text 15"/>
          <p:cNvSpPr/>
          <p:nvPr/>
        </p:nvSpPr>
        <p:spPr>
          <a:xfrm>
            <a:off x="5981200" y="3410000"/>
            <a:ext cx="560000" cy="30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mbria Math" pitchFamily="34" charset="0"/>
                <a:ea typeface="Cambria Math" pitchFamily="34" charset="-122"/>
                <a:cs typeface="Cambria Math" pitchFamily="34" charset="-120"/>
              </a:rPr>
              <a:t>|i⟩</a:t>
            </a:r>
          </a:p>
        </p:txBody>
      </p:sp>
      <p:sp>
        <p:nvSpPr>
          <p:cNvPr id="16" name="Text 16"/>
          <p:cNvSpPr/>
          <p:nvPr/>
        </p:nvSpPr>
        <p:spPr>
          <a:xfrm>
            <a:off x="1718800" y="3410000"/>
            <a:ext cx="640000" cy="30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mbria Math" pitchFamily="34" charset="0"/>
                <a:ea typeface="Cambria Math" pitchFamily="34" charset="-122"/>
                <a:cs typeface="Cambria Math" pitchFamily="34" charset="-120"/>
              </a:rPr>
              <a:t>|−i⟩</a:t>
            </a:r>
          </a:p>
        </p:txBody>
      </p:sp>
      <p:sp>
        <p:nvSpPr>
          <p:cNvPr id="17" name="Text 17"/>
          <p:cNvSpPr/>
          <p:nvPr/>
        </p:nvSpPr>
        <p:spPr>
          <a:xfrm>
            <a:off x="2464960" y="4159840"/>
            <a:ext cx="560000" cy="30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mbria Math" pitchFamily="34" charset="0"/>
                <a:ea typeface="Cambria Math" pitchFamily="34" charset="-122"/>
                <a:cs typeface="Cambria Math" pitchFamily="34" charset="-120"/>
              </a:rPr>
              <a:t>|+⟩</a:t>
            </a:r>
          </a:p>
        </p:txBody>
      </p:sp>
      <p:sp>
        <p:nvSpPr>
          <p:cNvPr id="18" name="Text 18"/>
          <p:cNvSpPr/>
          <p:nvPr/>
        </p:nvSpPr>
        <p:spPr>
          <a:xfrm>
            <a:off x="5275040" y="2660160"/>
            <a:ext cx="560000" cy="30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mbria Math" pitchFamily="34" charset="0"/>
                <a:ea typeface="Cambria Math" pitchFamily="34" charset="-122"/>
                <a:cs typeface="Cambria Math" pitchFamily="34" charset="-120"/>
              </a:rPr>
              <a:t>|−⟩</a:t>
            </a:r>
          </a:p>
        </p:txBody>
      </p:sp>
      <p:sp>
        <p:nvSpPr>
          <p:cNvPr id="19" name="axis"/>
          <p:cNvSpPr/>
          <p:nvPr/>
        </p:nvSpPr>
        <p:spPr>
          <a:xfrm>
            <a:off x="4150000" y="3560000"/>
            <a:ext cx="0" cy="0"/>
          </a:xfrm>
          <a:prstGeom prst="line">
            <a:avLst/>
          </a:prstGeom>
          <a:ln w="34925">
            <a:solidFill>
              <a:srgbClr val="FFFFFF"/>
            </a:solidFill>
            <a:prstDash val="solid"/>
            <a:tailEnd type="triangle" w="med" len="med"/>
          </a:ln>
        </p:spPr>
        <p:txBody>
          <a:bodyPr/>
          <a:lstStyle/>
          <a:p>
            <a:endParaRPr lang="en-US"/>
          </a:p>
        </p:txBody>
      </p:sp>
      <p:sp>
        <p:nvSpPr>
          <p:cNvPr id="20" name="dot"/>
          <p:cNvSpPr/>
          <p:nvPr/>
        </p:nvSpPr>
        <p:spPr>
          <a:xfrm>
            <a:off x="4062640" y="3472640"/>
            <a:ext cx="174720" cy="174720"/>
          </a:xfrm>
          <a:prstGeom prst="ellipse">
            <a:avLst/>
          </a:prstGeom>
          <a:solidFill>
            <a:srgbClr val="FFFFFF"/>
          </a:solidFill>
          <a:ln w="9525">
            <a:solidFill>
              <a:srgbClr val="FFFFFF"/>
            </a:solidFill>
            <a:prstDash val="solid"/>
          </a:ln>
        </p:spPr>
        <p:txBody>
          <a:bodyPr/>
          <a:lstStyle/>
          <a:p>
            <a:endParaRPr lang="en-US"/>
          </a:p>
        </p:txBody>
      </p:sp>
      <p:sp>
        <p:nvSpPr>
          <p:cNvPr id="21" name="arc"/>
          <p:cNvSpPr/>
          <p:nvPr/>
        </p:nvSpPr>
        <p:spPr>
          <a:xfrm>
            <a:off x="2603000" y="2067600"/>
            <a:ext cx="2002000" cy="2620800"/>
          </a:xfrm>
          <a:prstGeom prst="arc">
            <a:avLst>
              <a:gd name="adj1" fmla="val 18000000"/>
              <a:gd name="adj2" fmla="val 6600000"/>
            </a:avLst>
          </a:prstGeom>
          <a:noFill/>
          <a:ln w="28575">
            <a:solidFill>
              <a:srgbClr val="3730A3"/>
            </a:solidFill>
            <a:tailEnd type="triangle" w="med" len="med"/>
          </a:ln>
        </p:spPr>
        <p:txBody>
          <a:bodyPr/>
          <a:lstStyle/>
          <a:p>
            <a:endParaRPr lang="en-US"/>
          </a:p>
        </p:txBody>
      </p:sp>
      <p:sp>
        <p:nvSpPr>
          <p:cNvPr id="22" name="dot"/>
          <p:cNvSpPr/>
          <p:nvPr/>
        </p:nvSpPr>
        <p:spPr>
          <a:xfrm>
            <a:off x="4059000" y="1649000"/>
            <a:ext cx="182000" cy="182000"/>
          </a:xfrm>
          <a:prstGeom prst="ellipse">
            <a:avLst/>
          </a:prstGeom>
          <a:solidFill>
            <a:srgbClr val="3730A3"/>
          </a:solidFill>
          <a:ln w="9525">
            <a:solidFill>
              <a:srgbClr val="FFFFFF"/>
            </a:solidFill>
            <a:prstDash val="solid"/>
          </a:ln>
        </p:spPr>
        <p:txBody>
          <a:bodyPr/>
          <a:lstStyle/>
          <a:p>
            <a:endParaRPr lang="en-US"/>
          </a:p>
        </p:txBody>
      </p:sp>
      <p:sp>
        <p:nvSpPr>
          <p:cNvPr id="23" name="axis"/>
          <p:cNvSpPr/>
          <p:nvPr/>
        </p:nvSpPr>
        <p:spPr>
          <a:xfrm flipV="1">
            <a:off x="3149000" y="3560000"/>
            <a:ext cx="1001000" cy="473200"/>
          </a:xfrm>
          <a:prstGeom prst="line">
            <a:avLst/>
          </a:prstGeom>
          <a:ln w="34925">
            <a:solidFill>
              <a:srgbClr val="0D9488"/>
            </a:solidFill>
            <a:prstDash val="solid"/>
            <a:tailEnd type="triangle" w="med" len="med"/>
          </a:ln>
        </p:spPr>
        <p:txBody>
          <a:bodyPr/>
          <a:lstStyle/>
          <a:p>
            <a:endParaRPr lang="en-US"/>
          </a:p>
        </p:txBody>
      </p:sp>
      <p:sp>
        <p:nvSpPr>
          <p:cNvPr id="24" name="dot"/>
          <p:cNvSpPr/>
          <p:nvPr/>
        </p:nvSpPr>
        <p:spPr>
          <a:xfrm>
            <a:off x="3058000" y="3942200"/>
            <a:ext cx="182000" cy="182000"/>
          </a:xfrm>
          <a:prstGeom prst="ellipse">
            <a:avLst/>
          </a:prstGeom>
          <a:solidFill>
            <a:srgbClr val="0D9488"/>
          </a:solidFill>
          <a:ln w="9525">
            <a:solidFill>
              <a:srgbClr val="FFFFFF"/>
            </a:solidFill>
            <a:prstDash val="solid"/>
          </a:ln>
        </p:spPr>
        <p:txBody>
          <a:bodyPr/>
          <a:lstStyle/>
          <a:p>
            <a:endParaRPr lang="en-US"/>
          </a:p>
        </p:txBody>
      </p:sp>
      <p:sp>
        <p:nvSpPr>
          <p:cNvPr id="25" name="Text 25"/>
          <p:cNvSpPr/>
          <p:nvPr/>
        </p:nvSpPr>
        <p:spPr>
          <a:xfrm>
            <a:off x="4064000" y="2318000"/>
            <a:ext cx="900000" cy="300000"/>
          </a:xfrm>
          <a:prstGeom prst="rect">
            <a:avLst/>
          </a:prstGeom>
          <a:noFill/>
          <a:ln/>
        </p:spPr>
        <p:txBody>
          <a:bodyPr wrap="square" lIns="45720" tIns="0" rIns="45720" bIns="0" rtlCol="0" anchor="ctr"/>
          <a:lstStyle/>
          <a:p>
            <a:pPr marL="0" indent="0" algn="ctr">
              <a:buNone/>
            </a:pPr>
            <a:r>
              <a:rPr lang="en-US" sz="1150" b="1">
                <a:solidFill>
                  <a:srgbClr val="3730A3"/>
                </a:solidFill>
                <a:latin typeface="Calibri" pitchFamily="34" charset="0"/>
                <a:ea typeface="Calibri" pitchFamily="34" charset="-122"/>
                <a:cs typeface="Calibri" pitchFamily="34" charset="-120"/>
              </a:rPr>
              <a:t>initial</a:t>
            </a:r>
          </a:p>
        </p:txBody>
      </p:sp>
      <p:sp>
        <p:nvSpPr>
          <p:cNvPr id="26" name="Text 26"/>
          <p:cNvSpPr/>
          <p:nvPr/>
        </p:nvSpPr>
        <p:spPr>
          <a:xfrm>
            <a:off x="2567000" y="4356400"/>
            <a:ext cx="800000" cy="300000"/>
          </a:xfrm>
          <a:prstGeom prst="rect">
            <a:avLst/>
          </a:prstGeom>
          <a:noFill/>
          <a:ln/>
        </p:spPr>
        <p:txBody>
          <a:bodyPr wrap="square" lIns="45720" tIns="0" rIns="45720" bIns="0" rtlCol="0" anchor="ctr"/>
          <a:lstStyle/>
          <a:p>
            <a:pPr marL="0" indent="0" algn="ctr">
              <a:buNone/>
            </a:pPr>
            <a:r>
              <a:rPr lang="en-US" sz="1150" b="1">
                <a:solidFill>
                  <a:srgbClr val="0D9488"/>
                </a:solidFill>
                <a:latin typeface="Calibri" pitchFamily="34" charset="0"/>
                <a:ea typeface="Calibri" pitchFamily="34" charset="-122"/>
                <a:cs typeface="Calibri" pitchFamily="34" charset="-120"/>
              </a:rPr>
              <a:t>final</a:t>
            </a:r>
          </a:p>
        </p:txBody>
      </p:sp>
      <p:sp>
        <p:nvSpPr>
          <p:cNvPr id="27" name="Text 27"/>
          <p:cNvSpPr/>
          <p:nvPr/>
        </p:nvSpPr>
        <p:spPr>
          <a:xfrm>
            <a:off x="6900000" y="1620000"/>
            <a:ext cx="4400000" cy="320000"/>
          </a:xfrm>
          <a:prstGeom prst="rect">
            <a:avLst/>
          </a:prstGeom>
          <a:noFill/>
          <a:ln/>
        </p:spPr>
        <p:txBody>
          <a:bodyPr wrap="square" lIns="45720" tIns="0" rIns="45720" bIns="0" rtlCol="0" anchor="ctr"/>
          <a:lstStyle/>
          <a:p>
            <a:pPr marL="0" indent="0" algn="l">
              <a:buNone/>
            </a:pPr>
            <a:r>
              <a:rPr lang="en-US" sz="1400" b="1">
                <a:solidFill>
                  <a:srgbClr val="3730A3"/>
                </a:solidFill>
                <a:latin typeface="Calibri" pitchFamily="34" charset="0"/>
                <a:ea typeface="Calibri" pitchFamily="34" charset="-122"/>
                <a:cs typeface="Calibri" pitchFamily="34" charset="-120"/>
              </a:rPr>
              <a:t>Initial state</a:t>
            </a:r>
            <a:r>
              <a:rPr lang="en-US" sz="1300">
                <a:solidFill>
                  <a:srgbClr val="475569"/>
                </a:solidFill>
                <a:latin typeface="Calibri" pitchFamily="34" charset="0"/>
                <a:ea typeface="Calibri" pitchFamily="34" charset="-122"/>
                <a:cs typeface="Calibri" pitchFamily="34" charset="-120"/>
              </a:rPr>
              <a:t>  →  rotation  →  </a:t>
            </a:r>
            <a:r>
              <a:rPr lang="en-US" sz="1400" b="1">
                <a:solidFill>
                  <a:srgbClr val="0D9488"/>
                </a:solidFill>
                <a:latin typeface="Calibri" pitchFamily="34" charset="0"/>
                <a:ea typeface="Calibri" pitchFamily="34" charset="-122"/>
                <a:cs typeface="Calibri" pitchFamily="34" charset="-120"/>
              </a:rPr>
              <a:t>final state</a:t>
            </a:r>
          </a:p>
        </p:txBody>
      </p:sp>
      <p:sp>
        <p:nvSpPr>
          <p:cNvPr id="28" name="band"/>
          <p:cNvSpPr/>
          <p:nvPr/>
        </p:nvSpPr>
        <p:spPr>
          <a:xfrm>
            <a:off x="6900000" y="2140000"/>
            <a:ext cx="4400000" cy="7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29" name="arc"/>
          <p:cNvSpPr/>
          <p:nvPr/>
        </p:nvSpPr>
        <p:spPr>
          <a:xfrm>
            <a:off x="7110000" y="2380000"/>
            <a:ext cx="440000" cy="280000"/>
          </a:xfrm>
          <a:prstGeom prst="arc">
            <a:avLst>
              <a:gd name="adj1" fmla="val 12000000"/>
              <a:gd name="adj2" fmla="val 14400000"/>
            </a:avLst>
          </a:prstGeom>
          <a:noFill/>
          <a:ln w="22225">
            <a:solidFill>
              <a:srgbClr val="0D9488"/>
            </a:solidFill>
            <a:tailEnd type="triangle" w="med" len="med"/>
          </a:ln>
        </p:spPr>
        <p:txBody>
          <a:bodyPr/>
          <a:lstStyle/>
          <a:p>
            <a:endParaRPr lang="en-US"/>
          </a:p>
        </p:txBody>
      </p:sp>
      <p:sp>
        <p:nvSpPr>
          <p:cNvPr id="30" name="Text 30"/>
          <p:cNvSpPr/>
          <p:nvPr/>
        </p:nvSpPr>
        <p:spPr>
          <a:xfrm>
            <a:off x="7720000" y="2140000"/>
            <a:ext cx="3500000" cy="760000"/>
          </a:xfrm>
          <a:prstGeom prst="rect">
            <a:avLst/>
          </a:prstGeom>
          <a:noFill/>
          <a:ln/>
        </p:spPr>
        <p:txBody>
          <a:bodyPr wrap="square" lIns="45720" tIns="0" rIns="45720" bIns="0" rtlCol="0" anchor="ctr"/>
          <a:lstStyle/>
          <a:p>
            <a:pPr marL="0" indent="0" algn="l">
              <a:buNone/>
            </a:pPr>
            <a:r>
              <a:rPr lang="en-US" sz="1450" b="1">
                <a:solidFill>
                  <a:srgbClr val="0D9488"/>
                </a:solidFill>
                <a:latin typeface="Calibri" pitchFamily="34" charset="0"/>
                <a:ea typeface="Calibri" pitchFamily="34" charset="-122"/>
                <a:cs typeface="Calibri" pitchFamily="34" charset="-120"/>
              </a:rPr>
              <a:t>Rotation about X-axis</a:t>
            </a:r>
          </a:p>
        </p:txBody>
      </p:sp>
      <p:sp>
        <p:nvSpPr>
          <p:cNvPr id="31" name="band"/>
          <p:cNvSpPr/>
          <p:nvPr/>
        </p:nvSpPr>
        <p:spPr>
          <a:xfrm>
            <a:off x="6900000" y="3080000"/>
            <a:ext cx="4400000" cy="7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32" name="arc"/>
          <p:cNvSpPr/>
          <p:nvPr/>
        </p:nvSpPr>
        <p:spPr>
          <a:xfrm>
            <a:off x="7110000" y="3320000"/>
            <a:ext cx="440000" cy="280000"/>
          </a:xfrm>
          <a:prstGeom prst="arc">
            <a:avLst>
              <a:gd name="adj1" fmla="val 12000000"/>
              <a:gd name="adj2" fmla="val 14400000"/>
            </a:avLst>
          </a:prstGeom>
          <a:noFill/>
          <a:ln w="22225">
            <a:solidFill>
              <a:srgbClr val="B45309"/>
            </a:solidFill>
            <a:tailEnd type="triangle" w="med" len="med"/>
          </a:ln>
        </p:spPr>
        <p:txBody>
          <a:bodyPr/>
          <a:lstStyle/>
          <a:p>
            <a:endParaRPr lang="en-US"/>
          </a:p>
        </p:txBody>
      </p:sp>
      <p:sp>
        <p:nvSpPr>
          <p:cNvPr id="33" name="Text 33"/>
          <p:cNvSpPr/>
          <p:nvPr/>
        </p:nvSpPr>
        <p:spPr>
          <a:xfrm>
            <a:off x="7720000" y="3080000"/>
            <a:ext cx="3500000" cy="760000"/>
          </a:xfrm>
          <a:prstGeom prst="rect">
            <a:avLst/>
          </a:prstGeom>
          <a:noFill/>
          <a:ln/>
        </p:spPr>
        <p:txBody>
          <a:bodyPr wrap="square" lIns="45720" tIns="0" rIns="45720" bIns="0" rtlCol="0" anchor="ctr"/>
          <a:lstStyle/>
          <a:p>
            <a:pPr marL="0" indent="0" algn="l">
              <a:buNone/>
            </a:pPr>
            <a:r>
              <a:rPr lang="en-US" sz="1450" b="1">
                <a:solidFill>
                  <a:srgbClr val="B45309"/>
                </a:solidFill>
                <a:latin typeface="Calibri" pitchFamily="34" charset="0"/>
                <a:ea typeface="Calibri" pitchFamily="34" charset="-122"/>
                <a:cs typeface="Calibri" pitchFamily="34" charset="-120"/>
              </a:rPr>
              <a:t>Rotation about Y-axis</a:t>
            </a:r>
          </a:p>
        </p:txBody>
      </p:sp>
      <p:sp>
        <p:nvSpPr>
          <p:cNvPr id="34" name="band"/>
          <p:cNvSpPr/>
          <p:nvPr/>
        </p:nvSpPr>
        <p:spPr>
          <a:xfrm>
            <a:off x="6900000" y="4020000"/>
            <a:ext cx="4400000" cy="7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35" name="arc"/>
          <p:cNvSpPr/>
          <p:nvPr/>
        </p:nvSpPr>
        <p:spPr>
          <a:xfrm>
            <a:off x="7110000" y="4260000"/>
            <a:ext cx="440000" cy="280000"/>
          </a:xfrm>
          <a:prstGeom prst="arc">
            <a:avLst>
              <a:gd name="adj1" fmla="val 12000000"/>
              <a:gd name="adj2" fmla="val 14400000"/>
            </a:avLst>
          </a:prstGeom>
          <a:noFill/>
          <a:ln w="22225">
            <a:solidFill>
              <a:srgbClr val="3730A3"/>
            </a:solidFill>
            <a:tailEnd type="triangle" w="med" len="med"/>
          </a:ln>
        </p:spPr>
        <p:txBody>
          <a:bodyPr/>
          <a:lstStyle/>
          <a:p>
            <a:endParaRPr lang="en-US"/>
          </a:p>
        </p:txBody>
      </p:sp>
      <p:sp>
        <p:nvSpPr>
          <p:cNvPr id="36" name="Text 36"/>
          <p:cNvSpPr/>
          <p:nvPr/>
        </p:nvSpPr>
        <p:spPr>
          <a:xfrm>
            <a:off x="7720000" y="4020000"/>
            <a:ext cx="3500000" cy="760000"/>
          </a:xfrm>
          <a:prstGeom prst="rect">
            <a:avLst/>
          </a:prstGeom>
          <a:noFill/>
          <a:ln/>
        </p:spPr>
        <p:txBody>
          <a:bodyPr wrap="square" lIns="45720" tIns="0" rIns="45720" bIns="0" rtlCol="0" anchor="ctr"/>
          <a:lstStyle/>
          <a:p>
            <a:pPr marL="0" indent="0" algn="l">
              <a:buNone/>
            </a:pPr>
            <a:r>
              <a:rPr lang="en-US" sz="1450" b="1">
                <a:solidFill>
                  <a:srgbClr val="3730A3"/>
                </a:solidFill>
                <a:latin typeface="Calibri" pitchFamily="34" charset="0"/>
                <a:ea typeface="Calibri" pitchFamily="34" charset="-122"/>
                <a:cs typeface="Calibri" pitchFamily="34" charset="-120"/>
              </a:rPr>
              <a:t>Rotation about Z-axis</a:t>
            </a:r>
          </a:p>
        </p:txBody>
      </p:sp>
      <p:sp>
        <p:nvSpPr>
          <p:cNvPr id="37" name="band"/>
          <p:cNvSpPr/>
          <p:nvPr/>
        </p:nvSpPr>
        <p:spPr>
          <a:xfrm>
            <a:off x="731520" y="5560000"/>
            <a:ext cx="10728960" cy="540000"/>
          </a:xfrm>
          <a:prstGeom prst="roundRect">
            <a:avLst>
              <a:gd name="adj" fmla="val 9000"/>
            </a:avLst>
          </a:prstGeom>
          <a:solidFill>
            <a:srgbClr val="EEF2FF"/>
          </a:solidFill>
          <a:ln/>
        </p:spPr>
        <p:txBody>
          <a:bodyPr/>
          <a:lstStyle/>
          <a:p>
            <a:endParaRPr lang="en-US"/>
          </a:p>
        </p:txBody>
      </p:sp>
      <p:sp>
        <p:nvSpPr>
          <p:cNvPr id="38" name="Text 38"/>
          <p:cNvSpPr/>
          <p:nvPr/>
        </p:nvSpPr>
        <p:spPr>
          <a:xfrm>
            <a:off x="731520" y="5560000"/>
            <a:ext cx="10728960" cy="54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Single-qubit gates correspond to rotations of the Bloch vector.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Changing Basis vs Rotating the State</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1000000" y="1560000"/>
            <a:ext cx="4400000" cy="30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Rotate the state</a:t>
            </a:r>
          </a:p>
        </p:txBody>
      </p:sp>
      <p:sp>
        <p:nvSpPr>
          <p:cNvPr id="5" name="Text 5"/>
          <p:cNvSpPr/>
          <p:nvPr/>
        </p:nvSpPr>
        <p:spPr>
          <a:xfrm>
            <a:off x="1000000" y="1840000"/>
            <a:ext cx="4400000" cy="280000"/>
          </a:xfrm>
          <a:prstGeom prst="rect">
            <a:avLst/>
          </a:prstGeom>
          <a:noFill/>
          <a:ln/>
        </p:spPr>
        <p:txBody>
          <a:bodyPr wrap="square" lIns="45720" tIns="0" rIns="4572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axes remain fixed</a:t>
            </a:r>
          </a:p>
        </p:txBody>
      </p:sp>
      <p:sp>
        <p:nvSpPr>
          <p:cNvPr id="6" name="Text 6"/>
          <p:cNvSpPr/>
          <p:nvPr/>
        </p:nvSpPr>
        <p:spPr>
          <a:xfrm>
            <a:off x="6750000" y="1560000"/>
            <a:ext cx="4400000" cy="30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Rotate the axes</a:t>
            </a:r>
          </a:p>
        </p:txBody>
      </p:sp>
      <p:sp>
        <p:nvSpPr>
          <p:cNvPr id="7" name="Text 7"/>
          <p:cNvSpPr/>
          <p:nvPr/>
        </p:nvSpPr>
        <p:spPr>
          <a:xfrm>
            <a:off x="6750000" y="1840000"/>
            <a:ext cx="4400000" cy="280000"/>
          </a:xfrm>
          <a:prstGeom prst="rect">
            <a:avLst/>
          </a:prstGeom>
          <a:noFill/>
          <a:ln/>
        </p:spPr>
        <p:txBody>
          <a:bodyPr wrap="square" lIns="45720" tIns="0" rIns="4572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state remains fixed</a:t>
            </a:r>
          </a:p>
        </p:txBody>
      </p:sp>
      <p:sp>
        <p:nvSpPr>
          <p:cNvPr id="8" name="sphere"/>
          <p:cNvSpPr/>
          <p:nvPr/>
        </p:nvSpPr>
        <p:spPr>
          <a:xfrm>
            <a:off x="1870000" y="2530000"/>
            <a:ext cx="2660000" cy="2660000"/>
          </a:xfrm>
          <a:prstGeom prst="ellipse">
            <a:avLst/>
          </a:prstGeom>
          <a:solidFill>
            <a:srgbClr val="EEF2FF"/>
          </a:solidFill>
          <a:ln w="20320">
            <a:solidFill>
              <a:srgbClr val="3730A3"/>
            </a:solidFill>
            <a:prstDash val="solid"/>
          </a:ln>
        </p:spPr>
        <p:txBody>
          <a:bodyPr/>
          <a:lstStyle/>
          <a:p>
            <a:endParaRPr lang="en-US"/>
          </a:p>
        </p:txBody>
      </p:sp>
      <p:sp>
        <p:nvSpPr>
          <p:cNvPr id="9" name="equator"/>
          <p:cNvSpPr/>
          <p:nvPr/>
        </p:nvSpPr>
        <p:spPr>
          <a:xfrm>
            <a:off x="1870000" y="3461000"/>
            <a:ext cx="2660000" cy="798000"/>
          </a:xfrm>
          <a:prstGeom prst="ellipse">
            <a:avLst/>
          </a:prstGeom>
          <a:noFill/>
          <a:ln w="11430">
            <a:solidFill>
              <a:srgbClr val="475569"/>
            </a:solidFill>
            <a:prstDash val="dash"/>
          </a:ln>
        </p:spPr>
        <p:txBody>
          <a:bodyPr/>
          <a:lstStyle/>
          <a:p>
            <a:endParaRPr lang="en-US"/>
          </a:p>
        </p:txBody>
      </p:sp>
      <p:sp>
        <p:nvSpPr>
          <p:cNvPr id="10" name="axis"/>
          <p:cNvSpPr/>
          <p:nvPr/>
        </p:nvSpPr>
        <p:spPr>
          <a:xfrm flipV="1">
            <a:off x="3200000" y="2530000"/>
            <a:ext cx="0" cy="2660000"/>
          </a:xfrm>
          <a:prstGeom prst="line">
            <a:avLst/>
          </a:prstGeom>
          <a:ln w="9525">
            <a:solidFill>
              <a:srgbClr val="C7CBD1"/>
            </a:solidFill>
            <a:prstDash val="solid"/>
          </a:ln>
        </p:spPr>
        <p:txBody>
          <a:bodyPr/>
          <a:lstStyle/>
          <a:p>
            <a:endParaRPr lang="en-US"/>
          </a:p>
        </p:txBody>
      </p:sp>
      <p:sp>
        <p:nvSpPr>
          <p:cNvPr id="11" name="axis"/>
          <p:cNvSpPr/>
          <p:nvPr/>
        </p:nvSpPr>
        <p:spPr>
          <a:xfrm>
            <a:off x="1870000" y="3860000"/>
            <a:ext cx="2660000" cy="0"/>
          </a:xfrm>
          <a:prstGeom prst="line">
            <a:avLst/>
          </a:prstGeom>
          <a:ln w="9525">
            <a:solidFill>
              <a:srgbClr val="C7CBD1"/>
            </a:solidFill>
            <a:prstDash val="solid"/>
          </a:ln>
        </p:spPr>
        <p:txBody>
          <a:bodyPr/>
          <a:lstStyle/>
          <a:p>
            <a:endParaRPr lang="en-US"/>
          </a:p>
        </p:txBody>
      </p:sp>
      <p:sp>
        <p:nvSpPr>
          <p:cNvPr id="12" name="axis"/>
          <p:cNvSpPr/>
          <p:nvPr/>
        </p:nvSpPr>
        <p:spPr>
          <a:xfrm flipV="1">
            <a:off x="2322200" y="3461000"/>
            <a:ext cx="1755600" cy="798000"/>
          </a:xfrm>
          <a:prstGeom prst="line">
            <a:avLst/>
          </a:prstGeom>
          <a:ln w="9525">
            <a:solidFill>
              <a:srgbClr val="C7CBD1"/>
            </a:solidFill>
            <a:prstDash val="solid"/>
          </a:ln>
        </p:spPr>
        <p:txBody>
          <a:bodyPr/>
          <a:lstStyle/>
          <a:p>
            <a:endParaRPr lang="en-US"/>
          </a:p>
        </p:txBody>
      </p:sp>
      <p:sp>
        <p:nvSpPr>
          <p:cNvPr id="13" name="dot"/>
          <p:cNvSpPr/>
          <p:nvPr/>
        </p:nvSpPr>
        <p:spPr>
          <a:xfrm>
            <a:off x="3173400" y="3833400"/>
            <a:ext cx="53200" cy="53200"/>
          </a:xfrm>
          <a:prstGeom prst="ellipse">
            <a:avLst/>
          </a:prstGeom>
          <a:solidFill>
            <a:srgbClr val="1F2937"/>
          </a:solidFill>
          <a:ln/>
        </p:spPr>
        <p:txBody>
          <a:bodyPr/>
          <a:lstStyle/>
          <a:p>
            <a:endParaRPr lang="en-US"/>
          </a:p>
        </p:txBody>
      </p:sp>
      <p:sp>
        <p:nvSpPr>
          <p:cNvPr id="14" name="Text 14"/>
          <p:cNvSpPr/>
          <p:nvPr/>
        </p:nvSpPr>
        <p:spPr>
          <a:xfrm>
            <a:off x="2920000" y="2167200"/>
            <a:ext cx="560000" cy="300000"/>
          </a:xfrm>
          <a:prstGeom prst="rect">
            <a:avLst/>
          </a:prstGeom>
          <a:noFill/>
          <a:ln/>
        </p:spPr>
        <p:txBody>
          <a:bodyPr wrap="square" lIns="45720" tIns="0" rIns="45720" bIns="0" rtlCol="0" anchor="ctr"/>
          <a:lstStyle/>
          <a:p>
            <a:pPr marL="0" indent="0" algn="ctr">
              <a:buNone/>
            </a:pPr>
            <a:r>
              <a:rPr lang="en-US" sz="1200" b="1">
                <a:solidFill>
                  <a:srgbClr val="3730A3"/>
                </a:solidFill>
                <a:latin typeface="Cambria Math" pitchFamily="34" charset="0"/>
                <a:ea typeface="Cambria Math" pitchFamily="34" charset="-122"/>
                <a:cs typeface="Cambria Math" pitchFamily="34" charset="-120"/>
              </a:rPr>
              <a:t>|0⟩</a:t>
            </a:r>
          </a:p>
        </p:txBody>
      </p:sp>
      <p:sp>
        <p:nvSpPr>
          <p:cNvPr id="15" name="Text 15"/>
          <p:cNvSpPr/>
          <p:nvPr/>
        </p:nvSpPr>
        <p:spPr>
          <a:xfrm>
            <a:off x="2920000" y="5252800"/>
            <a:ext cx="560000" cy="300000"/>
          </a:xfrm>
          <a:prstGeom prst="rect">
            <a:avLst/>
          </a:prstGeom>
          <a:noFill/>
          <a:ln/>
        </p:spPr>
        <p:txBody>
          <a:bodyPr wrap="square" lIns="45720" tIns="0" rIns="45720" bIns="0" rtlCol="0" anchor="ctr"/>
          <a:lstStyle/>
          <a:p>
            <a:pPr marL="0" indent="0" algn="ctr">
              <a:buNone/>
            </a:pPr>
            <a:r>
              <a:rPr lang="en-US" sz="1200" b="1">
                <a:solidFill>
                  <a:srgbClr val="3730A3"/>
                </a:solidFill>
                <a:latin typeface="Cambria Math" pitchFamily="34" charset="0"/>
                <a:ea typeface="Cambria Math" pitchFamily="34" charset="-122"/>
                <a:cs typeface="Cambria Math" pitchFamily="34" charset="-120"/>
              </a:rPr>
              <a:t>|1⟩</a:t>
            </a:r>
          </a:p>
        </p:txBody>
      </p:sp>
      <p:sp>
        <p:nvSpPr>
          <p:cNvPr id="16" name="axis"/>
          <p:cNvSpPr/>
          <p:nvPr/>
        </p:nvSpPr>
        <p:spPr>
          <a:xfrm flipV="1">
            <a:off x="3200000" y="2663000"/>
            <a:ext cx="0" cy="1197000"/>
          </a:xfrm>
          <a:prstGeom prst="line">
            <a:avLst/>
          </a:prstGeom>
          <a:ln w="25400">
            <a:solidFill>
              <a:srgbClr val="C7CBD1"/>
            </a:solidFill>
            <a:prstDash val="solid"/>
            <a:tailEnd type="triangle" w="med" len="med"/>
          </a:ln>
        </p:spPr>
        <p:txBody>
          <a:bodyPr/>
          <a:lstStyle/>
          <a:p>
            <a:endParaRPr lang="en-US"/>
          </a:p>
        </p:txBody>
      </p:sp>
      <p:sp>
        <p:nvSpPr>
          <p:cNvPr id="17" name="axis"/>
          <p:cNvSpPr/>
          <p:nvPr/>
        </p:nvSpPr>
        <p:spPr>
          <a:xfrm flipV="1">
            <a:off x="3200000" y="3128500"/>
            <a:ext cx="798000" cy="731500"/>
          </a:xfrm>
          <a:prstGeom prst="line">
            <a:avLst/>
          </a:prstGeom>
          <a:ln w="34925">
            <a:solidFill>
              <a:srgbClr val="3730A3"/>
            </a:solidFill>
            <a:prstDash val="solid"/>
            <a:tailEnd type="triangle" w="med" len="med"/>
          </a:ln>
        </p:spPr>
        <p:txBody>
          <a:bodyPr/>
          <a:lstStyle/>
          <a:p>
            <a:endParaRPr lang="en-US"/>
          </a:p>
        </p:txBody>
      </p:sp>
      <p:sp>
        <p:nvSpPr>
          <p:cNvPr id="18" name="dot"/>
          <p:cNvSpPr/>
          <p:nvPr/>
        </p:nvSpPr>
        <p:spPr>
          <a:xfrm>
            <a:off x="3931500" y="3062000"/>
            <a:ext cx="133000" cy="133000"/>
          </a:xfrm>
          <a:prstGeom prst="ellipse">
            <a:avLst/>
          </a:prstGeom>
          <a:solidFill>
            <a:srgbClr val="3730A3"/>
          </a:solidFill>
          <a:ln w="9525">
            <a:solidFill>
              <a:srgbClr val="FFFFFF"/>
            </a:solidFill>
            <a:prstDash val="solid"/>
          </a:ln>
        </p:spPr>
        <p:txBody>
          <a:bodyPr/>
          <a:lstStyle/>
          <a:p>
            <a:endParaRPr lang="en-US"/>
          </a:p>
        </p:txBody>
      </p:sp>
      <p:sp>
        <p:nvSpPr>
          <p:cNvPr id="19" name="arc"/>
          <p:cNvSpPr/>
          <p:nvPr/>
        </p:nvSpPr>
        <p:spPr>
          <a:xfrm>
            <a:off x="2468500" y="3128500"/>
            <a:ext cx="1463000" cy="1463000"/>
          </a:xfrm>
          <a:prstGeom prst="arc">
            <a:avLst>
              <a:gd name="adj1" fmla="val 15900000"/>
              <a:gd name="adj2" fmla="val 2700000"/>
            </a:avLst>
          </a:prstGeom>
          <a:noFill/>
          <a:ln w="19050">
            <a:solidFill>
              <a:srgbClr val="1F2937"/>
            </a:solidFill>
            <a:tailEnd type="triangle" w="med" len="med"/>
          </a:ln>
        </p:spPr>
        <p:txBody>
          <a:bodyPr/>
          <a:lstStyle/>
          <a:p>
            <a:endParaRPr lang="en-US"/>
          </a:p>
        </p:txBody>
      </p:sp>
      <p:sp>
        <p:nvSpPr>
          <p:cNvPr id="20" name="sphere"/>
          <p:cNvSpPr/>
          <p:nvPr/>
        </p:nvSpPr>
        <p:spPr>
          <a:xfrm>
            <a:off x="7620000" y="2530000"/>
            <a:ext cx="2660000" cy="2660000"/>
          </a:xfrm>
          <a:prstGeom prst="ellipse">
            <a:avLst/>
          </a:prstGeom>
          <a:solidFill>
            <a:srgbClr val="EEF2FF"/>
          </a:solidFill>
          <a:ln w="20320">
            <a:solidFill>
              <a:srgbClr val="3730A3"/>
            </a:solidFill>
            <a:prstDash val="solid"/>
          </a:ln>
        </p:spPr>
        <p:txBody>
          <a:bodyPr/>
          <a:lstStyle/>
          <a:p>
            <a:endParaRPr lang="en-US"/>
          </a:p>
        </p:txBody>
      </p:sp>
      <p:sp>
        <p:nvSpPr>
          <p:cNvPr id="21" name="equator"/>
          <p:cNvSpPr/>
          <p:nvPr/>
        </p:nvSpPr>
        <p:spPr>
          <a:xfrm>
            <a:off x="7620000" y="3461000"/>
            <a:ext cx="2660000" cy="798000"/>
          </a:xfrm>
          <a:prstGeom prst="ellipse">
            <a:avLst/>
          </a:prstGeom>
          <a:noFill/>
          <a:ln w="11430">
            <a:solidFill>
              <a:srgbClr val="475569"/>
            </a:solidFill>
            <a:prstDash val="dash"/>
          </a:ln>
        </p:spPr>
        <p:txBody>
          <a:bodyPr/>
          <a:lstStyle/>
          <a:p>
            <a:endParaRPr lang="en-US"/>
          </a:p>
        </p:txBody>
      </p:sp>
      <p:sp>
        <p:nvSpPr>
          <p:cNvPr id="22" name="axis"/>
          <p:cNvSpPr/>
          <p:nvPr/>
        </p:nvSpPr>
        <p:spPr>
          <a:xfrm flipV="1">
            <a:off x="8325602" y="2685679"/>
            <a:ext cx="1248795" cy="2348641"/>
          </a:xfrm>
          <a:prstGeom prst="line">
            <a:avLst/>
          </a:prstGeom>
          <a:ln w="15875">
            <a:solidFill>
              <a:srgbClr val="475569"/>
            </a:solidFill>
            <a:prstDash val="solid"/>
            <a:tailEnd type="triangle" w="med" len="med"/>
          </a:ln>
        </p:spPr>
        <p:txBody>
          <a:bodyPr/>
          <a:lstStyle/>
          <a:p>
            <a:endParaRPr lang="en-US"/>
          </a:p>
        </p:txBody>
      </p:sp>
      <p:sp>
        <p:nvSpPr>
          <p:cNvPr id="23" name="axis"/>
          <p:cNvSpPr/>
          <p:nvPr/>
        </p:nvSpPr>
        <p:spPr>
          <a:xfrm>
            <a:off x="7775679" y="3235602"/>
            <a:ext cx="2348641" cy="1248795"/>
          </a:xfrm>
          <a:prstGeom prst="line">
            <a:avLst/>
          </a:prstGeom>
          <a:ln w="15875">
            <a:solidFill>
              <a:srgbClr val="475569"/>
            </a:solidFill>
            <a:prstDash val="solid"/>
            <a:tailEnd type="triangle" w="med" len="med"/>
          </a:ln>
        </p:spPr>
        <p:txBody>
          <a:bodyPr/>
          <a:lstStyle/>
          <a:p>
            <a:endParaRPr lang="en-US"/>
          </a:p>
        </p:txBody>
      </p:sp>
      <p:sp>
        <p:nvSpPr>
          <p:cNvPr id="24" name="axis"/>
          <p:cNvSpPr/>
          <p:nvPr/>
        </p:nvSpPr>
        <p:spPr>
          <a:xfrm>
            <a:off x="7987629" y="3800193"/>
            <a:ext cx="1924741" cy="119613"/>
          </a:xfrm>
          <a:prstGeom prst="line">
            <a:avLst/>
          </a:prstGeom>
          <a:ln w="15875">
            <a:solidFill>
              <a:srgbClr val="475569"/>
            </a:solidFill>
            <a:prstDash val="solid"/>
            <a:tailEnd type="triangle" w="med" len="med"/>
          </a:ln>
        </p:spPr>
        <p:txBody>
          <a:bodyPr/>
          <a:lstStyle/>
          <a:p>
            <a:endParaRPr lang="en-US"/>
          </a:p>
        </p:txBody>
      </p:sp>
      <p:sp>
        <p:nvSpPr>
          <p:cNvPr id="25" name="dot"/>
          <p:cNvSpPr/>
          <p:nvPr/>
        </p:nvSpPr>
        <p:spPr>
          <a:xfrm>
            <a:off x="8912760" y="3822760"/>
            <a:ext cx="74480" cy="74480"/>
          </a:xfrm>
          <a:prstGeom prst="ellipse">
            <a:avLst/>
          </a:prstGeom>
          <a:solidFill>
            <a:srgbClr val="1F2937"/>
          </a:solidFill>
          <a:ln/>
        </p:spPr>
        <p:txBody>
          <a:bodyPr/>
          <a:lstStyle/>
          <a:p>
            <a:endParaRPr lang="en-US"/>
          </a:p>
        </p:txBody>
      </p:sp>
      <p:sp>
        <p:nvSpPr>
          <p:cNvPr id="26" name="Text 26"/>
          <p:cNvSpPr/>
          <p:nvPr/>
        </p:nvSpPr>
        <p:spPr>
          <a:xfrm>
            <a:off x="9564397" y="2376079"/>
            <a:ext cx="260000" cy="300000"/>
          </a:xfrm>
          <a:prstGeom prst="rect">
            <a:avLst/>
          </a:prstGeom>
          <a:noFill/>
          <a:ln/>
        </p:spPr>
        <p:txBody>
          <a:bodyPr wrap="square" lIns="45720" tIns="0" rIns="45720" bIns="0" rtlCol="0" anchor="ctr"/>
          <a:lstStyle/>
          <a:p>
            <a:pPr marL="0" indent="0" algn="ctr">
              <a:buNone/>
            </a:pPr>
            <a:r>
              <a:rPr lang="en-US" sz="1150" b="1">
                <a:solidFill>
                  <a:srgbClr val="475569"/>
                </a:solidFill>
                <a:latin typeface="Calibri" pitchFamily="34" charset="0"/>
                <a:ea typeface="Calibri" pitchFamily="34" charset="-122"/>
                <a:cs typeface="Calibri" pitchFamily="34" charset="-120"/>
              </a:rPr>
              <a:t>z'</a:t>
            </a:r>
          </a:p>
        </p:txBody>
      </p:sp>
      <p:sp>
        <p:nvSpPr>
          <p:cNvPr id="27" name="Text 27"/>
          <p:cNvSpPr/>
          <p:nvPr/>
        </p:nvSpPr>
        <p:spPr>
          <a:xfrm>
            <a:off x="10114320" y="4234397"/>
            <a:ext cx="260000" cy="300000"/>
          </a:xfrm>
          <a:prstGeom prst="rect">
            <a:avLst/>
          </a:prstGeom>
          <a:noFill/>
          <a:ln/>
        </p:spPr>
        <p:txBody>
          <a:bodyPr wrap="square" lIns="45720" tIns="0" rIns="45720" bIns="0" rtlCol="0" anchor="ctr"/>
          <a:lstStyle/>
          <a:p>
            <a:pPr marL="0" indent="0" algn="ctr">
              <a:buNone/>
            </a:pPr>
            <a:r>
              <a:rPr lang="en-US" sz="1150" b="1">
                <a:solidFill>
                  <a:srgbClr val="475569"/>
                </a:solidFill>
                <a:latin typeface="Calibri" pitchFamily="34" charset="0"/>
                <a:ea typeface="Calibri" pitchFamily="34" charset="-122"/>
                <a:cs typeface="Calibri" pitchFamily="34" charset="-120"/>
              </a:rPr>
              <a:t>x'</a:t>
            </a:r>
          </a:p>
        </p:txBody>
      </p:sp>
      <p:sp>
        <p:nvSpPr>
          <p:cNvPr id="28" name="axis"/>
          <p:cNvSpPr/>
          <p:nvPr/>
        </p:nvSpPr>
        <p:spPr>
          <a:xfrm flipV="1">
            <a:off x="8950000" y="3128500"/>
            <a:ext cx="798000" cy="731500"/>
          </a:xfrm>
          <a:prstGeom prst="line">
            <a:avLst/>
          </a:prstGeom>
          <a:ln w="34925">
            <a:solidFill>
              <a:srgbClr val="3730A3"/>
            </a:solidFill>
            <a:prstDash val="solid"/>
            <a:tailEnd type="triangle" w="med" len="med"/>
          </a:ln>
        </p:spPr>
        <p:txBody>
          <a:bodyPr/>
          <a:lstStyle/>
          <a:p>
            <a:endParaRPr lang="en-US"/>
          </a:p>
        </p:txBody>
      </p:sp>
      <p:sp>
        <p:nvSpPr>
          <p:cNvPr id="29" name="dot"/>
          <p:cNvSpPr/>
          <p:nvPr/>
        </p:nvSpPr>
        <p:spPr>
          <a:xfrm>
            <a:off x="9681500" y="3062000"/>
            <a:ext cx="133000" cy="133000"/>
          </a:xfrm>
          <a:prstGeom prst="ellipse">
            <a:avLst/>
          </a:prstGeom>
          <a:solidFill>
            <a:srgbClr val="3730A3"/>
          </a:solidFill>
          <a:ln w="9525">
            <a:solidFill>
              <a:srgbClr val="FFFFFF"/>
            </a:solidFill>
            <a:prstDash val="solid"/>
          </a:ln>
        </p:spPr>
        <p:txBody>
          <a:bodyPr/>
          <a:lstStyle/>
          <a:p>
            <a:endParaRPr lang="en-US"/>
          </a:p>
        </p:txBody>
      </p:sp>
      <p:sp>
        <p:nvSpPr>
          <p:cNvPr id="30" name="Text 30"/>
          <p:cNvSpPr/>
          <p:nvPr/>
        </p:nvSpPr>
        <p:spPr>
          <a:xfrm>
            <a:off x="9608000" y="2888500"/>
            <a:ext cx="560000" cy="300000"/>
          </a:xfrm>
          <a:prstGeom prst="rect">
            <a:avLst/>
          </a:prstGeom>
          <a:noFill/>
          <a:ln/>
        </p:spPr>
        <p:txBody>
          <a:bodyPr wrap="square" lIns="45720" tIns="0" rIns="45720" bIns="0" rtlCol="0" anchor="ctr"/>
          <a:lstStyle/>
          <a:p>
            <a:pPr marL="0" indent="0" algn="ctr">
              <a:buNone/>
            </a:pPr>
            <a:r>
              <a:rPr lang="en-US" sz="1300" b="1">
                <a:solidFill>
                  <a:srgbClr val="3730A3"/>
                </a:solidFill>
                <a:latin typeface="Cambria Math" pitchFamily="34" charset="0"/>
                <a:ea typeface="Cambria Math" pitchFamily="34" charset="-122"/>
                <a:cs typeface="Cambria Math" pitchFamily="34" charset="-120"/>
              </a:rPr>
              <a:t>|ψ⟩</a:t>
            </a:r>
          </a:p>
        </p:txBody>
      </p:sp>
      <p:sp>
        <p:nvSpPr>
          <p:cNvPr id="31" name="Text 31"/>
          <p:cNvSpPr/>
          <p:nvPr/>
        </p:nvSpPr>
        <p:spPr>
          <a:xfrm>
            <a:off x="5750000" y="3560000"/>
            <a:ext cx="700000" cy="600000"/>
          </a:xfrm>
          <a:prstGeom prst="rect">
            <a:avLst/>
          </a:prstGeom>
          <a:noFill/>
          <a:ln/>
        </p:spPr>
        <p:txBody>
          <a:bodyPr wrap="square" lIns="45720" tIns="0" rIns="45720" bIns="0" rtlCol="0" anchor="ctr"/>
          <a:lstStyle/>
          <a:p>
            <a:pPr marL="0" indent="0" algn="ctr">
              <a:buNone/>
            </a:pPr>
            <a:r>
              <a:rPr lang="en-US" sz="3200" b="1">
                <a:solidFill>
                  <a:srgbClr val="475569"/>
                </a:solidFill>
                <a:latin typeface="Calibri" pitchFamily="34" charset="0"/>
                <a:ea typeface="Calibri" pitchFamily="34" charset="-122"/>
                <a:cs typeface="Calibri" pitchFamily="34" charset="-120"/>
              </a:rPr>
              <a:t>=</a:t>
            </a:r>
          </a:p>
        </p:txBody>
      </p:sp>
      <p:sp>
        <p:nvSpPr>
          <p:cNvPr id="32" name="Text 32"/>
          <p:cNvSpPr/>
          <p:nvPr/>
        </p:nvSpPr>
        <p:spPr>
          <a:xfrm>
            <a:off x="731520" y="5300000"/>
            <a:ext cx="10728960" cy="300000"/>
          </a:xfrm>
          <a:prstGeom prst="rect">
            <a:avLst/>
          </a:prstGeom>
          <a:noFill/>
          <a:ln/>
        </p:spPr>
        <p:txBody>
          <a:bodyPr wrap="square" lIns="45720" tIns="0" rIns="45720" bIns="0" rtlCol="0" anchor="ctr"/>
          <a:lstStyle/>
          <a:p>
            <a:pPr marL="0" indent="0" algn="ctr">
              <a:buNone/>
            </a:pPr>
            <a:r>
              <a:rPr lang="en-US" sz="1350" i="1">
                <a:solidFill>
                  <a:srgbClr val="475569"/>
                </a:solidFill>
                <a:latin typeface="Calibri" pitchFamily="34" charset="0"/>
                <a:ea typeface="Calibri" pitchFamily="34" charset="-122"/>
                <a:cs typeface="Calibri" pitchFamily="34" charset="-120"/>
              </a:rPr>
              <a:t>Both give identical measurement statistics.</a:t>
            </a:r>
          </a:p>
        </p:txBody>
      </p:sp>
      <p:sp>
        <p:nvSpPr>
          <p:cNvPr id="33" name="band"/>
          <p:cNvSpPr/>
          <p:nvPr/>
        </p:nvSpPr>
        <p:spPr>
          <a:xfrm>
            <a:off x="731520" y="5680000"/>
            <a:ext cx="10728960" cy="540000"/>
          </a:xfrm>
          <a:prstGeom prst="roundRect">
            <a:avLst>
              <a:gd name="adj" fmla="val 9000"/>
            </a:avLst>
          </a:prstGeom>
          <a:solidFill>
            <a:srgbClr val="CCFBF1"/>
          </a:solidFill>
          <a:ln/>
        </p:spPr>
        <p:txBody>
          <a:bodyPr/>
          <a:lstStyle/>
          <a:p>
            <a:endParaRPr lang="en-US"/>
          </a:p>
        </p:txBody>
      </p:sp>
      <p:sp>
        <p:nvSpPr>
          <p:cNvPr id="34" name="Text 34"/>
          <p:cNvSpPr/>
          <p:nvPr/>
        </p:nvSpPr>
        <p:spPr>
          <a:xfrm>
            <a:off x="731520" y="5680000"/>
            <a:ext cx="10728960" cy="540000"/>
          </a:xfrm>
          <a:prstGeom prst="rect">
            <a:avLst/>
          </a:prstGeom>
          <a:noFill/>
          <a:ln/>
        </p:spPr>
        <p:txBody>
          <a:bodyPr wrap="square" lIns="45720" tIns="0" rIns="45720" bIns="0" rtlCol="0" anchor="ctr"/>
          <a:lstStyle/>
          <a:p>
            <a:pPr marL="0" indent="0" algn="ctr">
              <a:buNone/>
            </a:pPr>
            <a:r>
              <a:rPr lang="en-US" sz="1450" b="1">
                <a:solidFill>
                  <a:srgbClr val="0D9488"/>
                </a:solidFill>
                <a:latin typeface="Calibri" pitchFamily="34" charset="0"/>
                <a:ea typeface="Calibri" pitchFamily="34" charset="-122"/>
                <a:cs typeface="Calibri" pitchFamily="34" charset="-120"/>
              </a:rPr>
              <a:t>Changing basis and rotating the state are mathematically equivalent descriptions.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Bloch Sphere Summary</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phere"/>
          <p:cNvSpPr/>
          <p:nvPr/>
        </p:nvSpPr>
        <p:spPr>
          <a:xfrm>
            <a:off x="1630000" y="2000000"/>
            <a:ext cx="3240000" cy="3240000"/>
          </a:xfrm>
          <a:prstGeom prst="ellipse">
            <a:avLst/>
          </a:prstGeom>
          <a:solidFill>
            <a:srgbClr val="EEF2FF"/>
          </a:solidFill>
          <a:ln w="20320">
            <a:solidFill>
              <a:srgbClr val="3730A3"/>
            </a:solidFill>
            <a:prstDash val="solid"/>
          </a:ln>
        </p:spPr>
        <p:txBody>
          <a:bodyPr/>
          <a:lstStyle/>
          <a:p>
            <a:endParaRPr lang="en-US"/>
          </a:p>
        </p:txBody>
      </p:sp>
      <p:sp>
        <p:nvSpPr>
          <p:cNvPr id="5" name="equator"/>
          <p:cNvSpPr/>
          <p:nvPr/>
        </p:nvSpPr>
        <p:spPr>
          <a:xfrm>
            <a:off x="1630000" y="3134000"/>
            <a:ext cx="3240000" cy="972000"/>
          </a:xfrm>
          <a:prstGeom prst="ellipse">
            <a:avLst/>
          </a:prstGeom>
          <a:noFill/>
          <a:ln w="11430">
            <a:solidFill>
              <a:srgbClr val="475569"/>
            </a:solidFill>
            <a:prstDash val="dash"/>
          </a:ln>
        </p:spPr>
        <p:txBody>
          <a:bodyPr/>
          <a:lstStyle/>
          <a:p>
            <a:endParaRPr lang="en-US"/>
          </a:p>
        </p:txBody>
      </p:sp>
      <p:sp>
        <p:nvSpPr>
          <p:cNvPr id="6" name="axis"/>
          <p:cNvSpPr/>
          <p:nvPr/>
        </p:nvSpPr>
        <p:spPr>
          <a:xfrm flipV="1">
            <a:off x="3250000" y="2000000"/>
            <a:ext cx="0" cy="1620000"/>
          </a:xfrm>
          <a:prstGeom prst="line">
            <a:avLst/>
          </a:prstGeom>
          <a:ln w="15875">
            <a:solidFill>
              <a:srgbClr val="3730A3"/>
            </a:solidFill>
            <a:prstDash val="solid"/>
            <a:tailEnd type="triangle" w="med" len="med"/>
          </a:ln>
        </p:spPr>
        <p:txBody>
          <a:bodyPr/>
          <a:lstStyle/>
          <a:p>
            <a:endParaRPr lang="en-US"/>
          </a:p>
        </p:txBody>
      </p:sp>
      <p:sp>
        <p:nvSpPr>
          <p:cNvPr id="7" name="axis"/>
          <p:cNvSpPr/>
          <p:nvPr/>
        </p:nvSpPr>
        <p:spPr>
          <a:xfrm>
            <a:off x="3250000" y="3620000"/>
            <a:ext cx="0" cy="1620000"/>
          </a:xfrm>
          <a:prstGeom prst="line">
            <a:avLst/>
          </a:prstGeom>
          <a:ln w="11112">
            <a:solidFill>
              <a:srgbClr val="3730A3"/>
            </a:solidFill>
            <a:prstDash val="dash"/>
          </a:ln>
        </p:spPr>
        <p:txBody>
          <a:bodyPr/>
          <a:lstStyle/>
          <a:p>
            <a:endParaRPr lang="en-US"/>
          </a:p>
        </p:txBody>
      </p:sp>
      <p:sp>
        <p:nvSpPr>
          <p:cNvPr id="8" name="axis"/>
          <p:cNvSpPr/>
          <p:nvPr/>
        </p:nvSpPr>
        <p:spPr>
          <a:xfrm>
            <a:off x="3250000" y="3620000"/>
            <a:ext cx="1620000" cy="0"/>
          </a:xfrm>
          <a:prstGeom prst="line">
            <a:avLst/>
          </a:prstGeom>
          <a:ln w="15875">
            <a:solidFill>
              <a:srgbClr val="B45309"/>
            </a:solidFill>
            <a:prstDash val="solid"/>
            <a:tailEnd type="triangle" w="med" len="med"/>
          </a:ln>
        </p:spPr>
        <p:txBody>
          <a:bodyPr/>
          <a:lstStyle/>
          <a:p>
            <a:endParaRPr lang="en-US"/>
          </a:p>
        </p:txBody>
      </p:sp>
      <p:sp>
        <p:nvSpPr>
          <p:cNvPr id="9" name="axis"/>
          <p:cNvSpPr/>
          <p:nvPr/>
        </p:nvSpPr>
        <p:spPr>
          <a:xfrm flipV="1">
            <a:off x="1630000" y="3620000"/>
            <a:ext cx="1620000" cy="0"/>
          </a:xfrm>
          <a:prstGeom prst="line">
            <a:avLst/>
          </a:prstGeom>
          <a:ln w="11112">
            <a:solidFill>
              <a:srgbClr val="B45309"/>
            </a:solidFill>
            <a:prstDash val="dash"/>
          </a:ln>
        </p:spPr>
        <p:txBody>
          <a:bodyPr/>
          <a:lstStyle/>
          <a:p>
            <a:endParaRPr lang="en-US"/>
          </a:p>
        </p:txBody>
      </p:sp>
      <p:sp>
        <p:nvSpPr>
          <p:cNvPr id="10" name="axis"/>
          <p:cNvSpPr/>
          <p:nvPr/>
        </p:nvSpPr>
        <p:spPr>
          <a:xfrm flipV="1">
            <a:off x="2180800" y="3620000"/>
            <a:ext cx="1069200" cy="486000"/>
          </a:xfrm>
          <a:prstGeom prst="line">
            <a:avLst/>
          </a:prstGeom>
          <a:ln w="15875">
            <a:solidFill>
              <a:srgbClr val="0D9488"/>
            </a:solidFill>
            <a:prstDash val="solid"/>
            <a:tailEnd type="triangle" w="med" len="med"/>
          </a:ln>
        </p:spPr>
        <p:txBody>
          <a:bodyPr/>
          <a:lstStyle/>
          <a:p>
            <a:endParaRPr lang="en-US"/>
          </a:p>
        </p:txBody>
      </p:sp>
      <p:sp>
        <p:nvSpPr>
          <p:cNvPr id="11" name="axis"/>
          <p:cNvSpPr/>
          <p:nvPr/>
        </p:nvSpPr>
        <p:spPr>
          <a:xfrm flipV="1">
            <a:off x="3250000" y="3134000"/>
            <a:ext cx="1069200" cy="486000"/>
          </a:xfrm>
          <a:prstGeom prst="line">
            <a:avLst/>
          </a:prstGeom>
          <a:ln w="11112">
            <a:solidFill>
              <a:srgbClr val="0D9488"/>
            </a:solidFill>
            <a:prstDash val="dash"/>
          </a:ln>
        </p:spPr>
        <p:txBody>
          <a:bodyPr/>
          <a:lstStyle/>
          <a:p>
            <a:endParaRPr lang="en-US"/>
          </a:p>
        </p:txBody>
      </p:sp>
      <p:sp>
        <p:nvSpPr>
          <p:cNvPr id="12" name="dot"/>
          <p:cNvSpPr/>
          <p:nvPr/>
        </p:nvSpPr>
        <p:spPr>
          <a:xfrm>
            <a:off x="3204640" y="3574640"/>
            <a:ext cx="90720" cy="90720"/>
          </a:xfrm>
          <a:prstGeom prst="ellipse">
            <a:avLst/>
          </a:prstGeom>
          <a:solidFill>
            <a:srgbClr val="1F2937"/>
          </a:solidFill>
          <a:ln/>
        </p:spPr>
        <p:txBody>
          <a:bodyPr/>
          <a:lstStyle/>
          <a:p>
            <a:endParaRPr lang="en-US"/>
          </a:p>
        </p:txBody>
      </p:sp>
      <p:sp>
        <p:nvSpPr>
          <p:cNvPr id="13" name="dot"/>
          <p:cNvSpPr/>
          <p:nvPr/>
        </p:nvSpPr>
        <p:spPr>
          <a:xfrm>
            <a:off x="3177100" y="1927100"/>
            <a:ext cx="145800" cy="145800"/>
          </a:xfrm>
          <a:prstGeom prst="ellipse">
            <a:avLst/>
          </a:prstGeom>
          <a:solidFill>
            <a:srgbClr val="3730A3"/>
          </a:solidFill>
          <a:ln w="9525">
            <a:solidFill>
              <a:srgbClr val="FFFFFF"/>
            </a:solidFill>
            <a:prstDash val="solid"/>
          </a:ln>
        </p:spPr>
        <p:txBody>
          <a:bodyPr/>
          <a:lstStyle/>
          <a:p>
            <a:endParaRPr lang="en-US"/>
          </a:p>
        </p:txBody>
      </p:sp>
      <p:sp>
        <p:nvSpPr>
          <p:cNvPr id="14" name="dot"/>
          <p:cNvSpPr/>
          <p:nvPr/>
        </p:nvSpPr>
        <p:spPr>
          <a:xfrm>
            <a:off x="3177100" y="5167100"/>
            <a:ext cx="145800" cy="145800"/>
          </a:xfrm>
          <a:prstGeom prst="ellipse">
            <a:avLst/>
          </a:prstGeom>
          <a:solidFill>
            <a:srgbClr val="3730A3"/>
          </a:solidFill>
          <a:ln w="9525">
            <a:solidFill>
              <a:srgbClr val="FFFFFF"/>
            </a:solidFill>
            <a:prstDash val="solid"/>
          </a:ln>
        </p:spPr>
        <p:txBody>
          <a:bodyPr/>
          <a:lstStyle/>
          <a:p>
            <a:endParaRPr lang="en-US"/>
          </a:p>
        </p:txBody>
      </p:sp>
      <p:sp>
        <p:nvSpPr>
          <p:cNvPr id="15" name="dot"/>
          <p:cNvSpPr/>
          <p:nvPr/>
        </p:nvSpPr>
        <p:spPr>
          <a:xfrm>
            <a:off x="4797100" y="3547100"/>
            <a:ext cx="145800" cy="145800"/>
          </a:xfrm>
          <a:prstGeom prst="ellipse">
            <a:avLst/>
          </a:prstGeom>
          <a:solidFill>
            <a:srgbClr val="B45309"/>
          </a:solidFill>
          <a:ln w="9525">
            <a:solidFill>
              <a:srgbClr val="FFFFFF"/>
            </a:solidFill>
            <a:prstDash val="solid"/>
          </a:ln>
        </p:spPr>
        <p:txBody>
          <a:bodyPr/>
          <a:lstStyle/>
          <a:p>
            <a:endParaRPr lang="en-US"/>
          </a:p>
        </p:txBody>
      </p:sp>
      <p:sp>
        <p:nvSpPr>
          <p:cNvPr id="16" name="dot"/>
          <p:cNvSpPr/>
          <p:nvPr/>
        </p:nvSpPr>
        <p:spPr>
          <a:xfrm>
            <a:off x="1557100" y="3547100"/>
            <a:ext cx="145800" cy="145800"/>
          </a:xfrm>
          <a:prstGeom prst="ellipse">
            <a:avLst/>
          </a:prstGeom>
          <a:solidFill>
            <a:srgbClr val="B45309"/>
          </a:solidFill>
          <a:ln w="9525">
            <a:solidFill>
              <a:srgbClr val="FFFFFF"/>
            </a:solidFill>
            <a:prstDash val="solid"/>
          </a:ln>
        </p:spPr>
        <p:txBody>
          <a:bodyPr/>
          <a:lstStyle/>
          <a:p>
            <a:endParaRPr lang="en-US"/>
          </a:p>
        </p:txBody>
      </p:sp>
      <p:sp>
        <p:nvSpPr>
          <p:cNvPr id="17" name="dot"/>
          <p:cNvSpPr/>
          <p:nvPr/>
        </p:nvSpPr>
        <p:spPr>
          <a:xfrm>
            <a:off x="2107900" y="4033100"/>
            <a:ext cx="145800" cy="145800"/>
          </a:xfrm>
          <a:prstGeom prst="ellipse">
            <a:avLst/>
          </a:prstGeom>
          <a:solidFill>
            <a:srgbClr val="0D9488"/>
          </a:solidFill>
          <a:ln w="9525">
            <a:solidFill>
              <a:srgbClr val="FFFFFF"/>
            </a:solidFill>
            <a:prstDash val="solid"/>
          </a:ln>
        </p:spPr>
        <p:txBody>
          <a:bodyPr/>
          <a:lstStyle/>
          <a:p>
            <a:endParaRPr lang="en-US"/>
          </a:p>
        </p:txBody>
      </p:sp>
      <p:sp>
        <p:nvSpPr>
          <p:cNvPr id="18" name="dot"/>
          <p:cNvSpPr/>
          <p:nvPr/>
        </p:nvSpPr>
        <p:spPr>
          <a:xfrm>
            <a:off x="4246300" y="3061100"/>
            <a:ext cx="145800" cy="145800"/>
          </a:xfrm>
          <a:prstGeom prst="ellipse">
            <a:avLst/>
          </a:prstGeom>
          <a:solidFill>
            <a:srgbClr val="0D9488"/>
          </a:solidFill>
          <a:ln w="9525">
            <a:solidFill>
              <a:srgbClr val="FFFFFF"/>
            </a:solidFill>
            <a:prstDash val="solid"/>
          </a:ln>
        </p:spPr>
        <p:txBody>
          <a:bodyPr/>
          <a:lstStyle/>
          <a:p>
            <a:endParaRPr lang="en-US"/>
          </a:p>
        </p:txBody>
      </p:sp>
      <p:sp>
        <p:nvSpPr>
          <p:cNvPr id="19" name="Text 19"/>
          <p:cNvSpPr/>
          <p:nvPr/>
        </p:nvSpPr>
        <p:spPr>
          <a:xfrm>
            <a:off x="2970000" y="15908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|0⟩</a:t>
            </a:r>
          </a:p>
        </p:txBody>
      </p:sp>
      <p:sp>
        <p:nvSpPr>
          <p:cNvPr id="20" name="Text 20"/>
          <p:cNvSpPr/>
          <p:nvPr/>
        </p:nvSpPr>
        <p:spPr>
          <a:xfrm>
            <a:off x="2970000" y="53492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|1⟩</a:t>
            </a:r>
          </a:p>
        </p:txBody>
      </p:sp>
      <p:sp>
        <p:nvSpPr>
          <p:cNvPr id="21" name="Text 21"/>
          <p:cNvSpPr/>
          <p:nvPr/>
        </p:nvSpPr>
        <p:spPr>
          <a:xfrm>
            <a:off x="4849200" y="3470000"/>
            <a:ext cx="560000" cy="300000"/>
          </a:xfrm>
          <a:prstGeom prst="rect">
            <a:avLst/>
          </a:prstGeom>
          <a:noFill/>
          <a:ln/>
        </p:spPr>
        <p:txBody>
          <a:bodyPr wrap="square" lIns="45720" tIns="0" rIns="45720" bIns="0" rtlCol="0" anchor="ctr"/>
          <a:lstStyle/>
          <a:p>
            <a:pPr marL="0" indent="0" algn="ctr">
              <a:buNone/>
            </a:pPr>
            <a:r>
              <a:rPr lang="en-US" sz="1400" b="1">
                <a:solidFill>
                  <a:srgbClr val="B45309"/>
                </a:solidFill>
                <a:latin typeface="Cambria Math" pitchFamily="34" charset="0"/>
                <a:ea typeface="Cambria Math" pitchFamily="34" charset="-122"/>
                <a:cs typeface="Cambria Math" pitchFamily="34" charset="-120"/>
              </a:rPr>
              <a:t>|i⟩</a:t>
            </a:r>
          </a:p>
        </p:txBody>
      </p:sp>
      <p:sp>
        <p:nvSpPr>
          <p:cNvPr id="22" name="Text 22"/>
          <p:cNvSpPr/>
          <p:nvPr/>
        </p:nvSpPr>
        <p:spPr>
          <a:xfrm>
            <a:off x="1050800" y="3470000"/>
            <a:ext cx="640000" cy="300000"/>
          </a:xfrm>
          <a:prstGeom prst="rect">
            <a:avLst/>
          </a:prstGeom>
          <a:noFill/>
          <a:ln/>
        </p:spPr>
        <p:txBody>
          <a:bodyPr wrap="square" lIns="45720" tIns="0" rIns="45720" bIns="0" rtlCol="0" anchor="ctr"/>
          <a:lstStyle/>
          <a:p>
            <a:pPr marL="0" indent="0" algn="ctr">
              <a:buNone/>
            </a:pPr>
            <a:r>
              <a:rPr lang="en-US" sz="1400" b="1">
                <a:solidFill>
                  <a:srgbClr val="B45309"/>
                </a:solidFill>
                <a:latin typeface="Cambria Math" pitchFamily="34" charset="0"/>
                <a:ea typeface="Cambria Math" pitchFamily="34" charset="-122"/>
                <a:cs typeface="Cambria Math" pitchFamily="34" charset="-120"/>
              </a:rPr>
              <a:t>|−i⟩</a:t>
            </a:r>
          </a:p>
        </p:txBody>
      </p:sp>
      <p:sp>
        <p:nvSpPr>
          <p:cNvPr id="23" name="Text 23"/>
          <p:cNvSpPr/>
          <p:nvPr/>
        </p:nvSpPr>
        <p:spPr>
          <a:xfrm>
            <a:off x="1719360" y="4137440"/>
            <a:ext cx="5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mbria Math" pitchFamily="34" charset="0"/>
                <a:ea typeface="Cambria Math" pitchFamily="34" charset="-122"/>
                <a:cs typeface="Cambria Math" pitchFamily="34" charset="-120"/>
              </a:rPr>
              <a:t>|+⟩</a:t>
            </a:r>
          </a:p>
        </p:txBody>
      </p:sp>
      <p:sp>
        <p:nvSpPr>
          <p:cNvPr id="24" name="Text 24"/>
          <p:cNvSpPr/>
          <p:nvPr/>
        </p:nvSpPr>
        <p:spPr>
          <a:xfrm>
            <a:off x="4220640" y="2802560"/>
            <a:ext cx="5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mbria Math" pitchFamily="34" charset="0"/>
                <a:ea typeface="Cambria Math" pitchFamily="34" charset="-122"/>
                <a:cs typeface="Cambria Math" pitchFamily="34" charset="-120"/>
              </a:rPr>
              <a:t>|−⟩</a:t>
            </a:r>
          </a:p>
        </p:txBody>
      </p:sp>
      <p:graphicFrame>
        <p:nvGraphicFramePr>
          <p:cNvPr id="25" name="Summary table"/>
          <p:cNvGraphicFramePr>
            <a:graphicFrameLocks noGrp="1"/>
          </p:cNvGraphicFramePr>
          <p:nvPr>
            <p:extLst>
              <p:ext uri="{D42A27DB-BD31-4B8C-83A1-F6EECF244321}">
                <p14:modId xmlns:p14="http://schemas.microsoft.com/office/powerpoint/2010/main" val="5453656"/>
              </p:ext>
            </p:extLst>
          </p:nvPr>
        </p:nvGraphicFramePr>
        <p:xfrm>
          <a:off x="5760000" y="1780000"/>
          <a:ext cx="5700000" cy="3610000"/>
        </p:xfrm>
        <a:graphic>
          <a:graphicData uri="http://schemas.openxmlformats.org/drawingml/2006/table">
            <a:tbl>
              <a:tblPr firstRow="1" bandRow="1"/>
              <a:tblGrid>
                <a:gridCol w="240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tblGrid>
              <a:tr h="560000">
                <a:tc>
                  <a:txBody>
                    <a:bodyPr/>
                    <a:lstStyle/>
                    <a:p>
                      <a:pPr algn="ctr"/>
                      <a:r>
                        <a:rPr lang="en-US" sz="1450" b="1" dirty="0">
                          <a:solidFill>
                            <a:srgbClr val="FFFFFF"/>
                          </a:solidFill>
                          <a:latin typeface="Calibri" pitchFamily="34" charset="0"/>
                          <a:ea typeface="Calibri" pitchFamily="34" charset="-122"/>
                          <a:cs typeface="Calibri" pitchFamily="34" charset="-120"/>
                        </a:rPr>
                        <a:t>Feature</a:t>
                      </a:r>
                    </a:p>
                  </a:txBody>
                  <a:tcPr marL="82296" marR="82296" marT="36576" marB="36576" anchor="ctr">
                    <a:solidFill>
                      <a:srgbClr val="3730A3"/>
                    </a:solidFill>
                  </a:tcPr>
                </a:tc>
                <a:tc>
                  <a:txBody>
                    <a:bodyPr/>
                    <a:lstStyle/>
                    <a:p>
                      <a:pPr algn="ctr"/>
                      <a:r>
                        <a:rPr lang="en-US" sz="1450" b="1" dirty="0">
                          <a:solidFill>
                            <a:srgbClr val="FFFFFF"/>
                          </a:solidFill>
                          <a:latin typeface="Calibri" pitchFamily="34" charset="0"/>
                          <a:ea typeface="Calibri" pitchFamily="34" charset="-122"/>
                          <a:cs typeface="Calibri" pitchFamily="34" charset="-120"/>
                        </a:rPr>
                        <a:t>Interpretation</a:t>
                      </a:r>
                    </a:p>
                  </a:txBody>
                  <a:tcPr marL="82296" marR="82296" marT="36576" marB="36576" anchor="ctr">
                    <a:solidFill>
                      <a:srgbClr val="3730A3"/>
                    </a:solidFill>
                  </a:tcPr>
                </a:tc>
                <a:extLst>
                  <a:ext uri="{0D108BD9-81ED-4DB2-BD59-A6C34878D82A}">
                    <a16:rowId xmlns:a16="http://schemas.microsoft.com/office/drawing/2014/main" val="10000"/>
                  </a:ext>
                </a:extLst>
              </a:tr>
              <a:tr h="610000">
                <a:tc>
                  <a:txBody>
                    <a:bodyPr/>
                    <a:lstStyle/>
                    <a:p>
                      <a:pPr algn="l"/>
                      <a:r>
                        <a:rPr lang="en-US" sz="1400" b="1" dirty="0">
                          <a:solidFill>
                            <a:srgbClr val="3730A3"/>
                          </a:solidFill>
                          <a:latin typeface="Calibri" pitchFamily="34" charset="0"/>
                          <a:ea typeface="Calibri" pitchFamily="34" charset="-122"/>
                          <a:cs typeface="Calibri" pitchFamily="34" charset="-120"/>
                        </a:rPr>
                        <a:t>Point</a:t>
                      </a:r>
                    </a:p>
                  </a:txBody>
                  <a:tcPr marL="82296" marR="82296" marT="36576" marB="36576" anchor="ctr">
                    <a:solidFill>
                      <a:srgbClr val="EEF2FF"/>
                    </a:solidFill>
                  </a:tcPr>
                </a:tc>
                <a:tc>
                  <a:txBody>
                    <a:bodyPr/>
                    <a:lstStyle/>
                    <a:p>
                      <a:pPr algn="l"/>
                      <a:r>
                        <a:rPr lang="en-US" sz="1350" dirty="0">
                          <a:solidFill>
                            <a:srgbClr val="1F2937"/>
                          </a:solidFill>
                          <a:latin typeface="Calibri" pitchFamily="34" charset="0"/>
                          <a:ea typeface="Calibri" pitchFamily="34" charset="-122"/>
                          <a:cs typeface="Calibri" pitchFamily="34" charset="-120"/>
                        </a:rPr>
                        <a:t>Pure quantum state</a:t>
                      </a:r>
                    </a:p>
                  </a:txBody>
                  <a:tcPr marL="82296" marR="82296" marT="36576" marB="36576" anchor="ctr">
                    <a:solidFill>
                      <a:srgbClr val="EEF2FF"/>
                    </a:solidFill>
                  </a:tcPr>
                </a:tc>
                <a:extLst>
                  <a:ext uri="{0D108BD9-81ED-4DB2-BD59-A6C34878D82A}">
                    <a16:rowId xmlns:a16="http://schemas.microsoft.com/office/drawing/2014/main" val="10001"/>
                  </a:ext>
                </a:extLst>
              </a:tr>
              <a:tr h="610000">
                <a:tc>
                  <a:txBody>
                    <a:bodyPr/>
                    <a:lstStyle/>
                    <a:p>
                      <a:pPr algn="l"/>
                      <a:r>
                        <a:rPr lang="en-US" sz="1400" b="1" dirty="0">
                          <a:solidFill>
                            <a:srgbClr val="3730A3"/>
                          </a:solidFill>
                          <a:latin typeface="Calibri" pitchFamily="34" charset="0"/>
                          <a:ea typeface="Calibri" pitchFamily="34" charset="-122"/>
                          <a:cs typeface="Calibri" pitchFamily="34" charset="-120"/>
                        </a:rPr>
                        <a:t>Diameter</a:t>
                      </a:r>
                    </a:p>
                  </a:txBody>
                  <a:tcPr marL="82296" marR="82296" marT="36576" marB="36576" anchor="ctr">
                    <a:solidFill>
                      <a:srgbClr val="FFFFFF"/>
                    </a:solidFill>
                  </a:tcPr>
                </a:tc>
                <a:tc>
                  <a:txBody>
                    <a:bodyPr/>
                    <a:lstStyle/>
                    <a:p>
                      <a:pPr algn="l"/>
                      <a:r>
                        <a:rPr lang="en-US" sz="1350" dirty="0">
                          <a:solidFill>
                            <a:srgbClr val="1F2937"/>
                          </a:solidFill>
                          <a:latin typeface="Calibri" pitchFamily="34" charset="0"/>
                          <a:ea typeface="Calibri" pitchFamily="34" charset="-122"/>
                          <a:cs typeface="Calibri" pitchFamily="34" charset="-120"/>
                        </a:rPr>
                        <a:t>Measurement basis</a:t>
                      </a:r>
                    </a:p>
                  </a:txBody>
                  <a:tcPr marL="82296" marR="82296" marT="36576" marB="36576" anchor="ctr">
                    <a:solidFill>
                      <a:srgbClr val="FFFFFF"/>
                    </a:solidFill>
                  </a:tcPr>
                </a:tc>
                <a:extLst>
                  <a:ext uri="{0D108BD9-81ED-4DB2-BD59-A6C34878D82A}">
                    <a16:rowId xmlns:a16="http://schemas.microsoft.com/office/drawing/2014/main" val="10002"/>
                  </a:ext>
                </a:extLst>
              </a:tr>
              <a:tr h="610000">
                <a:tc>
                  <a:txBody>
                    <a:bodyPr/>
                    <a:lstStyle/>
                    <a:p>
                      <a:pPr algn="l"/>
                      <a:r>
                        <a:rPr lang="en-US" sz="1400" b="1" dirty="0">
                          <a:solidFill>
                            <a:srgbClr val="3730A3"/>
                          </a:solidFill>
                          <a:latin typeface="Calibri" pitchFamily="34" charset="0"/>
                          <a:ea typeface="Calibri" pitchFamily="34" charset="-122"/>
                          <a:cs typeface="Calibri" pitchFamily="34" charset="-120"/>
                        </a:rPr>
                        <a:t>Opposite points</a:t>
                      </a:r>
                    </a:p>
                  </a:txBody>
                  <a:tcPr marL="82296" marR="82296" marT="36576" marB="36576" anchor="ctr">
                    <a:solidFill>
                      <a:srgbClr val="EEF2FF"/>
                    </a:solidFill>
                  </a:tcPr>
                </a:tc>
                <a:tc>
                  <a:txBody>
                    <a:bodyPr/>
                    <a:lstStyle/>
                    <a:p>
                      <a:pPr algn="l"/>
                      <a:r>
                        <a:rPr lang="en-US" sz="1350" dirty="0">
                          <a:solidFill>
                            <a:srgbClr val="1F2937"/>
                          </a:solidFill>
                          <a:latin typeface="Calibri" pitchFamily="34" charset="0"/>
                          <a:ea typeface="Calibri" pitchFamily="34" charset="-122"/>
                          <a:cs typeface="Calibri" pitchFamily="34" charset="-120"/>
                        </a:rPr>
                        <a:t>Orthogonal states</a:t>
                      </a:r>
                    </a:p>
                  </a:txBody>
                  <a:tcPr marL="82296" marR="82296" marT="36576" marB="36576" anchor="ctr">
                    <a:solidFill>
                      <a:srgbClr val="EEF2FF"/>
                    </a:solidFill>
                  </a:tcPr>
                </a:tc>
                <a:extLst>
                  <a:ext uri="{0D108BD9-81ED-4DB2-BD59-A6C34878D82A}">
                    <a16:rowId xmlns:a16="http://schemas.microsoft.com/office/drawing/2014/main" val="10003"/>
                  </a:ext>
                </a:extLst>
              </a:tr>
              <a:tr h="610000">
                <a:tc>
                  <a:txBody>
                    <a:bodyPr/>
                    <a:lstStyle/>
                    <a:p>
                      <a:pPr algn="l"/>
                      <a:r>
                        <a:rPr lang="en-US" sz="1400" b="1" dirty="0">
                          <a:solidFill>
                            <a:srgbClr val="3730A3"/>
                          </a:solidFill>
                          <a:latin typeface="Calibri" pitchFamily="34" charset="0"/>
                          <a:ea typeface="Calibri" pitchFamily="34" charset="-122"/>
                          <a:cs typeface="Calibri" pitchFamily="34" charset="-120"/>
                        </a:rPr>
                        <a:t>Rotation</a:t>
                      </a:r>
                    </a:p>
                  </a:txBody>
                  <a:tcPr marL="82296" marR="82296" marT="36576" marB="36576" anchor="ctr">
                    <a:solidFill>
                      <a:srgbClr val="FFFFFF"/>
                    </a:solidFill>
                  </a:tcPr>
                </a:tc>
                <a:tc>
                  <a:txBody>
                    <a:bodyPr/>
                    <a:lstStyle/>
                    <a:p>
                      <a:pPr algn="l"/>
                      <a:r>
                        <a:rPr lang="en-US" sz="1350" dirty="0">
                          <a:solidFill>
                            <a:srgbClr val="1F2937"/>
                          </a:solidFill>
                          <a:latin typeface="Calibri" pitchFamily="34" charset="0"/>
                          <a:ea typeface="Calibri" pitchFamily="34" charset="-122"/>
                          <a:cs typeface="Calibri" pitchFamily="34" charset="-120"/>
                        </a:rPr>
                        <a:t>Quantum gate</a:t>
                      </a:r>
                    </a:p>
                  </a:txBody>
                  <a:tcPr marL="82296" marR="82296" marT="36576" marB="36576" anchor="ctr">
                    <a:solidFill>
                      <a:srgbClr val="FFFFFF"/>
                    </a:solidFill>
                  </a:tcPr>
                </a:tc>
                <a:extLst>
                  <a:ext uri="{0D108BD9-81ED-4DB2-BD59-A6C34878D82A}">
                    <a16:rowId xmlns:a16="http://schemas.microsoft.com/office/drawing/2014/main" val="10004"/>
                  </a:ext>
                </a:extLst>
              </a:tr>
              <a:tr h="610000">
                <a:tc>
                  <a:txBody>
                    <a:bodyPr/>
                    <a:lstStyle/>
                    <a:p>
                      <a:pPr algn="l"/>
                      <a:r>
                        <a:rPr lang="en-US" sz="1400" b="1" dirty="0">
                          <a:solidFill>
                            <a:srgbClr val="3730A3"/>
                          </a:solidFill>
                          <a:latin typeface="Calibri" pitchFamily="34" charset="0"/>
                          <a:ea typeface="Calibri" pitchFamily="34" charset="-122"/>
                          <a:cs typeface="Calibri" pitchFamily="34" charset="-120"/>
                        </a:rPr>
                        <a:t>Projection</a:t>
                      </a:r>
                    </a:p>
                  </a:txBody>
                  <a:tcPr marL="82296" marR="82296" marT="36576" marB="36576" anchor="ctr">
                    <a:solidFill>
                      <a:srgbClr val="EEF2FF"/>
                    </a:solidFill>
                  </a:tcPr>
                </a:tc>
                <a:tc>
                  <a:txBody>
                    <a:bodyPr/>
                    <a:lstStyle/>
                    <a:p>
                      <a:pPr algn="l"/>
                      <a:r>
                        <a:rPr lang="en-US" sz="1350" dirty="0">
                          <a:solidFill>
                            <a:srgbClr val="1F2937"/>
                          </a:solidFill>
                          <a:latin typeface="Calibri" pitchFamily="34" charset="0"/>
                          <a:ea typeface="Calibri" pitchFamily="34" charset="-122"/>
                          <a:cs typeface="Calibri" pitchFamily="34" charset="-120"/>
                        </a:rPr>
                        <a:t>Measurement probability</a:t>
                      </a:r>
                    </a:p>
                  </a:txBody>
                  <a:tcPr marL="82296" marR="82296" marT="36576" marB="36576" anchor="ctr">
                    <a:solidFill>
                      <a:srgbClr val="EEF2FF"/>
                    </a:solidFill>
                  </a:tcPr>
                </a:tc>
                <a:extLst>
                  <a:ext uri="{0D108BD9-81ED-4DB2-BD59-A6C34878D82A}">
                    <a16:rowId xmlns:a16="http://schemas.microsoft.com/office/drawing/2014/main" val="10005"/>
                  </a:ext>
                </a:extLst>
              </a:tr>
            </a:tbl>
          </a:graphicData>
        </a:graphic>
      </p:graphicFrame>
      <p:sp>
        <p:nvSpPr>
          <p:cNvPr id="26" name="band"/>
          <p:cNvSpPr/>
          <p:nvPr/>
        </p:nvSpPr>
        <p:spPr>
          <a:xfrm>
            <a:off x="731520" y="5680000"/>
            <a:ext cx="10728960" cy="540000"/>
          </a:xfrm>
          <a:prstGeom prst="roundRect">
            <a:avLst>
              <a:gd name="adj" fmla="val 9000"/>
            </a:avLst>
          </a:prstGeom>
          <a:solidFill>
            <a:srgbClr val="EEF2FF"/>
          </a:solidFill>
          <a:ln w="19050">
            <a:solidFill>
              <a:srgbClr val="3730A3"/>
            </a:solidFill>
            <a:prstDash val="solid"/>
          </a:ln>
        </p:spPr>
        <p:txBody>
          <a:bodyPr/>
          <a:lstStyle/>
          <a:p>
            <a:endParaRPr lang="en-US"/>
          </a:p>
        </p:txBody>
      </p:sp>
      <p:sp>
        <p:nvSpPr>
          <p:cNvPr id="27" name="Text 27"/>
          <p:cNvSpPr/>
          <p:nvPr/>
        </p:nvSpPr>
        <p:spPr>
          <a:xfrm>
            <a:off x="731520" y="5680000"/>
            <a:ext cx="10728960" cy="540000"/>
          </a:xfrm>
          <a:prstGeom prst="rect">
            <a:avLst/>
          </a:prstGeom>
          <a:noFill/>
          <a:ln/>
        </p:spPr>
        <p:txBody>
          <a:bodyPr wrap="square" lIns="45720" tIns="0" rIns="45720" bIns="0" rtlCol="0" anchor="ctr"/>
          <a:lstStyle/>
          <a:p>
            <a:pPr marL="0" indent="0" algn="ctr">
              <a:buNone/>
            </a:pPr>
            <a:r>
              <a:rPr lang="en-US" sz="1450" b="1">
                <a:solidFill>
                  <a:srgbClr val="3730A3"/>
                </a:solidFill>
                <a:latin typeface="Calibri" pitchFamily="34" charset="0"/>
                <a:ea typeface="Calibri" pitchFamily="34" charset="-122"/>
                <a:cs typeface="Calibri" pitchFamily="34" charset="-120"/>
              </a:rPr>
              <a:t>Every pure single-qubit state can be visualized as a point on the surface of the Bloch sphere.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What Does Cryptography Actually Do?</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Left label"/>
          <p:cNvSpPr/>
          <p:nvPr/>
        </p:nvSpPr>
        <p:spPr>
          <a:xfrm>
            <a:off x="731520" y="1560000"/>
            <a:ext cx="46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Secure communication</a:t>
            </a:r>
          </a:p>
        </p:txBody>
      </p:sp>
      <p:sp>
        <p:nvSpPr>
          <p:cNvPr id="5" name="Alice"/>
          <p:cNvSpPr/>
          <p:nvPr/>
        </p:nvSpPr>
        <p:spPr>
          <a:xfrm>
            <a:off x="1490000" y="2020000"/>
            <a:ext cx="2100000" cy="52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Alice</a:t>
            </a:r>
          </a:p>
        </p:txBody>
      </p:sp>
      <p:sp>
        <p:nvSpPr>
          <p:cNvPr id="6" name="arrow1"/>
          <p:cNvSpPr/>
          <p:nvPr/>
        </p:nvSpPr>
        <p:spPr>
          <a:xfrm>
            <a:off x="2540000" y="2560000"/>
            <a:ext cx="0" cy="180000"/>
          </a:xfrm>
          <a:prstGeom prst="line">
            <a:avLst/>
          </a:prstGeom>
          <a:ln w="25400">
            <a:solidFill>
              <a:srgbClr val="475569"/>
            </a:solidFill>
            <a:prstDash val="solid"/>
            <a:tailEnd type="triangle" w="med" len="med"/>
          </a:ln>
        </p:spPr>
        <p:txBody>
          <a:bodyPr/>
          <a:lstStyle/>
          <a:p>
            <a:endParaRPr lang="en-US"/>
          </a:p>
        </p:txBody>
      </p:sp>
      <p:sp>
        <p:nvSpPr>
          <p:cNvPr id="7" name="Internet"/>
          <p:cNvSpPr/>
          <p:nvPr/>
        </p:nvSpPr>
        <p:spPr>
          <a:xfrm>
            <a:off x="1490000" y="2760000"/>
            <a:ext cx="2100000" cy="520000"/>
          </a:xfrm>
          <a:prstGeom prst="roundRect">
            <a:avLst>
              <a:gd name="adj" fmla="val 9000"/>
            </a:avLst>
          </a:prstGeom>
          <a:solidFill>
            <a:srgbClr val="FFFFFF"/>
          </a:solidFill>
          <a:ln w="15875">
            <a:solidFill>
              <a:srgbClr val="D1D5DB"/>
            </a:solidFill>
            <a:prstDash val="solid"/>
          </a:ln>
        </p:spPr>
        <p:txBody>
          <a:bodyPr wrap="square" lIns="45720" tIns="0" rIns="45720" bIns="0" rtlCol="0" anchor="ctr"/>
          <a:lstStyle/>
          <a:p>
            <a:pPr marL="0" indent="0" algn="ctr">
              <a:buNone/>
            </a:pPr>
            <a:r>
              <a:rPr lang="en-US" sz="1350" b="1">
                <a:solidFill>
                  <a:srgbClr val="1F2937"/>
                </a:solidFill>
                <a:latin typeface="Calibri" pitchFamily="34" charset="0"/>
                <a:ea typeface="Calibri" pitchFamily="34" charset="-122"/>
                <a:cs typeface="Calibri" pitchFamily="34" charset="-120"/>
              </a:rPr>
              <a:t>Internet</a:t>
            </a:r>
          </a:p>
        </p:txBody>
      </p:sp>
      <p:sp>
        <p:nvSpPr>
          <p:cNvPr id="8" name="arrow2"/>
          <p:cNvSpPr/>
          <p:nvPr/>
        </p:nvSpPr>
        <p:spPr>
          <a:xfrm>
            <a:off x="2540000" y="3300000"/>
            <a:ext cx="0" cy="180000"/>
          </a:xfrm>
          <a:prstGeom prst="line">
            <a:avLst/>
          </a:prstGeom>
          <a:ln w="25400">
            <a:solidFill>
              <a:srgbClr val="475569"/>
            </a:solidFill>
            <a:prstDash val="solid"/>
            <a:tailEnd type="triangle" w="med" len="med"/>
          </a:ln>
        </p:spPr>
        <p:txBody>
          <a:bodyPr/>
          <a:lstStyle/>
          <a:p>
            <a:endParaRPr lang="en-US"/>
          </a:p>
        </p:txBody>
      </p:sp>
      <p:sp>
        <p:nvSpPr>
          <p:cNvPr id="9" name="Bob"/>
          <p:cNvSpPr/>
          <p:nvPr/>
        </p:nvSpPr>
        <p:spPr>
          <a:xfrm>
            <a:off x="1490000" y="3500000"/>
            <a:ext cx="2100000" cy="52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Bob</a:t>
            </a:r>
          </a:p>
        </p:txBody>
      </p:sp>
      <p:sp>
        <p:nvSpPr>
          <p:cNvPr id="10" name="Eve"/>
          <p:cNvSpPr/>
          <p:nvPr/>
        </p:nvSpPr>
        <p:spPr>
          <a:xfrm>
            <a:off x="3890000" y="2720000"/>
            <a:ext cx="1500000" cy="600000"/>
          </a:xfrm>
          <a:prstGeom prst="roundRect">
            <a:avLst>
              <a:gd name="adj" fmla="val 9000"/>
            </a:avLst>
          </a:prstGeom>
          <a:solidFill>
            <a:srgbClr val="FEF3C7"/>
          </a:solidFill>
          <a:ln w="15875">
            <a:solidFill>
              <a:srgbClr val="B45309"/>
            </a:solidFill>
            <a:prstDash val="solid"/>
          </a:ln>
        </p:spPr>
        <p:txBody>
          <a:bodyPr wrap="square" lIns="45720" tIns="0" rIns="45720" bIns="0" rtlCol="0" anchor="ctr"/>
          <a:lstStyle/>
          <a:p>
            <a:pPr marL="0" indent="0" algn="ctr">
              <a:spcAft>
                <a:spcPts val="60"/>
              </a:spcAft>
              <a:buNone/>
            </a:pPr>
            <a:r>
              <a:rPr lang="en-US" sz="1350" b="1">
                <a:solidFill>
                  <a:srgbClr val="B45309"/>
                </a:solidFill>
                <a:latin typeface="Calibri" pitchFamily="34" charset="0"/>
                <a:ea typeface="Calibri" pitchFamily="34" charset="-122"/>
                <a:cs typeface="Calibri" pitchFamily="34" charset="-120"/>
              </a:rPr>
              <a:t>Eve</a:t>
            </a:r>
          </a:p>
          <a:p>
            <a:pPr marL="0" indent="0" algn="ctr">
              <a:buNone/>
            </a:pPr>
            <a:r>
              <a:rPr lang="en-US" sz="1050">
                <a:solidFill>
                  <a:srgbClr val="475569"/>
                </a:solidFill>
                <a:latin typeface="Calibri" pitchFamily="34" charset="0"/>
                <a:ea typeface="Calibri" pitchFamily="34" charset="-122"/>
                <a:cs typeface="Calibri" pitchFamily="34" charset="-120"/>
              </a:rPr>
              <a:t>listening</a:t>
            </a:r>
          </a:p>
        </p:txBody>
      </p:sp>
      <p:sp>
        <p:nvSpPr>
          <p:cNvPr id="11" name="Eve dashed line"/>
          <p:cNvSpPr/>
          <p:nvPr/>
        </p:nvSpPr>
        <p:spPr>
          <a:xfrm>
            <a:off x="3590000" y="3020000"/>
            <a:ext cx="300000" cy="0"/>
          </a:xfrm>
          <a:prstGeom prst="line">
            <a:avLst/>
          </a:prstGeom>
          <a:ln w="15875">
            <a:solidFill>
              <a:srgbClr val="B45309"/>
            </a:solidFill>
            <a:prstDash val="dash"/>
          </a:ln>
        </p:spPr>
        <p:txBody>
          <a:bodyPr/>
          <a:lstStyle/>
          <a:p>
            <a:endParaRPr lang="en-US"/>
          </a:p>
        </p:txBody>
      </p:sp>
      <p:sp>
        <p:nvSpPr>
          <p:cNvPr id="12" name="Right label"/>
          <p:cNvSpPr/>
          <p:nvPr/>
        </p:nvSpPr>
        <p:spPr>
          <a:xfrm>
            <a:off x="6400800" y="1560000"/>
            <a:ext cx="505968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Three fundamental goals</a:t>
            </a:r>
          </a:p>
        </p:txBody>
      </p:sp>
      <p:sp>
        <p:nvSpPr>
          <p:cNvPr id="13" name="Goal 1"/>
          <p:cNvSpPr/>
          <p:nvPr/>
        </p:nvSpPr>
        <p:spPr>
          <a:xfrm>
            <a:off x="6400800" y="1980000"/>
            <a:ext cx="5059680" cy="1040000"/>
          </a:xfrm>
          <a:prstGeom prst="roundRect">
            <a:avLst>
              <a:gd name="adj" fmla="val 6000"/>
            </a:avLst>
          </a:prstGeom>
          <a:solidFill>
            <a:srgbClr val="EEF2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500" b="1">
                <a:solidFill>
                  <a:srgbClr val="3730A3"/>
                </a:solidFill>
                <a:latin typeface="Calibri" pitchFamily="34" charset="0"/>
                <a:ea typeface="Calibri" pitchFamily="34" charset="-122"/>
                <a:cs typeface="Calibri" pitchFamily="34" charset="-120"/>
              </a:rPr>
              <a:t>Confidentiality</a:t>
            </a:r>
          </a:p>
          <a:p>
            <a:pPr marL="0" indent="0" algn="l">
              <a:buNone/>
            </a:pPr>
            <a:r>
              <a:rPr lang="en-US" sz="1200">
                <a:solidFill>
                  <a:srgbClr val="475569"/>
                </a:solidFill>
                <a:latin typeface="Calibri" pitchFamily="34" charset="0"/>
                <a:ea typeface="Calibri" pitchFamily="34" charset="-122"/>
                <a:cs typeface="Calibri" pitchFamily="34" charset="-120"/>
              </a:rPr>
              <a:t>Only the intended recipient can read the message.</a:t>
            </a:r>
          </a:p>
        </p:txBody>
      </p:sp>
      <p:sp>
        <p:nvSpPr>
          <p:cNvPr id="14" name="Goal 2"/>
          <p:cNvSpPr/>
          <p:nvPr/>
        </p:nvSpPr>
        <p:spPr>
          <a:xfrm>
            <a:off x="6400800" y="3120000"/>
            <a:ext cx="5059680" cy="1040000"/>
          </a:xfrm>
          <a:prstGeom prst="roundRect">
            <a:avLst>
              <a:gd name="adj" fmla="val 6000"/>
            </a:avLst>
          </a:prstGeom>
          <a:solidFill>
            <a:srgbClr val="FFFF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500" b="1">
                <a:solidFill>
                  <a:srgbClr val="0D9488"/>
                </a:solidFill>
                <a:latin typeface="Calibri" pitchFamily="34" charset="0"/>
                <a:ea typeface="Calibri" pitchFamily="34" charset="-122"/>
                <a:cs typeface="Calibri" pitchFamily="34" charset="-120"/>
              </a:rPr>
              <a:t>Integrity</a:t>
            </a:r>
          </a:p>
          <a:p>
            <a:pPr marL="0" indent="0" algn="l">
              <a:buNone/>
            </a:pPr>
            <a:r>
              <a:rPr lang="en-US" sz="1200">
                <a:solidFill>
                  <a:srgbClr val="475569"/>
                </a:solidFill>
                <a:latin typeface="Calibri" pitchFamily="34" charset="0"/>
                <a:ea typeface="Calibri" pitchFamily="34" charset="-122"/>
                <a:cs typeface="Calibri" pitchFamily="34" charset="-120"/>
              </a:rPr>
              <a:t>The message has not been modified.</a:t>
            </a:r>
          </a:p>
        </p:txBody>
      </p:sp>
      <p:sp>
        <p:nvSpPr>
          <p:cNvPr id="15" name="Goal 3"/>
          <p:cNvSpPr/>
          <p:nvPr/>
        </p:nvSpPr>
        <p:spPr>
          <a:xfrm>
            <a:off x="6400800" y="4260000"/>
            <a:ext cx="5059680" cy="1040000"/>
          </a:xfrm>
          <a:prstGeom prst="roundRect">
            <a:avLst>
              <a:gd name="adj" fmla="val 6000"/>
            </a:avLst>
          </a:prstGeom>
          <a:solidFill>
            <a:srgbClr val="EEF2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500" b="1">
                <a:solidFill>
                  <a:srgbClr val="B45309"/>
                </a:solidFill>
                <a:latin typeface="Calibri" pitchFamily="34" charset="0"/>
                <a:ea typeface="Calibri" pitchFamily="34" charset="-122"/>
                <a:cs typeface="Calibri" pitchFamily="34" charset="-120"/>
              </a:rPr>
              <a:t>Authentication</a:t>
            </a:r>
          </a:p>
          <a:p>
            <a:pPr marL="0" indent="0" algn="l">
              <a:buNone/>
            </a:pPr>
            <a:r>
              <a:rPr lang="en-US" sz="1200">
                <a:solidFill>
                  <a:srgbClr val="475569"/>
                </a:solidFill>
                <a:latin typeface="Calibri" pitchFamily="34" charset="0"/>
                <a:ea typeface="Calibri" pitchFamily="34" charset="-122"/>
                <a:cs typeface="Calibri" pitchFamily="34" charset="-120"/>
              </a:rPr>
              <a:t>Verify the sender’s identity.</a:t>
            </a:r>
          </a:p>
        </p:txBody>
      </p:sp>
      <p:sp>
        <p:nvSpPr>
          <p:cNvPr id="16"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Key idea:  </a:t>
            </a:r>
            <a:r>
              <a:rPr lang="en-US" sz="1500" b="1">
                <a:solidFill>
                  <a:srgbClr val="3730A3"/>
                </a:solidFill>
                <a:latin typeface="Calibri" pitchFamily="34" charset="0"/>
                <a:ea typeface="Calibri" pitchFamily="34" charset="-122"/>
                <a:cs typeface="Calibri" pitchFamily="34" charset="-120"/>
              </a:rPr>
              <a:t>Cryptography is much more than encryption.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What is Encryption?</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Flow label"/>
          <p:cNvSpPr/>
          <p:nvPr/>
        </p:nvSpPr>
        <p:spPr>
          <a:xfrm>
            <a:off x="731520" y="1560000"/>
            <a:ext cx="6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The encryption pipeline</a:t>
            </a:r>
          </a:p>
        </p:txBody>
      </p:sp>
      <p:sp>
        <p:nvSpPr>
          <p:cNvPr id="5" name="Plaintext 1"/>
          <p:cNvSpPr/>
          <p:nvPr/>
        </p:nvSpPr>
        <p:spPr>
          <a:xfrm>
            <a:off x="548640" y="2050000"/>
            <a:ext cx="1850000" cy="820000"/>
          </a:xfrm>
          <a:prstGeom prst="roundRect">
            <a:avLst>
              <a:gd name="adj" fmla="val 8000"/>
            </a:avLst>
          </a:prstGeom>
          <a:solidFill>
            <a:srgbClr val="FFFFFF"/>
          </a:solidFill>
          <a:ln w="15875">
            <a:solidFill>
              <a:srgbClr val="D1D5DB"/>
            </a:solidFill>
            <a:prstDash val="solid"/>
          </a:ln>
        </p:spPr>
        <p:txBody>
          <a:bodyPr wrap="square" lIns="45720" tIns="0" rIns="45720" bIns="0" rtlCol="0" anchor="ctr"/>
          <a:lstStyle/>
          <a:p>
            <a:pPr marL="0" indent="0" algn="ctr">
              <a:buNone/>
            </a:pPr>
            <a:r>
              <a:rPr lang="en-US" sz="1400" b="1">
                <a:solidFill>
                  <a:srgbClr val="1F2937"/>
                </a:solidFill>
                <a:latin typeface="Calibri" pitchFamily="34" charset="0"/>
                <a:ea typeface="Calibri" pitchFamily="34" charset="-122"/>
                <a:cs typeface="Calibri" pitchFamily="34" charset="-120"/>
              </a:rPr>
              <a:t>Plaintext</a:t>
            </a:r>
          </a:p>
        </p:txBody>
      </p:sp>
      <p:sp>
        <p:nvSpPr>
          <p:cNvPr id="6" name="arrow1"/>
          <p:cNvSpPr/>
          <p:nvPr/>
        </p:nvSpPr>
        <p:spPr>
          <a:xfrm>
            <a:off x="2488640" y="2460000"/>
            <a:ext cx="280000" cy="0"/>
          </a:xfrm>
          <a:prstGeom prst="line">
            <a:avLst/>
          </a:prstGeom>
          <a:ln w="25400">
            <a:solidFill>
              <a:srgbClr val="475569"/>
            </a:solidFill>
            <a:prstDash val="solid"/>
            <a:tailEnd type="triangle" w="med" len="med"/>
          </a:ln>
        </p:spPr>
        <p:txBody>
          <a:bodyPr/>
          <a:lstStyle/>
          <a:p>
            <a:endParaRPr lang="en-US"/>
          </a:p>
        </p:txBody>
      </p:sp>
      <p:sp>
        <p:nvSpPr>
          <p:cNvPr id="7" name="Encryption"/>
          <p:cNvSpPr/>
          <p:nvPr/>
        </p:nvSpPr>
        <p:spPr>
          <a:xfrm>
            <a:off x="2859640" y="2050000"/>
            <a:ext cx="1850000" cy="820000"/>
          </a:xfrm>
          <a:prstGeom prst="roundRect">
            <a:avLst>
              <a:gd name="adj" fmla="val 8000"/>
            </a:avLst>
          </a:prstGeom>
          <a:solidFill>
            <a:srgbClr val="EEF2FF"/>
          </a:solidFill>
          <a:ln w="15875">
            <a:solidFill>
              <a:srgbClr val="3730A3"/>
            </a:solidFill>
            <a:prstDash val="solid"/>
          </a:ln>
        </p:spPr>
        <p:txBody>
          <a:bodyPr wrap="square" lIns="45720" tIns="0" rIns="45720" bIns="0" rtlCol="0" anchor="ctr"/>
          <a:lstStyle/>
          <a:p>
            <a:pPr marL="0" indent="0" algn="ctr">
              <a:spcAft>
                <a:spcPts val="40"/>
              </a:spcAft>
              <a:buNone/>
            </a:pPr>
            <a:r>
              <a:rPr lang="en-US" sz="1400" b="1">
                <a:solidFill>
                  <a:srgbClr val="3730A3"/>
                </a:solidFill>
                <a:latin typeface="Calibri" pitchFamily="34" charset="0"/>
                <a:ea typeface="Calibri" pitchFamily="34" charset="-122"/>
                <a:cs typeface="Calibri" pitchFamily="34" charset="-120"/>
              </a:rPr>
              <a:t>Encryption</a:t>
            </a:r>
          </a:p>
          <a:p>
            <a:pPr marL="0" indent="0" algn="ctr">
              <a:buNone/>
            </a:pPr>
            <a:r>
              <a:rPr lang="en-US" sz="1150" b="1">
                <a:solidFill>
                  <a:srgbClr val="0D9488"/>
                </a:solidFill>
                <a:latin typeface="Calibri" pitchFamily="34" charset="0"/>
                <a:ea typeface="Calibri" pitchFamily="34" charset="-122"/>
                <a:cs typeface="Calibri" pitchFamily="34" charset="-120"/>
              </a:rPr>
              <a:t>+ Key</a:t>
            </a:r>
          </a:p>
        </p:txBody>
      </p:sp>
      <p:sp>
        <p:nvSpPr>
          <p:cNvPr id="8" name="arrow2"/>
          <p:cNvSpPr/>
          <p:nvPr/>
        </p:nvSpPr>
        <p:spPr>
          <a:xfrm>
            <a:off x="4799640" y="2460000"/>
            <a:ext cx="280000" cy="0"/>
          </a:xfrm>
          <a:prstGeom prst="line">
            <a:avLst/>
          </a:prstGeom>
          <a:ln w="25400">
            <a:solidFill>
              <a:srgbClr val="475569"/>
            </a:solidFill>
            <a:prstDash val="solid"/>
            <a:tailEnd type="triangle" w="med" len="med"/>
          </a:ln>
        </p:spPr>
        <p:txBody>
          <a:bodyPr/>
          <a:lstStyle/>
          <a:p>
            <a:endParaRPr lang="en-US"/>
          </a:p>
        </p:txBody>
      </p:sp>
      <p:sp>
        <p:nvSpPr>
          <p:cNvPr id="9" name="Ciphertext"/>
          <p:cNvSpPr/>
          <p:nvPr/>
        </p:nvSpPr>
        <p:spPr>
          <a:xfrm>
            <a:off x="5170640" y="2050000"/>
            <a:ext cx="1850000" cy="820000"/>
          </a:xfrm>
          <a:prstGeom prst="roundRect">
            <a:avLst>
              <a:gd name="adj" fmla="val 8000"/>
            </a:avLst>
          </a:prstGeom>
          <a:solidFill>
            <a:srgbClr val="CCFBF1"/>
          </a:solidFill>
          <a:ln w="15875">
            <a:solidFill>
              <a:srgbClr val="0D9488"/>
            </a:solidFill>
            <a:prstDash val="solid"/>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Ciphertext</a:t>
            </a:r>
          </a:p>
        </p:txBody>
      </p:sp>
      <p:sp>
        <p:nvSpPr>
          <p:cNvPr id="10" name="arrow3"/>
          <p:cNvSpPr/>
          <p:nvPr/>
        </p:nvSpPr>
        <p:spPr>
          <a:xfrm>
            <a:off x="7110640" y="2460000"/>
            <a:ext cx="280000" cy="0"/>
          </a:xfrm>
          <a:prstGeom prst="line">
            <a:avLst/>
          </a:prstGeom>
          <a:ln w="25400">
            <a:solidFill>
              <a:srgbClr val="475569"/>
            </a:solidFill>
            <a:prstDash val="solid"/>
            <a:tailEnd type="triangle" w="med" len="med"/>
          </a:ln>
        </p:spPr>
        <p:txBody>
          <a:bodyPr/>
          <a:lstStyle/>
          <a:p>
            <a:endParaRPr lang="en-US"/>
          </a:p>
        </p:txBody>
      </p:sp>
      <p:sp>
        <p:nvSpPr>
          <p:cNvPr id="11" name="Network label"/>
          <p:cNvSpPr/>
          <p:nvPr/>
        </p:nvSpPr>
        <p:spPr>
          <a:xfrm>
            <a:off x="6650640" y="2920000"/>
            <a:ext cx="1200000" cy="280000"/>
          </a:xfrm>
          <a:prstGeom prst="rect">
            <a:avLst/>
          </a:prstGeom>
          <a:noFill/>
          <a:ln/>
        </p:spPr>
        <p:txBody>
          <a:bodyPr wrap="square" lIns="0" tIns="0" rIns="0" bIns="0" rtlCol="0" anchor="t"/>
          <a:lstStyle/>
          <a:p>
            <a:pPr marL="0" indent="0" algn="ctr">
              <a:buNone/>
            </a:pPr>
            <a:r>
              <a:rPr lang="en-US" sz="1050" b="1" i="1">
                <a:solidFill>
                  <a:srgbClr val="475569"/>
                </a:solidFill>
                <a:latin typeface="Calibri" pitchFamily="34" charset="0"/>
                <a:ea typeface="Calibri" pitchFamily="34" charset="-122"/>
                <a:cs typeface="Calibri" pitchFamily="34" charset="-120"/>
              </a:rPr>
              <a:t>Sent over the network</a:t>
            </a:r>
          </a:p>
        </p:txBody>
      </p:sp>
      <p:sp>
        <p:nvSpPr>
          <p:cNvPr id="12" name="Decryption"/>
          <p:cNvSpPr/>
          <p:nvPr/>
        </p:nvSpPr>
        <p:spPr>
          <a:xfrm>
            <a:off x="7481640" y="2050000"/>
            <a:ext cx="1850000" cy="820000"/>
          </a:xfrm>
          <a:prstGeom prst="roundRect">
            <a:avLst>
              <a:gd name="adj" fmla="val 8000"/>
            </a:avLst>
          </a:prstGeom>
          <a:solidFill>
            <a:srgbClr val="EEF2FF"/>
          </a:solidFill>
          <a:ln w="15875">
            <a:solidFill>
              <a:srgbClr val="3730A3"/>
            </a:solidFill>
            <a:prstDash val="solid"/>
          </a:ln>
        </p:spPr>
        <p:txBody>
          <a:bodyPr wrap="square" lIns="45720" tIns="0" rIns="45720" bIns="0" rtlCol="0" anchor="ctr"/>
          <a:lstStyle/>
          <a:p>
            <a:pPr marL="0" indent="0" algn="ctr">
              <a:spcAft>
                <a:spcPts val="40"/>
              </a:spcAft>
              <a:buNone/>
            </a:pPr>
            <a:r>
              <a:rPr lang="en-US" sz="1400" b="1">
                <a:solidFill>
                  <a:srgbClr val="3730A3"/>
                </a:solidFill>
                <a:latin typeface="Calibri" pitchFamily="34" charset="0"/>
                <a:ea typeface="Calibri" pitchFamily="34" charset="-122"/>
                <a:cs typeface="Calibri" pitchFamily="34" charset="-120"/>
              </a:rPr>
              <a:t>Decryption</a:t>
            </a:r>
          </a:p>
          <a:p>
            <a:pPr marL="0" indent="0" algn="ctr">
              <a:buNone/>
            </a:pPr>
            <a:r>
              <a:rPr lang="en-US" sz="1150" b="1">
                <a:solidFill>
                  <a:srgbClr val="0D9488"/>
                </a:solidFill>
                <a:latin typeface="Calibri" pitchFamily="34" charset="0"/>
                <a:ea typeface="Calibri" pitchFamily="34" charset="-122"/>
                <a:cs typeface="Calibri" pitchFamily="34" charset="-120"/>
              </a:rPr>
              <a:t>+ Key</a:t>
            </a:r>
          </a:p>
        </p:txBody>
      </p:sp>
      <p:sp>
        <p:nvSpPr>
          <p:cNvPr id="13" name="arrow4"/>
          <p:cNvSpPr/>
          <p:nvPr/>
        </p:nvSpPr>
        <p:spPr>
          <a:xfrm>
            <a:off x="9421640" y="2460000"/>
            <a:ext cx="280000" cy="0"/>
          </a:xfrm>
          <a:prstGeom prst="line">
            <a:avLst/>
          </a:prstGeom>
          <a:ln w="25400">
            <a:solidFill>
              <a:srgbClr val="475569"/>
            </a:solidFill>
            <a:prstDash val="solid"/>
            <a:tailEnd type="triangle" w="med" len="med"/>
          </a:ln>
        </p:spPr>
        <p:txBody>
          <a:bodyPr/>
          <a:lstStyle/>
          <a:p>
            <a:endParaRPr lang="en-US"/>
          </a:p>
        </p:txBody>
      </p:sp>
      <p:sp>
        <p:nvSpPr>
          <p:cNvPr id="14" name="Plaintext 2"/>
          <p:cNvSpPr/>
          <p:nvPr/>
        </p:nvSpPr>
        <p:spPr>
          <a:xfrm>
            <a:off x="9792640" y="2050000"/>
            <a:ext cx="1850000" cy="820000"/>
          </a:xfrm>
          <a:prstGeom prst="roundRect">
            <a:avLst>
              <a:gd name="adj" fmla="val 8000"/>
            </a:avLst>
          </a:prstGeom>
          <a:solidFill>
            <a:srgbClr val="FFFFFF"/>
          </a:solidFill>
          <a:ln w="15875">
            <a:solidFill>
              <a:srgbClr val="D1D5DB"/>
            </a:solidFill>
            <a:prstDash val="solid"/>
          </a:ln>
        </p:spPr>
        <p:txBody>
          <a:bodyPr wrap="square" lIns="45720" tIns="0" rIns="45720" bIns="0" rtlCol="0" anchor="ctr"/>
          <a:lstStyle/>
          <a:p>
            <a:pPr marL="0" indent="0" algn="ctr">
              <a:buNone/>
            </a:pPr>
            <a:r>
              <a:rPr lang="en-US" sz="1400" b="1">
                <a:solidFill>
                  <a:srgbClr val="1F2937"/>
                </a:solidFill>
                <a:latin typeface="Calibri" pitchFamily="34" charset="0"/>
                <a:ea typeface="Calibri" pitchFamily="34" charset="-122"/>
                <a:cs typeface="Calibri" pitchFamily="34" charset="-120"/>
              </a:rPr>
              <a:t>Plaintext</a:t>
            </a:r>
          </a:p>
        </p:txBody>
      </p:sp>
      <p:sp>
        <p:nvSpPr>
          <p:cNvPr id="15" name="Def label"/>
          <p:cNvSpPr/>
          <p:nvPr/>
        </p:nvSpPr>
        <p:spPr>
          <a:xfrm>
            <a:off x="731520" y="3420000"/>
            <a:ext cx="6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Key terms</a:t>
            </a:r>
          </a:p>
        </p:txBody>
      </p:sp>
      <p:sp>
        <p:nvSpPr>
          <p:cNvPr id="16" name="Def 1"/>
          <p:cNvSpPr/>
          <p:nvPr/>
        </p:nvSpPr>
        <p:spPr>
          <a:xfrm>
            <a:off x="548640" y="3820000"/>
            <a:ext cx="2480000" cy="960000"/>
          </a:xfrm>
          <a:prstGeom prst="roundRect">
            <a:avLst>
              <a:gd name="adj" fmla="val 7000"/>
            </a:avLst>
          </a:prstGeom>
          <a:solidFill>
            <a:srgbClr val="EEF2FF"/>
          </a:solidFill>
          <a:ln w="15875">
            <a:solidFill>
              <a:srgbClr val="D1D5DB"/>
            </a:solidFill>
            <a:prstDash val="solid"/>
          </a:ln>
        </p:spPr>
        <p:txBody>
          <a:bodyPr wrap="square" lIns="137160" tIns="45720" rIns="137160" bIns="45720" rtlCol="0" anchor="ctr"/>
          <a:lstStyle/>
          <a:p>
            <a:pPr marL="0" indent="0" algn="l">
              <a:spcAft>
                <a:spcPts val="200"/>
              </a:spcAft>
              <a:buNone/>
            </a:pPr>
            <a:r>
              <a:rPr lang="en-US" sz="1300" b="1">
                <a:solidFill>
                  <a:srgbClr val="3730A3"/>
                </a:solidFill>
                <a:latin typeface="Calibri" pitchFamily="34" charset="0"/>
                <a:ea typeface="Calibri" pitchFamily="34" charset="-122"/>
                <a:cs typeface="Calibri" pitchFamily="34" charset="-120"/>
              </a:rPr>
              <a:t>Plaintext</a:t>
            </a:r>
          </a:p>
          <a:p>
            <a:pPr marL="0" indent="0" algn="l">
              <a:buNone/>
            </a:pPr>
            <a:r>
              <a:rPr lang="en-US" sz="1100">
                <a:solidFill>
                  <a:srgbClr val="475569"/>
                </a:solidFill>
                <a:latin typeface="Calibri" pitchFamily="34" charset="0"/>
                <a:ea typeface="Calibri" pitchFamily="34" charset="-122"/>
                <a:cs typeface="Calibri" pitchFamily="34" charset="-120"/>
              </a:rPr>
              <a:t>The readable, original message.</a:t>
            </a:r>
          </a:p>
        </p:txBody>
      </p:sp>
      <p:sp>
        <p:nvSpPr>
          <p:cNvPr id="17" name="Def 2"/>
          <p:cNvSpPr/>
          <p:nvPr/>
        </p:nvSpPr>
        <p:spPr>
          <a:xfrm>
            <a:off x="3420213" y="3820000"/>
            <a:ext cx="2480000" cy="960000"/>
          </a:xfrm>
          <a:prstGeom prst="roundRect">
            <a:avLst>
              <a:gd name="adj" fmla="val 7000"/>
            </a:avLst>
          </a:prstGeom>
          <a:solidFill>
            <a:srgbClr val="EEF2FF"/>
          </a:solidFill>
          <a:ln w="15875">
            <a:solidFill>
              <a:srgbClr val="D1D5DB"/>
            </a:solidFill>
            <a:prstDash val="solid"/>
          </a:ln>
        </p:spPr>
        <p:txBody>
          <a:bodyPr wrap="square" lIns="137160" tIns="45720" rIns="137160" bIns="45720" rtlCol="0" anchor="ctr"/>
          <a:lstStyle/>
          <a:p>
            <a:pPr marL="0" indent="0" algn="l">
              <a:spcAft>
                <a:spcPts val="200"/>
              </a:spcAft>
              <a:buNone/>
            </a:pPr>
            <a:r>
              <a:rPr lang="en-US" sz="1300" b="1">
                <a:solidFill>
                  <a:srgbClr val="0D9488"/>
                </a:solidFill>
                <a:latin typeface="Calibri" pitchFamily="34" charset="0"/>
                <a:ea typeface="Calibri" pitchFamily="34" charset="-122"/>
                <a:cs typeface="Calibri" pitchFamily="34" charset="-120"/>
              </a:rPr>
              <a:t>Ciphertext</a:t>
            </a:r>
          </a:p>
          <a:p>
            <a:pPr marL="0" indent="0" algn="l">
              <a:buNone/>
            </a:pPr>
            <a:r>
              <a:rPr lang="en-US" sz="1100">
                <a:solidFill>
                  <a:srgbClr val="475569"/>
                </a:solidFill>
                <a:latin typeface="Calibri" pitchFamily="34" charset="0"/>
                <a:ea typeface="Calibri" pitchFamily="34" charset="-122"/>
                <a:cs typeface="Calibri" pitchFamily="34" charset="-120"/>
              </a:rPr>
              <a:t>The scrambled, unreadable form.</a:t>
            </a:r>
          </a:p>
        </p:txBody>
      </p:sp>
      <p:sp>
        <p:nvSpPr>
          <p:cNvPr id="18" name="Def 3"/>
          <p:cNvSpPr/>
          <p:nvPr/>
        </p:nvSpPr>
        <p:spPr>
          <a:xfrm>
            <a:off x="6291786" y="3820000"/>
            <a:ext cx="2480000" cy="960000"/>
          </a:xfrm>
          <a:prstGeom prst="roundRect">
            <a:avLst>
              <a:gd name="adj" fmla="val 7000"/>
            </a:avLst>
          </a:prstGeom>
          <a:solidFill>
            <a:srgbClr val="EEF2FF"/>
          </a:solidFill>
          <a:ln w="15875">
            <a:solidFill>
              <a:srgbClr val="D1D5DB"/>
            </a:solidFill>
            <a:prstDash val="solid"/>
          </a:ln>
        </p:spPr>
        <p:txBody>
          <a:bodyPr wrap="square" lIns="137160" tIns="45720" rIns="137160" bIns="45720" rtlCol="0" anchor="ctr"/>
          <a:lstStyle/>
          <a:p>
            <a:pPr marL="0" indent="0" algn="l">
              <a:spcAft>
                <a:spcPts val="200"/>
              </a:spcAft>
              <a:buNone/>
            </a:pPr>
            <a:r>
              <a:rPr lang="en-US" sz="1300" b="1">
                <a:solidFill>
                  <a:srgbClr val="3730A3"/>
                </a:solidFill>
                <a:latin typeface="Calibri" pitchFamily="34" charset="0"/>
                <a:ea typeface="Calibri" pitchFamily="34" charset="-122"/>
                <a:cs typeface="Calibri" pitchFamily="34" charset="-120"/>
              </a:rPr>
              <a:t>Encryption key</a:t>
            </a:r>
          </a:p>
          <a:p>
            <a:pPr marL="0" indent="0" algn="l">
              <a:buNone/>
            </a:pPr>
            <a:r>
              <a:rPr lang="en-US" sz="1100">
                <a:solidFill>
                  <a:srgbClr val="475569"/>
                </a:solidFill>
                <a:latin typeface="Calibri" pitchFamily="34" charset="0"/>
                <a:ea typeface="Calibri" pitchFamily="34" charset="-122"/>
                <a:cs typeface="Calibri" pitchFamily="34" charset="-120"/>
              </a:rPr>
              <a:t>Locks the message.</a:t>
            </a:r>
          </a:p>
        </p:txBody>
      </p:sp>
      <p:sp>
        <p:nvSpPr>
          <p:cNvPr id="19" name="Def 4"/>
          <p:cNvSpPr/>
          <p:nvPr/>
        </p:nvSpPr>
        <p:spPr>
          <a:xfrm>
            <a:off x="9163359" y="3820000"/>
            <a:ext cx="2480000" cy="960000"/>
          </a:xfrm>
          <a:prstGeom prst="roundRect">
            <a:avLst>
              <a:gd name="adj" fmla="val 7000"/>
            </a:avLst>
          </a:prstGeom>
          <a:solidFill>
            <a:srgbClr val="EEF2FF"/>
          </a:solidFill>
          <a:ln w="15875">
            <a:solidFill>
              <a:srgbClr val="D1D5DB"/>
            </a:solidFill>
            <a:prstDash val="solid"/>
          </a:ln>
        </p:spPr>
        <p:txBody>
          <a:bodyPr wrap="square" lIns="137160" tIns="45720" rIns="137160" bIns="45720" rtlCol="0" anchor="ctr"/>
          <a:lstStyle/>
          <a:p>
            <a:pPr marL="0" indent="0" algn="l">
              <a:spcAft>
                <a:spcPts val="200"/>
              </a:spcAft>
              <a:buNone/>
            </a:pPr>
            <a:r>
              <a:rPr lang="en-US" sz="1300" b="1">
                <a:solidFill>
                  <a:srgbClr val="3730A3"/>
                </a:solidFill>
                <a:latin typeface="Calibri" pitchFamily="34" charset="0"/>
                <a:ea typeface="Calibri" pitchFamily="34" charset="-122"/>
                <a:cs typeface="Calibri" pitchFamily="34" charset="-120"/>
              </a:rPr>
              <a:t>Decryption key</a:t>
            </a:r>
          </a:p>
          <a:p>
            <a:pPr marL="0" indent="0" algn="l">
              <a:buNone/>
            </a:pPr>
            <a:r>
              <a:rPr lang="en-US" sz="1100">
                <a:solidFill>
                  <a:srgbClr val="475569"/>
                </a:solidFill>
                <a:latin typeface="Calibri" pitchFamily="34" charset="0"/>
                <a:ea typeface="Calibri" pitchFamily="34" charset="-122"/>
                <a:cs typeface="Calibri" pitchFamily="34" charset="-120"/>
              </a:rPr>
              <a:t>Unlocks the message.</a:t>
            </a:r>
          </a:p>
        </p:txBody>
      </p:sp>
      <p:sp>
        <p:nvSpPr>
          <p:cNvPr id="20"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Definition:  </a:t>
            </a:r>
            <a:r>
              <a:rPr lang="en-US" sz="1500" b="1">
                <a:solidFill>
                  <a:srgbClr val="3730A3"/>
                </a:solidFill>
                <a:latin typeface="Calibri" pitchFamily="34" charset="0"/>
                <a:ea typeface="Calibri" pitchFamily="34" charset="-122"/>
                <a:cs typeface="Calibri" pitchFamily="34" charset="-120"/>
              </a:rPr>
              <a:t>Encryption converts readable data into unreadable data using a key.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The Key Distribution Problem</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ub label"/>
          <p:cNvSpPr/>
          <p:nvPr/>
        </p:nvSpPr>
        <p:spPr>
          <a:xfrm>
            <a:off x="731520" y="1560000"/>
            <a:ext cx="6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The core challenge</a:t>
            </a:r>
          </a:p>
        </p:txBody>
      </p:sp>
      <p:sp>
        <p:nvSpPr>
          <p:cNvPr id="5" name="Alice"/>
          <p:cNvSpPr/>
          <p:nvPr/>
        </p:nvSpPr>
        <p:spPr>
          <a:xfrm>
            <a:off x="1096000" y="2060000"/>
            <a:ext cx="2100000" cy="56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Alice</a:t>
            </a:r>
          </a:p>
        </p:txBody>
      </p:sp>
      <p:sp>
        <p:nvSpPr>
          <p:cNvPr id="6" name="arrowL"/>
          <p:cNvSpPr/>
          <p:nvPr/>
        </p:nvSpPr>
        <p:spPr>
          <a:xfrm>
            <a:off x="3236000" y="2340000"/>
            <a:ext cx="280000" cy="0"/>
          </a:xfrm>
          <a:prstGeom prst="line">
            <a:avLst/>
          </a:prstGeom>
          <a:ln w="25400">
            <a:solidFill>
              <a:srgbClr val="475569"/>
            </a:solidFill>
            <a:prstDash val="solid"/>
            <a:tailEnd type="triangle" w="med" len="med"/>
          </a:ln>
        </p:spPr>
        <p:txBody>
          <a:bodyPr/>
          <a:lstStyle/>
          <a:p>
            <a:endParaRPr lang="en-US"/>
          </a:p>
        </p:txBody>
      </p:sp>
      <p:sp>
        <p:nvSpPr>
          <p:cNvPr id="7" name="Question"/>
          <p:cNvSpPr/>
          <p:nvPr/>
        </p:nvSpPr>
        <p:spPr>
          <a:xfrm>
            <a:off x="3596000" y="2000000"/>
            <a:ext cx="5000000" cy="680000"/>
          </a:xfrm>
          <a:prstGeom prst="roundRect">
            <a:avLst>
              <a:gd name="adj" fmla="val 8000"/>
            </a:avLst>
          </a:prstGeom>
          <a:solidFill>
            <a:srgbClr val="FFFFFF"/>
          </a:solidFill>
          <a:ln w="19050">
            <a:solidFill>
              <a:srgbClr val="3730A3"/>
            </a:solidFill>
            <a:prstDash val="solid"/>
          </a:ln>
        </p:spPr>
        <p:txBody>
          <a:bodyPr wrap="square" lIns="91440" tIns="0" rIns="91440" bIns="0" rtlCol="0" anchor="ctr"/>
          <a:lstStyle/>
          <a:p>
            <a:pPr marL="0" indent="0" algn="ctr">
              <a:buNone/>
            </a:pPr>
            <a:r>
              <a:rPr lang="en-US" sz="1600" b="1">
                <a:solidFill>
                  <a:srgbClr val="0D9488"/>
                </a:solidFill>
                <a:latin typeface="Calibri" pitchFamily="34" charset="0"/>
                <a:ea typeface="Calibri" pitchFamily="34" charset="-122"/>
                <a:cs typeface="Calibri" pitchFamily="34" charset="-120"/>
              </a:rPr>
              <a:t>?   </a:t>
            </a:r>
            <a:r>
              <a:rPr lang="en-US" sz="1500" b="1">
                <a:solidFill>
                  <a:srgbClr val="1F2937"/>
                </a:solidFill>
                <a:latin typeface="Calibri" pitchFamily="34" charset="0"/>
                <a:ea typeface="Calibri" pitchFamily="34" charset="-122"/>
                <a:cs typeface="Calibri" pitchFamily="34" charset="-120"/>
              </a:rPr>
              <a:t>How do we securely share the key?</a:t>
            </a:r>
            <a:r>
              <a:rPr lang="en-US" sz="1600" b="1">
                <a:solidFill>
                  <a:srgbClr val="0D9488"/>
                </a:solidFill>
                <a:latin typeface="Calibri" pitchFamily="34" charset="0"/>
                <a:ea typeface="Calibri" pitchFamily="34" charset="-122"/>
                <a:cs typeface="Calibri" pitchFamily="34" charset="-120"/>
              </a:rPr>
              <a:t>   ?</a:t>
            </a:r>
          </a:p>
        </p:txBody>
      </p:sp>
      <p:sp>
        <p:nvSpPr>
          <p:cNvPr id="8" name="arrowR"/>
          <p:cNvSpPr/>
          <p:nvPr/>
        </p:nvSpPr>
        <p:spPr>
          <a:xfrm>
            <a:off x="8676000" y="2340000"/>
            <a:ext cx="280000" cy="0"/>
          </a:xfrm>
          <a:prstGeom prst="line">
            <a:avLst/>
          </a:prstGeom>
          <a:ln w="25400">
            <a:solidFill>
              <a:srgbClr val="475569"/>
            </a:solidFill>
            <a:prstDash val="solid"/>
            <a:tailEnd type="triangle" w="med" len="med"/>
          </a:ln>
        </p:spPr>
        <p:txBody>
          <a:bodyPr/>
          <a:lstStyle/>
          <a:p>
            <a:endParaRPr lang="en-US"/>
          </a:p>
        </p:txBody>
      </p:sp>
      <p:sp>
        <p:nvSpPr>
          <p:cNvPr id="9" name="Bob"/>
          <p:cNvSpPr/>
          <p:nvPr/>
        </p:nvSpPr>
        <p:spPr>
          <a:xfrm>
            <a:off x="9036000" y="2060000"/>
            <a:ext cx="2100000" cy="56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Bob</a:t>
            </a:r>
          </a:p>
        </p:txBody>
      </p:sp>
      <p:sp>
        <p:nvSpPr>
          <p:cNvPr id="10" name="Easy box"/>
          <p:cNvSpPr/>
          <p:nvPr/>
        </p:nvSpPr>
        <p:spPr>
          <a:xfrm>
            <a:off x="1096000" y="3360000"/>
            <a:ext cx="4750000" cy="1200000"/>
          </a:xfrm>
          <a:prstGeom prst="roundRect">
            <a:avLst>
              <a:gd name="adj" fmla="val 6000"/>
            </a:avLst>
          </a:prstGeom>
          <a:solidFill>
            <a:srgbClr val="CCFBF1"/>
          </a:solidFill>
          <a:ln w="15875">
            <a:solidFill>
              <a:srgbClr val="0D9488"/>
            </a:solidFill>
            <a:prstDash val="solid"/>
          </a:ln>
        </p:spPr>
        <p:txBody>
          <a:bodyPr wrap="square" lIns="91440" tIns="45720" rIns="91440" bIns="45720" rtlCol="0" anchor="ctr"/>
          <a:lstStyle/>
          <a:p>
            <a:pPr marL="0" indent="0" algn="ctr">
              <a:spcAft>
                <a:spcPts val="200"/>
              </a:spcAft>
              <a:buNone/>
            </a:pPr>
            <a:r>
              <a:rPr lang="en-US" sz="1400" b="1">
                <a:solidFill>
                  <a:srgbClr val="1F2937"/>
                </a:solidFill>
                <a:latin typeface="Calibri" pitchFamily="34" charset="0"/>
                <a:ea typeface="Calibri" pitchFamily="34" charset="-122"/>
                <a:cs typeface="Calibri" pitchFamily="34" charset="-120"/>
              </a:rPr>
              <a:t>Encrypt the message</a:t>
            </a:r>
          </a:p>
          <a:p>
            <a:pPr marL="0" indent="0" algn="ctr">
              <a:buNone/>
            </a:pPr>
            <a:r>
              <a:rPr lang="en-US" sz="2000" b="1">
                <a:solidFill>
                  <a:srgbClr val="0D9488"/>
                </a:solidFill>
                <a:latin typeface="Calibri" pitchFamily="34" charset="0"/>
                <a:ea typeface="Calibri" pitchFamily="34" charset="-122"/>
                <a:cs typeface="Calibri" pitchFamily="34" charset="-120"/>
              </a:rPr>
              <a:t>Easy</a:t>
            </a:r>
          </a:p>
        </p:txBody>
      </p:sp>
      <p:sp>
        <p:nvSpPr>
          <p:cNvPr id="11" name="Difficult box"/>
          <p:cNvSpPr/>
          <p:nvPr/>
        </p:nvSpPr>
        <p:spPr>
          <a:xfrm>
            <a:off x="6346000" y="3360000"/>
            <a:ext cx="4750000" cy="1200000"/>
          </a:xfrm>
          <a:prstGeom prst="roundRect">
            <a:avLst>
              <a:gd name="adj" fmla="val 6000"/>
            </a:avLst>
          </a:prstGeom>
          <a:solidFill>
            <a:srgbClr val="FEF3C7"/>
          </a:solidFill>
          <a:ln w="15875">
            <a:solidFill>
              <a:srgbClr val="B45309"/>
            </a:solidFill>
            <a:prstDash val="solid"/>
          </a:ln>
        </p:spPr>
        <p:txBody>
          <a:bodyPr wrap="square" lIns="91440" tIns="45720" rIns="91440" bIns="45720" rtlCol="0" anchor="ctr"/>
          <a:lstStyle/>
          <a:p>
            <a:pPr marL="0" indent="0" algn="ctr">
              <a:spcAft>
                <a:spcPts val="200"/>
              </a:spcAft>
              <a:buNone/>
            </a:pPr>
            <a:r>
              <a:rPr lang="en-US" sz="1400" b="1">
                <a:solidFill>
                  <a:srgbClr val="1F2937"/>
                </a:solidFill>
                <a:latin typeface="Calibri" pitchFamily="34" charset="0"/>
                <a:ea typeface="Calibri" pitchFamily="34" charset="-122"/>
                <a:cs typeface="Calibri" pitchFamily="34" charset="-120"/>
              </a:rPr>
              <a:t>Share the secret key</a:t>
            </a:r>
          </a:p>
          <a:p>
            <a:pPr marL="0" indent="0" algn="ctr">
              <a:buNone/>
            </a:pPr>
            <a:r>
              <a:rPr lang="en-US" sz="2000" b="1">
                <a:solidFill>
                  <a:srgbClr val="B45309"/>
                </a:solidFill>
                <a:latin typeface="Calibri" pitchFamily="34" charset="0"/>
                <a:ea typeface="Calibri" pitchFamily="34" charset="-122"/>
                <a:cs typeface="Calibri" pitchFamily="34" charset="-120"/>
              </a:rPr>
              <a:t>Difficult</a:t>
            </a:r>
          </a:p>
        </p:txBody>
      </p:sp>
      <p:sp>
        <p:nvSpPr>
          <p:cNvPr id="12"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Bottom line:  </a:t>
            </a:r>
            <a:r>
              <a:rPr lang="en-US" sz="1500" b="1">
                <a:solidFill>
                  <a:srgbClr val="3730A3"/>
                </a:solidFill>
                <a:latin typeface="Calibri" pitchFamily="34" charset="0"/>
                <a:ea typeface="Calibri" pitchFamily="34" charset="-122"/>
                <a:cs typeface="Calibri" pitchFamily="34" charset="-120"/>
              </a:rPr>
              <a:t>Secure communication depends on secure key distribution.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Symmetric-Key Cryptography</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Left label"/>
          <p:cNvSpPr/>
          <p:nvPr/>
        </p:nvSpPr>
        <p:spPr>
          <a:xfrm>
            <a:off x="731520" y="1560000"/>
            <a:ext cx="46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One shared secret key</a:t>
            </a:r>
          </a:p>
        </p:txBody>
      </p:sp>
      <p:sp>
        <p:nvSpPr>
          <p:cNvPr id="5" name="Shared key"/>
          <p:cNvSpPr/>
          <p:nvPr/>
        </p:nvSpPr>
        <p:spPr>
          <a:xfrm>
            <a:off x="1350000" y="1980000"/>
            <a:ext cx="3400000" cy="480000"/>
          </a:xfrm>
          <a:prstGeom prst="roundRect">
            <a:avLst>
              <a:gd name="adj" fmla="val 10000"/>
            </a:avLst>
          </a:prstGeom>
          <a:solidFill>
            <a:srgbClr val="CCFBF1"/>
          </a:solidFill>
          <a:ln w="15875">
            <a:solidFill>
              <a:srgbClr val="0D9488"/>
            </a:solidFill>
            <a:prstDash val="solid"/>
          </a:ln>
        </p:spPr>
        <p:txBody>
          <a:bodyPr wrap="square" lIns="45720" tIns="0" rIns="45720" bIns="0" rtlCol="0" anchor="ctr"/>
          <a:lstStyle/>
          <a:p>
            <a:pPr marL="0" indent="0" algn="ctr">
              <a:buNone/>
            </a:pPr>
            <a:r>
              <a:rPr lang="en-US" sz="1300" b="1">
                <a:solidFill>
                  <a:srgbClr val="0D9488"/>
                </a:solidFill>
                <a:latin typeface="Calibri" pitchFamily="34" charset="0"/>
                <a:ea typeface="Calibri" pitchFamily="34" charset="-122"/>
                <a:cs typeface="Calibri" pitchFamily="34" charset="-120"/>
              </a:rPr>
              <a:t>Shared secret key (K)</a:t>
            </a:r>
          </a:p>
        </p:txBody>
      </p:sp>
      <p:sp>
        <p:nvSpPr>
          <p:cNvPr id="6" name="Alice"/>
          <p:cNvSpPr/>
          <p:nvPr/>
        </p:nvSpPr>
        <p:spPr>
          <a:xfrm>
            <a:off x="900000" y="2760000"/>
            <a:ext cx="1700000" cy="52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Alice</a:t>
            </a:r>
          </a:p>
        </p:txBody>
      </p:sp>
      <p:sp>
        <p:nvSpPr>
          <p:cNvPr id="7" name="K label"/>
          <p:cNvSpPr/>
          <p:nvPr/>
        </p:nvSpPr>
        <p:spPr>
          <a:xfrm>
            <a:off x="2650000" y="2560000"/>
            <a:ext cx="800000" cy="260000"/>
          </a:xfrm>
          <a:prstGeom prst="rect">
            <a:avLst/>
          </a:prstGeom>
          <a:noFill/>
          <a:ln/>
        </p:spPr>
        <p:txBody>
          <a:bodyPr wrap="square" lIns="0" tIns="0" rIns="0" bIns="0" rtlCol="0" anchor="ctr"/>
          <a:lstStyle/>
          <a:p>
            <a:pPr marL="0" indent="0" algn="ctr">
              <a:buNone/>
            </a:pPr>
            <a:r>
              <a:rPr lang="en-US" sz="1200" b="1">
                <a:solidFill>
                  <a:srgbClr val="0D9488"/>
                </a:solidFill>
                <a:latin typeface="Calibri" pitchFamily="34" charset="0"/>
                <a:ea typeface="Calibri" pitchFamily="34" charset="-122"/>
                <a:cs typeface="Calibri" pitchFamily="34" charset="-120"/>
              </a:rPr>
              <a:t>K</a:t>
            </a:r>
          </a:p>
        </p:txBody>
      </p:sp>
      <p:sp>
        <p:nvSpPr>
          <p:cNvPr id="8" name="double arrow"/>
          <p:cNvSpPr/>
          <p:nvPr/>
        </p:nvSpPr>
        <p:spPr>
          <a:xfrm>
            <a:off x="2600000" y="3020000"/>
            <a:ext cx="1500000" cy="0"/>
          </a:xfrm>
          <a:prstGeom prst="line">
            <a:avLst/>
          </a:prstGeom>
          <a:ln w="25400">
            <a:solidFill>
              <a:srgbClr val="0D9488"/>
            </a:solidFill>
            <a:prstDash val="solid"/>
            <a:headEnd type="triangle" w="med" len="med"/>
            <a:tailEnd type="triangle" w="med" len="med"/>
          </a:ln>
        </p:spPr>
        <p:txBody>
          <a:bodyPr/>
          <a:lstStyle/>
          <a:p>
            <a:endParaRPr lang="en-US"/>
          </a:p>
        </p:txBody>
      </p:sp>
      <p:sp>
        <p:nvSpPr>
          <p:cNvPr id="9" name="Bob"/>
          <p:cNvSpPr/>
          <p:nvPr/>
        </p:nvSpPr>
        <p:spPr>
          <a:xfrm>
            <a:off x="4100000" y="2760000"/>
            <a:ext cx="1700000" cy="52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Bob</a:t>
            </a:r>
          </a:p>
        </p:txBody>
      </p:sp>
      <p:sp>
        <p:nvSpPr>
          <p:cNvPr id="10" name="Enc"/>
          <p:cNvSpPr/>
          <p:nvPr/>
        </p:nvSpPr>
        <p:spPr>
          <a:xfrm>
            <a:off x="800000" y="3680000"/>
            <a:ext cx="1500000" cy="520000"/>
          </a:xfrm>
          <a:prstGeom prst="roundRect">
            <a:avLst>
              <a:gd name="adj" fmla="val 9000"/>
            </a:avLst>
          </a:prstGeom>
          <a:solidFill>
            <a:srgbClr val="EEF2FF"/>
          </a:solidFill>
          <a:ln w="15875">
            <a:solidFill>
              <a:srgbClr val="3730A3"/>
            </a:solidFill>
            <a:prstDash val="solid"/>
          </a:ln>
        </p:spPr>
        <p:txBody>
          <a:bodyPr wrap="square" lIns="18288" tIns="0" rIns="18288" bIns="0" rtlCol="0" anchor="ctr"/>
          <a:lstStyle/>
          <a:p>
            <a:pPr marL="0" indent="0" algn="ctr">
              <a:buNone/>
            </a:pPr>
            <a:r>
              <a:rPr lang="en-US" sz="1150" b="1">
                <a:solidFill>
                  <a:srgbClr val="3730A3"/>
                </a:solidFill>
                <a:latin typeface="Calibri" pitchFamily="34" charset="0"/>
                <a:ea typeface="Calibri" pitchFamily="34" charset="-122"/>
                <a:cs typeface="Calibri" pitchFamily="34" charset="-120"/>
              </a:rPr>
              <a:t>Encryption</a:t>
            </a:r>
          </a:p>
        </p:txBody>
      </p:sp>
      <p:sp>
        <p:nvSpPr>
          <p:cNvPr id="11" name="a1"/>
          <p:cNvSpPr/>
          <p:nvPr/>
        </p:nvSpPr>
        <p:spPr>
          <a:xfrm>
            <a:off x="2350000" y="3940000"/>
            <a:ext cx="200000" cy="0"/>
          </a:xfrm>
          <a:prstGeom prst="line">
            <a:avLst/>
          </a:prstGeom>
          <a:ln w="22225">
            <a:solidFill>
              <a:srgbClr val="475569"/>
            </a:solidFill>
            <a:prstDash val="solid"/>
            <a:tailEnd type="triangle" w="med" len="med"/>
          </a:ln>
        </p:spPr>
        <p:txBody>
          <a:bodyPr/>
          <a:lstStyle/>
          <a:p>
            <a:endParaRPr lang="en-US"/>
          </a:p>
        </p:txBody>
      </p:sp>
      <p:sp>
        <p:nvSpPr>
          <p:cNvPr id="12" name="Cipher"/>
          <p:cNvSpPr/>
          <p:nvPr/>
        </p:nvSpPr>
        <p:spPr>
          <a:xfrm>
            <a:off x="2600000" y="3680000"/>
            <a:ext cx="1500000" cy="520000"/>
          </a:xfrm>
          <a:prstGeom prst="roundRect">
            <a:avLst>
              <a:gd name="adj" fmla="val 9000"/>
            </a:avLst>
          </a:prstGeom>
          <a:solidFill>
            <a:srgbClr val="CCFBF1"/>
          </a:solidFill>
          <a:ln w="15875">
            <a:solidFill>
              <a:srgbClr val="0D9488"/>
            </a:solidFill>
            <a:prstDash val="solid"/>
          </a:ln>
        </p:spPr>
        <p:txBody>
          <a:bodyPr wrap="square" lIns="18288" tIns="0" rIns="18288" bIns="0" rtlCol="0" anchor="ctr"/>
          <a:lstStyle/>
          <a:p>
            <a:pPr marL="0" indent="0" algn="ctr">
              <a:buNone/>
            </a:pPr>
            <a:r>
              <a:rPr lang="en-US" sz="1150" b="1">
                <a:solidFill>
                  <a:srgbClr val="0D9488"/>
                </a:solidFill>
                <a:latin typeface="Calibri" pitchFamily="34" charset="0"/>
                <a:ea typeface="Calibri" pitchFamily="34" charset="-122"/>
                <a:cs typeface="Calibri" pitchFamily="34" charset="-120"/>
              </a:rPr>
              <a:t>Ciphertext</a:t>
            </a:r>
          </a:p>
        </p:txBody>
      </p:sp>
      <p:sp>
        <p:nvSpPr>
          <p:cNvPr id="13" name="a2"/>
          <p:cNvSpPr/>
          <p:nvPr/>
        </p:nvSpPr>
        <p:spPr>
          <a:xfrm>
            <a:off x="4150000" y="3940000"/>
            <a:ext cx="200000" cy="0"/>
          </a:xfrm>
          <a:prstGeom prst="line">
            <a:avLst/>
          </a:prstGeom>
          <a:ln w="22225">
            <a:solidFill>
              <a:srgbClr val="475569"/>
            </a:solidFill>
            <a:prstDash val="solid"/>
            <a:tailEnd type="triangle" w="med" len="med"/>
          </a:ln>
        </p:spPr>
        <p:txBody>
          <a:bodyPr/>
          <a:lstStyle/>
          <a:p>
            <a:endParaRPr lang="en-US"/>
          </a:p>
        </p:txBody>
      </p:sp>
      <p:sp>
        <p:nvSpPr>
          <p:cNvPr id="14" name="Dec"/>
          <p:cNvSpPr/>
          <p:nvPr/>
        </p:nvSpPr>
        <p:spPr>
          <a:xfrm>
            <a:off x="4400000" y="3680000"/>
            <a:ext cx="1500000" cy="520000"/>
          </a:xfrm>
          <a:prstGeom prst="roundRect">
            <a:avLst>
              <a:gd name="adj" fmla="val 9000"/>
            </a:avLst>
          </a:prstGeom>
          <a:solidFill>
            <a:srgbClr val="EEF2FF"/>
          </a:solidFill>
          <a:ln w="15875">
            <a:solidFill>
              <a:srgbClr val="3730A3"/>
            </a:solidFill>
            <a:prstDash val="solid"/>
          </a:ln>
        </p:spPr>
        <p:txBody>
          <a:bodyPr wrap="square" lIns="18288" tIns="0" rIns="18288" bIns="0" rtlCol="0" anchor="ctr"/>
          <a:lstStyle/>
          <a:p>
            <a:pPr marL="0" indent="0" algn="ctr">
              <a:buNone/>
            </a:pPr>
            <a:r>
              <a:rPr lang="en-US" sz="1150" b="1">
                <a:solidFill>
                  <a:srgbClr val="3730A3"/>
                </a:solidFill>
                <a:latin typeface="Calibri" pitchFamily="34" charset="0"/>
                <a:ea typeface="Calibri" pitchFamily="34" charset="-122"/>
                <a:cs typeface="Calibri" pitchFamily="34" charset="-120"/>
              </a:rPr>
              <a:t>Decryption</a:t>
            </a:r>
          </a:p>
        </p:txBody>
      </p:sp>
      <p:sp>
        <p:nvSpPr>
          <p:cNvPr id="15" name="Examples"/>
          <p:cNvSpPr/>
          <p:nvPr/>
        </p:nvSpPr>
        <p:spPr>
          <a:xfrm>
            <a:off x="6300000" y="1980000"/>
            <a:ext cx="5340000" cy="1000000"/>
          </a:xfrm>
          <a:prstGeom prst="roundRect">
            <a:avLst>
              <a:gd name="adj" fmla="val 6000"/>
            </a:avLst>
          </a:prstGeom>
          <a:solidFill>
            <a:srgbClr val="EEF2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400" b="1">
                <a:solidFill>
                  <a:srgbClr val="3730A3"/>
                </a:solidFill>
                <a:latin typeface="Calibri" pitchFamily="34" charset="0"/>
                <a:ea typeface="Calibri" pitchFamily="34" charset="-122"/>
                <a:cs typeface="Calibri" pitchFamily="34" charset="-120"/>
              </a:rPr>
              <a:t>Examples</a:t>
            </a:r>
          </a:p>
          <a:p>
            <a:pPr marL="0" indent="0" algn="l">
              <a:buNone/>
            </a:pPr>
            <a:r>
              <a:rPr lang="en-US" sz="1250" b="1">
                <a:solidFill>
                  <a:srgbClr val="1F2937"/>
                </a:solidFill>
                <a:latin typeface="Calibri" pitchFamily="34" charset="0"/>
                <a:ea typeface="Calibri" pitchFamily="34" charset="-122"/>
                <a:cs typeface="Calibri" pitchFamily="34" charset="-120"/>
              </a:rPr>
              <a:t>AES</a:t>
            </a:r>
            <a:r>
              <a:rPr lang="en-US" sz="1250">
                <a:solidFill>
                  <a:srgbClr val="475569"/>
                </a:solidFill>
                <a:latin typeface="Calibri" pitchFamily="34" charset="0"/>
                <a:ea typeface="Calibri" pitchFamily="34" charset="-122"/>
                <a:cs typeface="Calibri" pitchFamily="34" charset="-120"/>
              </a:rPr>
              <a:t>    •    </a:t>
            </a:r>
            <a:r>
              <a:rPr lang="en-US" sz="1250" b="1">
                <a:solidFill>
                  <a:srgbClr val="1F2937"/>
                </a:solidFill>
                <a:latin typeface="Calibri" pitchFamily="34" charset="0"/>
                <a:ea typeface="Calibri" pitchFamily="34" charset="-122"/>
                <a:cs typeface="Calibri" pitchFamily="34" charset="-120"/>
              </a:rPr>
              <a:t>One-Time Pad</a:t>
            </a:r>
          </a:p>
        </p:txBody>
      </p:sp>
      <p:sp>
        <p:nvSpPr>
          <p:cNvPr id="16" name="Advantages"/>
          <p:cNvSpPr/>
          <p:nvPr/>
        </p:nvSpPr>
        <p:spPr>
          <a:xfrm>
            <a:off x="6300000" y="3120000"/>
            <a:ext cx="5340000" cy="900000"/>
          </a:xfrm>
          <a:prstGeom prst="roundRect">
            <a:avLst>
              <a:gd name="adj" fmla="val 6000"/>
            </a:avLst>
          </a:prstGeom>
          <a:solidFill>
            <a:srgbClr val="FFFF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400" b="1">
                <a:solidFill>
                  <a:srgbClr val="0D9488"/>
                </a:solidFill>
                <a:latin typeface="Calibri" pitchFamily="34" charset="0"/>
                <a:ea typeface="Calibri" pitchFamily="34" charset="-122"/>
                <a:cs typeface="Calibri" pitchFamily="34" charset="-120"/>
              </a:rPr>
              <a:t>Advantages</a:t>
            </a:r>
          </a:p>
          <a:p>
            <a:pPr marL="0" indent="0" algn="l">
              <a:buNone/>
            </a:pPr>
            <a:r>
              <a:rPr lang="en-US" sz="1250" b="1">
                <a:solidFill>
                  <a:srgbClr val="0D9488"/>
                </a:solidFill>
                <a:latin typeface="Calibri" pitchFamily="34" charset="0"/>
                <a:ea typeface="Calibri" pitchFamily="34" charset="-122"/>
                <a:cs typeface="Calibri" pitchFamily="34" charset="-120"/>
              </a:rPr>
              <a:t>✓</a:t>
            </a:r>
            <a:r>
              <a:rPr lang="en-US" sz="1250">
                <a:solidFill>
                  <a:srgbClr val="1F2937"/>
                </a:solidFill>
                <a:latin typeface="Calibri" pitchFamily="34" charset="0"/>
                <a:ea typeface="Calibri" pitchFamily="34" charset="-122"/>
                <a:cs typeface="Calibri" pitchFamily="34" charset="-120"/>
              </a:rPr>
              <a:t> Fast        </a:t>
            </a:r>
            <a:r>
              <a:rPr lang="en-US" sz="1250" b="1">
                <a:solidFill>
                  <a:srgbClr val="0D9488"/>
                </a:solidFill>
                <a:latin typeface="Calibri" pitchFamily="34" charset="0"/>
                <a:ea typeface="Calibri" pitchFamily="34" charset="-122"/>
                <a:cs typeface="Calibri" pitchFamily="34" charset="-120"/>
              </a:rPr>
              <a:t>✓</a:t>
            </a:r>
            <a:r>
              <a:rPr lang="en-US" sz="1250">
                <a:solidFill>
                  <a:srgbClr val="1F2937"/>
                </a:solidFill>
                <a:latin typeface="Calibri" pitchFamily="34" charset="0"/>
                <a:ea typeface="Calibri" pitchFamily="34" charset="-122"/>
                <a:cs typeface="Calibri" pitchFamily="34" charset="-120"/>
              </a:rPr>
              <a:t> Efficient</a:t>
            </a:r>
          </a:p>
        </p:txBody>
      </p:sp>
      <p:sp>
        <p:nvSpPr>
          <p:cNvPr id="17" name="Disadvantage"/>
          <p:cNvSpPr/>
          <p:nvPr/>
        </p:nvSpPr>
        <p:spPr>
          <a:xfrm>
            <a:off x="6300000" y="4160000"/>
            <a:ext cx="5340000" cy="900000"/>
          </a:xfrm>
          <a:prstGeom prst="roundRect">
            <a:avLst>
              <a:gd name="adj" fmla="val 6000"/>
            </a:avLst>
          </a:prstGeom>
          <a:solidFill>
            <a:srgbClr val="FEF3C7"/>
          </a:solidFill>
          <a:ln w="15875">
            <a:solidFill>
              <a:srgbClr val="B45309"/>
            </a:solidFill>
            <a:prstDash val="solid"/>
          </a:ln>
        </p:spPr>
        <p:txBody>
          <a:bodyPr wrap="square" lIns="182880" tIns="45720" rIns="182880" bIns="45720" rtlCol="0" anchor="ctr"/>
          <a:lstStyle/>
          <a:p>
            <a:pPr marL="0" indent="0" algn="l">
              <a:spcAft>
                <a:spcPts val="200"/>
              </a:spcAft>
              <a:buNone/>
            </a:pPr>
            <a:r>
              <a:rPr lang="en-US" sz="1400" b="1">
                <a:solidFill>
                  <a:srgbClr val="B45309"/>
                </a:solidFill>
                <a:latin typeface="Calibri" pitchFamily="34" charset="0"/>
                <a:ea typeface="Calibri" pitchFamily="34" charset="-122"/>
                <a:cs typeface="Calibri" pitchFamily="34" charset="-120"/>
              </a:rPr>
              <a:t>Disadvantage</a:t>
            </a:r>
          </a:p>
          <a:p>
            <a:pPr marL="0" indent="0" algn="l">
              <a:buNone/>
            </a:pPr>
            <a:r>
              <a:rPr lang="en-US" sz="1250" b="1">
                <a:solidFill>
                  <a:srgbClr val="B45309"/>
                </a:solidFill>
                <a:latin typeface="Calibri" pitchFamily="34" charset="0"/>
                <a:ea typeface="Calibri" pitchFamily="34" charset="-122"/>
                <a:cs typeface="Calibri" pitchFamily="34" charset="-120"/>
              </a:rPr>
              <a:t>✗</a:t>
            </a:r>
            <a:r>
              <a:rPr lang="en-US" sz="1250">
                <a:solidFill>
                  <a:srgbClr val="1F2937"/>
                </a:solidFill>
                <a:latin typeface="Calibri" pitchFamily="34" charset="0"/>
                <a:ea typeface="Calibri" pitchFamily="34" charset="-122"/>
                <a:cs typeface="Calibri" pitchFamily="34" charset="-120"/>
              </a:rPr>
              <a:t> Requires secure key distribution</a:t>
            </a:r>
          </a:p>
        </p:txBody>
      </p:sp>
      <p:sp>
        <p:nvSpPr>
          <p:cNvPr id="18"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Kerckhoffs’s principle:  </a:t>
            </a:r>
            <a:r>
              <a:rPr lang="en-US" sz="1500" b="1">
                <a:solidFill>
                  <a:srgbClr val="3730A3"/>
                </a:solidFill>
                <a:latin typeface="Calibri" pitchFamily="34" charset="0"/>
                <a:ea typeface="Calibri" pitchFamily="34" charset="-122"/>
                <a:cs typeface="Calibri" pitchFamily="34" charset="-120"/>
              </a:rPr>
              <a:t>the algorithm can be public — only the key must stay secret.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Asymmetric (Public-Key) Cryptography</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Left label"/>
          <p:cNvSpPr/>
          <p:nvPr/>
        </p:nvSpPr>
        <p:spPr>
          <a:xfrm>
            <a:off x="731520" y="1560000"/>
            <a:ext cx="46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Two mathematically linked keys</a:t>
            </a:r>
          </a:p>
        </p:txBody>
      </p:sp>
      <p:sp>
        <p:nvSpPr>
          <p:cNvPr id="5" name="Alice"/>
          <p:cNvSpPr/>
          <p:nvPr/>
        </p:nvSpPr>
        <p:spPr>
          <a:xfrm>
            <a:off x="1200000" y="1960000"/>
            <a:ext cx="3000000" cy="460000"/>
          </a:xfrm>
          <a:prstGeom prst="roundRect">
            <a:avLst>
              <a:gd name="adj" fmla="val 10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Alice: plaintext message</a:t>
            </a:r>
          </a:p>
        </p:txBody>
      </p:sp>
      <p:sp>
        <p:nvSpPr>
          <p:cNvPr id="6" name="arrow1"/>
          <p:cNvSpPr/>
          <p:nvPr/>
        </p:nvSpPr>
        <p:spPr>
          <a:xfrm>
            <a:off x="2700000" y="2460000"/>
            <a:ext cx="0" cy="240000"/>
          </a:xfrm>
          <a:prstGeom prst="line">
            <a:avLst/>
          </a:prstGeom>
          <a:ln w="25400">
            <a:solidFill>
              <a:srgbClr val="475569"/>
            </a:solidFill>
            <a:prstDash val="solid"/>
            <a:tailEnd type="triangle" w="med" len="med"/>
          </a:ln>
        </p:spPr>
        <p:txBody>
          <a:bodyPr/>
          <a:lstStyle/>
          <a:p>
            <a:endParaRPr lang="en-US"/>
          </a:p>
        </p:txBody>
      </p:sp>
      <p:sp>
        <p:nvSpPr>
          <p:cNvPr id="7" name="Encrypt"/>
          <p:cNvSpPr/>
          <p:nvPr/>
        </p:nvSpPr>
        <p:spPr>
          <a:xfrm>
            <a:off x="1200000" y="2740000"/>
            <a:ext cx="3000000" cy="52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250" b="1">
                <a:solidFill>
                  <a:srgbClr val="3730A3"/>
                </a:solidFill>
                <a:latin typeface="Calibri" pitchFamily="34" charset="0"/>
                <a:ea typeface="Calibri" pitchFamily="34" charset="-122"/>
                <a:cs typeface="Calibri" pitchFamily="34" charset="-120"/>
              </a:rPr>
              <a:t>Encrypt with Bob’s public key</a:t>
            </a:r>
          </a:p>
        </p:txBody>
      </p:sp>
      <p:sp>
        <p:nvSpPr>
          <p:cNvPr id="8" name="arrow2"/>
          <p:cNvSpPr/>
          <p:nvPr/>
        </p:nvSpPr>
        <p:spPr>
          <a:xfrm>
            <a:off x="2700000" y="3300000"/>
            <a:ext cx="0" cy="240000"/>
          </a:xfrm>
          <a:prstGeom prst="line">
            <a:avLst/>
          </a:prstGeom>
          <a:ln w="25400">
            <a:solidFill>
              <a:srgbClr val="475569"/>
            </a:solidFill>
            <a:prstDash val="solid"/>
            <a:tailEnd type="triangle" w="med" len="med"/>
          </a:ln>
        </p:spPr>
        <p:txBody>
          <a:bodyPr/>
          <a:lstStyle/>
          <a:p>
            <a:endParaRPr lang="en-US"/>
          </a:p>
        </p:txBody>
      </p:sp>
      <p:sp>
        <p:nvSpPr>
          <p:cNvPr id="9" name="Ciphertext"/>
          <p:cNvSpPr/>
          <p:nvPr/>
        </p:nvSpPr>
        <p:spPr>
          <a:xfrm>
            <a:off x="1200000" y="3580000"/>
            <a:ext cx="3000000" cy="460000"/>
          </a:xfrm>
          <a:prstGeom prst="roundRect">
            <a:avLst>
              <a:gd name="adj" fmla="val 10000"/>
            </a:avLst>
          </a:prstGeom>
          <a:solidFill>
            <a:srgbClr val="CCFBF1"/>
          </a:solidFill>
          <a:ln w="15875">
            <a:solidFill>
              <a:srgbClr val="0D9488"/>
            </a:solidFill>
            <a:prstDash val="solid"/>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Ciphertext (sent to Bob)</a:t>
            </a:r>
          </a:p>
        </p:txBody>
      </p:sp>
      <p:sp>
        <p:nvSpPr>
          <p:cNvPr id="10" name="arrow3"/>
          <p:cNvSpPr/>
          <p:nvPr/>
        </p:nvSpPr>
        <p:spPr>
          <a:xfrm>
            <a:off x="2700000" y="4080000"/>
            <a:ext cx="0" cy="240000"/>
          </a:xfrm>
          <a:prstGeom prst="line">
            <a:avLst/>
          </a:prstGeom>
          <a:ln w="25400">
            <a:solidFill>
              <a:srgbClr val="475569"/>
            </a:solidFill>
            <a:prstDash val="solid"/>
            <a:tailEnd type="triangle" w="med" len="med"/>
          </a:ln>
        </p:spPr>
        <p:txBody>
          <a:bodyPr/>
          <a:lstStyle/>
          <a:p>
            <a:endParaRPr lang="en-US"/>
          </a:p>
        </p:txBody>
      </p:sp>
      <p:sp>
        <p:nvSpPr>
          <p:cNvPr id="11" name="Decrypt"/>
          <p:cNvSpPr/>
          <p:nvPr/>
        </p:nvSpPr>
        <p:spPr>
          <a:xfrm>
            <a:off x="1200000" y="4360000"/>
            <a:ext cx="3000000" cy="520000"/>
          </a:xfrm>
          <a:prstGeom prst="roundRect">
            <a:avLst>
              <a:gd name="adj" fmla="val 9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250" b="1">
                <a:solidFill>
                  <a:srgbClr val="3730A3"/>
                </a:solidFill>
                <a:latin typeface="Calibri" pitchFamily="34" charset="0"/>
                <a:ea typeface="Calibri" pitchFamily="34" charset="-122"/>
                <a:cs typeface="Calibri" pitchFamily="34" charset="-120"/>
              </a:rPr>
              <a:t>Bob decrypts with private key</a:t>
            </a:r>
          </a:p>
        </p:txBody>
      </p:sp>
      <p:sp>
        <p:nvSpPr>
          <p:cNvPr id="12" name="Keys panel"/>
          <p:cNvSpPr/>
          <p:nvPr/>
        </p:nvSpPr>
        <p:spPr>
          <a:xfrm>
            <a:off x="6300000" y="1960000"/>
            <a:ext cx="5340000" cy="900000"/>
          </a:xfrm>
          <a:prstGeom prst="roundRect">
            <a:avLst>
              <a:gd name="adj" fmla="val 6000"/>
            </a:avLst>
          </a:prstGeom>
          <a:solidFill>
            <a:srgbClr val="EEF2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400" b="1">
                <a:solidFill>
                  <a:srgbClr val="3730A3"/>
                </a:solidFill>
                <a:latin typeface="Calibri" pitchFamily="34" charset="0"/>
                <a:ea typeface="Calibri" pitchFamily="34" charset="-122"/>
                <a:cs typeface="Calibri" pitchFamily="34" charset="-120"/>
              </a:rPr>
              <a:t>Bob’s key pair</a:t>
            </a:r>
          </a:p>
          <a:p>
            <a:pPr marL="0" indent="0" algn="l">
              <a:buNone/>
            </a:pPr>
            <a:r>
              <a:rPr lang="en-US" sz="1250" b="1">
                <a:solidFill>
                  <a:srgbClr val="0D9488"/>
                </a:solidFill>
                <a:latin typeface="Calibri" pitchFamily="34" charset="0"/>
                <a:ea typeface="Calibri" pitchFamily="34" charset="-122"/>
                <a:cs typeface="Calibri" pitchFamily="34" charset="-120"/>
              </a:rPr>
              <a:t>Public key</a:t>
            </a:r>
            <a:r>
              <a:rPr lang="en-US" sz="1250">
                <a:solidFill>
                  <a:srgbClr val="475569"/>
                </a:solidFill>
                <a:latin typeface="Calibri" pitchFamily="34" charset="0"/>
                <a:ea typeface="Calibri" pitchFamily="34" charset="-122"/>
                <a:cs typeface="Calibri" pitchFamily="34" charset="-120"/>
              </a:rPr>
              <a:t> shared openly    </a:t>
            </a:r>
            <a:r>
              <a:rPr lang="en-US" sz="1250" b="1">
                <a:solidFill>
                  <a:srgbClr val="3730A3"/>
                </a:solidFill>
                <a:latin typeface="Calibri" pitchFamily="34" charset="0"/>
                <a:ea typeface="Calibri" pitchFamily="34" charset="-122"/>
                <a:cs typeface="Calibri" pitchFamily="34" charset="-120"/>
              </a:rPr>
              <a:t>Private key</a:t>
            </a:r>
            <a:r>
              <a:rPr lang="en-US" sz="1250">
                <a:solidFill>
                  <a:srgbClr val="475569"/>
                </a:solidFill>
                <a:latin typeface="Calibri" pitchFamily="34" charset="0"/>
                <a:ea typeface="Calibri" pitchFamily="34" charset="-122"/>
                <a:cs typeface="Calibri" pitchFamily="34" charset="-120"/>
              </a:rPr>
              <a:t> kept secret</a:t>
            </a:r>
          </a:p>
        </p:txBody>
      </p:sp>
      <p:sp>
        <p:nvSpPr>
          <p:cNvPr id="13" name="Examples"/>
          <p:cNvSpPr/>
          <p:nvPr/>
        </p:nvSpPr>
        <p:spPr>
          <a:xfrm>
            <a:off x="6300000" y="3020000"/>
            <a:ext cx="5340000" cy="720000"/>
          </a:xfrm>
          <a:prstGeom prst="roundRect">
            <a:avLst>
              <a:gd name="adj" fmla="val 7000"/>
            </a:avLst>
          </a:prstGeom>
          <a:solidFill>
            <a:srgbClr val="FFFF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400" b="1">
                <a:solidFill>
                  <a:srgbClr val="3730A3"/>
                </a:solidFill>
                <a:latin typeface="Calibri" pitchFamily="34" charset="0"/>
                <a:ea typeface="Calibri" pitchFamily="34" charset="-122"/>
                <a:cs typeface="Calibri" pitchFamily="34" charset="-120"/>
              </a:rPr>
              <a:t>Examples</a:t>
            </a:r>
          </a:p>
          <a:p>
            <a:pPr marL="0" indent="0" algn="l">
              <a:buNone/>
            </a:pPr>
            <a:r>
              <a:rPr lang="en-US" sz="1250" b="1">
                <a:solidFill>
                  <a:srgbClr val="1F2937"/>
                </a:solidFill>
                <a:latin typeface="Calibri" pitchFamily="34" charset="0"/>
                <a:ea typeface="Calibri" pitchFamily="34" charset="-122"/>
                <a:cs typeface="Calibri" pitchFamily="34" charset="-120"/>
              </a:rPr>
              <a:t>RSA</a:t>
            </a:r>
            <a:r>
              <a:rPr lang="en-US" sz="1250">
                <a:solidFill>
                  <a:srgbClr val="475569"/>
                </a:solidFill>
                <a:latin typeface="Calibri" pitchFamily="34" charset="0"/>
                <a:ea typeface="Calibri" pitchFamily="34" charset="-122"/>
                <a:cs typeface="Calibri" pitchFamily="34" charset="-120"/>
              </a:rPr>
              <a:t>    •    </a:t>
            </a:r>
            <a:r>
              <a:rPr lang="en-US" sz="1250" b="1">
                <a:solidFill>
                  <a:srgbClr val="1F2937"/>
                </a:solidFill>
                <a:latin typeface="Calibri" pitchFamily="34" charset="0"/>
                <a:ea typeface="Calibri" pitchFamily="34" charset="-122"/>
                <a:cs typeface="Calibri" pitchFamily="34" charset="-120"/>
              </a:rPr>
              <a:t>ECC (Elliptic Curve)</a:t>
            </a:r>
          </a:p>
        </p:txBody>
      </p:sp>
      <p:sp>
        <p:nvSpPr>
          <p:cNvPr id="14" name="Advantages"/>
          <p:cNvSpPr/>
          <p:nvPr/>
        </p:nvSpPr>
        <p:spPr>
          <a:xfrm>
            <a:off x="6300000" y="3900000"/>
            <a:ext cx="5340000" cy="720000"/>
          </a:xfrm>
          <a:prstGeom prst="roundRect">
            <a:avLst>
              <a:gd name="adj" fmla="val 7000"/>
            </a:avLst>
          </a:prstGeom>
          <a:solidFill>
            <a:srgbClr val="FFFFFF"/>
          </a:solidFill>
          <a:ln w="15875">
            <a:solidFill>
              <a:srgbClr val="D1D5DB"/>
            </a:solidFill>
            <a:prstDash val="solid"/>
          </a:ln>
        </p:spPr>
        <p:txBody>
          <a:bodyPr wrap="square" lIns="182880" tIns="45720" rIns="182880" bIns="45720" rtlCol="0" anchor="ctr"/>
          <a:lstStyle/>
          <a:p>
            <a:pPr marL="0" indent="0" algn="l">
              <a:spcAft>
                <a:spcPts val="200"/>
              </a:spcAft>
              <a:buNone/>
            </a:pPr>
            <a:r>
              <a:rPr lang="en-US" sz="1400" b="1">
                <a:solidFill>
                  <a:srgbClr val="0D9488"/>
                </a:solidFill>
                <a:latin typeface="Calibri" pitchFamily="34" charset="0"/>
                <a:ea typeface="Calibri" pitchFamily="34" charset="-122"/>
                <a:cs typeface="Calibri" pitchFamily="34" charset="-120"/>
              </a:rPr>
              <a:t>Advantage</a:t>
            </a:r>
          </a:p>
          <a:p>
            <a:pPr marL="0" indent="0" algn="l">
              <a:buNone/>
            </a:pPr>
            <a:r>
              <a:rPr lang="en-US" sz="1250" b="1">
                <a:solidFill>
                  <a:srgbClr val="0D9488"/>
                </a:solidFill>
                <a:latin typeface="Calibri" pitchFamily="34" charset="0"/>
                <a:ea typeface="Calibri" pitchFamily="34" charset="-122"/>
                <a:cs typeface="Calibri" pitchFamily="34" charset="-120"/>
              </a:rPr>
              <a:t>✓</a:t>
            </a:r>
            <a:r>
              <a:rPr lang="en-US" sz="1250">
                <a:solidFill>
                  <a:srgbClr val="1F2937"/>
                </a:solidFill>
                <a:latin typeface="Calibri" pitchFamily="34" charset="0"/>
                <a:ea typeface="Calibri" pitchFamily="34" charset="-122"/>
                <a:cs typeface="Calibri" pitchFamily="34" charset="-120"/>
              </a:rPr>
              <a:t> No shared secret needed in advance</a:t>
            </a:r>
          </a:p>
        </p:txBody>
      </p:sp>
      <p:sp>
        <p:nvSpPr>
          <p:cNvPr id="15" name="Disadvantage"/>
          <p:cNvSpPr/>
          <p:nvPr/>
        </p:nvSpPr>
        <p:spPr>
          <a:xfrm>
            <a:off x="6300000" y="4680000"/>
            <a:ext cx="5340000" cy="860000"/>
          </a:xfrm>
          <a:prstGeom prst="roundRect">
            <a:avLst>
              <a:gd name="adj" fmla="val 7000"/>
            </a:avLst>
          </a:prstGeom>
          <a:solidFill>
            <a:srgbClr val="FEF3C7"/>
          </a:solidFill>
          <a:ln w="15875">
            <a:solidFill>
              <a:srgbClr val="B45309"/>
            </a:solidFill>
            <a:prstDash val="solid"/>
          </a:ln>
        </p:spPr>
        <p:txBody>
          <a:bodyPr wrap="square" lIns="182880" tIns="45720" rIns="182880" bIns="45720" rtlCol="0" anchor="ctr"/>
          <a:lstStyle/>
          <a:p>
            <a:pPr marL="0" indent="0" algn="l">
              <a:spcAft>
                <a:spcPts val="200"/>
              </a:spcAft>
              <a:buNone/>
            </a:pPr>
            <a:r>
              <a:rPr lang="en-US" sz="1400" b="1">
                <a:solidFill>
                  <a:srgbClr val="B45309"/>
                </a:solidFill>
                <a:latin typeface="Calibri" pitchFamily="34" charset="0"/>
                <a:ea typeface="Calibri" pitchFamily="34" charset="-122"/>
                <a:cs typeface="Calibri" pitchFamily="34" charset="-120"/>
              </a:rPr>
              <a:t>Disadvantages</a:t>
            </a:r>
          </a:p>
          <a:p>
            <a:pPr marL="0" indent="0" algn="l">
              <a:buNone/>
            </a:pPr>
            <a:r>
              <a:rPr lang="en-US" sz="1250" b="1">
                <a:solidFill>
                  <a:srgbClr val="B45309"/>
                </a:solidFill>
                <a:latin typeface="Calibri" pitchFamily="34" charset="0"/>
                <a:ea typeface="Calibri" pitchFamily="34" charset="-122"/>
                <a:cs typeface="Calibri" pitchFamily="34" charset="-120"/>
              </a:rPr>
              <a:t>✗</a:t>
            </a:r>
            <a:r>
              <a:rPr lang="en-US" sz="1250">
                <a:solidFill>
                  <a:srgbClr val="1F2937"/>
                </a:solidFill>
                <a:latin typeface="Calibri" pitchFamily="34" charset="0"/>
                <a:ea typeface="Calibri" pitchFamily="34" charset="-122"/>
                <a:cs typeface="Calibri" pitchFamily="34" charset="-120"/>
              </a:rPr>
              <a:t> Computationally slower</a:t>
            </a:r>
          </a:p>
          <a:p>
            <a:pPr marL="0" indent="0" algn="l">
              <a:buNone/>
            </a:pPr>
            <a:r>
              <a:rPr lang="en-US" sz="1250" b="1">
                <a:solidFill>
                  <a:srgbClr val="B45309"/>
                </a:solidFill>
                <a:latin typeface="Calibri" pitchFamily="34" charset="0"/>
                <a:ea typeface="Calibri" pitchFamily="34" charset="-122"/>
                <a:cs typeface="Calibri" pitchFamily="34" charset="-120"/>
              </a:rPr>
              <a:t>✗</a:t>
            </a:r>
            <a:r>
              <a:rPr lang="en-US" sz="1250">
                <a:solidFill>
                  <a:srgbClr val="1F2937"/>
                </a:solidFill>
                <a:latin typeface="Calibri" pitchFamily="34" charset="0"/>
                <a:ea typeface="Calibri" pitchFamily="34" charset="-122"/>
                <a:cs typeface="Calibri" pitchFamily="34" charset="-120"/>
              </a:rPr>
              <a:t> Security depends on hard math assumptions</a:t>
            </a:r>
          </a:p>
        </p:txBody>
      </p:sp>
      <p:sp>
        <p:nvSpPr>
          <p:cNvPr id="16"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Key idea:  </a:t>
            </a:r>
            <a:r>
              <a:rPr lang="en-US" sz="1500" b="1">
                <a:solidFill>
                  <a:srgbClr val="3730A3"/>
                </a:solidFill>
                <a:latin typeface="Calibri" pitchFamily="34" charset="0"/>
                <a:ea typeface="Calibri" pitchFamily="34" charset="-122"/>
                <a:cs typeface="Calibri" pitchFamily="34" charset="-120"/>
              </a:rPr>
              <a:t>Public-key cryptography removes the need to share a secret key first.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Authentication and Digital Signatures</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ub label"/>
          <p:cNvSpPr/>
          <p:nvPr/>
        </p:nvSpPr>
        <p:spPr>
          <a:xfrm>
            <a:off x="731520" y="1560000"/>
            <a:ext cx="6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Proving who sent a message — and that it was not changed</a:t>
            </a:r>
          </a:p>
        </p:txBody>
      </p:sp>
      <p:sp>
        <p:nvSpPr>
          <p:cNvPr id="5" name="Alice"/>
          <p:cNvSpPr/>
          <p:nvPr/>
        </p:nvSpPr>
        <p:spPr>
          <a:xfrm>
            <a:off x="731520" y="2020000"/>
            <a:ext cx="4600000" cy="1080000"/>
          </a:xfrm>
          <a:prstGeom prst="roundRect">
            <a:avLst>
              <a:gd name="adj" fmla="val 6000"/>
            </a:avLst>
          </a:prstGeom>
          <a:solidFill>
            <a:srgbClr val="EEF2FF"/>
          </a:solidFill>
          <a:ln w="15875">
            <a:solidFill>
              <a:srgbClr val="3730A3"/>
            </a:solidFill>
            <a:prstDash val="solid"/>
          </a:ln>
        </p:spPr>
        <p:txBody>
          <a:bodyPr wrap="square" lIns="182880" tIns="45720" rIns="182880" bIns="45720" rtlCol="0" anchor="ctr"/>
          <a:lstStyle/>
          <a:p>
            <a:pPr marL="0" indent="0" algn="ctr">
              <a:spcAft>
                <a:spcPts val="300"/>
              </a:spcAft>
              <a:buNone/>
            </a:pPr>
            <a:r>
              <a:rPr lang="en-US" sz="1500" b="1">
                <a:solidFill>
                  <a:srgbClr val="3730A3"/>
                </a:solidFill>
                <a:latin typeface="Calibri" pitchFamily="34" charset="0"/>
                <a:ea typeface="Calibri" pitchFamily="34" charset="-122"/>
                <a:cs typeface="Calibri" pitchFamily="34" charset="-120"/>
              </a:rPr>
              <a:t>Alice</a:t>
            </a:r>
          </a:p>
          <a:p>
            <a:pPr marL="0" indent="0" algn="ctr">
              <a:buNone/>
            </a:pPr>
            <a:r>
              <a:rPr lang="en-US" sz="1250">
                <a:solidFill>
                  <a:srgbClr val="1F2937"/>
                </a:solidFill>
                <a:latin typeface="Calibri" pitchFamily="34" charset="0"/>
                <a:ea typeface="Calibri" pitchFamily="34" charset="-122"/>
                <a:cs typeface="Calibri" pitchFamily="34" charset="-120"/>
              </a:rPr>
              <a:t>Message + Signature</a:t>
            </a:r>
          </a:p>
          <a:p>
            <a:pPr marL="0" indent="0" algn="ctr">
              <a:buNone/>
            </a:pPr>
            <a:r>
              <a:rPr lang="en-US" sz="1100" i="1">
                <a:solidFill>
                  <a:srgbClr val="475569"/>
                </a:solidFill>
                <a:latin typeface="Calibri" pitchFamily="34" charset="0"/>
                <a:ea typeface="Calibri" pitchFamily="34" charset="-122"/>
                <a:cs typeface="Calibri" pitchFamily="34" charset="-120"/>
              </a:rPr>
              <a:t>signed with Alice’s private key</a:t>
            </a:r>
          </a:p>
        </p:txBody>
      </p:sp>
      <p:sp>
        <p:nvSpPr>
          <p:cNvPr id="6" name="arrow"/>
          <p:cNvSpPr/>
          <p:nvPr/>
        </p:nvSpPr>
        <p:spPr>
          <a:xfrm>
            <a:off x="5431520" y="2560000"/>
            <a:ext cx="768480" cy="0"/>
          </a:xfrm>
          <a:prstGeom prst="line">
            <a:avLst/>
          </a:prstGeom>
          <a:ln w="28575">
            <a:solidFill>
              <a:srgbClr val="475569"/>
            </a:solidFill>
            <a:prstDash val="solid"/>
            <a:tailEnd type="triangle" w="med" len="med"/>
          </a:ln>
        </p:spPr>
        <p:txBody>
          <a:bodyPr/>
          <a:lstStyle/>
          <a:p>
            <a:endParaRPr lang="en-US"/>
          </a:p>
        </p:txBody>
      </p:sp>
      <p:sp>
        <p:nvSpPr>
          <p:cNvPr id="7" name="Bob"/>
          <p:cNvSpPr/>
          <p:nvPr/>
        </p:nvSpPr>
        <p:spPr>
          <a:xfrm>
            <a:off x="6300000" y="2020000"/>
            <a:ext cx="5160480" cy="1080000"/>
          </a:xfrm>
          <a:prstGeom prst="roundRect">
            <a:avLst>
              <a:gd name="adj" fmla="val 6000"/>
            </a:avLst>
          </a:prstGeom>
          <a:solidFill>
            <a:srgbClr val="CCFBF1"/>
          </a:solidFill>
          <a:ln w="15875">
            <a:solidFill>
              <a:srgbClr val="0D9488"/>
            </a:solidFill>
            <a:prstDash val="solid"/>
          </a:ln>
        </p:spPr>
        <p:txBody>
          <a:bodyPr wrap="square" lIns="182880" tIns="45720" rIns="182880" bIns="45720" rtlCol="0" anchor="ctr"/>
          <a:lstStyle/>
          <a:p>
            <a:pPr marL="0" indent="0" algn="ctr">
              <a:spcAft>
                <a:spcPts val="300"/>
              </a:spcAft>
              <a:buNone/>
            </a:pPr>
            <a:r>
              <a:rPr lang="en-US" sz="1500" b="1">
                <a:solidFill>
                  <a:srgbClr val="0D9488"/>
                </a:solidFill>
                <a:latin typeface="Calibri" pitchFamily="34" charset="0"/>
                <a:ea typeface="Calibri" pitchFamily="34" charset="-122"/>
                <a:cs typeface="Calibri" pitchFamily="34" charset="-120"/>
              </a:rPr>
              <a:t>Bob</a:t>
            </a:r>
          </a:p>
          <a:p>
            <a:pPr marL="0" indent="0" algn="ctr">
              <a:buNone/>
            </a:pPr>
            <a:r>
              <a:rPr lang="en-US" sz="1250">
                <a:solidFill>
                  <a:srgbClr val="1F2937"/>
                </a:solidFill>
                <a:latin typeface="Calibri" pitchFamily="34" charset="0"/>
                <a:ea typeface="Calibri" pitchFamily="34" charset="-122"/>
                <a:cs typeface="Calibri" pitchFamily="34" charset="-120"/>
              </a:rPr>
              <a:t>Verifies the signature</a:t>
            </a:r>
          </a:p>
          <a:p>
            <a:pPr marL="0" indent="0" algn="ctr">
              <a:buNone/>
            </a:pPr>
            <a:r>
              <a:rPr lang="en-US" sz="1100" i="1">
                <a:solidFill>
                  <a:srgbClr val="475569"/>
                </a:solidFill>
                <a:latin typeface="Calibri" pitchFamily="34" charset="0"/>
                <a:ea typeface="Calibri" pitchFamily="34" charset="-122"/>
                <a:cs typeface="Calibri" pitchFamily="34" charset="-120"/>
              </a:rPr>
              <a:t>using Alice’s public key</a:t>
            </a:r>
          </a:p>
        </p:txBody>
      </p:sp>
      <p:sp>
        <p:nvSpPr>
          <p:cNvPr id="8" name="Authentication"/>
          <p:cNvSpPr/>
          <p:nvPr/>
        </p:nvSpPr>
        <p:spPr>
          <a:xfrm>
            <a:off x="731520" y="3400000"/>
            <a:ext cx="5100000" cy="1400000"/>
          </a:xfrm>
          <a:prstGeom prst="roundRect">
            <a:avLst>
              <a:gd name="adj" fmla="val 6000"/>
            </a:avLst>
          </a:prstGeom>
          <a:solidFill>
            <a:srgbClr val="EEF2FF"/>
          </a:solidFill>
          <a:ln w="15875">
            <a:solidFill>
              <a:srgbClr val="D1D5DB"/>
            </a:solidFill>
            <a:prstDash val="solid"/>
          </a:ln>
        </p:spPr>
        <p:txBody>
          <a:bodyPr wrap="square" lIns="182880" tIns="91440" rIns="182880" bIns="91440" rtlCol="0" anchor="ctr"/>
          <a:lstStyle/>
          <a:p>
            <a:pPr marL="0" indent="0" algn="l">
              <a:spcAft>
                <a:spcPts val="400"/>
              </a:spcAft>
              <a:buNone/>
            </a:pPr>
            <a:r>
              <a:rPr lang="en-US" sz="1500" b="1">
                <a:solidFill>
                  <a:srgbClr val="3730A3"/>
                </a:solidFill>
                <a:latin typeface="Calibri" pitchFamily="34" charset="0"/>
                <a:ea typeface="Calibri" pitchFamily="34" charset="-122"/>
                <a:cs typeface="Calibri" pitchFamily="34" charset="-120"/>
              </a:rPr>
              <a:t>Authentication</a:t>
            </a:r>
          </a:p>
          <a:p>
            <a:pPr marL="0" indent="0" algn="l">
              <a:buNone/>
            </a:pPr>
            <a:r>
              <a:rPr lang="en-US" sz="1250">
                <a:solidFill>
                  <a:srgbClr val="1F2937"/>
                </a:solidFill>
                <a:latin typeface="Calibri" pitchFamily="34" charset="0"/>
                <a:ea typeface="Calibri" pitchFamily="34" charset="-122"/>
                <a:cs typeface="Calibri" pitchFamily="34" charset="-120"/>
              </a:rPr>
              <a:t>Answers: who sent the message?</a:t>
            </a:r>
          </a:p>
        </p:txBody>
      </p:sp>
      <p:sp>
        <p:nvSpPr>
          <p:cNvPr id="9" name="Integrity"/>
          <p:cNvSpPr/>
          <p:nvPr/>
        </p:nvSpPr>
        <p:spPr>
          <a:xfrm>
            <a:off x="6360480" y="3400000"/>
            <a:ext cx="5100000" cy="1400000"/>
          </a:xfrm>
          <a:prstGeom prst="roundRect">
            <a:avLst>
              <a:gd name="adj" fmla="val 6000"/>
            </a:avLst>
          </a:prstGeom>
          <a:solidFill>
            <a:srgbClr val="EEF2FF"/>
          </a:solidFill>
          <a:ln w="15875">
            <a:solidFill>
              <a:srgbClr val="D1D5DB"/>
            </a:solidFill>
            <a:prstDash val="solid"/>
          </a:ln>
        </p:spPr>
        <p:txBody>
          <a:bodyPr wrap="square" lIns="182880" tIns="91440" rIns="182880" bIns="91440" rtlCol="0" anchor="ctr"/>
          <a:lstStyle/>
          <a:p>
            <a:pPr marL="0" indent="0" algn="l">
              <a:spcAft>
                <a:spcPts val="400"/>
              </a:spcAft>
              <a:buNone/>
            </a:pPr>
            <a:r>
              <a:rPr lang="en-US" sz="1500" b="1">
                <a:solidFill>
                  <a:srgbClr val="0D9488"/>
                </a:solidFill>
                <a:latin typeface="Calibri" pitchFamily="34" charset="0"/>
                <a:ea typeface="Calibri" pitchFamily="34" charset="-122"/>
                <a:cs typeface="Calibri" pitchFamily="34" charset="-120"/>
              </a:rPr>
              <a:t>Integrity</a:t>
            </a:r>
          </a:p>
          <a:p>
            <a:pPr marL="0" indent="0" algn="l">
              <a:buNone/>
            </a:pPr>
            <a:r>
              <a:rPr lang="en-US" sz="1250">
                <a:solidFill>
                  <a:srgbClr val="1F2937"/>
                </a:solidFill>
                <a:latin typeface="Calibri" pitchFamily="34" charset="0"/>
                <a:ea typeface="Calibri" pitchFamily="34" charset="-122"/>
                <a:cs typeface="Calibri" pitchFamily="34" charset="-120"/>
              </a:rPr>
              <a:t>Answers: was the message modified?</a:t>
            </a:r>
          </a:p>
        </p:txBody>
      </p:sp>
      <p:sp>
        <p:nvSpPr>
          <p:cNvPr id="10"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Key idea:  </a:t>
            </a:r>
            <a:r>
              <a:rPr lang="en-US" sz="1500" b="1">
                <a:solidFill>
                  <a:srgbClr val="3730A3"/>
                </a:solidFill>
                <a:latin typeface="Calibri" pitchFamily="34" charset="0"/>
                <a:ea typeface="Calibri" pitchFamily="34" charset="-122"/>
                <a:cs typeface="Calibri" pitchFamily="34" charset="-120"/>
              </a:rPr>
              <a:t>Encryption does not automatically provide authentication.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Secret Sharing</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ub label"/>
          <p:cNvSpPr/>
          <p:nvPr/>
        </p:nvSpPr>
        <p:spPr>
          <a:xfrm>
            <a:off x="731520" y="1560000"/>
            <a:ext cx="7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Splitting a secret so no single person holds it all</a:t>
            </a:r>
          </a:p>
        </p:txBody>
      </p:sp>
      <p:sp>
        <p:nvSpPr>
          <p:cNvPr id="5" name="Secret"/>
          <p:cNvSpPr/>
          <p:nvPr/>
        </p:nvSpPr>
        <p:spPr>
          <a:xfrm>
            <a:off x="731520" y="2220000"/>
            <a:ext cx="2200000" cy="880000"/>
          </a:xfrm>
          <a:prstGeom prst="roundRect">
            <a:avLst>
              <a:gd name="adj" fmla="val 8000"/>
            </a:avLst>
          </a:prstGeom>
          <a:solidFill>
            <a:srgbClr val="EEF2FF"/>
          </a:solidFill>
          <a:ln w="15875">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Secret</a:t>
            </a:r>
          </a:p>
        </p:txBody>
      </p:sp>
      <p:sp>
        <p:nvSpPr>
          <p:cNvPr id="6" name="arrow1"/>
          <p:cNvSpPr/>
          <p:nvPr/>
        </p:nvSpPr>
        <p:spPr>
          <a:xfrm>
            <a:off x="2991520" y="2660000"/>
            <a:ext cx="420000" cy="0"/>
          </a:xfrm>
          <a:prstGeom prst="line">
            <a:avLst/>
          </a:prstGeom>
          <a:ln w="25400">
            <a:solidFill>
              <a:srgbClr val="475569"/>
            </a:solidFill>
            <a:prstDash val="solid"/>
            <a:tailEnd type="triangle" w="med" len="med"/>
          </a:ln>
        </p:spPr>
        <p:txBody>
          <a:bodyPr/>
          <a:lstStyle/>
          <a:p>
            <a:endParaRPr lang="en-US"/>
          </a:p>
        </p:txBody>
      </p:sp>
      <p:sp>
        <p:nvSpPr>
          <p:cNvPr id="7" name="Share A"/>
          <p:cNvSpPr/>
          <p:nvPr/>
        </p:nvSpPr>
        <p:spPr>
          <a:xfrm>
            <a:off x="3480000" y="1980000"/>
            <a:ext cx="2600000" cy="380000"/>
          </a:xfrm>
          <a:prstGeom prst="roundRect">
            <a:avLst>
              <a:gd name="adj" fmla="val 12000"/>
            </a:avLst>
          </a:prstGeom>
          <a:solidFill>
            <a:srgbClr val="CCFBF1"/>
          </a:solidFill>
          <a:ln w="15875">
            <a:solidFill>
              <a:srgbClr val="0D9488"/>
            </a:solidFill>
            <a:prstDash val="solid"/>
          </a:ln>
        </p:spPr>
        <p:txBody>
          <a:bodyPr wrap="square" lIns="45720" tIns="0" rIns="45720" bIns="0" rtlCol="0" anchor="ctr"/>
          <a:lstStyle/>
          <a:p>
            <a:pPr marL="0" indent="0" algn="ctr">
              <a:buNone/>
            </a:pPr>
            <a:r>
              <a:rPr lang="en-US" sz="1250" b="1">
                <a:solidFill>
                  <a:srgbClr val="0D9488"/>
                </a:solidFill>
                <a:latin typeface="Calibri" pitchFamily="34" charset="0"/>
                <a:ea typeface="Calibri" pitchFamily="34" charset="-122"/>
                <a:cs typeface="Calibri" pitchFamily="34" charset="-120"/>
              </a:rPr>
              <a:t>Share → Person A</a:t>
            </a:r>
          </a:p>
        </p:txBody>
      </p:sp>
      <p:sp>
        <p:nvSpPr>
          <p:cNvPr id="8" name="Share B"/>
          <p:cNvSpPr/>
          <p:nvPr/>
        </p:nvSpPr>
        <p:spPr>
          <a:xfrm>
            <a:off x="3480000" y="2470000"/>
            <a:ext cx="2600000" cy="380000"/>
          </a:xfrm>
          <a:prstGeom prst="roundRect">
            <a:avLst>
              <a:gd name="adj" fmla="val 12000"/>
            </a:avLst>
          </a:prstGeom>
          <a:solidFill>
            <a:srgbClr val="CCFBF1"/>
          </a:solidFill>
          <a:ln w="15875">
            <a:solidFill>
              <a:srgbClr val="0D9488"/>
            </a:solidFill>
            <a:prstDash val="solid"/>
          </a:ln>
        </p:spPr>
        <p:txBody>
          <a:bodyPr wrap="square" lIns="45720" tIns="0" rIns="45720" bIns="0" rtlCol="0" anchor="ctr"/>
          <a:lstStyle/>
          <a:p>
            <a:pPr marL="0" indent="0" algn="ctr">
              <a:buNone/>
            </a:pPr>
            <a:r>
              <a:rPr lang="en-US" sz="1250" b="1">
                <a:solidFill>
                  <a:srgbClr val="0D9488"/>
                </a:solidFill>
                <a:latin typeface="Calibri" pitchFamily="34" charset="0"/>
                <a:ea typeface="Calibri" pitchFamily="34" charset="-122"/>
                <a:cs typeface="Calibri" pitchFamily="34" charset="-120"/>
              </a:rPr>
              <a:t>Share → Person B</a:t>
            </a:r>
          </a:p>
        </p:txBody>
      </p:sp>
      <p:sp>
        <p:nvSpPr>
          <p:cNvPr id="9" name="Share C"/>
          <p:cNvSpPr/>
          <p:nvPr/>
        </p:nvSpPr>
        <p:spPr>
          <a:xfrm>
            <a:off x="3480000" y="2960000"/>
            <a:ext cx="2600000" cy="380000"/>
          </a:xfrm>
          <a:prstGeom prst="roundRect">
            <a:avLst>
              <a:gd name="adj" fmla="val 12000"/>
            </a:avLst>
          </a:prstGeom>
          <a:solidFill>
            <a:srgbClr val="CCFBF1"/>
          </a:solidFill>
          <a:ln w="15875">
            <a:solidFill>
              <a:srgbClr val="0D9488"/>
            </a:solidFill>
            <a:prstDash val="solid"/>
          </a:ln>
        </p:spPr>
        <p:txBody>
          <a:bodyPr wrap="square" lIns="45720" tIns="0" rIns="45720" bIns="0" rtlCol="0" anchor="ctr"/>
          <a:lstStyle/>
          <a:p>
            <a:pPr marL="0" indent="0" algn="ctr">
              <a:buNone/>
            </a:pPr>
            <a:r>
              <a:rPr lang="en-US" sz="1250" b="1">
                <a:solidFill>
                  <a:srgbClr val="0D9488"/>
                </a:solidFill>
                <a:latin typeface="Calibri" pitchFamily="34" charset="0"/>
                <a:ea typeface="Calibri" pitchFamily="34" charset="-122"/>
                <a:cs typeface="Calibri" pitchFamily="34" charset="-120"/>
              </a:rPr>
              <a:t>Share → Person C</a:t>
            </a:r>
          </a:p>
        </p:txBody>
      </p:sp>
      <p:sp>
        <p:nvSpPr>
          <p:cNvPr id="10" name="arrow2"/>
          <p:cNvSpPr/>
          <p:nvPr/>
        </p:nvSpPr>
        <p:spPr>
          <a:xfrm>
            <a:off x="6140000" y="2660000"/>
            <a:ext cx="420000" cy="0"/>
          </a:xfrm>
          <a:prstGeom prst="line">
            <a:avLst/>
          </a:prstGeom>
          <a:ln w="25400">
            <a:solidFill>
              <a:srgbClr val="475569"/>
            </a:solidFill>
            <a:prstDash val="solid"/>
            <a:tailEnd type="triangle" w="med" len="med"/>
          </a:ln>
        </p:spPr>
        <p:txBody>
          <a:bodyPr/>
          <a:lstStyle/>
          <a:p>
            <a:endParaRPr lang="en-US"/>
          </a:p>
        </p:txBody>
      </p:sp>
      <p:sp>
        <p:nvSpPr>
          <p:cNvPr id="11" name="Reconstruction"/>
          <p:cNvSpPr/>
          <p:nvPr/>
        </p:nvSpPr>
        <p:spPr>
          <a:xfrm>
            <a:off x="6620000" y="2220000"/>
            <a:ext cx="2600000" cy="880000"/>
          </a:xfrm>
          <a:prstGeom prst="roundRect">
            <a:avLst>
              <a:gd name="adj" fmla="val 8000"/>
            </a:avLst>
          </a:prstGeom>
          <a:solidFill>
            <a:srgbClr val="EEF2FF"/>
          </a:solidFill>
          <a:ln w="15875">
            <a:solidFill>
              <a:srgbClr val="3730A3"/>
            </a:solidFill>
            <a:prstDash val="solid"/>
          </a:ln>
        </p:spPr>
        <p:txBody>
          <a:bodyPr wrap="square" lIns="91440" tIns="0" rIns="91440" bIns="0" rtlCol="0" anchor="ctr"/>
          <a:lstStyle/>
          <a:p>
            <a:pPr marL="0" indent="0" algn="ctr">
              <a:spcAft>
                <a:spcPts val="200"/>
              </a:spcAft>
              <a:buNone/>
            </a:pPr>
            <a:r>
              <a:rPr lang="en-US" sz="1400" b="1">
                <a:solidFill>
                  <a:srgbClr val="3730A3"/>
                </a:solidFill>
                <a:latin typeface="Calibri" pitchFamily="34" charset="0"/>
                <a:ea typeface="Calibri" pitchFamily="34" charset="-122"/>
                <a:cs typeface="Calibri" pitchFamily="34" charset="-120"/>
              </a:rPr>
              <a:t>Reconstruction</a:t>
            </a:r>
          </a:p>
          <a:p>
            <a:pPr marL="0" indent="0" algn="ctr">
              <a:buNone/>
            </a:pPr>
            <a:r>
              <a:rPr lang="en-US" sz="1100">
                <a:solidFill>
                  <a:srgbClr val="475569"/>
                </a:solidFill>
                <a:latin typeface="Calibri" pitchFamily="34" charset="0"/>
                <a:ea typeface="Calibri" pitchFamily="34" charset="-122"/>
                <a:cs typeface="Calibri" pitchFamily="34" charset="-120"/>
              </a:rPr>
              <a:t>enough shares recombine</a:t>
            </a:r>
          </a:p>
        </p:txBody>
      </p:sp>
      <p:sp>
        <p:nvSpPr>
          <p:cNvPr id="12" name="Threshold"/>
          <p:cNvSpPr/>
          <p:nvPr/>
        </p:nvSpPr>
        <p:spPr>
          <a:xfrm>
            <a:off x="731520" y="3760000"/>
            <a:ext cx="5100000" cy="1500000"/>
          </a:xfrm>
          <a:prstGeom prst="roundRect">
            <a:avLst>
              <a:gd name="adj" fmla="val 6000"/>
            </a:avLst>
          </a:prstGeom>
          <a:solidFill>
            <a:srgbClr val="FEF3C7"/>
          </a:solidFill>
          <a:ln w="15875">
            <a:solidFill>
              <a:srgbClr val="B45309"/>
            </a:solidFill>
            <a:prstDash val="solid"/>
          </a:ln>
        </p:spPr>
        <p:txBody>
          <a:bodyPr wrap="square" lIns="182880" tIns="91440" rIns="182880" bIns="91440" rtlCol="0" anchor="ctr"/>
          <a:lstStyle/>
          <a:p>
            <a:pPr marL="0" indent="0" algn="l">
              <a:spcAft>
                <a:spcPts val="400"/>
              </a:spcAft>
              <a:buNone/>
            </a:pPr>
            <a:r>
              <a:rPr lang="en-US" sz="1500" b="1">
                <a:solidFill>
                  <a:srgbClr val="B45309"/>
                </a:solidFill>
                <a:latin typeface="Calibri" pitchFamily="34" charset="0"/>
                <a:ea typeface="Calibri" pitchFamily="34" charset="-122"/>
                <a:cs typeface="Calibri" pitchFamily="34" charset="-120"/>
              </a:rPr>
              <a:t>Threshold (e.g. 3-of-5)</a:t>
            </a:r>
          </a:p>
          <a:p>
            <a:pPr marL="0" indent="0" algn="l">
              <a:buNone/>
            </a:pPr>
            <a:r>
              <a:rPr lang="en-US" sz="1250">
                <a:solidFill>
                  <a:srgbClr val="1F2937"/>
                </a:solidFill>
                <a:latin typeface="Calibri" pitchFamily="34" charset="0"/>
                <a:ea typeface="Calibri" pitchFamily="34" charset="-122"/>
                <a:cs typeface="Calibri" pitchFamily="34" charset="-120"/>
              </a:rPr>
              <a:t>Need any 3 of 5 shares to reconstruct the secret; fewer reveal nothing.</a:t>
            </a:r>
          </a:p>
        </p:txBody>
      </p:sp>
      <p:sp>
        <p:nvSpPr>
          <p:cNvPr id="13" name="Applications"/>
          <p:cNvSpPr/>
          <p:nvPr/>
        </p:nvSpPr>
        <p:spPr>
          <a:xfrm>
            <a:off x="6360480" y="3760000"/>
            <a:ext cx="5100000" cy="1500000"/>
          </a:xfrm>
          <a:prstGeom prst="roundRect">
            <a:avLst>
              <a:gd name="adj" fmla="val 6000"/>
            </a:avLst>
          </a:prstGeom>
          <a:solidFill>
            <a:srgbClr val="EEF2FF"/>
          </a:solidFill>
          <a:ln w="15875">
            <a:solidFill>
              <a:srgbClr val="D1D5DB"/>
            </a:solidFill>
            <a:prstDash val="solid"/>
          </a:ln>
        </p:spPr>
        <p:txBody>
          <a:bodyPr wrap="square" lIns="182880" tIns="91440" rIns="182880" bIns="91440" rtlCol="0" anchor="ctr"/>
          <a:lstStyle/>
          <a:p>
            <a:pPr marL="0" indent="0" algn="l">
              <a:spcAft>
                <a:spcPts val="400"/>
              </a:spcAft>
              <a:buNone/>
            </a:pPr>
            <a:r>
              <a:rPr lang="en-US" sz="1500" b="1">
                <a:solidFill>
                  <a:srgbClr val="3730A3"/>
                </a:solidFill>
                <a:latin typeface="Calibri" pitchFamily="34" charset="0"/>
                <a:ea typeface="Calibri" pitchFamily="34" charset="-122"/>
                <a:cs typeface="Calibri" pitchFamily="34" charset="-120"/>
              </a:rPr>
              <a:t>Applications</a:t>
            </a:r>
          </a:p>
          <a:p>
            <a:pPr marL="0" indent="0" algn="l">
              <a:buNone/>
            </a:pPr>
            <a:r>
              <a:rPr lang="en-US" sz="1250">
                <a:solidFill>
                  <a:srgbClr val="1F2937"/>
                </a:solidFill>
                <a:latin typeface="Calibri" pitchFamily="34" charset="0"/>
                <a:ea typeface="Calibri" pitchFamily="34" charset="-122"/>
                <a:cs typeface="Calibri" pitchFamily="34" charset="-120"/>
              </a:rPr>
              <a:t>Distributed trust, secure backups, cryptocurrency wallets, key escrow.</a:t>
            </a:r>
          </a:p>
        </p:txBody>
      </p:sp>
      <p:sp>
        <p:nvSpPr>
          <p:cNvPr id="14"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Key idea:  </a:t>
            </a:r>
            <a:r>
              <a:rPr lang="en-US" sz="1500" b="1">
                <a:solidFill>
                  <a:srgbClr val="3730A3"/>
                </a:solidFill>
                <a:latin typeface="Calibri" pitchFamily="34" charset="0"/>
                <a:ea typeface="Calibri" pitchFamily="34" charset="-122"/>
                <a:cs typeface="Calibri" pitchFamily="34" charset="-120"/>
              </a:rPr>
              <a:t>Secret sharing distributes trust rather than concentrating it.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109472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From Classical Cryptography to Quantum Key Distribution</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Sub label"/>
          <p:cNvSpPr/>
          <p:nvPr/>
        </p:nvSpPr>
        <p:spPr>
          <a:xfrm>
            <a:off x="731520" y="1500000"/>
            <a:ext cx="80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What quantum changes — and what stays the same</a:t>
            </a:r>
          </a:p>
        </p:txBody>
      </p:sp>
      <p:graphicFrame>
        <p:nvGraphicFramePr>
          <p:cNvPr id="5" name="Comparison table"/>
          <p:cNvGraphicFramePr>
            <a:graphicFrameLocks noGrp="1"/>
          </p:cNvGraphicFramePr>
          <p:nvPr>
            <p:extLst>
              <p:ext uri="{D42A27DB-BD31-4B8C-83A1-F6EECF244321}">
                <p14:modId xmlns:p14="http://schemas.microsoft.com/office/powerpoint/2010/main" val="2088435600"/>
              </p:ext>
            </p:extLst>
          </p:nvPr>
        </p:nvGraphicFramePr>
        <p:xfrm>
          <a:off x="731520" y="1960000"/>
          <a:ext cx="10728960" cy="3520000"/>
        </p:xfrm>
        <a:graphic>
          <a:graphicData uri="http://schemas.openxmlformats.org/drawingml/2006/table">
            <a:tbl>
              <a:tblPr firstRow="1" bandRow="1"/>
              <a:tblGrid>
                <a:gridCol w="3000000">
                  <a:extLst>
                    <a:ext uri="{9D8B030D-6E8A-4147-A177-3AD203B41FA5}">
                      <a16:colId xmlns:a16="http://schemas.microsoft.com/office/drawing/2014/main" val="20000"/>
                    </a:ext>
                  </a:extLst>
                </a:gridCol>
                <a:gridCol w="3864480">
                  <a:extLst>
                    <a:ext uri="{9D8B030D-6E8A-4147-A177-3AD203B41FA5}">
                      <a16:colId xmlns:a16="http://schemas.microsoft.com/office/drawing/2014/main" val="20001"/>
                    </a:ext>
                  </a:extLst>
                </a:gridCol>
                <a:gridCol w="3864480">
                  <a:extLst>
                    <a:ext uri="{9D8B030D-6E8A-4147-A177-3AD203B41FA5}">
                      <a16:colId xmlns:a16="http://schemas.microsoft.com/office/drawing/2014/main" val="20002"/>
                    </a:ext>
                  </a:extLst>
                </a:gridCol>
              </a:tblGrid>
              <a:tr h="520000">
                <a:tc>
                  <a:txBody>
                    <a:bodyPr/>
                    <a:lstStyle/>
                    <a:p>
                      <a:pPr algn="l"/>
                      <a:r>
                        <a:rPr lang="en-US" sz="1350" b="1">
                          <a:solidFill>
                            <a:srgbClr val="FFFFFF"/>
                          </a:solidFill>
                          <a:latin typeface="Calibri" pitchFamily="34" charset="0"/>
                          <a:ea typeface="Calibri" pitchFamily="34" charset="-122"/>
                          <a:cs typeface="Calibri" pitchFamily="34" charset="-120"/>
                        </a:rPr>
                        <a:t>Topic</a:t>
                      </a:r>
                    </a:p>
                  </a:txBody>
                  <a:tcPr marL="137160" marR="82296" marT="27432" marB="27432" anchor="ctr">
                    <a:solidFill>
                      <a:srgbClr val="3730A3"/>
                    </a:solidFill>
                  </a:tcPr>
                </a:tc>
                <a:tc>
                  <a:txBody>
                    <a:bodyPr/>
                    <a:lstStyle/>
                    <a:p>
                      <a:pPr algn="l"/>
                      <a:r>
                        <a:rPr lang="en-US" sz="1350" b="1">
                          <a:solidFill>
                            <a:srgbClr val="FFFFFF"/>
                          </a:solidFill>
                          <a:latin typeface="Calibri" pitchFamily="34" charset="0"/>
                          <a:ea typeface="Calibri" pitchFamily="34" charset="-122"/>
                          <a:cs typeface="Calibri" pitchFamily="34" charset="-120"/>
                        </a:rPr>
                        <a:t>Classical Approach</a:t>
                      </a:r>
                    </a:p>
                  </a:txBody>
                  <a:tcPr marL="137160" marR="82296" marT="27432" marB="27432" anchor="ctr">
                    <a:solidFill>
                      <a:srgbClr val="3730A3"/>
                    </a:solidFill>
                  </a:tcPr>
                </a:tc>
                <a:tc>
                  <a:txBody>
                    <a:bodyPr/>
                    <a:lstStyle/>
                    <a:p>
                      <a:pPr algn="l"/>
                      <a:r>
                        <a:rPr lang="en-US" sz="1350" b="1">
                          <a:solidFill>
                            <a:srgbClr val="FFFFFF"/>
                          </a:solidFill>
                          <a:latin typeface="Calibri" pitchFamily="34" charset="0"/>
                          <a:ea typeface="Calibri" pitchFamily="34" charset="-122"/>
                          <a:cs typeface="Calibri" pitchFamily="34" charset="-120"/>
                        </a:rPr>
                        <a:t>Quantum Approach</a:t>
                      </a:r>
                    </a:p>
                  </a:txBody>
                  <a:tcPr marL="137160" marR="82296" marT="27432" marB="27432" anchor="ctr">
                    <a:solidFill>
                      <a:srgbClr val="0D9488"/>
                    </a:solidFill>
                  </a:tcPr>
                </a:tc>
                <a:extLst>
                  <a:ext uri="{0D108BD9-81ED-4DB2-BD59-A6C34878D82A}">
                    <a16:rowId xmlns:a16="http://schemas.microsoft.com/office/drawing/2014/main" val="10000"/>
                  </a:ext>
                </a:extLst>
              </a:tr>
              <a:tr h="750000">
                <a:tc>
                  <a:txBody>
                    <a:bodyPr/>
                    <a:lstStyle/>
                    <a:p>
                      <a:pPr algn="l"/>
                      <a:r>
                        <a:rPr lang="en-US" sz="1250" b="1">
                          <a:solidFill>
                            <a:srgbClr val="3730A3"/>
                          </a:solidFill>
                          <a:latin typeface="Calibri" pitchFamily="34" charset="0"/>
                          <a:ea typeface="Calibri" pitchFamily="34" charset="-122"/>
                          <a:cs typeface="Calibri" pitchFamily="34" charset="-120"/>
                        </a:rPr>
                        <a:t>Encryption</a:t>
                      </a:r>
                    </a:p>
                  </a:txBody>
                  <a:tcPr marL="137160" marR="82296" marT="27432" marB="27432" anchor="ctr">
                    <a:solidFill>
                      <a:srgbClr val="EEF2FF"/>
                    </a:solidFill>
                  </a:tcPr>
                </a:tc>
                <a:tc>
                  <a:txBody>
                    <a:bodyPr/>
                    <a:lstStyle/>
                    <a:p>
                      <a:pPr algn="l"/>
                      <a:r>
                        <a:rPr lang="en-US" sz="1200">
                          <a:solidFill>
                            <a:srgbClr val="1F2937"/>
                          </a:solidFill>
                          <a:latin typeface="Calibri" pitchFamily="34" charset="0"/>
                          <a:ea typeface="Calibri" pitchFamily="34" charset="-122"/>
                          <a:cs typeface="Calibri" pitchFamily="34" charset="-120"/>
                        </a:rPr>
                        <a:t>AES</a:t>
                      </a:r>
                    </a:p>
                  </a:txBody>
                  <a:tcPr marL="137160" marR="82296" marT="27432" marB="27432" anchor="ctr">
                    <a:solidFill>
                      <a:srgbClr val="FFFFFF"/>
                    </a:solidFill>
                  </a:tcPr>
                </a:tc>
                <a:tc>
                  <a:txBody>
                    <a:bodyPr/>
                    <a:lstStyle/>
                    <a:p>
                      <a:pPr algn="l"/>
                      <a:r>
                        <a:rPr lang="en-US" sz="1200" b="1">
                          <a:solidFill>
                            <a:srgbClr val="0D9488"/>
                          </a:solidFill>
                          <a:latin typeface="Calibri" pitchFamily="34" charset="0"/>
                          <a:ea typeface="Calibri" pitchFamily="34" charset="-122"/>
                          <a:cs typeface="Calibri" pitchFamily="34" charset="-120"/>
                        </a:rPr>
                        <a:t>AES (still used)</a:t>
                      </a:r>
                    </a:p>
                  </a:txBody>
                  <a:tcPr marL="137160" marR="82296" marT="27432" marB="27432" anchor="ctr">
                    <a:solidFill>
                      <a:srgbClr val="CCFBF1"/>
                    </a:solidFill>
                  </a:tcPr>
                </a:tc>
                <a:extLst>
                  <a:ext uri="{0D108BD9-81ED-4DB2-BD59-A6C34878D82A}">
                    <a16:rowId xmlns:a16="http://schemas.microsoft.com/office/drawing/2014/main" val="10001"/>
                  </a:ext>
                </a:extLst>
              </a:tr>
              <a:tr h="750000">
                <a:tc>
                  <a:txBody>
                    <a:bodyPr/>
                    <a:lstStyle/>
                    <a:p>
                      <a:pPr algn="l"/>
                      <a:r>
                        <a:rPr lang="en-US" sz="1250" b="1">
                          <a:solidFill>
                            <a:srgbClr val="3730A3"/>
                          </a:solidFill>
                          <a:latin typeface="Calibri" pitchFamily="34" charset="0"/>
                          <a:ea typeface="Calibri" pitchFamily="34" charset="-122"/>
                          <a:cs typeface="Calibri" pitchFamily="34" charset="-120"/>
                        </a:rPr>
                        <a:t>Authentication</a:t>
                      </a:r>
                    </a:p>
                  </a:txBody>
                  <a:tcPr marL="137160" marR="82296" marT="27432" marB="27432" anchor="ctr">
                    <a:solidFill>
                      <a:srgbClr val="EEF2FF"/>
                    </a:solidFill>
                  </a:tcPr>
                </a:tc>
                <a:tc>
                  <a:txBody>
                    <a:bodyPr/>
                    <a:lstStyle/>
                    <a:p>
                      <a:pPr algn="l"/>
                      <a:r>
                        <a:rPr lang="en-US" sz="1200">
                          <a:solidFill>
                            <a:srgbClr val="1F2937"/>
                          </a:solidFill>
                          <a:latin typeface="Calibri" pitchFamily="34" charset="0"/>
                          <a:ea typeface="Calibri" pitchFamily="34" charset="-122"/>
                          <a:cs typeface="Calibri" pitchFamily="34" charset="-120"/>
                        </a:rPr>
                        <a:t>Digital signatures</a:t>
                      </a:r>
                    </a:p>
                  </a:txBody>
                  <a:tcPr marL="137160" marR="82296" marT="27432" marB="27432" anchor="ctr">
                    <a:solidFill>
                      <a:srgbClr val="FFFFFF"/>
                    </a:solidFill>
                  </a:tcPr>
                </a:tc>
                <a:tc>
                  <a:txBody>
                    <a:bodyPr/>
                    <a:lstStyle/>
                    <a:p>
                      <a:pPr algn="l"/>
                      <a:r>
                        <a:rPr lang="en-US" sz="1200" b="1">
                          <a:solidFill>
                            <a:srgbClr val="0D9488"/>
                          </a:solidFill>
                          <a:latin typeface="Calibri" pitchFamily="34" charset="0"/>
                          <a:ea typeface="Calibri" pitchFamily="34" charset="-122"/>
                          <a:cs typeface="Calibri" pitchFamily="34" charset="-120"/>
                        </a:rPr>
                        <a:t>Digital signatures (or post-quantum alternatives)</a:t>
                      </a:r>
                    </a:p>
                  </a:txBody>
                  <a:tcPr marL="137160" marR="82296" marT="27432" marB="27432" anchor="ctr">
                    <a:solidFill>
                      <a:srgbClr val="CCFBF1"/>
                    </a:solidFill>
                  </a:tcPr>
                </a:tc>
                <a:extLst>
                  <a:ext uri="{0D108BD9-81ED-4DB2-BD59-A6C34878D82A}">
                    <a16:rowId xmlns:a16="http://schemas.microsoft.com/office/drawing/2014/main" val="10002"/>
                  </a:ext>
                </a:extLst>
              </a:tr>
              <a:tr h="750000">
                <a:tc>
                  <a:txBody>
                    <a:bodyPr/>
                    <a:lstStyle/>
                    <a:p>
                      <a:pPr algn="l"/>
                      <a:r>
                        <a:rPr lang="en-US" sz="1250" b="1">
                          <a:solidFill>
                            <a:srgbClr val="3730A3"/>
                          </a:solidFill>
                          <a:latin typeface="Calibri" pitchFamily="34" charset="0"/>
                          <a:ea typeface="Calibri" pitchFamily="34" charset="-122"/>
                          <a:cs typeface="Calibri" pitchFamily="34" charset="-120"/>
                        </a:rPr>
                        <a:t>Key distribution</a:t>
                      </a:r>
                    </a:p>
                  </a:txBody>
                  <a:tcPr marL="137160" marR="82296" marT="27432" marB="27432" anchor="ctr">
                    <a:solidFill>
                      <a:srgbClr val="EEF2FF"/>
                    </a:solidFill>
                  </a:tcPr>
                </a:tc>
                <a:tc>
                  <a:txBody>
                    <a:bodyPr/>
                    <a:lstStyle/>
                    <a:p>
                      <a:pPr algn="l"/>
                      <a:r>
                        <a:rPr lang="en-US" sz="1200">
                          <a:solidFill>
                            <a:srgbClr val="1F2937"/>
                          </a:solidFill>
                          <a:latin typeface="Calibri" pitchFamily="34" charset="0"/>
                          <a:ea typeface="Calibri" pitchFamily="34" charset="-122"/>
                          <a:cs typeface="Calibri" pitchFamily="34" charset="-120"/>
                        </a:rPr>
                        <a:t>RSA / ECC / Diffie–Hellman</a:t>
                      </a:r>
                    </a:p>
                  </a:txBody>
                  <a:tcPr marL="137160" marR="82296" marT="27432" marB="27432" anchor="ctr">
                    <a:solidFill>
                      <a:srgbClr val="FFFFFF"/>
                    </a:solidFill>
                  </a:tcPr>
                </a:tc>
                <a:tc>
                  <a:txBody>
                    <a:bodyPr/>
                    <a:lstStyle/>
                    <a:p>
                      <a:pPr algn="l"/>
                      <a:r>
                        <a:rPr lang="en-US" sz="1200" b="1">
                          <a:solidFill>
                            <a:srgbClr val="0D9488"/>
                          </a:solidFill>
                          <a:latin typeface="Calibri" pitchFamily="34" charset="0"/>
                          <a:ea typeface="Calibri" pitchFamily="34" charset="-122"/>
                          <a:cs typeface="Calibri" pitchFamily="34" charset="-120"/>
                        </a:rPr>
                        <a:t>BB84 QKD</a:t>
                      </a:r>
                    </a:p>
                  </a:txBody>
                  <a:tcPr marL="137160" marR="82296" marT="27432" marB="27432" anchor="ctr">
                    <a:solidFill>
                      <a:srgbClr val="CCFBF1"/>
                    </a:solidFill>
                  </a:tcPr>
                </a:tc>
                <a:extLst>
                  <a:ext uri="{0D108BD9-81ED-4DB2-BD59-A6C34878D82A}">
                    <a16:rowId xmlns:a16="http://schemas.microsoft.com/office/drawing/2014/main" val="10003"/>
                  </a:ext>
                </a:extLst>
              </a:tr>
            </a:tbl>
          </a:graphicData>
        </a:graphic>
      </p:graphicFrame>
      <p:sp>
        <p:nvSpPr>
          <p:cNvPr id="6" name="Bottom box"/>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Bridge:  </a:t>
            </a:r>
            <a:r>
              <a:rPr lang="en-US" sz="1500" b="1">
                <a:solidFill>
                  <a:srgbClr val="3730A3"/>
                </a:solidFill>
                <a:latin typeface="Calibri" pitchFamily="34" charset="0"/>
                <a:ea typeface="Calibri" pitchFamily="34" charset="-122"/>
                <a:cs typeface="Calibri" pitchFamily="34" charset="-120"/>
              </a:rPr>
              <a:t>QKD replaces only the key-distribution mechanism — not encryption or authentication.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600" b="1">
                <a:solidFill>
                  <a:srgbClr val="3730A3"/>
                </a:solidFill>
                <a:latin typeface="Calibri" pitchFamily="34" charset="0"/>
                <a:ea typeface="Calibri" pitchFamily="34" charset="-122"/>
                <a:cs typeface="Calibri" pitchFamily="34" charset="-120"/>
              </a:rPr>
              <a:t>Why Do We Need Quantum Cryptography?</a:t>
            </a:r>
            <a:endParaRPr lang="en-US" sz="26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540000"/>
            <a:ext cx="46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Classical communication</a:t>
            </a:r>
          </a:p>
        </p:txBody>
      </p:sp>
      <p:sp>
        <p:nvSpPr>
          <p:cNvPr id="5" name="node"/>
          <p:cNvSpPr/>
          <p:nvPr/>
        </p:nvSpPr>
        <p:spPr>
          <a:xfrm>
            <a:off x="1710000" y="1980000"/>
            <a:ext cx="2100000" cy="520000"/>
          </a:xfrm>
          <a:prstGeom prst="roundRect">
            <a:avLst>
              <a:gd name="adj" fmla="val 9000"/>
            </a:avLst>
          </a:prstGeom>
          <a:solidFill>
            <a:srgbClr val="EEF2FF"/>
          </a:solidFill>
          <a:ln w="15875">
            <a:solidFill>
              <a:srgbClr val="3730A3"/>
            </a:solidFill>
            <a:prstDash val="solid"/>
          </a:ln>
        </p:spPr>
        <p:txBody>
          <a:bodyPr/>
          <a:lstStyle/>
          <a:p>
            <a:endParaRPr lang="en-US"/>
          </a:p>
        </p:txBody>
      </p:sp>
      <p:sp>
        <p:nvSpPr>
          <p:cNvPr id="6" name="Text 6"/>
          <p:cNvSpPr/>
          <p:nvPr/>
        </p:nvSpPr>
        <p:spPr>
          <a:xfrm>
            <a:off x="1710000" y="1980000"/>
            <a:ext cx="2100000" cy="52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Alice</a:t>
            </a:r>
          </a:p>
        </p:txBody>
      </p:sp>
      <p:sp>
        <p:nvSpPr>
          <p:cNvPr id="7" name="node"/>
          <p:cNvSpPr/>
          <p:nvPr/>
        </p:nvSpPr>
        <p:spPr>
          <a:xfrm>
            <a:off x="1710000" y="2680000"/>
            <a:ext cx="2100000" cy="520000"/>
          </a:xfrm>
          <a:prstGeom prst="roundRect">
            <a:avLst>
              <a:gd name="adj" fmla="val 9000"/>
            </a:avLst>
          </a:prstGeom>
          <a:solidFill>
            <a:srgbClr val="FFFFFF"/>
          </a:solidFill>
          <a:ln w="15875">
            <a:solidFill>
              <a:srgbClr val="D1D5DB"/>
            </a:solidFill>
            <a:prstDash val="solid"/>
          </a:ln>
        </p:spPr>
        <p:txBody>
          <a:bodyPr/>
          <a:lstStyle/>
          <a:p>
            <a:endParaRPr lang="en-US"/>
          </a:p>
        </p:txBody>
      </p:sp>
      <p:sp>
        <p:nvSpPr>
          <p:cNvPr id="8" name="Text 8"/>
          <p:cNvSpPr/>
          <p:nvPr/>
        </p:nvSpPr>
        <p:spPr>
          <a:xfrm>
            <a:off x="1710000" y="2680000"/>
            <a:ext cx="2100000" cy="520000"/>
          </a:xfrm>
          <a:prstGeom prst="rect">
            <a:avLst/>
          </a:prstGeom>
          <a:noFill/>
          <a:ln/>
        </p:spPr>
        <p:txBody>
          <a:bodyPr wrap="square" lIns="45720" tIns="0" rIns="45720" bIns="0" rtlCol="0" anchor="ctr"/>
          <a:lstStyle/>
          <a:p>
            <a:pPr marL="0" indent="0" algn="ctr">
              <a:buNone/>
            </a:pPr>
            <a:r>
              <a:rPr lang="en-US" sz="1350" b="1">
                <a:solidFill>
                  <a:srgbClr val="1F2937"/>
                </a:solidFill>
                <a:latin typeface="Calibri" pitchFamily="34" charset="0"/>
                <a:ea typeface="Calibri" pitchFamily="34" charset="-122"/>
                <a:cs typeface="Calibri" pitchFamily="34" charset="-120"/>
              </a:rPr>
              <a:t>Public channel</a:t>
            </a:r>
          </a:p>
        </p:txBody>
      </p:sp>
      <p:sp>
        <p:nvSpPr>
          <p:cNvPr id="9" name="node"/>
          <p:cNvSpPr/>
          <p:nvPr/>
        </p:nvSpPr>
        <p:spPr>
          <a:xfrm>
            <a:off x="1710000" y="3380000"/>
            <a:ext cx="2100000" cy="520000"/>
          </a:xfrm>
          <a:prstGeom prst="roundRect">
            <a:avLst>
              <a:gd name="adj" fmla="val 9000"/>
            </a:avLst>
          </a:prstGeom>
          <a:solidFill>
            <a:srgbClr val="EEF2FF"/>
          </a:solidFill>
          <a:ln w="15875">
            <a:solidFill>
              <a:srgbClr val="3730A3"/>
            </a:solidFill>
            <a:prstDash val="solid"/>
          </a:ln>
        </p:spPr>
        <p:txBody>
          <a:bodyPr/>
          <a:lstStyle/>
          <a:p>
            <a:endParaRPr lang="en-US"/>
          </a:p>
        </p:txBody>
      </p:sp>
      <p:sp>
        <p:nvSpPr>
          <p:cNvPr id="10" name="Text 10"/>
          <p:cNvSpPr/>
          <p:nvPr/>
        </p:nvSpPr>
        <p:spPr>
          <a:xfrm>
            <a:off x="1710000" y="3380000"/>
            <a:ext cx="2100000" cy="52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Bob</a:t>
            </a:r>
          </a:p>
        </p:txBody>
      </p:sp>
      <p:sp>
        <p:nvSpPr>
          <p:cNvPr id="11" name="axis"/>
          <p:cNvSpPr/>
          <p:nvPr/>
        </p:nvSpPr>
        <p:spPr>
          <a:xfrm>
            <a:off x="2760000" y="2500000"/>
            <a:ext cx="0" cy="180000"/>
          </a:xfrm>
          <a:prstGeom prst="line">
            <a:avLst/>
          </a:prstGeom>
          <a:ln w="25400">
            <a:solidFill>
              <a:srgbClr val="475569"/>
            </a:solidFill>
            <a:prstDash val="solid"/>
            <a:tailEnd type="triangle" w="med" len="med"/>
          </a:ln>
        </p:spPr>
        <p:txBody>
          <a:bodyPr/>
          <a:lstStyle/>
          <a:p>
            <a:endParaRPr lang="en-US"/>
          </a:p>
        </p:txBody>
      </p:sp>
      <p:sp>
        <p:nvSpPr>
          <p:cNvPr id="12" name="axis"/>
          <p:cNvSpPr/>
          <p:nvPr/>
        </p:nvSpPr>
        <p:spPr>
          <a:xfrm>
            <a:off x="2760000" y="3200000"/>
            <a:ext cx="0" cy="180000"/>
          </a:xfrm>
          <a:prstGeom prst="line">
            <a:avLst/>
          </a:prstGeom>
          <a:ln w="25400">
            <a:solidFill>
              <a:srgbClr val="475569"/>
            </a:solidFill>
            <a:prstDash val="solid"/>
            <a:tailEnd type="triangle" w="med" len="med"/>
          </a:ln>
        </p:spPr>
        <p:txBody>
          <a:bodyPr/>
          <a:lstStyle/>
          <a:p>
            <a:endParaRPr lang="en-US"/>
          </a:p>
        </p:txBody>
      </p:sp>
      <p:sp>
        <p:nvSpPr>
          <p:cNvPr id="13" name="node"/>
          <p:cNvSpPr/>
          <p:nvPr/>
        </p:nvSpPr>
        <p:spPr>
          <a:xfrm>
            <a:off x="4110000" y="2640000"/>
            <a:ext cx="1500000" cy="600000"/>
          </a:xfrm>
          <a:prstGeom prst="roundRect">
            <a:avLst>
              <a:gd name="adj" fmla="val 9000"/>
            </a:avLst>
          </a:prstGeom>
          <a:solidFill>
            <a:srgbClr val="FEF3C7"/>
          </a:solidFill>
          <a:ln w="15875">
            <a:solidFill>
              <a:srgbClr val="B45309"/>
            </a:solidFill>
            <a:prstDash val="solid"/>
          </a:ln>
        </p:spPr>
        <p:txBody>
          <a:bodyPr/>
          <a:lstStyle/>
          <a:p>
            <a:endParaRPr lang="en-US"/>
          </a:p>
        </p:txBody>
      </p:sp>
      <p:sp>
        <p:nvSpPr>
          <p:cNvPr id="14" name="Text 14"/>
          <p:cNvSpPr/>
          <p:nvPr/>
        </p:nvSpPr>
        <p:spPr>
          <a:xfrm>
            <a:off x="4110000" y="2640000"/>
            <a:ext cx="1500000" cy="600000"/>
          </a:xfrm>
          <a:prstGeom prst="rect">
            <a:avLst/>
          </a:prstGeom>
          <a:noFill/>
          <a:ln/>
        </p:spPr>
        <p:txBody>
          <a:bodyPr wrap="square" lIns="45720" tIns="0" rIns="45720" bIns="0" rtlCol="0" anchor="ctr"/>
          <a:lstStyle/>
          <a:p>
            <a:pPr marL="0" indent="0" algn="ctr">
              <a:spcAft>
                <a:spcPts val="60"/>
              </a:spcAft>
              <a:buNone/>
            </a:pPr>
            <a:r>
              <a:rPr lang="en-US" sz="1350" b="1">
                <a:solidFill>
                  <a:srgbClr val="B45309"/>
                </a:solidFill>
                <a:latin typeface="Calibri" pitchFamily="34" charset="0"/>
                <a:ea typeface="Calibri" pitchFamily="34" charset="-122"/>
                <a:cs typeface="Calibri" pitchFamily="34" charset="-120"/>
              </a:rPr>
              <a:t>Eve</a:t>
            </a:r>
          </a:p>
          <a:p>
            <a:pPr marL="0" indent="0" algn="ctr">
              <a:spcAft>
                <a:spcPts val="60"/>
              </a:spcAft>
              <a:buNone/>
            </a:pPr>
            <a:r>
              <a:rPr lang="en-US" sz="1050">
                <a:solidFill>
                  <a:srgbClr val="475569"/>
                </a:solidFill>
                <a:latin typeface="Calibri" pitchFamily="34" charset="0"/>
                <a:ea typeface="Calibri" pitchFamily="34" charset="-122"/>
                <a:cs typeface="Calibri" pitchFamily="34" charset="-120"/>
              </a:rPr>
              <a:t>listening</a:t>
            </a:r>
          </a:p>
        </p:txBody>
      </p:sp>
      <p:sp>
        <p:nvSpPr>
          <p:cNvPr id="15" name="axis"/>
          <p:cNvSpPr/>
          <p:nvPr/>
        </p:nvSpPr>
        <p:spPr>
          <a:xfrm>
            <a:off x="3810000" y="2940000"/>
            <a:ext cx="300000" cy="0"/>
          </a:xfrm>
          <a:prstGeom prst="line">
            <a:avLst/>
          </a:prstGeom>
          <a:ln w="15875">
            <a:solidFill>
              <a:srgbClr val="B45309"/>
            </a:solidFill>
            <a:prstDash val="dash"/>
          </a:ln>
        </p:spPr>
        <p:txBody>
          <a:bodyPr/>
          <a:lstStyle/>
          <a:p>
            <a:endParaRPr lang="en-US"/>
          </a:p>
        </p:txBody>
      </p:sp>
      <p:sp>
        <p:nvSpPr>
          <p:cNvPr id="16" name="q"/>
          <p:cNvSpPr/>
          <p:nvPr/>
        </p:nvSpPr>
        <p:spPr>
          <a:xfrm>
            <a:off x="731520" y="4020000"/>
            <a:ext cx="4750000" cy="760000"/>
          </a:xfrm>
          <a:prstGeom prst="roundRect">
            <a:avLst>
              <a:gd name="adj" fmla="val 7000"/>
            </a:avLst>
          </a:prstGeom>
          <a:solidFill>
            <a:srgbClr val="FFFFFF"/>
          </a:solidFill>
          <a:ln w="19050">
            <a:solidFill>
              <a:srgbClr val="3730A3"/>
            </a:solidFill>
            <a:prstDash val="solid"/>
          </a:ln>
        </p:spPr>
        <p:txBody>
          <a:bodyPr/>
          <a:lstStyle/>
          <a:p>
            <a:endParaRPr lang="en-US"/>
          </a:p>
        </p:txBody>
      </p:sp>
      <p:sp>
        <p:nvSpPr>
          <p:cNvPr id="17" name="Text 17"/>
          <p:cNvSpPr/>
          <p:nvPr/>
        </p:nvSpPr>
        <p:spPr>
          <a:xfrm>
            <a:off x="731520" y="4020000"/>
            <a:ext cx="4750000" cy="760000"/>
          </a:xfrm>
          <a:prstGeom prst="rect">
            <a:avLst/>
          </a:prstGeom>
          <a:noFill/>
          <a:ln/>
        </p:spPr>
        <p:txBody>
          <a:bodyPr wrap="square" lIns="45720" tIns="0" rIns="45720" bIns="0" rtlCol="0" anchor="ctr"/>
          <a:lstStyle/>
          <a:p>
            <a:pPr marL="0" indent="0" algn="ctr">
              <a:spcAft>
                <a:spcPts val="80"/>
              </a:spcAft>
              <a:buNone/>
            </a:pPr>
            <a:r>
              <a:rPr lang="en-US" sz="1150" b="1">
                <a:solidFill>
                  <a:srgbClr val="0D9488"/>
                </a:solidFill>
                <a:latin typeface="Calibri" pitchFamily="34" charset="0"/>
                <a:ea typeface="Calibri" pitchFamily="34" charset="-122"/>
                <a:cs typeface="Calibri" pitchFamily="34" charset="-120"/>
              </a:rPr>
              <a:t>Question</a:t>
            </a:r>
          </a:p>
          <a:p>
            <a:pPr marL="0" indent="0" algn="ctr">
              <a:buNone/>
            </a:pPr>
            <a:r>
              <a:rPr lang="en-US" sz="1400" b="1">
                <a:solidFill>
                  <a:srgbClr val="1F2937"/>
                </a:solidFill>
                <a:latin typeface="Calibri" pitchFamily="34" charset="0"/>
                <a:ea typeface="Calibri" pitchFamily="34" charset="-122"/>
                <a:cs typeface="Calibri" pitchFamily="34" charset="-120"/>
              </a:rPr>
              <a:t>How do Alice and Bob secretly agree on a key?</a:t>
            </a:r>
          </a:p>
        </p:txBody>
      </p:sp>
      <p:sp>
        <p:nvSpPr>
          <p:cNvPr id="18" name="Text 18"/>
          <p:cNvSpPr/>
          <p:nvPr/>
        </p:nvSpPr>
        <p:spPr>
          <a:xfrm>
            <a:off x="6400800" y="1540000"/>
            <a:ext cx="505968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Traditional solutions</a:t>
            </a:r>
          </a:p>
        </p:txBody>
      </p:sp>
      <p:sp>
        <p:nvSpPr>
          <p:cNvPr id="19" name="sol"/>
          <p:cNvSpPr/>
          <p:nvPr/>
        </p:nvSpPr>
        <p:spPr>
          <a:xfrm>
            <a:off x="6400800" y="1980000"/>
            <a:ext cx="5059680" cy="760000"/>
          </a:xfrm>
          <a:prstGeom prst="roundRect">
            <a:avLst>
              <a:gd name="adj" fmla="val 6000"/>
            </a:avLst>
          </a:prstGeom>
          <a:solidFill>
            <a:srgbClr val="EEF2FF"/>
          </a:solidFill>
          <a:ln w="15875">
            <a:solidFill>
              <a:srgbClr val="D1D5DB"/>
            </a:solidFill>
            <a:prstDash val="solid"/>
          </a:ln>
        </p:spPr>
        <p:txBody>
          <a:bodyPr/>
          <a:lstStyle/>
          <a:p>
            <a:endParaRPr lang="en-US"/>
          </a:p>
        </p:txBody>
      </p:sp>
      <p:sp>
        <p:nvSpPr>
          <p:cNvPr id="20" name="Text 20"/>
          <p:cNvSpPr/>
          <p:nvPr/>
        </p:nvSpPr>
        <p:spPr>
          <a:xfrm>
            <a:off x="6620800" y="1980000"/>
            <a:ext cx="320000" cy="760000"/>
          </a:xfrm>
          <a:prstGeom prst="rect">
            <a:avLst/>
          </a:prstGeom>
          <a:noFill/>
          <a:ln/>
        </p:spPr>
        <p:txBody>
          <a:bodyPr wrap="square" lIns="45720" tIns="0" rIns="45720" bIns="0" rtlCol="0" anchor="ctr"/>
          <a:lstStyle/>
          <a:p>
            <a:pPr marL="0" indent="0" algn="l">
              <a:buNone/>
            </a:pPr>
            <a:r>
              <a:rPr lang="en-US" sz="1600" b="1">
                <a:solidFill>
                  <a:srgbClr val="0D9488"/>
                </a:solidFill>
                <a:latin typeface="Calibri" pitchFamily="34" charset="0"/>
                <a:ea typeface="Calibri" pitchFamily="34" charset="-122"/>
                <a:cs typeface="Calibri" pitchFamily="34" charset="-120"/>
              </a:rPr>
              <a:t>→</a:t>
            </a:r>
          </a:p>
        </p:txBody>
      </p:sp>
      <p:sp>
        <p:nvSpPr>
          <p:cNvPr id="21" name="Text 21"/>
          <p:cNvSpPr/>
          <p:nvPr/>
        </p:nvSpPr>
        <p:spPr>
          <a:xfrm>
            <a:off x="7040800" y="1980000"/>
            <a:ext cx="4299680" cy="760000"/>
          </a:xfrm>
          <a:prstGeom prst="rect">
            <a:avLst/>
          </a:prstGeom>
          <a:noFill/>
          <a:ln/>
        </p:spPr>
        <p:txBody>
          <a:bodyPr wrap="square" lIns="45720" tIns="0" rIns="45720" bIns="0" rtlCol="0" anchor="ctr"/>
          <a:lstStyle/>
          <a:p>
            <a:pPr marL="0" indent="0" algn="l">
              <a:spcAft>
                <a:spcPts val="70"/>
              </a:spcAft>
              <a:buNone/>
            </a:pPr>
            <a:r>
              <a:rPr lang="en-US" sz="1500" b="1">
                <a:solidFill>
                  <a:srgbClr val="3730A3"/>
                </a:solidFill>
                <a:latin typeface="Calibri" pitchFamily="34" charset="0"/>
                <a:ea typeface="Calibri" pitchFamily="34" charset="-122"/>
                <a:cs typeface="Calibri" pitchFamily="34" charset="-120"/>
              </a:rPr>
              <a:t>RSA</a:t>
            </a:r>
          </a:p>
          <a:p>
            <a:pPr marL="0" indent="0" algn="l">
              <a:buNone/>
            </a:pPr>
            <a:r>
              <a:rPr lang="en-US" sz="1200">
                <a:solidFill>
                  <a:srgbClr val="475569"/>
                </a:solidFill>
                <a:latin typeface="Calibri" pitchFamily="34" charset="0"/>
                <a:ea typeface="Calibri" pitchFamily="34" charset="-122"/>
                <a:cs typeface="Calibri" pitchFamily="34" charset="-120"/>
              </a:rPr>
              <a:t>relies on integer factorization</a:t>
            </a:r>
          </a:p>
        </p:txBody>
      </p:sp>
      <p:sp>
        <p:nvSpPr>
          <p:cNvPr id="22" name="sol"/>
          <p:cNvSpPr/>
          <p:nvPr/>
        </p:nvSpPr>
        <p:spPr>
          <a:xfrm>
            <a:off x="6400800" y="2920000"/>
            <a:ext cx="5059680" cy="760000"/>
          </a:xfrm>
          <a:prstGeom prst="roundRect">
            <a:avLst>
              <a:gd name="adj" fmla="val 6000"/>
            </a:avLst>
          </a:prstGeom>
          <a:solidFill>
            <a:srgbClr val="FFFFFF"/>
          </a:solidFill>
          <a:ln w="15875">
            <a:solidFill>
              <a:srgbClr val="D1D5DB"/>
            </a:solidFill>
            <a:prstDash val="solid"/>
          </a:ln>
        </p:spPr>
        <p:txBody>
          <a:bodyPr/>
          <a:lstStyle/>
          <a:p>
            <a:endParaRPr lang="en-US"/>
          </a:p>
        </p:txBody>
      </p:sp>
      <p:sp>
        <p:nvSpPr>
          <p:cNvPr id="23" name="Text 23"/>
          <p:cNvSpPr/>
          <p:nvPr/>
        </p:nvSpPr>
        <p:spPr>
          <a:xfrm>
            <a:off x="6620800" y="2920000"/>
            <a:ext cx="320000" cy="760000"/>
          </a:xfrm>
          <a:prstGeom prst="rect">
            <a:avLst/>
          </a:prstGeom>
          <a:noFill/>
          <a:ln/>
        </p:spPr>
        <p:txBody>
          <a:bodyPr wrap="square" lIns="45720" tIns="0" rIns="45720" bIns="0" rtlCol="0" anchor="ctr"/>
          <a:lstStyle/>
          <a:p>
            <a:pPr marL="0" indent="0" algn="l">
              <a:buNone/>
            </a:pPr>
            <a:r>
              <a:rPr lang="en-US" sz="1600" b="1">
                <a:solidFill>
                  <a:srgbClr val="0D9488"/>
                </a:solidFill>
                <a:latin typeface="Calibri" pitchFamily="34" charset="0"/>
                <a:ea typeface="Calibri" pitchFamily="34" charset="-122"/>
                <a:cs typeface="Calibri" pitchFamily="34" charset="-120"/>
              </a:rPr>
              <a:t>→</a:t>
            </a:r>
          </a:p>
        </p:txBody>
      </p:sp>
      <p:sp>
        <p:nvSpPr>
          <p:cNvPr id="24" name="Text 24"/>
          <p:cNvSpPr/>
          <p:nvPr/>
        </p:nvSpPr>
        <p:spPr>
          <a:xfrm>
            <a:off x="7040800" y="2920000"/>
            <a:ext cx="4299680" cy="760000"/>
          </a:xfrm>
          <a:prstGeom prst="rect">
            <a:avLst/>
          </a:prstGeom>
          <a:noFill/>
          <a:ln/>
        </p:spPr>
        <p:txBody>
          <a:bodyPr wrap="square" lIns="45720" tIns="0" rIns="45720" bIns="0" rtlCol="0" anchor="ctr"/>
          <a:lstStyle/>
          <a:p>
            <a:pPr marL="0" indent="0" algn="l">
              <a:spcAft>
                <a:spcPts val="70"/>
              </a:spcAft>
              <a:buNone/>
            </a:pPr>
            <a:r>
              <a:rPr lang="en-US" sz="1500" b="1">
                <a:solidFill>
                  <a:srgbClr val="3730A3"/>
                </a:solidFill>
                <a:latin typeface="Calibri" pitchFamily="34" charset="0"/>
                <a:ea typeface="Calibri" pitchFamily="34" charset="-122"/>
                <a:cs typeface="Calibri" pitchFamily="34" charset="-120"/>
              </a:rPr>
              <a:t>Diffie–Hellman</a:t>
            </a:r>
          </a:p>
          <a:p>
            <a:pPr marL="0" indent="0" algn="l">
              <a:buNone/>
            </a:pPr>
            <a:r>
              <a:rPr lang="en-US" sz="1200">
                <a:solidFill>
                  <a:srgbClr val="475569"/>
                </a:solidFill>
                <a:latin typeface="Calibri" pitchFamily="34" charset="0"/>
                <a:ea typeface="Calibri" pitchFamily="34" charset="-122"/>
                <a:cs typeface="Calibri" pitchFamily="34" charset="-120"/>
              </a:rPr>
              <a:t>relies on the discrete logarithm</a:t>
            </a:r>
          </a:p>
        </p:txBody>
      </p:sp>
      <p:sp>
        <p:nvSpPr>
          <p:cNvPr id="25" name="sol"/>
          <p:cNvSpPr/>
          <p:nvPr/>
        </p:nvSpPr>
        <p:spPr>
          <a:xfrm>
            <a:off x="6400800" y="3860000"/>
            <a:ext cx="5059680" cy="760000"/>
          </a:xfrm>
          <a:prstGeom prst="roundRect">
            <a:avLst>
              <a:gd name="adj" fmla="val 6000"/>
            </a:avLst>
          </a:prstGeom>
          <a:solidFill>
            <a:srgbClr val="EEF2FF"/>
          </a:solidFill>
          <a:ln w="15875">
            <a:solidFill>
              <a:srgbClr val="D1D5DB"/>
            </a:solidFill>
            <a:prstDash val="solid"/>
          </a:ln>
        </p:spPr>
        <p:txBody>
          <a:bodyPr/>
          <a:lstStyle/>
          <a:p>
            <a:endParaRPr lang="en-US"/>
          </a:p>
        </p:txBody>
      </p:sp>
      <p:sp>
        <p:nvSpPr>
          <p:cNvPr id="26" name="Text 26"/>
          <p:cNvSpPr/>
          <p:nvPr/>
        </p:nvSpPr>
        <p:spPr>
          <a:xfrm>
            <a:off x="6620800" y="3860000"/>
            <a:ext cx="320000" cy="760000"/>
          </a:xfrm>
          <a:prstGeom prst="rect">
            <a:avLst/>
          </a:prstGeom>
          <a:noFill/>
          <a:ln/>
        </p:spPr>
        <p:txBody>
          <a:bodyPr wrap="square" lIns="45720" tIns="0" rIns="45720" bIns="0" rtlCol="0" anchor="ctr"/>
          <a:lstStyle/>
          <a:p>
            <a:pPr marL="0" indent="0" algn="l">
              <a:buNone/>
            </a:pPr>
            <a:r>
              <a:rPr lang="en-US" sz="1600" b="1">
                <a:solidFill>
                  <a:srgbClr val="0D9488"/>
                </a:solidFill>
                <a:latin typeface="Calibri" pitchFamily="34" charset="0"/>
                <a:ea typeface="Calibri" pitchFamily="34" charset="-122"/>
                <a:cs typeface="Calibri" pitchFamily="34" charset="-120"/>
              </a:rPr>
              <a:t>→</a:t>
            </a:r>
          </a:p>
        </p:txBody>
      </p:sp>
      <p:sp>
        <p:nvSpPr>
          <p:cNvPr id="27" name="Text 27"/>
          <p:cNvSpPr/>
          <p:nvPr/>
        </p:nvSpPr>
        <p:spPr>
          <a:xfrm>
            <a:off x="7040800" y="3860000"/>
            <a:ext cx="4299680" cy="760000"/>
          </a:xfrm>
          <a:prstGeom prst="rect">
            <a:avLst/>
          </a:prstGeom>
          <a:noFill/>
          <a:ln/>
        </p:spPr>
        <p:txBody>
          <a:bodyPr wrap="square" lIns="45720" tIns="0" rIns="45720" bIns="0" rtlCol="0" anchor="ctr"/>
          <a:lstStyle/>
          <a:p>
            <a:pPr marL="0" indent="0" algn="l">
              <a:spcAft>
                <a:spcPts val="70"/>
              </a:spcAft>
              <a:buNone/>
            </a:pPr>
            <a:r>
              <a:rPr lang="en-US" sz="1500" b="1">
                <a:solidFill>
                  <a:srgbClr val="3730A3"/>
                </a:solidFill>
                <a:latin typeface="Calibri" pitchFamily="34" charset="0"/>
                <a:ea typeface="Calibri" pitchFamily="34" charset="-122"/>
                <a:cs typeface="Calibri" pitchFamily="34" charset="-120"/>
              </a:rPr>
              <a:t>ECC</a:t>
            </a:r>
          </a:p>
          <a:p>
            <a:pPr marL="0" indent="0" algn="l">
              <a:buNone/>
            </a:pPr>
            <a:r>
              <a:rPr lang="en-US" sz="1200">
                <a:solidFill>
                  <a:srgbClr val="475569"/>
                </a:solidFill>
                <a:latin typeface="Calibri" pitchFamily="34" charset="0"/>
                <a:ea typeface="Calibri" pitchFamily="34" charset="-122"/>
                <a:cs typeface="Calibri" pitchFamily="34" charset="-120"/>
              </a:rPr>
              <a:t>relies on elliptic-curve discrete log</a:t>
            </a:r>
          </a:p>
        </p:txBody>
      </p:sp>
      <p:sp>
        <p:nvSpPr>
          <p:cNvPr id="28" name="Problem"/>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a:lstStyle/>
          <a:p>
            <a:endParaRPr lang="en-US"/>
          </a:p>
        </p:txBody>
      </p:sp>
      <p:sp>
        <p:nvSpPr>
          <p:cNvPr id="29" name="Text 29"/>
          <p:cNvSpPr/>
          <p:nvPr/>
        </p:nvSpPr>
        <p:spPr>
          <a:xfrm>
            <a:off x="731520" y="5680000"/>
            <a:ext cx="10728960" cy="56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Problem:  </a:t>
            </a:r>
            <a:r>
              <a:rPr lang="en-US" sz="1500" b="1">
                <a:solidFill>
                  <a:srgbClr val="3730A3"/>
                </a:solidFill>
                <a:latin typeface="Calibri" pitchFamily="34" charset="0"/>
                <a:ea typeface="Calibri" pitchFamily="34" charset="-122"/>
                <a:cs typeface="Calibri" pitchFamily="34" charset="-120"/>
              </a:rPr>
              <a:t>security depends upon computational assumptions that a quantum computer can break.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The Fundamental Quantum Principle Behind BB84</a:t>
            </a:r>
            <a:endParaRPr lang="en-US" sz="22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principle"/>
          <p:cNvSpPr/>
          <p:nvPr/>
        </p:nvSpPr>
        <p:spPr>
          <a:xfrm>
            <a:off x="731520" y="1640000"/>
            <a:ext cx="10728960" cy="940000"/>
          </a:xfrm>
          <a:prstGeom prst="roundRect">
            <a:avLst>
              <a:gd name="adj" fmla="val 7000"/>
            </a:avLst>
          </a:prstGeom>
          <a:solidFill>
            <a:srgbClr val="CCFBF1"/>
          </a:solidFill>
          <a:ln w="22225">
            <a:solidFill>
              <a:srgbClr val="0D9488"/>
            </a:solidFill>
            <a:prstDash val="solid"/>
          </a:ln>
        </p:spPr>
        <p:txBody>
          <a:bodyPr/>
          <a:lstStyle/>
          <a:p>
            <a:endParaRPr lang="en-US"/>
          </a:p>
        </p:txBody>
      </p:sp>
      <p:sp>
        <p:nvSpPr>
          <p:cNvPr id="5" name="Text 5"/>
          <p:cNvSpPr/>
          <p:nvPr/>
        </p:nvSpPr>
        <p:spPr>
          <a:xfrm>
            <a:off x="731520" y="1640000"/>
            <a:ext cx="10728960" cy="940000"/>
          </a:xfrm>
          <a:prstGeom prst="rect">
            <a:avLst/>
          </a:prstGeom>
          <a:noFill/>
          <a:ln/>
        </p:spPr>
        <p:txBody>
          <a:bodyPr wrap="square" lIns="45720" tIns="0" rIns="45720" bIns="0" rtlCol="0" anchor="ctr"/>
          <a:lstStyle/>
          <a:p>
            <a:pPr marL="0" indent="0" algn="ctr">
              <a:spcAft>
                <a:spcPts val="80"/>
              </a:spcAft>
              <a:buNone/>
            </a:pPr>
            <a:r>
              <a:rPr lang="en-US" sz="2000" b="1">
                <a:solidFill>
                  <a:srgbClr val="0D9488"/>
                </a:solidFill>
                <a:latin typeface="Calibri" pitchFamily="34" charset="0"/>
                <a:ea typeface="Calibri" pitchFamily="34" charset="-122"/>
                <a:cs typeface="Calibri" pitchFamily="34" charset="-120"/>
              </a:rPr>
              <a:t>Unknown quantum states cannot be measured</a:t>
            </a:r>
          </a:p>
          <a:p>
            <a:pPr marL="0" indent="0" algn="ctr">
              <a:buNone/>
            </a:pPr>
            <a:r>
              <a:rPr lang="en-US" sz="2000" b="1">
                <a:solidFill>
                  <a:srgbClr val="0D9488"/>
                </a:solidFill>
                <a:latin typeface="Calibri" pitchFamily="34" charset="0"/>
                <a:ea typeface="Calibri" pitchFamily="34" charset="-122"/>
                <a:cs typeface="Calibri" pitchFamily="34" charset="-120"/>
              </a:rPr>
              <a:t>without disturbing them.</a:t>
            </a:r>
          </a:p>
        </p:txBody>
      </p:sp>
      <p:sp>
        <p:nvSpPr>
          <p:cNvPr id="6" name="stage"/>
          <p:cNvSpPr/>
          <p:nvPr/>
        </p:nvSpPr>
        <p:spPr>
          <a:xfrm>
            <a:off x="731520" y="3360000"/>
            <a:ext cx="2280000" cy="1080000"/>
          </a:xfrm>
          <a:prstGeom prst="roundRect">
            <a:avLst>
              <a:gd name="adj" fmla="val 7000"/>
            </a:avLst>
          </a:prstGeom>
          <a:solidFill>
            <a:srgbClr val="CCFBF1"/>
          </a:solidFill>
          <a:ln w="19050">
            <a:solidFill>
              <a:srgbClr val="0D9488"/>
            </a:solidFill>
            <a:prstDash val="solid"/>
          </a:ln>
        </p:spPr>
        <p:txBody>
          <a:bodyPr/>
          <a:lstStyle/>
          <a:p>
            <a:endParaRPr lang="en-US"/>
          </a:p>
        </p:txBody>
      </p:sp>
      <p:sp>
        <p:nvSpPr>
          <p:cNvPr id="7" name="dot"/>
          <p:cNvSpPr/>
          <p:nvPr/>
        </p:nvSpPr>
        <p:spPr>
          <a:xfrm>
            <a:off x="1781520" y="3570000"/>
            <a:ext cx="180000" cy="180000"/>
          </a:xfrm>
          <a:prstGeom prst="ellipse">
            <a:avLst/>
          </a:prstGeom>
          <a:solidFill>
            <a:srgbClr val="0D9488"/>
          </a:solidFill>
          <a:ln w="9525">
            <a:solidFill>
              <a:srgbClr val="FFFFFF"/>
            </a:solidFill>
            <a:prstDash val="solid"/>
          </a:ln>
        </p:spPr>
        <p:txBody>
          <a:bodyPr/>
          <a:lstStyle/>
          <a:p>
            <a:endParaRPr lang="en-US"/>
          </a:p>
        </p:txBody>
      </p:sp>
      <p:sp>
        <p:nvSpPr>
          <p:cNvPr id="8" name="Text 8"/>
          <p:cNvSpPr/>
          <p:nvPr/>
        </p:nvSpPr>
        <p:spPr>
          <a:xfrm>
            <a:off x="731520" y="3790000"/>
            <a:ext cx="2280000" cy="650000"/>
          </a:xfrm>
          <a:prstGeom prst="rect">
            <a:avLst/>
          </a:prstGeom>
          <a:noFill/>
          <a:ln/>
        </p:spPr>
        <p:txBody>
          <a:bodyPr wrap="square" lIns="45720" tIns="0" rIns="45720" bIns="0" rtlCol="0" anchor="t"/>
          <a:lstStyle/>
          <a:p>
            <a:pPr marL="0" indent="0" algn="ctr">
              <a:spcAft>
                <a:spcPts val="60"/>
              </a:spcAft>
              <a:buNone/>
            </a:pPr>
            <a:r>
              <a:rPr lang="en-US" sz="1450" b="1">
                <a:solidFill>
                  <a:srgbClr val="0D9488"/>
                </a:solidFill>
                <a:latin typeface="Calibri" pitchFamily="34" charset="0"/>
                <a:ea typeface="Calibri" pitchFamily="34" charset="-122"/>
                <a:cs typeface="Calibri" pitchFamily="34" charset="-120"/>
              </a:rPr>
              <a:t>Photon</a:t>
            </a:r>
          </a:p>
          <a:p>
            <a:pPr marL="0" indent="0" algn="ctr">
              <a:buNone/>
            </a:pPr>
            <a:r>
              <a:rPr lang="en-US" sz="1100">
                <a:solidFill>
                  <a:srgbClr val="475569"/>
                </a:solidFill>
                <a:latin typeface="Calibri" pitchFamily="34" charset="0"/>
                <a:ea typeface="Calibri" pitchFamily="34" charset="-122"/>
                <a:cs typeface="Calibri" pitchFamily="34" charset="-120"/>
              </a:rPr>
              <a:t>prepared state</a:t>
            </a:r>
          </a:p>
        </p:txBody>
      </p:sp>
      <p:sp>
        <p:nvSpPr>
          <p:cNvPr id="9" name="stage"/>
          <p:cNvSpPr/>
          <p:nvPr/>
        </p:nvSpPr>
        <p:spPr>
          <a:xfrm>
            <a:off x="3547840" y="3360000"/>
            <a:ext cx="2280000" cy="1080000"/>
          </a:xfrm>
          <a:prstGeom prst="roundRect">
            <a:avLst>
              <a:gd name="adj" fmla="val 7000"/>
            </a:avLst>
          </a:prstGeom>
          <a:solidFill>
            <a:srgbClr val="FEF3C7"/>
          </a:solidFill>
          <a:ln w="19050">
            <a:solidFill>
              <a:srgbClr val="B45309"/>
            </a:solidFill>
            <a:prstDash val="solid"/>
          </a:ln>
        </p:spPr>
        <p:txBody>
          <a:bodyPr/>
          <a:lstStyle/>
          <a:p>
            <a:endParaRPr lang="en-US"/>
          </a:p>
        </p:txBody>
      </p:sp>
      <p:sp>
        <p:nvSpPr>
          <p:cNvPr id="10" name="dot"/>
          <p:cNvSpPr/>
          <p:nvPr/>
        </p:nvSpPr>
        <p:spPr>
          <a:xfrm>
            <a:off x="4597840" y="3570000"/>
            <a:ext cx="180000" cy="180000"/>
          </a:xfrm>
          <a:prstGeom prst="ellipse">
            <a:avLst/>
          </a:prstGeom>
          <a:solidFill>
            <a:srgbClr val="B45309"/>
          </a:solidFill>
          <a:ln w="9525">
            <a:solidFill>
              <a:srgbClr val="FFFFFF"/>
            </a:solidFill>
            <a:prstDash val="solid"/>
          </a:ln>
        </p:spPr>
        <p:txBody>
          <a:bodyPr/>
          <a:lstStyle/>
          <a:p>
            <a:endParaRPr lang="en-US"/>
          </a:p>
        </p:txBody>
      </p:sp>
      <p:sp>
        <p:nvSpPr>
          <p:cNvPr id="11" name="Text 11"/>
          <p:cNvSpPr/>
          <p:nvPr/>
        </p:nvSpPr>
        <p:spPr>
          <a:xfrm>
            <a:off x="3547840" y="3790000"/>
            <a:ext cx="2280000" cy="650000"/>
          </a:xfrm>
          <a:prstGeom prst="rect">
            <a:avLst/>
          </a:prstGeom>
          <a:noFill/>
          <a:ln/>
        </p:spPr>
        <p:txBody>
          <a:bodyPr wrap="square" lIns="45720" tIns="0" rIns="45720" bIns="0" rtlCol="0" anchor="t"/>
          <a:lstStyle/>
          <a:p>
            <a:pPr marL="0" indent="0" algn="ctr">
              <a:spcAft>
                <a:spcPts val="60"/>
              </a:spcAft>
              <a:buNone/>
            </a:pPr>
            <a:r>
              <a:rPr lang="en-US" sz="1450" b="1">
                <a:solidFill>
                  <a:srgbClr val="B45309"/>
                </a:solidFill>
                <a:latin typeface="Calibri" pitchFamily="34" charset="0"/>
                <a:ea typeface="Calibri" pitchFamily="34" charset="-122"/>
                <a:cs typeface="Calibri" pitchFamily="34" charset="-120"/>
              </a:rPr>
              <a:t>Eve measures</a:t>
            </a:r>
          </a:p>
          <a:p>
            <a:pPr marL="0" indent="0" algn="ctr">
              <a:buNone/>
            </a:pPr>
            <a:r>
              <a:rPr lang="en-US" sz="1100">
                <a:solidFill>
                  <a:srgbClr val="475569"/>
                </a:solidFill>
                <a:latin typeface="Calibri" pitchFamily="34" charset="0"/>
                <a:ea typeface="Calibri" pitchFamily="34" charset="-122"/>
                <a:cs typeface="Calibri" pitchFamily="34" charset="-120"/>
              </a:rPr>
              <a:t>interacts with it</a:t>
            </a:r>
          </a:p>
        </p:txBody>
      </p:sp>
      <p:sp>
        <p:nvSpPr>
          <p:cNvPr id="12" name="stage"/>
          <p:cNvSpPr/>
          <p:nvPr/>
        </p:nvSpPr>
        <p:spPr>
          <a:xfrm>
            <a:off x="6364160" y="3360000"/>
            <a:ext cx="2280000" cy="1080000"/>
          </a:xfrm>
          <a:prstGeom prst="roundRect">
            <a:avLst>
              <a:gd name="adj" fmla="val 7000"/>
            </a:avLst>
          </a:prstGeom>
          <a:solidFill>
            <a:srgbClr val="EEF2FF"/>
          </a:solidFill>
          <a:ln w="19050">
            <a:solidFill>
              <a:srgbClr val="3730A3"/>
            </a:solidFill>
            <a:prstDash val="solid"/>
          </a:ln>
        </p:spPr>
        <p:txBody>
          <a:bodyPr/>
          <a:lstStyle/>
          <a:p>
            <a:endParaRPr lang="en-US"/>
          </a:p>
        </p:txBody>
      </p:sp>
      <p:sp>
        <p:nvSpPr>
          <p:cNvPr id="13" name="dot"/>
          <p:cNvSpPr/>
          <p:nvPr/>
        </p:nvSpPr>
        <p:spPr>
          <a:xfrm>
            <a:off x="7414160" y="3570000"/>
            <a:ext cx="180000" cy="180000"/>
          </a:xfrm>
          <a:prstGeom prst="ellipse">
            <a:avLst/>
          </a:prstGeom>
          <a:solidFill>
            <a:srgbClr val="3730A3"/>
          </a:solidFill>
          <a:ln w="9525">
            <a:solidFill>
              <a:srgbClr val="FFFFFF"/>
            </a:solidFill>
            <a:prstDash val="solid"/>
          </a:ln>
        </p:spPr>
        <p:txBody>
          <a:bodyPr/>
          <a:lstStyle/>
          <a:p>
            <a:endParaRPr lang="en-US"/>
          </a:p>
        </p:txBody>
      </p:sp>
      <p:sp>
        <p:nvSpPr>
          <p:cNvPr id="14" name="Text 14"/>
          <p:cNvSpPr/>
          <p:nvPr/>
        </p:nvSpPr>
        <p:spPr>
          <a:xfrm>
            <a:off x="6364160" y="3790000"/>
            <a:ext cx="2280000" cy="650000"/>
          </a:xfrm>
          <a:prstGeom prst="rect">
            <a:avLst/>
          </a:prstGeom>
          <a:noFill/>
          <a:ln/>
        </p:spPr>
        <p:txBody>
          <a:bodyPr wrap="square" lIns="45720" tIns="0" rIns="45720" bIns="0" rtlCol="0" anchor="t"/>
          <a:lstStyle/>
          <a:p>
            <a:pPr marL="0" indent="0" algn="ctr">
              <a:spcAft>
                <a:spcPts val="60"/>
              </a:spcAft>
              <a:buNone/>
            </a:pPr>
            <a:r>
              <a:rPr lang="en-US" sz="1450" b="1">
                <a:solidFill>
                  <a:srgbClr val="3730A3"/>
                </a:solidFill>
                <a:latin typeface="Calibri" pitchFamily="34" charset="0"/>
                <a:ea typeface="Calibri" pitchFamily="34" charset="-122"/>
                <a:cs typeface="Calibri" pitchFamily="34" charset="-120"/>
              </a:rPr>
              <a:t>State changes</a:t>
            </a:r>
          </a:p>
          <a:p>
            <a:pPr marL="0" indent="0" algn="ctr">
              <a:buNone/>
            </a:pPr>
            <a:r>
              <a:rPr lang="en-US" sz="1100">
                <a:solidFill>
                  <a:srgbClr val="475569"/>
                </a:solidFill>
                <a:latin typeface="Calibri" pitchFamily="34" charset="0"/>
                <a:ea typeface="Calibri" pitchFamily="34" charset="-122"/>
                <a:cs typeface="Calibri" pitchFamily="34" charset="-120"/>
              </a:rPr>
              <a:t>it collapses</a:t>
            </a:r>
          </a:p>
        </p:txBody>
      </p:sp>
      <p:sp>
        <p:nvSpPr>
          <p:cNvPr id="15" name="stage"/>
          <p:cNvSpPr/>
          <p:nvPr/>
        </p:nvSpPr>
        <p:spPr>
          <a:xfrm>
            <a:off x="9180480" y="3360000"/>
            <a:ext cx="2280000" cy="1080000"/>
          </a:xfrm>
          <a:prstGeom prst="roundRect">
            <a:avLst>
              <a:gd name="adj" fmla="val 7000"/>
            </a:avLst>
          </a:prstGeom>
          <a:solidFill>
            <a:srgbClr val="EEF2FF"/>
          </a:solidFill>
          <a:ln w="19050">
            <a:solidFill>
              <a:srgbClr val="3730A3"/>
            </a:solidFill>
            <a:prstDash val="solid"/>
          </a:ln>
        </p:spPr>
        <p:txBody>
          <a:bodyPr/>
          <a:lstStyle/>
          <a:p>
            <a:endParaRPr lang="en-US"/>
          </a:p>
        </p:txBody>
      </p:sp>
      <p:sp>
        <p:nvSpPr>
          <p:cNvPr id="16" name="dot"/>
          <p:cNvSpPr/>
          <p:nvPr/>
        </p:nvSpPr>
        <p:spPr>
          <a:xfrm>
            <a:off x="10230480" y="3570000"/>
            <a:ext cx="180000" cy="180000"/>
          </a:xfrm>
          <a:prstGeom prst="ellipse">
            <a:avLst/>
          </a:prstGeom>
          <a:solidFill>
            <a:srgbClr val="3730A3"/>
          </a:solidFill>
          <a:ln w="9525">
            <a:solidFill>
              <a:srgbClr val="FFFFFF"/>
            </a:solidFill>
            <a:prstDash val="solid"/>
          </a:ln>
        </p:spPr>
        <p:txBody>
          <a:bodyPr/>
          <a:lstStyle/>
          <a:p>
            <a:endParaRPr lang="en-US"/>
          </a:p>
        </p:txBody>
      </p:sp>
      <p:sp>
        <p:nvSpPr>
          <p:cNvPr id="17" name="Text 17"/>
          <p:cNvSpPr/>
          <p:nvPr/>
        </p:nvSpPr>
        <p:spPr>
          <a:xfrm>
            <a:off x="9180480" y="3790000"/>
            <a:ext cx="2280000" cy="650000"/>
          </a:xfrm>
          <a:prstGeom prst="rect">
            <a:avLst/>
          </a:prstGeom>
          <a:noFill/>
          <a:ln/>
        </p:spPr>
        <p:txBody>
          <a:bodyPr wrap="square" lIns="45720" tIns="0" rIns="45720" bIns="0" rtlCol="0" anchor="t"/>
          <a:lstStyle/>
          <a:p>
            <a:pPr marL="0" indent="0" algn="ctr">
              <a:spcAft>
                <a:spcPts val="60"/>
              </a:spcAft>
              <a:buNone/>
            </a:pPr>
            <a:r>
              <a:rPr lang="en-US" sz="1450" b="1">
                <a:solidFill>
                  <a:srgbClr val="3730A3"/>
                </a:solidFill>
                <a:latin typeface="Calibri" pitchFamily="34" charset="0"/>
                <a:ea typeface="Calibri" pitchFamily="34" charset="-122"/>
                <a:cs typeface="Calibri" pitchFamily="34" charset="-120"/>
              </a:rPr>
              <a:t>Bob receives</a:t>
            </a:r>
          </a:p>
          <a:p>
            <a:pPr marL="0" indent="0" algn="ctr">
              <a:buNone/>
            </a:pPr>
            <a:r>
              <a:rPr lang="en-US" sz="1100">
                <a:solidFill>
                  <a:srgbClr val="475569"/>
                </a:solidFill>
                <a:latin typeface="Calibri" pitchFamily="34" charset="0"/>
                <a:ea typeface="Calibri" pitchFamily="34" charset="-122"/>
                <a:cs typeface="Calibri" pitchFamily="34" charset="-120"/>
              </a:rPr>
              <a:t>a modified state</a:t>
            </a:r>
          </a:p>
        </p:txBody>
      </p:sp>
      <p:sp>
        <p:nvSpPr>
          <p:cNvPr id="18" name="axis"/>
          <p:cNvSpPr/>
          <p:nvPr/>
        </p:nvSpPr>
        <p:spPr>
          <a:xfrm>
            <a:off x="3051520" y="3900000"/>
            <a:ext cx="456320" cy="0"/>
          </a:xfrm>
          <a:prstGeom prst="line">
            <a:avLst/>
          </a:prstGeom>
          <a:ln w="28575">
            <a:solidFill>
              <a:srgbClr val="475569"/>
            </a:solidFill>
            <a:prstDash val="solid"/>
            <a:tailEnd type="triangle" w="med" len="med"/>
          </a:ln>
        </p:spPr>
        <p:txBody>
          <a:bodyPr/>
          <a:lstStyle/>
          <a:p>
            <a:endParaRPr lang="en-US"/>
          </a:p>
        </p:txBody>
      </p:sp>
      <p:sp>
        <p:nvSpPr>
          <p:cNvPr id="19" name="axis"/>
          <p:cNvSpPr/>
          <p:nvPr/>
        </p:nvSpPr>
        <p:spPr>
          <a:xfrm>
            <a:off x="5867840" y="3900000"/>
            <a:ext cx="456320" cy="0"/>
          </a:xfrm>
          <a:prstGeom prst="line">
            <a:avLst/>
          </a:prstGeom>
          <a:ln w="28575">
            <a:solidFill>
              <a:srgbClr val="475569"/>
            </a:solidFill>
            <a:prstDash val="solid"/>
            <a:tailEnd type="triangle" w="med" len="med"/>
          </a:ln>
        </p:spPr>
        <p:txBody>
          <a:bodyPr/>
          <a:lstStyle/>
          <a:p>
            <a:endParaRPr lang="en-US"/>
          </a:p>
        </p:txBody>
      </p:sp>
      <p:sp>
        <p:nvSpPr>
          <p:cNvPr id="20" name="axis"/>
          <p:cNvSpPr/>
          <p:nvPr/>
        </p:nvSpPr>
        <p:spPr>
          <a:xfrm>
            <a:off x="8684160" y="3900000"/>
            <a:ext cx="456320" cy="0"/>
          </a:xfrm>
          <a:prstGeom prst="line">
            <a:avLst/>
          </a:prstGeom>
          <a:ln w="28575">
            <a:solidFill>
              <a:srgbClr val="475569"/>
            </a:solidFill>
            <a:prstDash val="solid"/>
            <a:tailEnd type="triangle" w="med" len="med"/>
          </a:ln>
        </p:spPr>
        <p:txBody>
          <a:bodyPr/>
          <a:lstStyle/>
          <a:p>
            <a:endParaRPr lang="en-US"/>
          </a:p>
        </p:txBody>
      </p:sp>
      <p:sp>
        <p:nvSpPr>
          <p:cNvPr id="21" name="ev"/>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a:lstStyle/>
          <a:p>
            <a:endParaRPr lang="en-US"/>
          </a:p>
        </p:txBody>
      </p:sp>
      <p:sp>
        <p:nvSpPr>
          <p:cNvPr id="22" name="Text 22"/>
          <p:cNvSpPr/>
          <p:nvPr/>
        </p:nvSpPr>
        <p:spPr>
          <a:xfrm>
            <a:off x="731520" y="5680000"/>
            <a:ext cx="10728960" cy="560000"/>
          </a:xfrm>
          <a:prstGeom prst="rect">
            <a:avLst/>
          </a:prstGeom>
          <a:noFill/>
          <a:ln/>
        </p:spPr>
        <p:txBody>
          <a:bodyPr wrap="square" lIns="45720" tIns="0" rIns="45720" bIns="0" rtlCol="0" anchor="ctr"/>
          <a:lstStyle/>
          <a:p>
            <a:pPr marL="0" indent="0" algn="ctr">
              <a:buNone/>
            </a:pPr>
            <a:r>
              <a:rPr lang="en-US" sz="1550" b="1">
                <a:solidFill>
                  <a:srgbClr val="3730A3"/>
                </a:solidFill>
                <a:latin typeface="Calibri" pitchFamily="34" charset="0"/>
                <a:ea typeface="Calibri" pitchFamily="34" charset="-122"/>
                <a:cs typeface="Calibri" pitchFamily="34" charset="-120"/>
              </a:rPr>
              <a:t>Measurement leaves evidence — eavesdropping can always be detected.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Choosing Two Bases</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graphicFrame>
        <p:nvGraphicFramePr>
          <p:cNvPr id="4" name="Bases table"/>
          <p:cNvGraphicFramePr>
            <a:graphicFrameLocks noGrp="1"/>
          </p:cNvGraphicFramePr>
          <p:nvPr>
            <p:extLst>
              <p:ext uri="{D42A27DB-BD31-4B8C-83A1-F6EECF244321}">
                <p14:modId xmlns:p14="http://schemas.microsoft.com/office/powerpoint/2010/main" val="1132250076"/>
              </p:ext>
            </p:extLst>
          </p:nvPr>
        </p:nvGraphicFramePr>
        <p:xfrm>
          <a:off x="731520" y="2140000"/>
          <a:ext cx="5400000" cy="2220000"/>
        </p:xfrm>
        <a:graphic>
          <a:graphicData uri="http://schemas.openxmlformats.org/drawingml/2006/table">
            <a:tbl>
              <a:tblPr firstRow="1" bandRow="1"/>
              <a:tblGrid>
                <a:gridCol w="250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450000">
                  <a:extLst>
                    <a:ext uri="{9D8B030D-6E8A-4147-A177-3AD203B41FA5}">
                      <a16:colId xmlns:a16="http://schemas.microsoft.com/office/drawing/2014/main" val="20002"/>
                    </a:ext>
                  </a:extLst>
                </a:gridCol>
              </a:tblGrid>
              <a:tr h="580000">
                <a:tc>
                  <a:txBody>
                    <a:bodyPr/>
                    <a:lstStyle/>
                    <a:p>
                      <a:pPr algn="ctr"/>
                      <a:r>
                        <a:rPr lang="en-US" sz="1400" b="1" dirty="0">
                          <a:solidFill>
                            <a:srgbClr val="FFFFFF"/>
                          </a:solidFill>
                          <a:latin typeface="Calibri" pitchFamily="34" charset="0"/>
                          <a:ea typeface="Calibri" pitchFamily="34" charset="-122"/>
                          <a:cs typeface="Calibri" pitchFamily="34" charset="-120"/>
                        </a:rPr>
                        <a:t>Basis</a:t>
                      </a:r>
                    </a:p>
                  </a:txBody>
                  <a:tcPr marL="82296" marR="82296" marT="27432" marB="27432" anchor="ctr">
                    <a:solidFill>
                      <a:srgbClr val="3730A3"/>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Bit 0</a:t>
                      </a:r>
                    </a:p>
                  </a:txBody>
                  <a:tcPr marL="82296" marR="82296" marT="27432" marB="27432" anchor="ctr">
                    <a:solidFill>
                      <a:srgbClr val="3730A3"/>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Bit 1</a:t>
                      </a:r>
                    </a:p>
                  </a:txBody>
                  <a:tcPr marL="82296" marR="82296" marT="27432" marB="27432" anchor="ctr">
                    <a:solidFill>
                      <a:srgbClr val="3730A3"/>
                    </a:solidFill>
                  </a:tcPr>
                </a:tc>
                <a:extLst>
                  <a:ext uri="{0D108BD9-81ED-4DB2-BD59-A6C34878D82A}">
                    <a16:rowId xmlns:a16="http://schemas.microsoft.com/office/drawing/2014/main" val="10000"/>
                  </a:ext>
                </a:extLst>
              </a:tr>
              <a:tr h="820000">
                <a:tc>
                  <a:txBody>
                    <a:bodyPr/>
                    <a:lstStyle/>
                    <a:p>
                      <a:pPr algn="l"/>
                      <a:r>
                        <a:rPr lang="en-US" sz="1300" b="1" dirty="0">
                          <a:solidFill>
                            <a:srgbClr val="3730A3"/>
                          </a:solidFill>
                          <a:latin typeface="Calibri" pitchFamily="34" charset="0"/>
                          <a:ea typeface="Calibri" pitchFamily="34" charset="-122"/>
                          <a:cs typeface="Calibri" pitchFamily="34" charset="-120"/>
                        </a:rPr>
                        <a:t>Computational (+)</a:t>
                      </a:r>
                    </a:p>
                  </a:txBody>
                  <a:tcPr marL="82296" marR="82296" marT="27432" marB="27432" anchor="ctr">
                    <a:solidFill>
                      <a:srgbClr val="EEF2FF"/>
                    </a:solidFill>
                  </a:tcPr>
                </a:tc>
                <a:tc>
                  <a:txBody>
                    <a:bodyPr/>
                    <a:lstStyle/>
                    <a:p>
                      <a:pPr algn="ctr"/>
                      <a:r>
                        <a:rPr lang="en-US" sz="1600" b="1" dirty="0">
                          <a:solidFill>
                            <a:srgbClr val="3730A3"/>
                          </a:solidFill>
                          <a:latin typeface="Cambria Math" pitchFamily="34" charset="0"/>
                          <a:ea typeface="Cambria Math" pitchFamily="34" charset="-122"/>
                          <a:cs typeface="Cambria Math" pitchFamily="34" charset="-120"/>
                        </a:rPr>
                        <a:t>|0⟩</a:t>
                      </a:r>
                    </a:p>
                  </a:txBody>
                  <a:tcPr marL="82296" marR="82296" marT="27432" marB="27432" anchor="ctr">
                    <a:solidFill>
                      <a:srgbClr val="FFFFFF"/>
                    </a:solidFill>
                  </a:tcPr>
                </a:tc>
                <a:tc>
                  <a:txBody>
                    <a:bodyPr/>
                    <a:lstStyle/>
                    <a:p>
                      <a:pPr algn="ctr"/>
                      <a:r>
                        <a:rPr lang="en-US" sz="1600" b="1" dirty="0">
                          <a:solidFill>
                            <a:srgbClr val="3730A3"/>
                          </a:solidFill>
                          <a:latin typeface="Cambria Math" pitchFamily="34" charset="0"/>
                          <a:ea typeface="Cambria Math" pitchFamily="34" charset="-122"/>
                          <a:cs typeface="Cambria Math" pitchFamily="34" charset="-120"/>
                        </a:rPr>
                        <a:t>|1⟩</a:t>
                      </a:r>
                    </a:p>
                  </a:txBody>
                  <a:tcPr marL="82296" marR="82296" marT="27432" marB="27432" anchor="ctr">
                    <a:solidFill>
                      <a:srgbClr val="FFFFFF"/>
                    </a:solidFill>
                  </a:tcPr>
                </a:tc>
                <a:extLst>
                  <a:ext uri="{0D108BD9-81ED-4DB2-BD59-A6C34878D82A}">
                    <a16:rowId xmlns:a16="http://schemas.microsoft.com/office/drawing/2014/main" val="10001"/>
                  </a:ext>
                </a:extLst>
              </a:tr>
              <a:tr h="820000">
                <a:tc>
                  <a:txBody>
                    <a:bodyPr/>
                    <a:lstStyle/>
                    <a:p>
                      <a:pPr algn="l"/>
                      <a:r>
                        <a:rPr lang="en-US" sz="1300" b="1" dirty="0">
                          <a:solidFill>
                            <a:srgbClr val="0D9488"/>
                          </a:solidFill>
                          <a:latin typeface="Calibri" pitchFamily="34" charset="0"/>
                          <a:ea typeface="Calibri" pitchFamily="34" charset="-122"/>
                          <a:cs typeface="Calibri" pitchFamily="34" charset="-120"/>
                        </a:rPr>
                        <a:t>Hadamard (×)</a:t>
                      </a:r>
                    </a:p>
                  </a:txBody>
                  <a:tcPr marL="82296" marR="82296" marT="27432" marB="27432" anchor="ctr">
                    <a:solidFill>
                      <a:srgbClr val="CCFBF1"/>
                    </a:solidFill>
                  </a:tcPr>
                </a:tc>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600" b="1" dirty="0">
                          <a:solidFill>
                            <a:srgbClr val="0D9488"/>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extLst>
                  <a:ext uri="{0D108BD9-81ED-4DB2-BD59-A6C34878D82A}">
                    <a16:rowId xmlns:a16="http://schemas.microsoft.com/office/drawing/2014/main" val="10002"/>
                  </a:ext>
                </a:extLst>
              </a:tr>
            </a:tbl>
          </a:graphicData>
        </a:graphic>
      </p:graphicFrame>
      <p:sp>
        <p:nvSpPr>
          <p:cNvPr id="5" name="Text 5"/>
          <p:cNvSpPr/>
          <p:nvPr/>
        </p:nvSpPr>
        <p:spPr>
          <a:xfrm>
            <a:off x="731520" y="4560000"/>
            <a:ext cx="5400000" cy="600000"/>
          </a:xfrm>
          <a:prstGeom prst="rect">
            <a:avLst/>
          </a:prstGeom>
          <a:noFill/>
          <a:ln/>
        </p:spPr>
        <p:txBody>
          <a:bodyPr wrap="square" lIns="45720" tIns="0" rIns="45720" bIns="0" rtlCol="0" anchor="t"/>
          <a:lstStyle/>
          <a:p>
            <a:pPr marL="0" indent="0" algn="l">
              <a:spcAft>
                <a:spcPts val="80"/>
              </a:spcAft>
              <a:buNone/>
            </a:pPr>
            <a:r>
              <a:rPr lang="en-US" sz="1300">
                <a:solidFill>
                  <a:srgbClr val="475569"/>
                </a:solidFill>
                <a:latin typeface="Calibri" pitchFamily="34" charset="0"/>
                <a:ea typeface="Calibri" pitchFamily="34" charset="-122"/>
                <a:cs typeface="Calibri" pitchFamily="34" charset="-120"/>
              </a:rPr>
              <a:t>The two bases are </a:t>
            </a:r>
            <a:r>
              <a:rPr lang="en-US" sz="1300" b="1">
                <a:solidFill>
                  <a:srgbClr val="0D9488"/>
                </a:solidFill>
                <a:latin typeface="Calibri" pitchFamily="34" charset="0"/>
                <a:ea typeface="Calibri" pitchFamily="34" charset="-122"/>
                <a:cs typeface="Calibri" pitchFamily="34" charset="-120"/>
              </a:rPr>
              <a:t>mutually unbiased</a:t>
            </a:r>
            <a:r>
              <a:rPr lang="en-US" sz="1300">
                <a:solidFill>
                  <a:srgbClr val="475569"/>
                </a:solidFill>
                <a:latin typeface="Calibri" pitchFamily="34" charset="0"/>
                <a:ea typeface="Calibri" pitchFamily="34" charset="-122"/>
                <a:cs typeface="Calibri" pitchFamily="34" charset="-120"/>
              </a:rPr>
              <a:t>:</a:t>
            </a:r>
          </a:p>
          <a:p>
            <a:pPr marL="0" indent="0" algn="l">
              <a:buNone/>
            </a:pPr>
            <a:r>
              <a:rPr lang="en-US" sz="1300">
                <a:solidFill>
                  <a:srgbClr val="475569"/>
                </a:solidFill>
                <a:latin typeface="Calibri" pitchFamily="34" charset="0"/>
                <a:ea typeface="Calibri" pitchFamily="34" charset="-122"/>
                <a:cs typeface="Calibri" pitchFamily="34" charset="-120"/>
              </a:rPr>
              <a:t>measuring in the wrong one gives a random result.</a:t>
            </a:r>
          </a:p>
        </p:txBody>
      </p:sp>
      <p:sp>
        <p:nvSpPr>
          <p:cNvPr id="6" name="sphere"/>
          <p:cNvSpPr/>
          <p:nvPr/>
        </p:nvSpPr>
        <p:spPr>
          <a:xfrm>
            <a:off x="7750000" y="1920000"/>
            <a:ext cx="3000000" cy="3000000"/>
          </a:xfrm>
          <a:prstGeom prst="ellipse">
            <a:avLst/>
          </a:prstGeom>
          <a:solidFill>
            <a:srgbClr val="EEF2FF"/>
          </a:solidFill>
          <a:ln w="20320">
            <a:solidFill>
              <a:srgbClr val="3730A3"/>
            </a:solidFill>
            <a:prstDash val="solid"/>
          </a:ln>
        </p:spPr>
        <p:txBody>
          <a:bodyPr/>
          <a:lstStyle/>
          <a:p>
            <a:endParaRPr lang="en-US"/>
          </a:p>
        </p:txBody>
      </p:sp>
      <p:sp>
        <p:nvSpPr>
          <p:cNvPr id="7" name="equator"/>
          <p:cNvSpPr/>
          <p:nvPr/>
        </p:nvSpPr>
        <p:spPr>
          <a:xfrm>
            <a:off x="7750000" y="2970000"/>
            <a:ext cx="3000000" cy="900000"/>
          </a:xfrm>
          <a:prstGeom prst="ellipse">
            <a:avLst/>
          </a:prstGeom>
          <a:noFill/>
          <a:ln w="11430">
            <a:solidFill>
              <a:srgbClr val="475569"/>
            </a:solidFill>
            <a:prstDash val="dash"/>
          </a:ln>
        </p:spPr>
        <p:txBody>
          <a:bodyPr/>
          <a:lstStyle/>
          <a:p>
            <a:endParaRPr lang="en-US"/>
          </a:p>
        </p:txBody>
      </p:sp>
      <p:sp>
        <p:nvSpPr>
          <p:cNvPr id="8" name="axis"/>
          <p:cNvSpPr/>
          <p:nvPr/>
        </p:nvSpPr>
        <p:spPr>
          <a:xfrm>
            <a:off x="7750000" y="3420000"/>
            <a:ext cx="3000000" cy="0"/>
          </a:xfrm>
          <a:prstGeom prst="line">
            <a:avLst/>
          </a:prstGeom>
          <a:ln w="9525">
            <a:solidFill>
              <a:srgbClr val="C7CBD1"/>
            </a:solidFill>
            <a:prstDash val="solid"/>
          </a:ln>
        </p:spPr>
        <p:txBody>
          <a:bodyPr/>
          <a:lstStyle/>
          <a:p>
            <a:endParaRPr lang="en-US"/>
          </a:p>
        </p:txBody>
      </p:sp>
      <p:sp>
        <p:nvSpPr>
          <p:cNvPr id="9" name="axis"/>
          <p:cNvSpPr/>
          <p:nvPr/>
        </p:nvSpPr>
        <p:spPr>
          <a:xfrm flipV="1">
            <a:off x="9250000" y="1920000"/>
            <a:ext cx="0" cy="1500000"/>
          </a:xfrm>
          <a:prstGeom prst="line">
            <a:avLst/>
          </a:prstGeom>
          <a:ln w="38100">
            <a:solidFill>
              <a:srgbClr val="3730A3"/>
            </a:solidFill>
            <a:prstDash val="solid"/>
            <a:tailEnd type="triangle" w="med" len="med"/>
          </a:ln>
        </p:spPr>
        <p:txBody>
          <a:bodyPr/>
          <a:lstStyle/>
          <a:p>
            <a:endParaRPr lang="en-US"/>
          </a:p>
        </p:txBody>
      </p:sp>
      <p:sp>
        <p:nvSpPr>
          <p:cNvPr id="10" name="axis"/>
          <p:cNvSpPr/>
          <p:nvPr/>
        </p:nvSpPr>
        <p:spPr>
          <a:xfrm>
            <a:off x="9250000" y="3420000"/>
            <a:ext cx="0" cy="1500000"/>
          </a:xfrm>
          <a:prstGeom prst="line">
            <a:avLst/>
          </a:prstGeom>
          <a:ln w="25400">
            <a:solidFill>
              <a:srgbClr val="3730A3"/>
            </a:solidFill>
            <a:prstDash val="dash"/>
          </a:ln>
        </p:spPr>
        <p:txBody>
          <a:bodyPr/>
          <a:lstStyle/>
          <a:p>
            <a:endParaRPr lang="en-US"/>
          </a:p>
        </p:txBody>
      </p:sp>
      <p:sp>
        <p:nvSpPr>
          <p:cNvPr id="11" name="axis"/>
          <p:cNvSpPr/>
          <p:nvPr/>
        </p:nvSpPr>
        <p:spPr>
          <a:xfrm flipV="1">
            <a:off x="9250000" y="2970000"/>
            <a:ext cx="990000" cy="450000"/>
          </a:xfrm>
          <a:prstGeom prst="line">
            <a:avLst/>
          </a:prstGeom>
          <a:ln w="38100">
            <a:solidFill>
              <a:srgbClr val="0D9488"/>
            </a:solidFill>
            <a:prstDash val="solid"/>
            <a:tailEnd type="triangle" w="med" len="med"/>
          </a:ln>
        </p:spPr>
        <p:txBody>
          <a:bodyPr/>
          <a:lstStyle/>
          <a:p>
            <a:endParaRPr lang="en-US"/>
          </a:p>
        </p:txBody>
      </p:sp>
      <p:sp>
        <p:nvSpPr>
          <p:cNvPr id="12" name="axis"/>
          <p:cNvSpPr/>
          <p:nvPr/>
        </p:nvSpPr>
        <p:spPr>
          <a:xfrm flipV="1">
            <a:off x="8260000" y="3420000"/>
            <a:ext cx="990000" cy="450000"/>
          </a:xfrm>
          <a:prstGeom prst="line">
            <a:avLst/>
          </a:prstGeom>
          <a:ln w="25400">
            <a:solidFill>
              <a:srgbClr val="0D9488"/>
            </a:solidFill>
            <a:prstDash val="dash"/>
          </a:ln>
        </p:spPr>
        <p:txBody>
          <a:bodyPr/>
          <a:lstStyle/>
          <a:p>
            <a:endParaRPr lang="en-US"/>
          </a:p>
        </p:txBody>
      </p:sp>
      <p:sp>
        <p:nvSpPr>
          <p:cNvPr id="13" name="dot"/>
          <p:cNvSpPr/>
          <p:nvPr/>
        </p:nvSpPr>
        <p:spPr>
          <a:xfrm>
            <a:off x="9208000" y="3378000"/>
            <a:ext cx="84000" cy="84000"/>
          </a:xfrm>
          <a:prstGeom prst="ellipse">
            <a:avLst/>
          </a:prstGeom>
          <a:solidFill>
            <a:srgbClr val="1F2937"/>
          </a:solidFill>
          <a:ln/>
        </p:spPr>
        <p:txBody>
          <a:bodyPr/>
          <a:lstStyle/>
          <a:p>
            <a:endParaRPr lang="en-US"/>
          </a:p>
        </p:txBody>
      </p:sp>
      <p:sp>
        <p:nvSpPr>
          <p:cNvPr id="14" name="Text 14"/>
          <p:cNvSpPr/>
          <p:nvPr/>
        </p:nvSpPr>
        <p:spPr>
          <a:xfrm>
            <a:off x="8970000" y="15150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|0⟩</a:t>
            </a:r>
          </a:p>
        </p:txBody>
      </p:sp>
      <p:sp>
        <p:nvSpPr>
          <p:cNvPr id="15" name="Text 15"/>
          <p:cNvSpPr/>
          <p:nvPr/>
        </p:nvSpPr>
        <p:spPr>
          <a:xfrm>
            <a:off x="8970000" y="5025000"/>
            <a:ext cx="5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mbria Math" pitchFamily="34" charset="0"/>
                <a:ea typeface="Cambria Math" pitchFamily="34" charset="-122"/>
                <a:cs typeface="Cambria Math" pitchFamily="34" charset="-120"/>
              </a:rPr>
              <a:t>|1⟩</a:t>
            </a:r>
          </a:p>
        </p:txBody>
      </p:sp>
      <p:sp>
        <p:nvSpPr>
          <p:cNvPr id="16" name="Text 16"/>
          <p:cNvSpPr/>
          <p:nvPr/>
        </p:nvSpPr>
        <p:spPr>
          <a:xfrm>
            <a:off x="7801500" y="3898500"/>
            <a:ext cx="5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mbria Math" pitchFamily="34" charset="0"/>
                <a:ea typeface="Cambria Math" pitchFamily="34" charset="-122"/>
                <a:cs typeface="Cambria Math" pitchFamily="34" charset="-120"/>
              </a:rPr>
              <a:t>|+⟩</a:t>
            </a:r>
          </a:p>
        </p:txBody>
      </p:sp>
      <p:sp>
        <p:nvSpPr>
          <p:cNvPr id="17" name="Text 17"/>
          <p:cNvSpPr/>
          <p:nvPr/>
        </p:nvSpPr>
        <p:spPr>
          <a:xfrm>
            <a:off x="10138500" y="2641500"/>
            <a:ext cx="5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mbria Math" pitchFamily="34" charset="0"/>
                <a:ea typeface="Cambria Math" pitchFamily="34" charset="-122"/>
                <a:cs typeface="Cambria Math" pitchFamily="34" charset="-120"/>
              </a:rPr>
              <a:t>|−⟩</a:t>
            </a:r>
          </a:p>
        </p:txBody>
      </p:sp>
      <p:sp>
        <p:nvSpPr>
          <p:cNvPr id="18" name="Text 18"/>
          <p:cNvSpPr/>
          <p:nvPr/>
        </p:nvSpPr>
        <p:spPr>
          <a:xfrm>
            <a:off x="9310000" y="2445000"/>
            <a:ext cx="260000" cy="30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Z</a:t>
            </a:r>
          </a:p>
        </p:txBody>
      </p:sp>
      <p:sp>
        <p:nvSpPr>
          <p:cNvPr id="19" name="Text 19"/>
          <p:cNvSpPr/>
          <p:nvPr/>
        </p:nvSpPr>
        <p:spPr>
          <a:xfrm>
            <a:off x="9745000" y="2870000"/>
            <a:ext cx="260000" cy="30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X</a:t>
            </a:r>
          </a:p>
        </p:txBody>
      </p:sp>
      <p:sp>
        <p:nvSpPr>
          <p:cNvPr id="20" name="pick"/>
          <p:cNvSpPr/>
          <p:nvPr/>
        </p:nvSpPr>
        <p:spPr>
          <a:xfrm>
            <a:off x="731520" y="5680000"/>
            <a:ext cx="10728960" cy="560000"/>
          </a:xfrm>
          <a:prstGeom prst="roundRect">
            <a:avLst>
              <a:gd name="adj" fmla="val 8000"/>
            </a:avLst>
          </a:prstGeom>
          <a:solidFill>
            <a:srgbClr val="CCFBF1"/>
          </a:solidFill>
          <a:ln/>
        </p:spPr>
        <p:txBody>
          <a:bodyPr/>
          <a:lstStyle/>
          <a:p>
            <a:endParaRPr lang="en-US"/>
          </a:p>
        </p:txBody>
      </p:sp>
      <p:sp>
        <p:nvSpPr>
          <p:cNvPr id="21" name="Text 21"/>
          <p:cNvSpPr/>
          <p:nvPr/>
        </p:nvSpPr>
        <p:spPr>
          <a:xfrm>
            <a:off x="731520" y="5680000"/>
            <a:ext cx="10728960" cy="560000"/>
          </a:xfrm>
          <a:prstGeom prst="rect">
            <a:avLst/>
          </a:prstGeom>
          <a:noFill/>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For every photon, Alice randomly chooses both the </a:t>
            </a:r>
            <a:r>
              <a:rPr lang="en-US" sz="1500" b="1">
                <a:solidFill>
                  <a:srgbClr val="3730A3"/>
                </a:solidFill>
                <a:latin typeface="Calibri" pitchFamily="34" charset="0"/>
                <a:ea typeface="Calibri" pitchFamily="34" charset="-122"/>
                <a:cs typeface="Calibri" pitchFamily="34" charset="-120"/>
              </a:rPr>
              <a:t>bit</a:t>
            </a:r>
            <a:r>
              <a:rPr lang="en-US" sz="1500" b="1">
                <a:solidFill>
                  <a:srgbClr val="0D9488"/>
                </a:solidFill>
                <a:latin typeface="Calibri" pitchFamily="34" charset="0"/>
                <a:ea typeface="Calibri" pitchFamily="34" charset="-122"/>
                <a:cs typeface="Calibri" pitchFamily="34" charset="-120"/>
              </a:rPr>
              <a:t> and the </a:t>
            </a:r>
            <a:r>
              <a:rPr lang="en-US" sz="1500" b="1">
                <a:solidFill>
                  <a:srgbClr val="3730A3"/>
                </a:solidFill>
                <a:latin typeface="Calibri" pitchFamily="34" charset="0"/>
                <a:ea typeface="Calibri" pitchFamily="34" charset="-122"/>
                <a:cs typeface="Calibri" pitchFamily="34" charset="-120"/>
              </a:rPr>
              <a:t>basis</a:t>
            </a:r>
            <a:r>
              <a:rPr lang="en-US" sz="1500" b="1">
                <a:solidFill>
                  <a:srgbClr val="0D9488"/>
                </a:solidFill>
                <a:latin typeface="Calibri" pitchFamily="34" charset="0"/>
                <a:ea typeface="Calibri" pitchFamily="34" charset="-122"/>
                <a:cs typeface="Calibri" pitchFamily="34" charset="-120"/>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Alice's Encoding Process</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node"/>
          <p:cNvSpPr/>
          <p:nvPr/>
        </p:nvSpPr>
        <p:spPr>
          <a:xfrm>
            <a:off x="731520" y="1620000"/>
            <a:ext cx="2280000" cy="760000"/>
          </a:xfrm>
          <a:prstGeom prst="roundRect">
            <a:avLst>
              <a:gd name="adj" fmla="val 9000"/>
            </a:avLst>
          </a:prstGeom>
          <a:solidFill>
            <a:srgbClr val="EEF2FF"/>
          </a:solidFill>
          <a:ln w="15875">
            <a:solidFill>
              <a:srgbClr val="3730A3"/>
            </a:solidFill>
            <a:prstDash val="solid"/>
          </a:ln>
        </p:spPr>
        <p:txBody>
          <a:bodyPr/>
          <a:lstStyle/>
          <a:p>
            <a:endParaRPr lang="en-US"/>
          </a:p>
        </p:txBody>
      </p:sp>
      <p:sp>
        <p:nvSpPr>
          <p:cNvPr id="5" name="Text 5"/>
          <p:cNvSpPr/>
          <p:nvPr/>
        </p:nvSpPr>
        <p:spPr>
          <a:xfrm>
            <a:off x="731520" y="1620000"/>
            <a:ext cx="2280000" cy="760000"/>
          </a:xfrm>
          <a:prstGeom prst="rect">
            <a:avLst/>
          </a:prstGeom>
          <a:noFill/>
          <a:ln/>
        </p:spPr>
        <p:txBody>
          <a:bodyPr wrap="square" lIns="45720" tIns="0" rIns="45720" bIns="0" rtlCol="0" anchor="ctr"/>
          <a:lstStyle/>
          <a:p>
            <a:pPr marL="0" indent="0" algn="ctr">
              <a:buNone/>
            </a:pPr>
            <a:r>
              <a:rPr lang="en-US" sz="1450" b="1">
                <a:solidFill>
                  <a:srgbClr val="3730A3"/>
                </a:solidFill>
                <a:latin typeface="Calibri" pitchFamily="34" charset="0"/>
                <a:ea typeface="Calibri" pitchFamily="34" charset="-122"/>
                <a:cs typeface="Calibri" pitchFamily="34" charset="-120"/>
              </a:rPr>
              <a:t>1. Random bit</a:t>
            </a:r>
          </a:p>
        </p:txBody>
      </p:sp>
      <p:sp>
        <p:nvSpPr>
          <p:cNvPr id="6" name="node"/>
          <p:cNvSpPr/>
          <p:nvPr/>
        </p:nvSpPr>
        <p:spPr>
          <a:xfrm>
            <a:off x="3547840" y="1620000"/>
            <a:ext cx="2280000" cy="760000"/>
          </a:xfrm>
          <a:prstGeom prst="roundRect">
            <a:avLst>
              <a:gd name="adj" fmla="val 9000"/>
            </a:avLst>
          </a:prstGeom>
          <a:solidFill>
            <a:srgbClr val="CCFBF1"/>
          </a:solidFill>
          <a:ln w="15875">
            <a:solidFill>
              <a:srgbClr val="0D9488"/>
            </a:solidFill>
            <a:prstDash val="solid"/>
          </a:ln>
        </p:spPr>
        <p:txBody>
          <a:bodyPr/>
          <a:lstStyle/>
          <a:p>
            <a:endParaRPr lang="en-US"/>
          </a:p>
        </p:txBody>
      </p:sp>
      <p:sp>
        <p:nvSpPr>
          <p:cNvPr id="7" name="Text 7"/>
          <p:cNvSpPr/>
          <p:nvPr/>
        </p:nvSpPr>
        <p:spPr>
          <a:xfrm>
            <a:off x="3547840" y="1620000"/>
            <a:ext cx="2280000" cy="760000"/>
          </a:xfrm>
          <a:prstGeom prst="rect">
            <a:avLst/>
          </a:prstGeom>
          <a:noFill/>
          <a:ln/>
        </p:spPr>
        <p:txBody>
          <a:bodyPr wrap="square" lIns="45720" tIns="0" rIns="45720" bIns="0" rtlCol="0" anchor="ctr"/>
          <a:lstStyle/>
          <a:p>
            <a:pPr marL="0" indent="0" algn="ctr">
              <a:buNone/>
            </a:pPr>
            <a:r>
              <a:rPr lang="en-US" sz="1450" b="1">
                <a:solidFill>
                  <a:srgbClr val="0D9488"/>
                </a:solidFill>
                <a:latin typeface="Calibri" pitchFamily="34" charset="0"/>
                <a:ea typeface="Calibri" pitchFamily="34" charset="-122"/>
                <a:cs typeface="Calibri" pitchFamily="34" charset="-120"/>
              </a:rPr>
              <a:t>2. Random basis</a:t>
            </a:r>
          </a:p>
        </p:txBody>
      </p:sp>
      <p:sp>
        <p:nvSpPr>
          <p:cNvPr id="8" name="node"/>
          <p:cNvSpPr/>
          <p:nvPr/>
        </p:nvSpPr>
        <p:spPr>
          <a:xfrm>
            <a:off x="6364160" y="1620000"/>
            <a:ext cx="2280000" cy="760000"/>
          </a:xfrm>
          <a:prstGeom prst="roundRect">
            <a:avLst>
              <a:gd name="adj" fmla="val 9000"/>
            </a:avLst>
          </a:prstGeom>
          <a:solidFill>
            <a:srgbClr val="EEF2FF"/>
          </a:solidFill>
          <a:ln w="15875">
            <a:solidFill>
              <a:srgbClr val="3730A3"/>
            </a:solidFill>
            <a:prstDash val="solid"/>
          </a:ln>
        </p:spPr>
        <p:txBody>
          <a:bodyPr/>
          <a:lstStyle/>
          <a:p>
            <a:endParaRPr lang="en-US"/>
          </a:p>
        </p:txBody>
      </p:sp>
      <p:sp>
        <p:nvSpPr>
          <p:cNvPr id="9" name="Text 9"/>
          <p:cNvSpPr/>
          <p:nvPr/>
        </p:nvSpPr>
        <p:spPr>
          <a:xfrm>
            <a:off x="6364160" y="1620000"/>
            <a:ext cx="2280000" cy="760000"/>
          </a:xfrm>
          <a:prstGeom prst="rect">
            <a:avLst/>
          </a:prstGeom>
          <a:noFill/>
          <a:ln/>
        </p:spPr>
        <p:txBody>
          <a:bodyPr wrap="square" lIns="45720" tIns="0" rIns="45720" bIns="0" rtlCol="0" anchor="ctr"/>
          <a:lstStyle/>
          <a:p>
            <a:pPr marL="0" indent="0" algn="ctr">
              <a:buNone/>
            </a:pPr>
            <a:r>
              <a:rPr lang="en-US" sz="1450" b="1">
                <a:solidFill>
                  <a:srgbClr val="3730A3"/>
                </a:solidFill>
                <a:latin typeface="Calibri" pitchFamily="34" charset="0"/>
                <a:ea typeface="Calibri" pitchFamily="34" charset="-122"/>
                <a:cs typeface="Calibri" pitchFamily="34" charset="-120"/>
              </a:rPr>
              <a:t>3. Prepare photon</a:t>
            </a:r>
          </a:p>
        </p:txBody>
      </p:sp>
      <p:sp>
        <p:nvSpPr>
          <p:cNvPr id="10" name="node"/>
          <p:cNvSpPr/>
          <p:nvPr/>
        </p:nvSpPr>
        <p:spPr>
          <a:xfrm>
            <a:off x="9180480" y="1620000"/>
            <a:ext cx="2280000" cy="760000"/>
          </a:xfrm>
          <a:prstGeom prst="roundRect">
            <a:avLst>
              <a:gd name="adj" fmla="val 9000"/>
            </a:avLst>
          </a:prstGeom>
          <a:solidFill>
            <a:srgbClr val="CCFBF1"/>
          </a:solidFill>
          <a:ln w="15875">
            <a:solidFill>
              <a:srgbClr val="0D9488"/>
            </a:solidFill>
            <a:prstDash val="solid"/>
          </a:ln>
        </p:spPr>
        <p:txBody>
          <a:bodyPr/>
          <a:lstStyle/>
          <a:p>
            <a:endParaRPr lang="en-US"/>
          </a:p>
        </p:txBody>
      </p:sp>
      <p:sp>
        <p:nvSpPr>
          <p:cNvPr id="11" name="Text 11"/>
          <p:cNvSpPr/>
          <p:nvPr/>
        </p:nvSpPr>
        <p:spPr>
          <a:xfrm>
            <a:off x="9180480" y="1620000"/>
            <a:ext cx="2280000" cy="760000"/>
          </a:xfrm>
          <a:prstGeom prst="rect">
            <a:avLst/>
          </a:prstGeom>
          <a:noFill/>
          <a:ln/>
        </p:spPr>
        <p:txBody>
          <a:bodyPr wrap="square" lIns="45720" tIns="0" rIns="45720" bIns="0" rtlCol="0" anchor="ctr"/>
          <a:lstStyle/>
          <a:p>
            <a:pPr marL="0" indent="0" algn="ctr">
              <a:buNone/>
            </a:pPr>
            <a:r>
              <a:rPr lang="en-US" sz="1450" b="1">
                <a:solidFill>
                  <a:srgbClr val="0D9488"/>
                </a:solidFill>
                <a:latin typeface="Calibri" pitchFamily="34" charset="0"/>
                <a:ea typeface="Calibri" pitchFamily="34" charset="-122"/>
                <a:cs typeface="Calibri" pitchFamily="34" charset="-120"/>
              </a:rPr>
              <a:t>4. Send</a:t>
            </a:r>
          </a:p>
        </p:txBody>
      </p:sp>
      <p:sp>
        <p:nvSpPr>
          <p:cNvPr id="12" name="axis"/>
          <p:cNvSpPr/>
          <p:nvPr/>
        </p:nvSpPr>
        <p:spPr>
          <a:xfrm>
            <a:off x="3041520" y="2000000"/>
            <a:ext cx="476320" cy="0"/>
          </a:xfrm>
          <a:prstGeom prst="line">
            <a:avLst/>
          </a:prstGeom>
          <a:ln w="28575">
            <a:solidFill>
              <a:srgbClr val="475569"/>
            </a:solidFill>
            <a:prstDash val="solid"/>
            <a:tailEnd type="triangle" w="med" len="med"/>
          </a:ln>
        </p:spPr>
        <p:txBody>
          <a:bodyPr/>
          <a:lstStyle/>
          <a:p>
            <a:endParaRPr lang="en-US"/>
          </a:p>
        </p:txBody>
      </p:sp>
      <p:sp>
        <p:nvSpPr>
          <p:cNvPr id="13" name="axis"/>
          <p:cNvSpPr/>
          <p:nvPr/>
        </p:nvSpPr>
        <p:spPr>
          <a:xfrm>
            <a:off x="5857840" y="2000000"/>
            <a:ext cx="476320" cy="0"/>
          </a:xfrm>
          <a:prstGeom prst="line">
            <a:avLst/>
          </a:prstGeom>
          <a:ln w="28575">
            <a:solidFill>
              <a:srgbClr val="475569"/>
            </a:solidFill>
            <a:prstDash val="solid"/>
            <a:tailEnd type="triangle" w="med" len="med"/>
          </a:ln>
        </p:spPr>
        <p:txBody>
          <a:bodyPr/>
          <a:lstStyle/>
          <a:p>
            <a:endParaRPr lang="en-US"/>
          </a:p>
        </p:txBody>
      </p:sp>
      <p:sp>
        <p:nvSpPr>
          <p:cNvPr id="14" name="axis"/>
          <p:cNvSpPr/>
          <p:nvPr/>
        </p:nvSpPr>
        <p:spPr>
          <a:xfrm>
            <a:off x="8674160" y="2000000"/>
            <a:ext cx="476320" cy="0"/>
          </a:xfrm>
          <a:prstGeom prst="line">
            <a:avLst/>
          </a:prstGeom>
          <a:ln w="28575">
            <a:solidFill>
              <a:srgbClr val="475569"/>
            </a:solidFill>
            <a:prstDash val="solid"/>
            <a:tailEnd type="triangle" w="med" len="med"/>
          </a:ln>
        </p:spPr>
        <p:txBody>
          <a:bodyPr/>
          <a:lstStyle/>
          <a:p>
            <a:endParaRPr lang="en-US"/>
          </a:p>
        </p:txBody>
      </p:sp>
      <p:sp>
        <p:nvSpPr>
          <p:cNvPr id="15" name="Text 15"/>
          <p:cNvSpPr/>
          <p:nvPr/>
        </p:nvSpPr>
        <p:spPr>
          <a:xfrm>
            <a:off x="731520" y="2680000"/>
            <a:ext cx="47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Example encodings</a:t>
            </a:r>
          </a:p>
        </p:txBody>
      </p:sp>
      <p:graphicFrame>
        <p:nvGraphicFramePr>
          <p:cNvPr id="16" name="Encoding table"/>
          <p:cNvGraphicFramePr>
            <a:graphicFrameLocks noGrp="1"/>
          </p:cNvGraphicFramePr>
          <p:nvPr>
            <p:extLst>
              <p:ext uri="{D42A27DB-BD31-4B8C-83A1-F6EECF244321}">
                <p14:modId xmlns:p14="http://schemas.microsoft.com/office/powerpoint/2010/main" val="1281203220"/>
              </p:ext>
            </p:extLst>
          </p:nvPr>
        </p:nvGraphicFramePr>
        <p:xfrm>
          <a:off x="731520" y="2980000"/>
          <a:ext cx="4600000" cy="2580000"/>
        </p:xfrm>
        <a:graphic>
          <a:graphicData uri="http://schemas.openxmlformats.org/drawingml/2006/table">
            <a:tbl>
              <a:tblPr firstRow="1" bandRow="1"/>
              <a:tblGrid>
                <a:gridCol w="1150000">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2050000">
                  <a:extLst>
                    <a:ext uri="{9D8B030D-6E8A-4147-A177-3AD203B41FA5}">
                      <a16:colId xmlns:a16="http://schemas.microsoft.com/office/drawing/2014/main" val="20002"/>
                    </a:ext>
                  </a:extLst>
                </a:gridCol>
              </a:tblGrid>
              <a:tr h="500000">
                <a:tc>
                  <a:txBody>
                    <a:bodyPr/>
                    <a:lstStyle/>
                    <a:p>
                      <a:pPr algn="ctr"/>
                      <a:r>
                        <a:rPr lang="en-US" sz="1350" b="1" dirty="0">
                          <a:solidFill>
                            <a:srgbClr val="FFFFFF"/>
                          </a:solidFill>
                          <a:latin typeface="Calibri" pitchFamily="34" charset="0"/>
                          <a:ea typeface="Calibri" pitchFamily="34" charset="-122"/>
                          <a:cs typeface="Calibri" pitchFamily="34" charset="-120"/>
                        </a:rPr>
                        <a:t>Bit</a:t>
                      </a:r>
                    </a:p>
                  </a:txBody>
                  <a:tcPr marL="82296" marR="82296" marT="27432" marB="27432" anchor="ctr">
                    <a:solidFill>
                      <a:srgbClr val="3730A3"/>
                    </a:solidFill>
                  </a:tcPr>
                </a:tc>
                <a:tc>
                  <a:txBody>
                    <a:bodyPr/>
                    <a:lstStyle/>
                    <a:p>
                      <a:pPr algn="ctr"/>
                      <a:r>
                        <a:rPr lang="en-US" sz="1350" b="1" dirty="0">
                          <a:solidFill>
                            <a:srgbClr val="FFFFFF"/>
                          </a:solidFill>
                          <a:latin typeface="Calibri" pitchFamily="34" charset="0"/>
                          <a:ea typeface="Calibri" pitchFamily="34" charset="-122"/>
                          <a:cs typeface="Calibri" pitchFamily="34" charset="-120"/>
                        </a:rPr>
                        <a:t>Basis</a:t>
                      </a:r>
                    </a:p>
                  </a:txBody>
                  <a:tcPr marL="82296" marR="82296" marT="27432" marB="27432" anchor="ctr">
                    <a:solidFill>
                      <a:srgbClr val="3730A3"/>
                    </a:solidFill>
                  </a:tcPr>
                </a:tc>
                <a:tc>
                  <a:txBody>
                    <a:bodyPr/>
                    <a:lstStyle/>
                    <a:p>
                      <a:pPr algn="ctr"/>
                      <a:r>
                        <a:rPr lang="en-US" sz="1350" b="1" dirty="0">
                          <a:solidFill>
                            <a:srgbClr val="FFFFFF"/>
                          </a:solidFill>
                          <a:latin typeface="Calibri" pitchFamily="34" charset="0"/>
                          <a:ea typeface="Calibri" pitchFamily="34" charset="-122"/>
                          <a:cs typeface="Calibri" pitchFamily="34" charset="-120"/>
                        </a:rPr>
                        <a:t>State sent</a:t>
                      </a:r>
                    </a:p>
                  </a:txBody>
                  <a:tcPr marL="82296" marR="82296" marT="27432" marB="27432" anchor="ctr">
                    <a:solidFill>
                      <a:srgbClr val="3730A3"/>
                    </a:solidFill>
                  </a:tcPr>
                </a:tc>
                <a:extLst>
                  <a:ext uri="{0D108BD9-81ED-4DB2-BD59-A6C34878D82A}">
                    <a16:rowId xmlns:a16="http://schemas.microsoft.com/office/drawing/2014/main" val="10000"/>
                  </a:ext>
                </a:extLst>
              </a:tr>
              <a:tr h="520000">
                <a:tc>
                  <a:txBody>
                    <a:bodyPr/>
                    <a:lstStyle/>
                    <a:p>
                      <a:pPr algn="ctr"/>
                      <a:r>
                        <a:rPr lang="en-US" sz="1400" b="1" dirty="0">
                          <a:solidFill>
                            <a:srgbClr val="1F2937"/>
                          </a:solidFill>
                          <a:latin typeface="Calibri" pitchFamily="34" charset="0"/>
                          <a:ea typeface="Calibri" pitchFamily="34" charset="-122"/>
                          <a:cs typeface="Calibri" pitchFamily="34" charset="-120"/>
                        </a:rPr>
                        <a:t>0</a:t>
                      </a:r>
                    </a:p>
                  </a:txBody>
                  <a:tcPr marL="82296" marR="82296" marT="27432" marB="27432" anchor="ctr">
                    <a:solidFill>
                      <a:srgbClr val="FFFFFF"/>
                    </a:solidFill>
                  </a:tcPr>
                </a:tc>
                <a:tc>
                  <a:txBody>
                    <a:bodyPr/>
                    <a:lstStyle/>
                    <a:p>
                      <a:pPr algn="ctr"/>
                      <a:r>
                        <a:rPr lang="en-US" sz="1400" b="1" dirty="0">
                          <a:solidFill>
                            <a:srgbClr val="3730A3"/>
                          </a:solidFill>
                          <a:latin typeface="Cambria Math" pitchFamily="34" charset="0"/>
                          <a:ea typeface="Cambria Math" pitchFamily="34" charset="-122"/>
                          <a:cs typeface="Cambria Math" pitchFamily="34" charset="-120"/>
                        </a:rPr>
                        <a:t>+</a:t>
                      </a:r>
                    </a:p>
                  </a:txBody>
                  <a:tcPr marL="82296" marR="82296" marT="27432" marB="27432" anchor="ctr">
                    <a:solidFill>
                      <a:srgbClr val="EEF2FF"/>
                    </a:solidFill>
                  </a:tcPr>
                </a:tc>
                <a:tc>
                  <a:txBody>
                    <a:bodyPr/>
                    <a:lstStyle/>
                    <a:p>
                      <a:pPr algn="ctr"/>
                      <a:r>
                        <a:rPr lang="en-US" sz="1500" b="1" dirty="0">
                          <a:solidFill>
                            <a:srgbClr val="3730A3"/>
                          </a:solidFill>
                          <a:latin typeface="Cambria Math" pitchFamily="34" charset="0"/>
                          <a:ea typeface="Cambria Math" pitchFamily="34" charset="-122"/>
                          <a:cs typeface="Cambria Math" pitchFamily="34" charset="-120"/>
                        </a:rPr>
                        <a:t>|0⟩</a:t>
                      </a:r>
                    </a:p>
                  </a:txBody>
                  <a:tcPr marL="82296" marR="82296" marT="27432" marB="27432" anchor="ctr">
                    <a:solidFill>
                      <a:srgbClr val="FFFFFF"/>
                    </a:solidFill>
                  </a:tcPr>
                </a:tc>
                <a:extLst>
                  <a:ext uri="{0D108BD9-81ED-4DB2-BD59-A6C34878D82A}">
                    <a16:rowId xmlns:a16="http://schemas.microsoft.com/office/drawing/2014/main" val="10001"/>
                  </a:ext>
                </a:extLst>
              </a:tr>
              <a:tr h="520000">
                <a:tc>
                  <a:txBody>
                    <a:bodyPr/>
                    <a:lstStyle/>
                    <a:p>
                      <a:pPr algn="ctr"/>
                      <a:r>
                        <a:rPr lang="en-US" sz="1400" b="1" dirty="0">
                          <a:solidFill>
                            <a:srgbClr val="1F2937"/>
                          </a:solidFill>
                          <a:latin typeface="Calibri" pitchFamily="34" charset="0"/>
                          <a:ea typeface="Calibri" pitchFamily="34" charset="-122"/>
                          <a:cs typeface="Calibri" pitchFamily="34" charset="-120"/>
                        </a:rPr>
                        <a:t>1</a:t>
                      </a:r>
                    </a:p>
                  </a:txBody>
                  <a:tcPr marL="82296" marR="82296" marT="27432" marB="27432" anchor="ctr">
                    <a:solidFill>
                      <a:srgbClr val="FFFFFF"/>
                    </a:solidFill>
                  </a:tcPr>
                </a:tc>
                <a:tc>
                  <a:txBody>
                    <a:bodyPr/>
                    <a:lstStyle/>
                    <a:p>
                      <a:pPr algn="ctr"/>
                      <a:r>
                        <a:rPr lang="en-US" sz="1400" b="1" dirty="0">
                          <a:solidFill>
                            <a:srgbClr val="3730A3"/>
                          </a:solidFill>
                          <a:latin typeface="Cambria Math" pitchFamily="34" charset="0"/>
                          <a:ea typeface="Cambria Math" pitchFamily="34" charset="-122"/>
                          <a:cs typeface="Cambria Math" pitchFamily="34" charset="-120"/>
                        </a:rPr>
                        <a:t>+</a:t>
                      </a:r>
                    </a:p>
                  </a:txBody>
                  <a:tcPr marL="82296" marR="82296" marT="27432" marB="27432" anchor="ctr">
                    <a:solidFill>
                      <a:srgbClr val="EEF2FF"/>
                    </a:solidFill>
                  </a:tcPr>
                </a:tc>
                <a:tc>
                  <a:txBody>
                    <a:bodyPr/>
                    <a:lstStyle/>
                    <a:p>
                      <a:pPr algn="ctr"/>
                      <a:r>
                        <a:rPr lang="en-US" sz="1500" b="1" dirty="0">
                          <a:solidFill>
                            <a:srgbClr val="3730A3"/>
                          </a:solidFill>
                          <a:latin typeface="Cambria Math" pitchFamily="34" charset="0"/>
                          <a:ea typeface="Cambria Math" pitchFamily="34" charset="-122"/>
                          <a:cs typeface="Cambria Math" pitchFamily="34" charset="-120"/>
                        </a:rPr>
                        <a:t>|1⟩</a:t>
                      </a:r>
                    </a:p>
                  </a:txBody>
                  <a:tcPr marL="82296" marR="82296" marT="27432" marB="27432" anchor="ctr">
                    <a:solidFill>
                      <a:srgbClr val="FFFFFF"/>
                    </a:solidFill>
                  </a:tcPr>
                </a:tc>
                <a:extLst>
                  <a:ext uri="{0D108BD9-81ED-4DB2-BD59-A6C34878D82A}">
                    <a16:rowId xmlns:a16="http://schemas.microsoft.com/office/drawing/2014/main" val="10002"/>
                  </a:ext>
                </a:extLst>
              </a:tr>
              <a:tr h="520000">
                <a:tc>
                  <a:txBody>
                    <a:bodyPr/>
                    <a:lstStyle/>
                    <a:p>
                      <a:pPr algn="ctr"/>
                      <a:r>
                        <a:rPr lang="en-US" sz="1400" b="1" dirty="0">
                          <a:solidFill>
                            <a:srgbClr val="1F2937"/>
                          </a:solidFill>
                          <a:latin typeface="Calibri" pitchFamily="34" charset="0"/>
                          <a:ea typeface="Calibri" pitchFamily="34" charset="-122"/>
                          <a:cs typeface="Calibri" pitchFamily="34" charset="-120"/>
                        </a:rPr>
                        <a:t>0</a:t>
                      </a:r>
                    </a:p>
                  </a:txBody>
                  <a:tcPr marL="82296" marR="82296" marT="27432" marB="27432" anchor="ctr">
                    <a:solidFill>
                      <a:srgbClr val="FFFFFF"/>
                    </a:solidFill>
                  </a:tcPr>
                </a:tc>
                <a:tc>
                  <a:txBody>
                    <a:bodyPr/>
                    <a:lstStyle/>
                    <a:p>
                      <a:pPr algn="ctr"/>
                      <a:r>
                        <a:rPr lang="en-US" sz="1400" b="1" dirty="0">
                          <a:solidFill>
                            <a:srgbClr val="0D9488"/>
                          </a:solidFill>
                          <a:latin typeface="Cambria Math" pitchFamily="34" charset="0"/>
                          <a:ea typeface="Cambria Math" pitchFamily="34" charset="-122"/>
                          <a:cs typeface="Cambria Math" pitchFamily="34" charset="-120"/>
                        </a:rPr>
                        <a:t>×</a:t>
                      </a:r>
                    </a:p>
                  </a:txBody>
                  <a:tcPr marL="82296" marR="82296" marT="27432" marB="27432" anchor="ctr">
                    <a:solidFill>
                      <a:srgbClr val="CCFBF1"/>
                    </a:solidFill>
                  </a:tcPr>
                </a:tc>
                <a:tc>
                  <a:txBody>
                    <a:bodyPr/>
                    <a:lstStyle/>
                    <a:p>
                      <a:pPr algn="ctr"/>
                      <a:r>
                        <a:rPr lang="en-US" sz="1500" b="1" dirty="0">
                          <a:solidFill>
                            <a:srgbClr val="0D9488"/>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extLst>
                  <a:ext uri="{0D108BD9-81ED-4DB2-BD59-A6C34878D82A}">
                    <a16:rowId xmlns:a16="http://schemas.microsoft.com/office/drawing/2014/main" val="10003"/>
                  </a:ext>
                </a:extLst>
              </a:tr>
              <a:tr h="520000">
                <a:tc>
                  <a:txBody>
                    <a:bodyPr/>
                    <a:lstStyle/>
                    <a:p>
                      <a:pPr algn="ctr"/>
                      <a:r>
                        <a:rPr lang="en-US" sz="1400" b="1" dirty="0">
                          <a:solidFill>
                            <a:srgbClr val="1F2937"/>
                          </a:solidFill>
                          <a:latin typeface="Calibri" pitchFamily="34" charset="0"/>
                          <a:ea typeface="Calibri" pitchFamily="34" charset="-122"/>
                          <a:cs typeface="Calibri" pitchFamily="34" charset="-120"/>
                        </a:rPr>
                        <a:t>1</a:t>
                      </a:r>
                    </a:p>
                  </a:txBody>
                  <a:tcPr marL="82296" marR="82296" marT="27432" marB="27432" anchor="ctr">
                    <a:solidFill>
                      <a:srgbClr val="FFFFFF"/>
                    </a:solidFill>
                  </a:tcPr>
                </a:tc>
                <a:tc>
                  <a:txBody>
                    <a:bodyPr/>
                    <a:lstStyle/>
                    <a:p>
                      <a:pPr algn="ctr"/>
                      <a:r>
                        <a:rPr lang="en-US" sz="1400" b="1" dirty="0">
                          <a:solidFill>
                            <a:srgbClr val="0D9488"/>
                          </a:solidFill>
                          <a:latin typeface="Cambria Math" pitchFamily="34" charset="0"/>
                          <a:ea typeface="Cambria Math" pitchFamily="34" charset="-122"/>
                          <a:cs typeface="Cambria Math" pitchFamily="34" charset="-120"/>
                        </a:rPr>
                        <a:t>×</a:t>
                      </a:r>
                    </a:p>
                  </a:txBody>
                  <a:tcPr marL="82296" marR="82296" marT="27432" marB="27432" anchor="ctr">
                    <a:solidFill>
                      <a:srgbClr val="CCFBF1"/>
                    </a:solidFill>
                  </a:tcPr>
                </a:tc>
                <a:tc>
                  <a:txBody>
                    <a:bodyPr/>
                    <a:lstStyle/>
                    <a:p>
                      <a:pPr algn="ctr"/>
                      <a:r>
                        <a:rPr lang="en-US" sz="1500" b="1" dirty="0">
                          <a:solidFill>
                            <a:srgbClr val="0D9488"/>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17" name="Text 17"/>
          <p:cNvSpPr/>
          <p:nvPr/>
        </p:nvSpPr>
        <p:spPr>
          <a:xfrm>
            <a:off x="6300000" y="2760000"/>
            <a:ext cx="49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Alice prepares one photon per bit</a:t>
            </a:r>
          </a:p>
        </p:txBody>
      </p:sp>
      <p:sp>
        <p:nvSpPr>
          <p:cNvPr id="18" name="src"/>
          <p:cNvSpPr/>
          <p:nvPr/>
        </p:nvSpPr>
        <p:spPr>
          <a:xfrm>
            <a:off x="6450000" y="3560000"/>
            <a:ext cx="1450000" cy="900000"/>
          </a:xfrm>
          <a:prstGeom prst="roundRect">
            <a:avLst>
              <a:gd name="adj" fmla="val 8000"/>
            </a:avLst>
          </a:prstGeom>
          <a:solidFill>
            <a:srgbClr val="EEF2FF"/>
          </a:solidFill>
          <a:ln w="19050">
            <a:solidFill>
              <a:srgbClr val="3730A3"/>
            </a:solidFill>
            <a:prstDash val="solid"/>
          </a:ln>
        </p:spPr>
        <p:txBody>
          <a:bodyPr/>
          <a:lstStyle/>
          <a:p>
            <a:endParaRPr lang="en-US"/>
          </a:p>
        </p:txBody>
      </p:sp>
      <p:sp>
        <p:nvSpPr>
          <p:cNvPr id="19" name="Text 19"/>
          <p:cNvSpPr/>
          <p:nvPr/>
        </p:nvSpPr>
        <p:spPr>
          <a:xfrm>
            <a:off x="6450000" y="3560000"/>
            <a:ext cx="1450000" cy="900000"/>
          </a:xfrm>
          <a:prstGeom prst="rect">
            <a:avLst/>
          </a:prstGeom>
          <a:noFill/>
          <a:ln/>
        </p:spPr>
        <p:txBody>
          <a:bodyPr wrap="square" lIns="45720" tIns="0" rIns="45720" bIns="0" rtlCol="0" anchor="ctr"/>
          <a:lstStyle/>
          <a:p>
            <a:pPr marL="0" indent="0" algn="ctr">
              <a:spcAft>
                <a:spcPts val="70"/>
              </a:spcAft>
              <a:buNone/>
            </a:pPr>
            <a:r>
              <a:rPr lang="en-US" sz="1400" b="1">
                <a:solidFill>
                  <a:srgbClr val="3730A3"/>
                </a:solidFill>
                <a:latin typeface="Calibri" pitchFamily="34" charset="0"/>
                <a:ea typeface="Calibri" pitchFamily="34" charset="-122"/>
                <a:cs typeface="Calibri" pitchFamily="34" charset="-120"/>
              </a:rPr>
              <a:t>Alice</a:t>
            </a:r>
          </a:p>
          <a:p>
            <a:pPr marL="0" indent="0" algn="ctr">
              <a:buNone/>
            </a:pPr>
            <a:r>
              <a:rPr lang="en-US" sz="1100">
                <a:solidFill>
                  <a:srgbClr val="475569"/>
                </a:solidFill>
                <a:latin typeface="Calibri" pitchFamily="34" charset="0"/>
                <a:ea typeface="Calibri" pitchFamily="34" charset="-122"/>
                <a:cs typeface="Calibri" pitchFamily="34" charset="-120"/>
              </a:rPr>
              <a:t>source</a:t>
            </a:r>
          </a:p>
        </p:txBody>
      </p:sp>
      <p:sp>
        <p:nvSpPr>
          <p:cNvPr id="20" name="axis"/>
          <p:cNvSpPr/>
          <p:nvPr/>
        </p:nvSpPr>
        <p:spPr>
          <a:xfrm>
            <a:off x="7980000" y="4010000"/>
            <a:ext cx="3400000" cy="0"/>
          </a:xfrm>
          <a:prstGeom prst="line">
            <a:avLst/>
          </a:prstGeom>
          <a:ln w="25400">
            <a:solidFill>
              <a:srgbClr val="475569"/>
            </a:solidFill>
            <a:prstDash val="solid"/>
            <a:tailEnd type="triangle" w="med" len="med"/>
          </a:ln>
        </p:spPr>
        <p:txBody>
          <a:bodyPr/>
          <a:lstStyle/>
          <a:p>
            <a:endParaRPr lang="en-US"/>
          </a:p>
        </p:txBody>
      </p:sp>
      <p:sp>
        <p:nvSpPr>
          <p:cNvPr id="21" name="dot"/>
          <p:cNvSpPr/>
          <p:nvPr/>
        </p:nvSpPr>
        <p:spPr>
          <a:xfrm>
            <a:off x="8325000" y="3915000"/>
            <a:ext cx="190000" cy="190000"/>
          </a:xfrm>
          <a:prstGeom prst="ellipse">
            <a:avLst/>
          </a:prstGeom>
          <a:solidFill>
            <a:srgbClr val="3730A3"/>
          </a:solidFill>
          <a:ln w="9525">
            <a:solidFill>
              <a:srgbClr val="FFFFFF"/>
            </a:solidFill>
            <a:prstDash val="solid"/>
          </a:ln>
        </p:spPr>
        <p:txBody>
          <a:bodyPr/>
          <a:lstStyle/>
          <a:p>
            <a:endParaRPr lang="en-US"/>
          </a:p>
        </p:txBody>
      </p:sp>
      <p:sp>
        <p:nvSpPr>
          <p:cNvPr id="22" name="dot"/>
          <p:cNvSpPr/>
          <p:nvPr/>
        </p:nvSpPr>
        <p:spPr>
          <a:xfrm>
            <a:off x="9205000" y="3915000"/>
            <a:ext cx="190000" cy="190000"/>
          </a:xfrm>
          <a:prstGeom prst="ellipse">
            <a:avLst/>
          </a:prstGeom>
          <a:solidFill>
            <a:srgbClr val="0D9488"/>
          </a:solidFill>
          <a:ln w="9525">
            <a:solidFill>
              <a:srgbClr val="FFFFFF"/>
            </a:solidFill>
            <a:prstDash val="solid"/>
          </a:ln>
        </p:spPr>
        <p:txBody>
          <a:bodyPr/>
          <a:lstStyle/>
          <a:p>
            <a:endParaRPr lang="en-US"/>
          </a:p>
        </p:txBody>
      </p:sp>
      <p:sp>
        <p:nvSpPr>
          <p:cNvPr id="23" name="dot"/>
          <p:cNvSpPr/>
          <p:nvPr/>
        </p:nvSpPr>
        <p:spPr>
          <a:xfrm>
            <a:off x="10085000" y="3915000"/>
            <a:ext cx="190000" cy="190000"/>
          </a:xfrm>
          <a:prstGeom prst="ellipse">
            <a:avLst/>
          </a:prstGeom>
          <a:solidFill>
            <a:srgbClr val="3730A3"/>
          </a:solidFill>
          <a:ln w="9525">
            <a:solidFill>
              <a:srgbClr val="FFFFFF"/>
            </a:solidFill>
            <a:prstDash val="solid"/>
          </a:ln>
        </p:spPr>
        <p:txBody>
          <a:bodyPr/>
          <a:lstStyle/>
          <a:p>
            <a:endParaRPr lang="en-US"/>
          </a:p>
        </p:txBody>
      </p:sp>
      <p:sp>
        <p:nvSpPr>
          <p:cNvPr id="24" name="dot"/>
          <p:cNvSpPr/>
          <p:nvPr/>
        </p:nvSpPr>
        <p:spPr>
          <a:xfrm>
            <a:off x="10965000" y="3915000"/>
            <a:ext cx="190000" cy="190000"/>
          </a:xfrm>
          <a:prstGeom prst="ellipse">
            <a:avLst/>
          </a:prstGeom>
          <a:solidFill>
            <a:srgbClr val="0D9488"/>
          </a:solidFill>
          <a:ln w="9525">
            <a:solidFill>
              <a:srgbClr val="FFFFFF"/>
            </a:solidFill>
            <a:prstDash val="solid"/>
          </a:ln>
        </p:spPr>
        <p:txBody>
          <a:bodyPr/>
          <a:lstStyle/>
          <a:p>
            <a:endParaRPr lang="en-US"/>
          </a:p>
        </p:txBody>
      </p:sp>
      <p:sp>
        <p:nvSpPr>
          <p:cNvPr id="25" name="Text 25"/>
          <p:cNvSpPr/>
          <p:nvPr/>
        </p:nvSpPr>
        <p:spPr>
          <a:xfrm>
            <a:off x="7900000" y="4190000"/>
            <a:ext cx="3900000" cy="300000"/>
          </a:xfrm>
          <a:prstGeom prst="rect">
            <a:avLst/>
          </a:prstGeom>
          <a:noFill/>
          <a:ln/>
        </p:spPr>
        <p:txBody>
          <a:bodyPr wrap="square" lIns="45720" tIns="0" rIns="45720" bIns="0" rtlCol="0" anchor="t"/>
          <a:lstStyle/>
          <a:p>
            <a:pPr marL="0" indent="0" algn="ctr">
              <a:buNone/>
            </a:pPr>
            <a:r>
              <a:rPr lang="en-US" sz="1200" b="1">
                <a:solidFill>
                  <a:srgbClr val="475569"/>
                </a:solidFill>
                <a:latin typeface="Calibri" pitchFamily="34" charset="0"/>
                <a:ea typeface="Calibri" pitchFamily="34" charset="-122"/>
                <a:cs typeface="Calibri" pitchFamily="34" charset="-120"/>
              </a:rPr>
              <a:t>photons → to Bob</a:t>
            </a:r>
          </a:p>
        </p:txBody>
      </p:sp>
      <p:sp>
        <p:nvSpPr>
          <p:cNvPr id="26" name="ke"/>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a:lstStyle/>
          <a:p>
            <a:endParaRPr lang="en-US"/>
          </a:p>
        </p:txBody>
      </p:sp>
      <p:sp>
        <p:nvSpPr>
          <p:cNvPr id="27" name="Text 27"/>
          <p:cNvSpPr/>
          <p:nvPr/>
        </p:nvSpPr>
        <p:spPr>
          <a:xfrm>
            <a:off x="731520" y="5680000"/>
            <a:ext cx="10728960" cy="56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The same bit maps to different states depending on the chosen basis.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Bob's Measurement Strategy</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node"/>
          <p:cNvSpPr/>
          <p:nvPr/>
        </p:nvSpPr>
        <p:spPr>
          <a:xfrm>
            <a:off x="731520" y="1620000"/>
            <a:ext cx="2280000" cy="760000"/>
          </a:xfrm>
          <a:prstGeom prst="roundRect">
            <a:avLst>
              <a:gd name="adj" fmla="val 9000"/>
            </a:avLst>
          </a:prstGeom>
          <a:solidFill>
            <a:srgbClr val="EEF2FF"/>
          </a:solidFill>
          <a:ln w="15875">
            <a:solidFill>
              <a:srgbClr val="3730A3"/>
            </a:solidFill>
            <a:prstDash val="solid"/>
          </a:ln>
        </p:spPr>
        <p:txBody>
          <a:bodyPr/>
          <a:lstStyle/>
          <a:p>
            <a:endParaRPr lang="en-US"/>
          </a:p>
        </p:txBody>
      </p:sp>
      <p:sp>
        <p:nvSpPr>
          <p:cNvPr id="5" name="Text 5"/>
          <p:cNvSpPr/>
          <p:nvPr/>
        </p:nvSpPr>
        <p:spPr>
          <a:xfrm>
            <a:off x="731520" y="1620000"/>
            <a:ext cx="2280000" cy="76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1. Incoming photon</a:t>
            </a:r>
          </a:p>
        </p:txBody>
      </p:sp>
      <p:sp>
        <p:nvSpPr>
          <p:cNvPr id="6" name="node"/>
          <p:cNvSpPr/>
          <p:nvPr/>
        </p:nvSpPr>
        <p:spPr>
          <a:xfrm>
            <a:off x="3547840" y="1620000"/>
            <a:ext cx="2280000" cy="760000"/>
          </a:xfrm>
          <a:prstGeom prst="roundRect">
            <a:avLst>
              <a:gd name="adj" fmla="val 9000"/>
            </a:avLst>
          </a:prstGeom>
          <a:solidFill>
            <a:srgbClr val="CCFBF1"/>
          </a:solidFill>
          <a:ln w="15875">
            <a:solidFill>
              <a:srgbClr val="0D9488"/>
            </a:solidFill>
            <a:prstDash val="solid"/>
          </a:ln>
        </p:spPr>
        <p:txBody>
          <a:bodyPr/>
          <a:lstStyle/>
          <a:p>
            <a:endParaRPr lang="en-US"/>
          </a:p>
        </p:txBody>
      </p:sp>
      <p:sp>
        <p:nvSpPr>
          <p:cNvPr id="7" name="Text 7"/>
          <p:cNvSpPr/>
          <p:nvPr/>
        </p:nvSpPr>
        <p:spPr>
          <a:xfrm>
            <a:off x="3547840" y="1620000"/>
            <a:ext cx="2280000" cy="76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2. Random basis</a:t>
            </a:r>
          </a:p>
        </p:txBody>
      </p:sp>
      <p:sp>
        <p:nvSpPr>
          <p:cNvPr id="8" name="node"/>
          <p:cNvSpPr/>
          <p:nvPr/>
        </p:nvSpPr>
        <p:spPr>
          <a:xfrm>
            <a:off x="6364160" y="1620000"/>
            <a:ext cx="2280000" cy="760000"/>
          </a:xfrm>
          <a:prstGeom prst="roundRect">
            <a:avLst>
              <a:gd name="adj" fmla="val 9000"/>
            </a:avLst>
          </a:prstGeom>
          <a:solidFill>
            <a:srgbClr val="EEF2FF"/>
          </a:solidFill>
          <a:ln w="15875">
            <a:solidFill>
              <a:srgbClr val="3730A3"/>
            </a:solidFill>
            <a:prstDash val="solid"/>
          </a:ln>
        </p:spPr>
        <p:txBody>
          <a:bodyPr/>
          <a:lstStyle/>
          <a:p>
            <a:endParaRPr lang="en-US"/>
          </a:p>
        </p:txBody>
      </p:sp>
      <p:sp>
        <p:nvSpPr>
          <p:cNvPr id="9" name="Text 9"/>
          <p:cNvSpPr/>
          <p:nvPr/>
        </p:nvSpPr>
        <p:spPr>
          <a:xfrm>
            <a:off x="6364160" y="1620000"/>
            <a:ext cx="2280000" cy="760000"/>
          </a:xfrm>
          <a:prstGeom prst="rect">
            <a:avLst/>
          </a:prstGeom>
          <a:noFill/>
          <a:ln/>
        </p:spPr>
        <p:txBody>
          <a:bodyPr wrap="square" lIns="45720" tIns="0" rIns="45720" bIns="0" rtlCol="0" anchor="ctr"/>
          <a:lstStyle/>
          <a:p>
            <a:pPr marL="0" indent="0" algn="ctr">
              <a:buNone/>
            </a:pPr>
            <a:r>
              <a:rPr lang="en-US" sz="1400" b="1">
                <a:solidFill>
                  <a:srgbClr val="3730A3"/>
                </a:solidFill>
                <a:latin typeface="Calibri" pitchFamily="34" charset="0"/>
                <a:ea typeface="Calibri" pitchFamily="34" charset="-122"/>
                <a:cs typeface="Calibri" pitchFamily="34" charset="-120"/>
              </a:rPr>
              <a:t>3. Measurement</a:t>
            </a:r>
          </a:p>
        </p:txBody>
      </p:sp>
      <p:sp>
        <p:nvSpPr>
          <p:cNvPr id="10" name="node"/>
          <p:cNvSpPr/>
          <p:nvPr/>
        </p:nvSpPr>
        <p:spPr>
          <a:xfrm>
            <a:off x="9180480" y="1620000"/>
            <a:ext cx="2280000" cy="760000"/>
          </a:xfrm>
          <a:prstGeom prst="roundRect">
            <a:avLst>
              <a:gd name="adj" fmla="val 9000"/>
            </a:avLst>
          </a:prstGeom>
          <a:solidFill>
            <a:srgbClr val="CCFBF1"/>
          </a:solidFill>
          <a:ln w="15875">
            <a:solidFill>
              <a:srgbClr val="0D9488"/>
            </a:solidFill>
            <a:prstDash val="solid"/>
          </a:ln>
        </p:spPr>
        <p:txBody>
          <a:bodyPr/>
          <a:lstStyle/>
          <a:p>
            <a:endParaRPr lang="en-US"/>
          </a:p>
        </p:txBody>
      </p:sp>
      <p:sp>
        <p:nvSpPr>
          <p:cNvPr id="11" name="Text 11"/>
          <p:cNvSpPr/>
          <p:nvPr/>
        </p:nvSpPr>
        <p:spPr>
          <a:xfrm>
            <a:off x="9180480" y="1620000"/>
            <a:ext cx="2280000" cy="760000"/>
          </a:xfrm>
          <a:prstGeom prst="rect">
            <a:avLst/>
          </a:prstGeom>
          <a:noFill/>
          <a:ln/>
        </p:spPr>
        <p:txBody>
          <a:bodyPr wrap="square" lIns="45720" tIns="0" rIns="45720" bIns="0" rtlCol="0" anchor="ctr"/>
          <a:lstStyle/>
          <a:p>
            <a:pPr marL="0" indent="0" algn="ctr">
              <a:buNone/>
            </a:pPr>
            <a:r>
              <a:rPr lang="en-US" sz="1400" b="1">
                <a:solidFill>
                  <a:srgbClr val="0D9488"/>
                </a:solidFill>
                <a:latin typeface="Calibri" pitchFamily="34" charset="0"/>
                <a:ea typeface="Calibri" pitchFamily="34" charset="-122"/>
                <a:cs typeface="Calibri" pitchFamily="34" charset="-120"/>
              </a:rPr>
              <a:t>4. Store result</a:t>
            </a:r>
          </a:p>
        </p:txBody>
      </p:sp>
      <p:sp>
        <p:nvSpPr>
          <p:cNvPr id="12" name="axis"/>
          <p:cNvSpPr/>
          <p:nvPr/>
        </p:nvSpPr>
        <p:spPr>
          <a:xfrm>
            <a:off x="3041520" y="2000000"/>
            <a:ext cx="476320" cy="0"/>
          </a:xfrm>
          <a:prstGeom prst="line">
            <a:avLst/>
          </a:prstGeom>
          <a:ln w="28575">
            <a:solidFill>
              <a:srgbClr val="475569"/>
            </a:solidFill>
            <a:prstDash val="solid"/>
            <a:tailEnd type="triangle" w="med" len="med"/>
          </a:ln>
        </p:spPr>
        <p:txBody>
          <a:bodyPr/>
          <a:lstStyle/>
          <a:p>
            <a:endParaRPr lang="en-US"/>
          </a:p>
        </p:txBody>
      </p:sp>
      <p:sp>
        <p:nvSpPr>
          <p:cNvPr id="13" name="axis"/>
          <p:cNvSpPr/>
          <p:nvPr/>
        </p:nvSpPr>
        <p:spPr>
          <a:xfrm>
            <a:off x="5857840" y="2000000"/>
            <a:ext cx="476320" cy="0"/>
          </a:xfrm>
          <a:prstGeom prst="line">
            <a:avLst/>
          </a:prstGeom>
          <a:ln w="28575">
            <a:solidFill>
              <a:srgbClr val="475569"/>
            </a:solidFill>
            <a:prstDash val="solid"/>
            <a:tailEnd type="triangle" w="med" len="med"/>
          </a:ln>
        </p:spPr>
        <p:txBody>
          <a:bodyPr/>
          <a:lstStyle/>
          <a:p>
            <a:endParaRPr lang="en-US"/>
          </a:p>
        </p:txBody>
      </p:sp>
      <p:sp>
        <p:nvSpPr>
          <p:cNvPr id="14" name="axis"/>
          <p:cNvSpPr/>
          <p:nvPr/>
        </p:nvSpPr>
        <p:spPr>
          <a:xfrm>
            <a:off x="8674160" y="2000000"/>
            <a:ext cx="476320" cy="0"/>
          </a:xfrm>
          <a:prstGeom prst="line">
            <a:avLst/>
          </a:prstGeom>
          <a:ln w="28575">
            <a:solidFill>
              <a:srgbClr val="475569"/>
            </a:solidFill>
            <a:prstDash val="solid"/>
            <a:tailEnd type="triangle" w="med" len="med"/>
          </a:ln>
        </p:spPr>
        <p:txBody>
          <a:bodyPr/>
          <a:lstStyle/>
          <a:p>
            <a:endParaRPr lang="en-US"/>
          </a:p>
        </p:txBody>
      </p:sp>
      <p:sp>
        <p:nvSpPr>
          <p:cNvPr id="15" name="Text 15"/>
          <p:cNvSpPr/>
          <p:nvPr/>
        </p:nvSpPr>
        <p:spPr>
          <a:xfrm>
            <a:off x="731520" y="2820000"/>
            <a:ext cx="49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Four possible cases</a:t>
            </a:r>
          </a:p>
        </p:txBody>
      </p:sp>
      <p:graphicFrame>
        <p:nvGraphicFramePr>
          <p:cNvPr id="16" name="Cases table"/>
          <p:cNvGraphicFramePr>
            <a:graphicFrameLocks noGrp="1"/>
          </p:cNvGraphicFramePr>
          <p:nvPr>
            <p:extLst>
              <p:ext uri="{D42A27DB-BD31-4B8C-83A1-F6EECF244321}">
                <p14:modId xmlns:p14="http://schemas.microsoft.com/office/powerpoint/2010/main" val="1992234744"/>
              </p:ext>
            </p:extLst>
          </p:nvPr>
        </p:nvGraphicFramePr>
        <p:xfrm>
          <a:off x="731520" y="3140000"/>
          <a:ext cx="5100000" cy="2500000"/>
        </p:xfrm>
        <a:graphic>
          <a:graphicData uri="http://schemas.openxmlformats.org/drawingml/2006/table">
            <a:tbl>
              <a:tblPr firstRow="1" bandRow="1"/>
              <a:tblGrid>
                <a:gridCol w="16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tblGrid>
              <a:tr h="460000">
                <a:tc>
                  <a:txBody>
                    <a:bodyPr/>
                    <a:lstStyle/>
                    <a:p>
                      <a:pPr algn="ctr"/>
                      <a:r>
                        <a:rPr lang="en-US" sz="1300" b="1" dirty="0">
                          <a:solidFill>
                            <a:srgbClr val="FFFFFF"/>
                          </a:solidFill>
                          <a:latin typeface="Calibri" pitchFamily="34" charset="0"/>
                          <a:ea typeface="Calibri" pitchFamily="34" charset="-122"/>
                          <a:cs typeface="Calibri" pitchFamily="34" charset="-120"/>
                        </a:rPr>
                        <a:t>Alice basis</a:t>
                      </a:r>
                    </a:p>
                  </a:txBody>
                  <a:tcPr marL="82296" marR="82296" marT="27432" marB="27432" anchor="ctr">
                    <a:solidFill>
                      <a:srgbClr val="3730A3"/>
                    </a:solidFill>
                  </a:tcPr>
                </a:tc>
                <a:tc>
                  <a:txBody>
                    <a:bodyPr/>
                    <a:lstStyle/>
                    <a:p>
                      <a:pPr algn="ctr"/>
                      <a:r>
                        <a:rPr lang="en-US" sz="1300" b="1" dirty="0">
                          <a:solidFill>
                            <a:srgbClr val="FFFFFF"/>
                          </a:solidFill>
                          <a:latin typeface="Calibri" pitchFamily="34" charset="0"/>
                          <a:ea typeface="Calibri" pitchFamily="34" charset="-122"/>
                          <a:cs typeface="Calibri" pitchFamily="34" charset="-120"/>
                        </a:rPr>
                        <a:t>Bob basis</a:t>
                      </a:r>
                    </a:p>
                  </a:txBody>
                  <a:tcPr marL="82296" marR="82296" marT="27432" marB="27432" anchor="ctr">
                    <a:solidFill>
                      <a:srgbClr val="3730A3"/>
                    </a:solidFill>
                  </a:tcPr>
                </a:tc>
                <a:tc>
                  <a:txBody>
                    <a:bodyPr/>
                    <a:lstStyle/>
                    <a:p>
                      <a:pPr algn="ctr"/>
                      <a:r>
                        <a:rPr lang="en-US" sz="1300" b="1" dirty="0">
                          <a:solidFill>
                            <a:srgbClr val="FFFFFF"/>
                          </a:solidFill>
                          <a:latin typeface="Calibri" pitchFamily="34" charset="0"/>
                          <a:ea typeface="Calibri" pitchFamily="34" charset="-122"/>
                          <a:cs typeface="Calibri" pitchFamily="34" charset="-120"/>
                        </a:rPr>
                        <a:t>Result</a:t>
                      </a:r>
                    </a:p>
                  </a:txBody>
                  <a:tcPr marL="82296" marR="82296" marT="27432" marB="27432" anchor="ctr">
                    <a:solidFill>
                      <a:srgbClr val="3730A3"/>
                    </a:solidFill>
                  </a:tcPr>
                </a:tc>
                <a:extLst>
                  <a:ext uri="{0D108BD9-81ED-4DB2-BD59-A6C34878D82A}">
                    <a16:rowId xmlns:a16="http://schemas.microsoft.com/office/drawing/2014/main" val="10000"/>
                  </a:ext>
                </a:extLst>
              </a:tr>
              <a:tr h="510000">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300" b="1" dirty="0">
                          <a:solidFill>
                            <a:srgbClr val="0D9488"/>
                          </a:solidFill>
                          <a:latin typeface="Calibri" pitchFamily="34" charset="0"/>
                          <a:ea typeface="Calibri" pitchFamily="34" charset="-122"/>
                          <a:cs typeface="Calibri" pitchFamily="34" charset="-120"/>
                        </a:rPr>
                        <a:t>Correct</a:t>
                      </a:r>
                    </a:p>
                  </a:txBody>
                  <a:tcPr marL="82296" marR="82296" marT="27432" marB="27432" anchor="ctr">
                    <a:solidFill>
                      <a:srgbClr val="CCFBF1"/>
                    </a:solidFill>
                  </a:tcPr>
                </a:tc>
                <a:extLst>
                  <a:ext uri="{0D108BD9-81ED-4DB2-BD59-A6C34878D82A}">
                    <a16:rowId xmlns:a16="http://schemas.microsoft.com/office/drawing/2014/main" val="10001"/>
                  </a:ext>
                </a:extLst>
              </a:tr>
              <a:tr h="510000">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300" b="1" dirty="0">
                          <a:solidFill>
                            <a:srgbClr val="0D9488"/>
                          </a:solidFill>
                          <a:latin typeface="Calibri" pitchFamily="34" charset="0"/>
                          <a:ea typeface="Calibri" pitchFamily="34" charset="-122"/>
                          <a:cs typeface="Calibri" pitchFamily="34" charset="-120"/>
                        </a:rPr>
                        <a:t>Correct</a:t>
                      </a:r>
                    </a:p>
                  </a:txBody>
                  <a:tcPr marL="82296" marR="82296" marT="27432" marB="27432" anchor="ctr">
                    <a:solidFill>
                      <a:srgbClr val="CCFBF1"/>
                    </a:solidFill>
                  </a:tcPr>
                </a:tc>
                <a:extLst>
                  <a:ext uri="{0D108BD9-81ED-4DB2-BD59-A6C34878D82A}">
                    <a16:rowId xmlns:a16="http://schemas.microsoft.com/office/drawing/2014/main" val="10002"/>
                  </a:ext>
                </a:extLst>
              </a:tr>
              <a:tr h="510000">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300" b="1" dirty="0">
                          <a:solidFill>
                            <a:srgbClr val="B45309"/>
                          </a:solidFill>
                          <a:latin typeface="Calibri" pitchFamily="34" charset="0"/>
                          <a:ea typeface="Calibri" pitchFamily="34" charset="-122"/>
                          <a:cs typeface="Calibri" pitchFamily="34" charset="-120"/>
                        </a:rPr>
                        <a:t>Random</a:t>
                      </a:r>
                    </a:p>
                  </a:txBody>
                  <a:tcPr marL="82296" marR="82296" marT="27432" marB="27432" anchor="ctr">
                    <a:solidFill>
                      <a:srgbClr val="FEF3C7"/>
                    </a:solidFill>
                  </a:tcPr>
                </a:tc>
                <a:extLst>
                  <a:ext uri="{0D108BD9-81ED-4DB2-BD59-A6C34878D82A}">
                    <a16:rowId xmlns:a16="http://schemas.microsoft.com/office/drawing/2014/main" val="10003"/>
                  </a:ext>
                </a:extLst>
              </a:tr>
              <a:tr h="510000">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5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300" b="1" dirty="0">
                          <a:solidFill>
                            <a:srgbClr val="B45309"/>
                          </a:solidFill>
                          <a:latin typeface="Calibri" pitchFamily="34" charset="0"/>
                          <a:ea typeface="Calibri" pitchFamily="34" charset="-122"/>
                          <a:cs typeface="Calibri" pitchFamily="34" charset="-120"/>
                        </a:rPr>
                        <a:t>Random</a:t>
                      </a:r>
                    </a:p>
                  </a:txBody>
                  <a:tcPr marL="82296" marR="82296" marT="27432" marB="27432" anchor="ctr">
                    <a:solidFill>
                      <a:srgbClr val="FEF3C7"/>
                    </a:solidFill>
                  </a:tcPr>
                </a:tc>
                <a:extLst>
                  <a:ext uri="{0D108BD9-81ED-4DB2-BD59-A6C34878D82A}">
                    <a16:rowId xmlns:a16="http://schemas.microsoft.com/office/drawing/2014/main" val="10004"/>
                  </a:ext>
                </a:extLst>
              </a:tr>
            </a:tbl>
          </a:graphicData>
        </a:graphic>
      </p:graphicFrame>
      <p:sp>
        <p:nvSpPr>
          <p:cNvPr id="17" name="Text 17"/>
          <p:cNvSpPr/>
          <p:nvPr/>
        </p:nvSpPr>
        <p:spPr>
          <a:xfrm>
            <a:off x="6600000" y="2820000"/>
            <a:ext cx="486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Why the outcome differs</a:t>
            </a:r>
          </a:p>
        </p:txBody>
      </p:sp>
      <p:sp>
        <p:nvSpPr>
          <p:cNvPr id="18" name="case"/>
          <p:cNvSpPr/>
          <p:nvPr/>
        </p:nvSpPr>
        <p:spPr>
          <a:xfrm>
            <a:off x="6600000" y="3140000"/>
            <a:ext cx="4860000" cy="1080000"/>
          </a:xfrm>
          <a:prstGeom prst="roundRect">
            <a:avLst>
              <a:gd name="adj" fmla="val 7000"/>
            </a:avLst>
          </a:prstGeom>
          <a:solidFill>
            <a:srgbClr val="CCFBF1"/>
          </a:solidFill>
          <a:ln w="19050">
            <a:solidFill>
              <a:srgbClr val="0D9488"/>
            </a:solidFill>
            <a:prstDash val="solid"/>
          </a:ln>
        </p:spPr>
        <p:txBody>
          <a:bodyPr/>
          <a:lstStyle/>
          <a:p>
            <a:endParaRPr lang="en-US"/>
          </a:p>
        </p:txBody>
      </p:sp>
      <p:sp>
        <p:nvSpPr>
          <p:cNvPr id="19" name="Text 19"/>
          <p:cNvSpPr/>
          <p:nvPr/>
        </p:nvSpPr>
        <p:spPr>
          <a:xfrm>
            <a:off x="6860000" y="3140000"/>
            <a:ext cx="4400000" cy="1080000"/>
          </a:xfrm>
          <a:prstGeom prst="rect">
            <a:avLst/>
          </a:prstGeom>
          <a:noFill/>
          <a:ln/>
        </p:spPr>
        <p:txBody>
          <a:bodyPr wrap="square" lIns="45720" tIns="0" rIns="45720" bIns="0" rtlCol="0" anchor="ctr"/>
          <a:lstStyle/>
          <a:p>
            <a:pPr marL="0" indent="0" algn="l">
              <a:spcAft>
                <a:spcPts val="90"/>
              </a:spcAft>
              <a:buNone/>
            </a:pPr>
            <a:r>
              <a:rPr lang="en-US" sz="1500" b="1">
                <a:solidFill>
                  <a:srgbClr val="0D9488"/>
                </a:solidFill>
                <a:latin typeface="Calibri" pitchFamily="34" charset="0"/>
                <a:ea typeface="Calibri" pitchFamily="34" charset="-122"/>
                <a:cs typeface="Calibri" pitchFamily="34" charset="-120"/>
              </a:rPr>
              <a:t>Same basis</a:t>
            </a:r>
          </a:p>
          <a:p>
            <a:pPr marL="0" indent="0" algn="l">
              <a:buNone/>
            </a:pPr>
            <a:r>
              <a:rPr lang="en-US" sz="1300">
                <a:solidFill>
                  <a:srgbClr val="1F2937"/>
                </a:solidFill>
                <a:latin typeface="Calibri" pitchFamily="34" charset="0"/>
                <a:ea typeface="Calibri" pitchFamily="34" charset="-122"/>
                <a:cs typeface="Calibri" pitchFamily="34" charset="-120"/>
              </a:rPr>
              <a:t>deterministic — Bob recovers Alice's exact bit.</a:t>
            </a:r>
          </a:p>
        </p:txBody>
      </p:sp>
      <p:sp>
        <p:nvSpPr>
          <p:cNvPr id="20" name="case"/>
          <p:cNvSpPr/>
          <p:nvPr/>
        </p:nvSpPr>
        <p:spPr>
          <a:xfrm>
            <a:off x="6600000" y="4420000"/>
            <a:ext cx="4860000" cy="1080000"/>
          </a:xfrm>
          <a:prstGeom prst="roundRect">
            <a:avLst>
              <a:gd name="adj" fmla="val 7000"/>
            </a:avLst>
          </a:prstGeom>
          <a:solidFill>
            <a:srgbClr val="FEF3C7"/>
          </a:solidFill>
          <a:ln w="19050">
            <a:solidFill>
              <a:srgbClr val="B45309"/>
            </a:solidFill>
            <a:prstDash val="solid"/>
          </a:ln>
        </p:spPr>
        <p:txBody>
          <a:bodyPr/>
          <a:lstStyle/>
          <a:p>
            <a:endParaRPr lang="en-US"/>
          </a:p>
        </p:txBody>
      </p:sp>
      <p:sp>
        <p:nvSpPr>
          <p:cNvPr id="21" name="Text 21"/>
          <p:cNvSpPr/>
          <p:nvPr/>
        </p:nvSpPr>
        <p:spPr>
          <a:xfrm>
            <a:off x="6860000" y="4420000"/>
            <a:ext cx="4400000" cy="1080000"/>
          </a:xfrm>
          <a:prstGeom prst="rect">
            <a:avLst/>
          </a:prstGeom>
          <a:noFill/>
          <a:ln/>
        </p:spPr>
        <p:txBody>
          <a:bodyPr wrap="square" lIns="45720" tIns="0" rIns="45720" bIns="0" rtlCol="0" anchor="ctr"/>
          <a:lstStyle/>
          <a:p>
            <a:pPr marL="0" indent="0" algn="l">
              <a:spcAft>
                <a:spcPts val="90"/>
              </a:spcAft>
              <a:buNone/>
            </a:pPr>
            <a:r>
              <a:rPr lang="en-US" sz="1500" b="1">
                <a:solidFill>
                  <a:srgbClr val="B45309"/>
                </a:solidFill>
                <a:latin typeface="Calibri" pitchFamily="34" charset="0"/>
                <a:ea typeface="Calibri" pitchFamily="34" charset="-122"/>
                <a:cs typeface="Calibri" pitchFamily="34" charset="-120"/>
              </a:rPr>
              <a:t>Different basis</a:t>
            </a:r>
          </a:p>
          <a:p>
            <a:pPr marL="0" indent="0" algn="l">
              <a:buNone/>
            </a:pPr>
            <a:r>
              <a:rPr lang="en-US" sz="1300">
                <a:solidFill>
                  <a:srgbClr val="1F2937"/>
                </a:solidFill>
                <a:latin typeface="Calibri" pitchFamily="34" charset="0"/>
                <a:ea typeface="Calibri" pitchFamily="34" charset="-122"/>
                <a:cs typeface="Calibri" pitchFamily="34" charset="-120"/>
              </a:rPr>
              <a:t>projection onto the wrong axis gives a 50/50 random bit.</a:t>
            </a:r>
          </a:p>
        </p:txBody>
      </p:sp>
      <p:sp>
        <p:nvSpPr>
          <p:cNvPr id="22" name="bn"/>
          <p:cNvSpPr/>
          <p:nvPr/>
        </p:nvSpPr>
        <p:spPr>
          <a:xfrm>
            <a:off x="731520" y="5680000"/>
            <a:ext cx="10728960" cy="560000"/>
          </a:xfrm>
          <a:prstGeom prst="roundRect">
            <a:avLst>
              <a:gd name="adj" fmla="val 8000"/>
            </a:avLst>
          </a:prstGeom>
          <a:solidFill>
            <a:srgbClr val="EEF2FF"/>
          </a:solidFill>
          <a:ln w="19050">
            <a:solidFill>
              <a:srgbClr val="3730A3"/>
            </a:solidFill>
            <a:prstDash val="solid"/>
          </a:ln>
        </p:spPr>
        <p:txBody>
          <a:bodyPr/>
          <a:lstStyle/>
          <a:p>
            <a:endParaRPr lang="en-US"/>
          </a:p>
        </p:txBody>
      </p:sp>
      <p:sp>
        <p:nvSpPr>
          <p:cNvPr id="23" name="Text 23"/>
          <p:cNvSpPr/>
          <p:nvPr/>
        </p:nvSpPr>
        <p:spPr>
          <a:xfrm>
            <a:off x="731520" y="5680000"/>
            <a:ext cx="10728960" cy="560000"/>
          </a:xfrm>
          <a:prstGeom prst="rect">
            <a:avLst/>
          </a:prstGeom>
          <a:noFill/>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Bob also chooses his basis randomly — with no knowledge of Alice's choice.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10200000" cy="960120"/>
          </a:xfrm>
          <a:prstGeom prst="rect">
            <a:avLst/>
          </a:prstGeom>
          <a:noFill/>
          <a:ln/>
        </p:spPr>
        <p:txBody>
          <a:bodyPr wrap="square" lIns="0" tIns="0" rIns="0" bIns="0" rtlCol="0" anchor="ctr"/>
          <a:lstStyle/>
          <a:p>
            <a:pPr marL="0" indent="0" algn="l">
              <a:buNone/>
            </a:pPr>
            <a:r>
              <a:rPr lang="en-US" sz="3000" b="1">
                <a:solidFill>
                  <a:srgbClr val="3730A3"/>
                </a:solidFill>
                <a:latin typeface="Calibri" pitchFamily="34" charset="0"/>
                <a:ea typeface="Calibri" pitchFamily="34" charset="-122"/>
                <a:cs typeface="Calibri" pitchFamily="34" charset="-120"/>
              </a:rPr>
              <a:t>Basis Reconciliation (Sifting)</a:t>
            </a:r>
            <a:endParaRPr lang="en-US" sz="3000"/>
          </a:p>
        </p:txBody>
      </p:sp>
      <p:sp>
        <p:nvSpPr>
          <p:cNvPr id="3" name="Title accent rule"/>
          <p:cNvSpPr/>
          <p:nvPr/>
        </p:nvSpPr>
        <p:spPr>
          <a:xfrm>
            <a:off x="566928" y="1371600"/>
            <a:ext cx="2743200" cy="50292"/>
          </a:xfrm>
          <a:prstGeom prst="rect">
            <a:avLst/>
          </a:prstGeom>
          <a:solidFill>
            <a:srgbClr val="0D9488"/>
          </a:solidFill>
          <a:ln/>
        </p:spPr>
        <p:txBody>
          <a:bodyPr/>
          <a:lstStyle/>
          <a:p>
            <a:endParaRPr lang="en-US"/>
          </a:p>
        </p:txBody>
      </p:sp>
      <p:sp>
        <p:nvSpPr>
          <p:cNvPr id="4" name="Text 4"/>
          <p:cNvSpPr/>
          <p:nvPr/>
        </p:nvSpPr>
        <p:spPr>
          <a:xfrm>
            <a:off x="731520" y="1520000"/>
            <a:ext cx="47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How Alice and Bob agree</a:t>
            </a:r>
          </a:p>
        </p:txBody>
      </p:sp>
      <p:sp>
        <p:nvSpPr>
          <p:cNvPr id="5" name="step"/>
          <p:cNvSpPr/>
          <p:nvPr/>
        </p:nvSpPr>
        <p:spPr>
          <a:xfrm>
            <a:off x="731520" y="1860000"/>
            <a:ext cx="4700000" cy="520000"/>
          </a:xfrm>
          <a:prstGeom prst="roundRect">
            <a:avLst>
              <a:gd name="adj" fmla="val 8000"/>
            </a:avLst>
          </a:prstGeom>
          <a:solidFill>
            <a:srgbClr val="EEF2FF"/>
          </a:solidFill>
          <a:ln w="15875">
            <a:solidFill>
              <a:srgbClr val="3730A3"/>
            </a:solidFill>
            <a:prstDash val="solid"/>
          </a:ln>
        </p:spPr>
        <p:txBody>
          <a:bodyPr/>
          <a:lstStyle/>
          <a:p>
            <a:endParaRPr lang="en-US"/>
          </a:p>
        </p:txBody>
      </p:sp>
      <p:sp>
        <p:nvSpPr>
          <p:cNvPr id="6" name="dot"/>
          <p:cNvSpPr/>
          <p:nvPr/>
        </p:nvSpPr>
        <p:spPr>
          <a:xfrm>
            <a:off x="926520" y="2015000"/>
            <a:ext cx="210000" cy="210000"/>
          </a:xfrm>
          <a:prstGeom prst="ellipse">
            <a:avLst/>
          </a:prstGeom>
          <a:solidFill>
            <a:srgbClr val="3730A3"/>
          </a:solidFill>
          <a:ln w="9525">
            <a:solidFill>
              <a:srgbClr val="FFFFFF"/>
            </a:solidFill>
            <a:prstDash val="solid"/>
          </a:ln>
        </p:spPr>
        <p:txBody>
          <a:bodyPr/>
          <a:lstStyle/>
          <a:p>
            <a:endParaRPr lang="en-US"/>
          </a:p>
        </p:txBody>
      </p:sp>
      <p:sp>
        <p:nvSpPr>
          <p:cNvPr id="7" name="Text 7"/>
          <p:cNvSpPr/>
          <p:nvPr/>
        </p:nvSpPr>
        <p:spPr>
          <a:xfrm>
            <a:off x="926520" y="1860000"/>
            <a:ext cx="210000" cy="520000"/>
          </a:xfrm>
          <a:prstGeom prst="rect">
            <a:avLst/>
          </a:prstGeom>
          <a:noFill/>
          <a:ln/>
        </p:spPr>
        <p:txBody>
          <a:bodyPr wrap="square" lIns="45720" tIns="0" rIns="4572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1</a:t>
            </a:r>
          </a:p>
        </p:txBody>
      </p:sp>
      <p:sp>
        <p:nvSpPr>
          <p:cNvPr id="8" name="Text 8"/>
          <p:cNvSpPr/>
          <p:nvPr/>
        </p:nvSpPr>
        <p:spPr>
          <a:xfrm>
            <a:off x="1291520" y="1860000"/>
            <a:ext cx="4020000" cy="520000"/>
          </a:xfrm>
          <a:prstGeom prst="rect">
            <a:avLst/>
          </a:prstGeom>
          <a:noFill/>
          <a:ln/>
        </p:spPr>
        <p:txBody>
          <a:bodyPr wrap="square" lIns="45720" tIns="0" rIns="45720" bIns="0" rtlCol="0" anchor="ctr"/>
          <a:lstStyle/>
          <a:p>
            <a:pPr marL="0" indent="0" algn="l">
              <a:buNone/>
            </a:pPr>
            <a:r>
              <a:rPr lang="en-US" sz="1300" b="1">
                <a:solidFill>
                  <a:srgbClr val="1F2937"/>
                </a:solidFill>
                <a:latin typeface="Calibri" pitchFamily="34" charset="0"/>
                <a:ea typeface="Calibri" pitchFamily="34" charset="-122"/>
                <a:cs typeface="Calibri" pitchFamily="34" charset="-120"/>
              </a:rPr>
              <a:t>Alice announces her bases</a:t>
            </a:r>
          </a:p>
        </p:txBody>
      </p:sp>
      <p:sp>
        <p:nvSpPr>
          <p:cNvPr id="9" name="axis"/>
          <p:cNvSpPr/>
          <p:nvPr/>
        </p:nvSpPr>
        <p:spPr>
          <a:xfrm>
            <a:off x="1031520" y="2380000"/>
            <a:ext cx="0" cy="170000"/>
          </a:xfrm>
          <a:prstGeom prst="line">
            <a:avLst/>
          </a:prstGeom>
          <a:ln w="19050">
            <a:solidFill>
              <a:srgbClr val="3730A3"/>
            </a:solidFill>
            <a:prstDash val="solid"/>
            <a:tailEnd type="triangle" w="med" len="med"/>
          </a:ln>
        </p:spPr>
        <p:txBody>
          <a:bodyPr/>
          <a:lstStyle/>
          <a:p>
            <a:endParaRPr lang="en-US"/>
          </a:p>
        </p:txBody>
      </p:sp>
      <p:sp>
        <p:nvSpPr>
          <p:cNvPr id="10" name="step"/>
          <p:cNvSpPr/>
          <p:nvPr/>
        </p:nvSpPr>
        <p:spPr>
          <a:xfrm>
            <a:off x="731520" y="2550000"/>
            <a:ext cx="4700000" cy="520000"/>
          </a:xfrm>
          <a:prstGeom prst="roundRect">
            <a:avLst>
              <a:gd name="adj" fmla="val 8000"/>
            </a:avLst>
          </a:prstGeom>
          <a:solidFill>
            <a:srgbClr val="EEF2FF"/>
          </a:solidFill>
          <a:ln w="15875">
            <a:solidFill>
              <a:srgbClr val="3730A3"/>
            </a:solidFill>
            <a:prstDash val="solid"/>
          </a:ln>
        </p:spPr>
        <p:txBody>
          <a:bodyPr/>
          <a:lstStyle/>
          <a:p>
            <a:endParaRPr lang="en-US"/>
          </a:p>
        </p:txBody>
      </p:sp>
      <p:sp>
        <p:nvSpPr>
          <p:cNvPr id="11" name="dot"/>
          <p:cNvSpPr/>
          <p:nvPr/>
        </p:nvSpPr>
        <p:spPr>
          <a:xfrm>
            <a:off x="926520" y="2705000"/>
            <a:ext cx="210000" cy="210000"/>
          </a:xfrm>
          <a:prstGeom prst="ellipse">
            <a:avLst/>
          </a:prstGeom>
          <a:solidFill>
            <a:srgbClr val="3730A3"/>
          </a:solidFill>
          <a:ln w="9525">
            <a:solidFill>
              <a:srgbClr val="FFFFFF"/>
            </a:solidFill>
            <a:prstDash val="solid"/>
          </a:ln>
        </p:spPr>
        <p:txBody>
          <a:bodyPr/>
          <a:lstStyle/>
          <a:p>
            <a:endParaRPr lang="en-US"/>
          </a:p>
        </p:txBody>
      </p:sp>
      <p:sp>
        <p:nvSpPr>
          <p:cNvPr id="12" name="Text 12"/>
          <p:cNvSpPr/>
          <p:nvPr/>
        </p:nvSpPr>
        <p:spPr>
          <a:xfrm>
            <a:off x="926520" y="2550000"/>
            <a:ext cx="210000" cy="520000"/>
          </a:xfrm>
          <a:prstGeom prst="rect">
            <a:avLst/>
          </a:prstGeom>
          <a:noFill/>
          <a:ln/>
        </p:spPr>
        <p:txBody>
          <a:bodyPr wrap="square" lIns="45720" tIns="0" rIns="4572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2</a:t>
            </a:r>
          </a:p>
        </p:txBody>
      </p:sp>
      <p:sp>
        <p:nvSpPr>
          <p:cNvPr id="13" name="Text 13"/>
          <p:cNvSpPr/>
          <p:nvPr/>
        </p:nvSpPr>
        <p:spPr>
          <a:xfrm>
            <a:off x="1291520" y="2550000"/>
            <a:ext cx="4020000" cy="520000"/>
          </a:xfrm>
          <a:prstGeom prst="rect">
            <a:avLst/>
          </a:prstGeom>
          <a:noFill/>
          <a:ln/>
        </p:spPr>
        <p:txBody>
          <a:bodyPr wrap="square" lIns="45720" tIns="0" rIns="45720" bIns="0" rtlCol="0" anchor="ctr"/>
          <a:lstStyle/>
          <a:p>
            <a:pPr marL="0" indent="0" algn="l">
              <a:buNone/>
            </a:pPr>
            <a:r>
              <a:rPr lang="en-US" sz="1300" b="1">
                <a:solidFill>
                  <a:srgbClr val="1F2937"/>
                </a:solidFill>
                <a:latin typeface="Calibri" pitchFamily="34" charset="0"/>
                <a:ea typeface="Calibri" pitchFamily="34" charset="-122"/>
                <a:cs typeface="Calibri" pitchFamily="34" charset="-120"/>
              </a:rPr>
              <a:t>Bob announces his bases</a:t>
            </a:r>
          </a:p>
        </p:txBody>
      </p:sp>
      <p:sp>
        <p:nvSpPr>
          <p:cNvPr id="14" name="axis"/>
          <p:cNvSpPr/>
          <p:nvPr/>
        </p:nvSpPr>
        <p:spPr>
          <a:xfrm>
            <a:off x="1031520" y="3070000"/>
            <a:ext cx="0" cy="170000"/>
          </a:xfrm>
          <a:prstGeom prst="line">
            <a:avLst/>
          </a:prstGeom>
          <a:ln w="19050">
            <a:solidFill>
              <a:srgbClr val="3730A3"/>
            </a:solidFill>
            <a:prstDash val="solid"/>
            <a:tailEnd type="triangle" w="med" len="med"/>
          </a:ln>
        </p:spPr>
        <p:txBody>
          <a:bodyPr/>
          <a:lstStyle/>
          <a:p>
            <a:endParaRPr lang="en-US"/>
          </a:p>
        </p:txBody>
      </p:sp>
      <p:sp>
        <p:nvSpPr>
          <p:cNvPr id="15" name="step"/>
          <p:cNvSpPr/>
          <p:nvPr/>
        </p:nvSpPr>
        <p:spPr>
          <a:xfrm>
            <a:off x="731520" y="3240000"/>
            <a:ext cx="4700000" cy="520000"/>
          </a:xfrm>
          <a:prstGeom prst="roundRect">
            <a:avLst>
              <a:gd name="adj" fmla="val 8000"/>
            </a:avLst>
          </a:prstGeom>
          <a:solidFill>
            <a:srgbClr val="CCFBF1"/>
          </a:solidFill>
          <a:ln w="15875">
            <a:solidFill>
              <a:srgbClr val="0D9488"/>
            </a:solidFill>
            <a:prstDash val="solid"/>
          </a:ln>
        </p:spPr>
        <p:txBody>
          <a:bodyPr/>
          <a:lstStyle/>
          <a:p>
            <a:endParaRPr lang="en-US"/>
          </a:p>
        </p:txBody>
      </p:sp>
      <p:sp>
        <p:nvSpPr>
          <p:cNvPr id="16" name="dot"/>
          <p:cNvSpPr/>
          <p:nvPr/>
        </p:nvSpPr>
        <p:spPr>
          <a:xfrm>
            <a:off x="926520" y="3395000"/>
            <a:ext cx="210000" cy="210000"/>
          </a:xfrm>
          <a:prstGeom prst="ellipse">
            <a:avLst/>
          </a:prstGeom>
          <a:solidFill>
            <a:srgbClr val="0D9488"/>
          </a:solidFill>
          <a:ln w="9525">
            <a:solidFill>
              <a:srgbClr val="FFFFFF"/>
            </a:solidFill>
            <a:prstDash val="solid"/>
          </a:ln>
        </p:spPr>
        <p:txBody>
          <a:bodyPr/>
          <a:lstStyle/>
          <a:p>
            <a:endParaRPr lang="en-US"/>
          </a:p>
        </p:txBody>
      </p:sp>
      <p:sp>
        <p:nvSpPr>
          <p:cNvPr id="17" name="Text 17"/>
          <p:cNvSpPr/>
          <p:nvPr/>
        </p:nvSpPr>
        <p:spPr>
          <a:xfrm>
            <a:off x="926520" y="3240000"/>
            <a:ext cx="210000" cy="520000"/>
          </a:xfrm>
          <a:prstGeom prst="rect">
            <a:avLst/>
          </a:prstGeom>
          <a:noFill/>
          <a:ln/>
        </p:spPr>
        <p:txBody>
          <a:bodyPr wrap="square" lIns="45720" tIns="0" rIns="4572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3</a:t>
            </a:r>
          </a:p>
        </p:txBody>
      </p:sp>
      <p:sp>
        <p:nvSpPr>
          <p:cNvPr id="18" name="Text 18"/>
          <p:cNvSpPr/>
          <p:nvPr/>
        </p:nvSpPr>
        <p:spPr>
          <a:xfrm>
            <a:off x="1291520" y="3240000"/>
            <a:ext cx="4020000" cy="520000"/>
          </a:xfrm>
          <a:prstGeom prst="rect">
            <a:avLst/>
          </a:prstGeom>
          <a:noFill/>
          <a:ln/>
        </p:spPr>
        <p:txBody>
          <a:bodyPr wrap="square" lIns="45720" tIns="0" rIns="45720" bIns="0" rtlCol="0" anchor="ctr"/>
          <a:lstStyle/>
          <a:p>
            <a:pPr marL="0" indent="0" algn="l">
              <a:buNone/>
            </a:pPr>
            <a:r>
              <a:rPr lang="en-US" sz="1300" b="1">
                <a:solidFill>
                  <a:srgbClr val="1F2937"/>
                </a:solidFill>
                <a:latin typeface="Calibri" pitchFamily="34" charset="0"/>
                <a:ea typeface="Calibri" pitchFamily="34" charset="-122"/>
                <a:cs typeface="Calibri" pitchFamily="34" charset="-120"/>
              </a:rPr>
              <a:t>Public discussion of bases only</a:t>
            </a:r>
          </a:p>
        </p:txBody>
      </p:sp>
      <p:sp>
        <p:nvSpPr>
          <p:cNvPr id="19" name="axis"/>
          <p:cNvSpPr/>
          <p:nvPr/>
        </p:nvSpPr>
        <p:spPr>
          <a:xfrm>
            <a:off x="1031520" y="3760000"/>
            <a:ext cx="0" cy="170000"/>
          </a:xfrm>
          <a:prstGeom prst="line">
            <a:avLst/>
          </a:prstGeom>
          <a:ln w="19050">
            <a:solidFill>
              <a:srgbClr val="0D9488"/>
            </a:solidFill>
            <a:prstDash val="solid"/>
            <a:tailEnd type="triangle" w="med" len="med"/>
          </a:ln>
        </p:spPr>
        <p:txBody>
          <a:bodyPr/>
          <a:lstStyle/>
          <a:p>
            <a:endParaRPr lang="en-US"/>
          </a:p>
        </p:txBody>
      </p:sp>
      <p:sp>
        <p:nvSpPr>
          <p:cNvPr id="20" name="step"/>
          <p:cNvSpPr/>
          <p:nvPr/>
        </p:nvSpPr>
        <p:spPr>
          <a:xfrm>
            <a:off x="731520" y="3930000"/>
            <a:ext cx="4700000" cy="520000"/>
          </a:xfrm>
          <a:prstGeom prst="roundRect">
            <a:avLst>
              <a:gd name="adj" fmla="val 8000"/>
            </a:avLst>
          </a:prstGeom>
          <a:solidFill>
            <a:srgbClr val="CCFBF1"/>
          </a:solidFill>
          <a:ln w="15875">
            <a:solidFill>
              <a:srgbClr val="0D9488"/>
            </a:solidFill>
            <a:prstDash val="solid"/>
          </a:ln>
        </p:spPr>
        <p:txBody>
          <a:bodyPr/>
          <a:lstStyle/>
          <a:p>
            <a:endParaRPr lang="en-US"/>
          </a:p>
        </p:txBody>
      </p:sp>
      <p:sp>
        <p:nvSpPr>
          <p:cNvPr id="21" name="dot"/>
          <p:cNvSpPr/>
          <p:nvPr/>
        </p:nvSpPr>
        <p:spPr>
          <a:xfrm>
            <a:off x="926520" y="4085000"/>
            <a:ext cx="210000" cy="210000"/>
          </a:xfrm>
          <a:prstGeom prst="ellipse">
            <a:avLst/>
          </a:prstGeom>
          <a:solidFill>
            <a:srgbClr val="0D9488"/>
          </a:solidFill>
          <a:ln w="9525">
            <a:solidFill>
              <a:srgbClr val="FFFFFF"/>
            </a:solidFill>
            <a:prstDash val="solid"/>
          </a:ln>
        </p:spPr>
        <p:txBody>
          <a:bodyPr/>
          <a:lstStyle/>
          <a:p>
            <a:endParaRPr lang="en-US"/>
          </a:p>
        </p:txBody>
      </p:sp>
      <p:sp>
        <p:nvSpPr>
          <p:cNvPr id="22" name="Text 22"/>
          <p:cNvSpPr/>
          <p:nvPr/>
        </p:nvSpPr>
        <p:spPr>
          <a:xfrm>
            <a:off x="926520" y="3930000"/>
            <a:ext cx="210000" cy="520000"/>
          </a:xfrm>
          <a:prstGeom prst="rect">
            <a:avLst/>
          </a:prstGeom>
          <a:noFill/>
          <a:ln/>
        </p:spPr>
        <p:txBody>
          <a:bodyPr wrap="square" lIns="45720" tIns="0" rIns="4572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4</a:t>
            </a:r>
          </a:p>
        </p:txBody>
      </p:sp>
      <p:sp>
        <p:nvSpPr>
          <p:cNvPr id="23" name="Text 23"/>
          <p:cNvSpPr/>
          <p:nvPr/>
        </p:nvSpPr>
        <p:spPr>
          <a:xfrm>
            <a:off x="1291520" y="3930000"/>
            <a:ext cx="4020000" cy="520000"/>
          </a:xfrm>
          <a:prstGeom prst="rect">
            <a:avLst/>
          </a:prstGeom>
          <a:noFill/>
          <a:ln/>
        </p:spPr>
        <p:txBody>
          <a:bodyPr wrap="square" lIns="45720" tIns="0" rIns="45720" bIns="0" rtlCol="0" anchor="ctr"/>
          <a:lstStyle/>
          <a:p>
            <a:pPr marL="0" indent="0" algn="l">
              <a:buNone/>
            </a:pPr>
            <a:r>
              <a:rPr lang="en-US" sz="1300" b="1">
                <a:solidFill>
                  <a:srgbClr val="1F2937"/>
                </a:solidFill>
                <a:latin typeface="Calibri" pitchFamily="34" charset="0"/>
                <a:ea typeface="Calibri" pitchFamily="34" charset="-122"/>
                <a:cs typeface="Calibri" pitchFamily="34" charset="-120"/>
              </a:rPr>
              <a:t>Keep matching-basis results</a:t>
            </a:r>
          </a:p>
        </p:txBody>
      </p:sp>
      <p:sp>
        <p:nvSpPr>
          <p:cNvPr id="24" name="axis"/>
          <p:cNvSpPr/>
          <p:nvPr/>
        </p:nvSpPr>
        <p:spPr>
          <a:xfrm>
            <a:off x="1031520" y="4450000"/>
            <a:ext cx="0" cy="170000"/>
          </a:xfrm>
          <a:prstGeom prst="line">
            <a:avLst/>
          </a:prstGeom>
          <a:ln w="19050">
            <a:solidFill>
              <a:srgbClr val="0D9488"/>
            </a:solidFill>
            <a:prstDash val="solid"/>
            <a:tailEnd type="triangle" w="med" len="med"/>
          </a:ln>
        </p:spPr>
        <p:txBody>
          <a:bodyPr/>
          <a:lstStyle/>
          <a:p>
            <a:endParaRPr lang="en-US"/>
          </a:p>
        </p:txBody>
      </p:sp>
      <p:sp>
        <p:nvSpPr>
          <p:cNvPr id="25" name="step"/>
          <p:cNvSpPr/>
          <p:nvPr/>
        </p:nvSpPr>
        <p:spPr>
          <a:xfrm>
            <a:off x="731520" y="4620000"/>
            <a:ext cx="4700000" cy="520000"/>
          </a:xfrm>
          <a:prstGeom prst="roundRect">
            <a:avLst>
              <a:gd name="adj" fmla="val 8000"/>
            </a:avLst>
          </a:prstGeom>
          <a:solidFill>
            <a:srgbClr val="FFFFFF"/>
          </a:solidFill>
          <a:ln w="15875">
            <a:solidFill>
              <a:srgbClr val="475569"/>
            </a:solidFill>
            <a:prstDash val="solid"/>
          </a:ln>
        </p:spPr>
        <p:txBody>
          <a:bodyPr/>
          <a:lstStyle/>
          <a:p>
            <a:endParaRPr lang="en-US"/>
          </a:p>
        </p:txBody>
      </p:sp>
      <p:sp>
        <p:nvSpPr>
          <p:cNvPr id="26" name="dot"/>
          <p:cNvSpPr/>
          <p:nvPr/>
        </p:nvSpPr>
        <p:spPr>
          <a:xfrm>
            <a:off x="926520" y="4775000"/>
            <a:ext cx="210000" cy="210000"/>
          </a:xfrm>
          <a:prstGeom prst="ellipse">
            <a:avLst/>
          </a:prstGeom>
          <a:solidFill>
            <a:srgbClr val="475569"/>
          </a:solidFill>
          <a:ln w="9525">
            <a:solidFill>
              <a:srgbClr val="FFFFFF"/>
            </a:solidFill>
            <a:prstDash val="solid"/>
          </a:ln>
        </p:spPr>
        <p:txBody>
          <a:bodyPr/>
          <a:lstStyle/>
          <a:p>
            <a:endParaRPr lang="en-US"/>
          </a:p>
        </p:txBody>
      </p:sp>
      <p:sp>
        <p:nvSpPr>
          <p:cNvPr id="27" name="Text 27"/>
          <p:cNvSpPr/>
          <p:nvPr/>
        </p:nvSpPr>
        <p:spPr>
          <a:xfrm>
            <a:off x="926520" y="4620000"/>
            <a:ext cx="210000" cy="520000"/>
          </a:xfrm>
          <a:prstGeom prst="rect">
            <a:avLst/>
          </a:prstGeom>
          <a:noFill/>
          <a:ln/>
        </p:spPr>
        <p:txBody>
          <a:bodyPr wrap="square" lIns="45720" tIns="0" rIns="4572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5</a:t>
            </a:r>
          </a:p>
        </p:txBody>
      </p:sp>
      <p:sp>
        <p:nvSpPr>
          <p:cNvPr id="28" name="Text 28"/>
          <p:cNvSpPr/>
          <p:nvPr/>
        </p:nvSpPr>
        <p:spPr>
          <a:xfrm>
            <a:off x="1291520" y="4620000"/>
            <a:ext cx="4020000" cy="520000"/>
          </a:xfrm>
          <a:prstGeom prst="rect">
            <a:avLst/>
          </a:prstGeom>
          <a:noFill/>
          <a:ln/>
        </p:spPr>
        <p:txBody>
          <a:bodyPr wrap="square" lIns="45720" tIns="0" rIns="45720" bIns="0" rtlCol="0" anchor="ctr"/>
          <a:lstStyle/>
          <a:p>
            <a:pPr marL="0" indent="0" algn="l">
              <a:buNone/>
            </a:pPr>
            <a:r>
              <a:rPr lang="en-US" sz="1300" b="1">
                <a:solidFill>
                  <a:srgbClr val="1F2937"/>
                </a:solidFill>
                <a:latin typeface="Calibri" pitchFamily="34" charset="0"/>
                <a:ea typeface="Calibri" pitchFamily="34" charset="-122"/>
                <a:cs typeface="Calibri" pitchFamily="34" charset="-120"/>
              </a:rPr>
              <a:t>Discard mismatched measurements</a:t>
            </a:r>
          </a:p>
        </p:txBody>
      </p:sp>
      <p:sp>
        <p:nvSpPr>
          <p:cNvPr id="29" name="Text 29"/>
          <p:cNvSpPr/>
          <p:nvPr/>
        </p:nvSpPr>
        <p:spPr>
          <a:xfrm>
            <a:off x="6100000" y="1520000"/>
            <a:ext cx="5300000" cy="320040"/>
          </a:xfrm>
          <a:prstGeom prst="rect">
            <a:avLst/>
          </a:prstGeom>
          <a:noFill/>
          <a:ln/>
        </p:spPr>
        <p:txBody>
          <a:bodyPr wrap="square" lIns="45720" tIns="0" rIns="45720" bIns="0" rtlCol="0" anchor="b"/>
          <a:lstStyle/>
          <a:p>
            <a:pPr marL="0" indent="0" algn="l">
              <a:buNone/>
            </a:pPr>
            <a:r>
              <a:rPr lang="en-US" sz="1300" b="1">
                <a:solidFill>
                  <a:srgbClr val="475569"/>
                </a:solidFill>
                <a:latin typeface="Calibri" pitchFamily="34" charset="0"/>
                <a:ea typeface="Calibri" pitchFamily="34" charset="-122"/>
                <a:cs typeface="Calibri" pitchFamily="34" charset="-120"/>
              </a:rPr>
              <a:t>Sifting example</a:t>
            </a:r>
          </a:p>
        </p:txBody>
      </p:sp>
      <p:graphicFrame>
        <p:nvGraphicFramePr>
          <p:cNvPr id="30" name="Sifting table"/>
          <p:cNvGraphicFramePr>
            <a:graphicFrameLocks noGrp="1"/>
          </p:cNvGraphicFramePr>
          <p:nvPr>
            <p:extLst>
              <p:ext uri="{D42A27DB-BD31-4B8C-83A1-F6EECF244321}">
                <p14:modId xmlns:p14="http://schemas.microsoft.com/office/powerpoint/2010/main" val="269707676"/>
              </p:ext>
            </p:extLst>
          </p:nvPr>
        </p:nvGraphicFramePr>
        <p:xfrm>
          <a:off x="6100000" y="1880000"/>
          <a:ext cx="5250000" cy="3080000"/>
        </p:xfrm>
        <a:graphic>
          <a:graphicData uri="http://schemas.openxmlformats.org/drawingml/2006/table">
            <a:tbl>
              <a:tblPr firstRow="1" bandRow="1"/>
              <a:tblGrid>
                <a:gridCol w="130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350000">
                  <a:extLst>
                    <a:ext uri="{9D8B030D-6E8A-4147-A177-3AD203B41FA5}">
                      <a16:colId xmlns:a16="http://schemas.microsoft.com/office/drawing/2014/main" val="20002"/>
                    </a:ext>
                  </a:extLst>
                </a:gridCol>
                <a:gridCol w="1150000">
                  <a:extLst>
                    <a:ext uri="{9D8B030D-6E8A-4147-A177-3AD203B41FA5}">
                      <a16:colId xmlns:a16="http://schemas.microsoft.com/office/drawing/2014/main" val="20003"/>
                    </a:ext>
                  </a:extLst>
                </a:gridCol>
              </a:tblGrid>
              <a:tr h="520000">
                <a:tc>
                  <a:txBody>
                    <a:bodyPr/>
                    <a:lstStyle/>
                    <a:p>
                      <a:pPr algn="ctr"/>
                      <a:r>
                        <a:rPr lang="en-US" sz="1250" b="1" dirty="0">
                          <a:solidFill>
                            <a:srgbClr val="FFFFFF"/>
                          </a:solidFill>
                          <a:latin typeface="Calibri" pitchFamily="34" charset="0"/>
                          <a:ea typeface="Calibri" pitchFamily="34" charset="-122"/>
                          <a:cs typeface="Calibri" pitchFamily="34" charset="-120"/>
                        </a:rPr>
                        <a:t>Photon</a:t>
                      </a:r>
                    </a:p>
                  </a:txBody>
                  <a:tcPr marL="82296" marR="82296" marT="27432" marB="27432" anchor="ctr">
                    <a:solidFill>
                      <a:srgbClr val="3730A3"/>
                    </a:solidFill>
                  </a:tcPr>
                </a:tc>
                <a:tc>
                  <a:txBody>
                    <a:bodyPr/>
                    <a:lstStyle/>
                    <a:p>
                      <a:pPr algn="ctr"/>
                      <a:r>
                        <a:rPr lang="en-US" sz="1250" b="1" dirty="0">
                          <a:solidFill>
                            <a:srgbClr val="FFFFFF"/>
                          </a:solidFill>
                          <a:latin typeface="Calibri" pitchFamily="34" charset="0"/>
                          <a:ea typeface="Calibri" pitchFamily="34" charset="-122"/>
                          <a:cs typeface="Calibri" pitchFamily="34" charset="-120"/>
                        </a:rPr>
                        <a:t>Alice</a:t>
                      </a:r>
                    </a:p>
                  </a:txBody>
                  <a:tcPr marL="82296" marR="82296" marT="27432" marB="27432" anchor="ctr">
                    <a:solidFill>
                      <a:srgbClr val="3730A3"/>
                    </a:solidFill>
                  </a:tcPr>
                </a:tc>
                <a:tc>
                  <a:txBody>
                    <a:bodyPr/>
                    <a:lstStyle/>
                    <a:p>
                      <a:pPr algn="ctr"/>
                      <a:r>
                        <a:rPr lang="en-US" sz="1250" b="1" dirty="0">
                          <a:solidFill>
                            <a:srgbClr val="FFFFFF"/>
                          </a:solidFill>
                          <a:latin typeface="Calibri" pitchFamily="34" charset="0"/>
                          <a:ea typeface="Calibri" pitchFamily="34" charset="-122"/>
                          <a:cs typeface="Calibri" pitchFamily="34" charset="-120"/>
                        </a:rPr>
                        <a:t>Bob</a:t>
                      </a:r>
                    </a:p>
                  </a:txBody>
                  <a:tcPr marL="82296" marR="82296" marT="27432" marB="27432" anchor="ctr">
                    <a:solidFill>
                      <a:srgbClr val="3730A3"/>
                    </a:solidFill>
                  </a:tcPr>
                </a:tc>
                <a:tc>
                  <a:txBody>
                    <a:bodyPr/>
                    <a:lstStyle/>
                    <a:p>
                      <a:pPr algn="ctr"/>
                      <a:r>
                        <a:rPr lang="en-US" sz="1250" b="1" dirty="0">
                          <a:solidFill>
                            <a:srgbClr val="FFFFFF"/>
                          </a:solidFill>
                          <a:latin typeface="Calibri" pitchFamily="34" charset="0"/>
                          <a:ea typeface="Calibri" pitchFamily="34" charset="-122"/>
                          <a:cs typeface="Calibri" pitchFamily="34" charset="-120"/>
                        </a:rPr>
                        <a:t>Keep?</a:t>
                      </a:r>
                    </a:p>
                  </a:txBody>
                  <a:tcPr marL="82296" marR="82296" marT="27432" marB="27432" anchor="ctr">
                    <a:solidFill>
                      <a:srgbClr val="3730A3"/>
                    </a:solidFill>
                  </a:tcPr>
                </a:tc>
                <a:extLst>
                  <a:ext uri="{0D108BD9-81ED-4DB2-BD59-A6C34878D82A}">
                    <a16:rowId xmlns:a16="http://schemas.microsoft.com/office/drawing/2014/main" val="10000"/>
                  </a:ext>
                </a:extLst>
              </a:tr>
              <a:tr h="640000">
                <a:tc>
                  <a:txBody>
                    <a:bodyPr/>
                    <a:lstStyle/>
                    <a:p>
                      <a:pPr algn="ctr"/>
                      <a:r>
                        <a:rPr lang="en-US" sz="1350" b="1" dirty="0">
                          <a:solidFill>
                            <a:srgbClr val="1F2937"/>
                          </a:solidFill>
                          <a:latin typeface="Calibri" pitchFamily="34" charset="0"/>
                          <a:ea typeface="Calibri" pitchFamily="34" charset="-122"/>
                          <a:cs typeface="Calibri" pitchFamily="34" charset="-120"/>
                        </a:rPr>
                        <a:t>1</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500" b="1" dirty="0">
                          <a:solidFill>
                            <a:srgbClr val="0D9488"/>
                          </a:solidFill>
                          <a:latin typeface="Calibri" pitchFamily="34" charset="0"/>
                          <a:ea typeface="Calibri" pitchFamily="34" charset="-122"/>
                          <a:cs typeface="Calibri" pitchFamily="34" charset="-120"/>
                        </a:rPr>
                        <a:t>✓</a:t>
                      </a:r>
                    </a:p>
                  </a:txBody>
                  <a:tcPr marL="82296" marR="82296" marT="27432" marB="27432" anchor="ctr">
                    <a:solidFill>
                      <a:srgbClr val="CCFBF1"/>
                    </a:solidFill>
                  </a:tcPr>
                </a:tc>
                <a:extLst>
                  <a:ext uri="{0D108BD9-81ED-4DB2-BD59-A6C34878D82A}">
                    <a16:rowId xmlns:a16="http://schemas.microsoft.com/office/drawing/2014/main" val="10001"/>
                  </a:ext>
                </a:extLst>
              </a:tr>
              <a:tr h="640000">
                <a:tc>
                  <a:txBody>
                    <a:bodyPr/>
                    <a:lstStyle/>
                    <a:p>
                      <a:pPr algn="ctr"/>
                      <a:r>
                        <a:rPr lang="en-US" sz="1350" b="1" dirty="0">
                          <a:solidFill>
                            <a:srgbClr val="1F2937"/>
                          </a:solidFill>
                          <a:latin typeface="Calibri" pitchFamily="34" charset="0"/>
                          <a:ea typeface="Calibri" pitchFamily="34" charset="-122"/>
                          <a:cs typeface="Calibri" pitchFamily="34" charset="-120"/>
                        </a:rPr>
                        <a:t>2</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500" b="1" dirty="0">
                          <a:solidFill>
                            <a:srgbClr val="B91C1C"/>
                          </a:solidFill>
                          <a:latin typeface="Calibri" pitchFamily="34" charset="0"/>
                          <a:ea typeface="Calibri" pitchFamily="34" charset="-122"/>
                          <a:cs typeface="Calibri" pitchFamily="34" charset="-120"/>
                        </a:rPr>
                        <a:t>✗</a:t>
                      </a:r>
                    </a:p>
                  </a:txBody>
                  <a:tcPr marL="82296" marR="82296" marT="27432" marB="27432" anchor="ctr">
                    <a:solidFill>
                      <a:srgbClr val="FEE2E2"/>
                    </a:solidFill>
                  </a:tcPr>
                </a:tc>
                <a:extLst>
                  <a:ext uri="{0D108BD9-81ED-4DB2-BD59-A6C34878D82A}">
                    <a16:rowId xmlns:a16="http://schemas.microsoft.com/office/drawing/2014/main" val="10002"/>
                  </a:ext>
                </a:extLst>
              </a:tr>
              <a:tr h="640000">
                <a:tc>
                  <a:txBody>
                    <a:bodyPr/>
                    <a:lstStyle/>
                    <a:p>
                      <a:pPr algn="ctr"/>
                      <a:r>
                        <a:rPr lang="en-US" sz="1350" b="1" dirty="0">
                          <a:solidFill>
                            <a:srgbClr val="1F2937"/>
                          </a:solidFill>
                          <a:latin typeface="Calibri" pitchFamily="34" charset="0"/>
                          <a:ea typeface="Calibri" pitchFamily="34" charset="-122"/>
                          <a:cs typeface="Calibri" pitchFamily="34" charset="-120"/>
                        </a:rPr>
                        <a:t>3</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500" b="1" dirty="0">
                          <a:solidFill>
                            <a:srgbClr val="0D9488"/>
                          </a:solidFill>
                          <a:latin typeface="Calibri" pitchFamily="34" charset="0"/>
                          <a:ea typeface="Calibri" pitchFamily="34" charset="-122"/>
                          <a:cs typeface="Calibri" pitchFamily="34" charset="-120"/>
                        </a:rPr>
                        <a:t>✓</a:t>
                      </a:r>
                    </a:p>
                  </a:txBody>
                  <a:tcPr marL="82296" marR="82296" marT="27432" marB="27432" anchor="ctr">
                    <a:solidFill>
                      <a:srgbClr val="CCFBF1"/>
                    </a:solidFill>
                  </a:tcPr>
                </a:tc>
                <a:extLst>
                  <a:ext uri="{0D108BD9-81ED-4DB2-BD59-A6C34878D82A}">
                    <a16:rowId xmlns:a16="http://schemas.microsoft.com/office/drawing/2014/main" val="10003"/>
                  </a:ext>
                </a:extLst>
              </a:tr>
              <a:tr h="640000">
                <a:tc>
                  <a:txBody>
                    <a:bodyPr/>
                    <a:lstStyle/>
                    <a:p>
                      <a:pPr algn="ctr"/>
                      <a:r>
                        <a:rPr lang="en-US" sz="1350" b="1" dirty="0">
                          <a:solidFill>
                            <a:srgbClr val="1F2937"/>
                          </a:solidFill>
                          <a:latin typeface="Calibri" pitchFamily="34" charset="0"/>
                          <a:ea typeface="Calibri" pitchFamily="34" charset="-122"/>
                          <a:cs typeface="Calibri" pitchFamily="34" charset="-120"/>
                        </a:rPr>
                        <a:t>4</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400" b="1" dirty="0">
                          <a:solidFill>
                            <a:srgbClr val="1F2937"/>
                          </a:solidFill>
                          <a:latin typeface="Cambria Math" pitchFamily="34" charset="0"/>
                          <a:ea typeface="Cambria Math" pitchFamily="34" charset="-122"/>
                          <a:cs typeface="Cambria Math" pitchFamily="34" charset="-120"/>
                        </a:rPr>
                        <a:t>+</a:t>
                      </a:r>
                    </a:p>
                  </a:txBody>
                  <a:tcPr marL="82296" marR="82296" marT="27432" marB="27432" anchor="ctr">
                    <a:solidFill>
                      <a:srgbClr val="FFFFFF"/>
                    </a:solidFill>
                  </a:tcPr>
                </a:tc>
                <a:tc>
                  <a:txBody>
                    <a:bodyPr/>
                    <a:lstStyle/>
                    <a:p>
                      <a:pPr algn="ctr"/>
                      <a:r>
                        <a:rPr lang="en-US" sz="1500" b="1" dirty="0">
                          <a:solidFill>
                            <a:srgbClr val="B91C1C"/>
                          </a:solidFill>
                          <a:latin typeface="Calibri" pitchFamily="34" charset="0"/>
                          <a:ea typeface="Calibri" pitchFamily="34" charset="-122"/>
                          <a:cs typeface="Calibri" pitchFamily="34" charset="-120"/>
                        </a:rPr>
                        <a:t>✗</a:t>
                      </a:r>
                    </a:p>
                  </a:txBody>
                  <a:tcPr marL="82296" marR="82296" marT="27432" marB="27432" anchor="ctr">
                    <a:solidFill>
                      <a:srgbClr val="FEE2E2"/>
                    </a:solidFill>
                  </a:tcPr>
                </a:tc>
                <a:extLst>
                  <a:ext uri="{0D108BD9-81ED-4DB2-BD59-A6C34878D82A}">
                    <a16:rowId xmlns:a16="http://schemas.microsoft.com/office/drawing/2014/main" val="10004"/>
                  </a:ext>
                </a:extLst>
              </a:tr>
            </a:tbl>
          </a:graphicData>
        </a:graphic>
      </p:graphicFrame>
      <p:sp>
        <p:nvSpPr>
          <p:cNvPr id="31" name="Text 31"/>
          <p:cNvSpPr/>
          <p:nvPr/>
        </p:nvSpPr>
        <p:spPr>
          <a:xfrm>
            <a:off x="6100000" y="5060000"/>
            <a:ext cx="5250000" cy="440000"/>
          </a:xfrm>
          <a:prstGeom prst="rect">
            <a:avLst/>
          </a:prstGeom>
          <a:noFill/>
          <a:ln/>
        </p:spPr>
        <p:txBody>
          <a:bodyPr wrap="square" lIns="45720" tIns="0" rIns="45720" bIns="0" rtlCol="0" anchor="t"/>
          <a:lstStyle/>
          <a:p>
            <a:pPr marL="0" indent="0" algn="l">
              <a:buNone/>
            </a:pPr>
            <a:r>
              <a:rPr lang="en-US" sz="1300">
                <a:solidFill>
                  <a:srgbClr val="475569"/>
                </a:solidFill>
                <a:latin typeface="Calibri" pitchFamily="34" charset="0"/>
                <a:ea typeface="Calibri" pitchFamily="34" charset="-122"/>
                <a:cs typeface="Calibri" pitchFamily="34" charset="-120"/>
              </a:rPr>
              <a:t>Only positions where the bases match survive.</a:t>
            </a:r>
          </a:p>
        </p:txBody>
      </p:sp>
      <p:sp>
        <p:nvSpPr>
          <p:cNvPr id="32" name="sift"/>
          <p:cNvSpPr/>
          <p:nvPr/>
        </p:nvSpPr>
        <p:spPr>
          <a:xfrm>
            <a:off x="731520" y="5680000"/>
            <a:ext cx="10728960" cy="560000"/>
          </a:xfrm>
          <a:prstGeom prst="roundRect">
            <a:avLst>
              <a:gd name="adj" fmla="val 8000"/>
            </a:avLst>
          </a:prstGeom>
          <a:solidFill>
            <a:srgbClr val="CCFBF1"/>
          </a:solidFill>
          <a:ln/>
        </p:spPr>
        <p:txBody>
          <a:bodyPr/>
          <a:lstStyle/>
          <a:p>
            <a:endParaRPr lang="en-US"/>
          </a:p>
        </p:txBody>
      </p:sp>
      <p:sp>
        <p:nvSpPr>
          <p:cNvPr id="33" name="Text 33"/>
          <p:cNvSpPr/>
          <p:nvPr/>
        </p:nvSpPr>
        <p:spPr>
          <a:xfrm>
            <a:off x="731520" y="5680000"/>
            <a:ext cx="10728960" cy="560000"/>
          </a:xfrm>
          <a:prstGeom prst="rect">
            <a:avLst/>
          </a:prstGeom>
          <a:noFill/>
          <a:ln/>
        </p:spPr>
        <p:txBody>
          <a:bodyPr wrap="square" lIns="45720" tIns="0" rIns="45720" bIns="0" rtlCol="0" anchor="ctr"/>
          <a:lstStyle/>
          <a:p>
            <a:pPr marL="0" indent="0" algn="ctr">
              <a:buNone/>
            </a:pPr>
            <a:r>
              <a:rPr lang="en-US" sz="1450" b="1">
                <a:solidFill>
                  <a:srgbClr val="0D9488"/>
                </a:solidFill>
                <a:latin typeface="Calibri" pitchFamily="34" charset="0"/>
                <a:ea typeface="Calibri" pitchFamily="34" charset="-122"/>
                <a:cs typeface="Calibri" pitchFamily="34" charset="-120"/>
              </a:rPr>
              <a:t>Only the basis choices are revealed — never the bits; about half the photons are discarded.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What Happens if Eve Listens?</a:t>
            </a:r>
            <a:endParaRPr lang="en-US" sz="2200"/>
          </a:p>
        </p:txBody>
      </p:sp>
      <p:sp>
        <p:nvSpPr>
          <p:cNvPr id="3" name="accent"/>
          <p:cNvSpPr/>
          <p:nvPr/>
        </p:nvSpPr>
        <p:spPr>
          <a:xfrm>
            <a:off x="566928" y="1371600"/>
            <a:ext cx="2743200" cy="50292"/>
          </a:xfrm>
          <a:prstGeom prst="rect">
            <a:avLst/>
          </a:prstGeom>
          <a:solidFill>
            <a:srgbClr val="0D9488"/>
          </a:solidFill>
          <a:ln/>
        </p:spPr>
        <p:txBody>
          <a:bodyPr/>
          <a:lstStyle/>
          <a:p>
            <a:endParaRPr lang="en-US"/>
          </a:p>
        </p:txBody>
      </p:sp>
      <p:sp>
        <p:nvSpPr>
          <p:cNvPr id="4" name="seclabel"/>
          <p:cNvSpPr/>
          <p:nvPr/>
        </p:nvSpPr>
        <p:spPr>
          <a:xfrm>
            <a:off x="731520" y="1500000"/>
            <a:ext cx="3000000" cy="430000"/>
          </a:xfrm>
          <a:prstGeom prst="roundRect">
            <a:avLst>
              <a:gd name="adj" fmla="val 25000"/>
            </a:avLst>
          </a:prstGeom>
          <a:solidFill>
            <a:srgbClr val="FEF3C7"/>
          </a:solidFill>
          <a:ln w="12700">
            <a:solidFill>
              <a:srgbClr val="B45309"/>
            </a:solidFill>
            <a:prstDash val="solid"/>
          </a:ln>
        </p:spPr>
        <p:txBody>
          <a:bodyPr wrap="square" lIns="45720" tIns="0" rIns="45720" bIns="0" rtlCol="0" anchor="ctr"/>
          <a:lstStyle/>
          <a:p>
            <a:pPr marL="0" indent="0" algn="ctr">
              <a:buNone/>
            </a:pPr>
            <a:r>
              <a:rPr lang="en-US" sz="1350" b="1">
                <a:solidFill>
                  <a:srgbClr val="B45309"/>
                </a:solidFill>
                <a:latin typeface="Calibri" pitchFamily="34" charset="0"/>
                <a:ea typeface="Calibri" pitchFamily="34" charset="-122"/>
                <a:cs typeface="Calibri" pitchFamily="34" charset="-120"/>
              </a:rPr>
              <a:t>Intercept–Resend Attack</a:t>
            </a:r>
          </a:p>
        </p:txBody>
      </p:sp>
      <p:sp>
        <p:nvSpPr>
          <p:cNvPr id="5" name="alice"/>
          <p:cNvSpPr/>
          <p:nvPr/>
        </p:nvSpPr>
        <p:spPr>
          <a:xfrm>
            <a:off x="2700000" y="2050000"/>
            <a:ext cx="2700000" cy="760000"/>
          </a:xfrm>
          <a:prstGeom prst="roundRect">
            <a:avLst>
              <a:gd name="adj" fmla="val 7000"/>
            </a:avLst>
          </a:prstGeom>
          <a:solidFill>
            <a:srgbClr val="CCFBF1"/>
          </a:solidFill>
          <a:ln w="19050">
            <a:solidFill>
              <a:srgbClr val="0D9488"/>
            </a:solidFill>
            <a:prstDash val="solid"/>
          </a:ln>
        </p:spPr>
        <p:txBody>
          <a:bodyPr wrap="square" lIns="45720" tIns="0" rIns="45720" bIns="0" rtlCol="0" anchor="ctr"/>
          <a:lstStyle/>
          <a:p>
            <a:pPr marL="0" indent="0" algn="ctr">
              <a:buNone/>
            </a:pPr>
            <a:r>
              <a:rPr lang="en-US" sz="1500" b="1">
                <a:solidFill>
                  <a:srgbClr val="0D9488"/>
                </a:solidFill>
                <a:latin typeface="Calibri" pitchFamily="34" charset="0"/>
                <a:ea typeface="Calibri" pitchFamily="34" charset="-122"/>
                <a:cs typeface="Calibri" pitchFamily="34" charset="-120"/>
              </a:rPr>
              <a:t>Alice</a:t>
            </a:r>
          </a:p>
          <a:p>
            <a:pPr marL="0" indent="0" algn="ctr">
              <a:buNone/>
            </a:pPr>
            <a:r>
              <a:rPr lang="en-US" sz="1100">
                <a:solidFill>
                  <a:srgbClr val="475569"/>
                </a:solidFill>
                <a:latin typeface="Calibri" pitchFamily="34" charset="0"/>
                <a:ea typeface="Calibri" pitchFamily="34" charset="-122"/>
                <a:cs typeface="Calibri" pitchFamily="34" charset="-120"/>
              </a:rPr>
              <a:t>Prepares a photon  |+⟩</a:t>
            </a:r>
          </a:p>
        </p:txBody>
      </p:sp>
      <p:sp>
        <p:nvSpPr>
          <p:cNvPr id="6" name="arrow"/>
          <p:cNvSpPr/>
          <p:nvPr/>
        </p:nvSpPr>
        <p:spPr>
          <a:xfrm>
            <a:off x="4050000" y="2810000"/>
            <a:ext cx="1" cy="330000"/>
          </a:xfrm>
          <a:prstGeom prst="line">
            <a:avLst/>
          </a:prstGeom>
          <a:ln w="28575">
            <a:solidFill>
              <a:srgbClr val="0D9488"/>
            </a:solidFill>
            <a:prstDash val="solid"/>
            <a:tailEnd type="triangle" w="med" len="med"/>
          </a:ln>
        </p:spPr>
        <p:txBody>
          <a:bodyPr/>
          <a:lstStyle/>
          <a:p>
            <a:endParaRPr lang="en-US"/>
          </a:p>
        </p:txBody>
      </p:sp>
      <p:sp>
        <p:nvSpPr>
          <p:cNvPr id="7" name="lbl1"/>
          <p:cNvSpPr/>
          <p:nvPr/>
        </p:nvSpPr>
        <p:spPr>
          <a:xfrm>
            <a:off x="4200000" y="2860000"/>
            <a:ext cx="900000" cy="260000"/>
          </a:xfrm>
          <a:prstGeom prst="roundRect">
            <a:avLst>
              <a:gd name="adj" fmla="val 7000"/>
            </a:avLst>
          </a:prstGeom>
          <a:noFill/>
          <a:ln/>
        </p:spPr>
        <p:txBody>
          <a:bodyPr wrap="square" lIns="45720" tIns="0" rIns="45720" bIns="0" rtlCol="0" anchor="ctr"/>
          <a:lstStyle/>
          <a:p>
            <a:pPr marL="0" indent="0" algn="l">
              <a:buNone/>
            </a:pPr>
            <a:r>
              <a:rPr lang="en-US" sz="1150" b="1">
                <a:solidFill>
                  <a:srgbClr val="0D9488"/>
                </a:solidFill>
                <a:latin typeface="Calibri" pitchFamily="34" charset="0"/>
                <a:ea typeface="Calibri" pitchFamily="34" charset="-122"/>
                <a:cs typeface="Calibri" pitchFamily="34" charset="-120"/>
              </a:rPr>
              <a:t>|+⟩</a:t>
            </a:r>
          </a:p>
        </p:txBody>
      </p:sp>
      <p:sp>
        <p:nvSpPr>
          <p:cNvPr id="8" name="eve"/>
          <p:cNvSpPr/>
          <p:nvPr/>
        </p:nvSpPr>
        <p:spPr>
          <a:xfrm>
            <a:off x="2700000" y="3180000"/>
            <a:ext cx="2700000" cy="1280000"/>
          </a:xfrm>
          <a:prstGeom prst="roundRect">
            <a:avLst>
              <a:gd name="adj" fmla="val 7000"/>
            </a:avLst>
          </a:prstGeom>
          <a:solidFill>
            <a:srgbClr val="FEF3C7"/>
          </a:solidFill>
          <a:ln w="22225">
            <a:solidFill>
              <a:srgbClr val="B45309"/>
            </a:solidFill>
            <a:prstDash val="solid"/>
          </a:ln>
        </p:spPr>
        <p:txBody>
          <a:bodyPr wrap="square" lIns="45720" tIns="0" rIns="45720" bIns="0" rtlCol="0" anchor="ctr"/>
          <a:lstStyle/>
          <a:p>
            <a:pPr marL="0" indent="0" algn="ctr">
              <a:buNone/>
            </a:pPr>
            <a:r>
              <a:rPr lang="en-US" sz="1500" b="1">
                <a:solidFill>
                  <a:srgbClr val="B45309"/>
                </a:solidFill>
                <a:latin typeface="Calibri" pitchFamily="34" charset="0"/>
                <a:ea typeface="Calibri" pitchFamily="34" charset="-122"/>
                <a:cs typeface="Calibri" pitchFamily="34" charset="-120"/>
              </a:rPr>
              <a:t>Eve</a:t>
            </a:r>
          </a:p>
          <a:p>
            <a:pPr marL="0" indent="0" algn="ctr">
              <a:spcBef>
                <a:spcPts val="200"/>
              </a:spcBef>
              <a:buNone/>
            </a:pPr>
            <a:r>
              <a:rPr lang="en-US" sz="1100">
                <a:solidFill>
                  <a:srgbClr val="475569"/>
                </a:solidFill>
                <a:latin typeface="Calibri" pitchFamily="34" charset="0"/>
                <a:ea typeface="Calibri" pitchFamily="34" charset="-122"/>
                <a:cs typeface="Calibri" pitchFamily="34" charset="-120"/>
              </a:rPr>
              <a:t>Random basis</a:t>
            </a:r>
          </a:p>
          <a:p>
            <a:pPr marL="0" indent="0" algn="ctr">
              <a:buNone/>
            </a:pPr>
            <a:r>
              <a:rPr lang="en-US" sz="1100">
                <a:solidFill>
                  <a:srgbClr val="475569"/>
                </a:solidFill>
                <a:latin typeface="Calibri" pitchFamily="34" charset="0"/>
                <a:ea typeface="Calibri" pitchFamily="34" charset="-122"/>
                <a:cs typeface="Calibri" pitchFamily="34" charset="-120"/>
              </a:rPr>
              <a:t>Measures → collapses state</a:t>
            </a:r>
          </a:p>
          <a:p>
            <a:pPr marL="0" indent="0" algn="ctr">
              <a:buNone/>
            </a:pPr>
            <a:r>
              <a:rPr lang="en-US" sz="1100">
                <a:solidFill>
                  <a:srgbClr val="475569"/>
                </a:solidFill>
                <a:latin typeface="Calibri" pitchFamily="34" charset="0"/>
                <a:ea typeface="Calibri" pitchFamily="34" charset="-122"/>
                <a:cs typeface="Calibri" pitchFamily="34" charset="-120"/>
              </a:rPr>
              <a:t>Prepares a new photon</a:t>
            </a:r>
          </a:p>
        </p:txBody>
      </p:sp>
      <p:sp>
        <p:nvSpPr>
          <p:cNvPr id="9" name="arrow"/>
          <p:cNvSpPr/>
          <p:nvPr/>
        </p:nvSpPr>
        <p:spPr>
          <a:xfrm>
            <a:off x="4050000" y="4460000"/>
            <a:ext cx="1" cy="330000"/>
          </a:xfrm>
          <a:prstGeom prst="line">
            <a:avLst/>
          </a:prstGeom>
          <a:ln w="28575">
            <a:solidFill>
              <a:srgbClr val="B45309"/>
            </a:solidFill>
            <a:prstDash val="solid"/>
            <a:tailEnd type="triangle" w="med" len="med"/>
          </a:ln>
        </p:spPr>
        <p:txBody>
          <a:bodyPr/>
          <a:lstStyle/>
          <a:p>
            <a:endParaRPr lang="en-US"/>
          </a:p>
        </p:txBody>
      </p:sp>
      <p:sp>
        <p:nvSpPr>
          <p:cNvPr id="10" name="lbl2"/>
          <p:cNvSpPr/>
          <p:nvPr/>
        </p:nvSpPr>
        <p:spPr>
          <a:xfrm>
            <a:off x="4200000" y="4510000"/>
            <a:ext cx="1400000" cy="260000"/>
          </a:xfrm>
          <a:prstGeom prst="roundRect">
            <a:avLst>
              <a:gd name="adj" fmla="val 7000"/>
            </a:avLst>
          </a:prstGeom>
          <a:noFill/>
          <a:ln/>
        </p:spPr>
        <p:txBody>
          <a:bodyPr wrap="square" lIns="45720" tIns="0" rIns="45720" bIns="0" rtlCol="0" anchor="ctr"/>
          <a:lstStyle/>
          <a:p>
            <a:pPr marL="0" indent="0" algn="l">
              <a:buNone/>
            </a:pPr>
            <a:r>
              <a:rPr lang="en-US" sz="1050" b="1">
                <a:solidFill>
                  <a:srgbClr val="B45309"/>
                </a:solidFill>
                <a:latin typeface="Calibri" pitchFamily="34" charset="0"/>
                <a:ea typeface="Calibri" pitchFamily="34" charset="-122"/>
                <a:cs typeface="Calibri" pitchFamily="34" charset="-120"/>
              </a:rPr>
              <a:t>new photon</a:t>
            </a:r>
          </a:p>
        </p:txBody>
      </p:sp>
      <p:sp>
        <p:nvSpPr>
          <p:cNvPr id="11" name="bob"/>
          <p:cNvSpPr/>
          <p:nvPr/>
        </p:nvSpPr>
        <p:spPr>
          <a:xfrm>
            <a:off x="2700000" y="4830000"/>
            <a:ext cx="2700000" cy="760000"/>
          </a:xfrm>
          <a:prstGeom prst="roundRect">
            <a:avLst>
              <a:gd name="adj" fmla="val 7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Bob</a:t>
            </a:r>
          </a:p>
          <a:p>
            <a:pPr marL="0" indent="0" algn="ctr">
              <a:buNone/>
            </a:pPr>
            <a:r>
              <a:rPr lang="en-US" sz="1100">
                <a:solidFill>
                  <a:srgbClr val="475569"/>
                </a:solidFill>
                <a:latin typeface="Calibri" pitchFamily="34" charset="0"/>
                <a:ea typeface="Calibri" pitchFamily="34" charset="-122"/>
                <a:cs typeface="Calibri" pitchFamily="34" charset="-120"/>
              </a:rPr>
              <a:t>Random basis</a:t>
            </a:r>
          </a:p>
        </p:txBody>
      </p:sp>
      <p:sp>
        <p:nvSpPr>
          <p:cNvPr id="12" name="stepspanel"/>
          <p:cNvSpPr/>
          <p:nvPr/>
        </p:nvSpPr>
        <p:spPr>
          <a:xfrm>
            <a:off x="8250000" y="1500000"/>
            <a:ext cx="3210480" cy="4090000"/>
          </a:xfrm>
          <a:prstGeom prst="roundRect">
            <a:avLst>
              <a:gd name="adj" fmla="val 5000"/>
            </a:avLst>
          </a:prstGeom>
          <a:solidFill>
            <a:srgbClr val="F8FAFC"/>
          </a:solidFill>
          <a:ln w="12700">
            <a:solidFill>
              <a:srgbClr val="CBD5E1"/>
            </a:solidFill>
            <a:prstDash val="solid"/>
          </a:ln>
        </p:spPr>
        <p:txBody>
          <a:bodyPr wrap="square" lIns="182880" tIns="0" rIns="45720" bIns="0" rtlCol="0" anchor="t"/>
          <a:lstStyle/>
          <a:p>
            <a:pPr marL="0" indent="0" algn="l">
              <a:spcAft>
                <a:spcPts val="600"/>
              </a:spcAft>
              <a:buNone/>
            </a:pPr>
            <a:r>
              <a:rPr lang="en-US" sz="1500" b="1">
                <a:solidFill>
                  <a:srgbClr val="3730A3"/>
                </a:solidFill>
                <a:latin typeface="Calibri" pitchFamily="34" charset="0"/>
                <a:ea typeface="Calibri" pitchFamily="34" charset="-122"/>
                <a:cs typeface="Calibri" pitchFamily="34" charset="-120"/>
              </a:rPr>
              <a:t>Steps</a:t>
            </a:r>
          </a:p>
          <a:p>
            <a:pPr marL="0" indent="0" algn="l">
              <a:spcAft>
                <a:spcPts val="400"/>
              </a:spcAft>
              <a:buNone/>
            </a:pPr>
            <a:r>
              <a:rPr lang="en-US" sz="1150">
                <a:solidFill>
                  <a:srgbClr val="475569"/>
                </a:solidFill>
                <a:latin typeface="Calibri" pitchFamily="34" charset="0"/>
                <a:ea typeface="Calibri" pitchFamily="34" charset="-122"/>
                <a:cs typeface="Calibri" pitchFamily="34" charset="-120"/>
              </a:rPr>
              <a:t>1.  Alice prepares a photon.</a:t>
            </a:r>
          </a:p>
          <a:p>
            <a:pPr marL="0" indent="0" algn="l">
              <a:spcAft>
                <a:spcPts val="400"/>
              </a:spcAft>
              <a:buNone/>
            </a:pPr>
            <a:r>
              <a:rPr lang="en-US" sz="1150">
                <a:solidFill>
                  <a:srgbClr val="475569"/>
                </a:solidFill>
                <a:latin typeface="Calibri" pitchFamily="34" charset="0"/>
                <a:ea typeface="Calibri" pitchFamily="34" charset="-122"/>
                <a:cs typeface="Calibri" pitchFamily="34" charset="-120"/>
              </a:rPr>
              <a:t>2.  Eve intercepts it.</a:t>
            </a:r>
          </a:p>
          <a:p>
            <a:pPr marL="0" indent="0" algn="l">
              <a:spcAft>
                <a:spcPts val="400"/>
              </a:spcAft>
              <a:buNone/>
            </a:pPr>
            <a:r>
              <a:rPr lang="en-US" sz="1150">
                <a:solidFill>
                  <a:srgbClr val="475569"/>
                </a:solidFill>
                <a:latin typeface="Calibri" pitchFamily="34" charset="0"/>
                <a:ea typeface="Calibri" pitchFamily="34" charset="-122"/>
                <a:cs typeface="Calibri" pitchFamily="34" charset="-120"/>
              </a:rPr>
              <a:t>3.  Eve randomly chooses a basis.</a:t>
            </a:r>
          </a:p>
          <a:p>
            <a:pPr marL="0" indent="0" algn="l">
              <a:spcAft>
                <a:spcPts val="400"/>
              </a:spcAft>
              <a:buNone/>
            </a:pPr>
            <a:r>
              <a:rPr lang="en-US" sz="1150">
                <a:solidFill>
                  <a:srgbClr val="475569"/>
                </a:solidFill>
                <a:latin typeface="Calibri" pitchFamily="34" charset="0"/>
                <a:ea typeface="Calibri" pitchFamily="34" charset="-122"/>
                <a:cs typeface="Calibri" pitchFamily="34" charset="-120"/>
              </a:rPr>
              <a:t>4.  Eve measures.</a:t>
            </a:r>
          </a:p>
          <a:p>
            <a:pPr marL="0" indent="0" algn="l">
              <a:spcAft>
                <a:spcPts val="400"/>
              </a:spcAft>
              <a:buNone/>
            </a:pPr>
            <a:r>
              <a:rPr lang="en-US" sz="1150">
                <a:solidFill>
                  <a:srgbClr val="475569"/>
                </a:solidFill>
                <a:latin typeface="Calibri" pitchFamily="34" charset="0"/>
                <a:ea typeface="Calibri" pitchFamily="34" charset="-122"/>
                <a:cs typeface="Calibri" pitchFamily="34" charset="-120"/>
              </a:rPr>
              <a:t>5.  Measurement collapses the state.</a:t>
            </a:r>
          </a:p>
          <a:p>
            <a:pPr marL="0" indent="0" algn="l">
              <a:spcAft>
                <a:spcPts val="400"/>
              </a:spcAft>
              <a:buNone/>
            </a:pPr>
            <a:r>
              <a:rPr lang="en-US" sz="1150">
                <a:solidFill>
                  <a:srgbClr val="475569"/>
                </a:solidFill>
                <a:latin typeface="Calibri" pitchFamily="34" charset="0"/>
                <a:ea typeface="Calibri" pitchFamily="34" charset="-122"/>
                <a:cs typeface="Calibri" pitchFamily="34" charset="-120"/>
              </a:rPr>
              <a:t>6.  Eve prepares a replacement photon.</a:t>
            </a:r>
          </a:p>
          <a:p>
            <a:pPr marL="0" indent="0" algn="l">
              <a:buNone/>
            </a:pPr>
            <a:r>
              <a:rPr lang="en-US" sz="1150">
                <a:solidFill>
                  <a:srgbClr val="475569"/>
                </a:solidFill>
                <a:latin typeface="Calibri" pitchFamily="34" charset="0"/>
                <a:ea typeface="Calibri" pitchFamily="34" charset="-122"/>
                <a:cs typeface="Calibri" pitchFamily="34" charset="-120"/>
              </a:rPr>
              <a:t>7.  Bob measures the replacement.</a:t>
            </a:r>
          </a:p>
        </p:txBody>
      </p:sp>
      <p:sp>
        <p:nvSpPr>
          <p:cNvPr id="13" name="ev"/>
          <p:cNvSpPr/>
          <p:nvPr/>
        </p:nvSpPr>
        <p:spPr>
          <a:xfrm>
            <a:off x="731520" y="5820000"/>
            <a:ext cx="10728960" cy="620000"/>
          </a:xfrm>
          <a:prstGeom prst="roundRect">
            <a:avLst>
              <a:gd name="adj" fmla="val 8000"/>
            </a:avLst>
          </a:prstGeom>
          <a:solidFill>
            <a:srgbClr val="CCFBF1"/>
          </a:solidFill>
          <a:ln w="19050">
            <a:solidFill>
              <a:srgbClr val="0D9488"/>
            </a:solidFill>
            <a:prstDash val="solid"/>
          </a:ln>
        </p:spPr>
        <p:txBody>
          <a:bodyPr wrap="square" lIns="45720" tIns="0" rIns="45720" bIns="0" rtlCol="0" anchor="ctr"/>
          <a:lstStyle/>
          <a:p>
            <a:pPr marL="0" indent="0" algn="ctr">
              <a:buNone/>
            </a:pPr>
            <a:r>
              <a:rPr lang="en-US" sz="1550" b="1">
                <a:solidFill>
                  <a:srgbClr val="0D9488"/>
                </a:solidFill>
                <a:latin typeface="Calibri" pitchFamily="34" charset="0"/>
                <a:ea typeface="Calibri" pitchFamily="34" charset="-122"/>
                <a:cs typeface="Calibri" pitchFamily="34" charset="-120"/>
              </a:rPr>
              <a:t>Eve cannot observe the photon without disturbing its quantum state.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Probability Analysis of Eve's Attack</a:t>
            </a:r>
            <a:endParaRPr lang="en-US" sz="2200"/>
          </a:p>
        </p:txBody>
      </p:sp>
      <p:sp>
        <p:nvSpPr>
          <p:cNvPr id="3" name="accent"/>
          <p:cNvSpPr/>
          <p:nvPr/>
        </p:nvSpPr>
        <p:spPr>
          <a:xfrm>
            <a:off x="566928" y="1371600"/>
            <a:ext cx="2743200" cy="50292"/>
          </a:xfrm>
          <a:prstGeom prst="rect">
            <a:avLst/>
          </a:prstGeom>
          <a:solidFill>
            <a:srgbClr val="0D9488"/>
          </a:solidFill>
          <a:ln/>
        </p:spPr>
        <p:txBody>
          <a:bodyPr/>
          <a:lstStyle/>
          <a:p>
            <a:endParaRPr lang="en-US"/>
          </a:p>
        </p:txBody>
      </p:sp>
      <p:sp>
        <p:nvSpPr>
          <p:cNvPr id="4" name="alice"/>
          <p:cNvSpPr/>
          <p:nvPr/>
        </p:nvSpPr>
        <p:spPr>
          <a:xfrm>
            <a:off x="731520" y="2600000"/>
            <a:ext cx="2050000" cy="900000"/>
          </a:xfrm>
          <a:prstGeom prst="roundRect">
            <a:avLst>
              <a:gd name="adj" fmla="val 7000"/>
            </a:avLst>
          </a:prstGeom>
          <a:solidFill>
            <a:srgbClr val="CCFBF1"/>
          </a:solidFill>
          <a:ln w="19050">
            <a:solidFill>
              <a:srgbClr val="0D9488"/>
            </a:solidFill>
            <a:prstDash val="solid"/>
          </a:ln>
        </p:spPr>
        <p:txBody>
          <a:bodyPr wrap="square" lIns="45720" tIns="0" rIns="45720" bIns="0" rtlCol="0" anchor="ctr"/>
          <a:lstStyle/>
          <a:p>
            <a:pPr marL="0" indent="0" algn="ctr">
              <a:buNone/>
            </a:pPr>
            <a:r>
              <a:rPr lang="en-US" sz="1300" b="1">
                <a:solidFill>
                  <a:srgbClr val="0D9488"/>
                </a:solidFill>
                <a:latin typeface="Calibri" pitchFamily="34" charset="0"/>
                <a:ea typeface="Calibri" pitchFamily="34" charset="-122"/>
                <a:cs typeface="Calibri" pitchFamily="34" charset="-120"/>
              </a:rPr>
              <a:t>Alice sends</a:t>
            </a:r>
          </a:p>
          <a:p>
            <a:pPr marL="0" indent="0" algn="ctr">
              <a:buNone/>
            </a:pPr>
            <a:r>
              <a:rPr lang="en-US" sz="1050">
                <a:solidFill>
                  <a:srgbClr val="475569"/>
                </a:solidFill>
                <a:latin typeface="Calibri" pitchFamily="34" charset="0"/>
                <a:ea typeface="Calibri" pitchFamily="34" charset="-122"/>
                <a:cs typeface="Calibri" pitchFamily="34" charset="-120"/>
              </a:rPr>
              <a:t>a photon</a:t>
            </a:r>
          </a:p>
        </p:txBody>
      </p:sp>
      <p:sp>
        <p:nvSpPr>
          <p:cNvPr id="5" name="arrow"/>
          <p:cNvSpPr/>
          <p:nvPr/>
        </p:nvSpPr>
        <p:spPr>
          <a:xfrm>
            <a:off x="2781520" y="3050000"/>
            <a:ext cx="468480" cy="1"/>
          </a:xfrm>
          <a:prstGeom prst="line">
            <a:avLst/>
          </a:prstGeom>
          <a:ln w="28575">
            <a:solidFill>
              <a:srgbClr val="475569"/>
            </a:solidFill>
            <a:prstDash val="solid"/>
            <a:tailEnd type="triangle" w="med" len="med"/>
          </a:ln>
        </p:spPr>
        <p:txBody>
          <a:bodyPr/>
          <a:lstStyle/>
          <a:p>
            <a:endParaRPr lang="en-US"/>
          </a:p>
        </p:txBody>
      </p:sp>
      <p:sp>
        <p:nvSpPr>
          <p:cNvPr id="6" name="eve"/>
          <p:cNvSpPr/>
          <p:nvPr/>
        </p:nvSpPr>
        <p:spPr>
          <a:xfrm>
            <a:off x="3250000" y="2550000"/>
            <a:ext cx="2250000" cy="1000000"/>
          </a:xfrm>
          <a:prstGeom prst="roundRect">
            <a:avLst>
              <a:gd name="adj" fmla="val 7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300" b="1">
                <a:solidFill>
                  <a:srgbClr val="3730A3"/>
                </a:solidFill>
                <a:latin typeface="Calibri" pitchFamily="34" charset="0"/>
                <a:ea typeface="Calibri" pitchFamily="34" charset="-122"/>
                <a:cs typeface="Calibri" pitchFamily="34" charset="-120"/>
              </a:rPr>
              <a:t>Eve chooses</a:t>
            </a:r>
          </a:p>
          <a:p>
            <a:pPr marL="0" indent="0" algn="ctr">
              <a:buNone/>
            </a:pPr>
            <a:r>
              <a:rPr lang="en-US" sz="1050">
                <a:solidFill>
                  <a:srgbClr val="475569"/>
                </a:solidFill>
                <a:latin typeface="Calibri" pitchFamily="34" charset="0"/>
                <a:ea typeface="Calibri" pitchFamily="34" charset="-122"/>
                <a:cs typeface="Calibri" pitchFamily="34" charset="-120"/>
              </a:rPr>
              <a:t>a basis at random</a:t>
            </a:r>
          </a:p>
        </p:txBody>
      </p:sp>
      <p:sp>
        <p:nvSpPr>
          <p:cNvPr id="7" name="arrow"/>
          <p:cNvSpPr/>
          <p:nvPr/>
        </p:nvSpPr>
        <p:spPr>
          <a:xfrm flipV="1">
            <a:off x="5500000" y="2230000"/>
            <a:ext cx="650000" cy="670000"/>
          </a:xfrm>
          <a:prstGeom prst="line">
            <a:avLst/>
          </a:prstGeom>
          <a:ln w="28575">
            <a:solidFill>
              <a:srgbClr val="0D9488"/>
            </a:solidFill>
            <a:prstDash val="solid"/>
            <a:tailEnd type="triangle" w="med" len="med"/>
          </a:ln>
        </p:spPr>
        <p:txBody>
          <a:bodyPr/>
          <a:lstStyle/>
          <a:p>
            <a:endParaRPr lang="en-US"/>
          </a:p>
        </p:txBody>
      </p:sp>
      <p:sp>
        <p:nvSpPr>
          <p:cNvPr id="8" name="arrow"/>
          <p:cNvSpPr/>
          <p:nvPr/>
        </p:nvSpPr>
        <p:spPr>
          <a:xfrm>
            <a:off x="5500000" y="3200000"/>
            <a:ext cx="650000" cy="1430000"/>
          </a:xfrm>
          <a:prstGeom prst="line">
            <a:avLst/>
          </a:prstGeom>
          <a:ln w="28575">
            <a:solidFill>
              <a:srgbClr val="B45309"/>
            </a:solidFill>
            <a:prstDash val="solid"/>
            <a:tailEnd type="triangle" w="med" len="med"/>
          </a:ln>
        </p:spPr>
        <p:txBody>
          <a:bodyPr/>
          <a:lstStyle/>
          <a:p>
            <a:endParaRPr lang="en-US"/>
          </a:p>
        </p:txBody>
      </p:sp>
      <p:sp>
        <p:nvSpPr>
          <p:cNvPr id="9" name="correct"/>
          <p:cNvSpPr/>
          <p:nvPr/>
        </p:nvSpPr>
        <p:spPr>
          <a:xfrm>
            <a:off x="6150000" y="1850000"/>
            <a:ext cx="2350000" cy="760000"/>
          </a:xfrm>
          <a:prstGeom prst="roundRect">
            <a:avLst>
              <a:gd name="adj" fmla="val 7000"/>
            </a:avLst>
          </a:prstGeom>
          <a:solidFill>
            <a:srgbClr val="CCFBF1"/>
          </a:solidFill>
          <a:ln w="19050">
            <a:solidFill>
              <a:srgbClr val="0D9488"/>
            </a:solidFill>
            <a:prstDash val="solid"/>
          </a:ln>
        </p:spPr>
        <p:txBody>
          <a:bodyPr wrap="square" lIns="45720" tIns="0" rIns="45720" bIns="0" rtlCol="0" anchor="ctr"/>
          <a:lstStyle/>
          <a:p>
            <a:pPr marL="0" indent="0" algn="ctr">
              <a:buNone/>
            </a:pPr>
            <a:r>
              <a:rPr lang="en-US" sz="1250" b="1">
                <a:solidFill>
                  <a:srgbClr val="0D9488"/>
                </a:solidFill>
                <a:latin typeface="Calibri" pitchFamily="34" charset="0"/>
                <a:ea typeface="Calibri" pitchFamily="34" charset="-122"/>
                <a:cs typeface="Calibri" pitchFamily="34" charset="-120"/>
              </a:rPr>
              <a:t>Correct basis</a:t>
            </a:r>
          </a:p>
          <a:p>
            <a:pPr marL="0" indent="0" algn="ctr">
              <a:buNone/>
            </a:pPr>
            <a:r>
              <a:rPr lang="en-US" sz="1200" b="1">
                <a:solidFill>
                  <a:srgbClr val="475569"/>
                </a:solidFill>
                <a:latin typeface="Calibri" pitchFamily="34" charset="0"/>
                <a:ea typeface="Calibri" pitchFamily="34" charset="-122"/>
                <a:cs typeface="Calibri" pitchFamily="34" charset="-120"/>
              </a:rPr>
              <a:t>P = 1/2</a:t>
            </a:r>
          </a:p>
        </p:txBody>
      </p:sp>
      <p:sp>
        <p:nvSpPr>
          <p:cNvPr id="10" name="arrow"/>
          <p:cNvSpPr/>
          <p:nvPr/>
        </p:nvSpPr>
        <p:spPr>
          <a:xfrm>
            <a:off x="8500000" y="2230000"/>
            <a:ext cx="300000" cy="1"/>
          </a:xfrm>
          <a:prstGeom prst="line">
            <a:avLst/>
          </a:prstGeom>
          <a:ln w="28575">
            <a:solidFill>
              <a:srgbClr val="0D9488"/>
            </a:solidFill>
            <a:prstDash val="solid"/>
            <a:tailEnd type="triangle" w="med" len="med"/>
          </a:ln>
        </p:spPr>
        <p:txBody>
          <a:bodyPr/>
          <a:lstStyle/>
          <a:p>
            <a:endParaRPr lang="en-US"/>
          </a:p>
        </p:txBody>
      </p:sp>
      <p:sp>
        <p:nvSpPr>
          <p:cNvPr id="11" name="perfect"/>
          <p:cNvSpPr/>
          <p:nvPr/>
        </p:nvSpPr>
        <p:spPr>
          <a:xfrm>
            <a:off x="8800000" y="1850000"/>
            <a:ext cx="2650000" cy="760000"/>
          </a:xfrm>
          <a:prstGeom prst="roundRect">
            <a:avLst>
              <a:gd name="adj" fmla="val 7000"/>
            </a:avLst>
          </a:prstGeom>
          <a:solidFill>
            <a:srgbClr val="ECFDF5"/>
          </a:solidFill>
          <a:ln w="19050">
            <a:solidFill>
              <a:srgbClr val="0D9488"/>
            </a:solidFill>
            <a:prstDash val="solid"/>
          </a:ln>
        </p:spPr>
        <p:txBody>
          <a:bodyPr wrap="square" lIns="45720" tIns="0" rIns="45720" bIns="0" rtlCol="0" anchor="ctr"/>
          <a:lstStyle/>
          <a:p>
            <a:pPr marL="0" indent="0" algn="ctr">
              <a:buNone/>
            </a:pPr>
            <a:r>
              <a:rPr lang="en-US" sz="1250" b="1">
                <a:solidFill>
                  <a:srgbClr val="0D9488"/>
                </a:solidFill>
                <a:latin typeface="Calibri" pitchFamily="34" charset="0"/>
                <a:ea typeface="Calibri" pitchFamily="34" charset="-122"/>
                <a:cs typeface="Calibri" pitchFamily="34" charset="-120"/>
              </a:rPr>
              <a:t>Perfect copy</a:t>
            </a:r>
          </a:p>
          <a:p>
            <a:pPr marL="0" indent="0" algn="ctr">
              <a:buNone/>
            </a:pPr>
            <a:r>
              <a:rPr lang="en-US" sz="1050">
                <a:solidFill>
                  <a:srgbClr val="475569"/>
                </a:solidFill>
                <a:latin typeface="Calibri" pitchFamily="34" charset="0"/>
                <a:ea typeface="Calibri" pitchFamily="34" charset="-122"/>
                <a:cs typeface="Calibri" pitchFamily="34" charset="-120"/>
              </a:rPr>
              <a:t>no disturbance</a:t>
            </a:r>
          </a:p>
        </p:txBody>
      </p:sp>
      <p:sp>
        <p:nvSpPr>
          <p:cNvPr id="12" name="wrong"/>
          <p:cNvSpPr/>
          <p:nvPr/>
        </p:nvSpPr>
        <p:spPr>
          <a:xfrm>
            <a:off x="6150000" y="4250000"/>
            <a:ext cx="2350000" cy="760000"/>
          </a:xfrm>
          <a:prstGeom prst="roundRect">
            <a:avLst>
              <a:gd name="adj" fmla="val 7000"/>
            </a:avLst>
          </a:prstGeom>
          <a:solidFill>
            <a:srgbClr val="FEF3C7"/>
          </a:solidFill>
          <a:ln w="19050">
            <a:solidFill>
              <a:srgbClr val="B45309"/>
            </a:solidFill>
            <a:prstDash val="solid"/>
          </a:ln>
        </p:spPr>
        <p:txBody>
          <a:bodyPr wrap="square" lIns="45720" tIns="0" rIns="45720" bIns="0" rtlCol="0" anchor="ctr"/>
          <a:lstStyle/>
          <a:p>
            <a:pPr marL="0" indent="0" algn="ctr">
              <a:buNone/>
            </a:pPr>
            <a:r>
              <a:rPr lang="en-US" sz="1250" b="1">
                <a:solidFill>
                  <a:srgbClr val="B45309"/>
                </a:solidFill>
                <a:latin typeface="Calibri" pitchFamily="34" charset="0"/>
                <a:ea typeface="Calibri" pitchFamily="34" charset="-122"/>
                <a:cs typeface="Calibri" pitchFamily="34" charset="-120"/>
              </a:rPr>
              <a:t>Wrong basis</a:t>
            </a:r>
          </a:p>
          <a:p>
            <a:pPr marL="0" indent="0" algn="ctr">
              <a:buNone/>
            </a:pPr>
            <a:r>
              <a:rPr lang="en-US" sz="1200" b="1">
                <a:solidFill>
                  <a:srgbClr val="475569"/>
                </a:solidFill>
                <a:latin typeface="Calibri" pitchFamily="34" charset="0"/>
                <a:ea typeface="Calibri" pitchFamily="34" charset="-122"/>
                <a:cs typeface="Calibri" pitchFamily="34" charset="-120"/>
              </a:rPr>
              <a:t>P = 1/2</a:t>
            </a:r>
          </a:p>
        </p:txBody>
      </p:sp>
      <p:sp>
        <p:nvSpPr>
          <p:cNvPr id="13" name="arrow"/>
          <p:cNvSpPr/>
          <p:nvPr/>
        </p:nvSpPr>
        <p:spPr>
          <a:xfrm>
            <a:off x="8500000" y="4630000"/>
            <a:ext cx="300000" cy="1"/>
          </a:xfrm>
          <a:prstGeom prst="line">
            <a:avLst/>
          </a:prstGeom>
          <a:ln w="28575">
            <a:solidFill>
              <a:srgbClr val="B45309"/>
            </a:solidFill>
            <a:prstDash val="solid"/>
            <a:tailEnd type="triangle" w="med" len="med"/>
          </a:ln>
        </p:spPr>
        <p:txBody>
          <a:bodyPr/>
          <a:lstStyle/>
          <a:p>
            <a:endParaRPr lang="en-US"/>
          </a:p>
        </p:txBody>
      </p:sp>
      <p:sp>
        <p:nvSpPr>
          <p:cNvPr id="14" name="random"/>
          <p:cNvSpPr/>
          <p:nvPr/>
        </p:nvSpPr>
        <p:spPr>
          <a:xfrm>
            <a:off x="8800000" y="4250000"/>
            <a:ext cx="2650000" cy="760000"/>
          </a:xfrm>
          <a:prstGeom prst="roundRect">
            <a:avLst>
              <a:gd name="adj" fmla="val 7000"/>
            </a:avLst>
          </a:prstGeom>
          <a:solidFill>
            <a:srgbClr val="FEF3C7"/>
          </a:solidFill>
          <a:ln w="19050">
            <a:solidFill>
              <a:srgbClr val="B45309"/>
            </a:solidFill>
            <a:prstDash val="solid"/>
          </a:ln>
        </p:spPr>
        <p:txBody>
          <a:bodyPr wrap="square" lIns="45720" tIns="0" rIns="45720" bIns="0" rtlCol="0" anchor="ctr"/>
          <a:lstStyle/>
          <a:p>
            <a:pPr marL="0" indent="0" algn="ctr">
              <a:buNone/>
            </a:pPr>
            <a:r>
              <a:rPr lang="en-US" sz="1250" b="1">
                <a:solidFill>
                  <a:srgbClr val="B45309"/>
                </a:solidFill>
                <a:latin typeface="Calibri" pitchFamily="34" charset="0"/>
                <a:ea typeface="Calibri" pitchFamily="34" charset="-122"/>
                <a:cs typeface="Calibri" pitchFamily="34" charset="-120"/>
              </a:rPr>
              <a:t>Random result</a:t>
            </a:r>
          </a:p>
          <a:p>
            <a:pPr marL="0" indent="0" algn="ctr">
              <a:buNone/>
            </a:pPr>
            <a:r>
              <a:rPr lang="en-US" sz="1050">
                <a:solidFill>
                  <a:srgbClr val="475569"/>
                </a:solidFill>
                <a:latin typeface="Calibri" pitchFamily="34" charset="0"/>
                <a:ea typeface="Calibri" pitchFamily="34" charset="-122"/>
                <a:cs typeface="Calibri" pitchFamily="34" charset="-120"/>
              </a:rPr>
              <a:t>state disturbed</a:t>
            </a:r>
          </a:p>
        </p:txBody>
      </p:sp>
      <p:sp>
        <p:nvSpPr>
          <p:cNvPr id="15" name="disturb"/>
          <p:cNvSpPr/>
          <p:nvPr/>
        </p:nvSpPr>
        <p:spPr>
          <a:xfrm>
            <a:off x="6150000" y="5150000"/>
            <a:ext cx="5300000" cy="430000"/>
          </a:xfrm>
          <a:prstGeom prst="roundRect">
            <a:avLst>
              <a:gd name="adj" fmla="val 20000"/>
            </a:avLst>
          </a:prstGeom>
          <a:solidFill>
            <a:srgbClr val="FEE2E2"/>
          </a:solidFill>
          <a:ln w="12700">
            <a:solidFill>
              <a:srgbClr val="DC2626"/>
            </a:solidFill>
            <a:prstDash val="solid"/>
          </a:ln>
        </p:spPr>
        <p:txBody>
          <a:bodyPr wrap="square" lIns="45720" tIns="0" rIns="45720" bIns="0" rtlCol="0" anchor="ctr"/>
          <a:lstStyle/>
          <a:p>
            <a:pPr marL="0" indent="0" algn="ctr">
              <a:buNone/>
            </a:pPr>
            <a:r>
              <a:rPr lang="en-US" sz="1150" b="1">
                <a:solidFill>
                  <a:srgbClr val="DC2626"/>
                </a:solidFill>
                <a:latin typeface="Calibri" pitchFamily="34" charset="0"/>
                <a:ea typeface="Calibri" pitchFamily="34" charset="-122"/>
                <a:cs typeface="Calibri" pitchFamily="34" charset="-120"/>
              </a:rPr>
              <a:t>→ Bob may receive an incorrect bit</a:t>
            </a:r>
          </a:p>
        </p:txBody>
      </p:sp>
      <p:sp>
        <p:nvSpPr>
          <p:cNvPr id="16" name="ev"/>
          <p:cNvSpPr/>
          <p:nvPr/>
        </p:nvSpPr>
        <p:spPr>
          <a:xfrm>
            <a:off x="731520" y="5980000"/>
            <a:ext cx="10728960" cy="54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We calculate the total error using conditional probability.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Deriving the 25% Error Rate</a:t>
            </a:r>
            <a:endParaRPr lang="en-US" sz="2200"/>
          </a:p>
        </p:txBody>
      </p:sp>
      <p:sp>
        <p:nvSpPr>
          <p:cNvPr id="3" name="accent"/>
          <p:cNvSpPr/>
          <p:nvPr/>
        </p:nvSpPr>
        <p:spPr>
          <a:xfrm>
            <a:off x="566928" y="1371600"/>
            <a:ext cx="2743200" cy="50292"/>
          </a:xfrm>
          <a:prstGeom prst="rect">
            <a:avLst/>
          </a:prstGeom>
          <a:solidFill>
            <a:srgbClr val="0D9488"/>
          </a:solidFill>
          <a:ln/>
        </p:spPr>
        <p:txBody>
          <a:bodyPr/>
          <a:lstStyle/>
          <a:p>
            <a:endParaRPr lang="en-US"/>
          </a:p>
        </p:txBody>
      </p:sp>
      <p:sp>
        <p:nvSpPr>
          <p:cNvPr id="4" name="case1"/>
          <p:cNvSpPr/>
          <p:nvPr/>
        </p:nvSpPr>
        <p:spPr>
          <a:xfrm>
            <a:off x="731520" y="1620000"/>
            <a:ext cx="5230000" cy="1560000"/>
          </a:xfrm>
          <a:prstGeom prst="roundRect">
            <a:avLst>
              <a:gd name="adj" fmla="val 7000"/>
            </a:avLst>
          </a:prstGeom>
          <a:solidFill>
            <a:srgbClr val="CCFBF1"/>
          </a:solidFill>
          <a:ln w="19050">
            <a:solidFill>
              <a:srgbClr val="0D9488"/>
            </a:solidFill>
            <a:prstDash val="solid"/>
          </a:ln>
        </p:spPr>
        <p:txBody>
          <a:bodyPr wrap="square" lIns="228600" tIns="0" rIns="45720" bIns="0" rtlCol="0" anchor="ctr"/>
          <a:lstStyle/>
          <a:p>
            <a:pPr marL="0" indent="0" algn="ctr">
              <a:spcAft>
                <a:spcPts val="500"/>
              </a:spcAft>
              <a:buNone/>
            </a:pPr>
            <a:r>
              <a:rPr lang="en-US" sz="1450" b="1">
                <a:solidFill>
                  <a:srgbClr val="0D9488"/>
                </a:solidFill>
                <a:latin typeface="Calibri" pitchFamily="34" charset="0"/>
                <a:ea typeface="Calibri" pitchFamily="34" charset="-122"/>
                <a:cs typeface="Calibri" pitchFamily="34" charset="-120"/>
              </a:rPr>
              <a:t>Case 1 · Correct basis</a:t>
            </a:r>
          </a:p>
          <a:p>
            <a:pPr marL="0" indent="0" algn="ctr">
              <a:spcAft>
                <a:spcPts val="300"/>
              </a:spcAft>
              <a:buNone/>
            </a:pPr>
            <a:r>
              <a:rPr lang="en-US" sz="1250">
                <a:solidFill>
                  <a:srgbClr val="475569"/>
                </a:solidFill>
                <a:latin typeface="Calibri" pitchFamily="34" charset="0"/>
                <a:ea typeface="Calibri" pitchFamily="34" charset="-122"/>
                <a:cs typeface="Calibri" pitchFamily="34" charset="-120"/>
              </a:rPr>
              <a:t>Probability  P = 1/2</a:t>
            </a:r>
          </a:p>
          <a:p>
            <a:pPr marL="0" indent="0" algn="ctr">
              <a:buNone/>
            </a:pPr>
            <a:r>
              <a:rPr lang="en-US" sz="1250" b="1">
                <a:solidFill>
                  <a:srgbClr val="475569"/>
                </a:solidFill>
                <a:latin typeface="Calibri" pitchFamily="34" charset="0"/>
                <a:ea typeface="Calibri" pitchFamily="34" charset="-122"/>
                <a:cs typeface="Calibri" pitchFamily="34" charset="-120"/>
              </a:rPr>
              <a:t>Error contributed = 0</a:t>
            </a:r>
          </a:p>
        </p:txBody>
      </p:sp>
      <p:sp>
        <p:nvSpPr>
          <p:cNvPr id="5" name="case2"/>
          <p:cNvSpPr/>
          <p:nvPr/>
        </p:nvSpPr>
        <p:spPr>
          <a:xfrm>
            <a:off x="6230480" y="1620000"/>
            <a:ext cx="5230000" cy="1560000"/>
          </a:xfrm>
          <a:prstGeom prst="roundRect">
            <a:avLst>
              <a:gd name="adj" fmla="val 7000"/>
            </a:avLst>
          </a:prstGeom>
          <a:solidFill>
            <a:srgbClr val="FEF3C7"/>
          </a:solidFill>
          <a:ln w="19050">
            <a:solidFill>
              <a:srgbClr val="B45309"/>
            </a:solidFill>
            <a:prstDash val="solid"/>
          </a:ln>
        </p:spPr>
        <p:txBody>
          <a:bodyPr wrap="square" lIns="228600" tIns="0" rIns="45720" bIns="0" rtlCol="0" anchor="ctr"/>
          <a:lstStyle/>
          <a:p>
            <a:pPr marL="0" indent="0" algn="ctr">
              <a:spcAft>
                <a:spcPts val="500"/>
              </a:spcAft>
              <a:buNone/>
            </a:pPr>
            <a:r>
              <a:rPr lang="en-US" sz="1450" b="1">
                <a:solidFill>
                  <a:srgbClr val="B45309"/>
                </a:solidFill>
                <a:latin typeface="Calibri" pitchFamily="34" charset="0"/>
                <a:ea typeface="Calibri" pitchFamily="34" charset="-122"/>
                <a:cs typeface="Calibri" pitchFamily="34" charset="-120"/>
              </a:rPr>
              <a:t>Case 2 · Wrong basis</a:t>
            </a:r>
          </a:p>
          <a:p>
            <a:pPr marL="0" indent="0" algn="ctr">
              <a:spcAft>
                <a:spcPts val="300"/>
              </a:spcAft>
              <a:buNone/>
            </a:pPr>
            <a:r>
              <a:rPr lang="en-US" sz="1250">
                <a:solidFill>
                  <a:srgbClr val="475569"/>
                </a:solidFill>
                <a:latin typeface="Calibri" pitchFamily="34" charset="0"/>
                <a:ea typeface="Calibri" pitchFamily="34" charset="-122"/>
                <a:cs typeface="Calibri" pitchFamily="34" charset="-120"/>
              </a:rPr>
              <a:t>Probability  P = 1/2</a:t>
            </a:r>
          </a:p>
          <a:p>
            <a:pPr marL="0" indent="0" algn="ctr">
              <a:buNone/>
            </a:pPr>
            <a:r>
              <a:rPr lang="en-US" sz="1250" b="1">
                <a:solidFill>
                  <a:srgbClr val="475569"/>
                </a:solidFill>
                <a:latin typeface="Calibri" pitchFamily="34" charset="0"/>
                <a:ea typeface="Calibri" pitchFamily="34" charset="-122"/>
                <a:cs typeface="Calibri" pitchFamily="34" charset="-120"/>
              </a:rPr>
              <a:t>Bob receives wrong bit with P = 1/2</a:t>
            </a:r>
          </a:p>
        </p:txBody>
      </p:sp>
      <p:sp>
        <p:nvSpPr>
          <p:cNvPr id="6" name="calc"/>
          <p:cNvSpPr/>
          <p:nvPr/>
        </p:nvSpPr>
        <p:spPr>
          <a:xfrm>
            <a:off x="731520" y="3420000"/>
            <a:ext cx="10728960" cy="760000"/>
          </a:xfrm>
          <a:prstGeom prst="roundRect">
            <a:avLst>
              <a:gd name="adj" fmla="val 10000"/>
            </a:avLst>
          </a:prstGeom>
          <a:solidFill>
            <a:srgbClr val="F8FAFC"/>
          </a:solidFill>
          <a:ln w="12700">
            <a:solidFill>
              <a:srgbClr val="CBD5E1"/>
            </a:solidFill>
            <a:prstDash val="solid"/>
          </a:ln>
        </p:spPr>
        <p:txBody>
          <a:bodyPr wrap="square" lIns="45720" tIns="0" rIns="45720" bIns="0" rtlCol="0" anchor="ctr"/>
          <a:lstStyle/>
          <a:p>
            <a:pPr marL="0" indent="0" algn="ctr">
              <a:buNone/>
            </a:pPr>
            <a:r>
              <a:rPr lang="en-US" sz="1700" b="1">
                <a:solidFill>
                  <a:srgbClr val="3730A3"/>
                </a:solidFill>
                <a:latin typeface="Calibri" pitchFamily="34" charset="0"/>
                <a:ea typeface="Calibri" pitchFamily="34" charset="-122"/>
                <a:cs typeface="Calibri" pitchFamily="34" charset="-120"/>
              </a:rPr>
              <a:t>P(Error) = ½ × 0  +  ½ × ½  =  ¼</a:t>
            </a:r>
          </a:p>
        </p:txBody>
      </p:sp>
      <p:sp>
        <p:nvSpPr>
          <p:cNvPr id="7" name="hl"/>
          <p:cNvSpPr/>
          <p:nvPr/>
        </p:nvSpPr>
        <p:spPr>
          <a:xfrm>
            <a:off x="731520" y="4420000"/>
            <a:ext cx="10728960" cy="1350000"/>
          </a:xfrm>
          <a:prstGeom prst="roundRect">
            <a:avLst>
              <a:gd name="adj" fmla="val 6000"/>
            </a:avLst>
          </a:prstGeom>
          <a:solidFill>
            <a:srgbClr val="0D9488"/>
          </a:solidFill>
          <a:ln w="19050">
            <a:solidFill>
              <a:srgbClr val="0D9488"/>
            </a:solidFill>
            <a:prstDash val="solid"/>
          </a:ln>
        </p:spPr>
        <p:txBody>
          <a:bodyPr/>
          <a:lstStyle/>
          <a:p>
            <a:endParaRPr lang="en-US"/>
          </a:p>
        </p:txBody>
      </p:sp>
      <p:sp>
        <p:nvSpPr>
          <p:cNvPr id="8" name="pct"/>
          <p:cNvSpPr/>
          <p:nvPr/>
        </p:nvSpPr>
        <p:spPr>
          <a:xfrm>
            <a:off x="1011520" y="4420000"/>
            <a:ext cx="2400000" cy="1350000"/>
          </a:xfrm>
          <a:prstGeom prst="rect">
            <a:avLst/>
          </a:prstGeom>
          <a:noFill/>
          <a:ln/>
        </p:spPr>
        <p:txBody>
          <a:bodyPr wrap="square" lIns="45720" tIns="0" rIns="45720" bIns="0" rtlCol="0" anchor="ctr"/>
          <a:lstStyle/>
          <a:p>
            <a:pPr marL="0" indent="0" algn="ctr">
              <a:buNone/>
            </a:pPr>
            <a:r>
              <a:rPr lang="en-US" sz="5400" b="1">
                <a:solidFill>
                  <a:srgbClr val="FFFFFF"/>
                </a:solidFill>
                <a:latin typeface="Calibri" pitchFamily="34" charset="0"/>
                <a:ea typeface="Calibri" pitchFamily="34" charset="-122"/>
                <a:cs typeface="Calibri" pitchFamily="34" charset="-120"/>
              </a:rPr>
              <a:t>25%</a:t>
            </a:r>
          </a:p>
        </p:txBody>
      </p:sp>
      <p:sp>
        <p:nvSpPr>
          <p:cNvPr id="9" name="pcttext"/>
          <p:cNvSpPr/>
          <p:nvPr/>
        </p:nvSpPr>
        <p:spPr>
          <a:xfrm>
            <a:off x="3631520" y="4420000"/>
            <a:ext cx="7528960" cy="1350000"/>
          </a:xfrm>
          <a:prstGeom prst="rect">
            <a:avLst/>
          </a:prstGeom>
          <a:noFill/>
          <a:ln/>
        </p:spPr>
        <p:txBody>
          <a:bodyPr wrap="square" lIns="45720" tIns="0" rIns="45720" bIns="0" rtlCol="0" anchor="ctr"/>
          <a:lstStyle/>
          <a:p>
            <a:pPr marL="0" indent="0" algn="l">
              <a:buNone/>
            </a:pPr>
            <a:r>
              <a:rPr lang="en-US" sz="1900" b="1">
                <a:solidFill>
                  <a:srgbClr val="FFFFFF"/>
                </a:solidFill>
                <a:latin typeface="Calibri" pitchFamily="34" charset="0"/>
                <a:ea typeface="Calibri" pitchFamily="34" charset="-122"/>
                <a:cs typeface="Calibri" pitchFamily="34" charset="-120"/>
              </a:rPr>
              <a:t>Eve introduces a 25% Quantum Bit</a:t>
            </a:r>
          </a:p>
          <a:p>
            <a:pPr marL="0" indent="0" algn="l">
              <a:spcBef>
                <a:spcPts val="200"/>
              </a:spcBef>
              <a:buNone/>
            </a:pPr>
            <a:r>
              <a:rPr lang="en-US" sz="1900" b="1">
                <a:solidFill>
                  <a:srgbClr val="FFFFFF"/>
                </a:solidFill>
                <a:latin typeface="Calibri" pitchFamily="34" charset="0"/>
                <a:ea typeface="Calibri" pitchFamily="34" charset="-122"/>
                <a:cs typeface="Calibri" pitchFamily="34" charset="-120"/>
              </a:rPr>
              <a:t>Error Rate (QBER).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Why Can't Eve Copy the Photon?</a:t>
            </a:r>
            <a:endParaRPr lang="en-US" sz="2200"/>
          </a:p>
        </p:txBody>
      </p:sp>
      <p:sp>
        <p:nvSpPr>
          <p:cNvPr id="3" name="accent"/>
          <p:cNvSpPr/>
          <p:nvPr/>
        </p:nvSpPr>
        <p:spPr>
          <a:xfrm>
            <a:off x="566928" y="1371600"/>
            <a:ext cx="2743200" cy="50292"/>
          </a:xfrm>
          <a:prstGeom prst="rect">
            <a:avLst/>
          </a:prstGeom>
          <a:solidFill>
            <a:srgbClr val="0D9488"/>
          </a:solidFill>
          <a:ln/>
        </p:spPr>
        <p:txBody>
          <a:bodyPr/>
          <a:lstStyle/>
          <a:p>
            <a:endParaRPr lang="en-US"/>
          </a:p>
        </p:txBody>
      </p:sp>
      <p:sp>
        <p:nvSpPr>
          <p:cNvPr id="4" name="q"/>
          <p:cNvSpPr/>
          <p:nvPr/>
        </p:nvSpPr>
        <p:spPr>
          <a:xfrm>
            <a:off x="731520" y="1480000"/>
            <a:ext cx="10728960" cy="560000"/>
          </a:xfrm>
          <a:prstGeom prst="rect">
            <a:avLst/>
          </a:prstGeom>
          <a:noFill/>
          <a:ln/>
        </p:spPr>
        <p:txBody>
          <a:bodyPr wrap="square" lIns="45720" tIns="0" rIns="45720" bIns="0" rtlCol="0" anchor="ctr"/>
          <a:lstStyle/>
          <a:p>
            <a:pPr marL="0" indent="0" algn="ctr">
              <a:buNone/>
            </a:pPr>
            <a:r>
              <a:rPr lang="en-US" sz="2400" b="1">
                <a:solidFill>
                  <a:srgbClr val="3730A3"/>
                </a:solidFill>
                <a:latin typeface="Calibri" pitchFamily="34" charset="0"/>
                <a:ea typeface="Calibri" pitchFamily="34" charset="-122"/>
                <a:cs typeface="Calibri" pitchFamily="34" charset="-120"/>
              </a:rPr>
              <a:t>Why not clone the photon?</a:t>
            </a:r>
          </a:p>
        </p:txBody>
      </p:sp>
      <p:sp>
        <p:nvSpPr>
          <p:cNvPr id="5" name="uq"/>
          <p:cNvSpPr/>
          <p:nvPr/>
        </p:nvSpPr>
        <p:spPr>
          <a:xfrm>
            <a:off x="731520" y="2650000"/>
            <a:ext cx="2550000" cy="860000"/>
          </a:xfrm>
          <a:prstGeom prst="roundRect">
            <a:avLst>
              <a:gd name="adj" fmla="val 7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300" b="1">
                <a:solidFill>
                  <a:srgbClr val="3730A3"/>
                </a:solidFill>
                <a:latin typeface="Calibri" pitchFamily="34" charset="0"/>
                <a:ea typeface="Calibri" pitchFamily="34" charset="-122"/>
                <a:cs typeface="Calibri" pitchFamily="34" charset="-120"/>
              </a:rPr>
              <a:t>Unknown qubit</a:t>
            </a:r>
          </a:p>
          <a:p>
            <a:pPr marL="0" indent="0" algn="ctr">
              <a:buNone/>
            </a:pPr>
            <a:r>
              <a:rPr lang="en-US" sz="1300" b="1">
                <a:solidFill>
                  <a:srgbClr val="475569"/>
                </a:solidFill>
                <a:latin typeface="Calibri" pitchFamily="34" charset="0"/>
                <a:ea typeface="Calibri" pitchFamily="34" charset="-122"/>
                <a:cs typeface="Calibri" pitchFamily="34" charset="-120"/>
              </a:rPr>
              <a:t>|ψ⟩</a:t>
            </a:r>
          </a:p>
        </p:txBody>
      </p:sp>
      <p:sp>
        <p:nvSpPr>
          <p:cNvPr id="6" name="arrow"/>
          <p:cNvSpPr/>
          <p:nvPr/>
        </p:nvSpPr>
        <p:spPr>
          <a:xfrm>
            <a:off x="3281520" y="3080000"/>
            <a:ext cx="438480" cy="1"/>
          </a:xfrm>
          <a:prstGeom prst="line">
            <a:avLst/>
          </a:prstGeom>
          <a:ln w="28575">
            <a:solidFill>
              <a:srgbClr val="475569"/>
            </a:solidFill>
            <a:prstDash val="solid"/>
            <a:tailEnd type="triangle" w="med" len="med"/>
          </a:ln>
        </p:spPr>
        <p:txBody>
          <a:bodyPr/>
          <a:lstStyle/>
          <a:p>
            <a:endParaRPr lang="en-US"/>
          </a:p>
        </p:txBody>
      </p:sp>
      <p:sp>
        <p:nvSpPr>
          <p:cNvPr id="7" name="cmcap"/>
          <p:cNvSpPr/>
          <p:nvPr/>
        </p:nvSpPr>
        <p:spPr>
          <a:xfrm>
            <a:off x="3720000" y="2290000"/>
            <a:ext cx="2550000" cy="320000"/>
          </a:xfrm>
          <a:prstGeom prst="rect">
            <a:avLst/>
          </a:prstGeom>
          <a:noFill/>
          <a:ln/>
        </p:spPr>
        <p:txBody>
          <a:bodyPr wrap="square" lIns="45720" tIns="0" rIns="45720" bIns="0" rtlCol="0" anchor="ctr"/>
          <a:lstStyle/>
          <a:p>
            <a:pPr marL="0" indent="0" algn="ctr">
              <a:buNone/>
            </a:pPr>
            <a:r>
              <a:rPr lang="en-US" sz="1350" b="1">
                <a:solidFill>
                  <a:srgbClr val="B45309"/>
                </a:solidFill>
                <a:latin typeface="Calibri" pitchFamily="34" charset="0"/>
                <a:ea typeface="Calibri" pitchFamily="34" charset="-122"/>
                <a:cs typeface="Calibri" pitchFamily="34" charset="-120"/>
              </a:rPr>
              <a:t>Copy machine ?</a:t>
            </a:r>
          </a:p>
        </p:txBody>
      </p:sp>
      <p:sp>
        <p:nvSpPr>
          <p:cNvPr id="8" name="cm"/>
          <p:cNvSpPr/>
          <p:nvPr/>
        </p:nvSpPr>
        <p:spPr>
          <a:xfrm>
            <a:off x="3720000" y="2650000"/>
            <a:ext cx="2550000" cy="860000"/>
          </a:xfrm>
          <a:prstGeom prst="roundRect">
            <a:avLst>
              <a:gd name="adj" fmla="val 7000"/>
            </a:avLst>
          </a:prstGeom>
          <a:solidFill>
            <a:srgbClr val="FEF3C7"/>
          </a:solidFill>
          <a:ln w="19050">
            <a:solidFill>
              <a:srgbClr val="B45309"/>
            </a:solidFill>
            <a:prstDash val="solid"/>
          </a:ln>
        </p:spPr>
        <p:txBody>
          <a:bodyPr/>
          <a:lstStyle/>
          <a:p>
            <a:endParaRPr lang="en-US"/>
          </a:p>
        </p:txBody>
      </p:sp>
      <p:sp>
        <p:nvSpPr>
          <p:cNvPr id="9" name="arrow"/>
          <p:cNvSpPr/>
          <p:nvPr/>
        </p:nvSpPr>
        <p:spPr>
          <a:xfrm>
            <a:off x="3810000" y="2740000"/>
            <a:ext cx="2370000" cy="680000"/>
          </a:xfrm>
          <a:prstGeom prst="line">
            <a:avLst/>
          </a:prstGeom>
          <a:ln w="38100">
            <a:solidFill>
              <a:srgbClr val="DC2626"/>
            </a:solidFill>
            <a:prstDash val="solid"/>
          </a:ln>
        </p:spPr>
        <p:txBody>
          <a:bodyPr/>
          <a:lstStyle/>
          <a:p>
            <a:endParaRPr lang="en-US"/>
          </a:p>
        </p:txBody>
      </p:sp>
      <p:sp>
        <p:nvSpPr>
          <p:cNvPr id="10" name="arrow"/>
          <p:cNvSpPr/>
          <p:nvPr/>
        </p:nvSpPr>
        <p:spPr>
          <a:xfrm flipH="1">
            <a:off x="3810000" y="2740000"/>
            <a:ext cx="2370000" cy="680000"/>
          </a:xfrm>
          <a:prstGeom prst="line">
            <a:avLst/>
          </a:prstGeom>
          <a:ln w="38100">
            <a:solidFill>
              <a:srgbClr val="DC2626"/>
            </a:solidFill>
            <a:prstDash val="solid"/>
          </a:ln>
        </p:spPr>
        <p:txBody>
          <a:bodyPr/>
          <a:lstStyle/>
          <a:p>
            <a:endParaRPr lang="en-US"/>
          </a:p>
        </p:txBody>
      </p:sp>
      <p:sp>
        <p:nvSpPr>
          <p:cNvPr id="11" name="arrow"/>
          <p:cNvSpPr/>
          <p:nvPr/>
        </p:nvSpPr>
        <p:spPr>
          <a:xfrm flipV="1">
            <a:off x="6270000" y="2830000"/>
            <a:ext cx="880000" cy="130000"/>
          </a:xfrm>
          <a:prstGeom prst="line">
            <a:avLst/>
          </a:prstGeom>
          <a:ln w="28575">
            <a:solidFill>
              <a:srgbClr val="475569"/>
            </a:solidFill>
            <a:prstDash val="solid"/>
            <a:tailEnd type="triangle" w="med" len="med"/>
          </a:ln>
        </p:spPr>
        <p:txBody>
          <a:bodyPr/>
          <a:lstStyle/>
          <a:p>
            <a:endParaRPr lang="en-US"/>
          </a:p>
        </p:txBody>
      </p:sp>
      <p:sp>
        <p:nvSpPr>
          <p:cNvPr id="12" name="arrow"/>
          <p:cNvSpPr/>
          <p:nvPr/>
        </p:nvSpPr>
        <p:spPr>
          <a:xfrm>
            <a:off x="6270000" y="3200000"/>
            <a:ext cx="880000" cy="580000"/>
          </a:xfrm>
          <a:prstGeom prst="line">
            <a:avLst/>
          </a:prstGeom>
          <a:ln w="28575">
            <a:solidFill>
              <a:srgbClr val="475569"/>
            </a:solidFill>
            <a:prstDash val="solid"/>
            <a:tailEnd type="triangle" w="med" len="med"/>
          </a:ln>
        </p:spPr>
        <p:txBody>
          <a:bodyPr/>
          <a:lstStyle/>
          <a:p>
            <a:endParaRPr lang="en-US"/>
          </a:p>
        </p:txBody>
      </p:sp>
      <p:sp>
        <p:nvSpPr>
          <p:cNvPr id="13" name="orig"/>
          <p:cNvSpPr/>
          <p:nvPr/>
        </p:nvSpPr>
        <p:spPr>
          <a:xfrm>
            <a:off x="7150000" y="2500000"/>
            <a:ext cx="2500000" cy="660000"/>
          </a:xfrm>
          <a:prstGeom prst="roundRect">
            <a:avLst>
              <a:gd name="adj" fmla="val 7000"/>
            </a:avLst>
          </a:prstGeom>
          <a:solidFill>
            <a:srgbClr val="F1F5F9"/>
          </a:solidFill>
          <a:ln w="12700">
            <a:solidFill>
              <a:srgbClr val="94A3B8"/>
            </a:solidFill>
            <a:prstDash val="solid"/>
          </a:ln>
        </p:spPr>
        <p:txBody>
          <a:bodyPr wrap="square" lIns="45720" tIns="0" rIns="45720" bIns="0" rtlCol="0" anchor="ctr"/>
          <a:lstStyle/>
          <a:p>
            <a:pPr marL="0" indent="0" algn="ctr">
              <a:buNone/>
            </a:pPr>
            <a:r>
              <a:rPr lang="en-US" sz="1250" b="1">
                <a:solidFill>
                  <a:srgbClr val="475569"/>
                </a:solidFill>
                <a:latin typeface="Calibri" pitchFamily="34" charset="0"/>
                <a:ea typeface="Calibri" pitchFamily="34" charset="-122"/>
                <a:cs typeface="Calibri" pitchFamily="34" charset="-120"/>
              </a:rPr>
              <a:t>Original (kept)</a:t>
            </a:r>
          </a:p>
        </p:txBody>
      </p:sp>
      <p:sp>
        <p:nvSpPr>
          <p:cNvPr id="14" name="copy"/>
          <p:cNvSpPr/>
          <p:nvPr/>
        </p:nvSpPr>
        <p:spPr>
          <a:xfrm>
            <a:off x="7150000" y="3450000"/>
            <a:ext cx="2500000" cy="660000"/>
          </a:xfrm>
          <a:prstGeom prst="roundRect">
            <a:avLst>
              <a:gd name="adj" fmla="val 7000"/>
            </a:avLst>
          </a:prstGeom>
          <a:solidFill>
            <a:srgbClr val="FEE2E2"/>
          </a:solidFill>
          <a:ln w="12700">
            <a:solidFill>
              <a:srgbClr val="DC2626"/>
            </a:solidFill>
            <a:prstDash val="solid"/>
          </a:ln>
        </p:spPr>
        <p:txBody>
          <a:bodyPr wrap="square" lIns="45720" tIns="0" rIns="45720" bIns="0" rtlCol="0" anchor="ctr"/>
          <a:lstStyle/>
          <a:p>
            <a:pPr marL="0" indent="0" algn="ctr">
              <a:buNone/>
            </a:pPr>
            <a:r>
              <a:rPr lang="en-US" sz="1200" b="1">
                <a:solidFill>
                  <a:srgbClr val="DC2626"/>
                </a:solidFill>
                <a:latin typeface="Calibri" pitchFamily="34" charset="0"/>
                <a:ea typeface="Calibri" pitchFamily="34" charset="-122"/>
                <a:cs typeface="Calibri" pitchFamily="34" charset="-120"/>
              </a:rPr>
              <a:t>Perfect copy — forbidden</a:t>
            </a:r>
          </a:p>
        </p:txBody>
      </p:sp>
      <p:sp>
        <p:nvSpPr>
          <p:cNvPr id="15" name="nct"/>
          <p:cNvSpPr/>
          <p:nvPr/>
        </p:nvSpPr>
        <p:spPr>
          <a:xfrm>
            <a:off x="731520" y="4180000"/>
            <a:ext cx="10728960" cy="900000"/>
          </a:xfrm>
          <a:prstGeom prst="roundRect">
            <a:avLst>
              <a:gd name="adj" fmla="val 7000"/>
            </a:avLst>
          </a:prstGeom>
          <a:solidFill>
            <a:srgbClr val="CCFBF1"/>
          </a:solidFill>
          <a:ln w="22225">
            <a:solidFill>
              <a:srgbClr val="0D9488"/>
            </a:solidFill>
            <a:prstDash val="solid"/>
          </a:ln>
        </p:spPr>
        <p:txBody>
          <a:bodyPr wrap="square" lIns="45720" tIns="0" rIns="45720" bIns="0" rtlCol="0" anchor="ctr"/>
          <a:lstStyle/>
          <a:p>
            <a:pPr marL="0" indent="0" algn="ctr">
              <a:spcAft>
                <a:spcPts val="300"/>
              </a:spcAft>
              <a:buNone/>
            </a:pPr>
            <a:r>
              <a:rPr lang="en-US" sz="1650" b="1">
                <a:solidFill>
                  <a:srgbClr val="0D9488"/>
                </a:solidFill>
                <a:latin typeface="Calibri" pitchFamily="34" charset="0"/>
                <a:ea typeface="Calibri" pitchFamily="34" charset="-122"/>
                <a:cs typeface="Calibri" pitchFamily="34" charset="-120"/>
              </a:rPr>
              <a:t>No-Cloning Theorem</a:t>
            </a:r>
          </a:p>
          <a:p>
            <a:pPr marL="0" indent="0" algn="ctr">
              <a:buNone/>
            </a:pPr>
            <a:r>
              <a:rPr lang="en-US" sz="1350">
                <a:solidFill>
                  <a:srgbClr val="475569"/>
                </a:solidFill>
                <a:latin typeface="Calibri" pitchFamily="34" charset="0"/>
                <a:ea typeface="Calibri" pitchFamily="34" charset="-122"/>
                <a:cs typeface="Calibri" pitchFamily="34" charset="-120"/>
              </a:rPr>
              <a:t>Unknown quantum states cannot be copied perfectly.</a:t>
            </a:r>
          </a:p>
        </p:txBody>
      </p:sp>
      <p:sp>
        <p:nvSpPr>
          <p:cNvPr id="16" name="ev"/>
          <p:cNvSpPr/>
          <p:nvPr/>
        </p:nvSpPr>
        <p:spPr>
          <a:xfrm>
            <a:off x="731520" y="5300000"/>
            <a:ext cx="10728960" cy="600000"/>
          </a:xfrm>
          <a:prstGeom prst="roundRect">
            <a:avLst>
              <a:gd name="adj" fmla="val 8000"/>
            </a:avLst>
          </a:prstGeom>
          <a:solidFill>
            <a:srgbClr val="EEF2FF"/>
          </a:solidFill>
          <a:ln w="19050">
            <a:solidFill>
              <a:srgbClr val="3730A3"/>
            </a:solidFill>
            <a:prstDash val="solid"/>
          </a:ln>
        </p:spPr>
        <p:txBody>
          <a:bodyPr wrap="square" lIns="45720" tIns="0" rIns="45720" bIns="0" rtlCol="0" anchor="ctr"/>
          <a:lstStyle/>
          <a:p>
            <a:pPr marL="0" indent="0" algn="ctr">
              <a:buNone/>
            </a:pPr>
            <a:r>
              <a:rPr lang="en-US" sz="1500" b="1">
                <a:solidFill>
                  <a:srgbClr val="3730A3"/>
                </a:solidFill>
                <a:latin typeface="Calibri" pitchFamily="34" charset="0"/>
                <a:ea typeface="Calibri" pitchFamily="34" charset="-122"/>
                <a:cs typeface="Calibri" pitchFamily="34" charset="-120"/>
              </a:rPr>
              <a:t>Without copying, Eve must measure — and measurement causes disturbance.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548640" y="384048"/>
            <a:ext cx="9200000" cy="960120"/>
          </a:xfrm>
          <a:prstGeom prst="rect">
            <a:avLst/>
          </a:prstGeom>
          <a:noFill/>
          <a:ln/>
        </p:spPr>
        <p:txBody>
          <a:bodyPr wrap="square" lIns="0" tIns="0" rIns="0" bIns="0" rtlCol="0" anchor="ctr"/>
          <a:lstStyle/>
          <a:p>
            <a:pPr marL="0" indent="0" algn="l">
              <a:buNone/>
            </a:pPr>
            <a:r>
              <a:rPr lang="en-US" sz="2200" b="1">
                <a:solidFill>
                  <a:srgbClr val="3730A3"/>
                </a:solidFill>
                <a:latin typeface="Calibri" pitchFamily="34" charset="0"/>
                <a:ea typeface="Calibri" pitchFamily="34" charset="-122"/>
                <a:cs typeface="Calibri" pitchFamily="34" charset="-120"/>
              </a:rPr>
              <a:t>Single-Qubit Systems: The Big Picture</a:t>
            </a:r>
            <a:endParaRPr lang="en-US" sz="2200"/>
          </a:p>
        </p:txBody>
      </p:sp>
      <p:sp>
        <p:nvSpPr>
          <p:cNvPr id="3" name="accent"/>
          <p:cNvSpPr/>
          <p:nvPr/>
        </p:nvSpPr>
        <p:spPr>
          <a:xfrm>
            <a:off x="566928" y="1371600"/>
            <a:ext cx="2743200" cy="50292"/>
          </a:xfrm>
          <a:prstGeom prst="rect">
            <a:avLst/>
          </a:prstGeom>
          <a:solidFill>
            <a:srgbClr val="0D9488"/>
          </a:solidFill>
          <a:ln/>
        </p:spPr>
        <p:txBody>
          <a:bodyPr/>
          <a:lstStyle/>
          <a:p>
            <a:endParaRPr lang="en-US"/>
          </a:p>
        </p:txBody>
      </p:sp>
      <p:sp>
        <p:nvSpPr>
          <p:cNvPr id="4" name="c0"/>
          <p:cNvSpPr/>
          <p:nvPr/>
        </p:nvSpPr>
        <p:spPr>
          <a:xfrm>
            <a:off x="300000" y="1560000"/>
            <a:ext cx="3200000" cy="330000"/>
          </a:xfrm>
          <a:prstGeom prst="roundRect">
            <a:avLst>
              <a:gd name="adj" fmla="val 18000"/>
            </a:avLst>
          </a:prstGeom>
          <a:solidFill>
            <a:srgbClr val="CCFBF1"/>
          </a:solidFill>
          <a:ln w="12700">
            <a:solidFill>
              <a:srgbClr val="0D9488"/>
            </a:solidFill>
            <a:prstDash val="solid"/>
          </a:ln>
        </p:spPr>
        <p:txBody>
          <a:bodyPr wrap="square" lIns="45720" tIns="0" rIns="45720" bIns="0" rtlCol="0" anchor="ctr"/>
          <a:lstStyle/>
          <a:p>
            <a:pPr marL="0" indent="0" algn="ctr">
              <a:buNone/>
            </a:pPr>
            <a:r>
              <a:rPr lang="en-US" sz="1600" b="1">
                <a:solidFill>
                  <a:srgbClr val="0D9488"/>
                </a:solidFill>
                <a:latin typeface="Calibri" pitchFamily="34" charset="0"/>
                <a:ea typeface="Calibri" pitchFamily="34" charset="-122"/>
                <a:cs typeface="Calibri" pitchFamily="34" charset="-120"/>
              </a:rPr>
              <a:t>Photon Polarization</a:t>
            </a:r>
          </a:p>
        </p:txBody>
      </p:sp>
      <p:sp>
        <p:nvSpPr>
          <p:cNvPr id="5" name="arrow"/>
          <p:cNvSpPr/>
          <p:nvPr/>
        </p:nvSpPr>
        <p:spPr>
          <a:xfrm>
            <a:off x="1900000" y="1890000"/>
            <a:ext cx="1" cy="160000"/>
          </a:xfrm>
          <a:prstGeom prst="line">
            <a:avLst/>
          </a:prstGeom>
          <a:ln w="19050">
            <a:solidFill>
              <a:srgbClr val="475569"/>
            </a:solidFill>
            <a:prstDash val="solid"/>
            <a:tailEnd type="triangle" w="med" len="med"/>
          </a:ln>
        </p:spPr>
        <p:txBody>
          <a:bodyPr/>
          <a:lstStyle/>
          <a:p>
            <a:endParaRPr lang="en-US" sz="2400"/>
          </a:p>
        </p:txBody>
      </p:sp>
      <p:sp>
        <p:nvSpPr>
          <p:cNvPr id="6" name="c1"/>
          <p:cNvSpPr/>
          <p:nvPr/>
        </p:nvSpPr>
        <p:spPr>
          <a:xfrm>
            <a:off x="300000" y="2050000"/>
            <a:ext cx="3200000" cy="330000"/>
          </a:xfrm>
          <a:prstGeom prst="roundRect">
            <a:avLst>
              <a:gd name="adj" fmla="val 18000"/>
            </a:avLst>
          </a:prstGeom>
          <a:solidFill>
            <a:srgbClr val="CCFBF1"/>
          </a:solidFill>
          <a:ln w="12700">
            <a:solidFill>
              <a:srgbClr val="0D9488"/>
            </a:solidFill>
            <a:prstDash val="solid"/>
          </a:ln>
        </p:spPr>
        <p:txBody>
          <a:bodyPr wrap="square" lIns="45720" tIns="0" rIns="45720" bIns="0" rtlCol="0" anchor="ctr"/>
          <a:lstStyle/>
          <a:p>
            <a:pPr marL="0" indent="0" algn="ctr">
              <a:buNone/>
            </a:pPr>
            <a:r>
              <a:rPr lang="en-US" sz="1600" b="1">
                <a:solidFill>
                  <a:srgbClr val="0D9488"/>
                </a:solidFill>
                <a:latin typeface="Calibri" pitchFamily="34" charset="0"/>
                <a:ea typeface="Calibri" pitchFamily="34" charset="-122"/>
                <a:cs typeface="Calibri" pitchFamily="34" charset="-120"/>
              </a:rPr>
              <a:t>Qubit Representation</a:t>
            </a:r>
          </a:p>
        </p:txBody>
      </p:sp>
      <p:sp>
        <p:nvSpPr>
          <p:cNvPr id="7" name="arrow"/>
          <p:cNvSpPr/>
          <p:nvPr/>
        </p:nvSpPr>
        <p:spPr>
          <a:xfrm>
            <a:off x="1900000" y="2380000"/>
            <a:ext cx="1" cy="160000"/>
          </a:xfrm>
          <a:prstGeom prst="line">
            <a:avLst/>
          </a:prstGeom>
          <a:ln w="19050">
            <a:solidFill>
              <a:srgbClr val="475569"/>
            </a:solidFill>
            <a:prstDash val="solid"/>
            <a:tailEnd type="triangle" w="med" len="med"/>
          </a:ln>
        </p:spPr>
        <p:txBody>
          <a:bodyPr/>
          <a:lstStyle/>
          <a:p>
            <a:endParaRPr lang="en-US" sz="2400"/>
          </a:p>
        </p:txBody>
      </p:sp>
      <p:sp>
        <p:nvSpPr>
          <p:cNvPr id="8" name="c2"/>
          <p:cNvSpPr/>
          <p:nvPr/>
        </p:nvSpPr>
        <p:spPr>
          <a:xfrm>
            <a:off x="300000" y="2540000"/>
            <a:ext cx="3200000" cy="330000"/>
          </a:xfrm>
          <a:prstGeom prst="roundRect">
            <a:avLst>
              <a:gd name="adj" fmla="val 18000"/>
            </a:avLst>
          </a:prstGeom>
          <a:solidFill>
            <a:srgbClr val="CCFBF1"/>
          </a:solidFill>
          <a:ln w="12700">
            <a:solidFill>
              <a:srgbClr val="0D9488"/>
            </a:solidFill>
            <a:prstDash val="solid"/>
          </a:ln>
        </p:spPr>
        <p:txBody>
          <a:bodyPr wrap="square" lIns="45720" tIns="0" rIns="45720" bIns="0" rtlCol="0" anchor="ctr"/>
          <a:lstStyle/>
          <a:p>
            <a:pPr marL="0" indent="0" algn="ctr">
              <a:buNone/>
            </a:pPr>
            <a:r>
              <a:rPr lang="en-US" sz="1600" b="1">
                <a:solidFill>
                  <a:srgbClr val="0D9488"/>
                </a:solidFill>
                <a:latin typeface="Calibri" pitchFamily="34" charset="0"/>
                <a:ea typeface="Calibri" pitchFamily="34" charset="-122"/>
                <a:cs typeface="Calibri" pitchFamily="34" charset="-120"/>
              </a:rPr>
              <a:t>Superposition</a:t>
            </a:r>
          </a:p>
        </p:txBody>
      </p:sp>
      <p:sp>
        <p:nvSpPr>
          <p:cNvPr id="9" name="arrow"/>
          <p:cNvSpPr/>
          <p:nvPr/>
        </p:nvSpPr>
        <p:spPr>
          <a:xfrm>
            <a:off x="1900000" y="2870000"/>
            <a:ext cx="1" cy="160000"/>
          </a:xfrm>
          <a:prstGeom prst="line">
            <a:avLst/>
          </a:prstGeom>
          <a:ln w="19050">
            <a:solidFill>
              <a:srgbClr val="475569"/>
            </a:solidFill>
            <a:prstDash val="solid"/>
            <a:tailEnd type="triangle" w="med" len="med"/>
          </a:ln>
        </p:spPr>
        <p:txBody>
          <a:bodyPr/>
          <a:lstStyle/>
          <a:p>
            <a:endParaRPr lang="en-US" sz="2400"/>
          </a:p>
        </p:txBody>
      </p:sp>
      <p:sp>
        <p:nvSpPr>
          <p:cNvPr id="10" name="c3"/>
          <p:cNvSpPr/>
          <p:nvPr/>
        </p:nvSpPr>
        <p:spPr>
          <a:xfrm>
            <a:off x="300000" y="3030000"/>
            <a:ext cx="3200000" cy="330000"/>
          </a:xfrm>
          <a:prstGeom prst="roundRect">
            <a:avLst>
              <a:gd name="adj" fmla="val 18000"/>
            </a:avLst>
          </a:prstGeom>
          <a:solidFill>
            <a:srgbClr val="EEF2FF"/>
          </a:solidFill>
          <a:ln w="12700">
            <a:solidFill>
              <a:srgbClr val="3730A3"/>
            </a:solidFill>
            <a:prstDash val="solid"/>
          </a:ln>
        </p:spPr>
        <p:txBody>
          <a:bodyPr wrap="square" lIns="45720" tIns="0" rIns="45720" bIns="0" rtlCol="0" anchor="ctr"/>
          <a:lstStyle/>
          <a:p>
            <a:pPr marL="0" indent="0" algn="ctr">
              <a:buNone/>
            </a:pPr>
            <a:r>
              <a:rPr lang="en-US" sz="1600" b="1">
                <a:solidFill>
                  <a:srgbClr val="3730A3"/>
                </a:solidFill>
                <a:latin typeface="Calibri" pitchFamily="34" charset="0"/>
                <a:ea typeface="Calibri" pitchFamily="34" charset="-122"/>
                <a:cs typeface="Calibri" pitchFamily="34" charset="-120"/>
              </a:rPr>
              <a:t>Dirac Notation</a:t>
            </a:r>
          </a:p>
        </p:txBody>
      </p:sp>
      <p:sp>
        <p:nvSpPr>
          <p:cNvPr id="11" name="arrow"/>
          <p:cNvSpPr/>
          <p:nvPr/>
        </p:nvSpPr>
        <p:spPr>
          <a:xfrm>
            <a:off x="1900000" y="3360000"/>
            <a:ext cx="1" cy="160000"/>
          </a:xfrm>
          <a:prstGeom prst="line">
            <a:avLst/>
          </a:prstGeom>
          <a:ln w="19050">
            <a:solidFill>
              <a:srgbClr val="475569"/>
            </a:solidFill>
            <a:prstDash val="solid"/>
            <a:tailEnd type="triangle" w="med" len="med"/>
          </a:ln>
        </p:spPr>
        <p:txBody>
          <a:bodyPr/>
          <a:lstStyle/>
          <a:p>
            <a:endParaRPr lang="en-US" sz="2400"/>
          </a:p>
        </p:txBody>
      </p:sp>
      <p:sp>
        <p:nvSpPr>
          <p:cNvPr id="12" name="c4"/>
          <p:cNvSpPr/>
          <p:nvPr/>
        </p:nvSpPr>
        <p:spPr>
          <a:xfrm>
            <a:off x="300000" y="3520000"/>
            <a:ext cx="3200000" cy="330000"/>
          </a:xfrm>
          <a:prstGeom prst="roundRect">
            <a:avLst>
              <a:gd name="adj" fmla="val 18000"/>
            </a:avLst>
          </a:prstGeom>
          <a:solidFill>
            <a:srgbClr val="EEF2FF"/>
          </a:solidFill>
          <a:ln w="12700">
            <a:solidFill>
              <a:srgbClr val="3730A3"/>
            </a:solidFill>
            <a:prstDash val="solid"/>
          </a:ln>
        </p:spPr>
        <p:txBody>
          <a:bodyPr wrap="square" lIns="45720" tIns="0" rIns="45720" bIns="0" rtlCol="0" anchor="ctr"/>
          <a:lstStyle/>
          <a:p>
            <a:pPr marL="0" indent="0" algn="ctr">
              <a:buNone/>
            </a:pPr>
            <a:r>
              <a:rPr lang="en-US" sz="1600" b="1">
                <a:solidFill>
                  <a:srgbClr val="3730A3"/>
                </a:solidFill>
                <a:latin typeface="Calibri" pitchFamily="34" charset="0"/>
                <a:ea typeface="Calibri" pitchFamily="34" charset="-122"/>
                <a:cs typeface="Calibri" pitchFamily="34" charset="-120"/>
              </a:rPr>
              <a:t>Measurement (Born Rule)</a:t>
            </a:r>
          </a:p>
        </p:txBody>
      </p:sp>
      <p:sp>
        <p:nvSpPr>
          <p:cNvPr id="13" name="arrow"/>
          <p:cNvSpPr/>
          <p:nvPr/>
        </p:nvSpPr>
        <p:spPr>
          <a:xfrm>
            <a:off x="1900000" y="3850000"/>
            <a:ext cx="1" cy="160000"/>
          </a:xfrm>
          <a:prstGeom prst="line">
            <a:avLst/>
          </a:prstGeom>
          <a:ln w="19050">
            <a:solidFill>
              <a:srgbClr val="475569"/>
            </a:solidFill>
            <a:prstDash val="solid"/>
            <a:tailEnd type="triangle" w="med" len="med"/>
          </a:ln>
        </p:spPr>
        <p:txBody>
          <a:bodyPr/>
          <a:lstStyle/>
          <a:p>
            <a:endParaRPr lang="en-US" sz="2400"/>
          </a:p>
        </p:txBody>
      </p:sp>
      <p:sp>
        <p:nvSpPr>
          <p:cNvPr id="14" name="c5"/>
          <p:cNvSpPr/>
          <p:nvPr/>
        </p:nvSpPr>
        <p:spPr>
          <a:xfrm>
            <a:off x="300000" y="4010000"/>
            <a:ext cx="3200000" cy="330000"/>
          </a:xfrm>
          <a:prstGeom prst="roundRect">
            <a:avLst>
              <a:gd name="adj" fmla="val 18000"/>
            </a:avLst>
          </a:prstGeom>
          <a:solidFill>
            <a:srgbClr val="EEF2FF"/>
          </a:solidFill>
          <a:ln w="12700">
            <a:solidFill>
              <a:srgbClr val="3730A3"/>
            </a:solidFill>
            <a:prstDash val="solid"/>
          </a:ln>
        </p:spPr>
        <p:txBody>
          <a:bodyPr wrap="square" lIns="45720" tIns="0" rIns="45720" bIns="0" rtlCol="0" anchor="ctr"/>
          <a:lstStyle/>
          <a:p>
            <a:pPr marL="0" indent="0" algn="ctr">
              <a:buNone/>
            </a:pPr>
            <a:r>
              <a:rPr lang="en-US" sz="1600" b="1">
                <a:solidFill>
                  <a:srgbClr val="3730A3"/>
                </a:solidFill>
                <a:latin typeface="Calibri" pitchFamily="34" charset="0"/>
                <a:ea typeface="Calibri" pitchFamily="34" charset="-122"/>
                <a:cs typeface="Calibri" pitchFamily="34" charset="-120"/>
              </a:rPr>
              <a:t>Global vs Relative Phase</a:t>
            </a:r>
          </a:p>
        </p:txBody>
      </p:sp>
      <p:sp>
        <p:nvSpPr>
          <p:cNvPr id="15" name="arrow"/>
          <p:cNvSpPr/>
          <p:nvPr/>
        </p:nvSpPr>
        <p:spPr>
          <a:xfrm>
            <a:off x="1900000" y="4340000"/>
            <a:ext cx="1" cy="160000"/>
          </a:xfrm>
          <a:prstGeom prst="line">
            <a:avLst/>
          </a:prstGeom>
          <a:ln w="19050">
            <a:solidFill>
              <a:srgbClr val="475569"/>
            </a:solidFill>
            <a:prstDash val="solid"/>
            <a:tailEnd type="triangle" w="med" len="med"/>
          </a:ln>
        </p:spPr>
        <p:txBody>
          <a:bodyPr/>
          <a:lstStyle/>
          <a:p>
            <a:endParaRPr lang="en-US" sz="2400"/>
          </a:p>
        </p:txBody>
      </p:sp>
      <p:sp>
        <p:nvSpPr>
          <p:cNvPr id="16" name="c6"/>
          <p:cNvSpPr/>
          <p:nvPr/>
        </p:nvSpPr>
        <p:spPr>
          <a:xfrm>
            <a:off x="300000" y="4500000"/>
            <a:ext cx="3200000" cy="330000"/>
          </a:xfrm>
          <a:prstGeom prst="roundRect">
            <a:avLst>
              <a:gd name="adj" fmla="val 18000"/>
            </a:avLst>
          </a:prstGeom>
          <a:solidFill>
            <a:srgbClr val="FEF3C7"/>
          </a:solidFill>
          <a:ln w="12700">
            <a:solidFill>
              <a:srgbClr val="B45309"/>
            </a:solidFill>
            <a:prstDash val="solid"/>
          </a:ln>
        </p:spPr>
        <p:txBody>
          <a:bodyPr wrap="square" lIns="45720" tIns="0" rIns="45720" bIns="0" rtlCol="0" anchor="ctr"/>
          <a:lstStyle/>
          <a:p>
            <a:pPr marL="0" indent="0" algn="ctr">
              <a:buNone/>
            </a:pPr>
            <a:r>
              <a:rPr lang="en-US" sz="1600" b="1">
                <a:solidFill>
                  <a:srgbClr val="B45309"/>
                </a:solidFill>
                <a:latin typeface="Calibri" pitchFamily="34" charset="0"/>
                <a:ea typeface="Calibri" pitchFamily="34" charset="-122"/>
                <a:cs typeface="Calibri" pitchFamily="34" charset="-120"/>
              </a:rPr>
              <a:t>Bloch Sphere</a:t>
            </a:r>
          </a:p>
        </p:txBody>
      </p:sp>
      <p:sp>
        <p:nvSpPr>
          <p:cNvPr id="17" name="arrow"/>
          <p:cNvSpPr/>
          <p:nvPr/>
        </p:nvSpPr>
        <p:spPr>
          <a:xfrm>
            <a:off x="1900000" y="4830000"/>
            <a:ext cx="1" cy="160000"/>
          </a:xfrm>
          <a:prstGeom prst="line">
            <a:avLst/>
          </a:prstGeom>
          <a:ln w="19050">
            <a:solidFill>
              <a:srgbClr val="475569"/>
            </a:solidFill>
            <a:prstDash val="solid"/>
            <a:tailEnd type="triangle" w="med" len="med"/>
          </a:ln>
        </p:spPr>
        <p:txBody>
          <a:bodyPr/>
          <a:lstStyle/>
          <a:p>
            <a:endParaRPr lang="en-US" sz="2400" dirty="0"/>
          </a:p>
        </p:txBody>
      </p:sp>
      <p:sp>
        <p:nvSpPr>
          <p:cNvPr id="18" name="c7"/>
          <p:cNvSpPr/>
          <p:nvPr/>
        </p:nvSpPr>
        <p:spPr>
          <a:xfrm>
            <a:off x="300000" y="4990000"/>
            <a:ext cx="3200000" cy="330000"/>
          </a:xfrm>
          <a:prstGeom prst="roundRect">
            <a:avLst>
              <a:gd name="adj" fmla="val 18000"/>
            </a:avLst>
          </a:prstGeom>
          <a:solidFill>
            <a:srgbClr val="B45309"/>
          </a:solidFill>
          <a:ln w="15875">
            <a:solidFill>
              <a:srgbClr val="B45309"/>
            </a:solidFill>
            <a:prstDash val="solid"/>
          </a:ln>
        </p:spPr>
        <p:txBody>
          <a:bodyPr wrap="square" lIns="45720" tIns="0" rIns="4572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BB84 Quantum Key Distribution</a:t>
            </a:r>
          </a:p>
        </p:txBody>
      </p:sp>
      <p:sp>
        <p:nvSpPr>
          <p:cNvPr id="19" name="tk"/>
          <p:cNvSpPr/>
          <p:nvPr/>
        </p:nvSpPr>
        <p:spPr>
          <a:xfrm>
            <a:off x="6350000" y="1560000"/>
            <a:ext cx="5110480" cy="4030000"/>
          </a:xfrm>
          <a:prstGeom prst="roundRect">
            <a:avLst>
              <a:gd name="adj" fmla="val 5000"/>
            </a:avLst>
          </a:prstGeom>
          <a:solidFill>
            <a:srgbClr val="EEF2FF"/>
          </a:solidFill>
          <a:ln w="15875">
            <a:solidFill>
              <a:srgbClr val="3730A3"/>
            </a:solidFill>
            <a:prstDash val="solid"/>
          </a:ln>
        </p:spPr>
        <p:txBody>
          <a:bodyPr wrap="square" lIns="228600" tIns="0" rIns="45720" bIns="0" rtlCol="0" anchor="t"/>
          <a:lstStyle/>
          <a:p>
            <a:pPr marL="0" indent="0" algn="l">
              <a:spcAft>
                <a:spcPts val="700"/>
              </a:spcAft>
              <a:buNone/>
            </a:pPr>
            <a:r>
              <a:rPr lang="en-US" sz="2400" b="1" dirty="0">
                <a:solidFill>
                  <a:srgbClr val="3730A3"/>
                </a:solidFill>
                <a:latin typeface="Calibri" pitchFamily="34" charset="0"/>
                <a:ea typeface="Calibri" pitchFamily="34" charset="-122"/>
                <a:cs typeface="Calibri" pitchFamily="34" charset="-120"/>
              </a:rPr>
              <a:t>Key Takeaways</a:t>
            </a:r>
          </a:p>
          <a:p>
            <a:pPr marL="274320" indent="-274320" algn="l">
              <a:spcAft>
                <a:spcPts val="560"/>
              </a:spcAft>
              <a:buNone/>
            </a:pPr>
            <a:r>
              <a:rPr lang="en-US" b="1" dirty="0">
                <a:solidFill>
                  <a:srgbClr val="0D9488"/>
                </a:solidFill>
                <a:latin typeface="Calibri" pitchFamily="34" charset="0"/>
                <a:ea typeface="Calibri" pitchFamily="34" charset="-122"/>
                <a:cs typeface="Calibri" pitchFamily="34" charset="-120"/>
              </a:rPr>
              <a:t>•  </a:t>
            </a:r>
            <a:r>
              <a:rPr lang="en-US" dirty="0">
                <a:solidFill>
                  <a:srgbClr val="475569"/>
                </a:solidFill>
                <a:latin typeface="Calibri" pitchFamily="34" charset="0"/>
                <a:ea typeface="Calibri" pitchFamily="34" charset="-122"/>
                <a:cs typeface="Calibri" pitchFamily="34" charset="-120"/>
              </a:rPr>
              <a:t>A qubit is a two-level quantum system.</a:t>
            </a:r>
          </a:p>
          <a:p>
            <a:pPr marL="274320" indent="-274320" algn="l">
              <a:spcAft>
                <a:spcPts val="560"/>
              </a:spcAft>
              <a:buNone/>
            </a:pPr>
            <a:r>
              <a:rPr lang="en-US" b="1" dirty="0">
                <a:solidFill>
                  <a:srgbClr val="0D9488"/>
                </a:solidFill>
                <a:latin typeface="Calibri" pitchFamily="34" charset="0"/>
                <a:ea typeface="Calibri" pitchFamily="34" charset="-122"/>
                <a:cs typeface="Calibri" pitchFamily="34" charset="-120"/>
              </a:rPr>
              <a:t>•  </a:t>
            </a:r>
            <a:r>
              <a:rPr lang="en-US" dirty="0">
                <a:solidFill>
                  <a:srgbClr val="475569"/>
                </a:solidFill>
                <a:latin typeface="Calibri" pitchFamily="34" charset="0"/>
                <a:ea typeface="Calibri" pitchFamily="34" charset="-122"/>
                <a:cs typeface="Calibri" pitchFamily="34" charset="-120"/>
              </a:rPr>
              <a:t>Quantum information is encoded in amplitudes and relative phase.</a:t>
            </a:r>
          </a:p>
          <a:p>
            <a:pPr marL="274320" indent="-274320" algn="l">
              <a:spcAft>
                <a:spcPts val="560"/>
              </a:spcAft>
              <a:buNone/>
            </a:pPr>
            <a:r>
              <a:rPr lang="en-US" b="1" dirty="0">
                <a:solidFill>
                  <a:srgbClr val="0D9488"/>
                </a:solidFill>
                <a:latin typeface="Calibri" pitchFamily="34" charset="0"/>
                <a:ea typeface="Calibri" pitchFamily="34" charset="-122"/>
                <a:cs typeface="Calibri" pitchFamily="34" charset="-120"/>
              </a:rPr>
              <a:t>•  </a:t>
            </a:r>
            <a:r>
              <a:rPr lang="en-US" dirty="0">
                <a:solidFill>
                  <a:srgbClr val="475569"/>
                </a:solidFill>
                <a:latin typeface="Calibri" pitchFamily="34" charset="0"/>
                <a:ea typeface="Calibri" pitchFamily="34" charset="-122"/>
                <a:cs typeface="Calibri" pitchFamily="34" charset="-120"/>
              </a:rPr>
              <a:t>Measurement is probabilistic and changes the state.</a:t>
            </a:r>
          </a:p>
          <a:p>
            <a:pPr marL="274320" indent="-274320" algn="l">
              <a:spcAft>
                <a:spcPts val="560"/>
              </a:spcAft>
              <a:buNone/>
            </a:pPr>
            <a:r>
              <a:rPr lang="en-US" b="1" dirty="0">
                <a:solidFill>
                  <a:srgbClr val="0D9488"/>
                </a:solidFill>
                <a:latin typeface="Calibri" pitchFamily="34" charset="0"/>
                <a:ea typeface="Calibri" pitchFamily="34" charset="-122"/>
                <a:cs typeface="Calibri" pitchFamily="34" charset="-120"/>
              </a:rPr>
              <a:t>•  </a:t>
            </a:r>
            <a:r>
              <a:rPr lang="en-US" dirty="0">
                <a:solidFill>
                  <a:srgbClr val="475569"/>
                </a:solidFill>
                <a:latin typeface="Calibri" pitchFamily="34" charset="0"/>
                <a:ea typeface="Calibri" pitchFamily="34" charset="-122"/>
                <a:cs typeface="Calibri" pitchFamily="34" charset="-120"/>
              </a:rPr>
              <a:t>The Bloch sphere gives a complete geometric picture of pure single-qubit states.</a:t>
            </a:r>
          </a:p>
          <a:p>
            <a:pPr marL="274320" indent="-274320" algn="l">
              <a:spcAft>
                <a:spcPts val="560"/>
              </a:spcAft>
              <a:buNone/>
            </a:pPr>
            <a:r>
              <a:rPr lang="en-US" b="1" dirty="0">
                <a:solidFill>
                  <a:srgbClr val="0D9488"/>
                </a:solidFill>
                <a:latin typeface="Calibri" pitchFamily="34" charset="0"/>
                <a:ea typeface="Calibri" pitchFamily="34" charset="-122"/>
                <a:cs typeface="Calibri" pitchFamily="34" charset="-120"/>
              </a:rPr>
              <a:t>•  </a:t>
            </a:r>
            <a:r>
              <a:rPr lang="en-US" dirty="0">
                <a:solidFill>
                  <a:srgbClr val="475569"/>
                </a:solidFill>
                <a:latin typeface="Calibri" pitchFamily="34" charset="0"/>
                <a:ea typeface="Calibri" pitchFamily="34" charset="-122"/>
                <a:cs typeface="Calibri" pitchFamily="34" charset="-120"/>
              </a:rPr>
              <a:t>Quantum cryptography derives its security from the laws of quantum mechanics.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794</TotalTime>
  <Words>13183</Words>
  <Application>Microsoft Office PowerPoint</Application>
  <PresentationFormat>Widescreen</PresentationFormat>
  <Paragraphs>1511</Paragraphs>
  <Slides>59</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Cambria Math</vt:lpstr>
      <vt:lpstr>Office Theme</vt:lpstr>
      <vt:lpstr>PowerPoint Presentation</vt:lpstr>
      <vt:lpstr>What is a qubit?</vt:lpstr>
      <vt:lpstr>Photon Polarization as a Two-Level Quantum System</vt:lpstr>
      <vt:lpstr>The Three-Polarizer Experiment</vt:lpstr>
      <vt:lpstr>Experimental Observation</vt:lpstr>
      <vt:lpstr>Why Classical Physics Fails</vt:lpstr>
      <vt:lpstr>Mathematical Representation of Polarization</vt:lpstr>
      <vt:lpstr>From Physical Polarization to Mathematical States</vt:lpstr>
      <vt:lpstr>Arbitrary Polarization State</vt:lpstr>
      <vt:lpstr>Normalization of a Quantum State</vt:lpstr>
      <vt:lpstr>The 45° Polarization State</vt:lpstr>
      <vt:lpstr>Why Dirac Notation?</vt:lpstr>
      <vt:lpstr>Ket Vectors</vt:lpstr>
      <vt:lpstr>Bra Vectors</vt:lpstr>
      <vt:lpstr>Inner Product: Quantifying Overlap Between Quantum States</vt:lpstr>
      <vt:lpstr>Orthonormal Basis</vt:lpstr>
      <vt:lpstr>The Hadamard Basis</vt:lpstr>
      <vt:lpstr>Basis Transformation</vt:lpstr>
      <vt:lpstr>What Does It Mean to Measure a Qubit?</vt:lpstr>
      <vt:lpstr>The Born Rule</vt:lpstr>
      <vt:lpstr>Measurement as Projection</vt:lpstr>
      <vt:lpstr>Deriving Measurement Probability</vt:lpstr>
      <vt:lpstr>Complete Measurement in the Computational Basis</vt:lpstr>
      <vt:lpstr>Measurement Depends on the Basis</vt:lpstr>
      <vt:lpstr>State Collapse</vt:lpstr>
      <vt:lpstr>Are These Two Quantum States Different?</vt:lpstr>
      <vt:lpstr>Global Phase</vt:lpstr>
      <vt:lpstr>Relative Phase</vt:lpstr>
      <vt:lpstr>Measuring Relative Phase</vt:lpstr>
      <vt:lpstr>Summary: Global Phase vs Relative Phase</vt:lpstr>
      <vt:lpstr>From Algebra to Geometry</vt:lpstr>
      <vt:lpstr>How Many Independent Parameters Describe a Qubit?</vt:lpstr>
      <vt:lpstr>Parameterizing a Single Qubit</vt:lpstr>
      <vt:lpstr>The Bloch Sphere</vt:lpstr>
      <vt:lpstr>Important States on the Bloch Sphere</vt:lpstr>
      <vt:lpstr>Orthogonal States are Diametrically Opposite</vt:lpstr>
      <vt:lpstr>Measurement on the Bloch Sphere</vt:lpstr>
      <vt:lpstr>Quantum Gates as Rotations</vt:lpstr>
      <vt:lpstr>Changing Basis vs Rotating the State</vt:lpstr>
      <vt:lpstr>Bloch Sphere Summary</vt:lpstr>
      <vt:lpstr>What Does Cryptography Actually Do?</vt:lpstr>
      <vt:lpstr>What is Encryption?</vt:lpstr>
      <vt:lpstr>The Key Distribution Problem</vt:lpstr>
      <vt:lpstr>Symmetric-Key Cryptography</vt:lpstr>
      <vt:lpstr>Asymmetric (Public-Key) Cryptography</vt:lpstr>
      <vt:lpstr>Authentication and Digital Signatures</vt:lpstr>
      <vt:lpstr>Secret Sharing</vt:lpstr>
      <vt:lpstr>From Classical Cryptography to Quantum Key Distribution</vt:lpstr>
      <vt:lpstr>Why Do We Need Quantum Cryptography?</vt:lpstr>
      <vt:lpstr>The Fundamental Quantum Principle Behind BB84</vt:lpstr>
      <vt:lpstr>Choosing Two Bases</vt:lpstr>
      <vt:lpstr>Alice's Encoding Process</vt:lpstr>
      <vt:lpstr>Bob's Measurement Strategy</vt:lpstr>
      <vt:lpstr>Basis Reconciliation (Sifting)</vt:lpstr>
      <vt:lpstr>What Happens if Eve Listens?</vt:lpstr>
      <vt:lpstr>Probability Analysis of Eve's Attack</vt:lpstr>
      <vt:lpstr>Deriving the 25% Error Rate</vt:lpstr>
      <vt:lpstr>Why Can't Eve Copy the Photon?</vt:lpstr>
      <vt:lpstr>Single-Qubit Systems: The Big Picture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 Raj K</dc:creator>
  <cp:lastModifiedBy>Amrit Raj K</cp:lastModifiedBy>
  <cp:revision>4</cp:revision>
  <dcterms:created xsi:type="dcterms:W3CDTF">2026-07-09T12:22:41Z</dcterms:created>
  <dcterms:modified xsi:type="dcterms:W3CDTF">2026-08-31T07:51:44Z</dcterms:modified>
</cp:coreProperties>
</file>